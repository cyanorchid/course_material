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711" r:id="rId2"/>
  </p:sldMasterIdLst>
  <p:notesMasterIdLst>
    <p:notesMasterId r:id="rId38"/>
  </p:notesMasterIdLst>
  <p:sldIdLst>
    <p:sldId id="256" r:id="rId3"/>
    <p:sldId id="414" r:id="rId4"/>
    <p:sldId id="415" r:id="rId5"/>
    <p:sldId id="323" r:id="rId6"/>
    <p:sldId id="413" r:id="rId7"/>
    <p:sldId id="324" r:id="rId8"/>
    <p:sldId id="366" r:id="rId9"/>
    <p:sldId id="365" r:id="rId10"/>
    <p:sldId id="367" r:id="rId11"/>
    <p:sldId id="416" r:id="rId12"/>
    <p:sldId id="369" r:id="rId13"/>
    <p:sldId id="368" r:id="rId14"/>
    <p:sldId id="280" r:id="rId15"/>
    <p:sldId id="417" r:id="rId16"/>
    <p:sldId id="418" r:id="rId17"/>
    <p:sldId id="419" r:id="rId18"/>
    <p:sldId id="421" r:id="rId19"/>
    <p:sldId id="420" r:id="rId20"/>
    <p:sldId id="422" r:id="rId21"/>
    <p:sldId id="423" r:id="rId22"/>
    <p:sldId id="424" r:id="rId23"/>
    <p:sldId id="425" r:id="rId24"/>
    <p:sldId id="426" r:id="rId25"/>
    <p:sldId id="427" r:id="rId26"/>
    <p:sldId id="428" r:id="rId27"/>
    <p:sldId id="429" r:id="rId28"/>
    <p:sldId id="430" r:id="rId29"/>
    <p:sldId id="431" r:id="rId30"/>
    <p:sldId id="432" r:id="rId31"/>
    <p:sldId id="433" r:id="rId32"/>
    <p:sldId id="434" r:id="rId33"/>
    <p:sldId id="435" r:id="rId34"/>
    <p:sldId id="436" r:id="rId35"/>
    <p:sldId id="437" r:id="rId36"/>
    <p:sldId id="321" r:id="rId3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FF0000"/>
    <a:srgbClr val="6600CC"/>
    <a:srgbClr val="660066"/>
    <a:srgbClr val="990033"/>
    <a:srgbClr val="003300"/>
    <a:srgbClr val="0033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70" d="100"/>
          <a:sy n="70" d="100"/>
        </p:scale>
        <p:origin x="1386" y="66"/>
      </p:cViewPr>
      <p:guideLst>
        <p:guide orient="horz" pos="2160"/>
        <p:guide pos="28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 noProof="1"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3075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4276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07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 noProof="1"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307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C888893-E0AB-4497-8631-508EC3BDF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352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888893-E0AB-4497-8631-508EC3BDFAD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39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EF23CC-2073-42E9-8177-D51AF35CF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49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B077B-EB2C-492A-9E02-BC8049D0F8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43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62AA9D-F741-42D6-846A-181BA4EFA5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2504" cy="471805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412875"/>
            <a:ext cx="4032504" cy="471805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41D296-6EC9-4FE5-9213-214DC64C6E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89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9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9A3134-B7EE-4D51-B62B-DE329F57E0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29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155C3-4EEE-456E-864E-C853CC0E4A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24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9B0D80-2C6F-4D99-AEA4-74E3D78D0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6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E50A37-3FE3-45A0-8268-B2185E40B3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21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BF8088-010C-413E-B2DF-1684976E39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2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66ECE-DFF9-4C58-82C8-77EB331FEB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37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735" y="549275"/>
            <a:ext cx="2060178" cy="558165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5"/>
            <a:ext cx="6061104" cy="558165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D7D8C-7500-4817-A06D-11C023A3C3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03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EF8D1-8193-4822-AA59-A8AED44E9ECC}" type="slidenum">
              <a:rPr lang="en-US"/>
              <a:pPr>
                <a:defRPr/>
              </a:pPr>
              <a:t>‹#›</a:t>
            </a:fld>
            <a:endParaRPr lang="en-US">
              <a:ea typeface="仿宋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0946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6D3D6A-4A98-4EB2-B669-6C6958C5F14D}" type="slidenum">
              <a:rPr lang="en-US"/>
              <a:pPr>
                <a:defRPr/>
              </a:pPr>
              <a:t>‹#›</a:t>
            </a:fld>
            <a:endParaRPr lang="en-US">
              <a:ea typeface="仿宋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0292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BAD3C2-8289-44F5-A9CD-D03314C0C1CD}" type="slidenum">
              <a:rPr lang="en-US"/>
              <a:pPr>
                <a:defRPr/>
              </a:pPr>
              <a:t>‹#›</a:t>
            </a:fld>
            <a:endParaRPr lang="en-US">
              <a:ea typeface="仿宋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8529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2504" cy="471805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412875"/>
            <a:ext cx="4032504" cy="471805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12F6E5-A375-4683-B990-C7218932ADB3}" type="slidenum">
              <a:rPr lang="en-US"/>
              <a:pPr>
                <a:defRPr/>
              </a:pPr>
              <a:t>‹#›</a:t>
            </a:fld>
            <a:endParaRPr lang="en-US">
              <a:ea typeface="仿宋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4600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2786F6-E21B-4D1A-960F-F9AAA23245DA}" type="slidenum">
              <a:rPr lang="en-US"/>
              <a:pPr>
                <a:defRPr/>
              </a:pPr>
              <a:t>‹#›</a:t>
            </a:fld>
            <a:endParaRPr lang="en-US">
              <a:ea typeface="仿宋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503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1E12F6-C92B-4BA6-A4AD-53BCE600E6BA}" type="slidenum">
              <a:rPr lang="en-US"/>
              <a:pPr>
                <a:defRPr/>
              </a:pPr>
              <a:t>‹#›</a:t>
            </a:fld>
            <a:endParaRPr lang="en-US">
              <a:ea typeface="仿宋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45436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6522D-D0C1-41FF-ABE4-E7ADFB142D88}" type="slidenum">
              <a:rPr lang="en-US"/>
              <a:pPr>
                <a:defRPr/>
              </a:pPr>
              <a:t>‹#›</a:t>
            </a:fld>
            <a:endParaRPr lang="en-US">
              <a:ea typeface="仿宋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38297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BCEB4-244E-48E9-941B-72B3DE0638FA}" type="slidenum">
              <a:rPr lang="en-US"/>
              <a:pPr>
                <a:defRPr/>
              </a:pPr>
              <a:t>‹#›</a:t>
            </a:fld>
            <a:endParaRPr lang="en-US">
              <a:ea typeface="仿宋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73031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F007EC-32EC-4424-934B-DD5332F3FAA5}" type="slidenum">
              <a:rPr lang="en-US"/>
              <a:pPr>
                <a:defRPr/>
              </a:pPr>
              <a:t>‹#›</a:t>
            </a:fld>
            <a:endParaRPr lang="en-US">
              <a:ea typeface="仿宋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7272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EBD8C7-D97B-4111-B5F4-CABE8C39A113}" type="slidenum">
              <a:rPr lang="en-US"/>
              <a:pPr>
                <a:defRPr/>
              </a:pPr>
              <a:t>‹#›</a:t>
            </a:fld>
            <a:endParaRPr lang="en-US">
              <a:ea typeface="仿宋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04328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735" y="549275"/>
            <a:ext cx="2060178" cy="558165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5"/>
            <a:ext cx="6061104" cy="558165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35D72B-6D00-4C57-A817-1845CDDE806D}" type="slidenum">
              <a:rPr lang="en-US"/>
              <a:pPr>
                <a:defRPr/>
              </a:pPr>
              <a:t>‹#›</a:t>
            </a:fld>
            <a:endParaRPr lang="en-US">
              <a:ea typeface="仿宋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018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68313" y="549275"/>
            <a:ext cx="8229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2875"/>
            <a:ext cx="8229600" cy="471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 noProof="1">
                <a:latin typeface="Garamond" panose="02020404030301010803" pitchFamily="2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200" noProof="1">
                <a:latin typeface="Garamond" panose="02020404030301010803" pitchFamily="2" charset="0"/>
              </a:defRPr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Garamond" pitchFamily="18" charset="0"/>
              </a:defRPr>
            </a:lvl1pPr>
          </a:lstStyle>
          <a:p>
            <a:pPr>
              <a:defRPr/>
            </a:pPr>
            <a:fld id="{53C1E0C4-D2BC-41FA-A26B-164893B48B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95288" y="476250"/>
            <a:ext cx="8229600" cy="104775"/>
          </a:xfrm>
          <a:custGeom>
            <a:avLst/>
            <a:gdLst>
              <a:gd name="T0" fmla="*/ 0 w 1000"/>
              <a:gd name="T1" fmla="*/ 104775 h 1000"/>
              <a:gd name="T2" fmla="*/ 0 w 1000"/>
              <a:gd name="T3" fmla="*/ 0 h 1000"/>
              <a:gd name="T4" fmla="*/ 82296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468313" y="1268413"/>
            <a:ext cx="8280400" cy="71437"/>
          </a:xfrm>
          <a:prstGeom prst="rect">
            <a:avLst/>
          </a:prstGeom>
          <a:gradFill rotWithShape="0">
            <a:gsLst>
              <a:gs pos="0">
                <a:srgbClr val="5E4700"/>
              </a:gs>
              <a:gs pos="50000">
                <a:schemeClr val="accent1"/>
              </a:gs>
              <a:gs pos="100000">
                <a:srgbClr val="5E47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463" y="0"/>
            <a:ext cx="5443537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800" b="1" kern="1200">
          <a:solidFill>
            <a:srgbClr val="000066"/>
          </a:solidFill>
          <a:latin typeface="+mn-lt"/>
          <a:ea typeface="+mn-ea"/>
          <a:cs typeface="+mn-cs"/>
        </a:defRPr>
      </a:lvl1pPr>
      <a:lvl2pPr marL="669925" lvl="1" indent="-3254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q"/>
        <a:defRPr sz="2800" b="1" kern="1200">
          <a:solidFill>
            <a:srgbClr val="000066"/>
          </a:solidFill>
          <a:latin typeface="+mn-lt"/>
          <a:ea typeface="+mn-ea"/>
          <a:cs typeface="+mn-cs"/>
        </a:defRPr>
      </a:lvl2pPr>
      <a:lvl3pPr marL="1022350" lvl="2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800" b="1" kern="1200">
          <a:solidFill>
            <a:srgbClr val="000066"/>
          </a:solidFill>
          <a:latin typeface="+mn-lt"/>
          <a:ea typeface="+mn-ea"/>
          <a:cs typeface="+mn-cs"/>
        </a:defRPr>
      </a:lvl3pPr>
      <a:lvl4pPr marL="1339850" lvl="3" indent="-3159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q"/>
        <a:defRPr sz="2800" b="1" kern="1200">
          <a:solidFill>
            <a:srgbClr val="000066"/>
          </a:solidFill>
          <a:latin typeface="+mn-lt"/>
          <a:ea typeface="+mn-ea"/>
          <a:cs typeface="+mn-cs"/>
        </a:defRPr>
      </a:lvl4pPr>
      <a:lvl5pPr marL="1681163" lvl="4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§"/>
        <a:defRPr sz="2800" b="1" kern="120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914400 h 1000"/>
              <a:gd name="T2" fmla="*/ 0 w 1000"/>
              <a:gd name="T3" fmla="*/ 0 h 1000"/>
              <a:gd name="T4" fmla="*/ 79248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52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15888"/>
            <a:ext cx="50768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68313" y="549275"/>
            <a:ext cx="8229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2875"/>
            <a:ext cx="8229600" cy="471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5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 noProof="1">
                <a:latin typeface="Garamond" panose="02020404030301010803" pitchFamily="2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6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Garamond" pitchFamily="18" charset="0"/>
                <a:ea typeface="仿宋_GB2312" pitchFamily="1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7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Garamond" pitchFamily="18" charset="0"/>
              </a:defRPr>
            </a:lvl1pPr>
          </a:lstStyle>
          <a:p>
            <a:pPr>
              <a:defRPr/>
            </a:pPr>
            <a:fld id="{D5AC197C-3102-4799-8406-957750DE3921}" type="slidenum">
              <a:rPr lang="en-US"/>
              <a:pPr>
                <a:defRPr/>
              </a:pPr>
              <a:t>‹#›</a:t>
            </a:fld>
            <a:endParaRPr lang="en-US">
              <a:ea typeface="仿宋_GB2312" pitchFamily="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800" b="1" kern="1200">
          <a:solidFill>
            <a:srgbClr val="000066"/>
          </a:solidFill>
          <a:latin typeface="+mn-lt"/>
          <a:ea typeface="+mn-ea"/>
          <a:cs typeface="+mn-cs"/>
        </a:defRPr>
      </a:lvl1pPr>
      <a:lvl2pPr marL="669925" lvl="1" indent="-3254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q"/>
        <a:defRPr sz="2800" b="1" kern="1200">
          <a:solidFill>
            <a:srgbClr val="000066"/>
          </a:solidFill>
          <a:latin typeface="+mn-lt"/>
          <a:ea typeface="+mn-ea"/>
          <a:cs typeface="+mn-cs"/>
        </a:defRPr>
      </a:lvl2pPr>
      <a:lvl3pPr marL="1022350" lvl="2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800" b="1" kern="1200">
          <a:solidFill>
            <a:srgbClr val="000066"/>
          </a:solidFill>
          <a:latin typeface="+mn-lt"/>
          <a:ea typeface="+mn-ea"/>
          <a:cs typeface="+mn-cs"/>
        </a:defRPr>
      </a:lvl3pPr>
      <a:lvl4pPr marL="1339850" lvl="3" indent="-3159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q"/>
        <a:defRPr sz="2800" b="1" kern="1200">
          <a:solidFill>
            <a:srgbClr val="000066"/>
          </a:solidFill>
          <a:latin typeface="+mn-lt"/>
          <a:ea typeface="+mn-ea"/>
          <a:cs typeface="+mn-cs"/>
        </a:defRPr>
      </a:lvl4pPr>
      <a:lvl5pPr marL="1681163" lvl="4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§"/>
        <a:defRPr sz="2800" b="1" kern="120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258888" y="2565400"/>
            <a:ext cx="6337300" cy="1081088"/>
          </a:xfrm>
        </p:spPr>
        <p:txBody>
          <a:bodyPr/>
          <a:lstStyle/>
          <a:p>
            <a:pPr algn="ctr" eaLnBrk="1" hangingPunct="1"/>
            <a:r>
              <a:rPr lang="en-US" altLang="zh-CN" sz="4800" dirty="0" smtClean="0"/>
              <a:t> IAR</a:t>
            </a:r>
            <a:r>
              <a:rPr lang="zh-CN" altLang="en-US" sz="4800" dirty="0" smtClean="0"/>
              <a:t>软件使用 </a:t>
            </a:r>
          </a:p>
        </p:txBody>
      </p:sp>
      <p:sp>
        <p:nvSpPr>
          <p:cNvPr id="3076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96AEEC9D-BEEF-434E-8E04-E643BCE30063}" type="slidenum">
              <a:rPr lang="en-US" altLang="zh-CN">
                <a:latin typeface="Garamond" pitchFamily="18" charset="0"/>
                <a:ea typeface="仿宋_GB2312" pitchFamily="1" charset="-122"/>
              </a:rPr>
              <a:pPr/>
              <a:t>1</a:t>
            </a:fld>
            <a:endParaRPr lang="en-US" altLang="zh-CN">
              <a:latin typeface="Garamond" pitchFamily="18" charset="0"/>
              <a:ea typeface="仿宋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IAR</a:t>
            </a:r>
            <a:r>
              <a:rPr lang="zh-CN" altLang="en-US" dirty="0" smtClean="0"/>
              <a:t>介绍</a:t>
            </a:r>
            <a:br>
              <a:rPr lang="zh-CN" altLang="en-US" dirty="0" smtClean="0"/>
            </a:b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875"/>
            <a:ext cx="8296275" cy="4718050"/>
          </a:xfrm>
        </p:spPr>
        <p:txBody>
          <a:bodyPr/>
          <a:lstStyle/>
          <a:p>
            <a:pPr>
              <a:defRPr/>
            </a:pPr>
            <a:r>
              <a:rPr lang="en-US" altLang="zh-CN" noProof="1" smtClean="0"/>
              <a:t>IAR System</a:t>
            </a:r>
            <a:r>
              <a:rPr lang="zh-CN" altLang="en-US" noProof="1" smtClean="0"/>
              <a:t>公司成立于</a:t>
            </a:r>
            <a:r>
              <a:rPr lang="en-US" altLang="zh-CN" noProof="1" smtClean="0"/>
              <a:t>1983</a:t>
            </a:r>
            <a:r>
              <a:rPr lang="zh-CN" altLang="en-US" noProof="1" smtClean="0"/>
              <a:t>年，是全球领先的嵌入式系统开发工具和服务的供应商。</a:t>
            </a:r>
            <a:endParaRPr lang="en-US" altLang="zh-CN" noProof="1" smtClean="0"/>
          </a:p>
          <a:p>
            <a:pPr>
              <a:defRPr/>
            </a:pPr>
            <a:r>
              <a:rPr lang="zh-CN" altLang="en-US" noProof="1" smtClean="0"/>
              <a:t>提供的产品和服务涉及到嵌入式系统的设计、开发和测试的每一个阶段。</a:t>
            </a:r>
            <a:endParaRPr lang="en-US" altLang="zh-CN" noProof="1" smtClean="0"/>
          </a:p>
          <a:p>
            <a:pPr>
              <a:defRPr/>
            </a:pPr>
            <a:r>
              <a:rPr lang="zh-CN" altLang="en-US" noProof="1" smtClean="0"/>
              <a:t>国内普及的</a:t>
            </a:r>
            <a:r>
              <a:rPr lang="en-US" altLang="zh-CN" noProof="1" smtClean="0"/>
              <a:t>MSP430</a:t>
            </a:r>
            <a:r>
              <a:rPr lang="zh-CN" altLang="en-US" noProof="1" smtClean="0"/>
              <a:t>开发软件主要有</a:t>
            </a:r>
            <a:r>
              <a:rPr lang="en-US" altLang="zh-CN" noProof="1" smtClean="0"/>
              <a:t>Embedded Workbench for MSP430</a:t>
            </a:r>
            <a:r>
              <a:rPr lang="zh-CN" altLang="en-US" noProof="1" smtClean="0"/>
              <a:t>（简称为</a:t>
            </a:r>
            <a:r>
              <a:rPr lang="en-US" altLang="zh-CN" noProof="1" smtClean="0"/>
              <a:t>EW430</a:t>
            </a:r>
            <a:r>
              <a:rPr lang="zh-CN" altLang="en-US" noProof="1" smtClean="0"/>
              <a:t>）和</a:t>
            </a:r>
            <a:r>
              <a:rPr lang="en-US" altLang="zh-CN" noProof="1" smtClean="0"/>
              <a:t>AQ430</a:t>
            </a:r>
            <a:r>
              <a:rPr lang="zh-CN" altLang="en-US" noProof="1" smtClean="0"/>
              <a:t>。</a:t>
            </a:r>
            <a:endParaRPr lang="en-US" altLang="zh-CN" noProof="1" smtClean="0"/>
          </a:p>
          <a:p>
            <a:pPr>
              <a:defRPr/>
            </a:pPr>
            <a:r>
              <a:rPr lang="zh-CN" altLang="en-US" noProof="1" smtClean="0"/>
              <a:t>目前</a:t>
            </a:r>
            <a:r>
              <a:rPr lang="en-US" altLang="zh-CN" noProof="1" smtClean="0"/>
              <a:t>IAR</a:t>
            </a:r>
            <a:r>
              <a:rPr lang="zh-CN" altLang="en-US" noProof="1" smtClean="0"/>
              <a:t>的用户居多，下面以</a:t>
            </a:r>
            <a:r>
              <a:rPr lang="en-US" altLang="zh-CN" noProof="1" smtClean="0"/>
              <a:t>IAR EW430</a:t>
            </a:r>
            <a:r>
              <a:rPr lang="zh-CN" altLang="en-US" noProof="1" smtClean="0"/>
              <a:t>软件为例，讲解</a:t>
            </a:r>
            <a:r>
              <a:rPr lang="en-US" altLang="zh-CN" noProof="1" smtClean="0"/>
              <a:t>MSP430</a:t>
            </a:r>
            <a:r>
              <a:rPr lang="zh-CN" altLang="en-US" noProof="1" smtClean="0"/>
              <a:t>单片机的软件开发流程。</a:t>
            </a:r>
            <a:endParaRPr lang="en-US" altLang="zh-CN" noProof="1"/>
          </a:p>
        </p:txBody>
      </p:sp>
      <p:sp>
        <p:nvSpPr>
          <p:cNvPr id="9220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B2F97A55-70DD-44FC-ACA2-1C98D1D747FC}" type="slidenum">
              <a:rPr lang="en-US" altLang="zh-CN">
                <a:latin typeface="Garamond" pitchFamily="18" charset="0"/>
              </a:rPr>
              <a:pPr eaLnBrk="1" hangingPunct="1"/>
              <a:t>2</a:t>
            </a:fld>
            <a:endParaRPr lang="en-US" altLang="zh-CN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31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IAR</a:t>
            </a:r>
            <a:r>
              <a:rPr lang="zh-CN" altLang="en-US" dirty="0" smtClean="0"/>
              <a:t>介绍</a:t>
            </a:r>
            <a:br>
              <a:rPr lang="zh-CN" altLang="en-US" dirty="0" smtClean="0"/>
            </a:b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875"/>
            <a:ext cx="8296275" cy="4718050"/>
          </a:xfrm>
        </p:spPr>
        <p:txBody>
          <a:bodyPr/>
          <a:lstStyle/>
          <a:p>
            <a:pPr>
              <a:defRPr/>
            </a:pPr>
            <a:r>
              <a:rPr lang="en-US" altLang="zh-CN" noProof="1" smtClean="0"/>
              <a:t>IAR EW430</a:t>
            </a:r>
            <a:r>
              <a:rPr lang="zh-CN" altLang="en-US" noProof="1" smtClean="0"/>
              <a:t>开发的主要流程有</a:t>
            </a:r>
            <a:endParaRPr lang="en-US" altLang="zh-CN" noProof="1" smtClean="0"/>
          </a:p>
          <a:p>
            <a:pPr lvl="2">
              <a:defRPr/>
            </a:pPr>
            <a:endParaRPr lang="en-US" altLang="zh-CN" sz="2400" noProof="1" smtClean="0"/>
          </a:p>
          <a:p>
            <a:pPr lvl="2">
              <a:defRPr/>
            </a:pPr>
            <a:r>
              <a:rPr lang="zh-CN" altLang="en-US" sz="2400" noProof="1" smtClean="0"/>
              <a:t>工程建立与配置</a:t>
            </a:r>
            <a:endParaRPr lang="en-US" altLang="zh-CN" sz="2400" noProof="1" smtClean="0"/>
          </a:p>
          <a:p>
            <a:pPr lvl="2">
              <a:defRPr/>
            </a:pPr>
            <a:endParaRPr lang="en-US" altLang="zh-CN" noProof="1" smtClean="0"/>
          </a:p>
          <a:p>
            <a:pPr lvl="2">
              <a:defRPr/>
            </a:pPr>
            <a:r>
              <a:rPr lang="zh-CN" altLang="en-US" sz="2400" noProof="1" smtClean="0"/>
              <a:t>程序编辑与编译</a:t>
            </a:r>
            <a:endParaRPr lang="en-US" altLang="zh-CN" sz="2400" noProof="1" smtClean="0"/>
          </a:p>
          <a:p>
            <a:pPr lvl="2">
              <a:defRPr/>
            </a:pPr>
            <a:endParaRPr lang="en-US" altLang="zh-CN" noProof="1" smtClean="0"/>
          </a:p>
          <a:p>
            <a:pPr lvl="2">
              <a:defRPr/>
            </a:pPr>
            <a:r>
              <a:rPr lang="zh-CN" altLang="en-US" sz="2400" noProof="1" smtClean="0"/>
              <a:t>程序调试与下板验证</a:t>
            </a:r>
            <a:endParaRPr lang="en-US" altLang="zh-CN" sz="2400" noProof="1"/>
          </a:p>
        </p:txBody>
      </p:sp>
      <p:sp>
        <p:nvSpPr>
          <p:cNvPr id="9220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B2F97A55-70DD-44FC-ACA2-1C98D1D747FC}" type="slidenum">
              <a:rPr lang="en-US" altLang="zh-CN">
                <a:latin typeface="Garamond" pitchFamily="18" charset="0"/>
              </a:rPr>
              <a:pPr eaLnBrk="1" hangingPunct="1"/>
              <a:t>3</a:t>
            </a:fld>
            <a:endParaRPr lang="en-US" altLang="zh-CN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89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51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IAR</a:t>
            </a:r>
            <a:r>
              <a:rPr lang="zh-CN" altLang="en-US" dirty="0" smtClean="0"/>
              <a:t>工程创建</a:t>
            </a:r>
          </a:p>
        </p:txBody>
      </p:sp>
      <p:sp>
        <p:nvSpPr>
          <p:cNvPr id="4100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217587A7-7F33-471D-A728-43897A36D1BA}" type="slidenum">
              <a:rPr lang="en-US" altLang="zh-CN">
                <a:latin typeface="Garamond" pitchFamily="18" charset="0"/>
              </a:rPr>
              <a:pPr eaLnBrk="1" hangingPunct="1"/>
              <a:t>4</a:t>
            </a:fld>
            <a:endParaRPr lang="en-US" altLang="zh-CN">
              <a:latin typeface="Garamond" pitchFamily="18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打开</a:t>
            </a:r>
            <a:r>
              <a:rPr lang="en-US" altLang="zh-CN" dirty="0" smtClean="0"/>
              <a:t>IAR</a:t>
            </a:r>
            <a:r>
              <a:rPr lang="zh-CN" altLang="en-US" dirty="0" smtClean="0"/>
              <a:t>，软件的主界面如下所示</a:t>
            </a:r>
            <a:endParaRPr lang="zh-CN" altLang="en-US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6" y="1187022"/>
            <a:ext cx="8820472" cy="548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IAR</a:t>
            </a:r>
            <a:r>
              <a:rPr lang="zh-CN" altLang="en-US" dirty="0" smtClean="0"/>
              <a:t>工程创建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noProof="1" smtClean="0">
                <a:ea typeface="楷体" panose="02010609060101010101" charset="-122"/>
              </a:rPr>
              <a:t>选择主菜单</a:t>
            </a:r>
            <a:r>
              <a:rPr lang="en-US" altLang="zh-CN" noProof="1" smtClean="0">
                <a:ea typeface="楷体" panose="02010609060101010101" charset="-122"/>
              </a:rPr>
              <a:t>Project -&gt; Create New Project</a:t>
            </a:r>
            <a:r>
              <a:rPr lang="zh-CN" altLang="en-US" noProof="1" smtClean="0">
                <a:ea typeface="楷体" panose="02010609060101010101" charset="-122"/>
              </a:rPr>
              <a:t>，创建一个新的工程。如下图所示</a:t>
            </a:r>
            <a:endParaRPr lang="en-US" altLang="zh-CN" noProof="1" smtClean="0">
              <a:ea typeface="楷体" panose="02010609060101010101" charset="-122"/>
            </a:endParaRPr>
          </a:p>
          <a:p>
            <a:pPr>
              <a:defRPr/>
            </a:pPr>
            <a:endParaRPr lang="en-US" altLang="zh-CN" noProof="1">
              <a:ea typeface="楷体" panose="02010609060101010101" charset="-122"/>
            </a:endParaRPr>
          </a:p>
          <a:p>
            <a:pPr>
              <a:defRPr/>
            </a:pPr>
            <a:r>
              <a:rPr lang="zh-CN" altLang="en-US" noProof="1" smtClean="0">
                <a:ea typeface="楷体" panose="02010609060101010101" charset="-122"/>
              </a:rPr>
              <a:t>然后会弹出新工程窗口，选择</a:t>
            </a:r>
            <a:r>
              <a:rPr lang="en-US" altLang="zh-CN" noProof="1" smtClean="0">
                <a:ea typeface="楷体" panose="02010609060101010101" charset="-122"/>
              </a:rPr>
              <a:t>C -&gt; main</a:t>
            </a:r>
            <a:r>
              <a:rPr lang="zh-CN" altLang="en-US" noProof="1" smtClean="0">
                <a:ea typeface="楷体" panose="02010609060101010101" charset="-122"/>
              </a:rPr>
              <a:t>，点击</a:t>
            </a:r>
            <a:r>
              <a:rPr lang="en-US" altLang="zh-CN" noProof="1" smtClean="0">
                <a:ea typeface="楷体" panose="02010609060101010101" charset="-122"/>
              </a:rPr>
              <a:t>OK</a:t>
            </a:r>
            <a:r>
              <a:rPr lang="zh-CN" altLang="en-US" noProof="1" smtClean="0">
                <a:ea typeface="楷体" panose="02010609060101010101" charset="-122"/>
              </a:rPr>
              <a:t>，如下图所示</a:t>
            </a:r>
            <a:endParaRPr lang="en-US" altLang="zh-CN" noProof="1" smtClean="0">
              <a:ea typeface="楷体" panose="02010609060101010101" charset="-122"/>
            </a:endParaRPr>
          </a:p>
          <a:p>
            <a:pPr>
              <a:defRPr/>
            </a:pPr>
            <a:endParaRPr lang="en-US" altLang="zh-CN" noProof="1" smtClean="0">
              <a:ea typeface="楷体" panose="02010609060101010101" charset="-122"/>
            </a:endParaRPr>
          </a:p>
          <a:p>
            <a:pPr>
              <a:defRPr/>
            </a:pPr>
            <a:endParaRPr lang="zh-CN" altLang="en-US" noProof="1">
              <a:ea typeface="楷体" panose="02010609060101010101" charset="-122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5" y="2307662"/>
            <a:ext cx="3744415" cy="2130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307662"/>
            <a:ext cx="4104455" cy="3475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614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IAR</a:t>
            </a:r>
            <a:r>
              <a:rPr lang="zh-CN" altLang="en-US" dirty="0" smtClean="0"/>
              <a:t>工程创建</a:t>
            </a:r>
          </a:p>
        </p:txBody>
      </p:sp>
      <p:sp>
        <p:nvSpPr>
          <p:cNvPr id="6147" name="内容占位符 6146"/>
          <p:cNvSpPr>
            <a:spLocks noGrp="1" noChangeArrowheads="1"/>
          </p:cNvSpPr>
          <p:nvPr>
            <p:ph idx="1"/>
          </p:nvPr>
        </p:nvSpPr>
        <p:spPr>
          <a:xfrm>
            <a:off x="468313" y="1412875"/>
            <a:ext cx="8066087" cy="4718050"/>
          </a:xfrm>
        </p:spPr>
        <p:txBody>
          <a:bodyPr/>
          <a:lstStyle/>
          <a:p>
            <a:r>
              <a:rPr lang="zh-CN" altLang="en-US" dirty="0" smtClean="0">
                <a:ea typeface="楷体_GB2312" pitchFamily="1" charset="-122"/>
              </a:rPr>
              <a:t>在弹出的窗口中，选择工程的保存路径，并命名新建的工程，如图所示</a:t>
            </a:r>
            <a:endParaRPr lang="en-US" altLang="zh-CN" dirty="0" smtClean="0">
              <a:ea typeface="楷体_GB2312" pitchFamily="1" charset="-122"/>
            </a:endParaRPr>
          </a:p>
          <a:p>
            <a:endParaRPr lang="en-US" altLang="zh-CN" dirty="0" smtClean="0">
              <a:ea typeface="楷体_GB2312" pitchFamily="1" charset="-122"/>
            </a:endParaRPr>
          </a:p>
          <a:p>
            <a:r>
              <a:rPr lang="zh-CN" altLang="en-US" dirty="0" smtClean="0">
                <a:ea typeface="楷体_GB2312" pitchFamily="1" charset="-122"/>
              </a:rPr>
              <a:t>工程保存完毕之后，如下图所示</a:t>
            </a:r>
            <a:endParaRPr lang="en-US" altLang="zh-CN" dirty="0" smtClean="0">
              <a:ea typeface="楷体_GB2312" pitchFamily="1" charset="-122"/>
            </a:endParaRPr>
          </a:p>
          <a:p>
            <a:endParaRPr lang="zh-CN" altLang="en-US" dirty="0" smtClean="0">
              <a:ea typeface="楷体_GB2312" pitchFamily="1" charset="-122"/>
            </a:endParaRPr>
          </a:p>
        </p:txBody>
      </p:sp>
      <p:sp>
        <p:nvSpPr>
          <p:cNvPr id="6148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A71D8523-66D4-41B2-B93A-ACFCAE2374CC}" type="slidenum">
              <a:rPr lang="en-US" altLang="zh-CN">
                <a:latin typeface="Garamond" pitchFamily="18" charset="0"/>
              </a:rPr>
              <a:pPr eaLnBrk="1" hangingPunct="1"/>
              <a:t>6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30135"/>
            <a:ext cx="6858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69356"/>
            <a:ext cx="7992888" cy="4967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IAR</a:t>
            </a:r>
            <a:r>
              <a:rPr lang="zh-CN" altLang="en-US" dirty="0" smtClean="0"/>
              <a:t>工程配置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noProof="1" smtClean="0">
                <a:ea typeface="楷体" panose="02010609060101010101" charset="-122"/>
              </a:rPr>
              <a:t>在工程建好之后，通常需要先进行设置，才能够正常使用，右击工程名，选择</a:t>
            </a:r>
            <a:r>
              <a:rPr lang="en-US" altLang="zh-CN" noProof="1" smtClean="0">
                <a:ea typeface="楷体" panose="02010609060101010101" charset="-122"/>
              </a:rPr>
              <a:t>Options</a:t>
            </a:r>
            <a:r>
              <a:rPr lang="zh-CN" altLang="en-US" noProof="1" smtClean="0">
                <a:ea typeface="楷体" panose="02010609060101010101" charset="-122"/>
              </a:rPr>
              <a:t>，或者点击主菜单的</a:t>
            </a:r>
            <a:r>
              <a:rPr lang="en-US" altLang="zh-CN" noProof="1" smtClean="0">
                <a:ea typeface="楷体" panose="02010609060101010101" charset="-122"/>
              </a:rPr>
              <a:t>Project -&gt; Options</a:t>
            </a:r>
            <a:r>
              <a:rPr lang="zh-CN" altLang="en-US" noProof="1" smtClean="0">
                <a:ea typeface="楷体" panose="02010609060101010101" charset="-122"/>
              </a:rPr>
              <a:t>，如下所示</a:t>
            </a:r>
            <a:endParaRPr lang="en-US" altLang="zh-CN" noProof="1" smtClean="0">
              <a:ea typeface="楷体" panose="02010609060101010101" charset="-122"/>
            </a:endParaRPr>
          </a:p>
          <a:p>
            <a:pPr>
              <a:defRPr/>
            </a:pPr>
            <a:endParaRPr lang="en-US" altLang="zh-CN" noProof="1">
              <a:ea typeface="楷体" panose="02010609060101010101" charset="-122"/>
            </a:endParaRPr>
          </a:p>
          <a:p>
            <a:pPr>
              <a:defRPr/>
            </a:pPr>
            <a:endParaRPr lang="en-US" altLang="zh-CN" noProof="1" smtClean="0">
              <a:ea typeface="楷体" panose="02010609060101010101" charset="-122"/>
            </a:endParaRPr>
          </a:p>
          <a:p>
            <a:pPr>
              <a:defRPr/>
            </a:pPr>
            <a:r>
              <a:rPr lang="zh-CN" altLang="en-US" noProof="1" smtClean="0">
                <a:ea typeface="楷体" panose="02010609060101010101" charset="-122"/>
              </a:rPr>
              <a:t>配置窗口如下图所示</a:t>
            </a:r>
            <a:endParaRPr lang="en-US" altLang="zh-CN" noProof="1">
              <a:ea typeface="楷体" panose="02010609060101010101" charset="-122"/>
            </a:endParaRPr>
          </a:p>
          <a:p>
            <a:pPr>
              <a:defRPr/>
            </a:pPr>
            <a:endParaRPr lang="zh-CN" altLang="en-US" noProof="1">
              <a:ea typeface="楷体" panose="02010609060101010101" charset="-122"/>
            </a:endParaRPr>
          </a:p>
        </p:txBody>
      </p:sp>
      <p:sp>
        <p:nvSpPr>
          <p:cNvPr id="7172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7E9E3F2C-2340-4EDF-83E0-F467B3C17541}" type="slidenum">
              <a:rPr lang="en-US" altLang="zh-CN">
                <a:latin typeface="Garamond" pitchFamily="18" charset="0"/>
              </a:rPr>
              <a:pPr eaLnBrk="1" hangingPunct="1"/>
              <a:t>7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836863"/>
            <a:ext cx="2891759" cy="1571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969" y="1412776"/>
            <a:ext cx="5143500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IAR</a:t>
            </a:r>
            <a:r>
              <a:rPr lang="zh-CN" altLang="en-US" dirty="0" smtClean="0"/>
              <a:t>工程配置</a:t>
            </a:r>
          </a:p>
        </p:txBody>
      </p:sp>
      <p:sp>
        <p:nvSpPr>
          <p:cNvPr id="2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首先设置芯片型号，在</a:t>
            </a:r>
            <a:r>
              <a:rPr lang="en-US" altLang="zh-CN" dirty="0" smtClean="0"/>
              <a:t>General Options -&gt; Target</a:t>
            </a:r>
            <a:r>
              <a:rPr lang="zh-CN" altLang="en-US" dirty="0" smtClean="0"/>
              <a:t>选项的</a:t>
            </a:r>
            <a:r>
              <a:rPr lang="en-US" altLang="zh-CN" dirty="0" smtClean="0"/>
              <a:t>Device</a:t>
            </a:r>
            <a:r>
              <a:rPr lang="zh-CN" altLang="en-US" dirty="0" smtClean="0"/>
              <a:t>中，将芯片型号设置为</a:t>
            </a:r>
            <a:r>
              <a:rPr lang="en-US" altLang="zh-CN" dirty="0" smtClean="0"/>
              <a:t>MSP430FG4618</a:t>
            </a:r>
            <a:r>
              <a:rPr lang="zh-CN" altLang="en-US" dirty="0" smtClean="0"/>
              <a:t>，如下图所示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然后在</a:t>
            </a:r>
            <a:r>
              <a:rPr lang="en-US" altLang="zh-CN" dirty="0" smtClean="0"/>
              <a:t>Debugger -&gt; Setup</a:t>
            </a:r>
            <a:r>
              <a:rPr lang="zh-CN" altLang="en-US" dirty="0" smtClean="0"/>
              <a:t>选项的</a:t>
            </a:r>
            <a:r>
              <a:rPr lang="en-US" altLang="zh-CN" dirty="0"/>
              <a:t>Driver</a:t>
            </a:r>
            <a:r>
              <a:rPr lang="zh-CN" altLang="en-US" dirty="0" smtClean="0"/>
              <a:t>中，选择</a:t>
            </a:r>
            <a:r>
              <a:rPr lang="en-US" altLang="zh-CN" dirty="0" smtClean="0"/>
              <a:t>FET Debugger</a:t>
            </a:r>
            <a:r>
              <a:rPr lang="zh-CN" altLang="en-US" dirty="0" smtClean="0"/>
              <a:t>，如下图所示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然后在</a:t>
            </a:r>
            <a:r>
              <a:rPr lang="en-US" altLang="zh-CN" dirty="0" smtClean="0"/>
              <a:t>FET Debugger -&gt; Setup</a:t>
            </a:r>
            <a:r>
              <a:rPr lang="zh-CN" altLang="en-US" dirty="0" smtClean="0"/>
              <a:t>中，将</a:t>
            </a:r>
            <a:r>
              <a:rPr lang="en-US" altLang="zh-CN" dirty="0" smtClean="0"/>
              <a:t>Connection</a:t>
            </a:r>
            <a:r>
              <a:rPr lang="zh-CN" altLang="en-US" dirty="0" smtClean="0"/>
              <a:t>设置为</a:t>
            </a:r>
            <a:r>
              <a:rPr lang="en-US" altLang="zh-CN" dirty="0" smtClean="0"/>
              <a:t>Texas Instrument USB-IF,</a:t>
            </a:r>
            <a:r>
              <a:rPr lang="zh-CN" altLang="en-US" dirty="0" smtClean="0"/>
              <a:t>如下图所示</a:t>
            </a:r>
            <a:endParaRPr lang="en-US" altLang="zh-CN" dirty="0" smtClean="0"/>
          </a:p>
        </p:txBody>
      </p:sp>
      <p:sp>
        <p:nvSpPr>
          <p:cNvPr id="8196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E69F0623-D098-433B-8827-5C663F373F5E}" type="slidenum">
              <a:rPr lang="en-US" altLang="zh-CN">
                <a:latin typeface="Garamond" pitchFamily="18" charset="0"/>
              </a:rPr>
              <a:pPr eaLnBrk="1" hangingPunct="1"/>
              <a:t>8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412776"/>
            <a:ext cx="5143500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679" y="1412776"/>
            <a:ext cx="5381625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679" y="1412776"/>
            <a:ext cx="5381625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程序编辑与编译</a:t>
            </a:r>
            <a:br>
              <a:rPr lang="zh-CN" altLang="en-US" dirty="0" smtClean="0"/>
            </a:b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875"/>
            <a:ext cx="8296275" cy="4718050"/>
          </a:xfrm>
        </p:spPr>
        <p:txBody>
          <a:bodyPr/>
          <a:lstStyle/>
          <a:p>
            <a:pPr>
              <a:defRPr/>
            </a:pPr>
            <a:r>
              <a:rPr lang="zh-CN" altLang="en-US" noProof="1" smtClean="0"/>
              <a:t>程序编辑：在程序编辑框内编写程序即可。</a:t>
            </a:r>
            <a:endParaRPr lang="en-US" altLang="zh-CN" noProof="1" smtClean="0"/>
          </a:p>
          <a:p>
            <a:pPr>
              <a:defRPr/>
            </a:pPr>
            <a:endParaRPr lang="en-US" altLang="zh-CN" noProof="1" smtClean="0"/>
          </a:p>
          <a:p>
            <a:pPr>
              <a:defRPr/>
            </a:pPr>
            <a:r>
              <a:rPr lang="zh-CN" altLang="en-US" noProof="1" smtClean="0"/>
              <a:t>程序编译：在程序编辑完成之后，点击</a:t>
            </a:r>
            <a:r>
              <a:rPr lang="en-US" altLang="zh-CN" noProof="1" smtClean="0"/>
              <a:t>Make</a:t>
            </a:r>
            <a:r>
              <a:rPr lang="zh-CN" altLang="en-US" noProof="1" smtClean="0"/>
              <a:t>按钮即可进行程序编译，如下图所示。</a:t>
            </a:r>
            <a:endParaRPr lang="en-US" altLang="zh-CN" noProof="1"/>
          </a:p>
        </p:txBody>
      </p:sp>
      <p:sp>
        <p:nvSpPr>
          <p:cNvPr id="9220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B2F97A55-70DD-44FC-ACA2-1C98D1D747FC}" type="slidenum">
              <a:rPr lang="en-US" altLang="zh-CN">
                <a:latin typeface="Garamond" pitchFamily="18" charset="0"/>
              </a:rPr>
              <a:pPr eaLnBrk="1" hangingPunct="1"/>
              <a:t>9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06" y="3717032"/>
            <a:ext cx="790575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程序调试与下板验证</a:t>
            </a:r>
            <a:br>
              <a:rPr lang="zh-CN" altLang="en-US" dirty="0" smtClean="0"/>
            </a:b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875"/>
            <a:ext cx="8296275" cy="4718050"/>
          </a:xfrm>
        </p:spPr>
        <p:txBody>
          <a:bodyPr/>
          <a:lstStyle/>
          <a:p>
            <a:pPr>
              <a:defRPr/>
            </a:pPr>
            <a:r>
              <a:rPr lang="zh-CN" altLang="en-US" noProof="1" smtClean="0"/>
              <a:t>程序调试与下板验证：程序编译通过之后，便可进行调试验证，通过点击“</a:t>
            </a:r>
            <a:r>
              <a:rPr lang="en-US" altLang="zh-CN" noProof="1" smtClean="0"/>
              <a:t>Download and Debug</a:t>
            </a:r>
            <a:r>
              <a:rPr lang="zh-CN" altLang="en-US" noProof="1" smtClean="0"/>
              <a:t>”按钮（绿色箭头），在硬件连接之后，即可进行在线仿真调试。如下图所示</a:t>
            </a:r>
            <a:endParaRPr lang="en-US" altLang="zh-CN" noProof="1" smtClean="0"/>
          </a:p>
          <a:p>
            <a:pPr>
              <a:defRPr/>
            </a:pPr>
            <a:endParaRPr lang="en-US" altLang="zh-CN" noProof="1" smtClean="0"/>
          </a:p>
        </p:txBody>
      </p:sp>
      <p:sp>
        <p:nvSpPr>
          <p:cNvPr id="9220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B2F97A55-70DD-44FC-ACA2-1C98D1D747FC}" type="slidenum">
              <a:rPr lang="en-US" altLang="zh-CN">
                <a:latin typeface="Garamond" pitchFamily="18" charset="0"/>
              </a:rPr>
              <a:pPr eaLnBrk="1" hangingPunct="1"/>
              <a:t>10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64" y="3573016"/>
            <a:ext cx="80010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8787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程序调试与下板验证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noProof="1" smtClean="0">
                <a:ea typeface="楷体" panose="02010609060101010101" charset="-122"/>
              </a:rPr>
              <a:t>仿真调试界面如下所示：</a:t>
            </a:r>
            <a:endParaRPr lang="en-US" altLang="zh-CN" noProof="1" smtClean="0">
              <a:ea typeface="楷体" panose="02010609060101010101" charset="-122"/>
            </a:endParaRPr>
          </a:p>
          <a:p>
            <a:pPr>
              <a:defRPr/>
            </a:pPr>
            <a:endParaRPr lang="en-US" altLang="zh-CN" noProof="1" smtClean="0">
              <a:ea typeface="楷体" panose="02010609060101010101" charset="-122"/>
            </a:endParaRPr>
          </a:p>
          <a:p>
            <a:pPr>
              <a:defRPr/>
            </a:pPr>
            <a:r>
              <a:rPr lang="zh-CN" altLang="en-US" noProof="1">
                <a:ea typeface="楷体" panose="02010609060101010101" charset="-122"/>
              </a:rPr>
              <a:t>该</a:t>
            </a:r>
            <a:r>
              <a:rPr lang="zh-CN" altLang="en-US" noProof="1" smtClean="0">
                <a:ea typeface="楷体" panose="02010609060101010101" charset="-122"/>
              </a:rPr>
              <a:t>界面下的按钮功能及对应的快捷键为：</a:t>
            </a:r>
          </a:p>
          <a:p>
            <a:pPr marL="0" indent="0">
              <a:buFont typeface="Wingdings" pitchFamily="2" charset="2"/>
              <a:buNone/>
              <a:defRPr/>
            </a:pPr>
            <a:endParaRPr lang="zh-CN" altLang="en-US" noProof="1"/>
          </a:p>
        </p:txBody>
      </p:sp>
      <p:sp>
        <p:nvSpPr>
          <p:cNvPr id="11268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16326DAC-3EB2-4A94-97FC-529E08607FB0}" type="slidenum">
              <a:rPr lang="en-US" altLang="zh-CN">
                <a:latin typeface="Garamond" pitchFamily="18" charset="0"/>
              </a:rPr>
              <a:pPr eaLnBrk="1" hangingPunct="1"/>
              <a:t>11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85" y="2020046"/>
            <a:ext cx="8570303" cy="349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1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988840"/>
            <a:ext cx="5472608" cy="4089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ym typeface="仿宋_GB2312" pitchFamily="1" charset="-122"/>
              </a:rPr>
              <a:t>程序调试与下板验证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6725" y="1341438"/>
            <a:ext cx="8229600" cy="471805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zh-CN" altLang="en-US" noProof="1">
                <a:ea typeface="楷体" panose="02010609060101010101" charset="-122"/>
              </a:rPr>
              <a:t>实验平台：MSP430FG4618实验</a:t>
            </a:r>
            <a:r>
              <a:rPr lang="zh-CN" altLang="en-US" noProof="1" smtClean="0">
                <a:ea typeface="楷体" panose="02010609060101010101" charset="-122"/>
              </a:rPr>
              <a:t>板</a:t>
            </a:r>
            <a:endParaRPr lang="zh-CN" altLang="en-US" noProof="1">
              <a:ea typeface="楷体" panose="02010609060101010101" charset="-122"/>
            </a:endParaRPr>
          </a:p>
          <a:p>
            <a:pPr>
              <a:defRPr/>
            </a:pPr>
            <a:endParaRPr lang="zh-CN" altLang="en-US" noProof="1">
              <a:ea typeface="楷体" panose="02010609060101010101" charset="-122"/>
            </a:endParaRPr>
          </a:p>
        </p:txBody>
      </p:sp>
      <p:sp>
        <p:nvSpPr>
          <p:cNvPr id="10244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A2375394-FCBA-426C-9449-7B9E5CA20B93}" type="slidenum">
              <a:rPr lang="en-US" altLang="zh-CN">
                <a:latin typeface="Garamond" pitchFamily="18" charset="0"/>
              </a:rPr>
              <a:pPr eaLnBrk="1" hangingPunct="1"/>
              <a:t>12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10245" name="图片 5" descr="EA1$UV5(KG0K%@KV[]JL6R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35" y="1844824"/>
            <a:ext cx="7999413" cy="455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—LED</a:t>
            </a:r>
            <a:endParaRPr lang="zh-CN" altLang="en-US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从点亮实验板上的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开始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实验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板上的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的连接如下图所示</a:t>
            </a: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13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871564"/>
            <a:ext cx="2390775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—LED</a:t>
            </a:r>
            <a:endParaRPr lang="zh-CN" altLang="en-US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由上图可知，</a:t>
            </a:r>
            <a:r>
              <a:rPr lang="zh-CN" altLang="en-US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实验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板上的三个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的阳极分别连接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D3.3V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，而阴极则分别连接至单片机的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P5.7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、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P5.5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P5.3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当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P5.7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、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P5.5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P5.3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为低电平时，二极管的正负极之间存在一定的正向电压差，二极管导通，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发光。当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P5.7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、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P5.5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P5.3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为高电平时，二极管不导通，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不发光。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14</a:t>
            </a:fld>
            <a:endParaRPr lang="en-US" altLang="zh-CN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58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—LED</a:t>
            </a:r>
            <a:endParaRPr lang="zh-CN" altLang="en-US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查看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MSP430FG4618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的芯片手册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spcBef>
                <a:spcPts val="1200"/>
              </a:spcBef>
            </a:pP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15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89" y="2107654"/>
            <a:ext cx="8258175" cy="405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5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—LED</a:t>
            </a:r>
            <a:endParaRPr lang="zh-CN" altLang="en-US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配置</a:t>
            </a:r>
            <a:r>
              <a:rPr lang="en-US" altLang="zh-CN" sz="3200" dirty="0" err="1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PxDIR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寄存器。将</a:t>
            </a:r>
            <a:r>
              <a:rPr lang="en-US" altLang="zh-CN" sz="3200" dirty="0" err="1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PxDIR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寄存器的某一位设置为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时，对应的引脚为输出，设置为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时，引脚为输入。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配置</a:t>
            </a:r>
            <a:r>
              <a:rPr lang="en-US" altLang="zh-CN" sz="3200" dirty="0" err="1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PxOUT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寄存器。将</a:t>
            </a:r>
            <a:r>
              <a:rPr lang="en-US" altLang="zh-CN" sz="3200" dirty="0" err="1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PxOUT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寄存器的某一位设置为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时，对应的引脚输出为高电平，设置为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时，输出为低电平。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16</a:t>
            </a:fld>
            <a:endParaRPr lang="en-US" altLang="zh-CN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04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—LED</a:t>
            </a:r>
            <a:endParaRPr lang="zh-CN" altLang="en-US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扩展示例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实现</a:t>
            </a:r>
            <a:r>
              <a:rPr lang="en-US" altLang="zh-CN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灯闪烁交替。即先亮一段时间，再熄灭一段时间，如此循环。</a:t>
            </a:r>
            <a:endParaRPr lang="en-US" altLang="zh-CN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实现流水灯。即第一次点亮第一颗</a:t>
            </a:r>
            <a:r>
              <a:rPr lang="en-US" altLang="zh-CN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，二三颗熄灭，一段时间后，点亮第二颗，一三熄灭，一段时间后，点亮第三颗，一二熄灭，依次类推。</a:t>
            </a:r>
            <a:endParaRPr lang="en-US" altLang="zh-CN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17</a:t>
            </a:fld>
            <a:endParaRPr lang="en-US" altLang="zh-CN">
              <a:latin typeface="Garamond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71600" y="5498068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zh-CN" altLang="en-US" sz="2800" b="1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大家可自行思考如何</a:t>
            </a:r>
            <a:r>
              <a:rPr lang="zh-CN" altLang="en-US" sz="2800" b="1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实现</a:t>
            </a:r>
            <a:endParaRPr lang="en-US" altLang="zh-CN" sz="2800" b="1" dirty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364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独立按键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实验板上独立按键的连接如下图所示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查看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原理图，</a:t>
            </a:r>
            <a:r>
              <a:rPr lang="en-US" altLang="zh-CN" sz="32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indKey0~indKey2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分别连接至</a:t>
            </a:r>
            <a:r>
              <a:rPr lang="en-US" altLang="zh-CN" sz="32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MSP430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单片机的</a:t>
            </a:r>
            <a:r>
              <a:rPr lang="en-US" altLang="zh-CN" sz="32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P9.5</a:t>
            </a:r>
            <a:r>
              <a:rPr lang="zh-CN" altLang="en-US" sz="32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、</a:t>
            </a:r>
            <a:r>
              <a:rPr lang="en-US" altLang="zh-CN" sz="32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P9.6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及</a:t>
            </a:r>
            <a:r>
              <a:rPr lang="en-US" altLang="zh-CN" sz="32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P9.7</a:t>
            </a: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18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195289"/>
            <a:ext cx="5038725" cy="360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949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独立按键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独立按键检测原理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从上图看出，独立按键的一端通过电阻至</a:t>
            </a:r>
            <a:r>
              <a:rPr lang="en-US" altLang="zh-CN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D3.3V</a:t>
            </a: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，另一端连接到</a:t>
            </a:r>
            <a:r>
              <a:rPr lang="en-US" altLang="zh-CN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GND</a:t>
            </a:r>
            <a:r>
              <a:rPr lang="zh-CN" altLang="en-US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。电源</a:t>
            </a:r>
            <a:r>
              <a:rPr lang="en-US" altLang="zh-CN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D3.3V</a:t>
            </a:r>
            <a:r>
              <a:rPr lang="zh-CN" altLang="en-US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通过电阻连接到</a:t>
            </a:r>
            <a:r>
              <a:rPr lang="en-US" altLang="zh-CN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MSP430</a:t>
            </a:r>
            <a:r>
              <a:rPr lang="zh-CN" altLang="en-US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的</a:t>
            </a:r>
            <a:r>
              <a:rPr lang="en-US" altLang="zh-CN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IO</a:t>
            </a:r>
            <a:r>
              <a:rPr lang="zh-CN" altLang="en-US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口，为其提供上拉。当按键未按下时，按键不通，断路，此时</a:t>
            </a:r>
            <a:r>
              <a:rPr lang="en-US" altLang="zh-CN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MSP430</a:t>
            </a:r>
            <a:r>
              <a:rPr lang="zh-CN" altLang="en-US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的</a:t>
            </a:r>
            <a:r>
              <a:rPr lang="en-US" altLang="zh-CN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IO</a:t>
            </a:r>
            <a:r>
              <a:rPr lang="zh-CN" altLang="en-US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口为高电平，当按键按下时，</a:t>
            </a:r>
            <a:r>
              <a:rPr lang="en-US" altLang="zh-CN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MSP430</a:t>
            </a:r>
            <a:r>
              <a:rPr lang="zh-CN" altLang="en-US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的</a:t>
            </a:r>
            <a:r>
              <a:rPr lang="en-US" altLang="zh-CN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IO</a:t>
            </a:r>
            <a:r>
              <a:rPr lang="zh-CN" altLang="en-US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口通过按键与</a:t>
            </a:r>
            <a:r>
              <a:rPr lang="en-US" altLang="zh-CN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GND</a:t>
            </a:r>
            <a:r>
              <a:rPr lang="zh-CN" altLang="en-US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相连，为低电平。因此，可以通过检测</a:t>
            </a:r>
            <a:r>
              <a:rPr lang="en-US" altLang="zh-CN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IO</a:t>
            </a:r>
            <a:r>
              <a:rPr lang="zh-CN" altLang="en-US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口的输入电平来检测是否有按键按下。</a:t>
            </a:r>
            <a:endParaRPr lang="en-US" altLang="zh-CN" dirty="0" smtClean="0">
              <a:solidFill>
                <a:srgbClr val="660033"/>
              </a:solidFill>
              <a:latin typeface="+mj-lt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19</a:t>
            </a:fld>
            <a:endParaRPr lang="en-US" altLang="zh-CN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17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独立按键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独立按键检测</a:t>
            </a:r>
            <a:endParaRPr lang="en-US" altLang="zh-CN" sz="3200" dirty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扫描</a:t>
            </a:r>
            <a:r>
              <a:rPr lang="en-US" altLang="zh-CN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IO</a:t>
            </a: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口电平</a:t>
            </a:r>
            <a:endParaRPr lang="en-US" altLang="zh-CN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344487" lvl="1" indent="0" eaLnBrk="1" hangingPunct="1">
              <a:spcBef>
                <a:spcPts val="1200"/>
              </a:spcBef>
              <a:buNone/>
            </a:pPr>
            <a:r>
              <a:rPr lang="en-US" altLang="zh-CN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z="24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通过检测</a:t>
            </a:r>
            <a:r>
              <a:rPr lang="en-US" altLang="zh-CN" sz="24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IO</a:t>
            </a:r>
            <a:r>
              <a:rPr lang="zh-CN" altLang="en-US" sz="24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口的输入电平，来检测按键是否按下。在实验板上，如果检测到输入电平为低（按键消抖），则认为有按键按下，等到输入电平再次变为高时，说明按键释放。</a:t>
            </a:r>
            <a:endParaRPr lang="en-US" altLang="zh-CN" sz="2400" dirty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外部中断方法</a:t>
            </a:r>
            <a:endParaRPr lang="en-US" altLang="zh-CN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344487" lvl="1" indent="0" eaLnBrk="1" hangingPunct="1">
              <a:spcBef>
                <a:spcPts val="1200"/>
              </a:spcBef>
              <a:buNone/>
            </a:pPr>
            <a:r>
              <a:rPr lang="en-US" altLang="zh-CN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z="24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由于在按键按下时，单片机</a:t>
            </a:r>
            <a:r>
              <a:rPr lang="en-US" altLang="zh-CN" sz="24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IO</a:t>
            </a:r>
            <a:r>
              <a:rPr lang="zh-CN" altLang="en-US" sz="24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口的电平会发生从高到低的跳变，因此可通过设置该引脚为下降沿跳变中断功能，当检测到该跳变时，则触发中断。</a:t>
            </a:r>
            <a:endParaRPr lang="en-US" altLang="zh-CN" sz="2400" dirty="0" smtClean="0">
              <a:solidFill>
                <a:srgbClr val="660033"/>
              </a:solidFill>
              <a:latin typeface="+mj-lt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</a:t>
            </a:r>
            <a:endParaRPr lang="en-US" altLang="zh-CN" dirty="0" smtClean="0">
              <a:solidFill>
                <a:srgbClr val="660033"/>
              </a:solidFill>
              <a:latin typeface="+mj-lt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20</a:t>
            </a:fld>
            <a:endParaRPr lang="en-US" altLang="zh-CN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84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独立按键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相关的寄存器介绍</a:t>
            </a:r>
            <a:endParaRPr lang="en-US" altLang="zh-CN" sz="3200" dirty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</a:t>
            </a:r>
            <a:endParaRPr lang="en-US" altLang="zh-CN" dirty="0" smtClean="0">
              <a:solidFill>
                <a:srgbClr val="660033"/>
              </a:solidFill>
              <a:latin typeface="+mj-lt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21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381362"/>
            <a:ext cx="7755113" cy="12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077072"/>
            <a:ext cx="7239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33" y="2134344"/>
            <a:ext cx="726757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167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独立按键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扩展实例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通过按键控制</a:t>
            </a:r>
            <a:r>
              <a:rPr lang="en-US" altLang="zh-CN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灯的亮灭，按下时，</a:t>
            </a:r>
            <a:r>
              <a:rPr lang="en-US" altLang="zh-CN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点亮，松开时，</a:t>
            </a:r>
            <a:r>
              <a:rPr lang="en-US" altLang="zh-CN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熄灭。</a:t>
            </a:r>
            <a:endParaRPr lang="en-US" altLang="zh-CN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通过按键控制</a:t>
            </a:r>
            <a:r>
              <a:rPr lang="en-US" altLang="zh-CN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灯的亮灭，奇数次按下时，</a:t>
            </a:r>
            <a:r>
              <a:rPr lang="en-US" altLang="zh-CN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点亮，偶数次按下时，</a:t>
            </a:r>
            <a:r>
              <a:rPr lang="en-US" altLang="zh-CN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熄灭。</a:t>
            </a:r>
            <a:endParaRPr lang="en-US" altLang="zh-CN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通过板上的三个不同按键分别控制三个不同的</a:t>
            </a:r>
            <a:r>
              <a:rPr lang="en-US" altLang="zh-CN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的亮灭。</a:t>
            </a:r>
            <a:endParaRPr lang="en-US" altLang="zh-CN" dirty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22</a:t>
            </a:fld>
            <a:endParaRPr lang="en-US" altLang="zh-CN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187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矩阵键盘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实验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板上矩阵键盘的连接如下图所示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spcBef>
                <a:spcPts val="1200"/>
              </a:spcBef>
            </a:pPr>
            <a:endParaRPr lang="en-US" altLang="zh-CN" sz="3200" dirty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查看原理图可以知道，矩阵键盘的</a:t>
            </a:r>
            <a:r>
              <a:rPr lang="en-US" altLang="zh-CN" sz="32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maKey0~maKey7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分别与单片机的</a:t>
            </a:r>
            <a:r>
              <a:rPr lang="en-US" altLang="zh-CN" sz="32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P10.0~P10.7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相连</a:t>
            </a:r>
            <a:endParaRPr lang="en-US" altLang="zh-CN" sz="3200" dirty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23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083616"/>
            <a:ext cx="8352928" cy="4225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629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矩阵键盘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矩阵键盘检测原理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首先将</a:t>
            </a:r>
            <a:r>
              <a:rPr lang="en-US" altLang="zh-CN" sz="32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maKey0~maKey3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置低，然后检测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maKey4~maKey7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，假设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Key5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按下，则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maKey4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为低，由此可以确定第一列有按键按下。然后反过来将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maKey4~maKey7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置低，检测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maKey0~maKey3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，如果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Key5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按下，则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maKey0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为低，由此便可确定第一行的第一列有按键按下。</a:t>
            </a: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24</a:t>
            </a:fld>
            <a:endParaRPr lang="en-US" altLang="zh-CN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40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矩阵键盘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矩阵键盘检测原理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首先将</a:t>
            </a:r>
            <a:r>
              <a:rPr lang="en-US" altLang="zh-CN" sz="32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maKey0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置低，然后检测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maKey4~maKey7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，如果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maKey4</a:t>
            </a:r>
            <a:r>
              <a:rPr lang="zh-CN" altLang="en-US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为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低，则说明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Key5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按下，等待按键释放。再将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maKey1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置低，检测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maKey4~maKey7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，依次类推。</a:t>
            </a: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25</a:t>
            </a:fld>
            <a:endParaRPr lang="en-US" altLang="zh-CN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15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矩阵键盘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相关的寄存器说明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26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153813"/>
            <a:ext cx="7704856" cy="1530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153813"/>
            <a:ext cx="7286625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42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矩阵键盘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扩展实例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利用矩阵键盘控制</a:t>
            </a:r>
            <a:r>
              <a:rPr lang="en-US" altLang="zh-CN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灯的亮灭</a:t>
            </a:r>
            <a:endParaRPr lang="en-US" altLang="zh-CN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利用矩阵键盘的三个按键分别控制三个不同的</a:t>
            </a:r>
            <a:r>
              <a:rPr lang="en-US" altLang="zh-CN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LED</a:t>
            </a:r>
            <a:r>
              <a:rPr lang="zh-CN" altLang="en-US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灯</a:t>
            </a:r>
            <a:endParaRPr lang="en-US" altLang="zh-CN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27</a:t>
            </a:fld>
            <a:endParaRPr lang="en-US" altLang="zh-CN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254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/>
              <a:t>数码管</a:t>
            </a:r>
            <a:endParaRPr lang="zh-CN" altLang="en-US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实验板上的数码管的连接如下图所示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spcBef>
                <a:spcPts val="1200"/>
              </a:spcBef>
            </a:pPr>
            <a:endParaRPr lang="en-US" altLang="zh-CN" sz="3200" dirty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数码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管与单片机的连接为</a:t>
            </a:r>
            <a:r>
              <a:rPr lang="en-US" altLang="zh-CN" sz="32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ntDig0~ntDig7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分别连接到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P8.0~P8.7</a:t>
            </a:r>
            <a:r>
              <a:rPr lang="zh-CN" altLang="en-US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，</a:t>
            </a:r>
            <a:r>
              <a:rPr lang="en-US" altLang="zh-CN" sz="3200" dirty="0" err="1">
                <a:solidFill>
                  <a:srgbClr val="660033"/>
                </a:solidFill>
                <a:latin typeface="+mj-lt"/>
                <a:ea typeface="楷体" pitchFamily="49" charset="-122"/>
              </a:rPr>
              <a:t>ntA~ntG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分别连接到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P7.7~P7.1</a:t>
            </a:r>
            <a:r>
              <a:rPr lang="zh-CN" altLang="en-US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，</a:t>
            </a:r>
            <a:r>
              <a:rPr lang="en-US" altLang="zh-CN" sz="3200" dirty="0" err="1">
                <a:solidFill>
                  <a:srgbClr val="660033"/>
                </a:solidFill>
                <a:latin typeface="+mj-lt"/>
                <a:ea typeface="楷体" pitchFamily="49" charset="-122"/>
              </a:rPr>
              <a:t>ntDP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连接到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P7.0</a:t>
            </a:r>
            <a:endParaRPr lang="zh-CN" altLang="en-US" sz="3200" dirty="0">
              <a:solidFill>
                <a:srgbClr val="660033"/>
              </a:solidFill>
              <a:latin typeface="+mj-lt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28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204864"/>
            <a:ext cx="8341633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494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/>
              <a:t>数码管</a:t>
            </a:r>
            <a:endParaRPr lang="zh-CN" altLang="en-US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数码管显示原理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数码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管分共阳和共阴两种，实验板上的数码管为共阳，即位选信号高有效，段选信号低有效。数目码有位选和段选，位选控制当前显示在某一个位上面，图中即与三极管相连的线。段选则选择该位的哪些段显示，段选控制该位显示的字符是什么。</a:t>
            </a:r>
            <a:endParaRPr lang="en-US" altLang="zh-CN" sz="3200" dirty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29</a:t>
            </a:fld>
            <a:endParaRPr lang="en-US" altLang="zh-CN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96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/>
              <a:t>数码管</a:t>
            </a:r>
            <a:endParaRPr lang="zh-CN" altLang="en-US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数码管显示原理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数码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管的段选引脚定义为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图中表明了</a:t>
            </a:r>
            <a:r>
              <a:rPr lang="en-US" altLang="zh-CN" sz="32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A,B,C,D,E,F,G,DP</a:t>
            </a:r>
            <a:endParaRPr lang="en-US" altLang="zh-CN" sz="3200" dirty="0">
              <a:solidFill>
                <a:srgbClr val="660033"/>
              </a:solidFill>
              <a:latin typeface="+mj-lt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位置，其中，</a:t>
            </a:r>
            <a:r>
              <a:rPr lang="en-US" altLang="zh-CN" sz="32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DP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为小数点。当给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 smtClean="0">
                <a:solidFill>
                  <a:srgbClr val="660033"/>
                </a:solidFill>
                <a:latin typeface="+mj-lt"/>
                <a:ea typeface="楷体" pitchFamily="49" charset="-122"/>
              </a:rPr>
              <a:t>A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段一个低电平时，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A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段被点亮，为高电平时，</a:t>
            </a:r>
            <a:r>
              <a:rPr lang="en-US" altLang="zh-CN" sz="3200" dirty="0">
                <a:solidFill>
                  <a:srgbClr val="660033"/>
                </a:solidFill>
                <a:latin typeface="+mj-lt"/>
                <a:ea typeface="楷体" pitchFamily="49" charset="-122"/>
              </a:rPr>
              <a:t>A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段熄灭。因此，可以通过段的不同组合显示出不同的字符。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endParaRPr lang="en-US" altLang="zh-CN" sz="3200" dirty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30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7" y="1613046"/>
            <a:ext cx="1748447" cy="2031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901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/>
              <a:t>数码管</a:t>
            </a:r>
            <a:endParaRPr lang="zh-CN" altLang="en-US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数码管显示原理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可以确定常用的十六进制的字符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0~F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分别对应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  0xFC,0x60,0xDA,0xF2,</a:t>
            </a: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  0x66,0xB6,0xBE,0xE0,</a:t>
            </a: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  0xFE,0xF6,0xFA,0x3E,</a:t>
            </a: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  0x9C,0x7A,0xDE,0x8E</a:t>
            </a: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上面的叫做字模。</a:t>
            </a:r>
            <a:endParaRPr lang="en-US" altLang="zh-CN" sz="3200" dirty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31</a:t>
            </a:fld>
            <a:endParaRPr lang="en-US" altLang="zh-CN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99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/>
              <a:t>数码管</a:t>
            </a:r>
            <a:endParaRPr lang="zh-CN" altLang="en-US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数码管显示原理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位选和段选配合即可实现在某个位显示某个特定的字符，同一时刻只能在一个位置显示。然而通过高速的循环扫描显示，利用人眼的视觉暂留效应，会让人觉得每个位置都在显示。</a:t>
            </a:r>
            <a:endParaRPr lang="en-US" altLang="zh-CN" sz="3200" dirty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32</a:t>
            </a:fld>
            <a:endParaRPr lang="en-US" altLang="zh-CN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30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/>
              <a:t>数码管</a:t>
            </a:r>
            <a:endParaRPr lang="zh-CN" altLang="en-US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相关寄存器介绍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3200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	</a:t>
            </a: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33</a:t>
            </a:fld>
            <a:endParaRPr lang="en-US" altLang="zh-CN">
              <a:latin typeface="Garamond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04863"/>
            <a:ext cx="7697989" cy="3669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696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20713"/>
            <a:ext cx="8229600" cy="7747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简单的示例</a:t>
            </a:r>
            <a:r>
              <a:rPr lang="en-US" altLang="zh-CN" dirty="0" smtClean="0"/>
              <a:t>—</a:t>
            </a:r>
            <a:r>
              <a:rPr lang="zh-CN" altLang="en-US" dirty="0"/>
              <a:t>数码管</a:t>
            </a:r>
            <a:endParaRPr lang="zh-CN" altLang="en-US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84313"/>
            <a:ext cx="7991475" cy="4105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3200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扩展实例</a:t>
            </a:r>
            <a:endParaRPr lang="en-US" altLang="zh-CN" sz="3200" dirty="0" smtClean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dirty="0" smtClean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定义三个独立按键的键值，当按下某一个之后，在数码管上显示该数值</a:t>
            </a:r>
            <a:endParaRPr lang="en-US" altLang="zh-CN" sz="3200" dirty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dirty="0">
                <a:solidFill>
                  <a:srgbClr val="660033"/>
                </a:solidFill>
                <a:latin typeface="楷体" pitchFamily="49" charset="-122"/>
                <a:ea typeface="楷体" pitchFamily="49" charset="-122"/>
              </a:rPr>
              <a:t>定义矩阵键盘各个按键的键值，当按下某一个按键之后，在数码管上显示该数值</a:t>
            </a:r>
            <a:endParaRPr lang="en-US" altLang="zh-CN" dirty="0">
              <a:solidFill>
                <a:srgbClr val="660033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D0DC1E98-D9A1-4211-96EC-6A4447344C32}" type="slidenum">
              <a:rPr lang="en-US" altLang="zh-CN">
                <a:latin typeface="Garamond" pitchFamily="18" charset="0"/>
              </a:rPr>
              <a:pPr eaLnBrk="1" hangingPunct="1"/>
              <a:t>34</a:t>
            </a:fld>
            <a:endParaRPr lang="en-US" altLang="zh-CN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13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6"/>
          <p:cNvSpPr>
            <a:spLocks noChangeArrowheads="1"/>
          </p:cNvSpPr>
          <p:nvPr/>
        </p:nvSpPr>
        <p:spPr bwMode="auto">
          <a:xfrm>
            <a:off x="2051050" y="4941888"/>
            <a:ext cx="561657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1"/>
          <a:lstStyle/>
          <a:p>
            <a:pPr algn="ctr" eaLnBrk="0" hangingPunct="0">
              <a:lnSpc>
                <a:spcPct val="125000"/>
              </a:lnSpc>
            </a:pPr>
            <a:r>
              <a:rPr lang="zh-CN" altLang="en-US" sz="4000">
                <a:solidFill>
                  <a:srgbClr val="800000"/>
                </a:solidFill>
                <a:latin typeface="Tahoma" pitchFamily="34" charset="0"/>
                <a:ea typeface="黑体" pitchFamily="49" charset="-122"/>
              </a:rPr>
              <a:t>谢谢大家！</a:t>
            </a:r>
          </a:p>
        </p:txBody>
      </p:sp>
      <p:pic>
        <p:nvPicPr>
          <p:cNvPr id="53251" name="Picture 7" descr="j019954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2708275"/>
            <a:ext cx="187642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02082D6A-DAA7-4C7F-A8CF-ADD40A1283CB}" type="slidenum">
              <a:rPr lang="en-US" altLang="zh-CN">
                <a:latin typeface="Garamond" pitchFamily="18" charset="0"/>
              </a:rPr>
              <a:pPr eaLnBrk="1" hangingPunct="1"/>
              <a:t>35</a:t>
            </a:fld>
            <a:endParaRPr lang="en-US" altLang="zh-CN"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ge">
  <a:themeElements>
    <a:clrScheme name="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47329"/>
      </a:accent6>
      <a:hlink>
        <a:srgbClr val="996600"/>
      </a:hlink>
      <a:folHlink>
        <a:srgbClr val="AFBF39"/>
      </a:folHlink>
    </a:clrScheme>
    <a:fontScheme name="">
      <a:majorFont>
        <a:latin typeface="Times New Roman"/>
        <a:ea typeface="楷体_GB2312"/>
        <a:cs typeface=""/>
      </a:majorFont>
      <a:minorFont>
        <a:latin typeface="Times New Roman"/>
        <a:ea typeface="仿宋_GB2312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Edge">
  <a:themeElements>
    <a:clrScheme name="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47329"/>
      </a:accent6>
      <a:hlink>
        <a:srgbClr val="996600"/>
      </a:hlink>
      <a:folHlink>
        <a:srgbClr val="AFBF39"/>
      </a:folHlink>
    </a:clrScheme>
    <a:fontScheme name="">
      <a:majorFont>
        <a:latin typeface="Times New Roman"/>
        <a:ea typeface="楷体_GB2312"/>
        <a:cs typeface=""/>
      </a:majorFont>
      <a:minorFont>
        <a:latin typeface="Times New Roman"/>
        <a:ea typeface="仿宋_GB2312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1126</Words>
  <Application>Microsoft Office PowerPoint</Application>
  <PresentationFormat>全屏显示(4:3)</PresentationFormat>
  <Paragraphs>168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仿宋_GB2312</vt:lpstr>
      <vt:lpstr>黑体</vt:lpstr>
      <vt:lpstr>楷体</vt:lpstr>
      <vt:lpstr>楷体_GB2312</vt:lpstr>
      <vt:lpstr>宋体</vt:lpstr>
      <vt:lpstr>Arial</vt:lpstr>
      <vt:lpstr>Calibri</vt:lpstr>
      <vt:lpstr>Garamond</vt:lpstr>
      <vt:lpstr>Tahoma</vt:lpstr>
      <vt:lpstr>Times New Roman</vt:lpstr>
      <vt:lpstr>Wingdings</vt:lpstr>
      <vt:lpstr>Edge</vt:lpstr>
      <vt:lpstr>1_Edge</vt:lpstr>
      <vt:lpstr> IAR软件使用 </vt:lpstr>
      <vt:lpstr>IAR介绍 </vt:lpstr>
      <vt:lpstr>IAR介绍 </vt:lpstr>
      <vt:lpstr>IAR工程创建</vt:lpstr>
      <vt:lpstr>IAR工程创建</vt:lpstr>
      <vt:lpstr>IAR工程创建</vt:lpstr>
      <vt:lpstr>IAR工程配置</vt:lpstr>
      <vt:lpstr>IAR工程配置</vt:lpstr>
      <vt:lpstr>程序编辑与编译 </vt:lpstr>
      <vt:lpstr>程序调试与下板验证 </vt:lpstr>
      <vt:lpstr>程序调试与下板验证</vt:lpstr>
      <vt:lpstr>程序调试与下板验证</vt:lpstr>
      <vt:lpstr>简单的示例—LED</vt:lpstr>
      <vt:lpstr>简单的示例—LED</vt:lpstr>
      <vt:lpstr>简单的示例—LED</vt:lpstr>
      <vt:lpstr>简单的示例—LED</vt:lpstr>
      <vt:lpstr>简单的示例—LED</vt:lpstr>
      <vt:lpstr>简单的示例—独立按键</vt:lpstr>
      <vt:lpstr>简单的示例—独立按键</vt:lpstr>
      <vt:lpstr>简单的示例—独立按键</vt:lpstr>
      <vt:lpstr>简单的示例—独立按键</vt:lpstr>
      <vt:lpstr>简单的示例—独立按键</vt:lpstr>
      <vt:lpstr>简单的示例—矩阵键盘</vt:lpstr>
      <vt:lpstr>简单的示例—矩阵键盘</vt:lpstr>
      <vt:lpstr>简单的示例—矩阵键盘</vt:lpstr>
      <vt:lpstr>简单的示例—矩阵键盘</vt:lpstr>
      <vt:lpstr>简单的示例—矩阵键盘</vt:lpstr>
      <vt:lpstr>简单的示例—数码管</vt:lpstr>
      <vt:lpstr>简单的示例—数码管</vt:lpstr>
      <vt:lpstr>简单的示例—数码管</vt:lpstr>
      <vt:lpstr>简单的示例—数码管</vt:lpstr>
      <vt:lpstr>简单的示例—数码管</vt:lpstr>
      <vt:lpstr>简单的示例—数码管</vt:lpstr>
      <vt:lpstr>简单的示例—数码管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IAR软件使用</dc:title>
  <dc:creator>Administrator</dc:creator>
  <cp:lastModifiedBy>Windows 用户</cp:lastModifiedBy>
  <cp:revision>82</cp:revision>
  <dcterms:modified xsi:type="dcterms:W3CDTF">2017-09-26T13:46:08Z</dcterms:modified>
</cp:coreProperties>
</file>