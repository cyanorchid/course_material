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20"/>
  </p:handoutMasterIdLst>
  <p:sldIdLst>
    <p:sldId id="370" r:id="rId3"/>
    <p:sldId id="328" r:id="rId4"/>
    <p:sldId id="489" r:id="rId5"/>
    <p:sldId id="490" r:id="rId6"/>
    <p:sldId id="505" r:id="rId7"/>
    <p:sldId id="492" r:id="rId9"/>
    <p:sldId id="493" r:id="rId10"/>
    <p:sldId id="494" r:id="rId11"/>
    <p:sldId id="495" r:id="rId12"/>
    <p:sldId id="514" r:id="rId13"/>
    <p:sldId id="499" r:id="rId14"/>
    <p:sldId id="501" r:id="rId15"/>
    <p:sldId id="502" r:id="rId16"/>
    <p:sldId id="521" r:id="rId17"/>
    <p:sldId id="522" r:id="rId18"/>
    <p:sldId id="488" r:id="rId19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0904"/>
    <a:srgbClr val="FF3300"/>
    <a:srgbClr val="FF0066"/>
    <a:srgbClr val="F30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588"/>
    <p:restoredTop sz="94660"/>
  </p:normalViewPr>
  <p:slideViewPr>
    <p:cSldViewPr showGuides="1">
      <p:cViewPr varScale="1">
        <p:scale>
          <a:sx n="65" d="100"/>
          <a:sy n="65" d="100"/>
        </p:scale>
        <p:origin x="78" y="288"/>
      </p:cViewPr>
      <p:guideLst>
        <p:guide orient="horz" pos="211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FABED7-68E0-44F3-9E69-AECA0F53F263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E5040D-0989-45F4-B538-384B86B3D991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12290" name="文本占位符 2"/>
          <p:cNvSpPr>
            <a:spLocks noGrp="1"/>
          </p:cNvSpPr>
          <p:nvPr>
            <p:ph type="body"/>
          </p:nvPr>
        </p:nvSpPr>
        <p:spPr/>
        <p:txBody>
          <a:bodyPr anchor="ctr"/>
          <a:p>
            <a:pPr lvl="0" indent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4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6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0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/>
          <p:nvPr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101" name="Line 15"/>
          <p:cNvSpPr/>
          <p:nvPr/>
        </p:nvSpPr>
        <p:spPr>
          <a:xfrm>
            <a:off x="101600" y="1066800"/>
            <a:ext cx="9596967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1F567425-26D0-4762-9B8A-C423F7C34551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037474CA-5FEB-4150-8D96-B53AC63EF30E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103" name="Object 35"/>
          <p:cNvGraphicFramePr>
            <a:graphicFrameLocks noChangeAspect="1"/>
          </p:cNvGraphicFramePr>
          <p:nvPr/>
        </p:nvGraphicFramePr>
        <p:xfrm>
          <a:off x="3289300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6" name="Text Box 12"/>
          <p:cNvSpPr txBox="1"/>
          <p:nvPr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267" y="340360"/>
            <a:ext cx="1759373" cy="10674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8" name="Line 15"/>
          <p:cNvSpPr/>
          <p:nvPr/>
        </p:nvSpPr>
        <p:spPr>
          <a:xfrm>
            <a:off x="408517" y="1066800"/>
            <a:ext cx="9954683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2DE691FD-2CF5-45F8-81EB-3D9E2067F691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C4F8BBD4-577F-49B4-BFF4-F5BD509E7561}" type="datetime1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110" name="Object 36"/>
          <p:cNvGraphicFramePr>
            <a:graphicFrameLocks noChangeAspect="1"/>
          </p:cNvGraphicFramePr>
          <p:nvPr/>
        </p:nvGraphicFramePr>
        <p:xfrm>
          <a:off x="2946400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5664200" imgH="3327400" progId="">
                  <p:embed/>
                </p:oleObj>
              </mc:Choice>
              <mc:Fallback>
                <p:oleObj name="" r:id="rId5" imgW="5664200" imgH="3327400" progId="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11" name="Picture 8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544" y="1644650"/>
            <a:ext cx="8691033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Freeform 94"/>
          <p:cNvSpPr/>
          <p:nvPr/>
        </p:nvSpPr>
        <p:spPr bwMode="gray">
          <a:xfrm>
            <a:off x="0" y="0"/>
            <a:ext cx="3962400" cy="5257800"/>
          </a:xfrm>
          <a:custGeom>
            <a:avLst/>
            <a:gdLst/>
            <a:ahLst/>
            <a:cxnLst>
              <a:cxn ang="0">
                <a:pos x="118" y="0"/>
              </a:cxn>
              <a:cxn ang="0">
                <a:pos x="0" y="118"/>
              </a:cxn>
              <a:cxn ang="0">
                <a:pos x="0" y="589"/>
              </a:cxn>
              <a:cxn ang="0">
                <a:pos x="161" y="174"/>
              </a:cxn>
              <a:cxn ang="0">
                <a:pos x="589" y="0"/>
              </a:cxn>
              <a:cxn ang="0">
                <a:pos x="118" y="0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0066CC">
                  <a:gamma/>
                  <a:tint val="54510"/>
                  <a:invGamma/>
                </a:srgbClr>
              </a:gs>
              <a:gs pos="50000">
                <a:srgbClr val="0066CC">
                  <a:alpha val="0"/>
                </a:srgbClr>
              </a:gs>
              <a:gs pos="100000">
                <a:srgbClr val="0066CC">
                  <a:gamma/>
                  <a:tint val="54510"/>
                  <a:invGamma/>
                </a:srgb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标题占位符 6"/>
          <p:cNvSpPr/>
          <p:nvPr/>
        </p:nvSpPr>
        <p:spPr bwMode="auto">
          <a:xfrm>
            <a:off x="609600" y="2133600"/>
            <a:ext cx="10972800" cy="2590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0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5" name="Line 15"/>
          <p:cNvSpPr/>
          <p:nvPr userDrawn="1"/>
        </p:nvSpPr>
        <p:spPr>
          <a:xfrm>
            <a:off x="101600" y="1066800"/>
            <a:ext cx="9596967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9E35EDD8-FC05-4E51-9C72-200275BB382B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BE141EF6-A7E2-41D4-9130-D77C375778DC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7" name="Object 35"/>
          <p:cNvGraphicFramePr>
            <a:graphicFrameLocks noChangeAspect="1"/>
          </p:cNvGraphicFramePr>
          <p:nvPr userDrawn="1"/>
        </p:nvGraphicFramePr>
        <p:xfrm>
          <a:off x="3289300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32" name="Line 15"/>
          <p:cNvSpPr/>
          <p:nvPr userDrawn="1"/>
        </p:nvSpPr>
        <p:spPr>
          <a:xfrm>
            <a:off x="408517" y="1066800"/>
            <a:ext cx="9954683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1A720E34-4B2F-4628-9F18-EB827052CA6F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B6882D1C-F7A7-4FB4-B442-54941B510344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34" name="Object 36"/>
          <p:cNvGraphicFramePr>
            <a:graphicFrameLocks noChangeAspect="1"/>
          </p:cNvGraphicFramePr>
          <p:nvPr userDrawn="1"/>
        </p:nvGraphicFramePr>
        <p:xfrm>
          <a:off x="2946400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4" imgW="5664200" imgH="3327400" progId="">
                  <p:embed/>
                </p:oleObj>
              </mc:Choice>
              <mc:Fallback>
                <p:oleObj name="" r:id="rId4" imgW="5664200" imgH="3327400" progId="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3" y="2130433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3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3B14FAA8-8370-4830-BA08-9E532466F7D1}" type="slidenum">
              <a:rPr kumimoji="0" lang="zh-CN" altLang="zh-CN" b="0" strike="noStrike" kern="1200" cap="none" spc="0" normalizeH="0" baseline="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 smtClean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19267" y="340360"/>
            <a:ext cx="1759373" cy="1067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9" name="Line 15"/>
          <p:cNvSpPr/>
          <p:nvPr userDrawn="1"/>
        </p:nvSpPr>
        <p:spPr>
          <a:xfrm>
            <a:off x="101600" y="1066800"/>
            <a:ext cx="9596967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028A903F-36EF-44CF-8FAA-EEBADBCF1962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054CBC4F-1865-4A58-832D-D4547C3F85B6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51" name="Object 35"/>
          <p:cNvGraphicFramePr>
            <a:graphicFrameLocks noChangeAspect="1"/>
          </p:cNvGraphicFramePr>
          <p:nvPr userDrawn="1"/>
        </p:nvGraphicFramePr>
        <p:xfrm>
          <a:off x="3289300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4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通信与信息工程学院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56" name="Line 15"/>
          <p:cNvSpPr/>
          <p:nvPr userDrawn="1"/>
        </p:nvSpPr>
        <p:spPr>
          <a:xfrm>
            <a:off x="408517" y="1066800"/>
            <a:ext cx="9954683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25C3C14D-0CFE-4C38-B817-1B3479AC9A4D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818DC9CC-C088-4E4C-B040-796756CF1EEA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58" name="Object 36"/>
          <p:cNvGraphicFramePr>
            <a:graphicFrameLocks noChangeAspect="1"/>
          </p:cNvGraphicFramePr>
          <p:nvPr userDrawn="1"/>
        </p:nvGraphicFramePr>
        <p:xfrm>
          <a:off x="2946400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4" imgW="5664200" imgH="3327400" progId="">
                  <p:embed/>
                </p:oleObj>
              </mc:Choice>
              <mc:Fallback>
                <p:oleObj name="" r:id="rId4" imgW="5664200" imgH="3327400" progId="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4A6471F9-FD0B-4C05-92F7-5F146B3CEDA9}" type="slidenum">
              <a:rPr kumimoji="0" lang="zh-CN" altLang="zh-CN" b="0" strike="noStrike" kern="1200" cap="none" spc="0" normalizeH="0" baseline="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 smtClean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19267" y="340360"/>
            <a:ext cx="1759373" cy="1067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173" name="Line 15"/>
          <p:cNvSpPr/>
          <p:nvPr userDrawn="1"/>
        </p:nvSpPr>
        <p:spPr>
          <a:xfrm>
            <a:off x="101600" y="1066800"/>
            <a:ext cx="9596967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3923F2F7-64B6-4697-BEC3-F3020282BA07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7277CFB6-4F04-495F-9AE2-9CC8CEBD9408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75" name="Object 35"/>
          <p:cNvGraphicFramePr>
            <a:graphicFrameLocks noChangeAspect="1"/>
          </p:cNvGraphicFramePr>
          <p:nvPr userDrawn="1"/>
        </p:nvGraphicFramePr>
        <p:xfrm>
          <a:off x="3289300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180" name="Line 15"/>
          <p:cNvSpPr/>
          <p:nvPr userDrawn="1"/>
        </p:nvSpPr>
        <p:spPr>
          <a:xfrm>
            <a:off x="408517" y="1066800"/>
            <a:ext cx="9954683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9FC48865-5EFC-4BA8-B8A4-57651A92B3AF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0BE9FDD0-BA4F-40A7-8CF6-BD112C9764F8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82" name="Object 36"/>
          <p:cNvGraphicFramePr>
            <a:graphicFrameLocks noChangeAspect="1"/>
          </p:cNvGraphicFramePr>
          <p:nvPr userDrawn="1"/>
        </p:nvGraphicFramePr>
        <p:xfrm>
          <a:off x="2946400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4" imgW="5664200" imgH="3327400" progId="">
                  <p:embed/>
                </p:oleObj>
              </mc:Choice>
              <mc:Fallback>
                <p:oleObj name="" r:id="rId4" imgW="5664200" imgH="3327400" progId="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622EF514-175B-4550-89FD-0AC055B8B82A}" type="slidenum">
              <a:rPr kumimoji="0" lang="zh-CN" altLang="zh-CN" b="0" strike="noStrike" kern="1200" cap="none" spc="0" normalizeH="0" baseline="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 smtClean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19267" y="340360"/>
            <a:ext cx="1759373" cy="1067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197" name="Line 15"/>
          <p:cNvSpPr/>
          <p:nvPr userDrawn="1"/>
        </p:nvSpPr>
        <p:spPr>
          <a:xfrm>
            <a:off x="101600" y="1066800"/>
            <a:ext cx="9596967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3E639191-9D1F-4B5B-A2B0-AF1B57697303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F361E2A0-19C1-4A03-8524-8AE8E658B969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99" name="Object 35"/>
          <p:cNvGraphicFramePr>
            <a:graphicFrameLocks noChangeAspect="1"/>
          </p:cNvGraphicFramePr>
          <p:nvPr userDrawn="1"/>
        </p:nvGraphicFramePr>
        <p:xfrm>
          <a:off x="3289300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" imgW="5664200" imgH="3327400" progId="">
                  <p:embed/>
                </p:oleObj>
              </mc:Choice>
              <mc:Fallback>
                <p:oleObj name="" r:id="rId2" imgW="5664200" imgH="3327400" progId="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2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204" name="Line 15"/>
          <p:cNvSpPr/>
          <p:nvPr userDrawn="1"/>
        </p:nvSpPr>
        <p:spPr>
          <a:xfrm>
            <a:off x="408517" y="1066800"/>
            <a:ext cx="9954683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062A8B70-6C37-46B1-B139-7EC851F79079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3D00BF6C-52F6-4C1F-95B1-97F359F7B30E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206" name="Object 36"/>
          <p:cNvGraphicFramePr>
            <a:graphicFrameLocks noChangeAspect="1"/>
          </p:cNvGraphicFramePr>
          <p:nvPr userDrawn="1"/>
        </p:nvGraphicFramePr>
        <p:xfrm>
          <a:off x="2946400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4" imgW="5664200" imgH="3327400" progId="">
                  <p:embed/>
                </p:oleObj>
              </mc:Choice>
              <mc:Fallback>
                <p:oleObj name="" r:id="rId4" imgW="5664200" imgH="3327400" progId="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algn="l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i="0"/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endParaRPr kumimoji="0" lang="zh-CN" altLang="zh-CN" b="0" strike="noStrike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0884" y="6237288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fld id="{3AC4FBCB-8AFC-432D-988D-E77F0D4A3D57}" type="slidenum">
              <a:rPr kumimoji="0" lang="zh-CN" altLang="zh-CN" b="0" strike="noStrike" kern="1200" cap="none" spc="0" normalizeH="0" baseline="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b="0" strike="noStrike" kern="1200" cap="none" spc="0" normalizeH="0" baseline="0" noProof="0" smtClean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19267" y="340360"/>
            <a:ext cx="1759373" cy="1067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oleObject" Target="../embeddings/oleObject12.bin"/><Relationship Id="rId7" Type="http://schemas.openxmlformats.org/officeDocument/2006/relationships/image" Target="../media/image1.png"/><Relationship Id="rId6" Type="http://schemas.openxmlformats.org/officeDocument/2006/relationships/oleObject" Target="../embeddings/oleObject11.bin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vmlDrawing" Target="../drawings/vmlDrawing6.v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i="1" dirty="0">
                <a:solidFill>
                  <a:srgbClr val="969696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宽带通信网络实验室</a:t>
            </a:r>
            <a:endParaRPr lang="zh-CN" altLang="en-US" b="1" i="1" dirty="0">
              <a:solidFill>
                <a:srgbClr val="96969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53" name="Line 15"/>
          <p:cNvSpPr/>
          <p:nvPr userDrawn="1"/>
        </p:nvSpPr>
        <p:spPr>
          <a:xfrm>
            <a:off x="101600" y="1066800"/>
            <a:ext cx="9596967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5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CE45D5C5-1154-455D-9ECE-EDA235E4EAD5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61FF56DD-9FD0-4CAE-B054-A4B40AD9FCB9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Object 35"/>
          <p:cNvGraphicFramePr>
            <a:graphicFrameLocks noChangeAspect="1"/>
          </p:cNvGraphicFramePr>
          <p:nvPr userDrawn="1"/>
        </p:nvGraphicFramePr>
        <p:xfrm>
          <a:off x="3289300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6" imgW="5664200" imgH="3327400" progId="">
                  <p:embed/>
                </p:oleObj>
              </mc:Choice>
              <mc:Fallback>
                <p:oleObj name="" r:id="rId6" imgW="5664200" imgH="3327400" progId="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89300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Text Box 7"/>
          <p:cNvSpPr txBox="1">
            <a:spLocks noChangeArrowheads="1"/>
          </p:cNvSpPr>
          <p:nvPr userDrawn="1"/>
        </p:nvSpPr>
        <p:spPr bwMode="auto">
          <a:xfrm>
            <a:off x="0" y="61722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800" b="0" i="1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11"/>
          <p:cNvSpPr>
            <a:spLocks noChangeArrowheads="1"/>
          </p:cNvSpPr>
          <p:nvPr userDrawn="1"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Box 12"/>
          <p:cNvSpPr txBox="1"/>
          <p:nvPr userDrawn="1"/>
        </p:nvSpPr>
        <p:spPr>
          <a:xfrm>
            <a:off x="609600" y="6429375"/>
            <a:ext cx="7213600" cy="3683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indent="0">
              <a:spcBef>
                <a:spcPct val="50000"/>
              </a:spcBef>
            </a:pPr>
            <a:r>
              <a: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楷体_GB2312" pitchFamily="49" charset="-122"/>
              </a:rPr>
              <a:t>电子科技大学 信息与通信工程学院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60" name="Line 15"/>
          <p:cNvSpPr/>
          <p:nvPr userDrawn="1"/>
        </p:nvSpPr>
        <p:spPr>
          <a:xfrm>
            <a:off x="408517" y="1066800"/>
            <a:ext cx="9954683" cy="0"/>
          </a:xfrm>
          <a:prstGeom prst="line">
            <a:avLst/>
          </a:prstGeom>
          <a:ln w="508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62" name="Text Box 16"/>
          <p:cNvSpPr txBox="1">
            <a:spLocks noChangeArrowheads="1"/>
          </p:cNvSpPr>
          <p:nvPr userDrawn="1"/>
        </p:nvSpPr>
        <p:spPr bwMode="auto">
          <a:xfrm>
            <a:off x="8229600" y="6415088"/>
            <a:ext cx="38608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3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fld id="{D43344D4-DC75-4FE6-9E18-BFFC5F7276E2}" type="slidenum">
              <a:rPr kumimoji="0" lang="en-US" altLang="zh-CN" sz="1300" b="1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800" b="0" i="1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</a:t>
            </a:r>
            <a:fld id="{7A30C83F-991A-439A-9DA5-745E5086F04D}" type="datetime1">
              <a:rPr kumimoji="0" lang="zh-CN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1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36"/>
          <p:cNvGraphicFramePr>
            <a:graphicFrameLocks noChangeAspect="1"/>
          </p:cNvGraphicFramePr>
          <p:nvPr userDrawn="1"/>
        </p:nvGraphicFramePr>
        <p:xfrm>
          <a:off x="2946400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8" imgW="5664200" imgH="3327400" progId="">
                  <p:embed/>
                </p:oleObj>
              </mc:Choice>
              <mc:Fallback>
                <p:oleObj name="" r:id="rId8" imgW="5664200" imgH="3327400" progId="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46400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3" name="Rectangle 16"/>
          <p:cNvSpPr>
            <a:spLocks noGrp="1"/>
          </p:cNvSpPr>
          <p:nvPr>
            <p:ph type="title"/>
          </p:nvPr>
        </p:nvSpPr>
        <p:spPr>
          <a:xfrm>
            <a:off x="304800" y="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64" name="Rectangle 17"/>
          <p:cNvSpPr>
            <a:spLocks noGrp="1"/>
          </p:cNvSpPr>
          <p:nvPr>
            <p:ph type="body"/>
          </p:nvPr>
        </p:nvSpPr>
        <p:spPr>
          <a:xfrm>
            <a:off x="304800" y="1219200"/>
            <a:ext cx="11582400" cy="4906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 i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400" i="1">
                <a:solidFill>
                  <a:srgbClr val="FFFFFF"/>
                </a:solidFill>
                <a:latin typeface="Comic Sans MS" panose="030F0702030302020204" pitchFamily="66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1242BA-27C0-4C75-8714-ED9231808D93}" type="slidenum">
              <a:rPr kumimoji="0" lang="zh-CN" altLang="zh-CN" sz="1400" b="0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4" descr="未命名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219267" y="340360"/>
            <a:ext cx="1759373" cy="106743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10"/>
          <p:cNvSpPr/>
          <p:nvPr/>
        </p:nvSpPr>
        <p:spPr>
          <a:xfrm>
            <a:off x="608965" y="2049145"/>
            <a:ext cx="7735570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 algn="ctr">
              <a:lnSpc>
                <a:spcPct val="150000"/>
              </a:lnSpc>
            </a:pPr>
            <a:r>
              <a:rPr lang="zh-CN" sz="4400" b="1" dirty="0">
                <a:solidFill>
                  <a:srgbClr val="0033CC"/>
                </a:solidFill>
                <a:sym typeface="+mn-ea"/>
              </a:rPr>
              <a:t>最小</a:t>
            </a:r>
            <a:r>
              <a:rPr lang="zh-CN" sz="4400" b="1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微控制器系统设计与应用</a:t>
            </a:r>
            <a:endParaRPr lang="zh-CN" sz="4400" b="1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0080" y="3322320"/>
            <a:ext cx="49574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</a:rPr>
              <a:t>课程简介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</a:rPr>
              <a:t>疫情防控期课程安排</a:t>
            </a:r>
            <a:endParaRPr lang="zh-CN" altLang="en-US" sz="3200" b="1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9"/>
          <p:cNvSpPr/>
          <p:nvPr/>
        </p:nvSpPr>
        <p:spPr>
          <a:xfrm>
            <a:off x="628015" y="227330"/>
            <a:ext cx="760730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4000" b="1" dirty="0">
                <a:solidFill>
                  <a:srgbClr val="FF3300"/>
                </a:solidFill>
                <a:sym typeface="+mn-ea"/>
              </a:rPr>
              <a:t>课程简介</a:t>
            </a:r>
            <a:endParaRPr lang="en-US" altLang="zh-CN" sz="40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" name="Rectangle 15"/>
          <p:cNvSpPr/>
          <p:nvPr/>
        </p:nvSpPr>
        <p:spPr>
          <a:xfrm>
            <a:off x="537210" y="1144905"/>
            <a:ext cx="822325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本课程由电子科大大学生电子设计竞赛培训系列课程衍生而来。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 descr="F%[V_O9F`CPJID}IHQV2ZD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835" y="3569335"/>
            <a:ext cx="2141220" cy="2699385"/>
          </a:xfrm>
          <a:prstGeom prst="rect">
            <a:avLst/>
          </a:prstGeom>
        </p:spPr>
      </p:pic>
      <p:sp>
        <p:nvSpPr>
          <p:cNvPr id="2" name="Rectangle 15"/>
          <p:cNvSpPr/>
          <p:nvPr/>
        </p:nvSpPr>
        <p:spPr>
          <a:xfrm>
            <a:off x="537210" y="3486785"/>
            <a:ext cx="814959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本课程采用“做中学”模式，结合实验介绍处理器的相关知识。</a:t>
            </a:r>
            <a:endParaRPr lang="zh-CN" altLang="en-US" sz="3200" b="1" dirty="0">
              <a:solidFill>
                <a:srgbClr val="06070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Rectangle 15"/>
          <p:cNvSpPr/>
          <p:nvPr/>
        </p:nvSpPr>
        <p:spPr>
          <a:xfrm>
            <a:off x="537210" y="2290445"/>
            <a:ext cx="849630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本课程融合了模拟电路，数字电路，ASIC设计，数字信号处理等课程的相关知识。</a:t>
            </a:r>
            <a:endParaRPr lang="zh-CN" altLang="en-US" sz="3200" b="1" dirty="0">
              <a:solidFill>
                <a:srgbClr val="06070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Rectangle 15"/>
          <p:cNvSpPr/>
          <p:nvPr/>
        </p:nvSpPr>
        <p:spPr>
          <a:xfrm>
            <a:off x="537210" y="4613910"/>
            <a:ext cx="822325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Arial" panose="020B0604020202020204" pitchFamily="34" charset="0"/>
              </a:rPr>
              <a:t>教材：大学生电子设计丛书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Arial" panose="020B0604020202020204" pitchFamily="34" charset="0"/>
              </a:rPr>
              <a:t>《最小微控制器系统设计与应用》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Arial" panose="020B0604020202020204" pitchFamily="34" charset="0"/>
              </a:rPr>
              <a:t>高等教育出版社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2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标题 1"/>
          <p:cNvSpPr>
            <a:spLocks noGrp="1"/>
          </p:cNvSpPr>
          <p:nvPr>
            <p:ph type="title"/>
          </p:nvPr>
        </p:nvSpPr>
        <p:spPr/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课程简介</a:t>
            </a:r>
            <a:endParaRPr lang="zh-CN" altLang="en-US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530" y="1165860"/>
            <a:ext cx="7927975" cy="4526280"/>
          </a:xfrm>
        </p:spPr>
        <p:txBody>
          <a:bodyPr/>
          <a:p>
            <a:pPr algn="l" fontAlgn="base">
              <a:buFont typeface="Wingdings" panose="05000000000000000000" charset="0"/>
              <a:buChar char="l"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什么是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最小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微控制器系统设计？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algn="l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微控制器外围电路包括本身的基本引脚连接、总线驱动、时钟控制、引导程序方式控制、存储器配置、通信口配置、I/O口控制、时序设计等，其目的是保证微控制器的基本工作模式和环境。我们又把对微控制器的外围电路所进行的设计称为</a:t>
            </a:r>
            <a:r>
              <a:rPr lang="zh-CN" altLang="en-US" sz="3200" strike="noStrike" kern="1200" noProof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微控制器基本系统设计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，或者称为</a:t>
            </a:r>
            <a:r>
              <a:rPr lang="zh-CN" altLang="en-US" sz="3200" strike="noStrike" kern="1200" noProof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微控制器最小系统设计</a:t>
            </a:r>
            <a:r>
              <a:rPr lang="zh-CN" altLang="en-US" sz="3200" strike="noStrike" kern="120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。</a:t>
            </a:r>
            <a:r>
              <a:rPr lang="zh-CN" altLang="en-US" sz="3200" strike="noStrike" noProof="1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endParaRPr lang="zh-CN" altLang="en-US" sz="3200" strike="noStrike" noProof="1" dirty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pic>
        <p:nvPicPr>
          <p:cNvPr id="2" name="图片 1" descr="ZWCJ1XUB8GVQLCZ18}GMD9V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8188" y="4038600"/>
            <a:ext cx="3600450" cy="220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15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"/>
          <p:cNvSpPr>
            <a:spLocks noGrp="1"/>
          </p:cNvSpPr>
          <p:nvPr>
            <p:ph type="title"/>
          </p:nvPr>
        </p:nvSpPr>
        <p:spPr>
          <a:xfrm>
            <a:off x="525780" y="325438"/>
            <a:ext cx="8229600" cy="1143000"/>
          </a:xfrm>
        </p:spPr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课程简介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6750" y="1256665"/>
            <a:ext cx="9392285" cy="4526280"/>
          </a:xfrm>
        </p:spPr>
        <p:txBody>
          <a:bodyPr/>
          <a:p>
            <a:pPr fontAlgn="base"/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课程具体内容：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（1）介绍最新的单片微型计算机，DSP处理器和嵌入式处理器的结构；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（2）微控制器最小系统的评估和核心芯片的选取、最小系统的存储结构和外围设备设计；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（3）微控制器最小系统开发环境及软件开发，系统应用软件优化；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（4）微控制器最小系统低功耗处理技术；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（5）微控制器器最小系统的典型应用。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8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8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4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4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1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charRg st="111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charRg st="111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0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charRg st="130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charRg st="130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"/>
          <p:cNvSpPr>
            <a:spLocks noGrp="1"/>
          </p:cNvSpPr>
          <p:nvPr>
            <p:ph type="title"/>
          </p:nvPr>
        </p:nvSpPr>
        <p:spPr>
          <a:xfrm>
            <a:off x="628015" y="267018"/>
            <a:ext cx="8229600" cy="1143000"/>
          </a:xfrm>
        </p:spPr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课程简介</a:t>
            </a:r>
            <a:endParaRPr lang="zh-CN" altLang="en-US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795" y="1063625"/>
            <a:ext cx="9555480" cy="4526280"/>
          </a:xfrm>
        </p:spPr>
        <p:txBody>
          <a:bodyPr/>
          <a:p>
            <a:pPr fontAlgn="base"/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实验具体内容：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 fontAlgn="base"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实验平台：MSP430F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5529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实验板及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OLED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显示模块</a:t>
            </a:r>
            <a:endParaRPr lang="en-US" altLang="zh-CN" strike="noStrike" noProof="1"/>
          </a:p>
          <a:p>
            <a:pPr marL="0" indent="0" fontAlgn="base">
              <a:buNone/>
            </a:pPr>
            <a:endParaRPr lang="en-US" altLang="zh-CN" strike="noStrike" noProof="1"/>
          </a:p>
        </p:txBody>
      </p:sp>
      <p:pic>
        <p:nvPicPr>
          <p:cNvPr id="4" name="图片 3" descr="4J0Q(SYG$OWOR}]~`%G(~8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950" y="1962150"/>
            <a:ext cx="3530600" cy="44958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7"/>
          <p:cNvGrpSpPr/>
          <p:nvPr/>
        </p:nvGrpSpPr>
        <p:grpSpPr>
          <a:xfrm>
            <a:off x="3209925" y="4365625"/>
            <a:ext cx="5146675" cy="1223963"/>
            <a:chOff x="2654" y="6874"/>
            <a:chExt cx="8107" cy="1928"/>
          </a:xfrm>
        </p:grpSpPr>
        <p:sp>
          <p:nvSpPr>
            <p:cNvPr id="5" name="椭圆 4"/>
            <p:cNvSpPr/>
            <p:nvPr/>
          </p:nvSpPr>
          <p:spPr>
            <a:xfrm>
              <a:off x="2654" y="6874"/>
              <a:ext cx="2381" cy="1928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indent="0" algn="ctr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仿宋_GB2312" charset="0"/>
              </a:endParaRPr>
            </a:p>
          </p:txBody>
        </p:sp>
        <p:cxnSp>
          <p:nvCxnSpPr>
            <p:cNvPr id="6" name="直接箭头连接符 5"/>
            <p:cNvCxnSpPr>
              <a:stCxn id="5" idx="6"/>
            </p:cNvCxnSpPr>
            <p:nvPr/>
          </p:nvCxnSpPr>
          <p:spPr>
            <a:xfrm>
              <a:off x="5035" y="7838"/>
              <a:ext cx="3175" cy="51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99" name="文本框 6"/>
            <p:cNvSpPr txBox="1"/>
            <p:nvPr/>
          </p:nvSpPr>
          <p:spPr>
            <a:xfrm>
              <a:off x="8210" y="8075"/>
              <a:ext cx="2551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MSP4305529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39950" y="2060575"/>
            <a:ext cx="6183313" cy="1511935"/>
            <a:chOff x="970" y="3246"/>
            <a:chExt cx="9737" cy="2381"/>
          </a:xfrm>
        </p:grpSpPr>
        <p:sp>
          <p:nvSpPr>
            <p:cNvPr id="10" name="圆角矩形 9"/>
            <p:cNvSpPr/>
            <p:nvPr/>
          </p:nvSpPr>
          <p:spPr>
            <a:xfrm>
              <a:off x="970" y="3246"/>
              <a:ext cx="5670" cy="2381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indent="0" algn="ctr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仿宋_GB2312" charset="0"/>
              </a:endParaRPr>
            </a:p>
          </p:txBody>
        </p:sp>
        <p:cxnSp>
          <p:nvCxnSpPr>
            <p:cNvPr id="11" name="直接箭头连接符 10"/>
            <p:cNvCxnSpPr>
              <a:stCxn id="5" idx="6"/>
            </p:cNvCxnSpPr>
            <p:nvPr/>
          </p:nvCxnSpPr>
          <p:spPr>
            <a:xfrm>
              <a:off x="6640" y="4130"/>
              <a:ext cx="1387" cy="33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03" name="文本框 11"/>
            <p:cNvSpPr txBox="1"/>
            <p:nvPr/>
          </p:nvSpPr>
          <p:spPr>
            <a:xfrm>
              <a:off x="8095" y="4230"/>
              <a:ext cx="2612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板上仿真电路</a:t>
              </a: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855913" y="5838825"/>
            <a:ext cx="7697787" cy="719773"/>
            <a:chOff x="2097" y="9196"/>
            <a:chExt cx="12123" cy="1133"/>
          </a:xfrm>
        </p:grpSpPr>
        <p:sp>
          <p:nvSpPr>
            <p:cNvPr id="14" name="圆角矩形 13"/>
            <p:cNvSpPr/>
            <p:nvPr/>
          </p:nvSpPr>
          <p:spPr>
            <a:xfrm>
              <a:off x="2097" y="9256"/>
              <a:ext cx="3515" cy="1073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indent="0" algn="ctr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仿宋_GB2312" charset="0"/>
              </a:endParaRPr>
            </a:p>
          </p:txBody>
        </p:sp>
        <p:cxnSp>
          <p:nvCxnSpPr>
            <p:cNvPr id="15" name="直接箭头连接符 14"/>
            <p:cNvCxnSpPr>
              <a:stCxn id="5" idx="6"/>
            </p:cNvCxnSpPr>
            <p:nvPr/>
          </p:nvCxnSpPr>
          <p:spPr>
            <a:xfrm flipV="1">
              <a:off x="5641" y="9482"/>
              <a:ext cx="2249" cy="420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07" name="文本框 15"/>
            <p:cNvSpPr txBox="1"/>
            <p:nvPr/>
          </p:nvSpPr>
          <p:spPr>
            <a:xfrm>
              <a:off x="7890" y="9196"/>
              <a:ext cx="633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与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GPIO</a:t>
              </a:r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连接的独立按键及发光二极管</a:t>
              </a: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400300" y="3562350"/>
            <a:ext cx="5696585" cy="831214"/>
            <a:chOff x="1381" y="5611"/>
            <a:chExt cx="8970" cy="1307"/>
          </a:xfrm>
        </p:grpSpPr>
        <p:sp>
          <p:nvSpPr>
            <p:cNvPr id="18" name="矩形 17"/>
            <p:cNvSpPr/>
            <p:nvPr/>
          </p:nvSpPr>
          <p:spPr>
            <a:xfrm>
              <a:off x="1381" y="5611"/>
              <a:ext cx="1835" cy="897"/>
            </a:xfrm>
            <a:prstGeom prst="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indent="0" algn="ctr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仿宋_GB2312" charset="0"/>
              </a:endParaRPr>
            </a:p>
          </p:txBody>
        </p:sp>
        <p:cxnSp>
          <p:nvCxnSpPr>
            <p:cNvPr id="19" name="直接箭头连接符 18"/>
            <p:cNvCxnSpPr>
              <a:stCxn id="5" idx="6"/>
            </p:cNvCxnSpPr>
            <p:nvPr/>
          </p:nvCxnSpPr>
          <p:spPr>
            <a:xfrm>
              <a:off x="3177" y="6339"/>
              <a:ext cx="3786" cy="29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11" name="文本框 19"/>
            <p:cNvSpPr txBox="1"/>
            <p:nvPr/>
          </p:nvSpPr>
          <p:spPr>
            <a:xfrm>
              <a:off x="7078" y="6339"/>
              <a:ext cx="3273" cy="5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复位及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Boot</a:t>
              </a:r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按键</a:t>
              </a: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98688" y="4210050"/>
            <a:ext cx="7362825" cy="1666875"/>
            <a:chOff x="1063" y="6631"/>
            <a:chExt cx="11595" cy="2624"/>
          </a:xfrm>
        </p:grpSpPr>
        <p:sp>
          <p:nvSpPr>
            <p:cNvPr id="22" name="矩形 21"/>
            <p:cNvSpPr/>
            <p:nvPr/>
          </p:nvSpPr>
          <p:spPr>
            <a:xfrm>
              <a:off x="1063" y="6631"/>
              <a:ext cx="1361" cy="2608"/>
            </a:xfrm>
            <a:prstGeom prst="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indent="0" algn="ctr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仿宋_GB2312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042" y="6647"/>
              <a:ext cx="1474" cy="2608"/>
            </a:xfrm>
            <a:prstGeom prst="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indent="0" algn="ctr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仿宋_GB2312" charset="0"/>
              </a:endParaRPr>
            </a:p>
          </p:txBody>
        </p:sp>
        <p:cxnSp>
          <p:nvCxnSpPr>
            <p:cNvPr id="24" name="直接箭头连接符 23"/>
            <p:cNvCxnSpPr>
              <a:stCxn id="5" idx="6"/>
            </p:cNvCxnSpPr>
            <p:nvPr/>
          </p:nvCxnSpPr>
          <p:spPr>
            <a:xfrm>
              <a:off x="2450" y="7049"/>
              <a:ext cx="5427" cy="73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5" idx="6"/>
            </p:cNvCxnSpPr>
            <p:nvPr/>
          </p:nvCxnSpPr>
          <p:spPr>
            <a:xfrm>
              <a:off x="6563" y="7199"/>
              <a:ext cx="1314" cy="469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17" name="文本框 26"/>
            <p:cNvSpPr txBox="1"/>
            <p:nvPr/>
          </p:nvSpPr>
          <p:spPr>
            <a:xfrm>
              <a:off x="7890" y="7431"/>
              <a:ext cx="4768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引出的芯片外设接口引脚</a:t>
              </a: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648075" y="3355975"/>
            <a:ext cx="6575425" cy="738188"/>
            <a:chOff x="3344" y="5286"/>
            <a:chExt cx="10355" cy="1162"/>
          </a:xfrm>
        </p:grpSpPr>
        <p:sp>
          <p:nvSpPr>
            <p:cNvPr id="29" name="矩形 28"/>
            <p:cNvSpPr/>
            <p:nvPr/>
          </p:nvSpPr>
          <p:spPr>
            <a:xfrm>
              <a:off x="3344" y="5286"/>
              <a:ext cx="2949" cy="1148"/>
            </a:xfrm>
            <a:prstGeom prst="rect">
              <a:avLst/>
            </a:prstGeom>
            <a:solidFill>
              <a:srgbClr val="000000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indent="0" algn="ctr"/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仿宋_GB2312" charset="0"/>
              </a:endParaRPr>
            </a:p>
          </p:txBody>
        </p:sp>
        <p:cxnSp>
          <p:nvCxnSpPr>
            <p:cNvPr id="30" name="直接箭头连接符 29"/>
            <p:cNvCxnSpPr>
              <a:stCxn id="29" idx="3"/>
            </p:cNvCxnSpPr>
            <p:nvPr/>
          </p:nvCxnSpPr>
          <p:spPr>
            <a:xfrm flipV="1">
              <a:off x="6293" y="5853"/>
              <a:ext cx="1587" cy="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21" name="文本框 30"/>
            <p:cNvSpPr txBox="1"/>
            <p:nvPr/>
          </p:nvSpPr>
          <p:spPr>
            <a:xfrm>
              <a:off x="7877" y="5432"/>
              <a:ext cx="5822" cy="10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zh-CN" altLang="en-US" b="1">
                  <a:latin typeface="Arial" panose="020B0604020202020204" pitchFamily="34" charset="0"/>
                  <a:ea typeface="宋体" panose="02010600030101010101" pitchFamily="2" charset="-122"/>
                </a:rPr>
                <a:t>仿真接口（实验板可由此采用外部仿真器，也可由此引出板上仿真器）</a:t>
              </a:r>
              <a:endParaRPr lang="zh-CN" altLang="en-US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" name="图片 1" descr="(O`B6U(T@TGY1{}UHYUSAVJ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38" y="768668"/>
            <a:ext cx="4779962" cy="267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5905500" y="2981960"/>
            <a:ext cx="1871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外加</a:t>
            </a:r>
            <a:r>
              <a:rPr lang="en-US" altLang="zh-CN" b="1"/>
              <a:t>OLED</a:t>
            </a:r>
            <a:r>
              <a:rPr lang="zh-CN" altLang="en-US" b="1"/>
              <a:t>模块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609600" y="349568"/>
            <a:ext cx="10972800" cy="1143000"/>
          </a:xfrm>
        </p:spPr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课程简介</a:t>
            </a:r>
            <a:endParaRPr lang="zh-CN" altLang="en-US"/>
          </a:p>
        </p:txBody>
      </p:sp>
      <p:sp>
        <p:nvSpPr>
          <p:cNvPr id="8194" name="内容占位符 2"/>
          <p:cNvSpPr>
            <a:spLocks noGrp="1"/>
          </p:cNvSpPr>
          <p:nvPr>
            <p:ph idx="1"/>
          </p:nvPr>
        </p:nvSpPr>
        <p:spPr>
          <a:xfrm>
            <a:off x="525145" y="1165860"/>
            <a:ext cx="10407015" cy="2823210"/>
          </a:xfrm>
        </p:spPr>
        <p:txBody>
          <a:bodyPr anchor="t"/>
          <a:p>
            <a:pPr fontAlgn="base"/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实验具体内容：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（1）简易计数器：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学习MSP430单片机的通用IO口的操作，会通过IO口进行按键检测。通过对MSP430F5529开发板编程，能够在OLED（有机发光二极管）上显示数字。还需要学习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OLED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封装函数的调用。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fontAlgn="base">
              <a:buNone/>
            </a:pP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5145" y="4301490"/>
            <a:ext cx="10466070" cy="24199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rtlCol="0" anchor="t">
            <a:normAutofit/>
          </a:bodyPr>
          <a:p>
            <a:pPr marL="342900" lvl="0" indent="-342900" algn="l" eaLnBrk="0" hangingPunct="0">
              <a:spcBef>
                <a:spcPct val="20000"/>
              </a:spcBef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（2）25Hz方波发生器</a:t>
            </a: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及方波幅值</a:t>
            </a: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测量：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342900" lvl="0" indent="-342900" algn="l" eaLnBrk="0" hangingPunct="0">
              <a:spcBef>
                <a:spcPct val="20000"/>
              </a:spcBef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学习方波发生器的工作原理；利用MSP430通用IO产生25Hz方波，同时利用MSP430内部AD测量出该方波幅度值并显示在OLED上。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819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8194">
                                            <p:txEl>
                                              <p:charRg st="8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15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8194">
                                            <p:txEl>
                                              <p:charRg st="115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uiExpand="1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title"/>
          </p:nvPr>
        </p:nvSpPr>
        <p:spPr>
          <a:xfrm>
            <a:off x="582930" y="343853"/>
            <a:ext cx="8229600" cy="1143000"/>
          </a:xfrm>
        </p:spPr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课程简介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2930" y="1176020"/>
            <a:ext cx="9698355" cy="3385185"/>
          </a:xfrm>
        </p:spPr>
        <p:txBody>
          <a:bodyPr/>
          <a:p>
            <a:pPr fontAlgn="base"/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实验具体内容：</a:t>
            </a:r>
            <a:endParaRPr lang="zh-CN" altLang="en-US" sz="3200" strike="noStrike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传感器驱动及数据采集实验：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algn="l" fontAlgn="base"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学习I</a:t>
            </a:r>
            <a:r>
              <a:rPr lang="zh-CN" altLang="en-US" sz="3200" baseline="30000" dirty="0">
                <a:solidFill>
                  <a:srgbClr val="000066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C接口的使用，从给定的传感器中采集数据传到OLED上显示。体会430单片机上通信接口的使用以及数据采集处理操作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。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）PWM波发生器及PWM波占空比和频率测量：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</a:t>
            </a:r>
            <a:endParaRPr lang="en-US" altLang="zh-CN" sz="3200" strike="noStrike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0715" y="4561205"/>
            <a:ext cx="9698355" cy="13836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rtlCol="0" anchor="t">
            <a:noAutofit/>
          </a:bodyPr>
          <a:p>
            <a:pPr marL="342900" lvl="0" indent="-342900" algn="l" eaLnBrk="0" hangingPunct="0">
              <a:spcBef>
                <a:spcPct val="20000"/>
              </a:spcBef>
            </a:pPr>
            <a:r>
              <a:rPr lang="zh-CN" altLang="en-US" sz="3200" b="1" kern="0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学习PWM信号的基本原理及应用；学习MSP430单片机内部PWM波发生器和内部捕获/比较器的操作。</a:t>
            </a:r>
            <a:endParaRPr lang="zh-CN" altLang="en-US" sz="3200" b="1" kern="0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8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8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10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10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12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12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609600" y="324168"/>
            <a:ext cx="10972800" cy="1143000"/>
          </a:xfrm>
        </p:spPr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课程简介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8000" y="1265555"/>
            <a:ext cx="10107295" cy="4526280"/>
          </a:xfrm>
        </p:spPr>
        <p:txBody>
          <a:bodyPr/>
          <a:p>
            <a:pPr fontAlgn="base"/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实验具体内容：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（5）TMS320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L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F2812最小系统设计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体会微处理器最小系统的设计方法：学习阅读芯片数据手册；学习微处理器主要工作模块设计；学习常用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CAD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软件进行原理图和印制板图设计。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学习TI DSP集成编译仿真环境CCS的使用。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fontAlgn="base"/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实验要求：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430实验要求完成实验报告，并在实验板上演示。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2812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实验要求完成原理图及印制板图。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zh-CN" altLang="en-US" sz="3200" strike="noStrike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8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8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2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2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charRg st="12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charRg st="125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1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charRg st="131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charRg st="131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5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charRg st="155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charRg st="155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"/>
          <p:cNvSpPr>
            <a:spLocks noGrp="1"/>
          </p:cNvSpPr>
          <p:nvPr>
            <p:ph type="title"/>
          </p:nvPr>
        </p:nvSpPr>
        <p:spPr/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课程简介</a:t>
            </a:r>
            <a:endParaRPr lang="zh-CN" altLang="en-US"/>
          </a:p>
        </p:txBody>
      </p:sp>
      <p:sp>
        <p:nvSpPr>
          <p:cNvPr id="14338" name="内容占位符 2"/>
          <p:cNvSpPr>
            <a:spLocks noGrp="1"/>
          </p:cNvSpPr>
          <p:nvPr>
            <p:ph idx="1"/>
          </p:nvPr>
        </p:nvSpPr>
        <p:spPr>
          <a:xfrm>
            <a:off x="313690" y="1018540"/>
            <a:ext cx="9825355" cy="4718050"/>
          </a:xfrm>
        </p:spPr>
        <p:txBody>
          <a:bodyPr anchor="t"/>
          <a:p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课程学习说明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（1）为何选择MSP430F5529Launch Pad作为实验平台？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（2）课程实验的设计思考：基本要求很简单，更多内容放在拓展要求中。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（3）课程的进行思路：做中学，自学能力的培养，相关工具的使用自行学习，编程好习惯的养成，如何将自己做的工作阐述清楚...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（4）提前学习MSP430的开发环境IAR或CCS，学习绘制电路图的工具protel或Altium Designer。</a:t>
            </a:r>
            <a:endParaRPr lang="zh-CN" altLang="en-US" sz="3200" dirty="0"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charRg st="7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43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charRg st="43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77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8">
                                            <p:txEl>
                                              <p:charRg st="77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138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8">
                                            <p:txEl>
                                              <p:charRg st="138" end="1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"/>
          <p:cNvSpPr>
            <a:spLocks noGrp="1"/>
          </p:cNvSpPr>
          <p:nvPr/>
        </p:nvSpPr>
        <p:spPr>
          <a:xfrm>
            <a:off x="553720" y="21685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cene3d>
              <a:camera prst="orthographicFront"/>
              <a:lightRig rig="threePt" dir="t"/>
            </a:scene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70C0"/>
                </a:solidFill>
                <a:latin typeface="Arial Black" panose="020B0A04020102020204" pitchFamily="34" charset="0"/>
                <a:ea typeface="微软雅黑" panose="020B0503020204020204" pitchFamily="3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课程简介</a:t>
            </a:r>
            <a:endParaRPr lang="zh-CN" altLang="en-US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38" name="内容占位符 2"/>
          <p:cNvSpPr>
            <a:spLocks noGrp="1"/>
          </p:cNvSpPr>
          <p:nvPr/>
        </p:nvSpPr>
        <p:spPr>
          <a:xfrm>
            <a:off x="553403" y="1158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请在课前自行准备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MSP430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实验平台：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en-US" dirty="0">
              <a:ea typeface="楷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130" y="1875155"/>
            <a:ext cx="5190490" cy="3789680"/>
          </a:xfrm>
          <a:prstGeom prst="rect">
            <a:avLst/>
          </a:prstGeom>
        </p:spPr>
      </p:pic>
      <p:pic>
        <p:nvPicPr>
          <p:cNvPr id="3" name="图片 2" descr="NFK{8%X%O429(K]0DXDIJV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985" y="2315210"/>
            <a:ext cx="2964815" cy="2405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9"/>
          <p:cNvSpPr/>
          <p:nvPr/>
        </p:nvSpPr>
        <p:spPr>
          <a:xfrm>
            <a:off x="653415" y="309880"/>
            <a:ext cx="760730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40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课程简介</a:t>
            </a:r>
            <a:endParaRPr lang="zh-CN" altLang="en-US" sz="40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AutoShape 9"/>
          <p:cNvSpPr/>
          <p:nvPr/>
        </p:nvSpPr>
        <p:spPr>
          <a:xfrm>
            <a:off x="1664970" y="1473835"/>
            <a:ext cx="294703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最小微控制器系统概述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172" name="AutoShape 14"/>
          <p:cNvSpPr>
            <a:spLocks noChangeArrowheads="1"/>
          </p:cNvSpPr>
          <p:nvPr/>
        </p:nvSpPr>
        <p:spPr bwMode="gray">
          <a:xfrm>
            <a:off x="896541" y="151082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1</a:t>
            </a:r>
            <a:endParaRPr kumimoji="1" lang="en-US" altLang="ko-KR" sz="1500" strike="noStrike" noProof="1" dirty="0">
              <a:solidFill>
                <a:schemeClr val="bg1"/>
              </a:solidFill>
              <a:latin typeface="Verdana" panose="020B0604030504040204" charset="0"/>
              <a:ea typeface="DotumChe" charset="-127"/>
            </a:endParaRPr>
          </a:p>
        </p:txBody>
      </p:sp>
      <p:sp>
        <p:nvSpPr>
          <p:cNvPr id="7" name="AutoShape 9"/>
          <p:cNvSpPr/>
          <p:nvPr/>
        </p:nvSpPr>
        <p:spPr>
          <a:xfrm>
            <a:off x="2400935" y="2196465"/>
            <a:ext cx="284035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引言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gray">
          <a:xfrm>
            <a:off x="1637586" y="223281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1.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AutoShape 9"/>
          <p:cNvSpPr/>
          <p:nvPr/>
        </p:nvSpPr>
        <p:spPr>
          <a:xfrm>
            <a:off x="2400935" y="2900045"/>
            <a:ext cx="2840990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微控制器的概念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gray">
          <a:xfrm>
            <a:off x="1637586" y="293639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1.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2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AutoShape 9"/>
          <p:cNvSpPr/>
          <p:nvPr/>
        </p:nvSpPr>
        <p:spPr>
          <a:xfrm>
            <a:off x="2399665" y="3580765"/>
            <a:ext cx="2842260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微控制器软硬件结构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gray">
          <a:xfrm>
            <a:off x="1637586" y="361711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1.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3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AutoShape 9"/>
          <p:cNvSpPr/>
          <p:nvPr/>
        </p:nvSpPr>
        <p:spPr>
          <a:xfrm>
            <a:off x="2400935" y="4272915"/>
            <a:ext cx="284162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典型微控制器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8" name="AutoShape 14"/>
          <p:cNvSpPr>
            <a:spLocks noChangeArrowheads="1"/>
          </p:cNvSpPr>
          <p:nvPr/>
        </p:nvSpPr>
        <p:spPr bwMode="gray">
          <a:xfrm>
            <a:off x="1637586" y="430926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1.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4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9"/>
          <p:cNvSpPr/>
          <p:nvPr/>
        </p:nvSpPr>
        <p:spPr>
          <a:xfrm>
            <a:off x="2400935" y="4953635"/>
            <a:ext cx="284162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微控制器最小系统开发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0" name="AutoShape 14"/>
          <p:cNvSpPr>
            <a:spLocks noChangeArrowheads="1"/>
          </p:cNvSpPr>
          <p:nvPr/>
        </p:nvSpPr>
        <p:spPr bwMode="gray">
          <a:xfrm>
            <a:off x="1637586" y="498998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1.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5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AutoShape 9"/>
          <p:cNvSpPr/>
          <p:nvPr/>
        </p:nvSpPr>
        <p:spPr>
          <a:xfrm>
            <a:off x="2400935" y="5594350"/>
            <a:ext cx="284162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最小系统设计的关键点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" name="AutoShape 14"/>
          <p:cNvSpPr>
            <a:spLocks noChangeArrowheads="1"/>
          </p:cNvSpPr>
          <p:nvPr/>
        </p:nvSpPr>
        <p:spPr bwMode="gray">
          <a:xfrm>
            <a:off x="1637586" y="563070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1.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6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7172" grpId="0" bldLvl="0" animBg="1"/>
      <p:bldP spid="7" grpId="0" bldLvl="0" animBg="1"/>
      <p:bldP spid="8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" grpId="0" bldLvl="0" animBg="1"/>
      <p:bldP spid="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9"/>
          <p:cNvSpPr/>
          <p:nvPr/>
        </p:nvSpPr>
        <p:spPr>
          <a:xfrm>
            <a:off x="636270" y="351155"/>
            <a:ext cx="760730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40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课程简介</a:t>
            </a:r>
            <a:endParaRPr lang="zh-CN" altLang="en-US" sz="40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AutoShape 9"/>
          <p:cNvSpPr/>
          <p:nvPr/>
        </p:nvSpPr>
        <p:spPr>
          <a:xfrm>
            <a:off x="1507490" y="1474470"/>
            <a:ext cx="294703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MSP430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实验部分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172" name="AutoShape 14"/>
          <p:cNvSpPr>
            <a:spLocks noChangeArrowheads="1"/>
          </p:cNvSpPr>
          <p:nvPr/>
        </p:nvSpPr>
        <p:spPr bwMode="gray">
          <a:xfrm>
            <a:off x="739061" y="151145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2</a:t>
            </a:r>
            <a:endParaRPr kumimoji="1" lang="en-US" altLang="ko-KR" sz="1500" strike="noStrike" noProof="1" dirty="0">
              <a:solidFill>
                <a:schemeClr val="bg1"/>
              </a:solidFill>
              <a:latin typeface="Verdana" panose="020B0604030504040204" charset="0"/>
              <a:ea typeface="DotumChe" charset="-127"/>
            </a:endParaRPr>
          </a:p>
        </p:txBody>
      </p:sp>
      <p:sp>
        <p:nvSpPr>
          <p:cNvPr id="7" name="AutoShape 9"/>
          <p:cNvSpPr/>
          <p:nvPr/>
        </p:nvSpPr>
        <p:spPr>
          <a:xfrm>
            <a:off x="2244725" y="2196465"/>
            <a:ext cx="489267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MSP430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开发板及开发环境介绍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gray">
          <a:xfrm>
            <a:off x="1480106" y="223345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2.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AutoShape 9"/>
          <p:cNvSpPr/>
          <p:nvPr/>
        </p:nvSpPr>
        <p:spPr>
          <a:xfrm>
            <a:off x="2244725" y="2900680"/>
            <a:ext cx="489267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 algn="l">
              <a:spcBef>
                <a:spcPct val="50000"/>
              </a:spcBef>
              <a:buClr>
                <a:srgbClr val="003366"/>
              </a:buClr>
            </a:pPr>
            <a:r>
              <a:rPr 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实验一：</a:t>
            </a: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430GPIO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的操作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gray">
          <a:xfrm>
            <a:off x="1480106" y="293703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2.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2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AutoShape 9"/>
          <p:cNvSpPr/>
          <p:nvPr/>
        </p:nvSpPr>
        <p:spPr>
          <a:xfrm>
            <a:off x="2242185" y="3581400"/>
            <a:ext cx="4942840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实验二：</a:t>
            </a: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430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定时器及</a:t>
            </a: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AD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的操作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gray">
          <a:xfrm>
            <a:off x="1480106" y="361775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2.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3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AutoShape 9"/>
          <p:cNvSpPr/>
          <p:nvPr/>
        </p:nvSpPr>
        <p:spPr>
          <a:xfrm>
            <a:off x="2243455" y="4273550"/>
            <a:ext cx="494093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实验三：</a:t>
            </a: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430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通信接口的操作及数据采集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8" name="AutoShape 14"/>
          <p:cNvSpPr>
            <a:spLocks noChangeArrowheads="1"/>
          </p:cNvSpPr>
          <p:nvPr/>
        </p:nvSpPr>
        <p:spPr bwMode="gray">
          <a:xfrm>
            <a:off x="1480106" y="430990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2.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4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9"/>
          <p:cNvSpPr/>
          <p:nvPr/>
        </p:nvSpPr>
        <p:spPr>
          <a:xfrm>
            <a:off x="2242185" y="4954270"/>
            <a:ext cx="4941570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实验四：</a:t>
            </a: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430PWM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波形发生及测量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0" name="AutoShape 14"/>
          <p:cNvSpPr>
            <a:spLocks noChangeArrowheads="1"/>
          </p:cNvSpPr>
          <p:nvPr/>
        </p:nvSpPr>
        <p:spPr bwMode="gray">
          <a:xfrm>
            <a:off x="1480106" y="499062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2.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5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7172" grpId="0" bldLvl="0" animBg="1"/>
      <p:bldP spid="7" grpId="0" bldLvl="0" animBg="1"/>
      <p:bldP spid="8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9"/>
          <p:cNvSpPr/>
          <p:nvPr/>
        </p:nvSpPr>
        <p:spPr>
          <a:xfrm>
            <a:off x="661035" y="351155"/>
            <a:ext cx="760730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40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课程简介</a:t>
            </a:r>
            <a:endParaRPr lang="zh-CN" altLang="en-US" sz="40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AutoShape 9"/>
          <p:cNvSpPr/>
          <p:nvPr/>
        </p:nvSpPr>
        <p:spPr>
          <a:xfrm>
            <a:off x="1623060" y="1598295"/>
            <a:ext cx="381571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TMS320LF2812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最小系统设计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172" name="AutoShape 14"/>
          <p:cNvSpPr>
            <a:spLocks noChangeArrowheads="1"/>
          </p:cNvSpPr>
          <p:nvPr/>
        </p:nvSpPr>
        <p:spPr bwMode="gray">
          <a:xfrm>
            <a:off x="854631" y="1635284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3</a:t>
            </a:r>
            <a:endParaRPr kumimoji="1" lang="en-US" altLang="ko-KR" sz="1500" strike="noStrike" noProof="1" dirty="0">
              <a:solidFill>
                <a:schemeClr val="bg1"/>
              </a:solidFill>
              <a:latin typeface="Verdana" panose="020B0604030504040204" charset="0"/>
              <a:ea typeface="DotumChe" charset="-127"/>
            </a:endParaRPr>
          </a:p>
        </p:txBody>
      </p:sp>
      <p:sp>
        <p:nvSpPr>
          <p:cNvPr id="7" name="AutoShape 9"/>
          <p:cNvSpPr/>
          <p:nvPr/>
        </p:nvSpPr>
        <p:spPr>
          <a:xfrm>
            <a:off x="2360295" y="2320290"/>
            <a:ext cx="3797300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设计要求概述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gray">
          <a:xfrm>
            <a:off x="1595676" y="235727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3.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AutoShape 9"/>
          <p:cNvSpPr/>
          <p:nvPr/>
        </p:nvSpPr>
        <p:spPr>
          <a:xfrm>
            <a:off x="2360295" y="3024505"/>
            <a:ext cx="3796665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 algn="l">
              <a:spcBef>
                <a:spcPct val="50000"/>
              </a:spcBef>
              <a:buClr>
                <a:srgbClr val="003366"/>
              </a:buClr>
            </a:pPr>
            <a:r>
              <a:rPr 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DSP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特点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gray">
          <a:xfrm>
            <a:off x="1595676" y="306085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3.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2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AutoShape 9"/>
          <p:cNvSpPr/>
          <p:nvPr/>
        </p:nvSpPr>
        <p:spPr>
          <a:xfrm>
            <a:off x="2357755" y="3705225"/>
            <a:ext cx="3799840" cy="495935"/>
          </a:xfrm>
          <a:prstGeom prst="roundRect">
            <a:avLst>
              <a:gd name="adj" fmla="val 10884"/>
            </a:avLst>
          </a:prstGeom>
          <a:solidFill>
            <a:schemeClr val="bg1"/>
          </a:solidFill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p>
            <a:pPr>
              <a:spcBef>
                <a:spcPct val="50000"/>
              </a:spcBef>
              <a:buClr>
                <a:srgbClr val="003366"/>
              </a:buClr>
            </a:pPr>
            <a:r>
              <a:rPr lang="en-US" altLang="zh-CN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2812</a:t>
            </a:r>
            <a:r>
              <a:rPr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最小系统各部分模块设计</a:t>
            </a:r>
            <a:endParaRPr lang="zh-CN" altLang="en-US" sz="2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gray">
          <a:xfrm>
            <a:off x="1595676" y="3741579"/>
            <a:ext cx="617935" cy="422672"/>
          </a:xfrm>
          <a:prstGeom prst="roundRect">
            <a:avLst>
              <a:gd name="adj" fmla="val 8037"/>
            </a:avLst>
          </a:prstGeom>
          <a:solidFill>
            <a:srgbClr val="0070C0"/>
          </a:solidFill>
          <a:ln w="12700">
            <a:solidFill>
              <a:schemeClr val="folHlink"/>
            </a:solidFill>
            <a:round/>
          </a:ln>
          <a:effectLst>
            <a:outerShdw blurRad="63500" dist="46662" dir="3284183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 defTabSz="864870">
              <a:spcBef>
                <a:spcPct val="20000"/>
              </a:spcBef>
              <a:buChar char="•"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86487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6487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6487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6487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6487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latin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ko-KR" sz="1500" strike="noStrike" noProof="1" dirty="0">
                <a:solidFill>
                  <a:schemeClr val="bg1"/>
                </a:solidFill>
                <a:latin typeface="Verdana" panose="020B0604030504040204" charset="0"/>
                <a:ea typeface="DotumChe" charset="-127"/>
                <a:cs typeface="+mn-cs"/>
              </a:rPr>
              <a:t>3.</a:t>
            </a:r>
            <a:r>
              <a:rPr kumimoji="1" lang="en-US" altLang="zh-CN" sz="1500" strike="noStrike" noProof="1" dirty="0">
                <a:solidFill>
                  <a:schemeClr val="bg1"/>
                </a:solidFill>
                <a:latin typeface="Verdana" panose="020B0604030504040204" charset="0"/>
                <a:ea typeface="宋体" panose="02010600030101010101" pitchFamily="2" charset="-122"/>
                <a:cs typeface="+mn-cs"/>
              </a:rPr>
              <a:t>3</a:t>
            </a:r>
            <a:endParaRPr kumimoji="1" lang="en-US" altLang="zh-CN" sz="1500" strike="noStrike" noProof="1" dirty="0">
              <a:solidFill>
                <a:schemeClr val="bg1"/>
              </a:solidFill>
              <a:latin typeface="Verdan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7172" grpId="0" bldLvl="0" animBg="1"/>
      <p:bldP spid="7" grpId="0" bldLvl="0" animBg="1"/>
      <p:bldP spid="8" grpId="0" bldLvl="0" animBg="1"/>
      <p:bldP spid="13" grpId="0" bldLvl="0" animBg="1"/>
      <p:bldP spid="14" grpId="0" bldLvl="0" animBg="1"/>
      <p:bldP spid="15" grpId="0" bldLvl="0" animBg="1"/>
      <p:bldP spid="1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609600" y="324168"/>
            <a:ext cx="10972800" cy="1143000"/>
          </a:xfrm>
        </p:spPr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疫情防控期间课程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安排</a:t>
            </a:r>
            <a:endParaRPr lang="zh-CN" altLang="en-US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1470" y="1249045"/>
            <a:ext cx="6417945" cy="2954020"/>
          </a:xfrm>
        </p:spPr>
        <p:txBody>
          <a:bodyPr/>
          <a:p>
            <a:pPr fontAlgn="base"/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上课方式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Mooc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学习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+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课堂授课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+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答疑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Mooc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学习：中国大学</a:t>
            </a:r>
            <a:r>
              <a:rPr lang="en-US" altLang="zh-CN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Mooc</a:t>
            </a:r>
            <a:r>
              <a:rPr lang="zh-CN" altLang="en-US" sz="3200" strike="noStrike" noProof="1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网</a:t>
            </a:r>
            <a:endParaRPr lang="zh-CN" altLang="en-US" sz="3200" strike="noStrike" noProof="1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http://www.icourse163.org/course/UESTC-1205777804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zh-CN" altLang="en-US" sz="3200" strike="noStrike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17360" y="2629535"/>
            <a:ext cx="5374640" cy="3505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3850" y="4037965"/>
            <a:ext cx="642556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fontAlgn="base"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）课堂授课：每周二下午</a:t>
            </a:r>
            <a:r>
              <a:rPr lang="en-US" altLang="zh-CN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5,6</a:t>
            </a: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节</a:t>
            </a:r>
            <a:endParaRPr lang="zh-CN" altLang="en-US" sz="3200" b="1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 fontAlgn="base"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方式</a:t>
            </a:r>
            <a:r>
              <a:rPr lang="en-US" altLang="zh-CN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--QQ</a:t>
            </a: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群视频</a:t>
            </a:r>
            <a:endParaRPr lang="zh-CN" altLang="en-US" sz="3200" b="1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 fontAlgn="base">
              <a:buNone/>
            </a:pP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内容</a:t>
            </a:r>
            <a:r>
              <a:rPr lang="en-US" altLang="zh-CN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--</a:t>
            </a: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主要补充</a:t>
            </a:r>
            <a:r>
              <a:rPr lang="en-US" altLang="zh-CN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Mooc</a:t>
            </a:r>
            <a:r>
              <a:rPr lang="zh-CN" altLang="en-US" sz="3200" b="1" dirty="0">
                <a:solidFill>
                  <a:srgbClr val="000066"/>
                </a:solidFill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中未提及的内容，强调需要重点掌握的内容</a:t>
            </a:r>
            <a:endParaRPr lang="zh-CN" altLang="en-US" sz="3200" b="1" dirty="0">
              <a:solidFill>
                <a:srgbClr val="000066"/>
              </a:solidFill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609600" y="324168"/>
            <a:ext cx="10972800" cy="1143000"/>
          </a:xfrm>
        </p:spPr>
        <p:txBody>
          <a:bodyPr anchor="t"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疫情防控期间课程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安排</a:t>
            </a:r>
            <a:endParaRPr lang="zh-CN" altLang="en-US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4" name="内容占位符 3"/>
          <p:cNvSpPr/>
          <p:nvPr>
            <p:ph idx="1"/>
          </p:nvPr>
        </p:nvSpPr>
        <p:spPr>
          <a:xfrm>
            <a:off x="483235" y="1263650"/>
            <a:ext cx="10972800" cy="2313940"/>
          </a:xfrm>
        </p:spPr>
        <p:txBody>
          <a:bodyPr/>
          <a:p>
            <a:pPr marL="0" algn="l" defTabSz="914400" eaLnBrk="1" hangingPunct="1">
              <a:buClrTx/>
              <a:buSzTx/>
              <a:buFontTx/>
              <a:buNone/>
            </a:pPr>
            <a:r>
              <a:rPr lang="zh-CN" altLang="en-US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(3)答疑：</a:t>
            </a:r>
            <a:endParaRPr lang="zh-CN" altLang="en-US" sz="3200" kern="1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algn="l" defTabSz="914400" eaLnBrk="1" hangingPunct="1">
              <a:buClrTx/>
              <a:buSzTx/>
              <a:buFontTx/>
              <a:buNone/>
            </a:pPr>
            <a:r>
              <a:rPr lang="zh-CN" altLang="en-US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方式</a:t>
            </a:r>
            <a:r>
              <a:rPr lang="en-US" altLang="zh-CN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--</a:t>
            </a:r>
            <a:r>
              <a:rPr lang="en-US" altLang="zh-CN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QQ</a:t>
            </a:r>
            <a:r>
              <a:rPr lang="zh-CN" altLang="en-US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群</a:t>
            </a:r>
            <a:endParaRPr lang="zh-CN" altLang="en-US" sz="3200" kern="1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algn="l" defTabSz="914400" eaLnBrk="1" hangingPunct="1">
              <a:buClrTx/>
              <a:buSzTx/>
              <a:buFontTx/>
              <a:buNone/>
            </a:pPr>
            <a:r>
              <a:rPr lang="zh-CN" altLang="en-US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同学们随时可以针对课程的内容及后续实验的问题在</a:t>
            </a:r>
            <a:r>
              <a:rPr lang="en-US" altLang="zh-CN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QQ</a:t>
            </a:r>
            <a:r>
              <a:rPr lang="zh-CN" altLang="en-US" sz="3200" kern="1200" dirty="0">
                <a:solidFill>
                  <a:srgbClr val="00006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群进行提问，老师或助教为大家解答。</a:t>
            </a:r>
            <a:endParaRPr lang="zh-CN" altLang="en-US" sz="3200" kern="1200" dirty="0">
              <a:solidFill>
                <a:srgbClr val="000066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13905" y="2977515"/>
            <a:ext cx="2646680" cy="32677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80" y="3419475"/>
            <a:ext cx="4243070" cy="282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081270" y="2686685"/>
            <a:ext cx="30918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solidFill>
                  <a:srgbClr val="0070C0"/>
                </a:solidFill>
              </a:rPr>
              <a:t>THANKS</a:t>
            </a:r>
            <a:endParaRPr lang="en-US" altLang="zh-CN" sz="4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FSHAPE" val="540755788"/>
  <p:tag name="KSO_WM_UNIT_PLACING_PICTURE_USER_VIEWPORT" val="{&quot;height&quot;:8231,&quot;width&quot;:12623}"/>
</p:tagLst>
</file>

<file path=ppt/tags/tag2.xml><?xml version="1.0" encoding="utf-8"?>
<p:tagLst xmlns:p="http://schemas.openxmlformats.org/presentationml/2006/main">
  <p:tag name="REFSHAPE" val="603896524"/>
  <p:tag name="KSO_WM_UNIT_PLACING_PICTURE_USER_VIEWPORT" val="{&quot;height&quot;:13330,&quot;width&quot;:10800}"/>
</p:tagLst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1829</Words>
  <Application>WPS 演示</Application>
  <PresentationFormat>全屏显示(4:3)</PresentationFormat>
  <Paragraphs>200</Paragraphs>
  <Slides>16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楷体_GB2312</vt:lpstr>
      <vt:lpstr>新宋体</vt:lpstr>
      <vt:lpstr>Comic Sans MS</vt:lpstr>
      <vt:lpstr>Arial Black</vt:lpstr>
      <vt:lpstr>微软雅黑</vt:lpstr>
      <vt:lpstr>楷体</vt:lpstr>
      <vt:lpstr>Wingdings</vt:lpstr>
      <vt:lpstr>仿宋_GB2312</vt:lpstr>
      <vt:lpstr>Garamond</vt:lpstr>
      <vt:lpstr>Verdana</vt:lpstr>
      <vt:lpstr>DotumChe</vt:lpstr>
      <vt:lpstr>Malgun Gothic</vt:lpstr>
      <vt:lpstr>Arial Unicode MS</vt:lpstr>
      <vt:lpstr>仿宋</vt:lpstr>
      <vt:lpstr>主题1</vt:lpstr>
      <vt:lpstr>PowerPoint 演示文稿</vt:lpstr>
      <vt:lpstr>PowerPoint 演示文稿</vt:lpstr>
      <vt:lpstr>课程简介</vt:lpstr>
      <vt:lpstr>课程简介</vt:lpstr>
      <vt:lpstr>课程简介</vt:lpstr>
      <vt:lpstr>课程简介</vt:lpstr>
      <vt:lpstr>课程简介  </vt:lpstr>
      <vt:lpstr>课程简介</vt:lpstr>
      <vt:lpstr>课程简介</vt:lpstr>
      <vt:lpstr>PowerPoint 演示文稿</vt:lpstr>
      <vt:lpstr>PowerPoint 演示文稿</vt:lpstr>
      <vt:lpstr>PowerPoint 演示文稿</vt:lpstr>
      <vt:lpstr>PowerPoint 演示文稿</vt:lpstr>
      <vt:lpstr>疫情防控期间课程安排</vt:lpstr>
      <vt:lpstr>疫情防控期间课程安排</vt:lpstr>
      <vt:lpstr>PowerPoint 演示文稿</vt:lpstr>
    </vt:vector>
  </TitlesOfParts>
  <Company>合纵科技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Signal Processing </dc:title>
  <dc:creator>intel</dc:creator>
  <cp:lastModifiedBy>Skipper</cp:lastModifiedBy>
  <cp:revision>288</cp:revision>
  <dcterms:created xsi:type="dcterms:W3CDTF">2002-09-15T02:02:00Z</dcterms:created>
  <dcterms:modified xsi:type="dcterms:W3CDTF">2020-02-16T12:41:06Z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