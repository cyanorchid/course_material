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36"/>
  </p:notesMasterIdLst>
  <p:sldIdLst>
    <p:sldId id="256" r:id="rId4"/>
    <p:sldId id="323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88" r:id="rId24"/>
    <p:sldId id="397" r:id="rId25"/>
    <p:sldId id="587" r:id="rId26"/>
    <p:sldId id="404" r:id="rId27"/>
    <p:sldId id="588" r:id="rId28"/>
    <p:sldId id="1042" r:id="rId29"/>
    <p:sldId id="1036" r:id="rId30"/>
    <p:sldId id="1037" r:id="rId31"/>
    <p:sldId id="1038" r:id="rId32"/>
    <p:sldId id="1039" r:id="rId33"/>
    <p:sldId id="1040" r:id="rId34"/>
    <p:sldId id="1041" r:id="rId3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5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66"/>
    <a:srgbClr val="FF0000"/>
    <a:srgbClr val="6600CC"/>
    <a:srgbClr val="660066"/>
    <a:srgbClr val="990033"/>
    <a:srgbClr val="0033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9" d="100"/>
          <a:sy n="99" d="100"/>
        </p:scale>
        <p:origin x="555" y="54"/>
      </p:cViewPr>
      <p:guideLst>
        <p:guide orient="horz" pos="2235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en-US" altLang="x-none" sz="1200" strike="noStrike" noProof="1"/>
          </a:p>
        </p:txBody>
      </p:sp>
      <p:sp>
        <p:nvSpPr>
          <p:cNvPr id="307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zh-CN" altLang="en-US" sz="1200" strike="noStrike" noProof="1"/>
          </a:p>
        </p:txBody>
      </p:sp>
      <p:sp>
        <p:nvSpPr>
          <p:cNvPr id="5124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125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单击此处编辑母版文本样式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307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en-US" altLang="x-none" sz="1200" strike="noStrike" noProof="1"/>
          </a:p>
        </p:txBody>
      </p:sp>
      <p:sp>
        <p:nvSpPr>
          <p:cNvPr id="307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en-US" altLang="x-none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735" y="549275"/>
            <a:ext cx="2060178" cy="5581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061104" cy="5581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735" y="549275"/>
            <a:ext cx="2060178" cy="5581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061104" cy="5581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735" y="549275"/>
            <a:ext cx="2060178" cy="5581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061104" cy="5581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412875"/>
            <a:ext cx="8229600" cy="47180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325120"/>
            <a:r>
              <a:rPr lang="zh-CN" altLang="en-US"/>
              <a:t>第二级</a:t>
            </a:r>
          </a:p>
          <a:p>
            <a:pPr lvl="2" indent="-350520"/>
            <a:r>
              <a:rPr lang="zh-CN" altLang="en-US"/>
              <a:t>第三级</a:t>
            </a:r>
          </a:p>
          <a:p>
            <a:pPr lvl="3" indent="-315595"/>
            <a:r>
              <a:rPr lang="zh-CN" altLang="en-US"/>
              <a:t>第四级</a:t>
            </a:r>
          </a:p>
          <a:p>
            <a:pPr lvl="4" indent="-339725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  <p:sp>
        <p:nvSpPr>
          <p:cNvPr id="1031" name="Freeform 7"/>
          <p:cNvSpPr/>
          <p:nvPr/>
        </p:nvSpPr>
        <p:spPr>
          <a:xfrm>
            <a:off x="395288" y="476250"/>
            <a:ext cx="8229600" cy="104775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/>
          <p:nvPr/>
        </p:nvSpPr>
        <p:spPr>
          <a:xfrm>
            <a:off x="457200" y="6172200"/>
            <a:ext cx="8229600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3" name="Rectangle 9"/>
          <p:cNvSpPr/>
          <p:nvPr userDrawn="1"/>
        </p:nvSpPr>
        <p:spPr>
          <a:xfrm>
            <a:off x="468313" y="1268413"/>
            <a:ext cx="8280400" cy="71437"/>
          </a:xfrm>
          <a:prstGeom prst="rect">
            <a:avLst/>
          </a:prstGeom>
          <a:gradFill rotWithShape="0">
            <a:gsLst>
              <a:gs pos="0">
                <a:srgbClr val="5E4700"/>
              </a:gs>
              <a:gs pos="50000">
                <a:schemeClr val="accent1"/>
              </a:gs>
              <a:gs pos="100000">
                <a:srgbClr val="5E470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4" name="Picture 10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700463" y="0"/>
            <a:ext cx="5443537" cy="5905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6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669925" lvl="1" indent="-3251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022350" lvl="2" indent="-3505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39850" lvl="3" indent="-31559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681480" lvl="4" indent="-33972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7"/>
          <p:cNvSpPr/>
          <p:nvPr/>
        </p:nvSpPr>
        <p:spPr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" name="Line 8"/>
          <p:cNvSpPr/>
          <p:nvPr/>
        </p:nvSpPr>
        <p:spPr>
          <a:xfrm>
            <a:off x="1981200" y="3962400"/>
            <a:ext cx="6511925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2" charset="0"/>
              <a:ea typeface="仿宋_GB2312" charset="0"/>
            </a:endParaRPr>
          </a:p>
        </p:txBody>
      </p:sp>
      <p:pic>
        <p:nvPicPr>
          <p:cNvPr id="2052" name="Picture 10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950" y="115888"/>
            <a:ext cx="5076825" cy="1038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Rectangle 2"/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3"/>
          <p:cNvSpPr>
            <a:spLocks noGrp="1"/>
          </p:cNvSpPr>
          <p:nvPr>
            <p:ph type="body"/>
          </p:nvPr>
        </p:nvSpPr>
        <p:spPr>
          <a:xfrm>
            <a:off x="457200" y="1412875"/>
            <a:ext cx="8229600" cy="47180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325120"/>
            <a:r>
              <a:rPr lang="zh-CN" altLang="en-US"/>
              <a:t>第二级</a:t>
            </a:r>
          </a:p>
          <a:p>
            <a:pPr lvl="2" indent="-350520"/>
            <a:r>
              <a:rPr lang="zh-CN" altLang="en-US"/>
              <a:t>第三级</a:t>
            </a:r>
          </a:p>
          <a:p>
            <a:pPr lvl="3" indent="-315595"/>
            <a:r>
              <a:rPr lang="zh-CN" altLang="en-US"/>
              <a:t>第四级</a:t>
            </a:r>
          </a:p>
          <a:p>
            <a:pPr lvl="4" indent="-339725"/>
            <a:r>
              <a:rPr lang="zh-CN" altLang="en-US"/>
              <a:t>第五级</a:t>
            </a:r>
          </a:p>
        </p:txBody>
      </p:sp>
      <p:sp>
        <p:nvSpPr>
          <p:cNvPr id="2055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2056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2057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6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669925" lvl="1" indent="-3251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022350" lvl="2" indent="-3505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39850" lvl="3" indent="-31559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681480" lvl="4" indent="-33972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/>
          </p:nvPr>
        </p:nvSpPr>
        <p:spPr>
          <a:xfrm>
            <a:off x="457200" y="1412875"/>
            <a:ext cx="8229600" cy="47180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325120"/>
            <a:r>
              <a:rPr lang="zh-CN" altLang="en-US"/>
              <a:t>第二级</a:t>
            </a:r>
          </a:p>
          <a:p>
            <a:pPr lvl="2" indent="-350520"/>
            <a:r>
              <a:rPr lang="zh-CN" altLang="en-US"/>
              <a:t>第三级</a:t>
            </a:r>
          </a:p>
          <a:p>
            <a:pPr lvl="3" indent="-315595"/>
            <a:r>
              <a:rPr lang="zh-CN" altLang="en-US"/>
              <a:t>第四级</a:t>
            </a:r>
          </a:p>
          <a:p>
            <a:pPr lvl="4" indent="-339725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  <p:sp>
        <p:nvSpPr>
          <p:cNvPr id="4103" name="Freeform 7"/>
          <p:cNvSpPr/>
          <p:nvPr/>
        </p:nvSpPr>
        <p:spPr>
          <a:xfrm>
            <a:off x="395288" y="476250"/>
            <a:ext cx="8229600" cy="104775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4" name="Line 8"/>
          <p:cNvSpPr/>
          <p:nvPr/>
        </p:nvSpPr>
        <p:spPr>
          <a:xfrm>
            <a:off x="457200" y="6172200"/>
            <a:ext cx="8229600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05" name="Rectangle 9"/>
          <p:cNvSpPr/>
          <p:nvPr userDrawn="1"/>
        </p:nvSpPr>
        <p:spPr>
          <a:xfrm>
            <a:off x="468313" y="1268413"/>
            <a:ext cx="8280400" cy="71437"/>
          </a:xfrm>
          <a:prstGeom prst="rect">
            <a:avLst/>
          </a:prstGeom>
          <a:gradFill rotWithShape="0">
            <a:gsLst>
              <a:gs pos="0">
                <a:srgbClr val="5E4700"/>
              </a:gs>
              <a:gs pos="50000">
                <a:schemeClr val="accent1"/>
              </a:gs>
              <a:gs pos="100000">
                <a:srgbClr val="5E470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106" name="Picture 10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700463" y="0"/>
            <a:ext cx="5443537" cy="5905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6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669925" lvl="1" indent="-3251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022350" lvl="2" indent="-3505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39850" lvl="3" indent="-31559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681480" lvl="4" indent="-33972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uquan@uestc.edu.cn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/>
          </p:cNvSpPr>
          <p:nvPr>
            <p:ph type="ctrTitle"/>
          </p:nvPr>
        </p:nvSpPr>
        <p:spPr>
          <a:xfrm>
            <a:off x="1258888" y="2565400"/>
            <a:ext cx="7129462" cy="1082675"/>
          </a:xfrm>
        </p:spPr>
        <p:txBody>
          <a:bodyPr wrap="square" anchor="t"/>
          <a:lstStyle>
            <a:lvl1pPr lvl="0">
              <a:defRPr/>
            </a:lvl1pPr>
          </a:lstStyle>
          <a:p>
            <a:pPr lvl="0" indent="0" algn="ctr" eaLnBrk="1" hangingPunct="1"/>
            <a:r>
              <a:rPr lang="zh-CN" altLang="en-US" sz="4400" dirty="0"/>
              <a:t> MSP430实验一 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subTitle"/>
          </p:nvPr>
        </p:nvSpPr>
        <p:spPr>
          <a:xfrm>
            <a:off x="1258888" y="4437063"/>
            <a:ext cx="6553200" cy="1897062"/>
          </a:xfrm>
        </p:spPr>
        <p:txBody>
          <a:bodyPr wrap="square" anchor="t"/>
          <a:lstStyle>
            <a:lvl1pPr marL="0" lvl="0" indent="0" algn="ctr">
              <a:defRPr/>
            </a:lvl1pPr>
            <a:lvl2pPr marL="457200" lvl="1" indent="-112395" algn="ctr">
              <a:defRPr/>
            </a:lvl2pPr>
            <a:lvl3pPr marL="914400" lvl="2" indent="-242570" algn="ctr">
              <a:defRPr/>
            </a:lvl3pPr>
            <a:lvl4pPr marL="1371600" lvl="3" indent="-347345" algn="ctr">
              <a:defRPr/>
            </a:lvl4pPr>
            <a:lvl5pPr marL="1828800" lvl="4" indent="-487045" algn="ctr">
              <a:defRPr/>
            </a:lvl5pPr>
          </a:lstStyle>
          <a:p>
            <a:pPr marL="0" lvl="0" indent="0" algn="ctr" eaLnBrk="1" hangingPunct="1">
              <a:buNone/>
            </a:pPr>
            <a:r>
              <a:rPr lang="zh-CN" altLang="en-US" sz="3200" dirty="0">
                <a:ea typeface="楷体_GB2312" pitchFamily="1" charset="-122"/>
              </a:rPr>
              <a:t>电子科技大学通信学院</a:t>
            </a:r>
            <a:r>
              <a:rPr lang="zh-CN" altLang="en-US" sz="3200" dirty="0" smtClean="0">
                <a:ea typeface="楷体_GB2312" pitchFamily="1" charset="-122"/>
              </a:rPr>
              <a:t>：</a:t>
            </a:r>
            <a:r>
              <a:rPr lang="zh-CN" altLang="en-US" sz="3200" dirty="0">
                <a:ea typeface="楷体_GB2312" pitchFamily="1" charset="-122"/>
              </a:rPr>
              <a:t>胡全</a:t>
            </a:r>
            <a:endParaRPr lang="en-US" altLang="zh-CN" sz="3200" dirty="0">
              <a:ea typeface="楷体_GB2312" pitchFamily="1" charset="-122"/>
            </a:endParaRPr>
          </a:p>
          <a:p>
            <a:pPr marL="0" lvl="0" indent="0" algn="ctr" eaLnBrk="1" hangingPunct="1">
              <a:buNone/>
            </a:pPr>
            <a:r>
              <a:rPr lang="en-US" altLang="zh-CN" sz="3200" smtClean="0">
                <a:hlinkClick r:id="rId2"/>
              </a:rPr>
              <a:t>huquan@uestc.edu.cn</a:t>
            </a:r>
            <a:endParaRPr lang="en-US" altLang="zh-CN" sz="3200" dirty="0"/>
          </a:p>
        </p:txBody>
      </p:sp>
      <p:sp>
        <p:nvSpPr>
          <p:cNvPr id="6147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0" hangingPunct="0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</a:t>
            </a:fld>
            <a:endParaRPr lang="en-US" altLang="zh-CN" sz="1200" dirty="0">
              <a:latin typeface="Garamond" panose="02020404030301010803" pitchFamily="2" charset="0"/>
              <a:ea typeface="仿宋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5121"/>
          <p:cNvSpPr>
            <a:spLocks noGrp="1"/>
          </p:cNvSpPr>
          <p:nvPr>
            <p:ph type="title"/>
          </p:nvPr>
        </p:nvSpPr>
        <p:spPr>
          <a:xfrm>
            <a:off x="468313" y="622300"/>
            <a:ext cx="8229600" cy="647700"/>
          </a:xfrm>
        </p:spPr>
        <p:txBody>
          <a:bodyPr anchor="t"/>
          <a:lstStyle/>
          <a:p>
            <a:r>
              <a:rPr lang="zh-CN" altLang="en-US" sz="3200" dirty="0"/>
              <a:t>实验一 简易计算器的制作</a:t>
            </a: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468313" y="1444625"/>
            <a:ext cx="7958137" cy="4718050"/>
          </a:xfrm>
        </p:spPr>
        <p:txBody>
          <a:bodyPr anchor="t"/>
          <a:lstStyle/>
          <a:p>
            <a:r>
              <a:rPr lang="zh-CN" altLang="en-US" dirty="0">
                <a:ea typeface="楷体" panose="02010609060101010101" charset="-122"/>
              </a:rPr>
              <a:t>通过对MSP430F5529开发板编程，能够在OLED上显示数字。同时进行按键检测要求，在检测到左按键按下时，OLED上显示的数字加一，右按键按下时，OLED上显示的数字减一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。</a:t>
            </a:r>
          </a:p>
          <a:p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使用资源：单片机通用</a:t>
            </a:r>
            <a:r>
              <a:rPr lang="zh-CN" altLang="en-US" dirty="0">
                <a:ea typeface="楷体" panose="02010609060101010101" charset="-122"/>
                <a:sym typeface="Arial" panose="020B0604020202020204" pitchFamily="34" charset="0"/>
              </a:rPr>
              <a:t>IO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口，独立按键，</a:t>
            </a:r>
            <a:r>
              <a:rPr lang="zh-CN" altLang="en-US" dirty="0">
                <a:ea typeface="楷体" panose="02010609060101010101" charset="-122"/>
              </a:rPr>
              <a:t>OLED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。</a:t>
            </a:r>
          </a:p>
          <a:p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要求学习：</a:t>
            </a:r>
            <a:r>
              <a:rPr lang="zh-CN" altLang="en-US" dirty="0">
                <a:ea typeface="楷体" panose="02010609060101010101" charset="-122"/>
                <a:sym typeface="Arial" panose="020B0604020202020204" pitchFamily="34" charset="0"/>
              </a:rPr>
              <a:t>MSP430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单片机</a:t>
            </a:r>
            <a:r>
              <a:rPr lang="zh-CN" altLang="en-US" dirty="0">
                <a:ea typeface="楷体" panose="02010609060101010101" charset="-122"/>
                <a:sym typeface="Arial" panose="020B0604020202020204" pitchFamily="34" charset="0"/>
              </a:rPr>
              <a:t>IO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口的操作</a:t>
            </a:r>
          </a:p>
          <a:p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学习使用实验板外设资源：独立按键，</a:t>
            </a:r>
            <a:r>
              <a:rPr lang="zh-CN" altLang="en-US" dirty="0">
                <a:ea typeface="楷体" panose="02010609060101010101" charset="-122"/>
              </a:rPr>
              <a:t>OLED</a:t>
            </a:r>
            <a:endParaRPr lang="en-US" altLang="zh-CN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4579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2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/>
          </p:cNvSpPr>
          <p:nvPr>
            <p:ph type="ctrTitle"/>
          </p:nvPr>
        </p:nvSpPr>
        <p:spPr>
          <a:xfrm>
            <a:off x="395288" y="2420938"/>
            <a:ext cx="8281987" cy="1655762"/>
          </a:xfrm>
        </p:spPr>
        <p:txBody>
          <a:bodyPr wrap="square" anchor="ctr"/>
          <a:lstStyle>
            <a:lvl1pPr lvl="0">
              <a:defRPr/>
            </a:lvl1pPr>
          </a:lstStyle>
          <a:p>
            <a:pPr lvl="0" indent="0" algn="ctr">
              <a:lnSpc>
                <a:spcPct val="150000"/>
              </a:lnSpc>
            </a:pPr>
            <a:r>
              <a:rPr lang="en-US" altLang="zh-CN" dirty="0"/>
              <a:t>1.1</a:t>
            </a:r>
            <a:r>
              <a:rPr lang="zh-CN" altLang="en-US" dirty="0"/>
              <a:t>  通用输入输出端口</a:t>
            </a:r>
            <a:br>
              <a:rPr lang="zh-CN" altLang="en-US" dirty="0"/>
            </a:b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G</a:t>
            </a:r>
            <a:r>
              <a:rPr lang="zh-CN" altLang="en-US" dirty="0"/>
              <a:t>eneral </a:t>
            </a:r>
            <a:r>
              <a:rPr lang="zh-CN" altLang="en-US" dirty="0">
                <a:solidFill>
                  <a:srgbClr val="FF0000"/>
                </a:solidFill>
              </a:rPr>
              <a:t>P</a:t>
            </a:r>
            <a:r>
              <a:rPr lang="zh-CN" altLang="en-US" dirty="0"/>
              <a:t>urpose </a:t>
            </a:r>
            <a:r>
              <a:rPr lang="zh-CN" altLang="en-US" dirty="0">
                <a:solidFill>
                  <a:srgbClr val="FF0000"/>
                </a:solidFill>
              </a:rPr>
              <a:t>I</a:t>
            </a:r>
            <a:r>
              <a:rPr lang="zh-CN" altLang="en-US" dirty="0"/>
              <a:t>nput &amp; </a:t>
            </a:r>
            <a:r>
              <a:rPr lang="zh-CN" altLang="en-US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utput）</a:t>
            </a:r>
            <a:br>
              <a:rPr lang="zh-CN" altLang="en-US" dirty="0"/>
            </a:br>
            <a:endParaRPr lang="zh-CN" altLang="en-US" dirty="0">
              <a:ea typeface="Times New Roman" panose="02020603050405020304" pitchFamily="2" charset="0"/>
            </a:endParaRPr>
          </a:p>
        </p:txBody>
      </p:sp>
      <p:sp>
        <p:nvSpPr>
          <p:cNvPr id="2560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3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4"/>
          <p:cNvSpPr/>
          <p:nvPr/>
        </p:nvSpPr>
        <p:spPr>
          <a:xfrm>
            <a:off x="611188" y="2997200"/>
            <a:ext cx="8186738" cy="31076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base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x-none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基本都是用于芯片与片外器件或设备的交互。</a:t>
            </a:r>
          </a:p>
          <a:p>
            <a:pPr lvl="1" indent="0" eaLnBrk="1" fontAlgn="base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检测数字输入，如键盘或开关信号；</a:t>
            </a:r>
          </a:p>
          <a:p>
            <a:pPr lvl="1" indent="0" eaLnBrk="1" fontAlgn="base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驱动</a:t>
            </a:r>
            <a:r>
              <a:rPr lang="en-US" altLang="x-none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LED</a:t>
            </a:r>
            <a:r>
              <a:rPr lang="zh-CN" altLang="en-US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，蜂鸣器或</a:t>
            </a:r>
            <a:r>
              <a:rPr lang="en-US" altLang="x-none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LCD</a:t>
            </a:r>
            <a:r>
              <a:rPr lang="zh-CN" altLang="en-US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等其他指示器；</a:t>
            </a:r>
          </a:p>
          <a:p>
            <a:pPr lvl="1" indent="0" eaLnBrk="1" fontAlgn="base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控制片外器件，较高级的使用可以用它们（通过程序）模拟很多器件的时序达到控制相应器件的目的，比如模拟</a:t>
            </a:r>
            <a:r>
              <a:rPr lang="en-US" altLang="x-none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SPI</a:t>
            </a:r>
            <a:r>
              <a:rPr lang="zh-CN" altLang="en-US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和模拟</a:t>
            </a:r>
            <a:r>
              <a:rPr lang="en-US" altLang="zh-CN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</a:t>
            </a:r>
            <a:r>
              <a:rPr lang="en-US" altLang="zh-CN" sz="2800" b="1" strike="noStrike" baseline="30000" noProof="1">
                <a:solidFill>
                  <a:srgbClr val="000000"/>
                </a:solidFill>
                <a:uFillTx/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2</a:t>
            </a:r>
            <a:r>
              <a:rPr lang="en-US" altLang="zh-CN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C</a:t>
            </a:r>
            <a:r>
              <a:rPr lang="zh-CN" altLang="en-US" sz="28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总线等。</a:t>
            </a:r>
          </a:p>
          <a:p>
            <a:pPr fontAlgn="base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en-US" altLang="x-none" sz="2800" strike="noStrike" noProof="1">
              <a:solidFill>
                <a:srgbClr val="000000"/>
              </a:solidFill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</p:txBody>
      </p:sp>
      <p:sp>
        <p:nvSpPr>
          <p:cNvPr id="26626" name="Rectangle 8"/>
          <p:cNvSpPr>
            <a:spLocks noGrp="1"/>
          </p:cNvSpPr>
          <p:nvPr>
            <p:ph type="title"/>
          </p:nvPr>
        </p:nvSpPr>
        <p:spPr>
          <a:xfrm>
            <a:off x="457200" y="327025"/>
            <a:ext cx="8229600" cy="1139825"/>
          </a:xfrm>
        </p:spPr>
        <p:txBody>
          <a:bodyPr wrap="square" anchor="ctr"/>
          <a:lstStyle/>
          <a:p>
            <a:r>
              <a:rPr lang="en-US" altLang="zh-CN" sz="3200" dirty="0"/>
              <a:t>1.1.1 </a:t>
            </a:r>
            <a:r>
              <a:rPr lang="zh-CN" altLang="en-US" sz="3200" dirty="0"/>
              <a:t>GPIO 概述 </a:t>
            </a:r>
            <a:endParaRPr lang="zh-CN" altLang="en-US" sz="3200" dirty="0">
              <a:ea typeface="Times New Roman" panose="02020603050405020304" pitchFamily="2" charset="0"/>
            </a:endParaRPr>
          </a:p>
        </p:txBody>
      </p:sp>
      <p:sp>
        <p:nvSpPr>
          <p:cNvPr id="37892" name="Rectangle 11"/>
          <p:cNvSpPr>
            <a:spLocks noGrp="1"/>
          </p:cNvSpPr>
          <p:nvPr>
            <p:ph type="body"/>
          </p:nvPr>
        </p:nvSpPr>
        <p:spPr>
          <a:xfrm>
            <a:off x="611188" y="1341438"/>
            <a:ext cx="7772400" cy="701675"/>
          </a:xfrm>
        </p:spPr>
        <p:txBody>
          <a:bodyPr wrap="square" anchor="t"/>
          <a:lstStyle/>
          <a:p>
            <a:r>
              <a:rPr lang="en-US" altLang="zh-CN" sz="3200">
                <a:solidFill>
                  <a:srgbClr val="FF0000"/>
                </a:solidFill>
              </a:rPr>
              <a:t>GPIO</a:t>
            </a:r>
          </a:p>
        </p:txBody>
      </p:sp>
      <p:sp>
        <p:nvSpPr>
          <p:cNvPr id="37893" name="Rectangle 12"/>
          <p:cNvSpPr/>
          <p:nvPr/>
        </p:nvSpPr>
        <p:spPr>
          <a:xfrm>
            <a:off x="684213" y="1916113"/>
            <a:ext cx="7848600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GPIO (</a:t>
            </a:r>
            <a:r>
              <a:rPr lang="en-US" altLang="zh-CN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General Purpose I/O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，通用输入输出端口。</a:t>
            </a:r>
          </a:p>
        </p:txBody>
      </p:sp>
      <p:sp>
        <p:nvSpPr>
          <p:cNvPr id="37894" name="Rectangle 13"/>
          <p:cNvSpPr/>
          <p:nvPr/>
        </p:nvSpPr>
        <p:spPr>
          <a:xfrm>
            <a:off x="611188" y="2420938"/>
            <a:ext cx="7488237" cy="4953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应用</a:t>
            </a:r>
          </a:p>
        </p:txBody>
      </p:sp>
      <p:sp>
        <p:nvSpPr>
          <p:cNvPr id="26630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4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2" grpId="0" build="p" advAuto="1000"/>
      <p:bldP spid="37893" grpId="0"/>
      <p:bldP spid="3789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body"/>
          </p:nvPr>
        </p:nvSpPr>
        <p:spPr>
          <a:xfrm>
            <a:off x="684213" y="1484313"/>
            <a:ext cx="7772400" cy="671512"/>
          </a:xfrm>
        </p:spPr>
        <p:txBody>
          <a:bodyPr wrap="square" anchor="t"/>
          <a:lstStyle/>
          <a:p>
            <a:r>
              <a:rPr lang="zh-CN" altLang="en-US" sz="3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特性</a:t>
            </a:r>
          </a:p>
        </p:txBody>
      </p:sp>
      <p:sp>
        <p:nvSpPr>
          <p:cNvPr id="38915" name="Rectangle 3"/>
          <p:cNvSpPr/>
          <p:nvPr/>
        </p:nvSpPr>
        <p:spPr>
          <a:xfrm>
            <a:off x="306388" y="1989138"/>
            <a:ext cx="8521700" cy="4184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2" charset="0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MCU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与外界交互的重要途径，它具有如下的特性：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可以独立控制每个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口的方向（输入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输出模式）；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可以独立设置每个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的输出状态（高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低电平）；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所有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口在复位后都有个默认方向（或输入或输出）。</a:t>
            </a:r>
          </a:p>
        </p:txBody>
      </p:sp>
      <p:sp>
        <p:nvSpPr>
          <p:cNvPr id="27651" name="Rectangle 8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en-US" altLang="zh-CN" sz="3200" dirty="0"/>
              <a:t>1.1.1 </a:t>
            </a:r>
            <a:r>
              <a:rPr lang="zh-CN" altLang="en-US" sz="3200" dirty="0"/>
              <a:t>GPIO 概述</a:t>
            </a:r>
            <a:endParaRPr lang="zh-CN" altLang="en-US" sz="3200" dirty="0">
              <a:ea typeface="Times New Roman" panose="02020603050405020304" pitchFamily="2" charset="0"/>
            </a:endParaRPr>
          </a:p>
        </p:txBody>
      </p:sp>
      <p:sp>
        <p:nvSpPr>
          <p:cNvPr id="2765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5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build="p"/>
      <p:bldP spid="389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body"/>
          </p:nvPr>
        </p:nvSpPr>
        <p:spPr>
          <a:xfrm>
            <a:off x="682625" y="1485900"/>
            <a:ext cx="7772400" cy="596900"/>
          </a:xfrm>
        </p:spPr>
        <p:txBody>
          <a:bodyPr wrap="square" anchor="t"/>
          <a:lstStyle/>
          <a:p>
            <a:r>
              <a:rPr lang="zh-CN" altLang="en-US" sz="3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寄存器概述</a:t>
            </a:r>
          </a:p>
        </p:txBody>
      </p:sp>
      <p:sp>
        <p:nvSpPr>
          <p:cNvPr id="39939" name="Rectangle 3"/>
          <p:cNvSpPr/>
          <p:nvPr/>
        </p:nvSpPr>
        <p:spPr>
          <a:xfrm>
            <a:off x="468630" y="2133600"/>
            <a:ext cx="8156575" cy="39693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  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口都是按组规划，有的芯片是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8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个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口一组，有的是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16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个或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32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个为一组。一般每个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口都需要做两个寄存器位：一是选择口线方向（输入输出）二是需要一个数据位（用于设置输出数据和读取输入数据）。所以一组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口至少会有两个寄存器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GPIOxDIR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GPIOxDATA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。</a:t>
            </a:r>
          </a:p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GPIOxDIR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: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控制各个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口的方向；</a:t>
            </a:r>
          </a:p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GPIOxDATA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: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用于各个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口的输入输出数据。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	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28675" name="Rectangle 8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en-US" altLang="zh-CN" sz="3200" dirty="0"/>
              <a:t>1.1.1 </a:t>
            </a:r>
            <a:r>
              <a:rPr lang="zh-CN" altLang="en-US" sz="3200" dirty="0"/>
              <a:t>GPIO 概述</a:t>
            </a:r>
            <a:endParaRPr lang="zh-CN" altLang="en-US" sz="3200" dirty="0">
              <a:ea typeface="Times New Roman" panose="02020603050405020304" pitchFamily="2" charset="0"/>
            </a:endParaRPr>
          </a:p>
        </p:txBody>
      </p:sp>
      <p:sp>
        <p:nvSpPr>
          <p:cNvPr id="2867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6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/>
      <p:bldP spid="399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/>
          </p:cNvSpPr>
          <p:nvPr>
            <p:ph type="body"/>
          </p:nvPr>
        </p:nvSpPr>
        <p:spPr>
          <a:xfrm>
            <a:off x="735013" y="1414463"/>
            <a:ext cx="8229600" cy="574675"/>
          </a:xfrm>
        </p:spPr>
        <p:txBody>
          <a:bodyPr wrap="square" anchor="t"/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寄存器工作图</a:t>
            </a:r>
          </a:p>
        </p:txBody>
      </p:sp>
      <p:sp>
        <p:nvSpPr>
          <p:cNvPr id="29698" name="Rectangle 3"/>
          <p:cNvSpPr/>
          <p:nvPr/>
        </p:nvSpPr>
        <p:spPr>
          <a:xfrm>
            <a:off x="323850" y="2060575"/>
            <a:ext cx="8351838" cy="4391025"/>
          </a:xfrm>
          <a:prstGeom prst="rect">
            <a:avLst/>
          </a:prstGeom>
          <a:solidFill>
            <a:srgbClr val="0099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Rectangle 4"/>
          <p:cNvSpPr/>
          <p:nvPr/>
        </p:nvSpPr>
        <p:spPr>
          <a:xfrm rot="-5400000">
            <a:off x="574675" y="4402138"/>
            <a:ext cx="2954338" cy="5762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GPIOxDATA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寄存器</a:t>
            </a:r>
          </a:p>
        </p:txBody>
      </p:sp>
      <p:sp>
        <p:nvSpPr>
          <p:cNvPr id="29700" name="Rectangle 5"/>
          <p:cNvSpPr/>
          <p:nvPr/>
        </p:nvSpPr>
        <p:spPr>
          <a:xfrm rot="-5400000">
            <a:off x="2844800" y="5229225"/>
            <a:ext cx="1366838" cy="503238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输入锁存</a:t>
            </a:r>
          </a:p>
        </p:txBody>
      </p:sp>
      <p:sp>
        <p:nvSpPr>
          <p:cNvPr id="29701" name="Rectangle 6"/>
          <p:cNvSpPr/>
          <p:nvPr/>
        </p:nvSpPr>
        <p:spPr>
          <a:xfrm rot="-5400000">
            <a:off x="2808288" y="3608388"/>
            <a:ext cx="1438275" cy="504825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输出锁存</a:t>
            </a:r>
          </a:p>
        </p:txBody>
      </p:sp>
      <p:sp>
        <p:nvSpPr>
          <p:cNvPr id="29702" name="Rectangle 7"/>
          <p:cNvSpPr/>
          <p:nvPr/>
        </p:nvSpPr>
        <p:spPr>
          <a:xfrm>
            <a:off x="1331913" y="2276475"/>
            <a:ext cx="2808287" cy="5762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GPIOxDIR 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寄存器</a:t>
            </a:r>
          </a:p>
        </p:txBody>
      </p:sp>
      <p:sp>
        <p:nvSpPr>
          <p:cNvPr id="29703" name="AutoShape 8"/>
          <p:cNvSpPr/>
          <p:nvPr/>
        </p:nvSpPr>
        <p:spPr>
          <a:xfrm rot="5400000">
            <a:off x="5051425" y="3236913"/>
            <a:ext cx="1057275" cy="1441450"/>
          </a:xfrm>
          <a:prstGeom prst="triangle">
            <a:avLst>
              <a:gd name="adj" fmla="val 50000"/>
            </a:avLst>
          </a:prstGeom>
          <a:solidFill>
            <a:srgbClr val="0099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/>
          <a:lstStyle/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三态门</a:t>
            </a:r>
          </a:p>
        </p:txBody>
      </p:sp>
      <p:sp>
        <p:nvSpPr>
          <p:cNvPr id="29704" name="AutoShape 9"/>
          <p:cNvSpPr/>
          <p:nvPr/>
        </p:nvSpPr>
        <p:spPr>
          <a:xfrm rot="-5400000">
            <a:off x="4889500" y="4781550"/>
            <a:ext cx="1096963" cy="1477963"/>
          </a:xfrm>
          <a:prstGeom prst="triangle">
            <a:avLst>
              <a:gd name="adj" fmla="val 50000"/>
            </a:avLst>
          </a:prstGeom>
          <a:solidFill>
            <a:srgbClr val="0099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三态门</a:t>
            </a:r>
          </a:p>
        </p:txBody>
      </p:sp>
      <p:cxnSp>
        <p:nvCxnSpPr>
          <p:cNvPr id="29705" name="AutoShape 10"/>
          <p:cNvCxnSpPr>
            <a:stCxn id="29698" idx="1"/>
            <a:endCxn id="29698" idx="1"/>
          </p:cNvCxnSpPr>
          <p:nvPr/>
        </p:nvCxnSpPr>
        <p:spPr>
          <a:xfrm>
            <a:off x="323850" y="4256088"/>
            <a:ext cx="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706" name="AutoShape 11"/>
          <p:cNvSpPr/>
          <p:nvPr/>
        </p:nvSpPr>
        <p:spPr>
          <a:xfrm>
            <a:off x="539750" y="4652963"/>
            <a:ext cx="1214438" cy="144462"/>
          </a:xfrm>
          <a:prstGeom prst="leftRightArrow">
            <a:avLst>
              <a:gd name="adj1" fmla="val 50000"/>
              <a:gd name="adj2" fmla="val 167159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7" name="Rectangle 12"/>
          <p:cNvSpPr/>
          <p:nvPr/>
        </p:nvSpPr>
        <p:spPr>
          <a:xfrm>
            <a:off x="755650" y="4292600"/>
            <a:ext cx="863600" cy="2889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读／写</a:t>
            </a:r>
          </a:p>
        </p:txBody>
      </p:sp>
      <p:sp>
        <p:nvSpPr>
          <p:cNvPr id="40973" name="Line 13"/>
          <p:cNvSpPr/>
          <p:nvPr/>
        </p:nvSpPr>
        <p:spPr>
          <a:xfrm flipV="1">
            <a:off x="4140200" y="2559050"/>
            <a:ext cx="1289050" cy="6350"/>
          </a:xfrm>
          <a:prstGeom prst="line">
            <a:avLst/>
          </a:prstGeom>
          <a:ln w="57150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74" name="Line 14"/>
          <p:cNvSpPr/>
          <p:nvPr/>
        </p:nvSpPr>
        <p:spPr>
          <a:xfrm>
            <a:off x="5435600" y="2565400"/>
            <a:ext cx="0" cy="1079500"/>
          </a:xfrm>
          <a:prstGeom prst="line">
            <a:avLst/>
          </a:prstGeom>
          <a:ln w="57150" cap="flat" cmpd="sng">
            <a:solidFill>
              <a:srgbClr val="8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75" name="Line 15"/>
          <p:cNvSpPr/>
          <p:nvPr/>
        </p:nvSpPr>
        <p:spPr>
          <a:xfrm>
            <a:off x="2339975" y="3933825"/>
            <a:ext cx="936625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76" name="Line 16"/>
          <p:cNvSpPr/>
          <p:nvPr/>
        </p:nvSpPr>
        <p:spPr>
          <a:xfrm>
            <a:off x="3779838" y="3933825"/>
            <a:ext cx="107950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77" name="Line 17"/>
          <p:cNvSpPr/>
          <p:nvPr/>
        </p:nvSpPr>
        <p:spPr>
          <a:xfrm flipH="1">
            <a:off x="3779838" y="5518150"/>
            <a:ext cx="936625" cy="0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78" name="Line 18"/>
          <p:cNvSpPr/>
          <p:nvPr/>
        </p:nvSpPr>
        <p:spPr>
          <a:xfrm flipH="1">
            <a:off x="2339975" y="5518150"/>
            <a:ext cx="936625" cy="0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79" name="Line 19"/>
          <p:cNvSpPr/>
          <p:nvPr/>
        </p:nvSpPr>
        <p:spPr>
          <a:xfrm>
            <a:off x="6948488" y="3933825"/>
            <a:ext cx="0" cy="1584325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81" name="Rectangle 21"/>
          <p:cNvSpPr/>
          <p:nvPr/>
        </p:nvSpPr>
        <p:spPr>
          <a:xfrm>
            <a:off x="7524750" y="3789998"/>
            <a:ext cx="1057275" cy="287337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I/O PIN</a:t>
            </a:r>
          </a:p>
        </p:txBody>
      </p:sp>
      <p:sp>
        <p:nvSpPr>
          <p:cNvPr id="40982" name="Rectangle 22"/>
          <p:cNvSpPr/>
          <p:nvPr/>
        </p:nvSpPr>
        <p:spPr>
          <a:xfrm>
            <a:off x="6084888" y="2565400"/>
            <a:ext cx="1366837" cy="360363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选择输出</a:t>
            </a:r>
          </a:p>
        </p:txBody>
      </p:sp>
      <p:sp>
        <p:nvSpPr>
          <p:cNvPr id="40983" name="Line 23"/>
          <p:cNvSpPr/>
          <p:nvPr/>
        </p:nvSpPr>
        <p:spPr>
          <a:xfrm>
            <a:off x="6300788" y="3933825"/>
            <a:ext cx="720725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84" name="Line 24"/>
          <p:cNvSpPr/>
          <p:nvPr/>
        </p:nvSpPr>
        <p:spPr>
          <a:xfrm>
            <a:off x="6948488" y="3933825"/>
            <a:ext cx="576262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85" name="Line 25"/>
          <p:cNvSpPr/>
          <p:nvPr/>
        </p:nvSpPr>
        <p:spPr>
          <a:xfrm>
            <a:off x="6948488" y="3933825"/>
            <a:ext cx="576262" cy="0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86" name="Rectangle 26"/>
          <p:cNvSpPr/>
          <p:nvPr/>
        </p:nvSpPr>
        <p:spPr>
          <a:xfrm>
            <a:off x="6084888" y="2997200"/>
            <a:ext cx="1366837" cy="358775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选择输入</a:t>
            </a:r>
          </a:p>
        </p:txBody>
      </p:sp>
      <p:sp>
        <p:nvSpPr>
          <p:cNvPr id="40987" name="Rectangle 27"/>
          <p:cNvSpPr/>
          <p:nvPr/>
        </p:nvSpPr>
        <p:spPr>
          <a:xfrm>
            <a:off x="4787900" y="2997200"/>
            <a:ext cx="574675" cy="2889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禁止</a:t>
            </a:r>
          </a:p>
        </p:txBody>
      </p:sp>
      <p:sp>
        <p:nvSpPr>
          <p:cNvPr id="29722" name="Rectangle 8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en-US" altLang="zh-CN" sz="3200" dirty="0"/>
              <a:t>1.1.1 </a:t>
            </a:r>
            <a:r>
              <a:rPr lang="zh-CN" altLang="en-US" sz="3200" dirty="0"/>
              <a:t>GPIO 概述</a:t>
            </a:r>
            <a:endParaRPr lang="zh-CN" altLang="en-US" sz="3200" dirty="0">
              <a:ea typeface="Times New Roman" panose="02020603050405020304" pitchFamily="2" charset="0"/>
            </a:endParaRPr>
          </a:p>
        </p:txBody>
      </p:sp>
      <p:sp>
        <p:nvSpPr>
          <p:cNvPr id="29723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7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4" name="Line 14"/>
          <p:cNvSpPr/>
          <p:nvPr/>
        </p:nvSpPr>
        <p:spPr>
          <a:xfrm flipH="1">
            <a:off x="4500563" y="2565400"/>
            <a:ext cx="31750" cy="2386013"/>
          </a:xfrm>
          <a:prstGeom prst="line">
            <a:avLst/>
          </a:prstGeom>
          <a:ln w="57150" cap="flat" cmpd="sng">
            <a:solidFill>
              <a:srgbClr val="8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27"/>
          <p:cNvSpPr/>
          <p:nvPr/>
        </p:nvSpPr>
        <p:spPr>
          <a:xfrm>
            <a:off x="3851275" y="2997200"/>
            <a:ext cx="574675" cy="2889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使能</a:t>
            </a:r>
          </a:p>
        </p:txBody>
      </p:sp>
      <p:sp>
        <p:nvSpPr>
          <p:cNvPr id="8" name="Line 14"/>
          <p:cNvSpPr/>
          <p:nvPr/>
        </p:nvSpPr>
        <p:spPr>
          <a:xfrm>
            <a:off x="4502150" y="4940300"/>
            <a:ext cx="431800" cy="469900"/>
          </a:xfrm>
          <a:prstGeom prst="line">
            <a:avLst/>
          </a:prstGeom>
          <a:ln w="57150" cap="flat" cmpd="sng">
            <a:solidFill>
              <a:srgbClr val="8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Line 17"/>
          <p:cNvSpPr/>
          <p:nvPr/>
        </p:nvSpPr>
        <p:spPr>
          <a:xfrm flipH="1" flipV="1">
            <a:off x="6156325" y="5508625"/>
            <a:ext cx="800100" cy="9525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49952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49952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1" grpId="0" bldLvl="0" animBg="1"/>
      <p:bldP spid="40982" grpId="0" bldLvl="0" animBg="1"/>
      <p:bldP spid="40982" grpId="1" bldLvl="0" animBg="1"/>
      <p:bldP spid="40986" grpId="0" bldLvl="0" animBg="1"/>
      <p:bldP spid="40987" grpId="0" bldLvl="0" animBg="1"/>
      <p:bldP spid="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/>
          </p:cNvSpPr>
          <p:nvPr>
            <p:ph type="body"/>
          </p:nvPr>
        </p:nvSpPr>
        <p:spPr>
          <a:xfrm>
            <a:off x="395288" y="1341438"/>
            <a:ext cx="7772400" cy="671512"/>
          </a:xfrm>
        </p:spPr>
        <p:txBody>
          <a:bodyPr wrap="square" anchor="t"/>
          <a:lstStyle/>
          <a:p>
            <a:r>
              <a:rPr lang="zh-CN" altLang="en-US" sz="32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端口类型丰富</a:t>
            </a:r>
          </a:p>
        </p:txBody>
      </p:sp>
      <p:pic>
        <p:nvPicPr>
          <p:cNvPr id="41987" name="Picture 9" descr="表 4-3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3286125"/>
            <a:ext cx="8497888" cy="2951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8" name="Rectangle 16"/>
          <p:cNvSpPr/>
          <p:nvPr/>
        </p:nvSpPr>
        <p:spPr>
          <a:xfrm>
            <a:off x="179388" y="1844675"/>
            <a:ext cx="8353425" cy="1223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有端口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P2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P3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P4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P5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P6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P7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P8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P9 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P10 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P11 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S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COM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。产品因型号不同可包含上述所有或部分端口。如下表所示：</a:t>
            </a:r>
          </a:p>
        </p:txBody>
      </p:sp>
      <p:sp>
        <p:nvSpPr>
          <p:cNvPr id="30724" name="Rectangle 8"/>
          <p:cNvSpPr txBox="1"/>
          <p:nvPr/>
        </p:nvSpPr>
        <p:spPr>
          <a:xfrm>
            <a:off x="552450" y="549275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1.1.2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MSP430的GPIO 特点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3072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8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build="p"/>
      <p:bldP spid="41988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/>
          <p:cNvSpPr/>
          <p:nvPr/>
        </p:nvSpPr>
        <p:spPr>
          <a:xfrm>
            <a:off x="236538" y="1390650"/>
            <a:ext cx="8670925" cy="46069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具有中断能力的端口：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     端口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P2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具有输入输出、中断和外部模块功能。这些   功能可以通过它们各自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9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个控制寄存器的设置来实现。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不具有中断能力的端口：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P3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和其他端口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P3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和其他端口没有中断能力，其余功能同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P2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，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可以实现输入／输出功能和外围模块功能。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端口</a:t>
            </a:r>
            <a:r>
              <a:rPr lang="pt-BR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COM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pt-BR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S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这些端口实现与液晶片的直接接口。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COM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端口为液晶片的公共端，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S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口为液晶片的段码端。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9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31747" name="Rectangle 8"/>
          <p:cNvSpPr txBox="1"/>
          <p:nvPr/>
        </p:nvSpPr>
        <p:spPr>
          <a:xfrm>
            <a:off x="539750" y="476250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1.1.2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MSP430的GPIO 特点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8"/>
          <p:cNvSpPr/>
          <p:nvPr/>
        </p:nvSpPr>
        <p:spPr>
          <a:xfrm>
            <a:off x="250825" y="4005263"/>
            <a:ext cx="8064500" cy="22453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1" indent="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端口引脚还可以独立地配置成特殊功能，例如：</a:t>
            </a:r>
          </a:p>
          <a:p>
            <a:pPr lvl="1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USART –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通用串行同步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异步通信模块；</a:t>
            </a:r>
          </a:p>
          <a:p>
            <a:pPr lvl="1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模拟信号比较器；</a:t>
            </a:r>
          </a:p>
          <a:p>
            <a:pPr lvl="1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模拟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—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数字转换器；</a:t>
            </a:r>
          </a:p>
          <a:p>
            <a:pPr lvl="1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其他功能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请参见具体芯片的数据手册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。</a:t>
            </a:r>
          </a:p>
        </p:txBody>
      </p:sp>
      <p:sp>
        <p:nvSpPr>
          <p:cNvPr id="44035" name="Rectangle 3"/>
          <p:cNvSpPr/>
          <p:nvPr/>
        </p:nvSpPr>
        <p:spPr>
          <a:xfrm>
            <a:off x="250825" y="1844675"/>
            <a:ext cx="8137525" cy="5032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MSP430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各端口和功能，如下表所示：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400" b="1" dirty="0"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4036" name="Picture 9" descr="表 4-3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8" y="2276475"/>
            <a:ext cx="7416800" cy="1800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37" name="Rectangle 15"/>
          <p:cNvSpPr>
            <a:spLocks noGrp="1"/>
          </p:cNvSpPr>
          <p:nvPr>
            <p:ph type="body"/>
          </p:nvPr>
        </p:nvSpPr>
        <p:spPr>
          <a:xfrm>
            <a:off x="684213" y="1341438"/>
            <a:ext cx="7772400" cy="741362"/>
          </a:xfrm>
        </p:spPr>
        <p:txBody>
          <a:bodyPr wrap="square" anchor="t"/>
          <a:lstStyle/>
          <a:p>
            <a:r>
              <a:rPr lang="zh-CN" altLang="en-US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功能丰富</a:t>
            </a:r>
          </a:p>
        </p:txBody>
      </p:sp>
      <p:sp>
        <p:nvSpPr>
          <p:cNvPr id="32773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10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32774" name="Rectangle 8"/>
          <p:cNvSpPr txBox="1"/>
          <p:nvPr/>
        </p:nvSpPr>
        <p:spPr>
          <a:xfrm>
            <a:off x="539750" y="476250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1.1.2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MSP430的GPIO 特点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4035" grpId="0" build="allAtOnce"/>
      <p:bldP spid="4403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/>
          <p:cNvSpPr/>
          <p:nvPr/>
        </p:nvSpPr>
        <p:spPr>
          <a:xfrm>
            <a:off x="34925" y="1776413"/>
            <a:ext cx="8643938" cy="10064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MSP430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各种端口有大量的控制寄存器供用户操作。最大限度提供了输入</a:t>
            </a:r>
            <a:r>
              <a:rPr lang="en-US" altLang="zh-CN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输出的灵活性。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59" name="Rectangle 8"/>
          <p:cNvSpPr/>
          <p:nvPr/>
        </p:nvSpPr>
        <p:spPr>
          <a:xfrm>
            <a:off x="323850" y="2335213"/>
            <a:ext cx="8064500" cy="390779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2" charset="0"/>
              <a:ea typeface="华文新魏" panose="02010800040101010101" pitchFamily="2" charset="-122"/>
            </a:endParaRPr>
          </a:p>
          <a:p>
            <a:pPr lvl="1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Arial" panose="020B0604020202020204" pitchFamily="34" charset="0"/>
              </a:rPr>
              <a:t>每个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Arial" panose="020B0604020202020204" pitchFamily="34" charset="0"/>
              </a:rPr>
              <a:t>I/O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Arial" panose="020B0604020202020204" pitchFamily="34" charset="0"/>
              </a:rPr>
              <a:t>口都可以独立编程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  <a:p>
            <a:pPr lvl="1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Arial" panose="020B0604020202020204" pitchFamily="34" charset="0"/>
              </a:rPr>
              <a:t>输入或输出可任意组合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  <a:p>
            <a:pPr lvl="1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所有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I/O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口都具有边沿可选的输入中断功能</a:t>
            </a:r>
          </a:p>
          <a:p>
            <a:pPr lvl="1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可以按字节输入输出，也可按位进行操作</a:t>
            </a:r>
          </a:p>
          <a:p>
            <a:pPr lvl="1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可设置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I/O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口的上拉或下拉功能</a:t>
            </a:r>
          </a:p>
          <a:p>
            <a:pPr lvl="1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可配置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I/O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驱动能力（高驱动强度或低驱动强度）</a:t>
            </a:r>
          </a:p>
        </p:txBody>
      </p:sp>
      <p:sp>
        <p:nvSpPr>
          <p:cNvPr id="45060" name="Rectangle 11"/>
          <p:cNvSpPr>
            <a:spLocks noGrp="1"/>
          </p:cNvSpPr>
          <p:nvPr>
            <p:ph type="body"/>
          </p:nvPr>
        </p:nvSpPr>
        <p:spPr>
          <a:xfrm>
            <a:off x="755650" y="1341438"/>
            <a:ext cx="7772400" cy="741362"/>
          </a:xfrm>
        </p:spPr>
        <p:txBody>
          <a:bodyPr wrap="square" anchor="t"/>
          <a:lstStyle/>
          <a:p>
            <a:r>
              <a:rPr lang="zh-CN" altLang="en-US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寄存器丰富</a:t>
            </a:r>
          </a:p>
        </p:txBody>
      </p:sp>
      <p:sp>
        <p:nvSpPr>
          <p:cNvPr id="3379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11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33797" name="Rectangle 8"/>
          <p:cNvSpPr txBox="1"/>
          <p:nvPr/>
        </p:nvSpPr>
        <p:spPr>
          <a:xfrm>
            <a:off x="539750" y="476250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1.1.2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MSP430的GPIO 特点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build="allAtOnce"/>
      <p:bldP spid="45059" grpId="0"/>
      <p:bldP spid="4506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4"/>
          <p:cNvSpPr/>
          <p:nvPr/>
        </p:nvSpPr>
        <p:spPr>
          <a:xfrm>
            <a:off x="395288" y="1412875"/>
            <a:ext cx="8713787" cy="7921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PxDIR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输入／输出方向寄存器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3" name="Rectangle 5"/>
          <p:cNvSpPr/>
          <p:nvPr/>
        </p:nvSpPr>
        <p:spPr>
          <a:xfrm>
            <a:off x="-66040" y="1339850"/>
            <a:ext cx="9029700" cy="5262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相互独立的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8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位分别定义了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8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个引脚的输入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输出方向。</a:t>
            </a:r>
          </a:p>
          <a:p>
            <a:pPr lvl="1" indent="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使用输入和输出功能时，应该先定义端口的方向。</a:t>
            </a:r>
          </a:p>
          <a:p>
            <a:pPr lvl="1" indent="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PxDIR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配置：</a:t>
            </a:r>
          </a:p>
          <a:p>
            <a:pPr lvl="1" indent="0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Bit = 1: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将端口引脚设置为输出模式；</a:t>
            </a:r>
          </a:p>
          <a:p>
            <a:pPr lvl="1" indent="0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Bit = 0: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将端口引脚设置为输入模式。</a:t>
            </a:r>
          </a:p>
          <a:p>
            <a:pPr lvl="1" indent="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例，设置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端口的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P1.0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引脚为输出方向，其余引脚（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P1.1~P1.7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）设置为输入方向。                                                       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P1DIR = 0x01;  //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设置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端口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P1.0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引脚为输出方向</a:t>
            </a:r>
          </a:p>
          <a:p>
            <a:pPr lvl="1" indent="0" eaLnBrk="1" hangingPunct="1"/>
            <a:endParaRPr lang="en-US" altLang="zh-CN" sz="2800" b="1" dirty="0">
              <a:solidFill>
                <a:srgbClr val="000000"/>
              </a:solidFill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</p:txBody>
      </p:sp>
      <p:sp>
        <p:nvSpPr>
          <p:cNvPr id="34819" name="Rectangle 8"/>
          <p:cNvSpPr txBox="1"/>
          <p:nvPr/>
        </p:nvSpPr>
        <p:spPr>
          <a:xfrm>
            <a:off x="539750" y="476250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1.1.3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GPIO 寄存器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34820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12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/>
          <p:nvPr/>
        </p:nvSpPr>
        <p:spPr>
          <a:xfrm>
            <a:off x="213678" y="1341755"/>
            <a:ext cx="8345487" cy="4246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lvl="1" indent="0" algn="l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Arial" panose="020B0604020202020204" pitchFamily="34" charset="0"/>
              </a:rPr>
              <a:t>该寄存器是只读寄存器，即用户不能对它写入。</a:t>
            </a:r>
          </a:p>
          <a:p>
            <a:pPr lvl="1" indent="0" algn="l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Arial" panose="020B0604020202020204" pitchFamily="34" charset="0"/>
              </a:rPr>
              <a:t>这个寄存器是只读的，其中的每一位都反映了其对应的I/O引脚的输入信号(引脚配置为通用I/O)。</a:t>
            </a:r>
          </a:p>
          <a:p>
            <a:pPr lvl="1" indent="0" algn="l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Arial" panose="020B0604020202020204" pitchFamily="34" charset="0"/>
              </a:rPr>
              <a:t>PxIN 配置:</a:t>
            </a:r>
          </a:p>
          <a:p>
            <a:pPr lvl="1" indent="0" algn="l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Arial" panose="020B0604020202020204" pitchFamily="34" charset="0"/>
              </a:rPr>
              <a:t>      Bit = 1:  输入为高电平;</a:t>
            </a:r>
          </a:p>
          <a:p>
            <a:pPr lvl="1" indent="0" algn="l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Arial" panose="020B0604020202020204" pitchFamily="34" charset="0"/>
              </a:rPr>
              <a:t>      Bit = 0:  输入为低电平;</a:t>
            </a:r>
          </a:p>
        </p:txBody>
      </p:sp>
      <p:sp>
        <p:nvSpPr>
          <p:cNvPr id="47107" name="Rectangle 3"/>
          <p:cNvSpPr/>
          <p:nvPr/>
        </p:nvSpPr>
        <p:spPr>
          <a:xfrm>
            <a:off x="395288" y="1341438"/>
            <a:ext cx="8713787" cy="7921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PxIN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输入寄存器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3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13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35844" name="Rectangle 8"/>
          <p:cNvSpPr txBox="1"/>
          <p:nvPr/>
        </p:nvSpPr>
        <p:spPr>
          <a:xfrm>
            <a:off x="539750" y="478155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1.1.3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GPIO 寄存器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/>
          <p:cNvSpPr/>
          <p:nvPr/>
        </p:nvSpPr>
        <p:spPr>
          <a:xfrm>
            <a:off x="395288" y="1484313"/>
            <a:ext cx="8280400" cy="41846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2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输出寄存器是可读可写的。这个寄存器的每个位都反映了写入相应输出引脚的值。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将需要的值写入该寄存器，控制输出引脚的电平状态。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PxOUT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配置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:</a:t>
            </a:r>
          </a:p>
          <a:p>
            <a:pPr lvl="1" indent="0" eaLnBrk="1" hangingPunct="1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  Bit = 1: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输出为高电平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;</a:t>
            </a:r>
          </a:p>
          <a:p>
            <a:pPr lvl="1" indent="0" eaLnBrk="1" hangingPunct="1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  Bit = 0: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输出为低电平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;</a:t>
            </a:r>
          </a:p>
        </p:txBody>
      </p:sp>
      <p:sp>
        <p:nvSpPr>
          <p:cNvPr id="36866" name="Rectangle 3"/>
          <p:cNvSpPr/>
          <p:nvPr/>
        </p:nvSpPr>
        <p:spPr>
          <a:xfrm>
            <a:off x="395288" y="1412875"/>
            <a:ext cx="8713787" cy="7921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PxOUT  输出寄存器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7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14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36868" name="Rectangle 8"/>
          <p:cNvSpPr txBox="1"/>
          <p:nvPr/>
        </p:nvSpPr>
        <p:spPr>
          <a:xfrm>
            <a:off x="546100" y="476250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1.1.3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GPIO 寄存器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5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15</a:t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0" name="Rectangle 3"/>
          <p:cNvSpPr/>
          <p:nvPr/>
        </p:nvSpPr>
        <p:spPr>
          <a:xfrm>
            <a:off x="250825" y="1341438"/>
            <a:ext cx="8713788" cy="7921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PxREN  上拉或下拉电阻使能寄存器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Rectangle 3"/>
          <p:cNvSpPr/>
          <p:nvPr/>
        </p:nvSpPr>
        <p:spPr>
          <a:xfrm>
            <a:off x="-22225" y="5194300"/>
            <a:ext cx="7259638" cy="9366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Bit = 1: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引脚选择上</a:t>
            </a:r>
          </a:p>
          <a:p>
            <a:pPr lvl="2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n-GB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上拉电阻简单来说就是把电平拉高， 通常用4.7－10K的电阻接到Vcc电源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。</a:t>
            </a:r>
          </a:p>
        </p:txBody>
      </p:sp>
      <p:sp>
        <p:nvSpPr>
          <p:cNvPr id="37892" name="Rectangle 111"/>
          <p:cNvSpPr/>
          <p:nvPr/>
        </p:nvSpPr>
        <p:spPr>
          <a:xfrm>
            <a:off x="345440" y="1127760"/>
            <a:ext cx="8280400" cy="42462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PxREN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寄存器中的每一位可使能或禁用相应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I/O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引脚的上拉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下拉电阻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PxREN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配置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:</a:t>
            </a:r>
          </a:p>
          <a:p>
            <a:pPr lvl="1" indent="0" eaLnBrk="1" hangingPunct="1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	Bit = 1: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使能上拉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下拉电阻</a:t>
            </a:r>
          </a:p>
          <a:p>
            <a:pPr lvl="1" indent="0" eaLnBrk="1" hangingPunct="1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	Bit = 0: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禁用上拉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下拉电阻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当使能引脚上拉或下拉功能时，通过                               设置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PxOUT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相应位来选择</a:t>
            </a:r>
          </a:p>
        </p:txBody>
      </p:sp>
      <p:grpSp>
        <p:nvGrpSpPr>
          <p:cNvPr id="49159" name="组合 49158"/>
          <p:cNvGrpSpPr/>
          <p:nvPr/>
        </p:nvGrpSpPr>
        <p:grpSpPr>
          <a:xfrm>
            <a:off x="7019925" y="3141663"/>
            <a:ext cx="2084388" cy="3095625"/>
            <a:chOff x="0" y="0"/>
            <a:chExt cx="1313" cy="1950"/>
          </a:xfrm>
        </p:grpSpPr>
        <p:sp>
          <p:nvSpPr>
            <p:cNvPr id="37894" name="Text Box 140"/>
            <p:cNvSpPr txBox="1"/>
            <p:nvPr/>
          </p:nvSpPr>
          <p:spPr>
            <a:xfrm>
              <a:off x="227" y="363"/>
              <a:ext cx="5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V</a:t>
              </a:r>
              <a:r>
                <a:rPr lang="en-US" altLang="zh-CN" b="1" baseline="-25000" dirty="0">
                  <a:latin typeface="Times New Roman" panose="02020603050405020304" pitchFamily="2" charset="0"/>
                  <a:ea typeface="宋体" panose="02010600030101010101" pitchFamily="2" charset="-122"/>
                </a:rPr>
                <a:t>CC</a:t>
              </a:r>
            </a:p>
          </p:txBody>
        </p:sp>
        <p:sp>
          <p:nvSpPr>
            <p:cNvPr id="37895" name="Text Box 141"/>
            <p:cNvSpPr txBox="1"/>
            <p:nvPr/>
          </p:nvSpPr>
          <p:spPr>
            <a:xfrm>
              <a:off x="545" y="903"/>
              <a:ext cx="7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引脚 </a:t>
              </a:r>
              <a:r>
                <a:rPr lang="en-US" altLang="zh-CN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Px.x</a:t>
              </a:r>
            </a:p>
          </p:txBody>
        </p:sp>
        <p:grpSp>
          <p:nvGrpSpPr>
            <p:cNvPr id="37896" name="组合 49161"/>
            <p:cNvGrpSpPr/>
            <p:nvPr/>
          </p:nvGrpSpPr>
          <p:grpSpPr>
            <a:xfrm>
              <a:off x="0" y="0"/>
              <a:ext cx="1134" cy="1950"/>
              <a:chOff x="0" y="0"/>
              <a:chExt cx="1134" cy="1950"/>
            </a:xfrm>
          </p:grpSpPr>
          <p:grpSp>
            <p:nvGrpSpPr>
              <p:cNvPr id="37897" name="组合 49162"/>
              <p:cNvGrpSpPr/>
              <p:nvPr/>
            </p:nvGrpSpPr>
            <p:grpSpPr>
              <a:xfrm>
                <a:off x="22" y="272"/>
                <a:ext cx="1112" cy="1678"/>
                <a:chOff x="0" y="0"/>
                <a:chExt cx="1112" cy="1678"/>
              </a:xfrm>
            </p:grpSpPr>
            <p:sp>
              <p:nvSpPr>
                <p:cNvPr id="37898" name="Line 144"/>
                <p:cNvSpPr/>
                <p:nvPr/>
              </p:nvSpPr>
              <p:spPr>
                <a:xfrm flipH="1" flipV="1">
                  <a:off x="136" y="725"/>
                  <a:ext cx="272" cy="182"/>
                </a:xfrm>
                <a:prstGeom prst="line">
                  <a:avLst/>
                </a:prstGeom>
                <a:ln w="34925" cap="sq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 anchor="t"/>
                <a:lstStyle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7899" name="组合 49164"/>
                <p:cNvGrpSpPr/>
                <p:nvPr/>
              </p:nvGrpSpPr>
              <p:grpSpPr>
                <a:xfrm>
                  <a:off x="0" y="0"/>
                  <a:ext cx="1112" cy="1678"/>
                  <a:chOff x="0" y="0"/>
                  <a:chExt cx="1112" cy="1678"/>
                </a:xfrm>
              </p:grpSpPr>
              <p:sp>
                <p:nvSpPr>
                  <p:cNvPr id="37900" name="Rectangle 146"/>
                  <p:cNvSpPr/>
                  <p:nvPr/>
                </p:nvSpPr>
                <p:spPr>
                  <a:xfrm>
                    <a:off x="0" y="0"/>
                    <a:ext cx="590" cy="1678"/>
                  </a:xfrm>
                  <a:prstGeom prst="rect">
                    <a:avLst/>
                  </a:prstGeom>
                  <a:noFill/>
                  <a:ln w="25400" cap="sq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37901" name="组合 49166"/>
                  <p:cNvGrpSpPr/>
                  <p:nvPr/>
                </p:nvGrpSpPr>
                <p:grpSpPr>
                  <a:xfrm>
                    <a:off x="181" y="204"/>
                    <a:ext cx="318" cy="544"/>
                    <a:chOff x="0" y="0"/>
                    <a:chExt cx="318" cy="544"/>
                  </a:xfrm>
                </p:grpSpPr>
                <p:sp>
                  <p:nvSpPr>
                    <p:cNvPr id="37902" name="Line 148"/>
                    <p:cNvSpPr/>
                    <p:nvPr/>
                  </p:nvSpPr>
                  <p:spPr>
                    <a:xfrm flipV="1">
                      <a:off x="45" y="340"/>
                      <a:ext cx="1" cy="136"/>
                    </a:xfrm>
                    <a:prstGeom prst="line">
                      <a:avLst/>
                    </a:prstGeom>
                    <a:ln w="25400" cap="sq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anchor="t"/>
                    <a:lstStyle/>
                    <a:p>
                      <a:endParaRPr lang="zh-CN" altLang="en-US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7903" name="AutoShape 149"/>
                    <p:cNvSpPr/>
                    <p:nvPr/>
                  </p:nvSpPr>
                  <p:spPr>
                    <a:xfrm>
                      <a:off x="1" y="476"/>
                      <a:ext cx="70" cy="68"/>
                    </a:xfrm>
                    <a:prstGeom prst="flowChartConnector">
                      <a:avLst/>
                    </a:prstGeom>
                    <a:solidFill>
                      <a:schemeClr val="accent1"/>
                    </a:solidFill>
                    <a:ln w="12700" cap="sq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7904" name="Rectangle 150"/>
                    <p:cNvSpPr/>
                    <p:nvPr/>
                  </p:nvSpPr>
                  <p:spPr>
                    <a:xfrm>
                      <a:off x="0" y="211"/>
                      <a:ext cx="91" cy="175"/>
                    </a:xfrm>
                    <a:prstGeom prst="rect">
                      <a:avLst/>
                    </a:prstGeom>
                    <a:solidFill>
                      <a:srgbClr val="00FF00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7905" name="Line 151"/>
                    <p:cNvSpPr/>
                    <p:nvPr/>
                  </p:nvSpPr>
                  <p:spPr>
                    <a:xfrm flipV="1">
                      <a:off x="45" y="68"/>
                      <a:ext cx="0" cy="136"/>
                    </a:xfrm>
                    <a:prstGeom prst="line">
                      <a:avLst/>
                    </a:prstGeom>
                    <a:ln w="25400" cap="sq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anchor="t"/>
                    <a:lstStyle/>
                    <a:p>
                      <a:endParaRPr lang="zh-CN" altLang="en-US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7906" name="AutoShape 152"/>
                    <p:cNvSpPr/>
                    <p:nvPr/>
                  </p:nvSpPr>
                  <p:spPr>
                    <a:xfrm>
                      <a:off x="0" y="0"/>
                      <a:ext cx="70" cy="68"/>
                    </a:xfrm>
                    <a:prstGeom prst="flowChartConnector">
                      <a:avLst/>
                    </a:prstGeom>
                    <a:solidFill>
                      <a:schemeClr val="accent1"/>
                    </a:solidFill>
                    <a:ln w="12700" cap="sq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/>
                    <a:lstStyle/>
                    <a:p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7907" name="Text Box 153"/>
                    <p:cNvSpPr txBox="1"/>
                    <p:nvPr/>
                  </p:nvSpPr>
                  <p:spPr>
                    <a:xfrm>
                      <a:off x="91" y="159"/>
                      <a:ext cx="227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b="1" dirty="0"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R</a:t>
                      </a:r>
                      <a:endParaRPr lang="en-US" altLang="zh-CN" b="1" baseline="-25000" dirty="0"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37908" name="组合 49173"/>
                  <p:cNvGrpSpPr/>
                  <p:nvPr/>
                </p:nvGrpSpPr>
                <p:grpSpPr>
                  <a:xfrm>
                    <a:off x="91" y="816"/>
                    <a:ext cx="1021" cy="774"/>
                    <a:chOff x="0" y="0"/>
                    <a:chExt cx="1021" cy="774"/>
                  </a:xfrm>
                </p:grpSpPr>
                <p:grpSp>
                  <p:nvGrpSpPr>
                    <p:cNvPr id="37909" name="组合 49174"/>
                    <p:cNvGrpSpPr/>
                    <p:nvPr/>
                  </p:nvGrpSpPr>
                  <p:grpSpPr>
                    <a:xfrm>
                      <a:off x="317" y="0"/>
                      <a:ext cx="704" cy="147"/>
                      <a:chOff x="0" y="0"/>
                      <a:chExt cx="704" cy="147"/>
                    </a:xfrm>
                  </p:grpSpPr>
                  <p:sp>
                    <p:nvSpPr>
                      <p:cNvPr id="37910" name="Line 156"/>
                      <p:cNvSpPr/>
                      <p:nvPr/>
                    </p:nvSpPr>
                    <p:spPr>
                      <a:xfrm>
                        <a:off x="46" y="91"/>
                        <a:ext cx="272" cy="0"/>
                      </a:xfrm>
                      <a:prstGeom prst="line">
                        <a:avLst/>
                      </a:prstGeom>
                      <a:ln w="25400" cap="sq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anchor="t"/>
                      <a:lstStyle/>
                      <a:p>
                        <a:endParaRPr lang="zh-CN" altLang="en-US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911" name="AutoShape 157"/>
                      <p:cNvSpPr/>
                      <p:nvPr/>
                    </p:nvSpPr>
                    <p:spPr>
                      <a:xfrm>
                        <a:off x="0" y="46"/>
                        <a:ext cx="70" cy="68"/>
                      </a:xfrm>
                      <a:prstGeom prst="flowChartConnector">
                        <a:avLst/>
                      </a:prstGeom>
                      <a:solidFill>
                        <a:schemeClr val="accent1"/>
                      </a:solidFill>
                      <a:ln w="12700" cap="sq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912" name="AutoShape 158"/>
                      <p:cNvSpPr/>
                      <p:nvPr/>
                    </p:nvSpPr>
                    <p:spPr>
                      <a:xfrm>
                        <a:off x="272" y="0"/>
                        <a:ext cx="432" cy="147"/>
                      </a:xfrm>
                      <a:prstGeom prst="hexagon">
                        <a:avLst>
                          <a:gd name="adj" fmla="val 73469"/>
                          <a:gd name="vf" fmla="val 115470"/>
                        </a:avLst>
                      </a:prstGeom>
                      <a:solidFill>
                        <a:schemeClr val="accent1"/>
                      </a:solidFill>
                      <a:ln w="12700" cap="sq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37913" name="组合 49178"/>
                    <p:cNvGrpSpPr/>
                    <p:nvPr/>
                  </p:nvGrpSpPr>
                  <p:grpSpPr>
                    <a:xfrm>
                      <a:off x="0" y="205"/>
                      <a:ext cx="408" cy="569"/>
                      <a:chOff x="0" y="0"/>
                      <a:chExt cx="408" cy="569"/>
                    </a:xfrm>
                  </p:grpSpPr>
                  <p:sp>
                    <p:nvSpPr>
                      <p:cNvPr id="37914" name="Line 160"/>
                      <p:cNvSpPr/>
                      <p:nvPr/>
                    </p:nvSpPr>
                    <p:spPr>
                      <a:xfrm flipV="1">
                        <a:off x="136" y="68"/>
                        <a:ext cx="0" cy="136"/>
                      </a:xfrm>
                      <a:prstGeom prst="line">
                        <a:avLst/>
                      </a:prstGeom>
                      <a:ln w="25400" cap="sq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anchor="t"/>
                      <a:lstStyle/>
                      <a:p>
                        <a:endParaRPr lang="zh-CN" altLang="en-US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915" name="AutoShape 161"/>
                      <p:cNvSpPr/>
                      <p:nvPr/>
                    </p:nvSpPr>
                    <p:spPr>
                      <a:xfrm>
                        <a:off x="91" y="0"/>
                        <a:ext cx="70" cy="68"/>
                      </a:xfrm>
                      <a:prstGeom prst="flowChartConnector">
                        <a:avLst/>
                      </a:prstGeom>
                      <a:solidFill>
                        <a:schemeClr val="accent1"/>
                      </a:solidFill>
                      <a:ln w="12700" cap="sq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916" name="Rectangle 162"/>
                      <p:cNvSpPr/>
                      <p:nvPr/>
                    </p:nvSpPr>
                    <p:spPr>
                      <a:xfrm>
                        <a:off x="90" y="158"/>
                        <a:ext cx="91" cy="17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endPara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917" name="Line 163"/>
                      <p:cNvSpPr/>
                      <p:nvPr/>
                    </p:nvSpPr>
                    <p:spPr>
                      <a:xfrm>
                        <a:off x="0" y="473"/>
                        <a:ext cx="251" cy="3"/>
                      </a:xfrm>
                      <a:prstGeom prst="line">
                        <a:avLst/>
                      </a:prstGeom>
                      <a:ln w="25400" cap="sq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anchor="t"/>
                      <a:lstStyle/>
                      <a:p>
                        <a:endParaRPr lang="zh-CN" altLang="en-US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918" name="Line 164"/>
                      <p:cNvSpPr/>
                      <p:nvPr/>
                    </p:nvSpPr>
                    <p:spPr>
                      <a:xfrm>
                        <a:off x="24" y="521"/>
                        <a:ext cx="192" cy="0"/>
                      </a:xfrm>
                      <a:prstGeom prst="line">
                        <a:avLst/>
                      </a:prstGeom>
                      <a:ln w="25400" cap="sq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anchor="t"/>
                      <a:lstStyle/>
                      <a:p>
                        <a:endParaRPr lang="zh-CN" altLang="en-US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919" name="Line 165"/>
                      <p:cNvSpPr/>
                      <p:nvPr/>
                    </p:nvSpPr>
                    <p:spPr>
                      <a:xfrm>
                        <a:off x="96" y="569"/>
                        <a:ext cx="48" cy="0"/>
                      </a:xfrm>
                      <a:prstGeom prst="line">
                        <a:avLst/>
                      </a:prstGeom>
                      <a:ln w="25400" cap="sq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anchor="t"/>
                      <a:lstStyle/>
                      <a:p>
                        <a:endParaRPr lang="zh-CN" altLang="en-US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920" name="Line 166"/>
                      <p:cNvSpPr/>
                      <p:nvPr/>
                    </p:nvSpPr>
                    <p:spPr>
                      <a:xfrm flipV="1">
                        <a:off x="136" y="340"/>
                        <a:ext cx="0" cy="136"/>
                      </a:xfrm>
                      <a:prstGeom prst="line">
                        <a:avLst/>
                      </a:prstGeom>
                      <a:ln w="25400" cap="sq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anchor="t"/>
                      <a:lstStyle/>
                      <a:p>
                        <a:endParaRPr lang="zh-CN" altLang="en-US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7921" name="Text Box 167"/>
                      <p:cNvSpPr txBox="1"/>
                      <p:nvPr/>
                    </p:nvSpPr>
                    <p:spPr>
                      <a:xfrm>
                        <a:off x="181" y="113"/>
                        <a:ext cx="227" cy="2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>
                        <a:spAutoFit/>
                      </a:bodyPr>
                      <a:lstStyle/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b="1" dirty="0">
                            <a:latin typeface="Times New Roman" panose="02020603050405020304" pitchFamily="2" charset="0"/>
                            <a:ea typeface="宋体" panose="02010600030101010101" pitchFamily="2" charset="-122"/>
                          </a:rPr>
                          <a:t>R</a:t>
                        </a:r>
                        <a:endParaRPr lang="en-US" altLang="zh-CN" b="1" baseline="-25000" dirty="0">
                          <a:latin typeface="Times New Roman" panose="02020603050405020304" pitchFamily="2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37922" name="Text Box 168"/>
              <p:cNvSpPr txBox="1"/>
              <p:nvPr/>
            </p:nvSpPr>
            <p:spPr>
              <a:xfrm>
                <a:off x="0" y="0"/>
                <a:ext cx="76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引脚上拉</a:t>
                </a:r>
              </a:p>
            </p:txBody>
          </p:sp>
        </p:grpSp>
      </p:grpSp>
      <p:sp>
        <p:nvSpPr>
          <p:cNvPr id="37923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15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37924" name="Rectangle 8"/>
          <p:cNvSpPr txBox="1"/>
          <p:nvPr/>
        </p:nvSpPr>
        <p:spPr>
          <a:xfrm>
            <a:off x="493713" y="477838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1.1.3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GPIO 寄存器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5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4" name="Rectangle 3"/>
          <p:cNvSpPr/>
          <p:nvPr/>
        </p:nvSpPr>
        <p:spPr>
          <a:xfrm>
            <a:off x="323850" y="1412875"/>
            <a:ext cx="8713788" cy="7921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PxREN  上拉或下拉电阻使能寄存器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5" name="Rectangle 3"/>
          <p:cNvSpPr/>
          <p:nvPr/>
        </p:nvSpPr>
        <p:spPr>
          <a:xfrm>
            <a:off x="-109537" y="5445125"/>
            <a:ext cx="7129462" cy="9366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1295400" lvl="2" indent="-3810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Bit = 0: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引脚选择下拉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;</a:t>
            </a:r>
          </a:p>
          <a:p>
            <a:pPr marL="1295400" lvl="2" indent="-3810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n-GB" altLang="en-US" sz="20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  </a:t>
            </a:r>
            <a:r>
              <a:rPr lang="en-GB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下拉电阻是把电平拉低，电阻接到GND地线上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。</a:t>
            </a:r>
          </a:p>
        </p:txBody>
      </p:sp>
      <p:sp>
        <p:nvSpPr>
          <p:cNvPr id="38916" name="Rectangle 6"/>
          <p:cNvSpPr/>
          <p:nvPr/>
        </p:nvSpPr>
        <p:spPr>
          <a:xfrm>
            <a:off x="180023" y="1239520"/>
            <a:ext cx="8280400" cy="42462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PxREN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寄存器中的每一位可使能或禁用相应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I/O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引脚的上拉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下拉电阻。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PxREN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配置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:</a:t>
            </a:r>
          </a:p>
          <a:p>
            <a:pPr lvl="1" indent="0" eaLnBrk="1" hangingPunct="1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	Bit = 1: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使能上拉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下拉电阻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;</a:t>
            </a:r>
          </a:p>
          <a:p>
            <a:pPr lvl="1" indent="0" eaLnBrk="1" hangingPunct="1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	Bit = 0: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禁用上拉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下拉电阻。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当使能引脚上拉或下拉功能时，通过                               设置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PxOUT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相应位来选择。</a:t>
            </a:r>
          </a:p>
        </p:txBody>
      </p:sp>
      <p:grpSp>
        <p:nvGrpSpPr>
          <p:cNvPr id="50185" name="组合 50184"/>
          <p:cNvGrpSpPr/>
          <p:nvPr/>
        </p:nvGrpSpPr>
        <p:grpSpPr>
          <a:xfrm>
            <a:off x="7019925" y="3141663"/>
            <a:ext cx="2084388" cy="3095625"/>
            <a:chOff x="0" y="0"/>
            <a:chExt cx="1313" cy="1950"/>
          </a:xfrm>
        </p:grpSpPr>
        <p:sp>
          <p:nvSpPr>
            <p:cNvPr id="38918" name="Text Box 38"/>
            <p:cNvSpPr txBox="1"/>
            <p:nvPr/>
          </p:nvSpPr>
          <p:spPr>
            <a:xfrm>
              <a:off x="227" y="363"/>
              <a:ext cx="5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V</a:t>
              </a:r>
              <a:r>
                <a:rPr lang="en-US" altLang="zh-CN" b="1" baseline="-25000" dirty="0">
                  <a:latin typeface="Times New Roman" panose="02020603050405020304" pitchFamily="2" charset="0"/>
                  <a:ea typeface="宋体" panose="02010600030101010101" pitchFamily="2" charset="-122"/>
                </a:rPr>
                <a:t>CC</a:t>
              </a:r>
            </a:p>
          </p:txBody>
        </p:sp>
        <p:sp>
          <p:nvSpPr>
            <p:cNvPr id="38919" name="Text Box 39"/>
            <p:cNvSpPr txBox="1"/>
            <p:nvPr/>
          </p:nvSpPr>
          <p:spPr>
            <a:xfrm>
              <a:off x="545" y="903"/>
              <a:ext cx="7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引脚 </a:t>
              </a:r>
              <a:r>
                <a:rPr lang="en-US" altLang="zh-CN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Px.x</a:t>
              </a:r>
            </a:p>
          </p:txBody>
        </p:sp>
        <p:sp>
          <p:nvSpPr>
            <p:cNvPr id="38920" name="Line 40"/>
            <p:cNvSpPr/>
            <p:nvPr/>
          </p:nvSpPr>
          <p:spPr>
            <a:xfrm flipH="1">
              <a:off x="136" y="1179"/>
              <a:ext cx="294" cy="136"/>
            </a:xfrm>
            <a:prstGeom prst="line">
              <a:avLst/>
            </a:prstGeom>
            <a:ln w="34925" cap="sq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8921" name="组合 50188"/>
            <p:cNvGrpSpPr/>
            <p:nvPr/>
          </p:nvGrpSpPr>
          <p:grpSpPr>
            <a:xfrm>
              <a:off x="22" y="272"/>
              <a:ext cx="1112" cy="1678"/>
              <a:chOff x="0" y="0"/>
              <a:chExt cx="1112" cy="1678"/>
            </a:xfrm>
          </p:grpSpPr>
          <p:sp>
            <p:nvSpPr>
              <p:cNvPr id="38922" name="Rectangle 42"/>
              <p:cNvSpPr/>
              <p:nvPr/>
            </p:nvSpPr>
            <p:spPr>
              <a:xfrm>
                <a:off x="0" y="0"/>
                <a:ext cx="590" cy="1678"/>
              </a:xfrm>
              <a:prstGeom prst="rect">
                <a:avLst/>
              </a:prstGeom>
              <a:noFill/>
              <a:ln w="25400" cap="sq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923" name="组合 50190"/>
              <p:cNvGrpSpPr/>
              <p:nvPr/>
            </p:nvGrpSpPr>
            <p:grpSpPr>
              <a:xfrm>
                <a:off x="181" y="204"/>
                <a:ext cx="318" cy="544"/>
                <a:chOff x="0" y="0"/>
                <a:chExt cx="318" cy="544"/>
              </a:xfrm>
            </p:grpSpPr>
            <p:sp>
              <p:nvSpPr>
                <p:cNvPr id="38924" name="Line 44"/>
                <p:cNvSpPr/>
                <p:nvPr/>
              </p:nvSpPr>
              <p:spPr>
                <a:xfrm flipV="1">
                  <a:off x="45" y="340"/>
                  <a:ext cx="1" cy="136"/>
                </a:xfrm>
                <a:prstGeom prst="line">
                  <a:avLst/>
                </a:prstGeom>
                <a:ln w="254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25" name="AutoShape 45"/>
                <p:cNvSpPr/>
                <p:nvPr/>
              </p:nvSpPr>
              <p:spPr>
                <a:xfrm>
                  <a:off x="1" y="476"/>
                  <a:ext cx="70" cy="68"/>
                </a:xfrm>
                <a:prstGeom prst="flowChartConnector">
                  <a:avLst/>
                </a:prstGeom>
                <a:solidFill>
                  <a:schemeClr val="accent1"/>
                </a:solidFill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26" name="Rectangle 46"/>
                <p:cNvSpPr/>
                <p:nvPr/>
              </p:nvSpPr>
              <p:spPr>
                <a:xfrm>
                  <a:off x="0" y="211"/>
                  <a:ext cx="91" cy="175"/>
                </a:xfrm>
                <a:prstGeom prst="rect">
                  <a:avLst/>
                </a:prstGeom>
                <a:solidFill>
                  <a:srgbClr val="00FF00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27" name="Line 47"/>
                <p:cNvSpPr/>
                <p:nvPr/>
              </p:nvSpPr>
              <p:spPr>
                <a:xfrm flipV="1">
                  <a:off x="45" y="68"/>
                  <a:ext cx="0" cy="136"/>
                </a:xfrm>
                <a:prstGeom prst="line">
                  <a:avLst/>
                </a:prstGeom>
                <a:ln w="254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28" name="AutoShape 48"/>
                <p:cNvSpPr/>
                <p:nvPr/>
              </p:nvSpPr>
              <p:spPr>
                <a:xfrm>
                  <a:off x="0" y="0"/>
                  <a:ext cx="70" cy="68"/>
                </a:xfrm>
                <a:prstGeom prst="flowChartConnector">
                  <a:avLst/>
                </a:prstGeom>
                <a:solidFill>
                  <a:schemeClr val="accent1"/>
                </a:solidFill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endPara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29" name="Text Box 49"/>
                <p:cNvSpPr txBox="1"/>
                <p:nvPr/>
              </p:nvSpPr>
              <p:spPr>
                <a:xfrm>
                  <a:off x="91" y="159"/>
                  <a:ext cx="227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R</a:t>
                  </a:r>
                  <a:endParaRPr lang="en-US" altLang="zh-CN" b="1" baseline="-25000" dirty="0"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8930" name="组合 50197"/>
              <p:cNvGrpSpPr/>
              <p:nvPr/>
            </p:nvGrpSpPr>
            <p:grpSpPr>
              <a:xfrm>
                <a:off x="91" y="816"/>
                <a:ext cx="1021" cy="774"/>
                <a:chOff x="0" y="0"/>
                <a:chExt cx="1021" cy="774"/>
              </a:xfrm>
            </p:grpSpPr>
            <p:grpSp>
              <p:nvGrpSpPr>
                <p:cNvPr id="38931" name="组合 50198"/>
                <p:cNvGrpSpPr/>
                <p:nvPr/>
              </p:nvGrpSpPr>
              <p:grpSpPr>
                <a:xfrm>
                  <a:off x="317" y="0"/>
                  <a:ext cx="704" cy="147"/>
                  <a:chOff x="0" y="0"/>
                  <a:chExt cx="704" cy="147"/>
                </a:xfrm>
              </p:grpSpPr>
              <p:sp>
                <p:nvSpPr>
                  <p:cNvPr id="38932" name="Line 52"/>
                  <p:cNvSpPr/>
                  <p:nvPr/>
                </p:nvSpPr>
                <p:spPr>
                  <a:xfrm>
                    <a:off x="46" y="91"/>
                    <a:ext cx="272" cy="0"/>
                  </a:xfrm>
                  <a:prstGeom prst="line">
                    <a:avLst/>
                  </a:prstGeom>
                  <a:ln w="25400" cap="sq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lstStyle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33" name="AutoShape 53"/>
                  <p:cNvSpPr/>
                  <p:nvPr/>
                </p:nvSpPr>
                <p:spPr>
                  <a:xfrm>
                    <a:off x="0" y="46"/>
                    <a:ext cx="70" cy="68"/>
                  </a:xfrm>
                  <a:prstGeom prst="flowChartConnector">
                    <a:avLst/>
                  </a:prstGeom>
                  <a:solidFill>
                    <a:schemeClr val="accent1"/>
                  </a:solidFill>
                  <a:ln w="12700" cap="sq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34" name="AutoShape 54"/>
                  <p:cNvSpPr/>
                  <p:nvPr/>
                </p:nvSpPr>
                <p:spPr>
                  <a:xfrm>
                    <a:off x="272" y="0"/>
                    <a:ext cx="432" cy="147"/>
                  </a:xfrm>
                  <a:prstGeom prst="hexagon">
                    <a:avLst>
                      <a:gd name="adj" fmla="val 73469"/>
                      <a:gd name="vf" fmla="val 115470"/>
                    </a:avLst>
                  </a:prstGeom>
                  <a:solidFill>
                    <a:schemeClr val="accent1"/>
                  </a:solidFill>
                  <a:ln w="12700" cap="sq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38935" name="组合 50202"/>
                <p:cNvGrpSpPr/>
                <p:nvPr/>
              </p:nvGrpSpPr>
              <p:grpSpPr>
                <a:xfrm>
                  <a:off x="0" y="205"/>
                  <a:ext cx="408" cy="569"/>
                  <a:chOff x="0" y="0"/>
                  <a:chExt cx="408" cy="569"/>
                </a:xfrm>
              </p:grpSpPr>
              <p:sp>
                <p:nvSpPr>
                  <p:cNvPr id="38936" name="Line 56"/>
                  <p:cNvSpPr/>
                  <p:nvPr/>
                </p:nvSpPr>
                <p:spPr>
                  <a:xfrm flipV="1">
                    <a:off x="136" y="68"/>
                    <a:ext cx="0" cy="136"/>
                  </a:xfrm>
                  <a:prstGeom prst="line">
                    <a:avLst/>
                  </a:prstGeom>
                  <a:ln w="25400" cap="sq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lstStyle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37" name="AutoShape 57"/>
                  <p:cNvSpPr/>
                  <p:nvPr/>
                </p:nvSpPr>
                <p:spPr>
                  <a:xfrm>
                    <a:off x="91" y="0"/>
                    <a:ext cx="70" cy="68"/>
                  </a:xfrm>
                  <a:prstGeom prst="flowChartConnector">
                    <a:avLst/>
                  </a:prstGeom>
                  <a:solidFill>
                    <a:schemeClr val="accent1"/>
                  </a:solidFill>
                  <a:ln w="12700" cap="sq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38" name="Rectangle 58"/>
                  <p:cNvSpPr/>
                  <p:nvPr/>
                </p:nvSpPr>
                <p:spPr>
                  <a:xfrm>
                    <a:off x="90" y="158"/>
                    <a:ext cx="91" cy="175"/>
                  </a:xfrm>
                  <a:prstGeom prst="rect">
                    <a:avLst/>
                  </a:prstGeom>
                  <a:solidFill>
                    <a:srgbClr val="00FF00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39" name="Line 59"/>
                  <p:cNvSpPr/>
                  <p:nvPr/>
                </p:nvSpPr>
                <p:spPr>
                  <a:xfrm>
                    <a:off x="0" y="473"/>
                    <a:ext cx="251" cy="3"/>
                  </a:xfrm>
                  <a:prstGeom prst="line">
                    <a:avLst/>
                  </a:prstGeom>
                  <a:ln w="25400" cap="sq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lstStyle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40" name="Line 60"/>
                  <p:cNvSpPr/>
                  <p:nvPr/>
                </p:nvSpPr>
                <p:spPr>
                  <a:xfrm>
                    <a:off x="24" y="521"/>
                    <a:ext cx="192" cy="0"/>
                  </a:xfrm>
                  <a:prstGeom prst="line">
                    <a:avLst/>
                  </a:prstGeom>
                  <a:ln w="25400" cap="sq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lstStyle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41" name="Line 61"/>
                  <p:cNvSpPr/>
                  <p:nvPr/>
                </p:nvSpPr>
                <p:spPr>
                  <a:xfrm>
                    <a:off x="96" y="569"/>
                    <a:ext cx="48" cy="0"/>
                  </a:xfrm>
                  <a:prstGeom prst="line">
                    <a:avLst/>
                  </a:prstGeom>
                  <a:ln w="25400" cap="sq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lstStyle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42" name="Line 62"/>
                  <p:cNvSpPr/>
                  <p:nvPr/>
                </p:nvSpPr>
                <p:spPr>
                  <a:xfrm flipV="1">
                    <a:off x="136" y="340"/>
                    <a:ext cx="0" cy="136"/>
                  </a:xfrm>
                  <a:prstGeom prst="line">
                    <a:avLst/>
                  </a:prstGeom>
                  <a:ln w="25400" cap="sq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anchor="t"/>
                  <a:lstStyle/>
                  <a:p>
                    <a:endParaRPr lang="zh-CN" altLang="en-US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43" name="Text Box 63"/>
                  <p:cNvSpPr txBox="1"/>
                  <p:nvPr/>
                </p:nvSpPr>
                <p:spPr>
                  <a:xfrm>
                    <a:off x="181" y="113"/>
                    <a:ext cx="227" cy="23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2" charset="0"/>
                        <a:ea typeface="宋体" panose="02010600030101010101" pitchFamily="2" charset="-122"/>
                      </a:rPr>
                      <a:t>R</a:t>
                    </a:r>
                    <a:endParaRPr lang="en-US" altLang="zh-CN" b="1" baseline="-25000" dirty="0">
                      <a:latin typeface="Times New Roman" panose="02020603050405020304" pitchFamily="2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38944" name="Text Box 64"/>
            <p:cNvSpPr txBox="1"/>
            <p:nvPr/>
          </p:nvSpPr>
          <p:spPr>
            <a:xfrm>
              <a:off x="0" y="0"/>
              <a:ext cx="7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hlink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引脚下拉</a:t>
              </a:r>
            </a:p>
          </p:txBody>
        </p:sp>
      </p:grpSp>
      <p:sp>
        <p:nvSpPr>
          <p:cNvPr id="3894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16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38946" name="Rectangle 8"/>
          <p:cNvSpPr txBox="1"/>
          <p:nvPr/>
        </p:nvSpPr>
        <p:spPr>
          <a:xfrm>
            <a:off x="539750" y="549275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1.1.3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GPIO 寄存器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/>
          <p:nvPr/>
        </p:nvSpPr>
        <p:spPr>
          <a:xfrm>
            <a:off x="539750" y="1217613"/>
            <a:ext cx="7978775" cy="4184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2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I/O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端口还具有其他片内外设功能，为减少引脚，将这些外设功能与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I/O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端口引脚复用来实现。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PxSEL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来选择引脚的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I/O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端口功能与外围模块功能。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PxSEL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的配置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:</a:t>
            </a:r>
          </a:p>
          <a:p>
            <a:pPr lvl="1" indent="0" eaLnBrk="1" hangingPunct="1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	Bit = 0: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选择引脚为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I/O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端口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;</a:t>
            </a:r>
          </a:p>
          <a:p>
            <a:pPr lvl="1" indent="0" eaLnBrk="1" hangingPunct="1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  Bit = 1: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选择引脚为外设功能。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</p:txBody>
      </p:sp>
      <p:sp>
        <p:nvSpPr>
          <p:cNvPr id="39938" name="Rectangle 3"/>
          <p:cNvSpPr/>
          <p:nvPr/>
        </p:nvSpPr>
        <p:spPr>
          <a:xfrm>
            <a:off x="214313" y="1328738"/>
            <a:ext cx="8713787" cy="7905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PxSEL  功能选择寄存器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39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17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39940" name="Rectangle 8"/>
          <p:cNvSpPr txBox="1"/>
          <p:nvPr/>
        </p:nvSpPr>
        <p:spPr>
          <a:xfrm>
            <a:off x="499110" y="443865"/>
            <a:ext cx="8516620" cy="113093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1.1.3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GPIO 寄存器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3"/>
          <p:cNvSpPr/>
          <p:nvPr/>
        </p:nvSpPr>
        <p:spPr>
          <a:xfrm>
            <a:off x="250825" y="1339850"/>
            <a:ext cx="8713788" cy="7905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PxDS  输出驱动强度寄存器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52227" name="Rectangle 4"/>
          <p:cNvSpPr/>
          <p:nvPr/>
        </p:nvSpPr>
        <p:spPr>
          <a:xfrm>
            <a:off x="345758" y="1431608"/>
            <a:ext cx="8280400" cy="38150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PxDS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寄存器的每个位，设置引脚的输出强度为高驱动强度或低驱动强度。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默认值为低驱动强度。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PxDS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的配置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:</a:t>
            </a:r>
          </a:p>
          <a:p>
            <a:pPr lvl="1" indent="0" eaLnBrk="1" hangingPunct="1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	Bit = 0: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低驱动强度；</a:t>
            </a:r>
          </a:p>
          <a:p>
            <a:pPr lvl="1" indent="0" eaLnBrk="1" hangingPunct="1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	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Bit = 1: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高驱动强度。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</p:txBody>
      </p:sp>
      <p:sp>
        <p:nvSpPr>
          <p:cNvPr id="40963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18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40964" name="Rectangle 8"/>
          <p:cNvSpPr txBox="1"/>
          <p:nvPr/>
        </p:nvSpPr>
        <p:spPr>
          <a:xfrm>
            <a:off x="546100" y="476250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1.1.3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GPIO 寄存器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/>
          <p:nvPr/>
        </p:nvSpPr>
        <p:spPr>
          <a:xfrm>
            <a:off x="406400" y="1201738"/>
            <a:ext cx="8280400" cy="51079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该寄存器的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8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位与端口的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8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个引脚一一对应，其中某一位置位表示允许对应的引脚在电平变化（上升沿或下降沿）时产生中断，否则，表示禁止该位的中断。</a:t>
            </a:r>
          </a:p>
          <a:p>
            <a:pPr lvl="1" indent="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每个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PxIE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位使能的中断请求都与相应的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PxIFG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中断标志相关联，可通过写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PxOUT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PxDIR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来设置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PxIFG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。</a:t>
            </a:r>
          </a:p>
          <a:p>
            <a:pPr lvl="1" indent="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PxIE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的配置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:</a:t>
            </a:r>
          </a:p>
          <a:p>
            <a:pPr lvl="1" indent="0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  Bit = 1: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允许中断；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Bit = 0: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禁止中断。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</p:txBody>
      </p:sp>
      <p:sp>
        <p:nvSpPr>
          <p:cNvPr id="41986" name="Rectangle 3"/>
          <p:cNvSpPr/>
          <p:nvPr/>
        </p:nvSpPr>
        <p:spPr>
          <a:xfrm>
            <a:off x="34925" y="1412875"/>
            <a:ext cx="8713788" cy="7921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PxIE  中断使能寄存器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（仅中断端口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）</a:t>
            </a:r>
          </a:p>
        </p:txBody>
      </p:sp>
      <p:sp>
        <p:nvSpPr>
          <p:cNvPr id="41987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19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41988" name="Rectangle 8"/>
          <p:cNvSpPr txBox="1"/>
          <p:nvPr/>
        </p:nvSpPr>
        <p:spPr>
          <a:xfrm>
            <a:off x="519113" y="549275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1.1.3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GPIO 寄存器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3"/>
          <p:cNvSpPr/>
          <p:nvPr/>
        </p:nvSpPr>
        <p:spPr>
          <a:xfrm>
            <a:off x="115888" y="1339850"/>
            <a:ext cx="8440737" cy="7921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PxIES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中断触发沿选择寄存器（仅中断端口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）</a:t>
            </a:r>
          </a:p>
        </p:txBody>
      </p:sp>
      <p:sp>
        <p:nvSpPr>
          <p:cNvPr id="54275" name="Rectangle 4"/>
          <p:cNvSpPr/>
          <p:nvPr/>
        </p:nvSpPr>
        <p:spPr>
          <a:xfrm>
            <a:off x="323850" y="1717675"/>
            <a:ext cx="8424863" cy="50463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如果允许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口的某个引脚中断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即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PxIE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GIE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已设置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，还需定义该引脚的中断触发方式。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该寄存器可读可写，寄存器的8位分别对应Px口8个引脚</a:t>
            </a:r>
          </a:p>
          <a:p>
            <a:pPr lvl="1" indent="0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PxIES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的配置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:</a:t>
            </a:r>
          </a:p>
          <a:p>
            <a:pPr lvl="1" indent="0" eaLnBrk="1" hangingPunct="1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  Bit = 1: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下降沿使相应中断标志置位；</a:t>
            </a:r>
          </a:p>
          <a:p>
            <a:pPr lvl="1" indent="0" eaLnBrk="1" hangingPunct="1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    Bit = 0: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上升沿使相应中断标志置位。</a:t>
            </a:r>
          </a:p>
          <a:p>
            <a:pPr lvl="1" indent="0" eaLnBrk="1" hangingPunct="1"/>
            <a:endParaRPr lang="zh-CN" altLang="en-US" sz="2800" b="1" dirty="0">
              <a:solidFill>
                <a:srgbClr val="000000"/>
              </a:solidFill>
              <a:latin typeface="Times New Roman" panose="02020603050405020304" pitchFamily="2" charset="0"/>
              <a:ea typeface="华文新魏" panose="02010800040101010101" pitchFamily="2" charset="-122"/>
            </a:endParaRPr>
          </a:p>
          <a:p>
            <a:pPr lvl="1" indent="0" eaLnBrk="1" hangingPunct="1"/>
            <a:endParaRPr lang="en-US" altLang="zh-CN" sz="2800" b="1" dirty="0">
              <a:solidFill>
                <a:srgbClr val="000000"/>
              </a:solidFill>
              <a:latin typeface="Times New Roman" panose="02020603050405020304" pitchFamily="2" charset="0"/>
              <a:ea typeface="华文新魏" panose="02010800040101010101" pitchFamily="2" charset="-122"/>
            </a:endParaRPr>
          </a:p>
        </p:txBody>
      </p:sp>
      <p:sp>
        <p:nvSpPr>
          <p:cNvPr id="4301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20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43012" name="Rectangle 8"/>
          <p:cNvSpPr txBox="1"/>
          <p:nvPr/>
        </p:nvSpPr>
        <p:spPr>
          <a:xfrm>
            <a:off x="519113" y="549275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1.1.3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GPIO 寄存器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/>
          <p:cNvSpPr/>
          <p:nvPr/>
        </p:nvSpPr>
        <p:spPr>
          <a:xfrm>
            <a:off x="168275" y="1138238"/>
            <a:ext cx="9005888" cy="54775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algn="l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该寄存器用来表示对应引脚是否产生了由PxIES设定的电平跳变。</a:t>
            </a:r>
          </a:p>
          <a:p>
            <a:pPr lvl="1" indent="0" algn="l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如果在GIE置位，引脚对应的中断使能寄存器PxIE位置位，则会向CPU请求中断处理。</a:t>
            </a:r>
          </a:p>
          <a:p>
            <a:pPr lvl="1" indent="0" algn="l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中断标志PxIFG.0～PxIFG.7共用一个中断向量， PxIFG.0～PxIFG.7不会自动复位。必须用软件来判定 是对哪一个事件服务，并将相应的标志复位。</a:t>
            </a:r>
          </a:p>
          <a:p>
            <a:pPr lvl="1" indent="0" algn="l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PxIFG的配置:</a:t>
            </a:r>
          </a:p>
          <a:p>
            <a:pPr lvl="1" indent="0" algn="l" eaLnBrk="1" hangingPunct="1">
              <a:spcBef>
                <a:spcPct val="50000"/>
              </a:spcBef>
              <a:buClr>
                <a:srgbClr val="0000FF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 Bit = 0: 没有中断请求 ；Bit = 1: 有中断请求。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</p:txBody>
      </p:sp>
      <p:sp>
        <p:nvSpPr>
          <p:cNvPr id="44034" name="Rectangle 3"/>
          <p:cNvSpPr/>
          <p:nvPr/>
        </p:nvSpPr>
        <p:spPr>
          <a:xfrm>
            <a:off x="14288" y="1343025"/>
            <a:ext cx="9115425" cy="7937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PxIFG  中断标志寄存器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（仅中断端口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）</a:t>
            </a:r>
          </a:p>
        </p:txBody>
      </p:sp>
      <p:sp>
        <p:nvSpPr>
          <p:cNvPr id="4403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21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44036" name="Rectangle 8"/>
          <p:cNvSpPr txBox="1"/>
          <p:nvPr/>
        </p:nvSpPr>
        <p:spPr>
          <a:xfrm>
            <a:off x="457200" y="479425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1.1.3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GPIO 寄存器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/>
          </p:cNvSpPr>
          <p:nvPr>
            <p:ph type="ctrTitle"/>
          </p:nvPr>
        </p:nvSpPr>
        <p:spPr>
          <a:xfrm>
            <a:off x="395288" y="2420938"/>
            <a:ext cx="8281987" cy="1655762"/>
          </a:xfrm>
        </p:spPr>
        <p:txBody>
          <a:bodyPr wrap="square" anchor="ctr"/>
          <a:lstStyle>
            <a:lvl1pPr lvl="0">
              <a:defRPr/>
            </a:lvl1pPr>
          </a:lstStyle>
          <a:p>
            <a:pPr lvl="0" indent="0" algn="ctr"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.</a:t>
            </a:r>
            <a:r>
              <a:rPr lang="en-US" altLang="zh-CN" dirty="0"/>
              <a:t>2</a:t>
            </a:r>
            <a:r>
              <a:rPr lang="zh-CN" altLang="en-US" dirty="0"/>
              <a:t>  实验板的独立按键</a:t>
            </a:r>
            <a:br>
              <a:rPr lang="zh-CN" altLang="en-US" dirty="0"/>
            </a:br>
            <a:endParaRPr lang="zh-CN" altLang="en-US" dirty="0">
              <a:ea typeface="Times New Roman" panose="02020603050405020304" pitchFamily="2" charset="0"/>
            </a:endParaRPr>
          </a:p>
        </p:txBody>
      </p:sp>
      <p:sp>
        <p:nvSpPr>
          <p:cNvPr id="45058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22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图片 1" descr="EF1$DOHUZ{7`]M4$C{X%@~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581150"/>
            <a:ext cx="6162675" cy="1458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2" name="Rectangle 8"/>
          <p:cNvSpPr txBox="1"/>
          <p:nvPr/>
        </p:nvSpPr>
        <p:spPr>
          <a:xfrm>
            <a:off x="539750" y="542925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1.2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实验板的独立按键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1863" y="2924175"/>
            <a:ext cx="2778125" cy="765175"/>
            <a:chOff x="1467" y="4606"/>
            <a:chExt cx="4376" cy="1205"/>
          </a:xfrm>
        </p:grpSpPr>
        <p:sp>
          <p:nvSpPr>
            <p:cNvPr id="46084" name="文本框 2"/>
            <p:cNvSpPr txBox="1"/>
            <p:nvPr/>
          </p:nvSpPr>
          <p:spPr>
            <a:xfrm>
              <a:off x="1467" y="4989"/>
              <a:ext cx="4376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>
                  <a:latin typeface="Times New Roman" panose="02020603050405020304" pitchFamily="2" charset="0"/>
                  <a:ea typeface="楷体" panose="02010609060101010101" charset="-122"/>
                  <a:cs typeface="Times New Roman" panose="02020603050405020304" pitchFamily="2" charset="0"/>
                </a:rPr>
                <a:t>按键</a:t>
              </a:r>
              <a:r>
                <a:rPr lang="en-US" altLang="zh-CN" sz="2800" b="1">
                  <a:latin typeface="Times New Roman" panose="02020603050405020304" pitchFamily="2" charset="0"/>
                  <a:ea typeface="楷体" panose="02010609060101010101" charset="-122"/>
                  <a:cs typeface="Times New Roman" panose="02020603050405020304" pitchFamily="2" charset="0"/>
                </a:rPr>
                <a:t>S1</a:t>
              </a:r>
              <a:r>
                <a:rPr lang="zh-CN" altLang="en-US" sz="2800" b="1">
                  <a:latin typeface="Times New Roman" panose="02020603050405020304" pitchFamily="2" charset="0"/>
                  <a:ea typeface="楷体" panose="02010609060101010101" charset="-122"/>
                  <a:cs typeface="Times New Roman" panose="02020603050405020304" pitchFamily="2" charset="0"/>
                </a:rPr>
                <a:t>对应</a:t>
              </a:r>
              <a:r>
                <a:rPr lang="en-US" altLang="zh-CN" sz="2800" b="1">
                  <a:latin typeface="Times New Roman" panose="02020603050405020304" pitchFamily="2" charset="0"/>
                  <a:ea typeface="楷体" panose="02010609060101010101" charset="-122"/>
                  <a:cs typeface="Times New Roman" panose="02020603050405020304" pitchFamily="2" charset="0"/>
                </a:rPr>
                <a:t>P2.1</a:t>
              </a:r>
            </a:p>
          </p:txBody>
        </p:sp>
        <p:cxnSp>
          <p:nvCxnSpPr>
            <p:cNvPr id="5" name="直接箭头连接符 4"/>
            <p:cNvCxnSpPr/>
            <p:nvPr/>
          </p:nvCxnSpPr>
          <p:spPr>
            <a:xfrm flipV="1">
              <a:off x="3544" y="4606"/>
              <a:ext cx="17" cy="44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3670300" y="2924175"/>
            <a:ext cx="2779713" cy="765175"/>
            <a:chOff x="1467" y="4606"/>
            <a:chExt cx="4376" cy="1205"/>
          </a:xfrm>
        </p:grpSpPr>
        <p:sp>
          <p:nvSpPr>
            <p:cNvPr id="46087" name="文本框 8"/>
            <p:cNvSpPr txBox="1"/>
            <p:nvPr/>
          </p:nvSpPr>
          <p:spPr>
            <a:xfrm>
              <a:off x="1467" y="4989"/>
              <a:ext cx="4376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>
                  <a:latin typeface="Times New Roman" panose="02020603050405020304" pitchFamily="2" charset="0"/>
                  <a:ea typeface="楷体" panose="02010609060101010101" charset="-122"/>
                  <a:cs typeface="Times New Roman" panose="02020603050405020304" pitchFamily="2" charset="0"/>
                </a:rPr>
                <a:t>按键</a:t>
              </a:r>
              <a:r>
                <a:rPr lang="en-US" altLang="zh-CN" sz="2800" b="1">
                  <a:latin typeface="Times New Roman" panose="02020603050405020304" pitchFamily="2" charset="0"/>
                  <a:ea typeface="楷体" panose="02010609060101010101" charset="-122"/>
                  <a:cs typeface="Times New Roman" panose="02020603050405020304" pitchFamily="2" charset="0"/>
                </a:rPr>
                <a:t>S2</a:t>
              </a:r>
              <a:r>
                <a:rPr lang="zh-CN" altLang="en-US" sz="2800" b="1">
                  <a:latin typeface="Times New Roman" panose="02020603050405020304" pitchFamily="2" charset="0"/>
                  <a:ea typeface="楷体" panose="02010609060101010101" charset="-122"/>
                  <a:cs typeface="Times New Roman" panose="02020603050405020304" pitchFamily="2" charset="0"/>
                </a:rPr>
                <a:t>对应</a:t>
              </a:r>
              <a:r>
                <a:rPr lang="en-US" altLang="zh-CN" sz="2800" b="1">
                  <a:latin typeface="Times New Roman" panose="02020603050405020304" pitchFamily="2" charset="0"/>
                  <a:ea typeface="楷体" panose="02010609060101010101" charset="-122"/>
                  <a:cs typeface="Times New Roman" panose="02020603050405020304" pitchFamily="2" charset="0"/>
                </a:rPr>
                <a:t>P1.1</a:t>
              </a:r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V="1">
              <a:off x="3544" y="4606"/>
              <a:ext cx="17" cy="44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298" name="Rectangle 4"/>
          <p:cNvSpPr/>
          <p:nvPr/>
        </p:nvSpPr>
        <p:spPr>
          <a:xfrm>
            <a:off x="539750" y="4144963"/>
            <a:ext cx="8048625" cy="1968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利用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口的操作方法即可对此二独立按键进行对应操作。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1" indent="0" algn="l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1" indent="0" eaLnBrk="1" hangingPunct="1"/>
            <a:endParaRPr lang="en-US" altLang="zh-CN" sz="2400" b="1" dirty="0">
              <a:solidFill>
                <a:srgbClr val="00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/>
          </p:cNvSpPr>
          <p:nvPr>
            <p:ph type="ctrTitle"/>
          </p:nvPr>
        </p:nvSpPr>
        <p:spPr>
          <a:xfrm>
            <a:off x="395288" y="2420938"/>
            <a:ext cx="8281987" cy="1655762"/>
          </a:xfrm>
        </p:spPr>
        <p:txBody>
          <a:bodyPr wrap="square" anchor="ctr"/>
          <a:lstStyle>
            <a:lvl1pPr lvl="0">
              <a:defRPr/>
            </a:lvl1pPr>
          </a:lstStyle>
          <a:p>
            <a:pPr lvl="0" indent="0" algn="ctr"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.</a:t>
            </a:r>
            <a:r>
              <a:rPr lang="en-US" altLang="zh-CN" dirty="0"/>
              <a:t>3</a:t>
            </a:r>
            <a:r>
              <a:rPr lang="zh-CN" altLang="en-US" dirty="0"/>
              <a:t> 外接的</a:t>
            </a:r>
            <a:r>
              <a:rPr lang="en-US" altLang="zh-CN" dirty="0"/>
              <a:t>OLED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>
              <a:ea typeface="Times New Roman" panose="02020603050405020304" pitchFamily="2" charset="0"/>
            </a:endParaRPr>
          </a:p>
        </p:txBody>
      </p:sp>
      <p:sp>
        <p:nvSpPr>
          <p:cNvPr id="4710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24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308100"/>
            <a:ext cx="4216400" cy="3060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0" name="Rectangle 8"/>
          <p:cNvSpPr txBox="1"/>
          <p:nvPr/>
        </p:nvSpPr>
        <p:spPr>
          <a:xfrm>
            <a:off x="539750" y="549275"/>
            <a:ext cx="82296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1.3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外接的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OLED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86325" y="1412875"/>
            <a:ext cx="388302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接口总线</a:t>
            </a: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</a:t>
            </a:r>
            <a:r>
              <a:rPr lang="en-US" altLang="zh-CN" sz="2800" b="1" baseline="30000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2</a:t>
            </a: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C</a:t>
            </a: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，用</a:t>
            </a: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GPIO</a:t>
            </a: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口模拟</a:t>
            </a: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I</a:t>
            </a:r>
            <a:r>
              <a:rPr lang="en-US" altLang="zh-CN" sz="2800" b="1" baseline="30000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2</a:t>
            </a: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C</a:t>
            </a: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总线就能控制。</a:t>
            </a: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屏幕内部驱动芯片：</a:t>
            </a: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SH1106</a:t>
            </a: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。</a:t>
            </a: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板子接口引脚：</a:t>
            </a:r>
          </a:p>
          <a:p>
            <a:pPr>
              <a:buFont typeface="Wingdings" panose="05000000000000000000" charset="0"/>
            </a:pP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Vcc</a:t>
            </a: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：</a:t>
            </a: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2.2V~5.5V</a:t>
            </a:r>
          </a:p>
          <a:p>
            <a:pPr>
              <a:buFont typeface="Wingdings" panose="05000000000000000000" charset="0"/>
            </a:pP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GND</a:t>
            </a: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：电源地</a:t>
            </a:r>
          </a:p>
          <a:p>
            <a:pPr>
              <a:buFont typeface="Wingdings" panose="05000000000000000000" charset="0"/>
            </a:pP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SCL</a:t>
            </a: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：</a:t>
            </a: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CLK</a:t>
            </a: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时钟</a:t>
            </a:r>
          </a:p>
          <a:p>
            <a:pPr>
              <a:buFont typeface="Wingdings" panose="05000000000000000000" charset="0"/>
            </a:pP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SDA</a:t>
            </a: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：</a:t>
            </a:r>
            <a:r>
              <a:rPr lang="en-US" altLang="zh-CN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MOSI</a:t>
            </a:r>
            <a:r>
              <a:rPr lang="zh-CN" altLang="en-US" sz="2800" b="1" noProof="1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数据</a:t>
            </a:r>
            <a:endParaRPr lang="en-US" altLang="zh-CN" sz="2800" b="1" noProof="1"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79425" y="4476750"/>
            <a:ext cx="4215448" cy="2178050"/>
            <a:chOff x="754" y="7051"/>
            <a:chExt cx="6640" cy="3430"/>
          </a:xfrm>
        </p:grpSpPr>
        <p:pic>
          <p:nvPicPr>
            <p:cNvPr id="48133" name="图片 3" descr="RWXK1%B%ZW_EXP1_A(KX(U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" y="7051"/>
              <a:ext cx="5530" cy="343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34" name="文本框 4"/>
            <p:cNvSpPr txBox="1"/>
            <p:nvPr/>
          </p:nvSpPr>
          <p:spPr>
            <a:xfrm>
              <a:off x="6551" y="7447"/>
              <a:ext cx="843" cy="28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>
                  <a:latin typeface="楷体" panose="02010609060101010101" charset="-122"/>
                  <a:ea typeface="楷体" panose="02010609060101010101" charset="-122"/>
                </a:rPr>
                <a:t>接口示例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/>
          </p:cNvSpPr>
          <p:nvPr>
            <p:ph type="ctrTitle"/>
          </p:nvPr>
        </p:nvSpPr>
        <p:spPr>
          <a:xfrm>
            <a:off x="404813" y="2427923"/>
            <a:ext cx="8281987" cy="1655762"/>
          </a:xfrm>
        </p:spPr>
        <p:txBody>
          <a:bodyPr wrap="square" anchor="ctr"/>
          <a:lstStyle>
            <a:lvl1pPr lvl="0">
              <a:defRPr/>
            </a:lvl1pPr>
          </a:lstStyle>
          <a:p>
            <a:pPr lvl="0" indent="0" algn="ctr"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.</a:t>
            </a:r>
            <a:r>
              <a:rPr lang="en-US" altLang="zh-CN" dirty="0"/>
              <a:t>4</a:t>
            </a:r>
            <a:r>
              <a:rPr lang="zh-CN" altLang="en-US" dirty="0"/>
              <a:t> </a:t>
            </a:r>
            <a:r>
              <a:rPr lang="zh-CN" altLang="zh-CN" dirty="0"/>
              <a:t>程序设计思路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>
              <a:ea typeface="Times New Roman" panose="02020603050405020304" pitchFamily="2" charset="0"/>
            </a:endParaRPr>
          </a:p>
        </p:txBody>
      </p:sp>
      <p:sp>
        <p:nvSpPr>
          <p:cNvPr id="49154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26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标题 5121"/>
          <p:cNvSpPr>
            <a:spLocks noGrp="1"/>
          </p:cNvSpPr>
          <p:nvPr>
            <p:ph type="title"/>
          </p:nvPr>
        </p:nvSpPr>
        <p:spPr>
          <a:xfrm>
            <a:off x="506413" y="687388"/>
            <a:ext cx="6172200" cy="533400"/>
          </a:xfrm>
        </p:spPr>
        <p:txBody>
          <a:bodyPr anchor="ctr"/>
          <a:lstStyle/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3200" dirty="0">
                <a:ea typeface="宋体" panose="02010600030101010101" pitchFamily="2" charset="-122"/>
              </a:rPr>
              <a:t>1.4 程序设计</a:t>
            </a:r>
            <a:r>
              <a:rPr lang="en-US" altLang="zh-CN" sz="3200" dirty="0">
                <a:ea typeface="宋体" panose="02010600030101010101" pitchFamily="2" charset="-122"/>
                <a:sym typeface="仿宋_GB2312" pitchFamily="1" charset="-122"/>
              </a:rPr>
              <a:t>思路</a:t>
            </a: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504825" y="1552575"/>
            <a:ext cx="6180138" cy="3189288"/>
          </a:xfrm>
        </p:spPr>
        <p:txBody>
          <a:bodyPr anchor="t"/>
          <a:lstStyle/>
          <a:p>
            <a:pPr>
              <a:buFont typeface="Wingdings" panose="05000000000000000000" charset="0"/>
              <a:buChar char="l"/>
            </a:pPr>
            <a:r>
              <a:rPr lang="zh-CN" altLang="en-US" dirty="0">
                <a:ea typeface="楷体" panose="02010609060101010101" charset="-122"/>
              </a:rPr>
              <a:t>开机初始化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dirty="0">
                <a:ea typeface="楷体" panose="02010609060101010101" charset="-122"/>
              </a:rPr>
              <a:t>按键检测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dirty="0">
                <a:ea typeface="楷体" panose="02010609060101010101" charset="-122"/>
              </a:rPr>
              <a:t>数字增减及显示</a:t>
            </a:r>
          </a:p>
          <a:p>
            <a:pPr>
              <a:buFont typeface="Wingdings" panose="05000000000000000000" charset="0"/>
              <a:buChar char="l"/>
            </a:pPr>
            <a:r>
              <a:rPr lang="en-US" altLang="zh-CN" dirty="0">
                <a:ea typeface="楷体" panose="02010609060101010101" charset="-122"/>
              </a:rPr>
              <a:t>LED</a:t>
            </a:r>
            <a:r>
              <a:rPr lang="zh-CN" altLang="en-US" dirty="0">
                <a:ea typeface="楷体" panose="02010609060101010101" charset="-122"/>
              </a:rPr>
              <a:t>灯亮控制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dirty="0">
                <a:ea typeface="楷体" panose="02010609060101010101" charset="-122"/>
              </a:rPr>
              <a:t>开机动画</a:t>
            </a:r>
          </a:p>
          <a:p>
            <a:pPr>
              <a:buFont typeface="Wingdings" panose="05000000000000000000" charset="0"/>
              <a:buChar char="l"/>
            </a:pPr>
            <a:r>
              <a:rPr lang="zh-CN" altLang="en-US" dirty="0">
                <a:ea typeface="楷体" panose="02010609060101010101" charset="-122"/>
              </a:rPr>
              <a:t>扩展显示范围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596900" y="1300163"/>
            <a:ext cx="6180138" cy="539750"/>
          </a:xfrm>
        </p:spPr>
        <p:txBody>
          <a:bodyPr anchor="t"/>
          <a:lstStyle/>
          <a:p>
            <a:pPr>
              <a:buFont typeface="Wingdings" panose="05000000000000000000" charset="0"/>
              <a:buChar char="l"/>
            </a:pPr>
            <a:r>
              <a:rPr lang="zh-CN" altLang="en-US" dirty="0">
                <a:ea typeface="楷体" panose="02010609060101010101" charset="-122"/>
              </a:rPr>
              <a:t>开机初始化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562225" y="2071688"/>
            <a:ext cx="755650" cy="34925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开始</a:t>
            </a:r>
          </a:p>
        </p:txBody>
      </p:sp>
      <p:sp>
        <p:nvSpPr>
          <p:cNvPr id="16" name="矩形 15"/>
          <p:cNvSpPr/>
          <p:nvPr/>
        </p:nvSpPr>
        <p:spPr>
          <a:xfrm>
            <a:off x="1276350" y="2636838"/>
            <a:ext cx="3328988" cy="5413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l" fontAlgn="base">
              <a:buClrTx/>
              <a:buSzTx/>
              <a:buFontTx/>
            </a:pP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初始化</a:t>
            </a:r>
            <a:r>
              <a:rPr lang="en-US" altLang="zh-CN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LED</a:t>
            </a: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灯对应</a:t>
            </a:r>
            <a:r>
              <a:rPr lang="en-US" altLang="zh-CN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I/O</a:t>
            </a: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口设置</a:t>
            </a:r>
          </a:p>
        </p:txBody>
      </p:sp>
      <p:sp>
        <p:nvSpPr>
          <p:cNvPr id="18" name="矩形 17"/>
          <p:cNvSpPr/>
          <p:nvPr/>
        </p:nvSpPr>
        <p:spPr>
          <a:xfrm>
            <a:off x="1274763" y="4157663"/>
            <a:ext cx="3330575" cy="5413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l" fontAlgn="base">
              <a:buClrTx/>
              <a:buSzTx/>
              <a:buFontTx/>
            </a:pP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调用</a:t>
            </a:r>
            <a:r>
              <a:rPr lang="en-US" altLang="zh-CN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OLED</a:t>
            </a: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显示屏初始化函数</a:t>
            </a:r>
          </a:p>
        </p:txBody>
      </p:sp>
      <p:sp>
        <p:nvSpPr>
          <p:cNvPr id="2" name="矩形 1"/>
          <p:cNvSpPr/>
          <p:nvPr/>
        </p:nvSpPr>
        <p:spPr>
          <a:xfrm>
            <a:off x="1274763" y="3398838"/>
            <a:ext cx="3328988" cy="53975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l" fontAlgn="base">
              <a:buClrTx/>
              <a:buSzTx/>
              <a:buFontTx/>
            </a:pP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初始化按键对应</a:t>
            </a:r>
            <a:r>
              <a:rPr lang="en-US" altLang="zh-CN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I/O</a:t>
            </a: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口设置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2563813" y="4921250"/>
            <a:ext cx="755650" cy="3508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结束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941638" y="2420938"/>
            <a:ext cx="0" cy="21748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3" name="直接箭头连接符 22"/>
          <p:cNvCxnSpPr/>
          <p:nvPr/>
        </p:nvCxnSpPr>
        <p:spPr>
          <a:xfrm>
            <a:off x="2940050" y="3178175"/>
            <a:ext cx="0" cy="2159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4" name="直接箭头连接符 23"/>
          <p:cNvCxnSpPr/>
          <p:nvPr/>
        </p:nvCxnSpPr>
        <p:spPr>
          <a:xfrm>
            <a:off x="2940050" y="3938588"/>
            <a:ext cx="1588" cy="21748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5" name="直接箭头连接符 24"/>
          <p:cNvCxnSpPr/>
          <p:nvPr/>
        </p:nvCxnSpPr>
        <p:spPr>
          <a:xfrm>
            <a:off x="2938463" y="4705350"/>
            <a:ext cx="1587" cy="2159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6" name="文本框 25"/>
          <p:cNvSpPr txBox="1"/>
          <p:nvPr/>
        </p:nvSpPr>
        <p:spPr>
          <a:xfrm>
            <a:off x="4797425" y="1438275"/>
            <a:ext cx="2936875" cy="1476375"/>
          </a:xfrm>
          <a:prstGeom prst="rect">
            <a:avLst/>
          </a:prstGeom>
          <a:noFill/>
          <a:ln w="19050" cap="flat" cmpd="sng">
            <a:solidFill>
              <a:srgbClr val="664D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Lauchpad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板卡上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LED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灯对应的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I/O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口分别为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P1.0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以及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P4.7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，因此需要配置相应的寄存器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P1DIR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和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P4DIR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对应位为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输出模式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95838" y="3040063"/>
            <a:ext cx="2936875" cy="1476375"/>
          </a:xfrm>
          <a:prstGeom prst="rect">
            <a:avLst/>
          </a:prstGeom>
          <a:noFill/>
          <a:ln w="19050" cap="flat" cmpd="sng">
            <a:solidFill>
              <a:srgbClr val="664D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Lauchpad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板卡上按键对应的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I/O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口分别为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P1.1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以及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P2.1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，因此需要配置相应的寄存器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P1DIR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和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P2DIR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对应位为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“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输入模式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”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94250" y="4638675"/>
            <a:ext cx="2936875" cy="1476375"/>
          </a:xfrm>
          <a:prstGeom prst="rect">
            <a:avLst/>
          </a:prstGeom>
          <a:noFill/>
          <a:ln w="19050" cap="flat" cmpd="sng">
            <a:solidFill>
              <a:srgbClr val="664D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将提供的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oled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接口文件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IIC.c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，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IIC.h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和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font.h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加入项目工程，在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main.c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中包含对应的头文件并在主函数中调用函数LCD_Init()。</a:t>
            </a:r>
          </a:p>
        </p:txBody>
      </p:sp>
      <p:cxnSp>
        <p:nvCxnSpPr>
          <p:cNvPr id="7" name="肘形连接符 6"/>
          <p:cNvCxnSpPr/>
          <p:nvPr/>
        </p:nvCxnSpPr>
        <p:spPr>
          <a:xfrm flipV="1">
            <a:off x="4606925" y="2420938"/>
            <a:ext cx="188913" cy="493712"/>
          </a:xfrm>
          <a:prstGeom prst="bentConnector3">
            <a:avLst>
              <a:gd name="adj1" fmla="val 50000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肘形连接符 7"/>
          <p:cNvCxnSpPr/>
          <p:nvPr/>
        </p:nvCxnSpPr>
        <p:spPr>
          <a:xfrm flipV="1">
            <a:off x="4606925" y="3602038"/>
            <a:ext cx="190500" cy="133350"/>
          </a:xfrm>
          <a:prstGeom prst="bentConnector3">
            <a:avLst>
              <a:gd name="adj1" fmla="val 50000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" name="肘形连接符 8"/>
          <p:cNvCxnSpPr/>
          <p:nvPr/>
        </p:nvCxnSpPr>
        <p:spPr>
          <a:xfrm>
            <a:off x="4603750" y="4475163"/>
            <a:ext cx="190500" cy="223837"/>
          </a:xfrm>
          <a:prstGeom prst="bentConnector3">
            <a:avLst>
              <a:gd name="adj1" fmla="val 50000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51217" name="标题 5121"/>
          <p:cNvSpPr>
            <a:spLocks noGrp="1"/>
          </p:cNvSpPr>
          <p:nvPr>
            <p:ph type="title"/>
          </p:nvPr>
        </p:nvSpPr>
        <p:spPr>
          <a:xfrm>
            <a:off x="506413" y="687388"/>
            <a:ext cx="6172200" cy="533400"/>
          </a:xfrm>
        </p:spPr>
        <p:txBody>
          <a:bodyPr anchor="ctr"/>
          <a:lstStyle/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3200" dirty="0">
                <a:ea typeface="宋体" panose="02010600030101010101" pitchFamily="2" charset="-122"/>
                <a:sym typeface="仿宋_GB2312" pitchFamily="1" charset="-122"/>
              </a:rPr>
              <a:t>1.4 程序设计思路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15" grpId="0" bldLvl="0" animBg="1"/>
      <p:bldP spid="16" grpId="0" bldLvl="0" animBg="1"/>
      <p:bldP spid="18" grpId="0" bldLvl="0" animBg="1"/>
      <p:bldP spid="2" grpId="0" bldLvl="0" animBg="1"/>
      <p:bldP spid="21" grpId="0" bldLvl="0" animBg="1"/>
      <p:bldP spid="26" grpId="0" bldLvl="0" animBg="1"/>
      <p:bldP spid="4" grpId="0" bldLvl="0" animBg="1"/>
      <p:bldP spid="5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5121"/>
          <p:cNvSpPr>
            <a:spLocks noGrp="1"/>
          </p:cNvSpPr>
          <p:nvPr>
            <p:ph type="title"/>
          </p:nvPr>
        </p:nvSpPr>
        <p:spPr>
          <a:xfrm>
            <a:off x="512763" y="638175"/>
            <a:ext cx="6172200" cy="533400"/>
          </a:xfrm>
        </p:spPr>
        <p:txBody>
          <a:bodyPr anchor="t"/>
          <a:lstStyle/>
          <a:p>
            <a:r>
              <a:rPr lang="en-US" altLang="zh-CN" sz="3200" dirty="0">
                <a:ea typeface="宋体" panose="02010600030101010101" pitchFamily="2" charset="-122"/>
                <a:sym typeface="仿宋_GB2312" pitchFamily="1" charset="-122"/>
              </a:rPr>
              <a:t>1.4 程序设计思路</a:t>
            </a:r>
            <a:endParaRPr lang="en-US" altLang="zh-CN" sz="3200" dirty="0">
              <a:solidFill>
                <a:srgbClr val="FF3300"/>
              </a:solidFill>
              <a:ea typeface="宋体" panose="02010600030101010101" pitchFamily="2" charset="-122"/>
              <a:sym typeface="仿宋_GB2312" pitchFamily="1" charset="-122"/>
            </a:endParaRP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712788" y="1427163"/>
            <a:ext cx="6180137" cy="539750"/>
          </a:xfrm>
        </p:spPr>
        <p:txBody>
          <a:bodyPr anchor="t"/>
          <a:lstStyle/>
          <a:p>
            <a:pPr>
              <a:buFont typeface="Wingdings" panose="05000000000000000000" charset="0"/>
              <a:buChar char="l"/>
            </a:pPr>
            <a:r>
              <a:rPr lang="zh-CN" altLang="en-US" dirty="0">
                <a:ea typeface="楷体" panose="02010609060101010101" charset="-122"/>
              </a:rPr>
              <a:t>按键检测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562225" y="2262188"/>
            <a:ext cx="755650" cy="3079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</a:rPr>
              <a:t>开始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2562225" y="5213350"/>
            <a:ext cx="755650" cy="34925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350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结束</a:t>
            </a:r>
          </a:p>
        </p:txBody>
      </p:sp>
      <p:sp>
        <p:nvSpPr>
          <p:cNvPr id="16" name="矩形 15"/>
          <p:cNvSpPr/>
          <p:nvPr/>
        </p:nvSpPr>
        <p:spPr>
          <a:xfrm>
            <a:off x="1274763" y="2786063"/>
            <a:ext cx="3328988" cy="6619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在主函数循环中读取</a:t>
            </a:r>
            <a:r>
              <a:rPr lang="en-US" altLang="zh-CN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I/O</a:t>
            </a: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口输入寄存器的值判断</a:t>
            </a:r>
            <a:r>
              <a:rPr lang="en-US" altLang="zh-CN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I/O</a:t>
            </a: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口电平状态（未按下时为高电平）</a:t>
            </a:r>
            <a:endParaRPr lang="en-US" altLang="zh-CN" sz="1500" b="1" strike="noStrike" noProof="1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74763" y="3665538"/>
            <a:ext cx="3328988" cy="13303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按键按下后（即检测到低电平后）进行按键防抖处理，之后再次进行检测直到按键松开为止（重新检测到高电平），这整个过程计作按键一次，根据读取到高电平的</a:t>
            </a:r>
            <a:r>
              <a:rPr lang="en-US" altLang="zh-CN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I/O</a:t>
            </a: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口号确定按下的是哪个按键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936875" y="2570163"/>
            <a:ext cx="0" cy="2159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" name="直接箭头连接符 3"/>
          <p:cNvCxnSpPr/>
          <p:nvPr/>
        </p:nvCxnSpPr>
        <p:spPr>
          <a:xfrm>
            <a:off x="2940050" y="3448050"/>
            <a:ext cx="0" cy="2159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5" name="直接箭头连接符 4"/>
          <p:cNvCxnSpPr/>
          <p:nvPr/>
        </p:nvCxnSpPr>
        <p:spPr>
          <a:xfrm>
            <a:off x="2940050" y="4995863"/>
            <a:ext cx="1588" cy="21748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3" name="肘形连接符 12"/>
          <p:cNvCxnSpPr/>
          <p:nvPr/>
        </p:nvCxnSpPr>
        <p:spPr>
          <a:xfrm>
            <a:off x="4637088" y="4164013"/>
            <a:ext cx="433387" cy="333375"/>
          </a:xfrm>
          <a:prstGeom prst="bentConnector3">
            <a:avLst>
              <a:gd name="adj1" fmla="val 50111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</p:cxnSp>
      <p:cxnSp>
        <p:nvCxnSpPr>
          <p:cNvPr id="17" name="肘形连接符 16"/>
          <p:cNvCxnSpPr>
            <a:stCxn id="16" idx="3"/>
          </p:cNvCxnSpPr>
          <p:nvPr/>
        </p:nvCxnSpPr>
        <p:spPr>
          <a:xfrm flipV="1">
            <a:off x="4603750" y="2019300"/>
            <a:ext cx="388938" cy="1098550"/>
          </a:xfrm>
          <a:prstGeom prst="bentConnector3">
            <a:avLst>
              <a:gd name="adj1" fmla="val 50083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</p:cxnSp>
      <p:sp>
        <p:nvSpPr>
          <p:cNvPr id="2" name="文本框 1"/>
          <p:cNvSpPr txBox="1"/>
          <p:nvPr/>
        </p:nvSpPr>
        <p:spPr>
          <a:xfrm>
            <a:off x="4992688" y="1663700"/>
            <a:ext cx="3598862" cy="1200150"/>
          </a:xfrm>
          <a:prstGeom prst="rect">
            <a:avLst/>
          </a:prstGeom>
          <a:noFill/>
          <a:ln w="19050" cap="flat" cmpd="sng">
            <a:solidFill>
              <a:srgbClr val="664D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Lauchpad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板卡上按键对应的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I/O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口分别为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P1.1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以及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P2.1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，因此只需要读取寄存器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P1IN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及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P2IN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相应的位置就可以实现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I/O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口电平的读取。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051425" y="3070225"/>
            <a:ext cx="3479800" cy="3138488"/>
          </a:xfrm>
          <a:prstGeom prst="rect">
            <a:avLst/>
          </a:prstGeom>
          <a:noFill/>
          <a:ln w="19050" cap="flat" cmpd="sng">
            <a:solidFill>
              <a:srgbClr val="664D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仿宋_GB2312" pitchFamily="1" charset="-122"/>
              </a:rPr>
              <a:t>按键防抖</a:t>
            </a:r>
            <a:r>
              <a:rPr lang="zh-CN" altLang="en-US" b="1">
                <a:latin typeface="Arial" panose="020B0604020202020204" pitchFamily="34" charset="0"/>
                <a:ea typeface="宋体" panose="02010600030101010101" pitchFamily="2" charset="-122"/>
                <a:sym typeface="仿宋_GB2312" pitchFamily="1" charset="-122"/>
              </a:rPr>
              <a:t>：在读取到电平变化后，不立刻进行接下来的操作，而是先延时一个较短的时间（例如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20ms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）后再次读取电平，若此时电平与之前一致，则认为此次电平变化有效。</a:t>
            </a:r>
          </a:p>
          <a:p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松开判定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：按键按下时，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I/O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口电平会转化为低电平，在读取到按下状态后继续不断读取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I/O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口的值直到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I/O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口电平恢复为高电</a:t>
            </a:r>
            <a:r>
              <a:rPr lang="zh-CN" altLang="en-US" b="1">
                <a:latin typeface="Arial" panose="020B0604020202020204" pitchFamily="34" charset="0"/>
                <a:ea typeface="宋体" panose="02010600030101010101" pitchFamily="2" charset="-122"/>
                <a:sym typeface="仿宋_GB2312" pitchFamily="1" charset="-122"/>
              </a:rPr>
              <a:t>平为止，计作一次完整的按键。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15" grpId="0" bldLvl="0" animBg="1"/>
      <p:bldP spid="21" grpId="0" bldLvl="0" animBg="1"/>
      <p:bldP spid="16" grpId="0" bldLvl="0" animBg="1"/>
      <p:bldP spid="3" grpId="0" bldLvl="0" animBg="1"/>
      <p:bldP spid="2" grpId="0" bldLvl="0" animBg="1"/>
      <p:bldP spid="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标题 5121"/>
          <p:cNvSpPr>
            <a:spLocks noGrp="1"/>
          </p:cNvSpPr>
          <p:nvPr>
            <p:ph type="title"/>
          </p:nvPr>
        </p:nvSpPr>
        <p:spPr>
          <a:xfrm>
            <a:off x="530225" y="650875"/>
            <a:ext cx="6172200" cy="533400"/>
          </a:xfrm>
        </p:spPr>
        <p:txBody>
          <a:bodyPr anchor="t"/>
          <a:lstStyle/>
          <a:p>
            <a:r>
              <a:rPr lang="en-US" altLang="zh-CN" sz="3200" dirty="0">
                <a:ea typeface="宋体" panose="02010600030101010101" pitchFamily="2" charset="-122"/>
                <a:sym typeface="仿宋_GB2312" pitchFamily="1" charset="-122"/>
              </a:rPr>
              <a:t>1.4 程序设计思路</a:t>
            </a:r>
            <a:endParaRPr lang="en-US" altLang="zh-CN" sz="3200" dirty="0">
              <a:solidFill>
                <a:srgbClr val="FF3300"/>
              </a:solidFill>
              <a:ea typeface="宋体" panose="02010600030101010101" pitchFamily="2" charset="-122"/>
              <a:sym typeface="仿宋_GB2312" pitchFamily="1" charset="-122"/>
            </a:endParaRP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598488" y="1433513"/>
            <a:ext cx="6180137" cy="539750"/>
          </a:xfrm>
        </p:spPr>
        <p:txBody>
          <a:bodyPr anchor="t"/>
          <a:lstStyle/>
          <a:p>
            <a:pPr>
              <a:buFont typeface="Wingdings" panose="05000000000000000000" charset="0"/>
              <a:buChar char="l"/>
            </a:pPr>
            <a:r>
              <a:rPr lang="zh-CN" altLang="en-US" dirty="0">
                <a:ea typeface="楷体" panose="02010609060101010101" charset="-122"/>
              </a:rPr>
              <a:t>数字增减显示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562225" y="2298700"/>
            <a:ext cx="755650" cy="3508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开始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2506663" y="4357688"/>
            <a:ext cx="757238" cy="34925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结束</a:t>
            </a:r>
          </a:p>
        </p:txBody>
      </p:sp>
      <p:sp>
        <p:nvSpPr>
          <p:cNvPr id="16" name="矩形 15"/>
          <p:cNvSpPr/>
          <p:nvPr/>
        </p:nvSpPr>
        <p:spPr>
          <a:xfrm>
            <a:off x="1274763" y="2865438"/>
            <a:ext cx="3330575" cy="53975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初始化显示数字为</a:t>
            </a:r>
            <a:r>
              <a:rPr lang="en-US" altLang="zh-CN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940050" y="2649538"/>
            <a:ext cx="0" cy="2159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5" name="直接箭头连接符 4"/>
          <p:cNvCxnSpPr/>
          <p:nvPr/>
        </p:nvCxnSpPr>
        <p:spPr>
          <a:xfrm>
            <a:off x="2884488" y="4140200"/>
            <a:ext cx="1587" cy="217488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" name="肘形连接符 8"/>
          <p:cNvCxnSpPr/>
          <p:nvPr/>
        </p:nvCxnSpPr>
        <p:spPr>
          <a:xfrm flipV="1">
            <a:off x="4603750" y="2889250"/>
            <a:ext cx="400050" cy="344488"/>
          </a:xfrm>
          <a:prstGeom prst="bentConnector3">
            <a:avLst>
              <a:gd name="adj1" fmla="val 50060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4" name="矩形 13"/>
          <p:cNvSpPr/>
          <p:nvPr/>
        </p:nvSpPr>
        <p:spPr>
          <a:xfrm>
            <a:off x="1276350" y="3636963"/>
            <a:ext cx="3328988" cy="5413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进行按键检测，根据按下按键进行数字显示的加减</a:t>
            </a: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2886075" y="3405188"/>
            <a:ext cx="0" cy="21748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3" name="肘形连接符 22"/>
          <p:cNvCxnSpPr/>
          <p:nvPr/>
        </p:nvCxnSpPr>
        <p:spPr>
          <a:xfrm>
            <a:off x="4605338" y="3875088"/>
            <a:ext cx="398462" cy="274637"/>
          </a:xfrm>
          <a:prstGeom prst="bentConnector3">
            <a:avLst>
              <a:gd name="adj1" fmla="val 50157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pSp>
        <p:nvGrpSpPr>
          <p:cNvPr id="2" name="组合 1"/>
          <p:cNvGrpSpPr/>
          <p:nvPr/>
        </p:nvGrpSpPr>
        <p:grpSpPr>
          <a:xfrm>
            <a:off x="4903788" y="2157413"/>
            <a:ext cx="3884612" cy="1481137"/>
            <a:chOff x="4832" y="2985"/>
            <a:chExt cx="5923" cy="2331"/>
          </a:xfrm>
        </p:grpSpPr>
        <p:pic>
          <p:nvPicPr>
            <p:cNvPr id="53261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2" y="4791"/>
              <a:ext cx="5923" cy="52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62" name="文本框 5"/>
            <p:cNvSpPr txBox="1"/>
            <p:nvPr/>
          </p:nvSpPr>
          <p:spPr>
            <a:xfrm>
              <a:off x="4985" y="2985"/>
              <a:ext cx="5769" cy="2325"/>
            </a:xfrm>
            <a:prstGeom prst="rect">
              <a:avLst/>
            </a:prstGeom>
            <a:noFill/>
            <a:ln w="19050" cap="flat" cmpd="sng">
              <a:solidFill>
                <a:srgbClr val="664D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b="1">
                  <a:latin typeface="Times New Roman" panose="02020603050405020304" pitchFamily="2" charset="0"/>
                  <a:ea typeface="宋体" panose="02010600030101010101" pitchFamily="2" charset="-122"/>
                </a:rPr>
                <a:t>在初始化过程后，调用LCD_ShowNu</a:t>
              </a:r>
              <a:r>
                <a:rPr lang="en-US" altLang="zh-CN" b="1">
                  <a:latin typeface="Times New Roman" panose="02020603050405020304" pitchFamily="2" charset="0"/>
                  <a:ea typeface="宋体" panose="02010600030101010101" pitchFamily="2" charset="-122"/>
                </a:rPr>
                <a:t>m</a:t>
              </a:r>
              <a:r>
                <a:rPr lang="zh-CN" altLang="en-US" b="1">
                  <a:latin typeface="Times New Roman" panose="02020603050405020304" pitchFamily="2" charset="0"/>
                  <a:ea typeface="宋体" panose="02010600030101010101" pitchFamily="2" charset="-122"/>
                </a:rPr>
                <a:t>函数，初始显示数字为</a:t>
              </a:r>
              <a:r>
                <a:rPr lang="en-US" altLang="zh-CN" b="1">
                  <a:latin typeface="Times New Roman" panose="02020603050405020304" pitchFamily="2" charset="0"/>
                  <a:ea typeface="宋体" panose="02010600030101010101" pitchFamily="2" charset="-122"/>
                </a:rPr>
                <a:t>1</a:t>
              </a:r>
              <a:r>
                <a:rPr lang="zh-CN" altLang="en-US" b="1">
                  <a:latin typeface="Times New Roman" panose="02020603050405020304" pitchFamily="2" charset="0"/>
                  <a:ea typeface="宋体" panose="02010600030101010101" pitchFamily="2" charset="-122"/>
                </a:rPr>
                <a:t>。</a:t>
              </a:r>
            </a:p>
            <a:p>
              <a:r>
                <a:rPr lang="zh-CN" altLang="en-US" b="1">
                  <a:latin typeface="Times New Roman" panose="02020603050405020304" pitchFamily="2" charset="0"/>
                  <a:ea typeface="宋体" panose="02010600030101010101" pitchFamily="2" charset="-122"/>
                </a:rPr>
                <a:t>函数调用示例：</a:t>
              </a:r>
              <a:endParaRPr lang="zh-CN" altLang="en-US" b="1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zh-CN" altLang="en-US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045075" y="3794125"/>
            <a:ext cx="3743325" cy="1476375"/>
          </a:xfrm>
          <a:prstGeom prst="rect">
            <a:avLst/>
          </a:prstGeom>
          <a:noFill/>
          <a:ln w="19050" cap="flat" cmpd="sng">
            <a:solidFill>
              <a:srgbClr val="664D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设置一个变量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num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作为待显示的数字，当按键按下变量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num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也产生相应的变化，此时再次调用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LCD_ShowNu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m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函数，更改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OLED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显示屏上的显示数值。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15" grpId="0" bldLvl="0" animBg="1"/>
      <p:bldP spid="21" grpId="0" bldLvl="0" animBg="1"/>
      <p:bldP spid="16" grpId="0" bldLvl="0" animBg="1"/>
      <p:bldP spid="14" grpId="0" bldLvl="0" animBg="1"/>
      <p:bldP spid="8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标题 5121"/>
          <p:cNvSpPr>
            <a:spLocks noGrp="1"/>
          </p:cNvSpPr>
          <p:nvPr>
            <p:ph type="title"/>
          </p:nvPr>
        </p:nvSpPr>
        <p:spPr>
          <a:xfrm>
            <a:off x="446088" y="673100"/>
            <a:ext cx="6172200" cy="533400"/>
          </a:xfrm>
        </p:spPr>
        <p:txBody>
          <a:bodyPr anchor="t"/>
          <a:lstStyle/>
          <a:p>
            <a:r>
              <a:rPr lang="en-US" altLang="zh-CN" sz="3200" dirty="0">
                <a:ea typeface="宋体" panose="02010600030101010101" pitchFamily="2" charset="-122"/>
                <a:sym typeface="仿宋_GB2312" pitchFamily="1" charset="-122"/>
              </a:rPr>
              <a:t>1.4 程序设计思路</a:t>
            </a:r>
            <a:endParaRPr lang="en-US" altLang="zh-CN" sz="3200" dirty="0">
              <a:solidFill>
                <a:srgbClr val="FF3300"/>
              </a:solidFill>
              <a:ea typeface="宋体" panose="02010600030101010101" pitchFamily="2" charset="-122"/>
              <a:sym typeface="仿宋_GB2312" pitchFamily="1" charset="-122"/>
            </a:endParaRP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665163" y="1420813"/>
            <a:ext cx="6180137" cy="538162"/>
          </a:xfrm>
        </p:spPr>
        <p:txBody>
          <a:bodyPr anchor="t"/>
          <a:lstStyle/>
          <a:p>
            <a:pPr>
              <a:buFont typeface="Wingdings" panose="05000000000000000000" charset="0"/>
              <a:buChar char="l"/>
            </a:pPr>
            <a:r>
              <a:rPr lang="en-US" altLang="zh-CN" sz="2400" dirty="0">
                <a:ea typeface="楷体" panose="02010609060101010101" charset="-122"/>
              </a:rPr>
              <a:t>LED</a:t>
            </a:r>
            <a:r>
              <a:rPr lang="zh-CN" altLang="en-US" sz="2400" dirty="0">
                <a:ea typeface="楷体" panose="02010609060101010101" charset="-122"/>
              </a:rPr>
              <a:t>灯亮控制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562225" y="2298700"/>
            <a:ext cx="755650" cy="3508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开始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2560638" y="4357688"/>
            <a:ext cx="755650" cy="34925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</a:rPr>
              <a:t>结束</a:t>
            </a:r>
          </a:p>
        </p:txBody>
      </p:sp>
      <p:sp>
        <p:nvSpPr>
          <p:cNvPr id="16" name="矩形 15"/>
          <p:cNvSpPr/>
          <p:nvPr/>
        </p:nvSpPr>
        <p:spPr>
          <a:xfrm>
            <a:off x="1274763" y="2865438"/>
            <a:ext cx="3330575" cy="53975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初始化</a:t>
            </a:r>
            <a:r>
              <a:rPr lang="en-US" altLang="zh-CN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LED1</a:t>
            </a: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、</a:t>
            </a:r>
            <a:r>
              <a:rPr lang="en-US" altLang="zh-CN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LED2</a:t>
            </a: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为熄灭状态</a:t>
            </a:r>
          </a:p>
        </p:txBody>
      </p:sp>
      <p:sp>
        <p:nvSpPr>
          <p:cNvPr id="2" name="矩形 1"/>
          <p:cNvSpPr/>
          <p:nvPr/>
        </p:nvSpPr>
        <p:spPr>
          <a:xfrm>
            <a:off x="1274763" y="3600450"/>
            <a:ext cx="3330575" cy="53975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根据待显示数字的奇偶性点亮相应的</a:t>
            </a:r>
            <a:r>
              <a:rPr lang="en-US" altLang="zh-CN" sz="1500" b="1" strike="noStrike" noProof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LED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940050" y="2649538"/>
            <a:ext cx="0" cy="2159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" name="直接箭头连接符 2"/>
          <p:cNvCxnSpPr/>
          <p:nvPr/>
        </p:nvCxnSpPr>
        <p:spPr>
          <a:xfrm>
            <a:off x="2941638" y="3382963"/>
            <a:ext cx="0" cy="21748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5" name="直接箭头连接符 4"/>
          <p:cNvCxnSpPr/>
          <p:nvPr/>
        </p:nvCxnSpPr>
        <p:spPr>
          <a:xfrm>
            <a:off x="2938463" y="4140200"/>
            <a:ext cx="1587" cy="217488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6" name="文本框 5"/>
          <p:cNvSpPr txBox="1"/>
          <p:nvPr/>
        </p:nvSpPr>
        <p:spPr>
          <a:xfrm>
            <a:off x="5057775" y="2206625"/>
            <a:ext cx="2924175" cy="1198563"/>
          </a:xfrm>
          <a:prstGeom prst="rect">
            <a:avLst/>
          </a:prstGeom>
          <a:noFill/>
          <a:ln w="19050" cap="flat" cmpd="sng">
            <a:solidFill>
              <a:srgbClr val="664D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I/O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口初始化完成后，通过配置寄存器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P1OUT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以及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P2OUT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的值来对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LED1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、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LED2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的初始值进行配置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57775" y="3600450"/>
            <a:ext cx="2924175" cy="1476375"/>
          </a:xfrm>
          <a:prstGeom prst="rect">
            <a:avLst/>
          </a:prstGeom>
          <a:noFill/>
          <a:ln w="19050" cap="flat" cmpd="sng">
            <a:solidFill>
              <a:srgbClr val="664D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在循环中读取当前显示数字的变量值，将相应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LED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灯的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PxOUT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寄存器的值进行改变即可（点亮一个、熄灭另一个）</a:t>
            </a:r>
          </a:p>
        </p:txBody>
      </p:sp>
      <p:cxnSp>
        <p:nvCxnSpPr>
          <p:cNvPr id="7" name="肘形连接符 6"/>
          <p:cNvCxnSpPr/>
          <p:nvPr/>
        </p:nvCxnSpPr>
        <p:spPr>
          <a:xfrm>
            <a:off x="4605338" y="3151188"/>
            <a:ext cx="452437" cy="7937"/>
          </a:xfrm>
          <a:prstGeom prst="bentConnector3">
            <a:avLst>
              <a:gd name="adj1" fmla="val 50051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肘形连接符 7"/>
          <p:cNvCxnSpPr>
            <a:stCxn id="2" idx="3"/>
            <a:endCxn id="4" idx="1"/>
          </p:cNvCxnSpPr>
          <p:nvPr/>
        </p:nvCxnSpPr>
        <p:spPr>
          <a:xfrm>
            <a:off x="4605338" y="3870325"/>
            <a:ext cx="452437" cy="468313"/>
          </a:xfrm>
          <a:prstGeom prst="bentConnector3">
            <a:avLst>
              <a:gd name="adj1" fmla="val 50069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15" grpId="0" bldLvl="0" animBg="1"/>
      <p:bldP spid="21" grpId="0" bldLvl="0" animBg="1"/>
      <p:bldP spid="16" grpId="0" bldLvl="0" animBg="1"/>
      <p:bldP spid="2" grpId="0" bldLvl="0" animBg="1"/>
      <p:bldP spid="6" grpId="0" bldLvl="0" animBg="1"/>
      <p:bldP spid="4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标题 5121"/>
          <p:cNvSpPr>
            <a:spLocks noGrp="1"/>
          </p:cNvSpPr>
          <p:nvPr>
            <p:ph type="title"/>
          </p:nvPr>
        </p:nvSpPr>
        <p:spPr>
          <a:xfrm>
            <a:off x="501650" y="690563"/>
            <a:ext cx="6172200" cy="533400"/>
          </a:xfrm>
        </p:spPr>
        <p:txBody>
          <a:bodyPr anchor="t"/>
          <a:lstStyle/>
          <a:p>
            <a:r>
              <a:rPr lang="en-US" altLang="zh-CN" sz="3200" dirty="0">
                <a:ea typeface="宋体" panose="02010600030101010101" pitchFamily="2" charset="-122"/>
                <a:sym typeface="仿宋_GB2312" pitchFamily="1" charset="-122"/>
              </a:rPr>
              <a:t>1.4 程序设计思路</a:t>
            </a:r>
            <a:endParaRPr lang="en-US" altLang="zh-CN" sz="3200" dirty="0">
              <a:solidFill>
                <a:srgbClr val="FF3300"/>
              </a:solidFill>
              <a:ea typeface="宋体" panose="02010600030101010101" pitchFamily="2" charset="-122"/>
              <a:sym typeface="仿宋_GB2312" pitchFamily="1" charset="-122"/>
            </a:endParaRP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585788" y="1435100"/>
            <a:ext cx="6180137" cy="1196975"/>
          </a:xfrm>
        </p:spPr>
        <p:txBody>
          <a:bodyPr anchor="t"/>
          <a:lstStyle/>
          <a:p>
            <a:pPr>
              <a:buFont typeface="Wingdings" panose="05000000000000000000" charset="0"/>
              <a:buChar char="l"/>
            </a:pPr>
            <a:r>
              <a:rPr lang="zh-CN" altLang="en-US" dirty="0">
                <a:ea typeface="楷体" panose="02010609060101010101" charset="-122"/>
              </a:rPr>
              <a:t>开机动画</a:t>
            </a:r>
          </a:p>
          <a:p>
            <a:pPr>
              <a:buFont typeface="Wingdings" panose="05000000000000000000" charset="0"/>
              <a:buChar char="l"/>
            </a:pPr>
            <a:endParaRPr lang="zh-CN" altLang="en-US" dirty="0">
              <a:ea typeface="楷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0250" y="1933575"/>
            <a:ext cx="7221538" cy="1938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开机动画制作方法：</a:t>
            </a:r>
            <a:endParaRPr lang="zh-CN" altLang="en-US" sz="2000" b="1" noProof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285750" indent="-285750">
              <a:buFont typeface="Wingdings" panose="05000000000000000000" charset="0"/>
              <a:buChar char=""/>
            </a:pPr>
            <a:r>
              <a:rPr lang="zh-CN" altLang="en-US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自行下载图片取模工具（可以将黑白图片转换成</a:t>
            </a:r>
            <a:r>
              <a:rPr lang="en-US" altLang="zh-CN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0-1</a:t>
            </a:r>
            <a:r>
              <a:rPr lang="zh-CN" altLang="en-US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数字集）</a:t>
            </a:r>
            <a:endParaRPr lang="zh-CN" altLang="en-US" sz="2000" b="1" noProof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285750" indent="-285750">
              <a:buFont typeface="Wingdings" panose="05000000000000000000" charset="0"/>
              <a:buChar char=""/>
            </a:pPr>
            <a:r>
              <a:rPr lang="zh-CN" altLang="en-US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将</a:t>
            </a:r>
            <a:r>
              <a:rPr lang="en-US" altLang="zh-CN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“</a:t>
            </a:r>
            <a:r>
              <a:rPr lang="zh-CN" altLang="en-US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电子科技大学</a:t>
            </a:r>
            <a:r>
              <a:rPr lang="en-US" altLang="zh-CN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”</a:t>
            </a:r>
            <a:r>
              <a:rPr lang="zh-CN" altLang="en-US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校徽转换成灰度图片后自行设置阈值将其转换为黑白图片。</a:t>
            </a:r>
            <a:endParaRPr lang="zh-CN" altLang="en-US" sz="2000" b="1" noProof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285750" indent="-285750">
              <a:buFont typeface="Wingdings" panose="05000000000000000000" charset="0"/>
              <a:buChar char=""/>
            </a:pPr>
            <a:r>
              <a:rPr lang="zh-CN" altLang="en-US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将转换后的黑白图片输入第一步中下载的取模工具中。</a:t>
            </a:r>
            <a:endParaRPr lang="zh-CN" altLang="en-US" sz="2000" b="1" noProof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285750" indent="-285750">
              <a:buFont typeface="Wingdings" panose="05000000000000000000" charset="0"/>
              <a:buChar char=""/>
            </a:pPr>
            <a:r>
              <a:rPr lang="zh-CN" altLang="en-US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将取模工具生成的</a:t>
            </a:r>
            <a:r>
              <a:rPr lang="en-US" altLang="zh-CN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0-1</a:t>
            </a:r>
            <a:r>
              <a:rPr lang="zh-CN" altLang="en-US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矩阵点集通过画点函数显示在</a:t>
            </a:r>
            <a:r>
              <a:rPr lang="en-US" altLang="zh-CN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OLED</a:t>
            </a:r>
            <a:r>
              <a:rPr lang="zh-CN" altLang="en-US" sz="2000" b="1" noProof="1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上</a:t>
            </a:r>
            <a:endParaRPr lang="zh-CN" altLang="en-US" sz="2000" b="1" noProof="1">
              <a:latin typeface="Times New Roman" panose="02020603050405020304" pitchFamily="2" charset="0"/>
              <a:cs typeface="Times New Roman" panose="02020603050405020304" pitchFamily="2" charset="0"/>
            </a:endParaRPr>
          </a:p>
        </p:txBody>
      </p:sp>
      <p:sp>
        <p:nvSpPr>
          <p:cNvPr id="3" name="内容占位符 5122"/>
          <p:cNvSpPr>
            <a:spLocks noGrp="1"/>
          </p:cNvSpPr>
          <p:nvPr/>
        </p:nvSpPr>
        <p:spPr>
          <a:xfrm>
            <a:off x="585788" y="3871913"/>
            <a:ext cx="6180137" cy="5381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2" charset="0"/>
                <a:ea typeface="楷体" panose="02010609060101010101" charset="-122"/>
              </a:rPr>
              <a:t>扩展显示范围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30250" y="4438650"/>
            <a:ext cx="7283450" cy="13223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000" b="1">
                <a:latin typeface="Times New Roman" panose="02020603050405020304" pitchFamily="2" charset="0"/>
                <a:ea typeface="宋体" panose="02010600030101010101" pitchFamily="2" charset="-122"/>
              </a:rPr>
              <a:t>值得注意的是，课程提供的</a:t>
            </a:r>
            <a:r>
              <a:rPr lang="en-US" altLang="zh-CN" sz="2000" b="1">
                <a:latin typeface="Times New Roman" panose="02020603050405020304" pitchFamily="2" charset="0"/>
                <a:ea typeface="宋体" panose="02010600030101010101" pitchFamily="2" charset="-122"/>
              </a:rPr>
              <a:t>oled</a:t>
            </a:r>
            <a:r>
              <a:rPr lang="zh-CN" altLang="en-US" sz="2000" b="1">
                <a:latin typeface="Times New Roman" panose="02020603050405020304" pitchFamily="2" charset="0"/>
                <a:ea typeface="宋体" panose="02010600030101010101" pitchFamily="2" charset="-122"/>
              </a:rPr>
              <a:t>接口函数</a:t>
            </a:r>
            <a:r>
              <a:rPr lang="zh-CN" altLang="en-US" sz="2000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LCD_ShowNu</a:t>
            </a:r>
            <a:r>
              <a:rPr lang="en-US" altLang="zh-CN" sz="2000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m</a:t>
            </a:r>
            <a:r>
              <a:rPr lang="zh-CN" altLang="en-US" sz="2000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是不支持负数显示的，因此，在完成此要求时，当待显示数字的值为负数时，需要额外在数字前添加显示一个</a:t>
            </a:r>
            <a:r>
              <a:rPr lang="en-US" altLang="zh-CN" sz="2000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“-”</a:t>
            </a:r>
            <a:r>
              <a:rPr lang="zh-CN" altLang="en-US" sz="2000" b="1">
                <a:latin typeface="Times New Roman" panose="02020603050405020304" pitchFamily="2" charset="0"/>
                <a:ea typeface="宋体" panose="02010600030101010101" pitchFamily="2" charset="-122"/>
                <a:sym typeface="仿宋_GB2312" pitchFamily="1" charset="-122"/>
              </a:rPr>
              <a:t>以保证正确显示，而不能直接将数字值作为函数的输入。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2" grpId="0"/>
      <p:bldP spid="3" grpId="0" uiExpand="1" build="p"/>
      <p:bldP spid="4" grpId="0"/>
    </p:bldLst>
  </p:timing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Times New Roman"/>
        <a:ea typeface="楷体_GB2312"/>
        <a:cs typeface=""/>
      </a:majorFont>
      <a:minorFont>
        <a:latin typeface="Times New Roman"/>
        <a:ea typeface="仿宋_GB2312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820000"/>
        </a:lt1>
        <a:dk2>
          <a:srgbClr val="FFFFFF"/>
        </a:dk2>
        <a:lt2>
          <a:srgbClr val="333333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B72D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CCFF"/>
        </a:dk1>
        <a:lt1>
          <a:srgbClr val="0B0506"/>
        </a:lt1>
        <a:dk2>
          <a:srgbClr val="FFFFFF"/>
        </a:dk2>
        <a:lt2>
          <a:srgbClr val="333333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FAFDC"/>
        </a:accent4>
        <a:accent5>
          <a:srgbClr val="ADB9E2"/>
        </a:accent5>
        <a:accent6>
          <a:srgbClr val="2D2DB7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21013"/>
        </a:lt1>
        <a:dk2>
          <a:srgbClr val="FFFFFF"/>
        </a:dk2>
        <a:lt2>
          <a:srgbClr val="333333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CDCDC"/>
        </a:accent4>
        <a:accent5>
          <a:srgbClr val="E2ADAA"/>
        </a:accent5>
        <a:accent6>
          <a:srgbClr val="B789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FF"/>
        </a:dk2>
        <a:lt2>
          <a:srgbClr val="11054B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CDCDC"/>
        </a:accent4>
        <a:accent5>
          <a:srgbClr val="FFB9AA"/>
        </a:accent5>
        <a:accent6>
          <a:srgbClr val="E52D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2600"/>
        </a:lt1>
        <a:dk2>
          <a:srgbClr val="FAFACC"/>
        </a:dk2>
        <a:lt2>
          <a:srgbClr val="9B8D65"/>
        </a:lt2>
        <a:accent1>
          <a:srgbClr val="CC9933"/>
        </a:accent1>
        <a:accent2>
          <a:srgbClr val="8F9967"/>
        </a:accent2>
        <a:accent3>
          <a:srgbClr val="AAABAA"/>
        </a:accent3>
        <a:accent4>
          <a:srgbClr val="D6D6D6"/>
        </a:accent4>
        <a:accent5>
          <a:srgbClr val="E2CAAD"/>
        </a:accent5>
        <a:accent6>
          <a:srgbClr val="80895C"/>
        </a:accent6>
        <a:hlink>
          <a:srgbClr val="33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99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FF9900"/>
        </a:accent2>
        <a:accent3>
          <a:srgbClr val="AAB9CA"/>
        </a:accent3>
        <a:accent4>
          <a:srgbClr val="DCDCDC"/>
        </a:accent4>
        <a:accent5>
          <a:srgbClr val="E2CAAA"/>
        </a:accent5>
        <a:accent6>
          <a:srgbClr val="E58900"/>
        </a:accent6>
        <a:hlink>
          <a:srgbClr val="FFCC00"/>
        </a:hlink>
        <a:folHlink>
          <a:srgbClr val="706F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47329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1C1C1"/>
        </a:accent5>
        <a:accent6>
          <a:srgbClr val="8989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36145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Times New Roman"/>
        <a:ea typeface="楷体_GB2312"/>
        <a:cs typeface=""/>
      </a:majorFont>
      <a:minorFont>
        <a:latin typeface="Times New Roman"/>
        <a:ea typeface="仿宋_GB2312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820000"/>
        </a:lt1>
        <a:dk2>
          <a:srgbClr val="FFFFFF"/>
        </a:dk2>
        <a:lt2>
          <a:srgbClr val="333333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B72D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CCFF"/>
        </a:dk1>
        <a:lt1>
          <a:srgbClr val="0B0506"/>
        </a:lt1>
        <a:dk2>
          <a:srgbClr val="FFFFFF"/>
        </a:dk2>
        <a:lt2>
          <a:srgbClr val="333333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FAFDC"/>
        </a:accent4>
        <a:accent5>
          <a:srgbClr val="ADB9E2"/>
        </a:accent5>
        <a:accent6>
          <a:srgbClr val="2D2DB7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21013"/>
        </a:lt1>
        <a:dk2>
          <a:srgbClr val="FFFFFF"/>
        </a:dk2>
        <a:lt2>
          <a:srgbClr val="333333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CDCDC"/>
        </a:accent4>
        <a:accent5>
          <a:srgbClr val="E2ADAA"/>
        </a:accent5>
        <a:accent6>
          <a:srgbClr val="B789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FF"/>
        </a:dk2>
        <a:lt2>
          <a:srgbClr val="11054B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CDCDC"/>
        </a:accent4>
        <a:accent5>
          <a:srgbClr val="FFB9AA"/>
        </a:accent5>
        <a:accent6>
          <a:srgbClr val="E52D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2600"/>
        </a:lt1>
        <a:dk2>
          <a:srgbClr val="FAFACC"/>
        </a:dk2>
        <a:lt2>
          <a:srgbClr val="9B8D65"/>
        </a:lt2>
        <a:accent1>
          <a:srgbClr val="CC9933"/>
        </a:accent1>
        <a:accent2>
          <a:srgbClr val="8F9967"/>
        </a:accent2>
        <a:accent3>
          <a:srgbClr val="AAABAA"/>
        </a:accent3>
        <a:accent4>
          <a:srgbClr val="D6D6D6"/>
        </a:accent4>
        <a:accent5>
          <a:srgbClr val="E2CAAD"/>
        </a:accent5>
        <a:accent6>
          <a:srgbClr val="80895C"/>
        </a:accent6>
        <a:hlink>
          <a:srgbClr val="33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99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FF9900"/>
        </a:accent2>
        <a:accent3>
          <a:srgbClr val="AAB9CA"/>
        </a:accent3>
        <a:accent4>
          <a:srgbClr val="DCDCDC"/>
        </a:accent4>
        <a:accent5>
          <a:srgbClr val="E2CAAA"/>
        </a:accent5>
        <a:accent6>
          <a:srgbClr val="E58900"/>
        </a:accent6>
        <a:hlink>
          <a:srgbClr val="FFCC00"/>
        </a:hlink>
        <a:folHlink>
          <a:srgbClr val="706F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47329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1C1C1"/>
        </a:accent5>
        <a:accent6>
          <a:srgbClr val="8989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36145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Times New Roman"/>
        <a:ea typeface="楷体_GB2312"/>
        <a:cs typeface=""/>
      </a:majorFont>
      <a:minorFont>
        <a:latin typeface="Times New Roman"/>
        <a:ea typeface="仿宋_GB2312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820000"/>
        </a:lt1>
        <a:dk2>
          <a:srgbClr val="FFFFFF"/>
        </a:dk2>
        <a:lt2>
          <a:srgbClr val="333333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B72D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CCFF"/>
        </a:dk1>
        <a:lt1>
          <a:srgbClr val="0B0506"/>
        </a:lt1>
        <a:dk2>
          <a:srgbClr val="FFFFFF"/>
        </a:dk2>
        <a:lt2>
          <a:srgbClr val="333333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FAFDC"/>
        </a:accent4>
        <a:accent5>
          <a:srgbClr val="ADB9E2"/>
        </a:accent5>
        <a:accent6>
          <a:srgbClr val="2D2DB7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21013"/>
        </a:lt1>
        <a:dk2>
          <a:srgbClr val="FFFFFF"/>
        </a:dk2>
        <a:lt2>
          <a:srgbClr val="333333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CDCDC"/>
        </a:accent4>
        <a:accent5>
          <a:srgbClr val="E2ADAA"/>
        </a:accent5>
        <a:accent6>
          <a:srgbClr val="B789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FF"/>
        </a:dk2>
        <a:lt2>
          <a:srgbClr val="11054B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CDCDC"/>
        </a:accent4>
        <a:accent5>
          <a:srgbClr val="FFB9AA"/>
        </a:accent5>
        <a:accent6>
          <a:srgbClr val="E52D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2600"/>
        </a:lt1>
        <a:dk2>
          <a:srgbClr val="FAFACC"/>
        </a:dk2>
        <a:lt2>
          <a:srgbClr val="9B8D65"/>
        </a:lt2>
        <a:accent1>
          <a:srgbClr val="CC9933"/>
        </a:accent1>
        <a:accent2>
          <a:srgbClr val="8F9967"/>
        </a:accent2>
        <a:accent3>
          <a:srgbClr val="AAABAA"/>
        </a:accent3>
        <a:accent4>
          <a:srgbClr val="D6D6D6"/>
        </a:accent4>
        <a:accent5>
          <a:srgbClr val="E2CAAD"/>
        </a:accent5>
        <a:accent6>
          <a:srgbClr val="80895C"/>
        </a:accent6>
        <a:hlink>
          <a:srgbClr val="33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99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FF9900"/>
        </a:accent2>
        <a:accent3>
          <a:srgbClr val="AAB9CA"/>
        </a:accent3>
        <a:accent4>
          <a:srgbClr val="DCDCDC"/>
        </a:accent4>
        <a:accent5>
          <a:srgbClr val="E2CAAA"/>
        </a:accent5>
        <a:accent6>
          <a:srgbClr val="E58900"/>
        </a:accent6>
        <a:hlink>
          <a:srgbClr val="FFCC00"/>
        </a:hlink>
        <a:folHlink>
          <a:srgbClr val="706F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47329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1C1C1"/>
        </a:accent5>
        <a:accent6>
          <a:srgbClr val="8989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36145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45</TotalTime>
  <Words>2274</Words>
  <Application>Microsoft Office PowerPoint</Application>
  <PresentationFormat>全屏显示(4:3)</PresentationFormat>
  <Paragraphs>268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仿宋_GB2312</vt:lpstr>
      <vt:lpstr>华文新魏</vt:lpstr>
      <vt:lpstr>楷体</vt:lpstr>
      <vt:lpstr>楷体_GB2312</vt:lpstr>
      <vt:lpstr>宋体</vt:lpstr>
      <vt:lpstr>Arial</vt:lpstr>
      <vt:lpstr>Calibri</vt:lpstr>
      <vt:lpstr>Garamond</vt:lpstr>
      <vt:lpstr>Times New Roman</vt:lpstr>
      <vt:lpstr>Wingdings</vt:lpstr>
      <vt:lpstr>Edge</vt:lpstr>
      <vt:lpstr>1_Edge</vt:lpstr>
      <vt:lpstr>4_Edge</vt:lpstr>
      <vt:lpstr> MSP430实验一 </vt:lpstr>
      <vt:lpstr>实验一 简易计算器的制作</vt:lpstr>
      <vt:lpstr>1.1  通用输入输出端口 （General Purpose Input &amp; Output） </vt:lpstr>
      <vt:lpstr>1.1.1 GPIO 概述 </vt:lpstr>
      <vt:lpstr>1.1.1 GPIO 概述</vt:lpstr>
      <vt:lpstr>1.1.1 GPIO 概述</vt:lpstr>
      <vt:lpstr>1.1.1 GPIO 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  实验板的独立按键 </vt:lpstr>
      <vt:lpstr>PowerPoint 演示文稿</vt:lpstr>
      <vt:lpstr>1.3 外接的OLED </vt:lpstr>
      <vt:lpstr>PowerPoint 演示文稿</vt:lpstr>
      <vt:lpstr>1.4 程序设计思路 </vt:lpstr>
      <vt:lpstr>1.4 程序设计思路</vt:lpstr>
      <vt:lpstr>1.4 程序设计思路</vt:lpstr>
      <vt:lpstr>1.4 程序设计思路</vt:lpstr>
      <vt:lpstr>1.4 程序设计思路</vt:lpstr>
      <vt:lpstr>1.4 程序设计思路</vt:lpstr>
      <vt:lpstr>1.4 程序设计思路</vt:lpstr>
    </vt:vector>
  </TitlesOfParts>
  <Company>www.ftpdown.com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2010年INTEL嵌入式邀请赛 测试情况汇报</dc:title>
  <dc:creator>李玉柏</dc:creator>
  <cp:lastModifiedBy>hu quan</cp:lastModifiedBy>
  <cp:revision>212</cp:revision>
  <dcterms:created xsi:type="dcterms:W3CDTF">2010-07-24T10:47:00Z</dcterms:created>
  <dcterms:modified xsi:type="dcterms:W3CDTF">2020-04-13T06:14:28Z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