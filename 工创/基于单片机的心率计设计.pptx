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1" r:id="rId4"/>
    <p:sldId id="262" r:id="rId5"/>
    <p:sldId id="263" r:id="rId6"/>
    <p:sldId id="264" r:id="rId7"/>
    <p:sldId id="265" r:id="rId8"/>
    <p:sldId id="266"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80" d="100"/>
          <a:sy n="80" d="100"/>
        </p:scale>
        <p:origin x="69" y="2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5/13/2020</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589212" y="739239"/>
            <a:ext cx="8915399" cy="2262781"/>
          </a:xfrm>
        </p:spPr>
        <p:txBody>
          <a:bodyPr/>
          <a:lstStyle/>
          <a:p>
            <a:r>
              <a:rPr lang="zh-CN" altLang="en-US" dirty="0"/>
              <a:t>基于单片机的心率计设计</a:t>
            </a:r>
          </a:p>
        </p:txBody>
      </p:sp>
      <p:sp>
        <p:nvSpPr>
          <p:cNvPr id="3" name="副标题 2"/>
          <p:cNvSpPr>
            <a:spLocks noGrp="1"/>
          </p:cNvSpPr>
          <p:nvPr>
            <p:ph type="subTitle" idx="1"/>
          </p:nvPr>
        </p:nvSpPr>
        <p:spPr/>
        <p:txBody>
          <a:bodyPr/>
          <a:lstStyle/>
          <a:p>
            <a:r>
              <a:rPr lang="zh-CN" altLang="en-US" dirty="0"/>
              <a:t>小组成员：罗霄、张志豪、赵哲浩</a:t>
            </a:r>
          </a:p>
        </p:txBody>
      </p:sp>
    </p:spTree>
    <p:extLst>
      <p:ext uri="{BB962C8B-B14F-4D97-AF65-F5344CB8AC3E}">
        <p14:creationId xmlns:p14="http://schemas.microsoft.com/office/powerpoint/2010/main" val="1813819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原理</a:t>
            </a:r>
          </a:p>
        </p:txBody>
      </p:sp>
      <p:sp>
        <p:nvSpPr>
          <p:cNvPr id="3" name="内容占位符 2"/>
          <p:cNvSpPr>
            <a:spLocks noGrp="1"/>
          </p:cNvSpPr>
          <p:nvPr>
            <p:ph idx="1"/>
          </p:nvPr>
        </p:nvSpPr>
        <p:spPr/>
        <p:txBody>
          <a:bodyPr>
            <a:normAutofit/>
          </a:bodyPr>
          <a:lstStyle/>
          <a:p>
            <a:pPr marL="0" indent="0">
              <a:buNone/>
            </a:pPr>
            <a:r>
              <a:rPr lang="zh-CN" altLang="en-US" sz="2400" dirty="0">
                <a:latin typeface="华文楷体" panose="02010600040101010101" pitchFamily="2" charset="-122"/>
                <a:ea typeface="华文楷体" panose="02010600040101010101" pitchFamily="2" charset="-122"/>
              </a:rPr>
              <a:t>我们将红外发光二极管产生的红外线照射到人体手指部位，经过手指组织的反射和衰减由装在该部位旁边的光敏三管来接收其透射光并转换成电信号。由于手指动脉血在血液循环过程中呈周期性的脉动变化，所以它对光的反射和衰减也是周期性脉动，于是红外接收三极管输出信号的变化也就反映了动脉血的脉动变化。只要把此电信号转换成脉冲并进行整形、计数和显示，即可实时测出心脏跳动的次数。</a:t>
            </a:r>
          </a:p>
          <a:p>
            <a:pPr marL="0" indent="0">
              <a:buNone/>
            </a:pPr>
            <a:endParaRPr lang="zh-CN" altLang="en-US"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104472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信号采集电路</a:t>
            </a:r>
          </a:p>
        </p:txBody>
      </p:sp>
      <p:sp>
        <p:nvSpPr>
          <p:cNvPr id="3" name="内容占位符 2"/>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DD2214EF-7D48-4843-9CD9-3BA58C7EA668}"/>
              </a:ext>
            </a:extLst>
          </p:cNvPr>
          <p:cNvPicPr>
            <a:picLocks noChangeAspect="1"/>
          </p:cNvPicPr>
          <p:nvPr/>
        </p:nvPicPr>
        <p:blipFill>
          <a:blip r:embed="rId2"/>
          <a:stretch>
            <a:fillRect/>
          </a:stretch>
        </p:blipFill>
        <p:spPr>
          <a:xfrm>
            <a:off x="5480462" y="2037732"/>
            <a:ext cx="2826831" cy="3771531"/>
          </a:xfrm>
          <a:prstGeom prst="rect">
            <a:avLst/>
          </a:prstGeom>
        </p:spPr>
      </p:pic>
    </p:spTree>
    <p:extLst>
      <p:ext uri="{BB962C8B-B14F-4D97-AF65-F5344CB8AC3E}">
        <p14:creationId xmlns:p14="http://schemas.microsoft.com/office/powerpoint/2010/main" val="1466094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信号处理电路</a:t>
            </a:r>
            <a:endParaRPr lang="zh-CN" altLang="en-US" dirty="0"/>
          </a:p>
        </p:txBody>
      </p:sp>
      <p:pic>
        <p:nvPicPr>
          <p:cNvPr id="4" name="图片 3">
            <a:extLst>
              <a:ext uri="{FF2B5EF4-FFF2-40B4-BE49-F238E27FC236}">
                <a16:creationId xmlns:a16="http://schemas.microsoft.com/office/drawing/2014/main" id="{1CD2D88C-CB5D-4625-8853-C1654E3A260C}"/>
              </a:ext>
            </a:extLst>
          </p:cNvPr>
          <p:cNvPicPr>
            <a:picLocks noChangeAspect="1"/>
          </p:cNvPicPr>
          <p:nvPr/>
        </p:nvPicPr>
        <p:blipFill>
          <a:blip r:embed="rId2"/>
          <a:stretch>
            <a:fillRect/>
          </a:stretch>
        </p:blipFill>
        <p:spPr>
          <a:xfrm>
            <a:off x="1238568" y="1971995"/>
            <a:ext cx="9714864" cy="3777622"/>
          </a:xfrm>
          <a:prstGeom prst="rect">
            <a:avLst/>
          </a:prstGeom>
        </p:spPr>
      </p:pic>
    </p:spTree>
    <p:extLst>
      <p:ext uri="{BB962C8B-B14F-4D97-AF65-F5344CB8AC3E}">
        <p14:creationId xmlns:p14="http://schemas.microsoft.com/office/powerpoint/2010/main" val="3116974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软件设计主程序</a:t>
            </a:r>
            <a:br>
              <a:rPr lang="en-US" altLang="zh-CN" dirty="0"/>
            </a:br>
            <a:endParaRPr lang="zh-CN" altLang="en-US" dirty="0"/>
          </a:p>
        </p:txBody>
      </p:sp>
      <p:sp>
        <p:nvSpPr>
          <p:cNvPr id="6" name="菱形 5"/>
          <p:cNvSpPr/>
          <p:nvPr/>
        </p:nvSpPr>
        <p:spPr>
          <a:xfrm>
            <a:off x="2589212" y="3589595"/>
            <a:ext cx="1897444" cy="86563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开始</a:t>
            </a:r>
          </a:p>
        </p:txBody>
      </p:sp>
      <p:cxnSp>
        <p:nvCxnSpPr>
          <p:cNvPr id="8" name="直接箭头连接符 7"/>
          <p:cNvCxnSpPr>
            <a:stCxn id="6" idx="3"/>
          </p:cNvCxnSpPr>
          <p:nvPr/>
        </p:nvCxnSpPr>
        <p:spPr>
          <a:xfrm flipV="1">
            <a:off x="4486656" y="4011168"/>
            <a:ext cx="829056" cy="11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315712" y="3706368"/>
            <a:ext cx="1450848" cy="6339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初始化</a:t>
            </a:r>
          </a:p>
        </p:txBody>
      </p:sp>
      <p:cxnSp>
        <p:nvCxnSpPr>
          <p:cNvPr id="10" name="直接箭头连接符 9"/>
          <p:cNvCxnSpPr/>
          <p:nvPr/>
        </p:nvCxnSpPr>
        <p:spPr>
          <a:xfrm flipV="1">
            <a:off x="6752050" y="4022411"/>
            <a:ext cx="829056" cy="11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8995378" y="4033654"/>
            <a:ext cx="829056" cy="11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7164689" y="3322795"/>
            <a:ext cx="18288" cy="688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581106" y="3706368"/>
            <a:ext cx="1428782" cy="6339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定时器计时</a:t>
            </a:r>
            <a:endParaRPr lang="en-US" altLang="zh-CN" dirty="0"/>
          </a:p>
          <a:p>
            <a:pPr algn="ctr"/>
            <a:r>
              <a:rPr lang="zh-CN" altLang="en-US" dirty="0"/>
              <a:t>心跳计数</a:t>
            </a:r>
          </a:p>
        </p:txBody>
      </p:sp>
      <p:sp>
        <p:nvSpPr>
          <p:cNvPr id="14" name="矩形 13"/>
          <p:cNvSpPr/>
          <p:nvPr/>
        </p:nvSpPr>
        <p:spPr>
          <a:xfrm>
            <a:off x="9824434" y="3706368"/>
            <a:ext cx="1450848" cy="6339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显示程序</a:t>
            </a:r>
          </a:p>
        </p:txBody>
      </p:sp>
      <p:cxnSp>
        <p:nvCxnSpPr>
          <p:cNvPr id="16" name="直接连接符 15"/>
          <p:cNvCxnSpPr>
            <a:stCxn id="14" idx="3"/>
          </p:cNvCxnSpPr>
          <p:nvPr/>
        </p:nvCxnSpPr>
        <p:spPr>
          <a:xfrm flipV="1">
            <a:off x="11275282" y="4022411"/>
            <a:ext cx="550958" cy="9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1814048" y="3291840"/>
            <a:ext cx="12192" cy="7418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7164689" y="3291840"/>
            <a:ext cx="4661551" cy="309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720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中断程序</a:t>
            </a:r>
          </a:p>
        </p:txBody>
      </p:sp>
      <p:sp>
        <p:nvSpPr>
          <p:cNvPr id="3" name="内容占位符 2"/>
          <p:cNvSpPr>
            <a:spLocks noGrp="1"/>
          </p:cNvSpPr>
          <p:nvPr>
            <p:ph idx="1"/>
          </p:nvPr>
        </p:nvSpPr>
        <p:spPr>
          <a:xfrm>
            <a:off x="2438400" y="2133600"/>
            <a:ext cx="9066212" cy="3777622"/>
          </a:xfrm>
        </p:spPr>
        <p:txBody>
          <a:bodyPr/>
          <a:lstStyle/>
          <a:p>
            <a:endParaRPr lang="zh-CN" altLang="en-US" dirty="0"/>
          </a:p>
        </p:txBody>
      </p:sp>
      <p:sp>
        <p:nvSpPr>
          <p:cNvPr id="4" name="菱形 3"/>
          <p:cNvSpPr/>
          <p:nvPr/>
        </p:nvSpPr>
        <p:spPr>
          <a:xfrm>
            <a:off x="2279904" y="3589595"/>
            <a:ext cx="2206752" cy="86563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初值设置</a:t>
            </a:r>
          </a:p>
        </p:txBody>
      </p:sp>
      <p:cxnSp>
        <p:nvCxnSpPr>
          <p:cNvPr id="5" name="直接箭头连接符 4"/>
          <p:cNvCxnSpPr>
            <a:stCxn id="4" idx="3"/>
          </p:cNvCxnSpPr>
          <p:nvPr/>
        </p:nvCxnSpPr>
        <p:spPr>
          <a:xfrm>
            <a:off x="4486656" y="4022411"/>
            <a:ext cx="336589" cy="11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811055" y="3706368"/>
            <a:ext cx="1450848" cy="6339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定时器计时</a:t>
            </a:r>
          </a:p>
        </p:txBody>
      </p:sp>
      <p:cxnSp>
        <p:nvCxnSpPr>
          <p:cNvPr id="7" name="直接箭头连接符 6"/>
          <p:cNvCxnSpPr>
            <a:stCxn id="6" idx="3"/>
          </p:cNvCxnSpPr>
          <p:nvPr/>
        </p:nvCxnSpPr>
        <p:spPr>
          <a:xfrm flipV="1">
            <a:off x="6261903" y="4022411"/>
            <a:ext cx="324399" cy="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flipV="1">
            <a:off x="5534955" y="4340352"/>
            <a:ext cx="3047" cy="826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8857497" y="4011168"/>
            <a:ext cx="403645" cy="11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286010" y="3706368"/>
            <a:ext cx="1450848" cy="6339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保存显示</a:t>
            </a:r>
            <a:endParaRPr lang="en-US" altLang="zh-CN" dirty="0"/>
          </a:p>
          <a:p>
            <a:pPr algn="ctr"/>
            <a:r>
              <a:rPr lang="zh-CN" altLang="en-US" dirty="0"/>
              <a:t>心率</a:t>
            </a:r>
          </a:p>
        </p:txBody>
      </p:sp>
      <p:cxnSp>
        <p:nvCxnSpPr>
          <p:cNvPr id="13" name="直接连接符 12"/>
          <p:cNvCxnSpPr/>
          <p:nvPr/>
        </p:nvCxnSpPr>
        <p:spPr>
          <a:xfrm>
            <a:off x="7771395" y="4425021"/>
            <a:ext cx="12192" cy="7418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5534956" y="5166835"/>
            <a:ext cx="2226566" cy="1"/>
          </a:xfrm>
          <a:prstGeom prst="line">
            <a:avLst/>
          </a:prstGeom>
        </p:spPr>
        <p:style>
          <a:lnRef idx="1">
            <a:schemeClr val="accent1"/>
          </a:lnRef>
          <a:fillRef idx="0">
            <a:schemeClr val="accent1"/>
          </a:fillRef>
          <a:effectRef idx="0">
            <a:schemeClr val="accent1"/>
          </a:effectRef>
          <a:fontRef idx="minor">
            <a:schemeClr val="tx1"/>
          </a:fontRef>
        </p:style>
      </p:cxnSp>
      <p:sp>
        <p:nvSpPr>
          <p:cNvPr id="16" name="菱形 15"/>
          <p:cNvSpPr/>
          <p:nvPr/>
        </p:nvSpPr>
        <p:spPr>
          <a:xfrm>
            <a:off x="6547259" y="3613030"/>
            <a:ext cx="2428527" cy="842197"/>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到</a:t>
            </a:r>
            <a:r>
              <a:rPr lang="en-US" altLang="zh-CN" dirty="0"/>
              <a:t>20</a:t>
            </a:r>
            <a:r>
              <a:rPr lang="zh-CN" altLang="en-US" dirty="0"/>
              <a:t>秒？</a:t>
            </a:r>
          </a:p>
        </p:txBody>
      </p:sp>
      <p:sp>
        <p:nvSpPr>
          <p:cNvPr id="20" name="矩形 19"/>
          <p:cNvSpPr/>
          <p:nvPr/>
        </p:nvSpPr>
        <p:spPr>
          <a:xfrm>
            <a:off x="6504664" y="4925568"/>
            <a:ext cx="346743" cy="2412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endParaRPr lang="zh-CN" altLang="en-US" dirty="0"/>
          </a:p>
        </p:txBody>
      </p:sp>
      <p:sp>
        <p:nvSpPr>
          <p:cNvPr id="28" name="矩形 27"/>
          <p:cNvSpPr/>
          <p:nvPr/>
        </p:nvSpPr>
        <p:spPr>
          <a:xfrm>
            <a:off x="8975786" y="3706368"/>
            <a:ext cx="285356" cy="219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Y</a:t>
            </a:r>
            <a:endParaRPr lang="zh-CN" altLang="en-US" dirty="0"/>
          </a:p>
        </p:txBody>
      </p:sp>
    </p:spTree>
    <p:extLst>
      <p:ext uri="{BB962C8B-B14F-4D97-AF65-F5344CB8AC3E}">
        <p14:creationId xmlns:p14="http://schemas.microsoft.com/office/powerpoint/2010/main" val="1328085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干扰及解决</a:t>
            </a:r>
          </a:p>
        </p:txBody>
      </p:sp>
      <p:sp>
        <p:nvSpPr>
          <p:cNvPr id="3" name="内容占位符 2"/>
          <p:cNvSpPr>
            <a:spLocks noGrp="1"/>
          </p:cNvSpPr>
          <p:nvPr>
            <p:ph idx="1"/>
          </p:nvPr>
        </p:nvSpPr>
        <p:spPr/>
        <p:txBody>
          <a:bodyPr/>
          <a:lstStyle/>
          <a:p>
            <a:r>
              <a:rPr lang="zh-CN" altLang="en-US" dirty="0"/>
              <a:t>对该电路来说，前端测量到的心率信号十分微弱，很容易受到的外界干扰，例如：</a:t>
            </a:r>
            <a:endParaRPr lang="en-US" altLang="zh-CN" dirty="0"/>
          </a:p>
          <a:p>
            <a:endParaRPr lang="en-US" altLang="zh-CN" dirty="0"/>
          </a:p>
          <a:p>
            <a:r>
              <a:rPr lang="zh-CN" altLang="en-US" dirty="0"/>
              <a:t>环境光</a:t>
            </a:r>
            <a:endParaRPr lang="en-US" altLang="zh-CN" dirty="0"/>
          </a:p>
          <a:p>
            <a:endParaRPr lang="en-US" altLang="zh-CN" dirty="0"/>
          </a:p>
          <a:p>
            <a:r>
              <a:rPr lang="zh-CN" altLang="en-US" dirty="0"/>
              <a:t>电磁</a:t>
            </a:r>
            <a:endParaRPr lang="en-US" altLang="zh-CN" dirty="0"/>
          </a:p>
          <a:p>
            <a:endParaRPr lang="en-US" altLang="zh-CN" dirty="0"/>
          </a:p>
          <a:p>
            <a:r>
              <a:rPr lang="zh-CN" altLang="en-US" dirty="0"/>
              <a:t>运动</a:t>
            </a:r>
          </a:p>
        </p:txBody>
      </p:sp>
    </p:spTree>
    <p:extLst>
      <p:ext uri="{BB962C8B-B14F-4D97-AF65-F5344CB8AC3E}">
        <p14:creationId xmlns:p14="http://schemas.microsoft.com/office/powerpoint/2010/main" val="3421759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干扰及解决</a:t>
            </a:r>
          </a:p>
        </p:txBody>
      </p:sp>
      <p:sp>
        <p:nvSpPr>
          <p:cNvPr id="3" name="内容占位符 2"/>
          <p:cNvSpPr>
            <a:spLocks noGrp="1"/>
          </p:cNvSpPr>
          <p:nvPr>
            <p:ph idx="1"/>
          </p:nvPr>
        </p:nvSpPr>
        <p:spPr/>
        <p:txBody>
          <a:bodyPr/>
          <a:lstStyle/>
          <a:p>
            <a:r>
              <a:rPr lang="en-US" altLang="zh-CN" dirty="0"/>
              <a:t>1</a:t>
            </a:r>
            <a:r>
              <a:rPr lang="zh-CN" altLang="en-US" dirty="0"/>
              <a:t>、在指套式传感器的内层表面涂一层吸光材料，能有效减少二次反射光的干扰。</a:t>
            </a:r>
            <a:endParaRPr lang="en-US" altLang="zh-CN" dirty="0"/>
          </a:p>
          <a:p>
            <a:endParaRPr lang="zh-CN" altLang="en-US" dirty="0"/>
          </a:p>
          <a:p>
            <a:r>
              <a:rPr lang="en-US" altLang="zh-CN" dirty="0"/>
              <a:t>2</a:t>
            </a:r>
            <a:r>
              <a:rPr lang="zh-CN" altLang="en-US" dirty="0"/>
              <a:t>、通过低通滤波器可以有效滤除。</a:t>
            </a:r>
            <a:endParaRPr lang="en-US" altLang="zh-CN" dirty="0"/>
          </a:p>
          <a:p>
            <a:endParaRPr lang="zh-CN" altLang="en-US" dirty="0"/>
          </a:p>
          <a:p>
            <a:r>
              <a:rPr lang="en-US" altLang="zh-CN" dirty="0"/>
              <a:t>3</a:t>
            </a:r>
            <a:r>
              <a:rPr lang="zh-CN" altLang="en-US" dirty="0"/>
              <a:t>、改善指套式传感器的机械抗运动性，比如说使指套能够更紧的套在手指上，不易松动</a:t>
            </a:r>
          </a:p>
          <a:p>
            <a:endParaRPr lang="zh-CN" altLang="en-US" dirty="0"/>
          </a:p>
        </p:txBody>
      </p:sp>
    </p:spTree>
    <p:extLst>
      <p:ext uri="{BB962C8B-B14F-4D97-AF65-F5344CB8AC3E}">
        <p14:creationId xmlns:p14="http://schemas.microsoft.com/office/powerpoint/2010/main" val="3849781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sp>
        <p:nvSpPr>
          <p:cNvPr id="3" name="内容占位符 2"/>
          <p:cNvSpPr>
            <a:spLocks noGrp="1"/>
          </p:cNvSpPr>
          <p:nvPr>
            <p:ph idx="1"/>
          </p:nvPr>
        </p:nvSpPr>
        <p:spPr/>
        <p:txBody>
          <a:bodyPr/>
          <a:lstStyle/>
          <a:p>
            <a:r>
              <a:rPr lang="zh-CN" altLang="en-US" dirty="0"/>
              <a:t>目前我们还停留在设想阶段</a:t>
            </a:r>
            <a:endParaRPr lang="en-US" altLang="zh-CN" dirty="0"/>
          </a:p>
          <a:p>
            <a:endParaRPr lang="en-US" altLang="zh-CN" dirty="0"/>
          </a:p>
          <a:p>
            <a:r>
              <a:rPr lang="zh-CN" altLang="en-US" dirty="0"/>
              <a:t>实际操作中可能会有我们意想不到的困难</a:t>
            </a:r>
            <a:endParaRPr lang="en-US" altLang="zh-CN" dirty="0"/>
          </a:p>
          <a:p>
            <a:endParaRPr lang="en-US" altLang="zh-CN" dirty="0"/>
          </a:p>
          <a:p>
            <a:r>
              <a:rPr lang="zh-CN" altLang="en-US" dirty="0"/>
              <a:t>希望在熟悉</a:t>
            </a:r>
            <a:r>
              <a:rPr lang="en-US" altLang="zh-CN" dirty="0"/>
              <a:t>Arduino</a:t>
            </a:r>
            <a:r>
              <a:rPr lang="zh-CN" altLang="en-US" dirty="0"/>
              <a:t>的使用后我们能进一步改进整个设计</a:t>
            </a:r>
          </a:p>
        </p:txBody>
      </p:sp>
    </p:spTree>
    <p:extLst>
      <p:ext uri="{BB962C8B-B14F-4D97-AF65-F5344CB8AC3E}">
        <p14:creationId xmlns:p14="http://schemas.microsoft.com/office/powerpoint/2010/main" val="1082659525"/>
      </p:ext>
    </p:extLst>
  </p:cSld>
  <p:clrMapOvr>
    <a:masterClrMapping/>
  </p:clrMapOvr>
</p:sld>
</file>

<file path=ppt/theme/theme1.xml><?xml version="1.0" encoding="utf-8"?>
<a:theme xmlns:a="http://schemas.openxmlformats.org/drawingml/2006/main" name="丝状">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101</TotalTime>
  <Words>278</Words>
  <Application>Microsoft Office PowerPoint</Application>
  <PresentationFormat>宽屏</PresentationFormat>
  <Paragraphs>40</Paragraphs>
  <Slides>9</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vt:i4>
      </vt:variant>
    </vt:vector>
  </HeadingPairs>
  <TitlesOfParts>
    <vt:vector size="14" baseType="lpstr">
      <vt:lpstr>华文楷体</vt:lpstr>
      <vt:lpstr>Arial</vt:lpstr>
      <vt:lpstr>Century Gothic</vt:lpstr>
      <vt:lpstr>Wingdings 3</vt:lpstr>
      <vt:lpstr>丝状</vt:lpstr>
      <vt:lpstr>基于单片机的心率计设计</vt:lpstr>
      <vt:lpstr>原理</vt:lpstr>
      <vt:lpstr>信号采集电路</vt:lpstr>
      <vt:lpstr>信号处理电路</vt:lpstr>
      <vt:lpstr>软件设计主程序 </vt:lpstr>
      <vt:lpstr>中断程序</vt:lpstr>
      <vt:lpstr>干扰及解决</vt:lpstr>
      <vt:lpstr>干扰及解决</vt:lpstr>
      <vt:lpstr>思考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基于单片机的心率计设计</dc:title>
  <dc:creator>罗霄</dc:creator>
  <cp:lastModifiedBy>re ol</cp:lastModifiedBy>
  <cp:revision>8</cp:revision>
  <dcterms:created xsi:type="dcterms:W3CDTF">2020-05-13T09:40:44Z</dcterms:created>
  <dcterms:modified xsi:type="dcterms:W3CDTF">2020-05-13T11:23:23Z</dcterms:modified>
</cp:coreProperties>
</file>