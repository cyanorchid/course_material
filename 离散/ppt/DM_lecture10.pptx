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19" r:id="rId3"/>
    <p:sldId id="257" r:id="rId4"/>
    <p:sldId id="258" r:id="rId6"/>
    <p:sldId id="259" r:id="rId7"/>
    <p:sldId id="261" r:id="rId8"/>
    <p:sldId id="260" r:id="rId9"/>
    <p:sldId id="307" r:id="rId10"/>
    <p:sldId id="308" r:id="rId11"/>
    <p:sldId id="309" r:id="rId12"/>
    <p:sldId id="310" r:id="rId13"/>
    <p:sldId id="262" r:id="rId14"/>
    <p:sldId id="263" r:id="rId15"/>
    <p:sldId id="264" r:id="rId16"/>
    <p:sldId id="265" r:id="rId17"/>
    <p:sldId id="266" r:id="rId18"/>
    <p:sldId id="267" r:id="rId19"/>
    <p:sldId id="269" r:id="rId20"/>
    <p:sldId id="278" r:id="rId21"/>
    <p:sldId id="270" r:id="rId22"/>
    <p:sldId id="271" r:id="rId23"/>
    <p:sldId id="289" r:id="rId24"/>
    <p:sldId id="311" r:id="rId25"/>
    <p:sldId id="272" r:id="rId26"/>
    <p:sldId id="273" r:id="rId27"/>
    <p:sldId id="340" r:id="rId28"/>
    <p:sldId id="274" r:id="rId29"/>
    <p:sldId id="275" r:id="rId30"/>
    <p:sldId id="276" r:id="rId31"/>
    <p:sldId id="279" r:id="rId32"/>
    <p:sldId id="280" r:id="rId33"/>
    <p:sldId id="281" r:id="rId34"/>
    <p:sldId id="282" r:id="rId35"/>
    <p:sldId id="283" r:id="rId36"/>
    <p:sldId id="343" r:id="rId37"/>
    <p:sldId id="284" r:id="rId38"/>
    <p:sldId id="285" r:id="rId39"/>
    <p:sldId id="286" r:id="rId40"/>
    <p:sldId id="287" r:id="rId41"/>
    <p:sldId id="312" r:id="rId42"/>
    <p:sldId id="344" r:id="rId43"/>
    <p:sldId id="341" r:id="rId44"/>
    <p:sldId id="345" r:id="rId45"/>
    <p:sldId id="346" r:id="rId46"/>
    <p:sldId id="347" r:id="rId47"/>
    <p:sldId id="348" r:id="rId48"/>
    <p:sldId id="349" r:id="rId49"/>
    <p:sldId id="350" r:id="rId50"/>
    <p:sldId id="351" r:id="rId51"/>
    <p:sldId id="352" r:id="rId52"/>
    <p:sldId id="353" r:id="rId53"/>
    <p:sldId id="355" r:id="rId54"/>
    <p:sldId id="356" r:id="rId55"/>
    <p:sldId id="357" r:id="rId56"/>
    <p:sldId id="358" r:id="rId57"/>
    <p:sldId id="359" r:id="rId58"/>
    <p:sldId id="360" r:id="rId59"/>
    <p:sldId id="361" r:id="rId60"/>
    <p:sldId id="362" r:id="rId61"/>
    <p:sldId id="363" r:id="rId62"/>
    <p:sldId id="364" r:id="rId63"/>
    <p:sldId id="365" r:id="rId64"/>
    <p:sldId id="366" r:id="rId65"/>
    <p:sldId id="368" r:id="rId66"/>
    <p:sldId id="369" r:id="rId67"/>
    <p:sldId id="370" r:id="rId68"/>
    <p:sldId id="371" r:id="rId69"/>
    <p:sldId id="372" r:id="rId70"/>
    <p:sldId id="373" r:id="rId71"/>
    <p:sldId id="374" r:id="rId72"/>
    <p:sldId id="375" r:id="rId73"/>
    <p:sldId id="376" r:id="rId74"/>
    <p:sldId id="377" r:id="rId75"/>
    <p:sldId id="378" r:id="rId76"/>
    <p:sldId id="379" r:id="rId77"/>
    <p:sldId id="380" r:id="rId78"/>
    <p:sldId id="381" r:id="rId79"/>
    <p:sldId id="382" r:id="rId80"/>
    <p:sldId id="383" r:id="rId81"/>
  </p:sldIdLst>
  <p:sldSz cx="9144000" cy="6858000" type="screen4x3"/>
  <p:notesSz cx="6858000" cy="9144000"/>
  <p:defaultTextStyle>
    <a:defPPr>
      <a:defRPr lang="zh-TW"/>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PMingLiU" pitchFamily="18"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FF99"/>
    <a:srgbClr val="008000"/>
    <a:srgbClr val="FF6600"/>
    <a:srgbClr val="000000"/>
    <a:srgbClr val="3333CC"/>
    <a:srgbClr val="33CC33"/>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85"/>
    <p:restoredTop sz="85309"/>
  </p:normalViewPr>
  <p:slideViewPr>
    <p:cSldViewPr showGuides="1">
      <p:cViewPr varScale="1">
        <p:scale>
          <a:sx n="62" d="100"/>
          <a:sy n="62" d="100"/>
        </p:scale>
        <p:origin x="-1746" y="-90"/>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2334"/>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1126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81924"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按一下以編輯母片</a:t>
            </a:r>
            <a:endPar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第二層</a:t>
            </a:r>
            <a:endPar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第三層</a:t>
            </a:r>
            <a:endPar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第四層</a:t>
            </a:r>
            <a:endPar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第五層</a:t>
            </a:r>
            <a:endParaRPr kumimoji="1" lang="zh-TW" altLang="en-US" sz="12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endParaRPr>
          </a:p>
        </p:txBody>
      </p:sp>
      <p:sp>
        <p:nvSpPr>
          <p:cNvPr id="1127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altLang="zh-TW" sz="1200" dirty="0"/>
            </a:fld>
            <a:endParaRPr lang="en-US" altLang="zh-TW"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4" Type="http://schemas.openxmlformats.org/officeDocument/2006/relationships/hyperlink" Target="http://en.wikipedia.org/wiki/Glossary_of_graph_theory" TargetMode="External"/><Relationship Id="rId3" Type="http://schemas.openxmlformats.org/officeDocument/2006/relationships/hyperlink" Target="http://en.wikipedia.org/wiki/Graph_theory" TargetMode="External"/><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82947" name="Rectangle 2"/>
          <p:cNvSpPr>
            <a:spLocks noRot="1" noTextEdit="1"/>
          </p:cNvSpPr>
          <p:nvPr>
            <p:ph type="sldImg"/>
          </p:nvPr>
        </p:nvSpPr>
        <p:spPr/>
      </p:sp>
      <p:sp>
        <p:nvSpPr>
          <p:cNvPr id="82948"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83971" name="Rectangle 2"/>
          <p:cNvSpPr>
            <a:spLocks noRot="1" noTextEdit="1"/>
          </p:cNvSpPr>
          <p:nvPr>
            <p:ph type="sldImg"/>
          </p:nvPr>
        </p:nvSpPr>
        <p:spPr/>
      </p:sp>
      <p:sp>
        <p:nvSpPr>
          <p:cNvPr id="83972" name="Rectangle 3"/>
          <p:cNvSpPr>
            <a:spLocks noGrp="1"/>
          </p:cNvSpPr>
          <p:nvPr>
            <p:ph type="body" idx="1"/>
          </p:nvPr>
        </p:nvSpPr>
        <p:spPr/>
        <p:txBody>
          <a:bodyPr wrap="square" lIns="91440" tIns="45720" rIns="91440" bIns="45720" anchor="t"/>
          <a:p>
            <a:pPr lvl="0"/>
            <a:r>
              <a:rPr lang="en-US" altLang="zh-TW" dirty="0">
                <a:solidFill>
                  <a:srgbClr val="0000CC"/>
                </a:solidFill>
              </a:rPr>
              <a:t>simple graph</a:t>
            </a:r>
            <a:r>
              <a:rPr lang="en-US" altLang="zh-CN" dirty="0">
                <a:solidFill>
                  <a:srgbClr val="0000CC"/>
                </a:solidFill>
              </a:rPr>
              <a:t>: </a:t>
            </a:r>
            <a:r>
              <a:rPr lang="en-US" altLang="zh-TW" dirty="0"/>
              <a:t>no arrows</a:t>
            </a:r>
            <a:r>
              <a:rPr lang="en-US" altLang="zh-CN" dirty="0"/>
              <a:t>; </a:t>
            </a:r>
            <a:r>
              <a:rPr lang="en-US" altLang="zh-TW" dirty="0"/>
              <a:t>no loops</a:t>
            </a:r>
            <a:r>
              <a:rPr lang="en-US" altLang="zh-CN" dirty="0"/>
              <a:t>; </a:t>
            </a:r>
            <a:r>
              <a:rPr lang="en-US" altLang="zh-TW" dirty="0"/>
              <a:t>can't have multiple edges joining vertices</a:t>
            </a:r>
            <a:endParaRPr lang="en-US" altLang="zh-CN" sz="1600" dirty="0">
              <a:solidFill>
                <a:srgbClr val="0000CC"/>
              </a:solidFill>
            </a:endParaRPr>
          </a:p>
          <a:p>
            <a:pPr lvl="0" eaLnBrk="1" hangingPunct="1"/>
            <a:r>
              <a:rPr lang="en-US" altLang="zh-TW" sz="1600" dirty="0">
                <a:solidFill>
                  <a:srgbClr val="0000CC"/>
                </a:solidFill>
              </a:rPr>
              <a:t>Multigraph</a:t>
            </a:r>
            <a:r>
              <a:rPr lang="zh-CN" altLang="en-US" sz="1600" dirty="0">
                <a:solidFill>
                  <a:srgbClr val="0000CC"/>
                </a:solidFill>
              </a:rPr>
              <a:t>（多重图）：</a:t>
            </a:r>
            <a:r>
              <a:rPr lang="zh-CN" altLang="en-US" sz="1000" dirty="0"/>
              <a:t>两点间允许多条边</a:t>
            </a:r>
            <a:endParaRPr lang="zh-TW" altLang="zh-TW"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84995" name="Rectangle 2"/>
          <p:cNvSpPr>
            <a:spLocks noRot="1" noTextEdit="1"/>
          </p:cNvSpPr>
          <p:nvPr>
            <p:ph type="sldImg"/>
          </p:nvPr>
        </p:nvSpPr>
        <p:spPr/>
      </p:sp>
      <p:sp>
        <p:nvSpPr>
          <p:cNvPr id="84996" name="Rectangle 3"/>
          <p:cNvSpPr>
            <a:spLocks noGrp="1"/>
          </p:cNvSpPr>
          <p:nvPr>
            <p:ph type="body" idx="1"/>
          </p:nvPr>
        </p:nvSpPr>
        <p:spPr/>
        <p:txBody>
          <a:bodyPr wrap="square" lIns="91440" tIns="45720" rIns="91440" bIns="45720" anchor="t"/>
          <a:p>
            <a:pPr lvl="0" eaLnBrk="1" hangingPunct="1"/>
            <a:r>
              <a:rPr lang="en-US" altLang="zh-TW" dirty="0">
                <a:solidFill>
                  <a:srgbClr val="0000CC"/>
                </a:solidFill>
              </a:rPr>
              <a:t>Pseudograph</a:t>
            </a:r>
            <a:r>
              <a:rPr lang="en-US" altLang="zh-CN" dirty="0">
                <a:solidFill>
                  <a:srgbClr val="0000CC"/>
                </a:solidFill>
              </a:rPr>
              <a:t>: </a:t>
            </a:r>
            <a:r>
              <a:rPr lang="zh-CN" altLang="en-US" dirty="0"/>
              <a:t>伪图</a:t>
            </a:r>
            <a:endParaRPr lang="zh-CN" altLang="en-US" dirty="0"/>
          </a:p>
          <a:p>
            <a:pPr lvl="0" eaLnBrk="1" hangingPunct="1"/>
            <a:r>
              <a:rPr lang="en-US" altLang="zh-CN" dirty="0"/>
              <a:t>Loop: </a:t>
            </a:r>
            <a:r>
              <a:rPr lang="zh-CN" altLang="en-US" dirty="0"/>
              <a:t>环</a:t>
            </a:r>
            <a:endParaRPr lang="zh-CN" altLang="zh-TW"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86019" name="Rectangle 2"/>
          <p:cNvSpPr>
            <a:spLocks noRot="1" noTextEdit="1"/>
          </p:cNvSpPr>
          <p:nvPr>
            <p:ph type="sldImg"/>
          </p:nvPr>
        </p:nvSpPr>
        <p:spPr/>
      </p:sp>
      <p:sp>
        <p:nvSpPr>
          <p:cNvPr id="86020"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87043" name="Rectangle 2"/>
          <p:cNvSpPr>
            <a:spLocks noRot="1" noTextEdit="1"/>
          </p:cNvSpPr>
          <p:nvPr>
            <p:ph type="sldImg"/>
          </p:nvPr>
        </p:nvSpPr>
        <p:spPr/>
      </p:sp>
      <p:sp>
        <p:nvSpPr>
          <p:cNvPr id="87044"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Rot="1" noTextEdit="1"/>
          </p:cNvSpPr>
          <p:nvPr>
            <p:ph type="sldImg"/>
          </p:nvPr>
        </p:nvSpPr>
        <p:spPr/>
      </p:sp>
      <p:sp>
        <p:nvSpPr>
          <p:cNvPr id="88067" name="Rectangle 3"/>
          <p:cNvSpPr/>
          <p:nvPr>
            <p:ph type="body" idx="1"/>
          </p:nvPr>
        </p:nvSpPr>
        <p:spPr/>
        <p:txBody>
          <a:bodyPr wrap="square" lIns="91440" tIns="45720" rIns="91440" bIns="45720" anchor="t"/>
          <a:p>
            <a:pPr lvl="0"/>
            <a:r>
              <a:rPr lang="zh-CN" altLang="en-US" dirty="0"/>
              <a:t>相识图</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Rot="1" noTextEdit="1"/>
          </p:cNvSpPr>
          <p:nvPr>
            <p:ph type="sldImg"/>
          </p:nvPr>
        </p:nvSpPr>
        <p:spPr/>
      </p:sp>
      <p:sp>
        <p:nvSpPr>
          <p:cNvPr id="89091" name="Rectangle 3"/>
          <p:cNvSpPr/>
          <p:nvPr>
            <p:ph type="body" idx="1"/>
          </p:nvPr>
        </p:nvSpPr>
        <p:spPr/>
        <p:txBody>
          <a:bodyPr wrap="square" lIns="91440" tIns="45720" rIns="91440" bIns="45720" anchor="t"/>
          <a:p>
            <a:pPr lvl="0"/>
            <a:r>
              <a:rPr lang="zh-TW" altLang="en-US" dirty="0"/>
              <a:t>影响图</a:t>
            </a:r>
            <a:r>
              <a:rPr lang="zh-CN" altLang="en-US" dirty="0"/>
              <a:t>，群体行为研究</a:t>
            </a:r>
            <a:endParaRPr lang="zh-CN" altLang="en-US" dirty="0"/>
          </a:p>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Rot="1" noTextEdit="1"/>
          </p:cNvSpPr>
          <p:nvPr>
            <p:ph type="sldImg"/>
          </p:nvPr>
        </p:nvSpPr>
        <p:spPr/>
      </p:sp>
      <p:sp>
        <p:nvSpPr>
          <p:cNvPr id="90115" name="Rectangle 3"/>
          <p:cNvSpPr/>
          <p:nvPr>
            <p:ph type="body" idx="1"/>
          </p:nvPr>
        </p:nvSpPr>
        <p:spPr/>
        <p:txBody>
          <a:bodyPr wrap="square" lIns="91440" tIns="45720" rIns="91440" bIns="45720" anchor="t"/>
          <a:p>
            <a:pPr lvl="0"/>
            <a:r>
              <a:rPr lang="zh-TW" altLang="en-US" dirty="0"/>
              <a:t>优先</a:t>
            </a:r>
            <a:r>
              <a:rPr lang="zh-CN" altLang="en-US" dirty="0"/>
              <a:t>图</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1139" name="Rectangle 2"/>
          <p:cNvSpPr>
            <a:spLocks noRot="1" noTextEdit="1"/>
          </p:cNvSpPr>
          <p:nvPr>
            <p:ph type="sldImg"/>
          </p:nvPr>
        </p:nvSpPr>
        <p:spPr/>
      </p:sp>
      <p:sp>
        <p:nvSpPr>
          <p:cNvPr id="91140" name="Rectangle 3"/>
          <p:cNvSpPr>
            <a:spLocks noGrp="1"/>
          </p:cNvSpPr>
          <p:nvPr>
            <p:ph type="body" idx="1"/>
          </p:nvPr>
        </p:nvSpPr>
        <p:spPr/>
        <p:txBody>
          <a:bodyPr wrap="square" lIns="91440" tIns="45720" rIns="91440" bIns="45720" anchor="t"/>
          <a:p>
            <a:pPr lvl="0" eaLnBrk="1" hangingPunct="1"/>
            <a:r>
              <a:rPr lang="en-US" altLang="zh-TW" dirty="0">
                <a:solidFill>
                  <a:srgbClr val="0000CC"/>
                </a:solidFill>
              </a:rPr>
              <a:t>Adjacent</a:t>
            </a:r>
            <a:r>
              <a:rPr lang="zh-CN" altLang="en-US" dirty="0">
                <a:solidFill>
                  <a:srgbClr val="0000CC"/>
                </a:solidFill>
              </a:rPr>
              <a:t>：邻接或相邻；</a:t>
            </a:r>
            <a:r>
              <a:rPr lang="en-US" altLang="zh-TW" dirty="0">
                <a:solidFill>
                  <a:srgbClr val="0000CC"/>
                </a:solidFill>
              </a:rPr>
              <a:t>Incident</a:t>
            </a:r>
            <a:r>
              <a:rPr lang="zh-CN" altLang="en-US" dirty="0">
                <a:solidFill>
                  <a:srgbClr val="0000CC"/>
                </a:solidFill>
              </a:rPr>
              <a:t>： 关联</a:t>
            </a:r>
            <a:endParaRPr lang="zh-TW" altLang="zh-TW" dirty="0">
              <a:solidFill>
                <a:srgbClr val="0000CC"/>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2163" name="Rectangle 2"/>
          <p:cNvSpPr>
            <a:spLocks noRot="1" noTextEdit="1"/>
          </p:cNvSpPr>
          <p:nvPr>
            <p:ph type="sldImg"/>
          </p:nvPr>
        </p:nvSpPr>
        <p:spPr/>
      </p:sp>
      <p:sp>
        <p:nvSpPr>
          <p:cNvPr id="92164" name="Rectangle 3"/>
          <p:cNvSpPr>
            <a:spLocks noGrp="1"/>
          </p:cNvSpPr>
          <p:nvPr>
            <p:ph type="body" idx="1"/>
          </p:nvPr>
        </p:nvSpPr>
        <p:spPr/>
        <p:txBody>
          <a:bodyPr wrap="square" lIns="91440" tIns="45720" rIns="91440" bIns="45720" anchor="t"/>
          <a:p>
            <a:pPr lvl="0" eaLnBrk="1" hangingPunct="1"/>
            <a:r>
              <a:rPr lang="en-US" altLang="zh-TW" dirty="0">
                <a:solidFill>
                  <a:srgbClr val="3333CC"/>
                </a:solidFill>
              </a:rPr>
              <a:t>Isolated</a:t>
            </a:r>
            <a:r>
              <a:rPr lang="zh-CN" altLang="en-US" dirty="0">
                <a:solidFill>
                  <a:srgbClr val="3333CC"/>
                </a:solidFill>
              </a:rPr>
              <a:t>：孤立</a:t>
            </a:r>
            <a:endParaRPr lang="zh-TW" altLang="zh-TW" dirty="0">
              <a:solidFill>
                <a:srgbClr val="3333CC"/>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3187" name="Rectangle 2"/>
          <p:cNvSpPr>
            <a:spLocks noRot="1" noTextEdit="1"/>
          </p:cNvSpPr>
          <p:nvPr>
            <p:ph type="sldImg"/>
          </p:nvPr>
        </p:nvSpPr>
        <p:spPr/>
      </p:sp>
      <p:sp>
        <p:nvSpPr>
          <p:cNvPr id="93188"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4211" name="Rectangle 2"/>
          <p:cNvSpPr>
            <a:spLocks noRot="1" noTextEdit="1"/>
          </p:cNvSpPr>
          <p:nvPr>
            <p:ph type="sldImg"/>
          </p:nvPr>
        </p:nvSpPr>
        <p:spPr/>
      </p:sp>
      <p:sp>
        <p:nvSpPr>
          <p:cNvPr id="9421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5235" name="Rectangle 2"/>
          <p:cNvSpPr>
            <a:spLocks noRot="1" noTextEdit="1"/>
          </p:cNvSpPr>
          <p:nvPr>
            <p:ph type="sldImg"/>
          </p:nvPr>
        </p:nvSpPr>
        <p:spPr/>
      </p:sp>
      <p:sp>
        <p:nvSpPr>
          <p:cNvPr id="95236" name="Rectangle 3"/>
          <p:cNvSpPr>
            <a:spLocks noGrp="1"/>
          </p:cNvSpPr>
          <p:nvPr>
            <p:ph type="body" idx="1"/>
          </p:nvPr>
        </p:nvSpPr>
        <p:spPr/>
        <p:txBody>
          <a:bodyPr wrap="square" lIns="91440" tIns="45720" rIns="91440" bIns="45720" anchor="t"/>
          <a:p>
            <a:pPr lvl="0" eaLnBrk="1" hangingPunct="1"/>
            <a:r>
              <a:rPr lang="en-US" altLang="zh-CN" dirty="0"/>
              <a:t>u</a:t>
            </a:r>
            <a:r>
              <a:rPr lang="zh-CN" altLang="en-US" dirty="0"/>
              <a:t>邻接到</a:t>
            </a:r>
            <a:r>
              <a:rPr lang="en-US" altLang="zh-CN" dirty="0"/>
              <a:t>v</a:t>
            </a:r>
            <a:r>
              <a:rPr lang="zh-CN" altLang="en-US" dirty="0"/>
              <a:t>， </a:t>
            </a:r>
            <a:r>
              <a:rPr lang="en-US" altLang="zh-CN" dirty="0"/>
              <a:t>v</a:t>
            </a:r>
            <a:r>
              <a:rPr lang="zh-CN" altLang="en-US" dirty="0"/>
              <a:t>从</a:t>
            </a:r>
            <a:r>
              <a:rPr lang="en-US" altLang="zh-CN" dirty="0"/>
              <a:t>u</a:t>
            </a:r>
            <a:r>
              <a:rPr lang="zh-CN" altLang="en-US" dirty="0"/>
              <a:t>邻接</a:t>
            </a:r>
            <a:endParaRPr lang="zh-CN" altLang="en-US" dirty="0"/>
          </a:p>
          <a:p>
            <a:pPr lvl="0" eaLnBrk="1" hangingPunct="1"/>
            <a:r>
              <a:rPr lang="en-US" altLang="zh-TW" dirty="0">
                <a:solidFill>
                  <a:srgbClr val="3333CC"/>
                </a:solidFill>
                <a:sym typeface="Symbol" panose="05050102010706020507" pitchFamily="18" charset="2"/>
              </a:rPr>
              <a:t>initial vertex</a:t>
            </a:r>
            <a:r>
              <a:rPr lang="zh-CN" altLang="en-US" dirty="0">
                <a:sym typeface="Symbol" panose="05050102010706020507" pitchFamily="18" charset="2"/>
              </a:rPr>
              <a:t>：起点， </a:t>
            </a:r>
            <a:r>
              <a:rPr lang="en-US" altLang="zh-TW" dirty="0">
                <a:solidFill>
                  <a:srgbClr val="3333CC"/>
                </a:solidFill>
                <a:sym typeface="Symbol" panose="05050102010706020507" pitchFamily="18" charset="2"/>
              </a:rPr>
              <a:t>terminal (end) vertex</a:t>
            </a:r>
            <a:r>
              <a:rPr lang="en-US" altLang="zh-TW" dirty="0">
                <a:sym typeface="Symbol" panose="05050102010706020507" pitchFamily="18" charset="2"/>
              </a:rPr>
              <a:t> </a:t>
            </a:r>
            <a:r>
              <a:rPr lang="zh-CN" altLang="en-US" dirty="0">
                <a:sym typeface="Symbol" panose="05050102010706020507" pitchFamily="18" charset="2"/>
              </a:rPr>
              <a:t>：终点</a:t>
            </a:r>
            <a:endParaRPr lang="zh-TW" altLang="zh-TW" dirty="0">
              <a:sym typeface="Symbol" panose="05050102010706020507" pitchFamily="18" charset="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6259" name="Rectangle 2"/>
          <p:cNvSpPr>
            <a:spLocks noRot="1" noTextEdit="1"/>
          </p:cNvSpPr>
          <p:nvPr>
            <p:ph type="sldImg"/>
          </p:nvPr>
        </p:nvSpPr>
        <p:spPr/>
      </p:sp>
      <p:sp>
        <p:nvSpPr>
          <p:cNvPr id="96260"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7283" name="Rectangle 2"/>
          <p:cNvSpPr>
            <a:spLocks noRot="1" noTextEdit="1"/>
          </p:cNvSpPr>
          <p:nvPr>
            <p:ph type="sldImg"/>
          </p:nvPr>
        </p:nvSpPr>
        <p:spPr/>
      </p:sp>
      <p:sp>
        <p:nvSpPr>
          <p:cNvPr id="97284"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8307" name="Rectangle 2"/>
          <p:cNvSpPr>
            <a:spLocks noRot="1" noTextEdit="1"/>
          </p:cNvSpPr>
          <p:nvPr>
            <p:ph type="sldImg"/>
          </p:nvPr>
        </p:nvSpPr>
        <p:spPr/>
      </p:sp>
      <p:sp>
        <p:nvSpPr>
          <p:cNvPr id="98308" name="Rectangle 3"/>
          <p:cNvSpPr>
            <a:spLocks noGrp="1"/>
          </p:cNvSpPr>
          <p:nvPr>
            <p:ph type="body" idx="1"/>
          </p:nvPr>
        </p:nvSpPr>
        <p:spPr/>
        <p:txBody>
          <a:bodyPr wrap="square" lIns="91440" tIns="45720" rIns="91440" bIns="45720" anchor="t"/>
          <a:p>
            <a:pPr lvl="0" eaLnBrk="1" hangingPunct="1"/>
            <a:r>
              <a:rPr lang="en-US" altLang="zh-CN" dirty="0"/>
              <a:t>Regular graph: </a:t>
            </a:r>
            <a:r>
              <a:rPr lang="zh-CN" altLang="en-US" dirty="0"/>
              <a:t>正则图</a:t>
            </a:r>
            <a:endParaRPr lang="zh-TW"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99331" name="Rectangle 2"/>
          <p:cNvSpPr>
            <a:spLocks noRot="1" noTextEdit="1"/>
          </p:cNvSpPr>
          <p:nvPr>
            <p:ph type="sldImg"/>
          </p:nvPr>
        </p:nvSpPr>
        <p:spPr/>
      </p:sp>
      <p:sp>
        <p:nvSpPr>
          <p:cNvPr id="9933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0355" name="Rectangle 2"/>
          <p:cNvSpPr>
            <a:spLocks noRot="1" noTextEdit="1"/>
          </p:cNvSpPr>
          <p:nvPr>
            <p:ph type="sldImg"/>
          </p:nvPr>
        </p:nvSpPr>
        <p:spPr/>
      </p:sp>
      <p:sp>
        <p:nvSpPr>
          <p:cNvPr id="100356" name="Rectangle 3"/>
          <p:cNvSpPr>
            <a:spLocks noGrp="1"/>
          </p:cNvSpPr>
          <p:nvPr>
            <p:ph type="body" idx="1"/>
          </p:nvPr>
        </p:nvSpPr>
        <p:spPr/>
        <p:txBody>
          <a:bodyPr wrap="square" lIns="91440" tIns="45720" rIns="91440" bIns="45720" anchor="t"/>
          <a:p>
            <a:pPr lvl="0" eaLnBrk="1" hangingPunct="1"/>
            <a:r>
              <a:rPr lang="zh-CN" altLang="en-US" dirty="0"/>
              <a:t>圈图</a:t>
            </a:r>
            <a:endParaRPr lang="zh-CN" altLang="zh-TW"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1379" name="Rectangle 2"/>
          <p:cNvSpPr>
            <a:spLocks noRot="1" noTextEdit="1"/>
          </p:cNvSpPr>
          <p:nvPr>
            <p:ph type="sldImg"/>
          </p:nvPr>
        </p:nvSpPr>
        <p:spPr/>
      </p:sp>
      <p:sp>
        <p:nvSpPr>
          <p:cNvPr id="101380"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2403" name="Rectangle 2"/>
          <p:cNvSpPr>
            <a:spLocks noRot="1" noTextEdit="1"/>
          </p:cNvSpPr>
          <p:nvPr>
            <p:ph type="sldImg"/>
          </p:nvPr>
        </p:nvSpPr>
        <p:spPr/>
      </p:sp>
      <p:sp>
        <p:nvSpPr>
          <p:cNvPr id="102404" name="Rectangle 3"/>
          <p:cNvSpPr>
            <a:spLocks noGrp="1"/>
          </p:cNvSpPr>
          <p:nvPr>
            <p:ph type="body" idx="1"/>
          </p:nvPr>
        </p:nvSpPr>
        <p:spPr/>
        <p:txBody>
          <a:bodyPr wrap="square" lIns="91440" tIns="45720" rIns="91440" bIns="45720" anchor="t"/>
          <a:p>
            <a:pPr lvl="0" eaLnBrk="1" hangingPunct="1"/>
            <a:r>
              <a:rPr lang="en-US" altLang="zh-TW" dirty="0"/>
              <a:t>Deg</a:t>
            </a:r>
            <a:r>
              <a:rPr lang="zh-CN" altLang="en-US" dirty="0"/>
              <a:t>总和</a:t>
            </a:r>
            <a:r>
              <a:rPr lang="en-US" altLang="zh-CN" dirty="0"/>
              <a:t>/2</a:t>
            </a:r>
            <a:endParaRPr lang="zh-TW"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3427" name="Rectangle 2"/>
          <p:cNvSpPr>
            <a:spLocks noRot="1" noTextEdit="1"/>
          </p:cNvSpPr>
          <p:nvPr>
            <p:ph type="sldImg"/>
          </p:nvPr>
        </p:nvSpPr>
        <p:spPr/>
      </p:sp>
      <p:sp>
        <p:nvSpPr>
          <p:cNvPr id="103428" name="Rectangle 3"/>
          <p:cNvSpPr>
            <a:spLocks noGrp="1"/>
          </p:cNvSpPr>
          <p:nvPr>
            <p:ph type="body" idx="1"/>
          </p:nvPr>
        </p:nvSpPr>
        <p:spPr/>
        <p:txBody>
          <a:bodyPr wrap="square" lIns="91440" tIns="45720" rIns="91440" bIns="45720" anchor="t"/>
          <a:p>
            <a:pPr lvl="0" eaLnBrk="1" hangingPunct="1"/>
            <a:r>
              <a:rPr lang="zh-CN" altLang="en-US" dirty="0"/>
              <a:t>偶图，二部图</a:t>
            </a:r>
            <a:endParaRPr lang="zh-CN" altLang="zh-TW"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4451" name="Rectangle 2"/>
          <p:cNvSpPr>
            <a:spLocks noRot="1" noTextEdit="1"/>
          </p:cNvSpPr>
          <p:nvPr>
            <p:ph type="sldImg"/>
          </p:nvPr>
        </p:nvSpPr>
        <p:spPr/>
      </p:sp>
      <p:sp>
        <p:nvSpPr>
          <p:cNvPr id="10445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5475" name="Rectangle 2"/>
          <p:cNvSpPr>
            <a:spLocks noRot="1" noTextEdit="1"/>
          </p:cNvSpPr>
          <p:nvPr>
            <p:ph type="sldImg"/>
          </p:nvPr>
        </p:nvSpPr>
        <p:spPr/>
      </p:sp>
      <p:sp>
        <p:nvSpPr>
          <p:cNvPr id="105476"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6499" name="Rectangle 2"/>
          <p:cNvSpPr>
            <a:spLocks noRot="1" noTextEdit="1"/>
          </p:cNvSpPr>
          <p:nvPr>
            <p:ph type="sldImg"/>
          </p:nvPr>
        </p:nvSpPr>
        <p:spPr/>
      </p:sp>
      <p:sp>
        <p:nvSpPr>
          <p:cNvPr id="106500" name="Rectangle 3"/>
          <p:cNvSpPr>
            <a:spLocks noGrp="1"/>
          </p:cNvSpPr>
          <p:nvPr>
            <p:ph type="body" idx="1"/>
          </p:nvPr>
        </p:nvSpPr>
        <p:spPr/>
        <p:txBody>
          <a:bodyPr wrap="square" lIns="91440" tIns="45720" rIns="91440" bIns="45720" anchor="t"/>
          <a:p>
            <a:pPr lvl="0" eaLnBrk="1" hangingPunct="1">
              <a:spcBef>
                <a:spcPct val="0"/>
              </a:spcBef>
            </a:pPr>
            <a:r>
              <a:rPr lang="zh-TW" altLang="en-US" dirty="0">
                <a:sym typeface="Symbol" panose="05050102010706020507" pitchFamily="18" charset="2"/>
              </a:rPr>
              <a:t>注意 </a:t>
            </a:r>
            <a:r>
              <a:rPr lang="en-US" altLang="zh-TW" i="1" dirty="0">
                <a:sym typeface="Symbol" panose="05050102010706020507" pitchFamily="18" charset="2"/>
              </a:rPr>
              <a:t>F </a:t>
            </a:r>
            <a:r>
              <a:rPr lang="zh-TW" altLang="en-US" dirty="0">
                <a:sym typeface="Symbol" panose="05050102010706020507" pitchFamily="18" charset="2"/>
              </a:rPr>
              <a:t>要</a:t>
            </a:r>
            <a:r>
              <a:rPr lang="zh-CN" altLang="en-US" dirty="0">
                <a:sym typeface="Symbol" panose="05050102010706020507" pitchFamily="18" charset="2"/>
              </a:rPr>
              <a:t>连接</a:t>
            </a:r>
            <a:r>
              <a:rPr lang="zh-TW" altLang="en-US" dirty="0">
                <a:sym typeface="Symbol" panose="05050102010706020507" pitchFamily="18" charset="2"/>
              </a:rPr>
              <a:t> </a:t>
            </a:r>
            <a:r>
              <a:rPr lang="en-US" altLang="zh-TW" i="1" dirty="0">
                <a:sym typeface="Symbol" panose="05050102010706020507" pitchFamily="18" charset="2"/>
              </a:rPr>
              <a:t>W</a:t>
            </a:r>
            <a:r>
              <a:rPr lang="en-US" altLang="zh-TW" dirty="0">
                <a:sym typeface="Symbol" panose="05050102010706020507" pitchFamily="18" charset="2"/>
              </a:rPr>
              <a:t> </a:t>
            </a:r>
            <a:r>
              <a:rPr lang="zh-CN" altLang="en-US" dirty="0">
                <a:sym typeface="Symbol" panose="05050102010706020507" pitchFamily="18" charset="2"/>
              </a:rPr>
              <a:t>中的点</a:t>
            </a:r>
            <a:endParaRPr lang="zh-CN" altLang="zh-TW" dirty="0">
              <a:sym typeface="Symbol" panose="05050102010706020507" pitchFamily="18" charset="2"/>
            </a:endParaRPr>
          </a:p>
          <a:p>
            <a:pPr lvl="0" eaLnBrk="1" hangingPunct="1">
              <a:spcBef>
                <a:spcPct val="0"/>
              </a:spcBef>
            </a:pPr>
            <a:r>
              <a:rPr lang="en-US" altLang="zh-TW" dirty="0">
                <a:sym typeface="Symbol" panose="05050102010706020507" pitchFamily="18" charset="2"/>
              </a:rPr>
              <a:t>F </a:t>
            </a:r>
            <a:r>
              <a:rPr lang="en-US" altLang="zh-TW" i="1" dirty="0">
                <a:sym typeface="Symbol" panose="05050102010706020507" pitchFamily="18" charset="2"/>
              </a:rPr>
              <a:t>E</a:t>
            </a:r>
            <a:r>
              <a:rPr lang="en-US" altLang="zh-TW" dirty="0">
                <a:ea typeface="AR MinchoL JIS" pitchFamily="49" charset="-128"/>
              </a:rPr>
              <a:t>∩ { {a,b} | a</a:t>
            </a:r>
            <a:r>
              <a:rPr lang="en-US" altLang="zh-TW" dirty="0">
                <a:sym typeface="Symbol" panose="05050102010706020507" pitchFamily="18" charset="2"/>
              </a:rPr>
              <a:t>W and bW}</a:t>
            </a:r>
            <a:endParaRPr lang="en-US" altLang="zh-TW" dirty="0">
              <a:sym typeface="Symbol" panose="05050102010706020507" pitchFamily="18" charset="2"/>
            </a:endParaRPr>
          </a:p>
          <a:p>
            <a:pPr lvl="0" eaLnBrk="1" hangingPunct="1"/>
            <a:endParaRPr lang="zh-TW" altLang="zh-TW"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7523" name="Rectangle 2"/>
          <p:cNvSpPr>
            <a:spLocks noRot="1" noTextEdit="1"/>
          </p:cNvSpPr>
          <p:nvPr>
            <p:ph type="sldImg"/>
          </p:nvPr>
        </p:nvSpPr>
        <p:spPr/>
      </p:sp>
      <p:sp>
        <p:nvSpPr>
          <p:cNvPr id="107524"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8547" name="Rectangle 2"/>
          <p:cNvSpPr>
            <a:spLocks noRot="1" noTextEdit="1"/>
          </p:cNvSpPr>
          <p:nvPr>
            <p:ph type="sldImg"/>
          </p:nvPr>
        </p:nvSpPr>
        <p:spPr/>
      </p:sp>
      <p:sp>
        <p:nvSpPr>
          <p:cNvPr id="108548" name="Rectangle 3"/>
          <p:cNvSpPr>
            <a:spLocks noGrp="1"/>
          </p:cNvSpPr>
          <p:nvPr>
            <p:ph type="body" idx="1"/>
          </p:nvPr>
        </p:nvSpPr>
        <p:spPr/>
        <p:txBody>
          <a:bodyPr wrap="square" lIns="91440" tIns="45720" rIns="91440" bIns="45720" anchor="t"/>
          <a:p>
            <a:pPr lvl="0" eaLnBrk="1" hangingPunct="1"/>
            <a:r>
              <a:rPr lang="zh-CN" altLang="en-US" dirty="0"/>
              <a:t>图的同构</a:t>
            </a:r>
            <a:endParaRPr lang="zh-CN" altLang="zh-TW"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09571" name="Rectangle 2"/>
          <p:cNvSpPr>
            <a:spLocks noRot="1" noTextEdit="1"/>
          </p:cNvSpPr>
          <p:nvPr>
            <p:ph type="sldImg"/>
          </p:nvPr>
        </p:nvSpPr>
        <p:spPr/>
      </p:sp>
      <p:sp>
        <p:nvSpPr>
          <p:cNvPr id="10957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0595" name="Rectangle 2"/>
          <p:cNvSpPr>
            <a:spLocks noRot="1" noTextEdit="1"/>
          </p:cNvSpPr>
          <p:nvPr>
            <p:ph type="sldImg"/>
          </p:nvPr>
        </p:nvSpPr>
        <p:spPr/>
      </p:sp>
      <p:sp>
        <p:nvSpPr>
          <p:cNvPr id="110596"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1619" name="Rectangle 2"/>
          <p:cNvSpPr>
            <a:spLocks noRot="1" noTextEdit="1"/>
          </p:cNvSpPr>
          <p:nvPr>
            <p:ph type="sldImg"/>
          </p:nvPr>
        </p:nvSpPr>
        <p:spPr/>
      </p:sp>
      <p:sp>
        <p:nvSpPr>
          <p:cNvPr id="111620" name="Rectangle 3"/>
          <p:cNvSpPr>
            <a:spLocks noGrp="1"/>
          </p:cNvSpPr>
          <p:nvPr>
            <p:ph type="body" idx="1"/>
          </p:nvPr>
        </p:nvSpPr>
        <p:spPr/>
        <p:txBody>
          <a:bodyPr wrap="square" lIns="91440" tIns="45720" rIns="91440" bIns="45720" anchor="t"/>
          <a:p>
            <a:pPr lvl="0" eaLnBrk="1" hangingPunct="1"/>
            <a:r>
              <a:rPr lang="en-US" altLang="zh-CN" dirty="0"/>
              <a:t>Maybe not </a:t>
            </a:r>
            <a:r>
              <a:rPr lang="en-US" altLang="zh-CN" dirty="0">
                <a:ea typeface="宋体" panose="02010600030101010101" pitchFamily="2" charset="-122"/>
              </a:rPr>
              <a:t>zero-one matrix</a:t>
            </a:r>
            <a:endParaRPr lang="zh-TW" altLang="zh-TW"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2643" name="Rectangle 2"/>
          <p:cNvSpPr>
            <a:spLocks noRot="1" noTextEdit="1"/>
          </p:cNvSpPr>
          <p:nvPr>
            <p:ph type="sldImg"/>
          </p:nvPr>
        </p:nvSpPr>
        <p:spPr/>
      </p:sp>
      <p:sp>
        <p:nvSpPr>
          <p:cNvPr id="112644" name="Rectangle 3"/>
          <p:cNvSpPr>
            <a:spLocks noGrp="1"/>
          </p:cNvSpPr>
          <p:nvPr>
            <p:ph type="body" idx="1"/>
          </p:nvPr>
        </p:nvSpPr>
        <p:spPr/>
        <p:txBody>
          <a:bodyPr wrap="square" lIns="91440" tIns="45720" rIns="91440" bIns="45720" anchor="t"/>
          <a:p>
            <a:pPr lvl="0" eaLnBrk="1" hangingPunct="1"/>
            <a:r>
              <a:rPr lang="en-US" altLang="zh-TW"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 adjacent</a:t>
            </a:r>
            <a:endParaRPr lang="zh-TW" altLang="zh-TW" dirty="0">
              <a:solidFill>
                <a:srgbClr val="FF0000"/>
              </a:solidFill>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Rot="1" noTextEdit="1"/>
          </p:cNvSpPr>
          <p:nvPr>
            <p:ph type="sldImg"/>
          </p:nvPr>
        </p:nvSpPr>
        <p:spPr/>
      </p:sp>
      <p:sp>
        <p:nvSpPr>
          <p:cNvPr id="113667" name="Rectangle 3"/>
          <p:cNvSpPr/>
          <p:nvPr>
            <p:ph type="body" idx="1"/>
          </p:nvPr>
        </p:nvSpPr>
        <p:spPr/>
        <p:txBody>
          <a:bodyPr wrap="square" lIns="91440" tIns="45720" rIns="91440" bIns="45720" anchor="t"/>
          <a:p>
            <a:pPr lvl="0"/>
            <a:r>
              <a:rPr lang="en-US" altLang="zh-TW" dirty="0"/>
              <a:t>G1=({v1,v2},{}),  G2=({v1,v2},{{v1,v2}})   </a:t>
            </a:r>
            <a:r>
              <a:rPr lang="zh-CN" altLang="en-US" dirty="0"/>
              <a:t>满足第三个条件，但不是同构</a:t>
            </a:r>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4691" name="Rectangle 2"/>
          <p:cNvSpPr>
            <a:spLocks noRot="1" noTextEdit="1"/>
          </p:cNvSpPr>
          <p:nvPr>
            <p:ph type="sldImg"/>
          </p:nvPr>
        </p:nvSpPr>
        <p:spPr/>
      </p:sp>
      <p:sp>
        <p:nvSpPr>
          <p:cNvPr id="11469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5715" name="Rectangle 2"/>
          <p:cNvSpPr>
            <a:spLocks noRot="1" noTextEdit="1"/>
          </p:cNvSpPr>
          <p:nvPr>
            <p:ph type="sldImg"/>
          </p:nvPr>
        </p:nvSpPr>
        <p:spPr/>
      </p:sp>
      <p:sp>
        <p:nvSpPr>
          <p:cNvPr id="115716" name="Rectangle 3"/>
          <p:cNvSpPr>
            <a:spLocks noGrp="1"/>
          </p:cNvSpPr>
          <p:nvPr>
            <p:ph type="body" idx="1"/>
          </p:nvPr>
        </p:nvSpPr>
        <p:spPr/>
        <p:txBody>
          <a:bodyPr wrap="square" lIns="91440" tIns="45720" rIns="91440" bIns="45720" anchor="t"/>
          <a:p>
            <a:pPr lvl="0" eaLnBrk="1" hangingPunct="1"/>
            <a:r>
              <a:rPr lang="zh-CN" altLang="en-US" dirty="0"/>
              <a:t>给定两图</a:t>
            </a:r>
            <a:r>
              <a:rPr lang="zh-TW" altLang="en-US" dirty="0"/>
              <a:t>，</a:t>
            </a:r>
            <a:r>
              <a:rPr lang="zh-CN" altLang="en-US" dirty="0"/>
              <a:t>判断</a:t>
            </a:r>
            <a:r>
              <a:rPr lang="zh-TW" altLang="en-US" dirty="0"/>
              <a:t>它</a:t>
            </a:r>
            <a:r>
              <a:rPr lang="zh-CN" altLang="en-US" dirty="0"/>
              <a:t>们</a:t>
            </a:r>
            <a:r>
              <a:rPr lang="zh-TW" altLang="en-US" dirty="0"/>
              <a:t>是否</a:t>
            </a:r>
            <a:r>
              <a:rPr lang="en-US" altLang="zh-TW" dirty="0"/>
              <a:t>isomorphic</a:t>
            </a:r>
            <a:r>
              <a:rPr lang="zh-TW" altLang="en-US" dirty="0"/>
              <a:t>的</a:t>
            </a:r>
            <a:r>
              <a:rPr lang="zh-CN" altLang="en-US" dirty="0"/>
              <a:t>问题</a:t>
            </a:r>
            <a:r>
              <a:rPr lang="zh-TW" altLang="en-US" dirty="0"/>
              <a:t>一般</a:t>
            </a:r>
            <a:r>
              <a:rPr lang="zh-CN" altLang="en-US" dirty="0"/>
              <a:t>来说</a:t>
            </a:r>
            <a:r>
              <a:rPr lang="zh-TW" altLang="en-US" dirty="0"/>
              <a:t>不易解，而且答案常是否定的。</a:t>
            </a:r>
            <a:endParaRPr lang="zh-TW" altLang="zh-TW"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6739" name="Rectangle 2"/>
          <p:cNvSpPr>
            <a:spLocks noRot="1" noTextEdit="1"/>
          </p:cNvSpPr>
          <p:nvPr>
            <p:ph type="sldImg"/>
          </p:nvPr>
        </p:nvSpPr>
        <p:spPr/>
      </p:sp>
      <p:sp>
        <p:nvSpPr>
          <p:cNvPr id="116740" name="Rectangle 3"/>
          <p:cNvSpPr>
            <a:spLocks noGrp="1"/>
          </p:cNvSpPr>
          <p:nvPr>
            <p:ph type="body" idx="1"/>
          </p:nvPr>
        </p:nvSpPr>
        <p:spPr/>
        <p:txBody>
          <a:bodyPr wrap="square" lIns="91440" tIns="45720" rIns="91440" bIns="45720" anchor="t"/>
          <a:p>
            <a:pPr lvl="0" eaLnBrk="1" hangingPunct="1"/>
            <a:r>
              <a:rPr lang="zh-CN" altLang="en-US" dirty="0"/>
              <a:t>也可以考虑</a:t>
            </a:r>
            <a:r>
              <a:rPr lang="en-US" altLang="zh-CN" dirty="0"/>
              <a:t>G</a:t>
            </a:r>
            <a:r>
              <a:rPr lang="zh-CN" altLang="en-US" dirty="0"/>
              <a:t>中度为</a:t>
            </a:r>
            <a:r>
              <a:rPr lang="en-US" altLang="zh-CN" dirty="0"/>
              <a:t>3</a:t>
            </a:r>
            <a:r>
              <a:rPr lang="zh-CN" altLang="en-US" dirty="0"/>
              <a:t>的点构成的子图是否同构于</a:t>
            </a:r>
            <a:r>
              <a:rPr lang="en-US" altLang="zh-CN" dirty="0"/>
              <a:t>H</a:t>
            </a:r>
            <a:r>
              <a:rPr lang="zh-CN" altLang="en-US" dirty="0"/>
              <a:t>中度为</a:t>
            </a:r>
            <a:r>
              <a:rPr lang="en-US" altLang="zh-CN" dirty="0"/>
              <a:t>3</a:t>
            </a:r>
            <a:r>
              <a:rPr lang="zh-CN" altLang="en-US" dirty="0"/>
              <a:t>的点构成的子图</a:t>
            </a:r>
            <a:endParaRPr lang="zh-CN" altLang="zh-TW"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7763" name="Rectangle 2"/>
          <p:cNvSpPr>
            <a:spLocks noRot="1" noTextEdit="1"/>
          </p:cNvSpPr>
          <p:nvPr>
            <p:ph type="sldImg"/>
          </p:nvPr>
        </p:nvSpPr>
        <p:spPr/>
      </p:sp>
      <p:sp>
        <p:nvSpPr>
          <p:cNvPr id="117764"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8787" name="Rectangle 2"/>
          <p:cNvSpPr>
            <a:spLocks noRot="1" noTextEdit="1"/>
          </p:cNvSpPr>
          <p:nvPr>
            <p:ph type="sldImg"/>
          </p:nvPr>
        </p:nvSpPr>
        <p:spPr/>
      </p:sp>
      <p:sp>
        <p:nvSpPr>
          <p:cNvPr id="118788" name="Rectangle 3"/>
          <p:cNvSpPr>
            <a:spLocks noGrp="1"/>
          </p:cNvSpPr>
          <p:nvPr>
            <p:ph type="body" idx="1"/>
          </p:nvPr>
        </p:nvSpPr>
        <p:spPr/>
        <p:txBody>
          <a:bodyPr wrap="square" lIns="91440" tIns="45720" rIns="91440" bIns="45720" anchor="t"/>
          <a:p>
            <a:pPr lvl="0" eaLnBrk="1" hangingPunct="1">
              <a:spcBef>
                <a:spcPct val="0"/>
              </a:spcBef>
            </a:pPr>
            <a:r>
              <a:rPr lang="zh-TW" altLang="en-US" dirty="0"/>
              <a:t>此二</a:t>
            </a:r>
            <a:r>
              <a:rPr lang="zh-CN" altLang="en-US" dirty="0"/>
              <a:t>图</a:t>
            </a:r>
            <a:r>
              <a:rPr lang="zh-TW" altLang="en-US" dirty="0"/>
              <a:t>都是</a:t>
            </a:r>
            <a:r>
              <a:rPr lang="en-US" altLang="zh-TW" dirty="0"/>
              <a:t>vertex-transitive</a:t>
            </a:r>
            <a:r>
              <a:rPr lang="zh-TW" altLang="en-US" dirty="0"/>
              <a:t>，每</a:t>
            </a:r>
            <a:r>
              <a:rPr lang="zh-CN" altLang="en-US" dirty="0"/>
              <a:t>个点</a:t>
            </a:r>
            <a:r>
              <a:rPr lang="zh-TW" altLang="en-US" dirty="0"/>
              <a:t>的角色是一</a:t>
            </a:r>
            <a:r>
              <a:rPr lang="zh-CN" altLang="en-US" dirty="0"/>
              <a:t>样</a:t>
            </a:r>
            <a:r>
              <a:rPr lang="zh-TW" altLang="en-US" dirty="0"/>
              <a:t>的，故</a:t>
            </a:r>
            <a:r>
              <a:rPr lang="zh-CN" altLang="en-US" dirty="0"/>
              <a:t>考虑</a:t>
            </a:r>
            <a:r>
              <a:rPr lang="en-US" altLang="zh-TW" i="1" dirty="0"/>
              <a:t>u</a:t>
            </a:r>
            <a:r>
              <a:rPr lang="en-US" altLang="zh-TW" dirty="0"/>
              <a:t>1</a:t>
            </a:r>
            <a:r>
              <a:rPr lang="zh-TW" altLang="en-US" dirty="0"/>
              <a:t>及</a:t>
            </a:r>
            <a:r>
              <a:rPr lang="en-US" altLang="zh-TW" i="1" dirty="0"/>
              <a:t>v</a:t>
            </a:r>
            <a:r>
              <a:rPr lang="en-US" altLang="zh-TW" dirty="0"/>
              <a:t>1</a:t>
            </a:r>
            <a:r>
              <a:rPr lang="zh-TW" altLang="en-US" dirty="0"/>
              <a:t>即可</a:t>
            </a:r>
            <a:endParaRPr lang="zh-TW" altLang="zh-CN" dirty="0"/>
          </a:p>
          <a:p>
            <a:pPr lvl="0" eaLnBrk="1" hangingPunct="1">
              <a:spcBef>
                <a:spcPct val="0"/>
              </a:spcBef>
            </a:pPr>
            <a:endParaRPr lang="zh-TW" altLang="en-US" dirty="0"/>
          </a:p>
          <a:p>
            <a:pPr lvl="0" eaLnBrk="1" hangingPunct="1"/>
            <a:endParaRPr lang="zh-TW" altLang="zh-TW"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19811" name="Rectangle 2"/>
          <p:cNvSpPr>
            <a:spLocks noRot="1" noTextEdit="1"/>
          </p:cNvSpPr>
          <p:nvPr>
            <p:ph type="sldImg"/>
          </p:nvPr>
        </p:nvSpPr>
        <p:spPr/>
      </p:sp>
      <p:sp>
        <p:nvSpPr>
          <p:cNvPr id="119812" name="Rectangle 3"/>
          <p:cNvSpPr>
            <a:spLocks noGrp="1"/>
          </p:cNvSpPr>
          <p:nvPr>
            <p:ph type="body" idx="1"/>
          </p:nvPr>
        </p:nvSpPr>
        <p:spPr/>
        <p:txBody>
          <a:bodyPr wrap="square" lIns="91440" tIns="45720" rIns="91440" bIns="45720" anchor="t"/>
          <a:p>
            <a:pPr lvl="0"/>
            <a:endParaRPr lang="zh-TW" altLang="zh-TW"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20835" name="Rectangle 2"/>
          <p:cNvSpPr>
            <a:spLocks noRot="1" noTextEdit="1"/>
          </p:cNvSpPr>
          <p:nvPr>
            <p:ph type="sldImg"/>
          </p:nvPr>
        </p:nvSpPr>
        <p:spPr/>
      </p:sp>
      <p:sp>
        <p:nvSpPr>
          <p:cNvPr id="120836" name="Rectangle 3"/>
          <p:cNvSpPr>
            <a:spLocks noGrp="1"/>
          </p:cNvSpPr>
          <p:nvPr>
            <p:ph type="body" idx="1"/>
          </p:nvPr>
        </p:nvSpPr>
        <p:spPr/>
        <p:txBody>
          <a:bodyPr wrap="square" lIns="91440" tIns="45720" rIns="91440" bIns="45720" anchor="t"/>
          <a:p>
            <a:pPr marL="742950" lvl="1" indent="-285750" eaLnBrk="1" hangingPunct="1">
              <a:spcBef>
                <a:spcPct val="0"/>
              </a:spcBef>
            </a:pPr>
            <a:r>
              <a:rPr lang="zh-CN" altLang="en-US" dirty="0"/>
              <a:t>一个不连通的图有好几个</a:t>
            </a:r>
            <a:r>
              <a:rPr lang="en-US" altLang="zh-CN" dirty="0"/>
              <a:t>component</a:t>
            </a:r>
            <a:endParaRPr lang="en-US" altLang="zh-TW" dirty="0"/>
          </a:p>
          <a:p>
            <a:pPr lvl="0" eaLnBrk="1" hangingPunct="1"/>
            <a:endParaRPr lang="zh-TW" altLang="zh-TW"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21859" name="Rectangle 2"/>
          <p:cNvSpPr>
            <a:spLocks noRot="1" noTextEdit="1"/>
          </p:cNvSpPr>
          <p:nvPr>
            <p:ph type="sldImg"/>
          </p:nvPr>
        </p:nvSpPr>
        <p:spPr/>
      </p:sp>
      <p:sp>
        <p:nvSpPr>
          <p:cNvPr id="121860"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22883" name="Rectangle 2"/>
          <p:cNvSpPr>
            <a:spLocks noRot="1" noTextEdit="1"/>
          </p:cNvSpPr>
          <p:nvPr>
            <p:ph type="sldImg"/>
          </p:nvPr>
        </p:nvSpPr>
        <p:spPr/>
      </p:sp>
      <p:sp>
        <p:nvSpPr>
          <p:cNvPr id="122884"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23907" name="Rectangle 2"/>
          <p:cNvSpPr>
            <a:spLocks noRot="1" noTextEdit="1"/>
          </p:cNvSpPr>
          <p:nvPr>
            <p:ph type="sldImg"/>
          </p:nvPr>
        </p:nvSpPr>
        <p:spPr/>
      </p:sp>
      <p:sp>
        <p:nvSpPr>
          <p:cNvPr id="123908"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24931" name="Rectangle 2"/>
          <p:cNvSpPr>
            <a:spLocks noRot="1" noTextEdit="1"/>
          </p:cNvSpPr>
          <p:nvPr>
            <p:ph type="sldImg"/>
          </p:nvPr>
        </p:nvSpPr>
        <p:spPr/>
      </p:sp>
      <p:sp>
        <p:nvSpPr>
          <p:cNvPr id="12493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25955" name="Rectangle 2"/>
          <p:cNvSpPr>
            <a:spLocks noRot="1" noTextEdit="1"/>
          </p:cNvSpPr>
          <p:nvPr>
            <p:ph type="sldImg"/>
          </p:nvPr>
        </p:nvSpPr>
        <p:spPr/>
      </p:sp>
      <p:sp>
        <p:nvSpPr>
          <p:cNvPr id="125956"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26979" name="Rectangle 2"/>
          <p:cNvSpPr>
            <a:spLocks noRot="1" noTextEdit="1"/>
          </p:cNvSpPr>
          <p:nvPr>
            <p:ph type="sldImg"/>
          </p:nvPr>
        </p:nvSpPr>
        <p:spPr/>
      </p:sp>
      <p:sp>
        <p:nvSpPr>
          <p:cNvPr id="126980"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Rot="1" noTextEdit="1"/>
          </p:cNvSpPr>
          <p:nvPr>
            <p:ph type="sldImg"/>
          </p:nvPr>
        </p:nvSpPr>
        <p:spPr/>
      </p:sp>
      <p:sp>
        <p:nvSpPr>
          <p:cNvPr id="128003" name="Rectangle 3"/>
          <p:cNvSpPr/>
          <p:nvPr>
            <p:ph type="body" idx="1"/>
          </p:nvPr>
        </p:nvSpPr>
        <p:spPr/>
        <p:txBody>
          <a:bodyPr wrap="square" lIns="91440" tIns="45720" rIns="91440" bIns="45720" anchor="t"/>
          <a:p>
            <a:pPr lvl="0"/>
            <a:r>
              <a:rPr lang="zh-TW" altLang="en-US" dirty="0"/>
              <a:t>七</a:t>
            </a:r>
            <a:r>
              <a:rPr lang="zh-CN" altLang="en-US" dirty="0"/>
              <a:t>桥问题，</a:t>
            </a:r>
            <a:r>
              <a:rPr lang="zh-CN" altLang="en-US" sz="900" dirty="0">
                <a:solidFill>
                  <a:srgbClr val="008000"/>
                </a:solidFill>
              </a:rPr>
              <a:t>图论</a:t>
            </a:r>
            <a:r>
              <a:rPr lang="zh-TW" altLang="en-US" sz="900" dirty="0">
                <a:solidFill>
                  <a:srgbClr val="008000"/>
                </a:solidFill>
              </a:rPr>
              <a:t>的起源</a:t>
            </a:r>
            <a:endParaRPr lang="zh-TW" altLang="en-US" sz="900" dirty="0">
              <a:solidFill>
                <a:srgbClr val="008000"/>
              </a:solidFill>
            </a:endParaRPr>
          </a:p>
          <a:p>
            <a:pPr lvl="0" eaLnBrk="1" hangingPunct="1">
              <a:spcBef>
                <a:spcPct val="50000"/>
              </a:spcBef>
            </a:pPr>
            <a:r>
              <a:rPr lang="zh-TW" altLang="en-US" dirty="0"/>
              <a:t>因</a:t>
            </a:r>
            <a:r>
              <a:rPr lang="zh-CN" altLang="en-US" dirty="0"/>
              <a:t>为</a:t>
            </a:r>
            <a:r>
              <a:rPr lang="zh-TW" altLang="en-US" dirty="0"/>
              <a:t>每次</a:t>
            </a:r>
            <a:r>
              <a:rPr lang="zh-CN" altLang="en-US" dirty="0"/>
              <a:t>经过</a:t>
            </a:r>
            <a:r>
              <a:rPr lang="zh-TW" altLang="en-US" dirty="0"/>
              <a:t>一</a:t>
            </a:r>
            <a:r>
              <a:rPr lang="zh-CN" altLang="en-US" dirty="0"/>
              <a:t>个点</a:t>
            </a:r>
            <a:r>
              <a:rPr lang="zh-TW" altLang="en-US" dirty="0"/>
              <a:t>，都需要</a:t>
            </a:r>
            <a:r>
              <a:rPr lang="zh-CN" altLang="en-US" dirty="0"/>
              <a:t>从</a:t>
            </a:r>
            <a:r>
              <a:rPr lang="zh-TW" altLang="en-US" dirty="0"/>
              <a:t>一</a:t>
            </a:r>
            <a:r>
              <a:rPr lang="zh-CN" altLang="en-US" dirty="0"/>
              <a:t>条边进入该点</a:t>
            </a:r>
            <a:r>
              <a:rPr lang="zh-TW" altLang="en-US" dirty="0"/>
              <a:t>，再用另一</a:t>
            </a:r>
            <a:r>
              <a:rPr lang="zh-CN" altLang="en-US" dirty="0"/>
              <a:t>条边离开</a:t>
            </a:r>
            <a:r>
              <a:rPr lang="zh-TW" altLang="en-US" dirty="0"/>
              <a:t>，所以</a:t>
            </a:r>
            <a:r>
              <a:rPr lang="zh-CN" altLang="en-US" dirty="0"/>
              <a:t>经过</a:t>
            </a:r>
            <a:r>
              <a:rPr lang="zh-TW" altLang="en-US" dirty="0"/>
              <a:t>每</a:t>
            </a:r>
            <a:r>
              <a:rPr lang="zh-CN" altLang="en-US" dirty="0"/>
              <a:t>个点</a:t>
            </a:r>
            <a:r>
              <a:rPr lang="zh-TW" altLang="en-US" dirty="0"/>
              <a:t>一次要使用</a:t>
            </a:r>
            <a:r>
              <a:rPr lang="zh-CN" altLang="en-US" dirty="0"/>
              <a:t>掉</a:t>
            </a:r>
            <a:r>
              <a:rPr lang="zh-TW" altLang="en-US" dirty="0"/>
              <a:t>一</a:t>
            </a:r>
            <a:r>
              <a:rPr lang="zh-CN" altLang="en-US" dirty="0"/>
              <a:t>对边</a:t>
            </a:r>
            <a:r>
              <a:rPr lang="zh-TW" altLang="en-US" dirty="0"/>
              <a:t>。</a:t>
            </a:r>
            <a:br>
              <a:rPr lang="zh-TW" altLang="zh-CN" dirty="0"/>
            </a:br>
            <a:r>
              <a:rPr lang="zh-TW" altLang="en-US" dirty="0">
                <a:sym typeface="Symbol" panose="05050102010706020507" pitchFamily="18" charset="2"/>
              </a:rPr>
              <a:t> 每</a:t>
            </a:r>
            <a:r>
              <a:rPr lang="zh-CN" altLang="en-US" dirty="0">
                <a:sym typeface="Symbol" panose="05050102010706020507" pitchFamily="18" charset="2"/>
              </a:rPr>
              <a:t>个点</a:t>
            </a:r>
            <a:r>
              <a:rPr lang="zh-TW" altLang="en-US" dirty="0">
                <a:sym typeface="Symbol" panose="05050102010706020507" pitchFamily="18" charset="2"/>
              </a:rPr>
              <a:t>上</a:t>
            </a:r>
            <a:r>
              <a:rPr lang="zh-CN" altLang="en-US" dirty="0">
                <a:sym typeface="Symbol" panose="05050102010706020507" pitchFamily="18" charset="2"/>
              </a:rPr>
              <a:t>连接</a:t>
            </a:r>
            <a:r>
              <a:rPr lang="zh-TW" altLang="en-US" dirty="0">
                <a:sym typeface="Symbol" panose="05050102010706020507" pitchFamily="18" charset="2"/>
              </a:rPr>
              <a:t>的</a:t>
            </a:r>
            <a:r>
              <a:rPr lang="zh-CN" altLang="en-US" dirty="0">
                <a:sym typeface="Symbol" panose="05050102010706020507" pitchFamily="18" charset="2"/>
              </a:rPr>
              <a:t>边数必须</a:t>
            </a:r>
            <a:r>
              <a:rPr lang="zh-TW" altLang="en-US" dirty="0">
                <a:sym typeface="Symbol" panose="05050102010706020507" pitchFamily="18" charset="2"/>
              </a:rPr>
              <a:t>是</a:t>
            </a:r>
            <a:r>
              <a:rPr lang="zh-CN" altLang="en-US" dirty="0">
                <a:sym typeface="Symbol" panose="05050102010706020507" pitchFamily="18" charset="2"/>
              </a:rPr>
              <a:t>偶数</a:t>
            </a:r>
            <a:r>
              <a:rPr lang="zh-TW" altLang="en-US" dirty="0">
                <a:sym typeface="Symbol" panose="05050102010706020507" pitchFamily="18" charset="2"/>
              </a:rPr>
              <a:t>才行 </a:t>
            </a:r>
            <a:br>
              <a:rPr lang="zh-TW" altLang="zh-CN" dirty="0">
                <a:sym typeface="Symbol" panose="05050102010706020507" pitchFamily="18" charset="2"/>
              </a:rPr>
            </a:br>
            <a:r>
              <a:rPr lang="zh-TW" altLang="en-US" dirty="0">
                <a:sym typeface="Symbol" panose="05050102010706020507" pitchFamily="18" charset="2"/>
              </a:rPr>
              <a:t>  此</a:t>
            </a:r>
            <a:r>
              <a:rPr lang="zh-CN" altLang="en-US" dirty="0">
                <a:sym typeface="Symbol" panose="05050102010706020507" pitchFamily="18" charset="2"/>
              </a:rPr>
              <a:t>种</a:t>
            </a:r>
            <a:r>
              <a:rPr lang="zh-TW" altLang="en-US" dirty="0">
                <a:sym typeface="Symbol" panose="05050102010706020507" pitchFamily="18" charset="2"/>
              </a:rPr>
              <a:t>走法不存在</a:t>
            </a:r>
            <a:r>
              <a:rPr lang="zh-CN" altLang="en-US" dirty="0">
                <a:sym typeface="Symbol" panose="05050102010706020507" pitchFamily="18" charset="2"/>
              </a:rPr>
              <a:t>！</a:t>
            </a:r>
            <a:endParaRPr lang="zh-TW" altLang="en-US" dirty="0">
              <a:sym typeface="Symbol" panose="05050102010706020507" pitchFamily="18" charset="2"/>
            </a:endParaRPr>
          </a:p>
          <a:p>
            <a:pPr lvl="0"/>
            <a:endParaRPr lang="en-US" altLang="zh-TW" dirty="0"/>
          </a:p>
          <a:p>
            <a:pPr lvl="0"/>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29027" name="Rectangle 2"/>
          <p:cNvSpPr>
            <a:spLocks noRot="1" noTextEdit="1"/>
          </p:cNvSpPr>
          <p:nvPr>
            <p:ph type="sldImg"/>
          </p:nvPr>
        </p:nvSpPr>
        <p:spPr/>
      </p:sp>
      <p:sp>
        <p:nvSpPr>
          <p:cNvPr id="129028"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30051" name="Rectangle 2"/>
          <p:cNvSpPr>
            <a:spLocks noRot="1" noTextEdit="1"/>
          </p:cNvSpPr>
          <p:nvPr>
            <p:ph type="sldImg"/>
          </p:nvPr>
        </p:nvSpPr>
        <p:spPr/>
      </p:sp>
      <p:sp>
        <p:nvSpPr>
          <p:cNvPr id="13005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31075" name="Rectangle 2"/>
          <p:cNvSpPr>
            <a:spLocks noRot="1" noTextEdit="1"/>
          </p:cNvSpPr>
          <p:nvPr>
            <p:ph type="sldImg"/>
          </p:nvPr>
        </p:nvSpPr>
        <p:spPr/>
      </p:sp>
      <p:sp>
        <p:nvSpPr>
          <p:cNvPr id="131076"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32099" name="Rectangle 2"/>
          <p:cNvSpPr>
            <a:spLocks noRot="1" noTextEdit="1"/>
          </p:cNvSpPr>
          <p:nvPr>
            <p:ph type="sldImg"/>
          </p:nvPr>
        </p:nvSpPr>
        <p:spPr/>
      </p:sp>
      <p:sp>
        <p:nvSpPr>
          <p:cNvPr id="132100"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33123" name="Rectangle 2"/>
          <p:cNvSpPr>
            <a:spLocks noRot="1" noTextEdit="1"/>
          </p:cNvSpPr>
          <p:nvPr>
            <p:ph type="sldImg"/>
          </p:nvPr>
        </p:nvSpPr>
        <p:spPr/>
      </p:sp>
      <p:sp>
        <p:nvSpPr>
          <p:cNvPr id="133124"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34147" name="Rectangle 2"/>
          <p:cNvSpPr>
            <a:spLocks noRot="1" noTextEdit="1"/>
          </p:cNvSpPr>
          <p:nvPr>
            <p:ph type="sldImg"/>
          </p:nvPr>
        </p:nvSpPr>
        <p:spPr/>
      </p:sp>
      <p:sp>
        <p:nvSpPr>
          <p:cNvPr id="134148"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35171" name="Rectangle 2"/>
          <p:cNvSpPr>
            <a:spLocks noRot="1" noTextEdit="1"/>
          </p:cNvSpPr>
          <p:nvPr>
            <p:ph type="sldImg"/>
          </p:nvPr>
        </p:nvSpPr>
        <p:spPr/>
      </p:sp>
      <p:sp>
        <p:nvSpPr>
          <p:cNvPr id="13517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a:spLocks noRot="1" noTextEdit="1"/>
          </p:cNvSpPr>
          <p:nvPr>
            <p:ph type="sldImg"/>
          </p:nvPr>
        </p:nvSpPr>
        <p:spPr/>
      </p:sp>
      <p:sp>
        <p:nvSpPr>
          <p:cNvPr id="136195" name="Rectangle 3"/>
          <p:cNvSpPr/>
          <p:nvPr>
            <p:ph type="body" idx="1"/>
          </p:nvPr>
        </p:nvSpPr>
        <p:spPr/>
        <p:txBody>
          <a:bodyPr wrap="square" lIns="91440" tIns="45720" rIns="91440" bIns="45720" anchor="t"/>
          <a:p>
            <a:pPr lvl="0"/>
            <a:r>
              <a:rPr lang="zh-TW" altLang="en-US" dirty="0"/>
              <a:t>每</a:t>
            </a:r>
            <a:r>
              <a:rPr lang="zh-CN" altLang="en-US" dirty="0"/>
              <a:t>个</a:t>
            </a:r>
            <a:r>
              <a:rPr lang="en-US" altLang="zh-TW" dirty="0"/>
              <a:t>step</a:t>
            </a:r>
            <a:r>
              <a:rPr lang="zh-TW" altLang="en-US" dirty="0"/>
              <a:t>都</a:t>
            </a:r>
            <a:r>
              <a:rPr lang="zh-CN" altLang="en-US" dirty="0"/>
              <a:t>从还未处理</a:t>
            </a:r>
            <a:r>
              <a:rPr lang="zh-TW" altLang="en-US" dirty="0"/>
              <a:t>的</a:t>
            </a:r>
            <a:r>
              <a:rPr lang="zh-CN" altLang="en-US" dirty="0"/>
              <a:t>点中</a:t>
            </a:r>
            <a:r>
              <a:rPr lang="zh-TW" altLang="en-US" dirty="0"/>
              <a:t>找</a:t>
            </a:r>
            <a:r>
              <a:rPr lang="zh-CN" altLang="en-US" dirty="0"/>
              <a:t>离</a:t>
            </a:r>
            <a:r>
              <a:rPr lang="en-US" altLang="zh-CN" i="1" dirty="0"/>
              <a:t>a</a:t>
            </a:r>
            <a:r>
              <a:rPr lang="zh-TW" altLang="en-US" dirty="0"/>
              <a:t>最近的，此</a:t>
            </a:r>
            <a:r>
              <a:rPr lang="zh-CN" altLang="en-US" dirty="0"/>
              <a:t>时</a:t>
            </a:r>
            <a:r>
              <a:rPr lang="en-US" altLang="zh-TW" i="1" dirty="0"/>
              <a:t>a</a:t>
            </a:r>
            <a:r>
              <a:rPr lang="zh-TW" altLang="en-US" dirty="0"/>
              <a:t>至</a:t>
            </a:r>
            <a:r>
              <a:rPr lang="zh-CN" altLang="en-US" dirty="0"/>
              <a:t>该点</a:t>
            </a:r>
            <a:r>
              <a:rPr lang="zh-TW" altLang="en-US" dirty="0"/>
              <a:t>的</a:t>
            </a:r>
            <a:r>
              <a:rPr lang="en-US" altLang="zh-TW" dirty="0"/>
              <a:t>shortest path</a:t>
            </a:r>
            <a:r>
              <a:rPr lang="zh-TW" altLang="en-US" dirty="0"/>
              <a:t>就找到了。</a:t>
            </a:r>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37219" name="Rectangle 2"/>
          <p:cNvSpPr>
            <a:spLocks noRot="1" noTextEdit="1"/>
          </p:cNvSpPr>
          <p:nvPr>
            <p:ph type="sldImg"/>
          </p:nvPr>
        </p:nvSpPr>
        <p:spPr/>
      </p:sp>
      <p:sp>
        <p:nvSpPr>
          <p:cNvPr id="137220" name="Rectangle 3"/>
          <p:cNvSpPr>
            <a:spLocks noGrp="1"/>
          </p:cNvSpPr>
          <p:nvPr>
            <p:ph type="body" idx="1"/>
          </p:nvPr>
        </p:nvSpPr>
        <p:spPr/>
        <p:txBody>
          <a:bodyPr wrap="square" lIns="91440" tIns="45720" rIns="91440" bIns="45720" anchor="t"/>
          <a:p>
            <a:pPr lvl="0" eaLnBrk="1" hangingPunct="1">
              <a:spcBef>
                <a:spcPct val="0"/>
              </a:spcBef>
            </a:pPr>
            <a:r>
              <a:rPr lang="zh-CN" altLang="en-US" dirty="0"/>
              <a:t>若记录</a:t>
            </a:r>
            <a:r>
              <a:rPr lang="zh-TW" altLang="en-US" dirty="0"/>
              <a:t> </a:t>
            </a:r>
            <a:r>
              <a:rPr lang="en-US" altLang="zh-TW" i="1" dirty="0"/>
              <a:t>v </a:t>
            </a:r>
            <a:r>
              <a:rPr lang="zh-TW" altLang="en-US" dirty="0"/>
              <a:t>的前一</a:t>
            </a:r>
            <a:r>
              <a:rPr lang="zh-CN" altLang="en-US" dirty="0"/>
              <a:t>点</a:t>
            </a:r>
            <a:r>
              <a:rPr lang="zh-TW" altLang="en-US" dirty="0"/>
              <a:t>是 </a:t>
            </a:r>
            <a:r>
              <a:rPr lang="en-US" altLang="zh-TW" i="1" dirty="0"/>
              <a:t>u</a:t>
            </a:r>
            <a:r>
              <a:rPr lang="zh-CN" altLang="en-US" i="1" dirty="0"/>
              <a:t>，</a:t>
            </a:r>
            <a:r>
              <a:rPr lang="en-US" altLang="zh-TW" i="1" dirty="0"/>
              <a:t>previous</a:t>
            </a:r>
            <a:r>
              <a:rPr lang="en-US" altLang="zh-TW" dirty="0"/>
              <a:t>(</a:t>
            </a:r>
            <a:r>
              <a:rPr lang="en-US" altLang="zh-TW" i="1" dirty="0"/>
              <a:t>v</a:t>
            </a:r>
            <a:r>
              <a:rPr lang="en-US" altLang="zh-TW" dirty="0"/>
              <a:t>) := </a:t>
            </a:r>
            <a:r>
              <a:rPr lang="en-US" altLang="zh-TW" i="1" dirty="0"/>
              <a:t>u</a:t>
            </a:r>
            <a:r>
              <a:rPr lang="zh-CN" altLang="en-US" i="1" dirty="0"/>
              <a:t>，</a:t>
            </a:r>
            <a:r>
              <a:rPr lang="zh-TW" altLang="en-US" dirty="0"/>
              <a:t>最</a:t>
            </a:r>
            <a:r>
              <a:rPr lang="zh-CN" altLang="en-US" dirty="0"/>
              <a:t>后</a:t>
            </a:r>
            <a:r>
              <a:rPr lang="zh-TW" altLang="en-US" dirty="0"/>
              <a:t>再</a:t>
            </a:r>
            <a:r>
              <a:rPr lang="zh-CN" altLang="en-US" dirty="0"/>
              <a:t>从</a:t>
            </a:r>
            <a:r>
              <a:rPr lang="zh-TW" altLang="en-US" dirty="0"/>
              <a:t> </a:t>
            </a:r>
            <a:r>
              <a:rPr lang="en-US" altLang="zh-TW" i="1" dirty="0"/>
              <a:t>z</a:t>
            </a:r>
            <a:r>
              <a:rPr lang="zh-TW" altLang="en-US" i="1" dirty="0"/>
              <a:t> </a:t>
            </a:r>
            <a:r>
              <a:rPr lang="zh-TW" altLang="en-US" dirty="0"/>
              <a:t>往前</a:t>
            </a:r>
            <a:r>
              <a:rPr lang="en-US" altLang="zh-TW" dirty="0"/>
              <a:t>trace</a:t>
            </a:r>
            <a:r>
              <a:rPr lang="zh-TW" altLang="en-US" dirty="0"/>
              <a:t> </a:t>
            </a:r>
            <a:endParaRPr lang="zh-TW" altLang="en-US" dirty="0"/>
          </a:p>
          <a:p>
            <a:pPr lvl="0" eaLnBrk="1" hangingPunct="1"/>
            <a:endParaRPr lang="zh-TW" altLang="zh-TW"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38243" name="Rectangle 2"/>
          <p:cNvSpPr>
            <a:spLocks noRot="1" noTextEdit="1"/>
          </p:cNvSpPr>
          <p:nvPr>
            <p:ph type="sldImg"/>
          </p:nvPr>
        </p:nvSpPr>
        <p:spPr/>
      </p:sp>
      <p:sp>
        <p:nvSpPr>
          <p:cNvPr id="138244" name="Rectangle 3"/>
          <p:cNvSpPr>
            <a:spLocks noGrp="1"/>
          </p:cNvSpPr>
          <p:nvPr>
            <p:ph type="body" idx="1"/>
          </p:nvPr>
        </p:nvSpPr>
        <p:spPr/>
        <p:txBody>
          <a:bodyPr wrap="square" lIns="91440" tIns="45720" rIns="91440" bIns="45720" anchor="t"/>
          <a:p>
            <a:pPr lvl="0" eaLnBrk="1" hangingPunct="1">
              <a:spcBef>
                <a:spcPct val="0"/>
              </a:spcBef>
            </a:pPr>
            <a:r>
              <a:rPr lang="zh-CN" altLang="en-US" dirty="0"/>
              <a:t>对每个</a:t>
            </a:r>
            <a:r>
              <a:rPr lang="en-US" altLang="zh-TW" i="1" dirty="0"/>
              <a:t>vi</a:t>
            </a:r>
            <a:r>
              <a:rPr lang="zh-TW" altLang="en-US" dirty="0"/>
              <a:t>，</a:t>
            </a:r>
            <a:r>
              <a:rPr lang="zh-CN" altLang="en-US" dirty="0"/>
              <a:t>检查</a:t>
            </a:r>
            <a:r>
              <a:rPr lang="zh-TW" altLang="en-US" dirty="0"/>
              <a:t>任何一</a:t>
            </a:r>
            <a:r>
              <a:rPr lang="zh-CN" altLang="en-US" dirty="0"/>
              <a:t>对点</a:t>
            </a:r>
            <a:r>
              <a:rPr lang="en-US" altLang="zh-TW" i="1" dirty="0"/>
              <a:t> vj</a:t>
            </a:r>
            <a:r>
              <a:rPr lang="en-US" altLang="zh-TW" dirty="0"/>
              <a:t>, </a:t>
            </a:r>
            <a:r>
              <a:rPr lang="en-US" altLang="zh-TW" i="1" dirty="0"/>
              <a:t>vk </a:t>
            </a:r>
            <a:r>
              <a:rPr lang="zh-TW" altLang="en-US" dirty="0"/>
              <a:t>目前的</a:t>
            </a:r>
            <a:r>
              <a:rPr lang="zh-CN" altLang="en-US" dirty="0"/>
              <a:t>距离会不会</a:t>
            </a:r>
            <a:r>
              <a:rPr lang="zh-TW" altLang="en-US" dirty="0"/>
              <a:t>因</a:t>
            </a:r>
            <a:r>
              <a:rPr lang="zh-CN" altLang="en-US" dirty="0"/>
              <a:t>为改走</a:t>
            </a:r>
            <a:r>
              <a:rPr lang="zh-TW" altLang="en-US" dirty="0"/>
              <a:t> </a:t>
            </a:r>
            <a:r>
              <a:rPr lang="en-US" altLang="zh-TW" i="1" dirty="0"/>
              <a:t>vi </a:t>
            </a:r>
            <a:r>
              <a:rPr lang="zh-TW" altLang="en-US" dirty="0"/>
              <a:t>而</a:t>
            </a:r>
            <a:r>
              <a:rPr lang="zh-CN" altLang="en-US" dirty="0"/>
              <a:t>变</a:t>
            </a:r>
            <a:r>
              <a:rPr lang="zh-TW" altLang="en-US" dirty="0"/>
              <a:t>小。</a:t>
            </a:r>
            <a:endParaRPr lang="zh-TW" altLang="en-US" dirty="0"/>
          </a:p>
          <a:p>
            <a:pPr lvl="0" eaLnBrk="1" hangingPunct="1"/>
            <a:endParaRPr lang="zh-TW" altLang="zh-TW"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Rot="1" noTextEdit="1"/>
          </p:cNvSpPr>
          <p:nvPr>
            <p:ph type="sldImg"/>
          </p:nvPr>
        </p:nvSpPr>
        <p:spPr/>
      </p:sp>
      <p:sp>
        <p:nvSpPr>
          <p:cNvPr id="139267" name="Rectangle 3"/>
          <p:cNvSpPr/>
          <p:nvPr>
            <p:ph type="body" idx="1"/>
          </p:nvPr>
        </p:nvSpPr>
        <p:spPr/>
        <p:txBody>
          <a:bodyPr wrap="square" lIns="91440" tIns="45720" rIns="91440" bIns="45720" anchor="t"/>
          <a:p>
            <a:pPr lvl="0" eaLnBrk="1" hangingPunct="1">
              <a:spcBef>
                <a:spcPct val="0"/>
              </a:spcBef>
            </a:pPr>
            <a:r>
              <a:rPr lang="zh-TW" altLang="en-US" dirty="0"/>
              <a:t>不存在</a:t>
            </a:r>
            <a:r>
              <a:rPr lang="en-US" altLang="zh-TW" dirty="0"/>
              <a:t>polynomial time alg. </a:t>
            </a:r>
            <a:r>
              <a:rPr lang="zh-CN" altLang="en-US" dirty="0"/>
              <a:t>效率</a:t>
            </a:r>
            <a:r>
              <a:rPr lang="zh-TW" altLang="en-US" dirty="0"/>
              <a:t>好的 </a:t>
            </a:r>
            <a:r>
              <a:rPr lang="en-US" altLang="zh-TW" dirty="0"/>
              <a:t>algorithm </a:t>
            </a:r>
            <a:r>
              <a:rPr lang="zh-TW" altLang="en-US" dirty="0"/>
              <a:t>只能找近似解</a:t>
            </a:r>
            <a:endParaRPr lang="zh-TW" altLang="en-US" dirty="0"/>
          </a:p>
          <a:p>
            <a:pPr lvl="0"/>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40291" name="Rectangle 2"/>
          <p:cNvSpPr>
            <a:spLocks noRot="1" noTextEdit="1"/>
          </p:cNvSpPr>
          <p:nvPr>
            <p:ph type="sldImg"/>
          </p:nvPr>
        </p:nvSpPr>
        <p:spPr/>
      </p:sp>
      <p:sp>
        <p:nvSpPr>
          <p:cNvPr id="140292"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Rot="1" noTextEdit="1"/>
          </p:cNvSpPr>
          <p:nvPr>
            <p:ph type="sldImg"/>
          </p:nvPr>
        </p:nvSpPr>
        <p:spPr/>
      </p:sp>
      <p:sp>
        <p:nvSpPr>
          <p:cNvPr id="141315" name="Rectangle 3"/>
          <p:cNvSpPr/>
          <p:nvPr>
            <p:ph type="body" idx="1"/>
          </p:nvPr>
        </p:nvSpPr>
        <p:spPr/>
        <p:txBody>
          <a:bodyPr wrap="square" lIns="91440" tIns="45720" rIns="91440" bIns="45720" anchor="t"/>
          <a:p>
            <a:pPr lvl="0"/>
            <a:r>
              <a:rPr lang="en-US" altLang="zh-CN" b="1" dirty="0"/>
              <a:t>From Wikipedia, the free encyclopedia</a:t>
            </a:r>
            <a:r>
              <a:rPr lang="en-US" altLang="zh-TW" b="1" dirty="0"/>
              <a:t>:</a:t>
            </a:r>
            <a:endParaRPr lang="en-US" altLang="zh-TW" b="1" dirty="0"/>
          </a:p>
          <a:p>
            <a:pPr lvl="0"/>
            <a:r>
              <a:rPr lang="en-US" altLang="zh-CN" b="1" dirty="0"/>
              <a:t>Euler's formula</a:t>
            </a:r>
            <a:r>
              <a:rPr lang="en-US" altLang="zh-CN" dirty="0"/>
              <a:t> states that if a finite, </a:t>
            </a:r>
            <a:r>
              <a:rPr lang="en-US" altLang="zh-CN" dirty="0">
                <a:hlinkClick r:id="rId3" tooltip="Graph theory"/>
              </a:rPr>
              <a:t>connected</a:t>
            </a:r>
            <a:r>
              <a:rPr lang="en-US" altLang="zh-CN" dirty="0"/>
              <a:t>, planar </a:t>
            </a:r>
            <a:r>
              <a:rPr lang="en-US" altLang="zh-CN" b="1" dirty="0"/>
              <a:t>graph</a:t>
            </a:r>
            <a:r>
              <a:rPr lang="en-US" altLang="zh-CN" dirty="0"/>
              <a:t> is drawn in the plane without any edge intersections, and</a:t>
            </a:r>
            <a:r>
              <a:rPr lang="en-US" altLang="zh-CN" b="1" dirty="0"/>
              <a:t> </a:t>
            </a:r>
            <a:r>
              <a:rPr lang="en-US" altLang="zh-CN" b="1" i="1" dirty="0"/>
              <a:t>v</a:t>
            </a:r>
            <a:r>
              <a:rPr lang="en-US" altLang="zh-CN" dirty="0"/>
              <a:t> is the number of vertices, </a:t>
            </a:r>
            <a:r>
              <a:rPr lang="en-US" altLang="zh-CN" b="1" i="1" dirty="0"/>
              <a:t>e</a:t>
            </a:r>
            <a:r>
              <a:rPr lang="en-US" altLang="zh-CN" dirty="0"/>
              <a:t> is the number of edges and </a:t>
            </a:r>
            <a:r>
              <a:rPr lang="en-US" altLang="zh-CN" b="1" i="1" dirty="0"/>
              <a:t>f</a:t>
            </a:r>
            <a:r>
              <a:rPr lang="en-US" altLang="zh-CN" b="1" dirty="0"/>
              <a:t> </a:t>
            </a:r>
            <a:r>
              <a:rPr lang="en-US" altLang="zh-CN" dirty="0"/>
              <a:t>is the number of </a:t>
            </a:r>
            <a:r>
              <a:rPr lang="en-US" altLang="zh-CN" dirty="0">
                <a:hlinkClick r:id="rId4" tooltip="Glossary of graph theory"/>
              </a:rPr>
              <a:t>faces</a:t>
            </a:r>
            <a:r>
              <a:rPr lang="en-US" altLang="zh-CN" dirty="0"/>
              <a:t> (regions bounded by edges, including the outer, infinitely-large region), then</a:t>
            </a:r>
            <a:r>
              <a:rPr lang="en-US" altLang="zh-TW" dirty="0"/>
              <a:t> </a:t>
            </a:r>
            <a:r>
              <a:rPr lang="en-US" altLang="zh-CN" dirty="0"/>
              <a:t>v - e + f = 2</a:t>
            </a:r>
            <a:endParaRPr lang="en-US" altLang="zh-CN" dirty="0"/>
          </a:p>
          <a:p>
            <a:pPr lvl="0"/>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Rot="1" noTextEdit="1"/>
          </p:cNvSpPr>
          <p:nvPr>
            <p:ph type="sldImg"/>
          </p:nvPr>
        </p:nvSpPr>
        <p:spPr/>
      </p:sp>
      <p:sp>
        <p:nvSpPr>
          <p:cNvPr id="142339" name="Rectangle 3"/>
          <p:cNvSpPr/>
          <p:nvPr>
            <p:ph type="body" idx="1"/>
          </p:nvPr>
        </p:nvSpPr>
        <p:spPr/>
        <p:txBody>
          <a:bodyPr wrap="square" lIns="91440" tIns="45720" rIns="91440" bIns="45720" anchor="t"/>
          <a:p>
            <a:pPr lvl="0"/>
            <a:r>
              <a:rPr lang="en-US" altLang="zh-TW" dirty="0">
                <a:solidFill>
                  <a:srgbClr val="0000CC"/>
                </a:solidFill>
              </a:rPr>
              <a:t>elementary subdivision</a:t>
            </a:r>
            <a:r>
              <a:rPr lang="zh-CN" altLang="en-US" dirty="0">
                <a:solidFill>
                  <a:srgbClr val="0000CC"/>
                </a:solidFill>
              </a:rPr>
              <a:t>：初等细分</a:t>
            </a:r>
            <a:endParaRPr lang="zh-CN" altLang="en-US" dirty="0">
              <a:solidFill>
                <a:srgbClr val="0000CC"/>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Rot="1" noTextEdit="1"/>
          </p:cNvSpPr>
          <p:nvPr>
            <p:ph type="sldImg"/>
          </p:nvPr>
        </p:nvSpPr>
        <p:spPr/>
      </p:sp>
      <p:sp>
        <p:nvSpPr>
          <p:cNvPr id="143363" name="Rectangle 3"/>
          <p:cNvSpPr/>
          <p:nvPr>
            <p:ph type="body" idx="1"/>
          </p:nvPr>
        </p:nvSpPr>
        <p:spPr/>
        <p:txBody>
          <a:bodyPr wrap="square" lIns="91440" tIns="45720" rIns="91440" bIns="45720" anchor="t"/>
          <a:p>
            <a:pPr lvl="0"/>
            <a:r>
              <a:rPr lang="en-US" altLang="zh-TW" dirty="0">
                <a:solidFill>
                  <a:srgbClr val="000000"/>
                </a:solidFill>
              </a:rPr>
              <a:t>Homeomorphic</a:t>
            </a:r>
            <a:r>
              <a:rPr lang="zh-CN" altLang="en-US" dirty="0">
                <a:solidFill>
                  <a:srgbClr val="000000"/>
                </a:solidFill>
              </a:rPr>
              <a:t>：</a:t>
            </a:r>
            <a:r>
              <a:rPr lang="zh-CN" altLang="en-US" dirty="0"/>
              <a:t>同胚</a:t>
            </a:r>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44387" name="Rectangle 2"/>
          <p:cNvSpPr>
            <a:spLocks noRot="1" noTextEdit="1"/>
          </p:cNvSpPr>
          <p:nvPr>
            <p:ph type="sldImg"/>
          </p:nvPr>
        </p:nvSpPr>
        <p:spPr/>
      </p:sp>
      <p:sp>
        <p:nvSpPr>
          <p:cNvPr id="144388"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45411" name="Rectangle 2"/>
          <p:cNvSpPr>
            <a:spLocks noRot="1" noTextEdit="1"/>
          </p:cNvSpPr>
          <p:nvPr>
            <p:ph type="sldImg"/>
          </p:nvPr>
        </p:nvSpPr>
        <p:spPr/>
      </p:sp>
      <p:sp>
        <p:nvSpPr>
          <p:cNvPr id="145412" name="Rectangle 3"/>
          <p:cNvSpPr>
            <a:spLocks noGrp="1"/>
          </p:cNvSpPr>
          <p:nvPr>
            <p:ph type="body" idx="1"/>
          </p:nvPr>
        </p:nvSpPr>
        <p:spPr/>
        <p:txBody>
          <a:bodyPr wrap="square" lIns="91440" tIns="45720" rIns="91440" bIns="45720" anchor="t"/>
          <a:p>
            <a:pPr lvl="0" eaLnBrk="1" hangingPunct="1"/>
            <a:r>
              <a:rPr lang="en-US" altLang="zh-TW" i="1" dirty="0">
                <a:solidFill>
                  <a:srgbClr val="0000CC"/>
                </a:solidFill>
              </a:rPr>
              <a:t>chromatic number</a:t>
            </a:r>
            <a:r>
              <a:rPr lang="en-US" altLang="zh-TW" dirty="0"/>
              <a:t> </a:t>
            </a:r>
            <a:r>
              <a:rPr lang="zh-CN" altLang="en-US" dirty="0"/>
              <a:t>：色数</a:t>
            </a:r>
            <a:endParaRPr lang="zh-TW" altLang="zh-TW"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46435" name="Rectangle 2"/>
          <p:cNvSpPr>
            <a:spLocks noRot="1" noTextEdit="1"/>
          </p:cNvSpPr>
          <p:nvPr>
            <p:ph type="sldImg"/>
          </p:nvPr>
        </p:nvSpPr>
        <p:spPr/>
      </p:sp>
      <p:sp>
        <p:nvSpPr>
          <p:cNvPr id="146436"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TW" dirty="0"/>
            </a:fld>
            <a:endParaRPr lang="en-US" altLang="zh-TW" dirty="0"/>
          </a:p>
        </p:txBody>
      </p:sp>
      <p:sp>
        <p:nvSpPr>
          <p:cNvPr id="147459" name="Rectangle 2"/>
          <p:cNvSpPr>
            <a:spLocks noRot="1" noTextEdit="1"/>
          </p:cNvSpPr>
          <p:nvPr>
            <p:ph type="sldImg"/>
          </p:nvPr>
        </p:nvSpPr>
        <p:spPr/>
      </p:sp>
      <p:sp>
        <p:nvSpPr>
          <p:cNvPr id="147460" name="Rectangle 3"/>
          <p:cNvSpPr>
            <a:spLocks noGrp="1"/>
          </p:cNvSpPr>
          <p:nvPr>
            <p:ph type="body" idx="1"/>
          </p:nvPr>
        </p:nvSpPr>
        <p:spPr/>
        <p:txBody>
          <a:bodyPr wrap="square" lIns="91440" tIns="45720" rIns="91440" bIns="45720" anchor="t"/>
          <a:p>
            <a:pPr lvl="0" eaLnBrk="1" hangingPunct="1"/>
            <a:endParaRPr lang="zh-TW" altLang="zh-TW"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5" name="灯片编号占位符 4"/>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endParaRPr lang="zh-TW"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5" name="灯片编号占位符 4"/>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4" name="內容版面配置區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6" name="灯片编号占位符 5"/>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endParaRPr lang="zh-TW" altLang="en-US" smtClean="0"/>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endParaRPr lang="zh-TW" altLang="en-US" smtClean="0"/>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8" name="灯片编号占位符 7"/>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4" name="灯片编号占位符 3"/>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3" name="灯片编号占位符 2"/>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endParaRPr lang="zh-TW"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6" name="灯片编号占位符 5"/>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1" lang="zh-TW"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endParaRPr lang="zh-TW"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6" name="灯片编号占位符 5"/>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5" name="灯片编号占位符 4"/>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457200"/>
            <a:ext cx="2057400" cy="54102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457200"/>
            <a:ext cx="6019800" cy="5410200"/>
          </a:xfrm>
        </p:spPr>
        <p:txBody>
          <a:bodyPr vert="eaVert"/>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5" name="灯片编号占位符 4"/>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457200"/>
            <a:ext cx="8229600" cy="1371600"/>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457200" y="1981200"/>
            <a:ext cx="4038600" cy="3886200"/>
          </a:xfrm>
        </p:spPr>
        <p:txBody>
          <a:body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4" name="內容版面配置區 3"/>
          <p:cNvSpPr>
            <a:spLocks noGrp="1"/>
          </p:cNvSpPr>
          <p:nvPr>
            <p:ph sz="half" idx="2"/>
          </p:nvPr>
        </p:nvSpPr>
        <p:spPr>
          <a:xfrm>
            <a:off x="4648200" y="1981200"/>
            <a:ext cx="4038600" cy="3886200"/>
          </a:xfrm>
        </p:spPr>
        <p:txBody>
          <a:body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6" name="灯片编号占位符 5"/>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457200"/>
            <a:ext cx="8229600" cy="1371600"/>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457200" y="1981200"/>
            <a:ext cx="4038600" cy="3886200"/>
          </a:xfrm>
        </p:spPr>
        <p:txBody>
          <a:body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4" name="內容版面配置區 3"/>
          <p:cNvSpPr>
            <a:spLocks noGrp="1"/>
          </p:cNvSpPr>
          <p:nvPr>
            <p:ph sz="quarter" idx="2"/>
          </p:nvPr>
        </p:nvSpPr>
        <p:spPr>
          <a:xfrm>
            <a:off x="4648200" y="1981200"/>
            <a:ext cx="4038600" cy="1866900"/>
          </a:xfrm>
        </p:spPr>
        <p:txBody>
          <a:body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5" name="內容版面配置區 4"/>
          <p:cNvSpPr>
            <a:spLocks noGrp="1"/>
          </p:cNvSpPr>
          <p:nvPr>
            <p:ph sz="quarter" idx="3"/>
          </p:nvPr>
        </p:nvSpPr>
        <p:spPr>
          <a:xfrm>
            <a:off x="4648200" y="4000500"/>
            <a:ext cx="4038600" cy="1866900"/>
          </a:xfrm>
        </p:spPr>
        <p:txBody>
          <a:bodyPr/>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7" name="灯片编号占位符 6"/>
          <p:cNvSpPr>
            <a:spLocks noGrp="1"/>
          </p:cNvSpPr>
          <p:nvPr>
            <p:ph type="sldNum" sz="quarter" idx="11"/>
          </p:nvPr>
        </p:nvSpPr>
        <p:spPr/>
        <p:txBody>
          <a:bodyPr/>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2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
        <p:nvSpPr>
          <p:cNvPr id="8195" name="Rectangle 3"/>
          <p:cNvSpPr>
            <a:spLocks noGrp="1" noChangeArrowheads="1"/>
          </p:cNvSpPr>
          <p:nvPr>
            <p:ph type="sldNum" sz="quarter" idx="4"/>
          </p:nvPr>
        </p:nvSpPr>
        <p:spPr bwMode="auto">
          <a:xfrm>
            <a:off x="68580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defRPr>
            </a:lvl1pPr>
          </a:lstStyle>
          <a:p>
            <a:pPr lvl="0" eaLnBrk="1" hangingPunct="1"/>
            <a:r>
              <a:rPr lang="en-US" altLang="zh-TW" dirty="0"/>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grpSp>
        <p:nvGrpSpPr>
          <p:cNvPr id="1028" name="Group 4"/>
          <p:cNvGrpSpPr/>
          <p:nvPr/>
        </p:nvGrpSpPr>
        <p:grpSpPr>
          <a:xfrm>
            <a:off x="0" y="0"/>
            <a:ext cx="9144000" cy="546100"/>
            <a:chOff x="0" y="0"/>
            <a:chExt cx="5760" cy="344"/>
          </a:xfrm>
        </p:grpSpPr>
        <p:sp>
          <p:nvSpPr>
            <p:cNvPr id="1032"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p>
              <a:pPr lvl="0" algn="ctr" eaLnBrk="1" hangingPunct="1"/>
              <a:endParaRPr lang="zh-TW" altLang="zh-TW" sz="2400" dirty="0">
                <a:latin typeface="Times New Roman" panose="02020603050405020304" pitchFamily="18" charset="0"/>
              </a:endParaRPr>
            </a:p>
          </p:txBody>
        </p:sp>
        <p:sp>
          <p:nvSpPr>
            <p:cNvPr id="1033"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p>
              <a:pPr lvl="0" eaLnBrk="1" hangingPunct="1"/>
              <a:endParaRPr lang="zh-TW" altLang="zh-TW" sz="2400" dirty="0">
                <a:latin typeface="Times New Roman" panose="02020603050405020304" pitchFamily="18" charset="0"/>
              </a:endParaRPr>
            </a:p>
          </p:txBody>
        </p:sp>
        <p:sp>
          <p:nvSpPr>
            <p:cNvPr id="1034" name="Rectangle 7"/>
            <p:cNvSpPr/>
            <p:nvPr/>
          </p:nvSpPr>
          <p:spPr>
            <a:xfrm>
              <a:off x="258" y="85"/>
              <a:ext cx="87" cy="89"/>
            </a:xfrm>
            <a:prstGeom prst="rect">
              <a:avLst/>
            </a:prstGeom>
            <a:solidFill>
              <a:schemeClr val="folHlink"/>
            </a:solidFill>
            <a:ln w="9525">
              <a:noFill/>
            </a:ln>
          </p:spPr>
          <p:txBody>
            <a:bodyPr/>
            <a:p>
              <a:pPr lvl="0" eaLnBrk="1" hangingPunct="1"/>
              <a:endParaRPr lang="zh-TW" altLang="zh-TW" dirty="0">
                <a:solidFill>
                  <a:schemeClr val="hlink"/>
                </a:solidFill>
                <a:latin typeface="Arial" panose="020B0604020202020204" pitchFamily="34" charset="0"/>
              </a:endParaRPr>
            </a:p>
          </p:txBody>
        </p:sp>
        <p:sp>
          <p:nvSpPr>
            <p:cNvPr id="1035" name="Rectangle 8"/>
            <p:cNvSpPr/>
            <p:nvPr/>
          </p:nvSpPr>
          <p:spPr>
            <a:xfrm>
              <a:off x="345" y="0"/>
              <a:ext cx="88" cy="87"/>
            </a:xfrm>
            <a:prstGeom prst="rect">
              <a:avLst/>
            </a:prstGeom>
            <a:solidFill>
              <a:schemeClr val="folHlink"/>
            </a:solidFill>
            <a:ln w="9525">
              <a:noFill/>
            </a:ln>
          </p:spPr>
          <p:txBody>
            <a:bodyPr/>
            <a:p>
              <a:pPr lvl="0" eaLnBrk="1" hangingPunct="1"/>
              <a:endParaRPr lang="zh-TW" altLang="zh-TW" dirty="0">
                <a:solidFill>
                  <a:schemeClr val="hlink"/>
                </a:solidFill>
                <a:latin typeface="Arial" panose="020B0604020202020204" pitchFamily="34" charset="0"/>
              </a:endParaRPr>
            </a:p>
          </p:txBody>
        </p:sp>
        <p:sp>
          <p:nvSpPr>
            <p:cNvPr id="1036" name="Rectangle 9"/>
            <p:cNvSpPr/>
            <p:nvPr/>
          </p:nvSpPr>
          <p:spPr>
            <a:xfrm>
              <a:off x="345" y="85"/>
              <a:ext cx="88" cy="89"/>
            </a:xfrm>
            <a:prstGeom prst="rect">
              <a:avLst/>
            </a:prstGeom>
            <a:solidFill>
              <a:schemeClr val="accent2"/>
            </a:solidFill>
            <a:ln w="9525">
              <a:noFill/>
            </a:ln>
          </p:spPr>
          <p:txBody>
            <a:bodyPr/>
            <a:p>
              <a:pPr lvl="0" eaLnBrk="1" hangingPunct="1"/>
              <a:endParaRPr lang="zh-TW" altLang="zh-TW" dirty="0">
                <a:solidFill>
                  <a:schemeClr val="accent2"/>
                </a:solidFill>
                <a:latin typeface="Arial" panose="020B0604020202020204" pitchFamily="34" charset="0"/>
              </a:endParaRPr>
            </a:p>
          </p:txBody>
        </p:sp>
        <p:sp>
          <p:nvSpPr>
            <p:cNvPr id="1037" name="Rectangle 10"/>
            <p:cNvSpPr/>
            <p:nvPr/>
          </p:nvSpPr>
          <p:spPr>
            <a:xfrm>
              <a:off x="173" y="173"/>
              <a:ext cx="86" cy="87"/>
            </a:xfrm>
            <a:prstGeom prst="rect">
              <a:avLst/>
            </a:prstGeom>
            <a:solidFill>
              <a:schemeClr val="folHlink"/>
            </a:solidFill>
            <a:ln w="9525">
              <a:noFill/>
            </a:ln>
          </p:spPr>
          <p:txBody>
            <a:bodyPr/>
            <a:p>
              <a:pPr lvl="0" eaLnBrk="1" hangingPunct="1"/>
              <a:endParaRPr lang="zh-TW" altLang="zh-TW" dirty="0">
                <a:solidFill>
                  <a:schemeClr val="hlink"/>
                </a:solidFill>
                <a:latin typeface="Arial" panose="020B0604020202020204" pitchFamily="34" charset="0"/>
              </a:endParaRPr>
            </a:p>
          </p:txBody>
        </p:sp>
        <p:sp>
          <p:nvSpPr>
            <p:cNvPr id="1038" name="Rectangle 11"/>
            <p:cNvSpPr/>
            <p:nvPr/>
          </p:nvSpPr>
          <p:spPr>
            <a:xfrm>
              <a:off x="83" y="86"/>
              <a:ext cx="89" cy="87"/>
            </a:xfrm>
            <a:prstGeom prst="rect">
              <a:avLst/>
            </a:prstGeom>
            <a:solidFill>
              <a:schemeClr val="bg2"/>
            </a:solidFill>
            <a:ln w="9525">
              <a:noFill/>
            </a:ln>
          </p:spPr>
          <p:txBody>
            <a:bodyPr/>
            <a:p>
              <a:pPr lvl="0" eaLnBrk="1" hangingPunct="1"/>
              <a:endParaRPr lang="zh-TW" altLang="zh-TW" sz="2400" dirty="0">
                <a:latin typeface="Times New Roman" panose="02020603050405020304" pitchFamily="18" charset="0"/>
              </a:endParaRPr>
            </a:p>
          </p:txBody>
        </p:sp>
        <p:sp>
          <p:nvSpPr>
            <p:cNvPr id="1039" name="Rectangle 12"/>
            <p:cNvSpPr/>
            <p:nvPr/>
          </p:nvSpPr>
          <p:spPr>
            <a:xfrm>
              <a:off x="258" y="171"/>
              <a:ext cx="87" cy="87"/>
            </a:xfrm>
            <a:prstGeom prst="rect">
              <a:avLst/>
            </a:prstGeom>
            <a:solidFill>
              <a:schemeClr val="accent2"/>
            </a:solidFill>
            <a:ln w="9525">
              <a:noFill/>
            </a:ln>
          </p:spPr>
          <p:txBody>
            <a:bodyPr/>
            <a:p>
              <a:pPr lvl="0" eaLnBrk="1" hangingPunct="1"/>
              <a:endParaRPr lang="zh-TW" altLang="zh-TW" dirty="0">
                <a:solidFill>
                  <a:schemeClr val="accent2"/>
                </a:solidFill>
                <a:latin typeface="Arial" panose="020B0604020202020204" pitchFamily="34" charset="0"/>
              </a:endParaRPr>
            </a:p>
          </p:txBody>
        </p:sp>
        <p:sp>
          <p:nvSpPr>
            <p:cNvPr id="1040" name="Rectangle 13"/>
            <p:cNvSpPr/>
            <p:nvPr/>
          </p:nvSpPr>
          <p:spPr>
            <a:xfrm>
              <a:off x="173" y="258"/>
              <a:ext cx="86" cy="86"/>
            </a:xfrm>
            <a:prstGeom prst="rect">
              <a:avLst/>
            </a:prstGeom>
            <a:solidFill>
              <a:schemeClr val="accent2"/>
            </a:solidFill>
            <a:ln w="9525">
              <a:noFill/>
            </a:ln>
          </p:spPr>
          <p:txBody>
            <a:bodyPr/>
            <a:p>
              <a:pPr lvl="0" eaLnBrk="1" hangingPunct="1"/>
              <a:endParaRPr lang="zh-TW" altLang="zh-TW" dirty="0">
                <a:solidFill>
                  <a:schemeClr val="accent2"/>
                </a:solidFill>
                <a:latin typeface="Arial" panose="020B0604020202020204" pitchFamily="34" charset="0"/>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p>
            <a:pPr lvl="0"/>
            <a:r>
              <a:rPr lang="zh-TW" altLang="en-US" dirty="0"/>
              <a:t>按一下以編輯母片標題樣式</a:t>
            </a:r>
            <a:endParaRPr lang="zh-TW" altLang="en-US" dirty="0"/>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p>
            <a:pPr lvl="0"/>
            <a:r>
              <a:rPr lang="zh-TW" altLang="en-US" dirty="0"/>
              <a:t>按一下以編輯母片</a:t>
            </a:r>
            <a:endParaRPr lang="zh-TW" altLang="en-US" dirty="0"/>
          </a:p>
          <a:p>
            <a:pPr lvl="1"/>
            <a:r>
              <a:rPr lang="zh-TW" altLang="en-US" dirty="0"/>
              <a:t>第二層</a:t>
            </a:r>
            <a:endParaRPr lang="zh-TW" altLang="en-US" dirty="0"/>
          </a:p>
          <a:p>
            <a:pPr lvl="2"/>
            <a:r>
              <a:rPr lang="zh-TW" altLang="en-US" dirty="0"/>
              <a:t>第三層</a:t>
            </a:r>
            <a:endParaRPr lang="zh-TW" altLang="en-US" dirty="0"/>
          </a:p>
          <a:p>
            <a:pPr lvl="3"/>
            <a:r>
              <a:rPr lang="zh-TW" altLang="en-US" dirty="0"/>
              <a:t>第四層</a:t>
            </a:r>
            <a:endParaRPr lang="zh-TW" altLang="en-US" dirty="0"/>
          </a:p>
          <a:p>
            <a:pPr lvl="4"/>
            <a:r>
              <a:rPr lang="zh-TW" altLang="en-US" dirty="0"/>
              <a:t>第五層</a:t>
            </a:r>
            <a:endParaRPr lang="zh-TW" altLang="en-US" dirty="0"/>
          </a:p>
        </p:txBody>
      </p:sp>
      <p:sp>
        <p:nvSpPr>
          <p:cNvPr id="820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1200" b="0" i="0" u="none" strike="noStrike" kern="1200" cap="none" spc="0" normalizeH="0" baseline="0" noProof="0">
              <a:ln>
                <a:noFill/>
              </a:ln>
              <a:solidFill>
                <a:schemeClr val="tx1"/>
              </a:solidFill>
              <a:effectLst/>
              <a:uLnTx/>
              <a:uFillTx/>
              <a:latin typeface="Arial" panose="020B0604020202020204" pitchFamily="34" charset="0"/>
              <a:ea typeface="PMingLiU" pitchFamily="18" charset="-120"/>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4400">
          <a:solidFill>
            <a:schemeClr val="tx1"/>
          </a:solidFill>
          <a:latin typeface="+mj-lt"/>
          <a:ea typeface="+mj-ea"/>
          <a:cs typeface="+mj-cs"/>
        </a:defRPr>
      </a:lvl1pPr>
      <a:lvl2pPr algn="l" rtl="0" eaLnBrk="0" fontAlgn="base" hangingPunct="0">
        <a:spcBef>
          <a:spcPct val="0"/>
        </a:spcBef>
        <a:spcAft>
          <a:spcPct val="0"/>
        </a:spcAft>
        <a:defRPr kumimoji="1" sz="4400">
          <a:solidFill>
            <a:schemeClr val="tx1"/>
          </a:solidFill>
          <a:latin typeface="Arial" panose="020B0604020202020204" pitchFamily="34" charset="0"/>
          <a:ea typeface="PMingLiU" pitchFamily="18" charset="-120"/>
        </a:defRPr>
      </a:lvl2pPr>
      <a:lvl3pPr algn="l" rtl="0" eaLnBrk="0" fontAlgn="base" hangingPunct="0">
        <a:spcBef>
          <a:spcPct val="0"/>
        </a:spcBef>
        <a:spcAft>
          <a:spcPct val="0"/>
        </a:spcAft>
        <a:defRPr kumimoji="1" sz="4400">
          <a:solidFill>
            <a:schemeClr val="tx1"/>
          </a:solidFill>
          <a:latin typeface="Arial" panose="020B0604020202020204" pitchFamily="34" charset="0"/>
          <a:ea typeface="PMingLiU" pitchFamily="18" charset="-120"/>
        </a:defRPr>
      </a:lvl3pPr>
      <a:lvl4pPr algn="l" rtl="0" eaLnBrk="0" fontAlgn="base" hangingPunct="0">
        <a:spcBef>
          <a:spcPct val="0"/>
        </a:spcBef>
        <a:spcAft>
          <a:spcPct val="0"/>
        </a:spcAft>
        <a:defRPr kumimoji="1" sz="4400">
          <a:solidFill>
            <a:schemeClr val="tx1"/>
          </a:solidFill>
          <a:latin typeface="Arial" panose="020B0604020202020204" pitchFamily="34" charset="0"/>
          <a:ea typeface="PMingLiU" pitchFamily="18" charset="-120"/>
        </a:defRPr>
      </a:lvl4pPr>
      <a:lvl5pPr algn="l" rtl="0" eaLnBrk="0" fontAlgn="base" hangingPunct="0">
        <a:spcBef>
          <a:spcPct val="0"/>
        </a:spcBef>
        <a:spcAft>
          <a:spcPct val="0"/>
        </a:spcAft>
        <a:defRPr kumimoji="1" sz="4400">
          <a:solidFill>
            <a:schemeClr val="tx1"/>
          </a:solidFill>
          <a:latin typeface="Arial" panose="020B0604020202020204" pitchFamily="34" charset="0"/>
          <a:ea typeface="PMingLiU" pitchFamily="18" charset="-120"/>
        </a:defRPr>
      </a:lvl5pPr>
      <a:lvl6pPr marL="457200" algn="l" rtl="0" fontAlgn="base">
        <a:spcBef>
          <a:spcPct val="0"/>
        </a:spcBef>
        <a:spcAft>
          <a:spcPct val="0"/>
        </a:spcAft>
        <a:defRPr kumimoji="1" sz="4400">
          <a:solidFill>
            <a:schemeClr val="tx1"/>
          </a:solidFill>
          <a:latin typeface="Arial" panose="020B0604020202020204" pitchFamily="34" charset="0"/>
          <a:ea typeface="PMingLiU" pitchFamily="18" charset="-120"/>
        </a:defRPr>
      </a:lvl6pPr>
      <a:lvl7pPr marL="914400" algn="l" rtl="0" fontAlgn="base">
        <a:spcBef>
          <a:spcPct val="0"/>
        </a:spcBef>
        <a:spcAft>
          <a:spcPct val="0"/>
        </a:spcAft>
        <a:defRPr kumimoji="1" sz="4400">
          <a:solidFill>
            <a:schemeClr val="tx1"/>
          </a:solidFill>
          <a:latin typeface="Arial" panose="020B0604020202020204" pitchFamily="34" charset="0"/>
          <a:ea typeface="PMingLiU" pitchFamily="18" charset="-120"/>
        </a:defRPr>
      </a:lvl7pPr>
      <a:lvl8pPr marL="1371600" algn="l" rtl="0" fontAlgn="base">
        <a:spcBef>
          <a:spcPct val="0"/>
        </a:spcBef>
        <a:spcAft>
          <a:spcPct val="0"/>
        </a:spcAft>
        <a:defRPr kumimoji="1" sz="4400">
          <a:solidFill>
            <a:schemeClr val="tx1"/>
          </a:solidFill>
          <a:latin typeface="Arial" panose="020B0604020202020204" pitchFamily="34" charset="0"/>
          <a:ea typeface="PMingLiU" pitchFamily="18" charset="-120"/>
        </a:defRPr>
      </a:lvl8pPr>
      <a:lvl9pPr marL="1828800" algn="l" rtl="0" fontAlgn="base">
        <a:spcBef>
          <a:spcPct val="0"/>
        </a:spcBef>
        <a:spcAft>
          <a:spcPct val="0"/>
        </a:spcAft>
        <a:defRPr kumimoji="1" sz="4400">
          <a:solidFill>
            <a:schemeClr val="tx1"/>
          </a:solidFill>
          <a:latin typeface="Arial" panose="020B0604020202020204" pitchFamily="34" charset="0"/>
          <a:ea typeface="PMingLiU" pitchFamily="18" charset="-12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1.vml"/><Relationship Id="rId3" Type="http://schemas.openxmlformats.org/officeDocument/2006/relationships/slideLayout" Target="../slideLayouts/slideLayout11.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2.vml"/><Relationship Id="rId3" Type="http://schemas.openxmlformats.org/officeDocument/2006/relationships/slideLayout" Target="../slideLayouts/slideLayout11.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3.w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4.vml"/><Relationship Id="rId3" Type="http://schemas.openxmlformats.org/officeDocument/2006/relationships/slideLayout" Target="../slideLayouts/slideLayout11.xml"/><Relationship Id="rId2" Type="http://schemas.openxmlformats.org/officeDocument/2006/relationships/image" Target="../media/image5.w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5.vml"/><Relationship Id="rId3" Type="http://schemas.openxmlformats.org/officeDocument/2006/relationships/slideLayout" Target="../slideLayouts/slideLayout1.xml"/><Relationship Id="rId2" Type="http://schemas.openxmlformats.org/officeDocument/2006/relationships/image" Target="../media/image6.wmf"/><Relationship Id="rId1"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vmlDrawing" Target="../drawings/vmlDrawing6.vml"/><Relationship Id="rId5" Type="http://schemas.openxmlformats.org/officeDocument/2006/relationships/slideLayout" Target="../slideLayouts/slideLayout12.xml"/><Relationship Id="rId4" Type="http://schemas.openxmlformats.org/officeDocument/2006/relationships/image" Target="../media/image8.wmf"/><Relationship Id="rId3" Type="http://schemas.openxmlformats.org/officeDocument/2006/relationships/oleObject" Target="../embeddings/oleObject8.bin"/><Relationship Id="rId2" Type="http://schemas.openxmlformats.org/officeDocument/2006/relationships/image" Target="../media/image7.wmf"/><Relationship Id="rId1" Type="http://schemas.openxmlformats.org/officeDocument/2006/relationships/oleObject" Target="../embeddings/oleObject7.bin"/></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vmlDrawing" Target="../drawings/vmlDrawing7.vml"/><Relationship Id="rId3" Type="http://schemas.openxmlformats.org/officeDocument/2006/relationships/slideLayout" Target="../slideLayouts/slideLayout11.xml"/><Relationship Id="rId2" Type="http://schemas.openxmlformats.org/officeDocument/2006/relationships/image" Target="../media/image9.wmf"/><Relationship Id="rId1" Type="http://schemas.openxmlformats.org/officeDocument/2006/relationships/oleObject" Target="../embeddings/oleObject9.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vmlDrawing" Target="../drawings/vmlDrawing8.vml"/><Relationship Id="rId3" Type="http://schemas.openxmlformats.org/officeDocument/2006/relationships/slideLayout" Target="../slideLayouts/slideLayout6.xml"/><Relationship Id="rId2" Type="http://schemas.openxmlformats.org/officeDocument/2006/relationships/image" Target="../media/image10.wmf"/><Relationship Id="rId1" Type="http://schemas.openxmlformats.org/officeDocument/2006/relationships/oleObject" Target="../embeddings/oleObject10.bin"/></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6.xml"/><Relationship Id="rId4" Type="http://schemas.openxmlformats.org/officeDocument/2006/relationships/image" Target="../media/image12.wmf"/><Relationship Id="rId3" Type="http://schemas.openxmlformats.org/officeDocument/2006/relationships/oleObject" Target="../embeddings/oleObject12.bin"/><Relationship Id="rId2" Type="http://schemas.openxmlformats.org/officeDocument/2006/relationships/image" Target="../media/image11.wmf"/><Relationship Id="rId1" Type="http://schemas.openxmlformats.org/officeDocument/2006/relationships/oleObject" Target="../embeddings/oleObject11.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6.xml"/><Relationship Id="rId2" Type="http://schemas.openxmlformats.org/officeDocument/2006/relationships/image" Target="../media/image14.wmf"/><Relationship Id="rId1" Type="http://schemas.openxmlformats.org/officeDocument/2006/relationships/oleObject" Target="../embeddings/oleObject13.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標題 1"/>
          <p:cNvSpPr>
            <a:spLocks noGrp="1"/>
          </p:cNvSpPr>
          <p:nvPr>
            <p:ph type="title"/>
          </p:nvPr>
        </p:nvSpPr>
        <p:spPr>
          <a:xfrm>
            <a:off x="457200" y="457200"/>
            <a:ext cx="8229600" cy="914400"/>
          </a:xfrm>
        </p:spPr>
        <p:txBody>
          <a:bodyPr vert="horz" wrap="square" lIns="91440" tIns="45720" rIns="91440" bIns="45720" anchor="ctr"/>
          <a:p>
            <a:r>
              <a:rPr lang="en-US" altLang="zh-TW" dirty="0"/>
              <a:t>Outline</a:t>
            </a:r>
            <a:endParaRPr lang="zh-TW" altLang="en-US" dirty="0"/>
          </a:p>
        </p:txBody>
      </p:sp>
      <p:sp>
        <p:nvSpPr>
          <p:cNvPr id="2051" name="內容版面配置區 2"/>
          <p:cNvSpPr>
            <a:spLocks noGrp="1"/>
          </p:cNvSpPr>
          <p:nvPr>
            <p:ph idx="1"/>
          </p:nvPr>
        </p:nvSpPr>
        <p:spPr>
          <a:xfrm>
            <a:off x="381000" y="1524000"/>
            <a:ext cx="8534400" cy="4724400"/>
          </a:xfrm>
        </p:spPr>
        <p:txBody>
          <a:bodyPr vert="horz" wrap="square" lIns="91440" tIns="45720" rIns="91440" bIns="45720" anchor="t"/>
          <a:p>
            <a:r>
              <a:rPr lang="en-US" altLang="zh-TW" sz="2800" dirty="0"/>
              <a:t>10.1 Graph and Graph Models</a:t>
            </a:r>
            <a:endParaRPr lang="en-US" altLang="zh-TW" sz="2800" dirty="0"/>
          </a:p>
          <a:p>
            <a:r>
              <a:rPr lang="en-US" altLang="zh-TW" sz="2800" dirty="0"/>
              <a:t>10.2 Graph Terminology and Special Types of </a:t>
            </a:r>
            <a:br>
              <a:rPr lang="en-US" altLang="zh-TW" sz="2800" dirty="0"/>
            </a:br>
            <a:r>
              <a:rPr lang="en-US" altLang="zh-TW" sz="2800" dirty="0"/>
              <a:t>      Graphs</a:t>
            </a:r>
            <a:endParaRPr lang="en-US" altLang="zh-TW" sz="2800" dirty="0"/>
          </a:p>
          <a:p>
            <a:r>
              <a:rPr lang="en-US" altLang="zh-TW" sz="2800" dirty="0"/>
              <a:t>10.3 Representing Graphs and Graph Isomorphism</a:t>
            </a:r>
            <a:endParaRPr lang="en-US" altLang="zh-TW" sz="2800" dirty="0"/>
          </a:p>
          <a:p>
            <a:r>
              <a:rPr lang="en-US" altLang="zh-TW" sz="2800" dirty="0"/>
              <a:t>10.4 Connectivity</a:t>
            </a:r>
            <a:endParaRPr lang="en-US" altLang="zh-TW" sz="2800" dirty="0"/>
          </a:p>
          <a:p>
            <a:r>
              <a:rPr lang="en-US" altLang="zh-TW" sz="2800" dirty="0"/>
              <a:t>10.5 Euler and Hamiltonian Paths</a:t>
            </a:r>
            <a:endParaRPr lang="en-US" altLang="zh-TW" sz="2800" dirty="0"/>
          </a:p>
          <a:p>
            <a:r>
              <a:rPr lang="en-US" altLang="zh-TW" sz="2800" dirty="0"/>
              <a:t>10.6 Shortest-Path Problems</a:t>
            </a:r>
            <a:endParaRPr lang="en-US" altLang="zh-TW" sz="2800" dirty="0"/>
          </a:p>
          <a:p>
            <a:r>
              <a:rPr lang="en-US" altLang="zh-TW" sz="2800" dirty="0"/>
              <a:t>10.7 Planar Graphs</a:t>
            </a:r>
            <a:endParaRPr lang="en-US" altLang="zh-TW" sz="2800" dirty="0"/>
          </a:p>
          <a:p>
            <a:r>
              <a:rPr lang="en-US" altLang="zh-TW" sz="2800" dirty="0"/>
              <a:t>10.8 Graph Coloring</a:t>
            </a:r>
            <a:endParaRPr lang="zh-TW" altLang="en-US" sz="2800" dirty="0"/>
          </a:p>
        </p:txBody>
      </p:sp>
      <p:sp>
        <p:nvSpPr>
          <p:cNvPr id="2052" name="投影片編號版面配置區 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title"/>
          </p:nvPr>
        </p:nvSpPr>
        <p:spPr>
          <a:xfrm>
            <a:off x="457200" y="457200"/>
            <a:ext cx="8686800" cy="762000"/>
          </a:xfrm>
        </p:spPr>
        <p:txBody>
          <a:bodyPr vert="horz" wrap="square" lIns="91440" tIns="45720" rIns="91440" bIns="45720" anchor="ctr"/>
          <a:p>
            <a:pPr eaLnBrk="1" hangingPunct="1"/>
            <a:r>
              <a:rPr lang="en-US" altLang="zh-TW" dirty="0"/>
              <a:t>§10.1 Graphs and Graph Models</a:t>
            </a:r>
            <a:endParaRPr lang="en-US" altLang="zh-TW" dirty="0"/>
          </a:p>
        </p:txBody>
      </p:sp>
      <p:sp>
        <p:nvSpPr>
          <p:cNvPr id="5123" name="Rectangle 3"/>
          <p:cNvSpPr>
            <a:spLocks noGrp="1"/>
          </p:cNvSpPr>
          <p:nvPr>
            <p:ph idx="1"/>
          </p:nvPr>
        </p:nvSpPr>
        <p:spPr>
          <a:xfrm>
            <a:off x="304800" y="1219200"/>
            <a:ext cx="8610600" cy="2209800"/>
          </a:xfrm>
        </p:spPr>
        <p:txBody>
          <a:bodyPr vert="horz" wrap="square" lIns="91440" tIns="45720" rIns="91440" bIns="45720" anchor="t"/>
          <a:p>
            <a:pPr eaLnBrk="1" hangingPunct="1">
              <a:buNone/>
            </a:pPr>
            <a:r>
              <a:rPr lang="en-US" altLang="zh-TW" sz="2800" b="1" dirty="0">
                <a:solidFill>
                  <a:srgbClr val="FF0000"/>
                </a:solidFill>
              </a:rPr>
              <a:t>Def 1.</a:t>
            </a:r>
            <a:r>
              <a:rPr lang="en-US" altLang="zh-TW" sz="2800" dirty="0"/>
              <a:t>  A </a:t>
            </a:r>
            <a:r>
              <a:rPr lang="en-US" altLang="zh-TW" sz="2800" dirty="0">
                <a:solidFill>
                  <a:srgbClr val="0000CC"/>
                </a:solidFill>
              </a:rPr>
              <a:t>graph</a:t>
            </a:r>
            <a:r>
              <a:rPr lang="en-US" altLang="zh-TW" sz="2800" dirty="0"/>
              <a:t> </a:t>
            </a:r>
            <a:r>
              <a:rPr lang="en-US" altLang="zh-TW" sz="2800" b="1" i="1" dirty="0">
                <a:latin typeface="Times New Roman" panose="02020603050405020304" pitchFamily="18" charset="0"/>
              </a:rPr>
              <a:t>G </a:t>
            </a:r>
            <a:r>
              <a:rPr lang="en-US" altLang="zh-TW" sz="2800" b="1" dirty="0">
                <a:latin typeface="Times New Roman" panose="02020603050405020304" pitchFamily="18" charset="0"/>
              </a:rPr>
              <a:t>= (</a:t>
            </a:r>
            <a:r>
              <a:rPr lang="en-US" altLang="zh-TW" sz="2800" b="1" i="1" dirty="0">
                <a:latin typeface="Times New Roman" panose="02020603050405020304" pitchFamily="18" charset="0"/>
              </a:rPr>
              <a:t>V</a:t>
            </a:r>
            <a:r>
              <a:rPr lang="en-US" altLang="zh-TW" sz="2800" b="1" dirty="0">
                <a:latin typeface="Times New Roman" panose="02020603050405020304" pitchFamily="18" charset="0"/>
              </a:rPr>
              <a:t>, </a:t>
            </a:r>
            <a:r>
              <a:rPr lang="en-US" altLang="zh-TW" sz="2800" b="1" i="1" dirty="0">
                <a:latin typeface="Times New Roman" panose="02020603050405020304" pitchFamily="18" charset="0"/>
              </a:rPr>
              <a:t>E</a:t>
            </a:r>
            <a:r>
              <a:rPr lang="en-US" altLang="zh-TW" sz="2800" b="1" dirty="0">
                <a:latin typeface="Times New Roman" panose="02020603050405020304" pitchFamily="18" charset="0"/>
              </a:rPr>
              <a:t>)</a:t>
            </a:r>
            <a:r>
              <a:rPr lang="en-US" altLang="zh-TW" sz="2800" dirty="0"/>
              <a:t> consists of </a:t>
            </a:r>
            <a:r>
              <a:rPr lang="en-US" altLang="zh-TW" sz="2800" b="1" i="1" dirty="0">
                <a:latin typeface="Times New Roman" panose="02020603050405020304" pitchFamily="18" charset="0"/>
              </a:rPr>
              <a:t>V</a:t>
            </a:r>
            <a:r>
              <a:rPr lang="en-US" altLang="zh-TW" sz="2800" dirty="0">
                <a:latin typeface="Times New Roman" panose="02020603050405020304" pitchFamily="18" charset="0"/>
              </a:rPr>
              <a:t>, </a:t>
            </a:r>
            <a:r>
              <a:rPr lang="en-US" altLang="zh-TW" sz="2800" dirty="0"/>
              <a:t>a nonempty set of </a:t>
            </a:r>
            <a:r>
              <a:rPr lang="en-US" altLang="zh-TW" sz="2800" dirty="0">
                <a:solidFill>
                  <a:srgbClr val="0000CC"/>
                </a:solidFill>
              </a:rPr>
              <a:t>vertices </a:t>
            </a:r>
            <a:r>
              <a:rPr lang="en-US" altLang="zh-TW" sz="2800" dirty="0">
                <a:solidFill>
                  <a:schemeClr val="tx2"/>
                </a:solidFill>
              </a:rPr>
              <a:t>(or </a:t>
            </a:r>
            <a:r>
              <a:rPr lang="en-US" altLang="zh-TW" sz="2800" dirty="0">
                <a:solidFill>
                  <a:srgbClr val="3333CC"/>
                </a:solidFill>
              </a:rPr>
              <a:t>nodes</a:t>
            </a:r>
            <a:r>
              <a:rPr lang="en-US" altLang="zh-TW" sz="2800" dirty="0">
                <a:solidFill>
                  <a:schemeClr val="tx2"/>
                </a:solidFill>
              </a:rPr>
              <a:t>)</a:t>
            </a:r>
            <a:r>
              <a:rPr lang="en-US" altLang="zh-TW" sz="2800" dirty="0"/>
              <a:t>, and </a:t>
            </a:r>
            <a:r>
              <a:rPr lang="en-US" altLang="zh-TW" sz="2800" b="1" i="1" dirty="0">
                <a:latin typeface="Times New Roman" panose="02020603050405020304" pitchFamily="18" charset="0"/>
              </a:rPr>
              <a:t>E</a:t>
            </a:r>
            <a:r>
              <a:rPr lang="en-US" altLang="zh-TW" sz="2800" dirty="0"/>
              <a:t>, a set of </a:t>
            </a:r>
            <a:r>
              <a:rPr lang="en-US" altLang="zh-TW" sz="2800" dirty="0">
                <a:solidFill>
                  <a:srgbClr val="0000CC"/>
                </a:solidFill>
              </a:rPr>
              <a:t>edges</a:t>
            </a:r>
            <a:r>
              <a:rPr lang="en-US" altLang="zh-TW" sz="2800" dirty="0"/>
              <a:t>. Each edge has either one or two vertices associated with it, called its </a:t>
            </a:r>
            <a:r>
              <a:rPr lang="en-US" altLang="zh-TW" sz="2800" dirty="0">
                <a:solidFill>
                  <a:srgbClr val="0000CC"/>
                </a:solidFill>
              </a:rPr>
              <a:t>endpoints</a:t>
            </a:r>
            <a:r>
              <a:rPr lang="en-US" altLang="zh-TW" sz="2800" dirty="0"/>
              <a:t>. An edge is said to </a:t>
            </a:r>
            <a:r>
              <a:rPr lang="en-US" altLang="zh-TW" sz="2800" dirty="0">
                <a:solidFill>
                  <a:srgbClr val="0000CC"/>
                </a:solidFill>
              </a:rPr>
              <a:t>connect</a:t>
            </a:r>
            <a:r>
              <a:rPr lang="en-US" altLang="zh-TW" sz="2800" dirty="0"/>
              <a:t> its endpoints.</a:t>
            </a:r>
            <a:endParaRPr lang="en-US" altLang="zh-TW" sz="2800" dirty="0"/>
          </a:p>
          <a:p>
            <a:pPr eaLnBrk="1" hangingPunct="1">
              <a:buNone/>
            </a:pPr>
            <a:r>
              <a:rPr lang="en-US" altLang="zh-TW" dirty="0"/>
              <a:t>eg.</a:t>
            </a:r>
            <a:endParaRPr lang="en-US" altLang="zh-TW" dirty="0"/>
          </a:p>
          <a:p>
            <a:pPr eaLnBrk="1" hangingPunct="1">
              <a:buNone/>
            </a:pPr>
            <a:endParaRPr lang="en-US" altLang="zh-TW" dirty="0"/>
          </a:p>
        </p:txBody>
      </p:sp>
      <p:grpSp>
        <p:nvGrpSpPr>
          <p:cNvPr id="2" name="Group 44"/>
          <p:cNvGrpSpPr/>
          <p:nvPr/>
        </p:nvGrpSpPr>
        <p:grpSpPr>
          <a:xfrm>
            <a:off x="593725" y="3640138"/>
            <a:ext cx="7893050" cy="2938462"/>
            <a:chOff x="374" y="2293"/>
            <a:chExt cx="4972" cy="1851"/>
          </a:xfrm>
        </p:grpSpPr>
        <p:sp>
          <p:nvSpPr>
            <p:cNvPr id="3078" name="Oval 4"/>
            <p:cNvSpPr/>
            <p:nvPr/>
          </p:nvSpPr>
          <p:spPr>
            <a:xfrm>
              <a:off x="480" y="2976"/>
              <a:ext cx="86" cy="86"/>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3079" name="AutoShape 15"/>
            <p:cNvCxnSpPr>
              <a:stCxn id="3078" idx="5"/>
              <a:endCxn id="3097" idx="5"/>
            </p:cNvCxnSpPr>
            <p:nvPr/>
          </p:nvCxnSpPr>
          <p:spPr>
            <a:xfrm>
              <a:off x="553" y="3049"/>
              <a:ext cx="480" cy="406"/>
            </a:xfrm>
            <a:prstGeom prst="straightConnector1">
              <a:avLst/>
            </a:prstGeom>
            <a:ln w="9525" cap="flat" cmpd="sng">
              <a:solidFill>
                <a:schemeClr val="tx1"/>
              </a:solidFill>
              <a:prstDash val="solid"/>
              <a:headEnd type="none" w="med" len="med"/>
              <a:tailEnd type="none" w="med" len="med"/>
            </a:ln>
          </p:spPr>
        </p:cxnSp>
        <p:cxnSp>
          <p:nvCxnSpPr>
            <p:cNvPr id="3080" name="AutoShape 16"/>
            <p:cNvCxnSpPr>
              <a:stCxn id="3097" idx="0"/>
            </p:cNvCxnSpPr>
            <p:nvPr/>
          </p:nvCxnSpPr>
          <p:spPr>
            <a:xfrm flipH="1">
              <a:off x="603" y="3382"/>
              <a:ext cx="400" cy="335"/>
            </a:xfrm>
            <a:prstGeom prst="straightConnector1">
              <a:avLst/>
            </a:prstGeom>
            <a:ln w="9525" cap="flat" cmpd="sng">
              <a:solidFill>
                <a:schemeClr val="tx1"/>
              </a:solidFill>
              <a:prstDash val="solid"/>
              <a:headEnd type="none" w="med" len="med"/>
              <a:tailEnd type="none" w="med" len="med"/>
            </a:ln>
          </p:spPr>
        </p:cxnSp>
        <p:cxnSp>
          <p:nvCxnSpPr>
            <p:cNvPr id="3081" name="AutoShape 17"/>
            <p:cNvCxnSpPr>
              <a:stCxn id="3078" idx="4"/>
            </p:cNvCxnSpPr>
            <p:nvPr/>
          </p:nvCxnSpPr>
          <p:spPr>
            <a:xfrm>
              <a:off x="523" y="3062"/>
              <a:ext cx="29" cy="634"/>
            </a:xfrm>
            <a:prstGeom prst="straightConnector1">
              <a:avLst/>
            </a:prstGeom>
            <a:ln w="9525" cap="flat" cmpd="sng">
              <a:solidFill>
                <a:schemeClr val="tx1"/>
              </a:solidFill>
              <a:prstDash val="solid"/>
              <a:headEnd type="none" w="med" len="med"/>
              <a:tailEnd type="none" w="med" len="med"/>
            </a:ln>
          </p:spPr>
        </p:cxnSp>
        <p:cxnSp>
          <p:nvCxnSpPr>
            <p:cNvPr id="3082" name="AutoShape 18"/>
            <p:cNvCxnSpPr>
              <a:stCxn id="3097" idx="6"/>
              <a:endCxn id="3098" idx="6"/>
            </p:cNvCxnSpPr>
            <p:nvPr/>
          </p:nvCxnSpPr>
          <p:spPr>
            <a:xfrm>
              <a:off x="1046" y="3425"/>
              <a:ext cx="672" cy="0"/>
            </a:xfrm>
            <a:prstGeom prst="straightConnector1">
              <a:avLst/>
            </a:prstGeom>
            <a:ln w="9525" cap="flat" cmpd="sng">
              <a:solidFill>
                <a:schemeClr val="tx1"/>
              </a:solidFill>
              <a:prstDash val="solid"/>
              <a:headEnd type="none" w="med" len="med"/>
              <a:tailEnd type="none" w="med" len="med"/>
            </a:ln>
          </p:spPr>
        </p:cxnSp>
        <p:cxnSp>
          <p:nvCxnSpPr>
            <p:cNvPr id="3083" name="AutoShape 19"/>
            <p:cNvCxnSpPr/>
            <p:nvPr/>
          </p:nvCxnSpPr>
          <p:spPr>
            <a:xfrm flipV="1">
              <a:off x="1707" y="3099"/>
              <a:ext cx="282" cy="282"/>
            </a:xfrm>
            <a:prstGeom prst="straightConnector1">
              <a:avLst/>
            </a:prstGeom>
            <a:ln w="9525" cap="flat" cmpd="sng">
              <a:solidFill>
                <a:schemeClr val="tx1"/>
              </a:solidFill>
              <a:prstDash val="solid"/>
              <a:headEnd type="none" w="med" len="med"/>
              <a:tailEnd type="none" w="med" len="med"/>
            </a:ln>
          </p:spPr>
        </p:cxnSp>
        <p:cxnSp>
          <p:nvCxnSpPr>
            <p:cNvPr id="3084" name="AutoShape 20"/>
            <p:cNvCxnSpPr>
              <a:stCxn id="3096" idx="5"/>
            </p:cNvCxnSpPr>
            <p:nvPr/>
          </p:nvCxnSpPr>
          <p:spPr>
            <a:xfrm>
              <a:off x="2041" y="3097"/>
              <a:ext cx="380" cy="284"/>
            </a:xfrm>
            <a:prstGeom prst="straightConnector1">
              <a:avLst/>
            </a:prstGeom>
            <a:ln w="9525" cap="flat" cmpd="sng">
              <a:solidFill>
                <a:schemeClr val="tx1"/>
              </a:solidFill>
              <a:prstDash val="solid"/>
              <a:headEnd type="none" w="med" len="med"/>
              <a:tailEnd type="none" w="med" len="med"/>
            </a:ln>
          </p:spPr>
        </p:cxnSp>
        <p:cxnSp>
          <p:nvCxnSpPr>
            <p:cNvPr id="3085" name="AutoShape 21"/>
            <p:cNvCxnSpPr>
              <a:stCxn id="3099" idx="3"/>
              <a:endCxn id="3100" idx="6"/>
            </p:cNvCxnSpPr>
            <p:nvPr/>
          </p:nvCxnSpPr>
          <p:spPr>
            <a:xfrm flipH="1">
              <a:off x="2054" y="3433"/>
              <a:ext cx="359" cy="306"/>
            </a:xfrm>
            <a:prstGeom prst="straightConnector1">
              <a:avLst/>
            </a:prstGeom>
            <a:ln w="9525" cap="flat" cmpd="sng">
              <a:solidFill>
                <a:schemeClr val="tx1"/>
              </a:solidFill>
              <a:prstDash val="solid"/>
              <a:headEnd type="none" w="med" len="med"/>
              <a:tailEnd type="none" w="med" len="med"/>
            </a:ln>
          </p:spPr>
        </p:cxnSp>
        <p:cxnSp>
          <p:nvCxnSpPr>
            <p:cNvPr id="3086" name="AutoShape 22"/>
            <p:cNvCxnSpPr>
              <a:stCxn id="3098" idx="5"/>
            </p:cNvCxnSpPr>
            <p:nvPr/>
          </p:nvCxnSpPr>
          <p:spPr>
            <a:xfrm>
              <a:off x="1705" y="3455"/>
              <a:ext cx="284" cy="262"/>
            </a:xfrm>
            <a:prstGeom prst="straightConnector1">
              <a:avLst/>
            </a:prstGeom>
            <a:ln w="9525" cap="flat" cmpd="sng">
              <a:solidFill>
                <a:schemeClr val="tx1"/>
              </a:solidFill>
              <a:prstDash val="solid"/>
              <a:headEnd type="none" w="med" len="med"/>
              <a:tailEnd type="none" w="med" len="med"/>
            </a:ln>
          </p:spPr>
        </p:cxnSp>
        <p:sp>
          <p:nvSpPr>
            <p:cNvPr id="3087" name="Text Box 23"/>
            <p:cNvSpPr txBox="1"/>
            <p:nvPr/>
          </p:nvSpPr>
          <p:spPr>
            <a:xfrm>
              <a:off x="422" y="2665"/>
              <a:ext cx="29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endParaRPr lang="en-US" altLang="zh-TW" sz="2800" baseline="-25000" dirty="0">
                <a:latin typeface="Times New Roman" panose="02020603050405020304" pitchFamily="18" charset="0"/>
                <a:ea typeface="Times New Roman" panose="02020603050405020304" pitchFamily="18" charset="0"/>
              </a:endParaRPr>
            </a:p>
          </p:txBody>
        </p:sp>
        <p:sp>
          <p:nvSpPr>
            <p:cNvPr id="3088" name="Text Box 24"/>
            <p:cNvSpPr txBox="1"/>
            <p:nvPr/>
          </p:nvSpPr>
          <p:spPr>
            <a:xfrm>
              <a:off x="374" y="3817"/>
              <a:ext cx="29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2</a:t>
              </a:r>
              <a:endParaRPr lang="en-US" altLang="zh-TW" sz="2800" baseline="-25000" dirty="0">
                <a:latin typeface="Times New Roman" panose="02020603050405020304" pitchFamily="18" charset="0"/>
                <a:ea typeface="Times New Roman" panose="02020603050405020304" pitchFamily="18" charset="0"/>
              </a:endParaRPr>
            </a:p>
          </p:txBody>
        </p:sp>
        <p:sp>
          <p:nvSpPr>
            <p:cNvPr id="3089" name="Text Box 26"/>
            <p:cNvSpPr txBox="1"/>
            <p:nvPr/>
          </p:nvSpPr>
          <p:spPr>
            <a:xfrm>
              <a:off x="864" y="3074"/>
              <a:ext cx="29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3</a:t>
              </a:r>
              <a:endParaRPr lang="en-US" altLang="zh-TW" sz="2800" baseline="-25000" dirty="0">
                <a:latin typeface="Times New Roman" panose="02020603050405020304" pitchFamily="18" charset="0"/>
                <a:ea typeface="Times New Roman" panose="02020603050405020304" pitchFamily="18" charset="0"/>
              </a:endParaRPr>
            </a:p>
          </p:txBody>
        </p:sp>
        <p:sp>
          <p:nvSpPr>
            <p:cNvPr id="3090" name="Text Box 27"/>
            <p:cNvSpPr txBox="1"/>
            <p:nvPr/>
          </p:nvSpPr>
          <p:spPr>
            <a:xfrm>
              <a:off x="1464" y="3074"/>
              <a:ext cx="29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4</a:t>
              </a:r>
              <a:endParaRPr lang="en-US" altLang="zh-TW" sz="2800" baseline="-25000" dirty="0">
                <a:latin typeface="Times New Roman" panose="02020603050405020304" pitchFamily="18" charset="0"/>
                <a:ea typeface="Times New Roman" panose="02020603050405020304" pitchFamily="18" charset="0"/>
              </a:endParaRPr>
            </a:p>
          </p:txBody>
        </p:sp>
        <p:sp>
          <p:nvSpPr>
            <p:cNvPr id="3091" name="Text Box 28"/>
            <p:cNvSpPr txBox="1"/>
            <p:nvPr/>
          </p:nvSpPr>
          <p:spPr>
            <a:xfrm>
              <a:off x="1872" y="3794"/>
              <a:ext cx="29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7</a:t>
              </a:r>
              <a:endParaRPr lang="en-US" altLang="zh-TW" sz="2800" baseline="-25000" dirty="0">
                <a:latin typeface="Times New Roman" panose="02020603050405020304" pitchFamily="18" charset="0"/>
                <a:ea typeface="Times New Roman" panose="02020603050405020304" pitchFamily="18" charset="0"/>
              </a:endParaRPr>
            </a:p>
          </p:txBody>
        </p:sp>
        <p:sp>
          <p:nvSpPr>
            <p:cNvPr id="3092" name="Text Box 30"/>
            <p:cNvSpPr txBox="1"/>
            <p:nvPr/>
          </p:nvSpPr>
          <p:spPr>
            <a:xfrm>
              <a:off x="2448" y="3216"/>
              <a:ext cx="29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6</a:t>
              </a:r>
              <a:endParaRPr lang="en-US" altLang="zh-TW" sz="2800" baseline="-25000" dirty="0">
                <a:latin typeface="Times New Roman" panose="02020603050405020304" pitchFamily="18" charset="0"/>
                <a:ea typeface="Times New Roman" panose="02020603050405020304" pitchFamily="18" charset="0"/>
              </a:endParaRPr>
            </a:p>
          </p:txBody>
        </p:sp>
        <p:sp>
          <p:nvSpPr>
            <p:cNvPr id="3093" name="Text Box 31"/>
            <p:cNvSpPr txBox="1"/>
            <p:nvPr/>
          </p:nvSpPr>
          <p:spPr>
            <a:xfrm>
              <a:off x="3312" y="2400"/>
              <a:ext cx="11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zh-TW" sz="1800" dirty="0"/>
            </a:p>
          </p:txBody>
        </p:sp>
        <p:sp>
          <p:nvSpPr>
            <p:cNvPr id="3094" name="Text Box 32"/>
            <p:cNvSpPr txBox="1"/>
            <p:nvPr/>
          </p:nvSpPr>
          <p:spPr>
            <a:xfrm>
              <a:off x="2640" y="2293"/>
              <a:ext cx="2706" cy="14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G</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E</a:t>
              </a:r>
              <a:r>
                <a:rPr lang="en-US" altLang="zh-TW" sz="2800" dirty="0">
                  <a:latin typeface="Times New Roman" panose="02020603050405020304" pitchFamily="18" charset="0"/>
                  <a:cs typeface="Times New Roman" panose="02020603050405020304" pitchFamily="18" charset="0"/>
                </a:rPr>
                <a:t>)</a:t>
              </a:r>
              <a:r>
                <a:rPr lang="en-US" altLang="zh-TW" sz="2800" dirty="0"/>
                <a:t>, where </a:t>
              </a:r>
              <a:endParaRPr lang="en-US" altLang="zh-TW" sz="2800" dirty="0"/>
            </a:p>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V</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ea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7</a:t>
              </a:r>
              <a:r>
                <a:rPr lang="en-US" altLang="zh-TW" sz="2800" dirty="0">
                  <a:latin typeface="Times New Roman" panose="02020603050405020304" pitchFamily="18" charset="0"/>
                  <a:cs typeface="Times New Roman" panose="02020603050405020304" pitchFamily="18" charset="0"/>
                </a:rPr>
                <a:t>}</a:t>
              </a:r>
              <a:endParaRPr lang="en-US" altLang="zh-TW" sz="28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E</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a:t>
              </a:r>
              <a:endParaRPr lang="en-US" altLang="zh-TW" sz="28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5</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6</a:t>
              </a:r>
              <a:r>
                <a:rPr lang="en-US" altLang="zh-TW" sz="2800" dirty="0">
                  <a:latin typeface="Times New Roman" panose="02020603050405020304" pitchFamily="18" charset="0"/>
                  <a:cs typeface="Times New Roman" panose="02020603050405020304" pitchFamily="18" charset="0"/>
                </a:rPr>
                <a:t>}</a:t>
              </a:r>
              <a:endParaRPr lang="en-US" altLang="zh-TW" sz="28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7</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5</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6</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6</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7</a:t>
              </a:r>
              <a:r>
                <a:rPr lang="en-US" altLang="zh-TW" sz="2800" dirty="0">
                  <a:latin typeface="Times New Roman" panose="02020603050405020304" pitchFamily="18" charset="0"/>
                  <a:cs typeface="Times New Roman" panose="02020603050405020304" pitchFamily="18" charset="0"/>
                </a:rPr>
                <a:t>}}</a:t>
              </a:r>
              <a:endParaRPr lang="en-US" altLang="zh-TW" sz="2800" dirty="0">
                <a:latin typeface="Times New Roman" panose="02020603050405020304" pitchFamily="18" charset="0"/>
                <a:ea typeface="Times New Roman" panose="02020603050405020304" pitchFamily="18" charset="0"/>
              </a:endParaRPr>
            </a:p>
          </p:txBody>
        </p:sp>
        <p:cxnSp>
          <p:nvCxnSpPr>
            <p:cNvPr id="3095" name="AutoShape 35"/>
            <p:cNvCxnSpPr>
              <a:stCxn id="3098" idx="6"/>
              <a:endCxn id="3099" idx="2"/>
            </p:cNvCxnSpPr>
            <p:nvPr/>
          </p:nvCxnSpPr>
          <p:spPr>
            <a:xfrm flipV="1">
              <a:off x="1718" y="3403"/>
              <a:ext cx="682" cy="22"/>
            </a:xfrm>
            <a:prstGeom prst="straightConnector1">
              <a:avLst/>
            </a:prstGeom>
            <a:ln w="9525" cap="flat" cmpd="sng">
              <a:solidFill>
                <a:schemeClr val="tx1"/>
              </a:solidFill>
              <a:prstDash val="solid"/>
              <a:headEnd type="none" w="med" len="med"/>
              <a:tailEnd type="none" w="med" len="med"/>
            </a:ln>
          </p:spPr>
        </p:cxnSp>
        <p:sp>
          <p:nvSpPr>
            <p:cNvPr id="3096" name="Oval 36"/>
            <p:cNvSpPr/>
            <p:nvPr/>
          </p:nvSpPr>
          <p:spPr>
            <a:xfrm>
              <a:off x="1968" y="3024"/>
              <a:ext cx="86" cy="86"/>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097" name="Oval 37"/>
            <p:cNvSpPr/>
            <p:nvPr/>
          </p:nvSpPr>
          <p:spPr>
            <a:xfrm>
              <a:off x="960" y="3382"/>
              <a:ext cx="86" cy="86"/>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098" name="Oval 38"/>
            <p:cNvSpPr/>
            <p:nvPr/>
          </p:nvSpPr>
          <p:spPr>
            <a:xfrm>
              <a:off x="1632" y="3382"/>
              <a:ext cx="86" cy="86"/>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099" name="Oval 39"/>
            <p:cNvSpPr/>
            <p:nvPr/>
          </p:nvSpPr>
          <p:spPr>
            <a:xfrm>
              <a:off x="2400" y="3360"/>
              <a:ext cx="86" cy="86"/>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100" name="Oval 42"/>
            <p:cNvSpPr/>
            <p:nvPr/>
          </p:nvSpPr>
          <p:spPr>
            <a:xfrm>
              <a:off x="1968" y="3696"/>
              <a:ext cx="86" cy="86"/>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101" name="Oval 43"/>
            <p:cNvSpPr/>
            <p:nvPr/>
          </p:nvSpPr>
          <p:spPr>
            <a:xfrm>
              <a:off x="528" y="3696"/>
              <a:ext cx="86" cy="86"/>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102" name="Text Box 29"/>
            <p:cNvSpPr txBox="1"/>
            <p:nvPr/>
          </p:nvSpPr>
          <p:spPr>
            <a:xfrm>
              <a:off x="1824" y="2688"/>
              <a:ext cx="29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5</a:t>
              </a:r>
              <a:endParaRPr lang="en-US" altLang="zh-TW" sz="2800" baseline="-25000" dirty="0">
                <a:latin typeface="Times New Roman" panose="02020603050405020304" pitchFamily="18" charset="0"/>
                <a:ea typeface="Times New Roman" panose="02020603050405020304" pitchFamily="18" charset="0"/>
              </a:endParaRPr>
            </a:p>
          </p:txBody>
        </p:sp>
      </p:grpSp>
      <p:sp>
        <p:nvSpPr>
          <p:cNvPr id="3077" name="投影片編號版面配置區 30"/>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3">
                                            <p:txEl>
                                              <p:charRg st="229" end="233"/>
                                            </p:txEl>
                                          </p:spTgt>
                                        </p:tgtEl>
                                        <p:attrNameLst>
                                          <p:attrName>style.visibility</p:attrName>
                                        </p:attrNameLst>
                                      </p:cBhvr>
                                      <p:to>
                                        <p:strVal val="visible"/>
                                      </p:to>
                                    </p:set>
                                    <p:anim calcmode="lin" valueType="num">
                                      <p:cBhvr additive="base">
                                        <p:cTn id="11" dur="500" fill="hold"/>
                                        <p:tgtEl>
                                          <p:spTgt spid="5123">
                                            <p:txEl>
                                              <p:charRg st="229" end="23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3">
                                            <p:txEl>
                                              <p:charRg st="229" end="23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Rectangle 3"/>
          <p:cNvSpPr>
            <a:spLocks noGrp="1"/>
          </p:cNvSpPr>
          <p:nvPr>
            <p:ph idx="1"/>
          </p:nvPr>
        </p:nvSpPr>
        <p:spPr>
          <a:xfrm>
            <a:off x="304800" y="2362200"/>
            <a:ext cx="8229600" cy="2286000"/>
          </a:xfrm>
        </p:spPr>
        <p:txBody>
          <a:bodyPr vert="horz" wrap="square" lIns="91440" tIns="45720" rIns="91440" bIns="45720" anchor="t"/>
          <a:p>
            <a:pPr eaLnBrk="1" hangingPunct="1">
              <a:lnSpc>
                <a:spcPct val="80000"/>
              </a:lnSpc>
              <a:buNone/>
            </a:pPr>
            <a:r>
              <a:rPr lang="en-US" altLang="zh-TW" sz="2800" b="1" dirty="0">
                <a:solidFill>
                  <a:srgbClr val="FF0000"/>
                </a:solidFill>
              </a:rPr>
              <a:t>Def </a:t>
            </a:r>
            <a:r>
              <a:rPr lang="en-US" altLang="zh-TW" sz="2800" dirty="0"/>
              <a:t> </a:t>
            </a:r>
            <a:r>
              <a:rPr lang="en-US" altLang="zh-TW" sz="2800" dirty="0">
                <a:solidFill>
                  <a:srgbClr val="0000CC"/>
                </a:solidFill>
              </a:rPr>
              <a:t>Multigraph</a:t>
            </a:r>
            <a:r>
              <a:rPr lang="en-US" altLang="zh-TW" sz="2800" dirty="0"/>
              <a:t>:</a:t>
            </a:r>
            <a:endParaRPr lang="en-US" altLang="zh-TW" sz="2800" dirty="0"/>
          </a:p>
          <a:p>
            <a:pPr eaLnBrk="1" hangingPunct="1">
              <a:lnSpc>
                <a:spcPct val="80000"/>
              </a:lnSpc>
              <a:buNone/>
            </a:pPr>
            <a:r>
              <a:rPr lang="en-US" altLang="zh-TW" sz="2800" dirty="0"/>
              <a:t>	    simple graph + there may be more than one edge connecting two given nodes(</a:t>
            </a:r>
            <a:r>
              <a:rPr lang="en-US" altLang="zh-TW" sz="2800" dirty="0">
                <a:solidFill>
                  <a:srgbClr val="0000CC"/>
                </a:solidFill>
              </a:rPr>
              <a:t>multiedges</a:t>
            </a:r>
            <a:r>
              <a:rPr lang="en-US" altLang="zh-TW" sz="2800" dirty="0"/>
              <a:t>)</a:t>
            </a:r>
            <a:r>
              <a:rPr lang="en-US" altLang="zh-CN" sz="2800" dirty="0"/>
              <a:t>.</a:t>
            </a:r>
            <a:endParaRPr lang="zh-TW" altLang="en-US" sz="2800" dirty="0"/>
          </a:p>
          <a:p>
            <a:pPr eaLnBrk="1" hangingPunct="1">
              <a:lnSpc>
                <a:spcPct val="80000"/>
              </a:lnSpc>
              <a:buNone/>
            </a:pPr>
            <a:endParaRPr lang="en-US" altLang="zh-CN" sz="2800" dirty="0"/>
          </a:p>
          <a:p>
            <a:pPr eaLnBrk="1" hangingPunct="1">
              <a:lnSpc>
                <a:spcPct val="80000"/>
              </a:lnSpc>
              <a:buNone/>
            </a:pPr>
            <a:r>
              <a:rPr lang="en-US" altLang="zh-TW" sz="1600" dirty="0"/>
              <a:t>                                                    </a:t>
            </a:r>
            <a:endParaRPr lang="en-US" altLang="zh-TW" sz="1600" dirty="0"/>
          </a:p>
        </p:txBody>
      </p:sp>
      <p:sp>
        <p:nvSpPr>
          <p:cNvPr id="13316" name="Text Box 5"/>
          <p:cNvSpPr txBox="1"/>
          <p:nvPr/>
        </p:nvSpPr>
        <p:spPr>
          <a:xfrm>
            <a:off x="381000" y="4144963"/>
            <a:ext cx="74771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dirty="0"/>
              <a:t>eg.</a:t>
            </a:r>
            <a:endParaRPr lang="en-US" altLang="zh-TW" dirty="0"/>
          </a:p>
        </p:txBody>
      </p:sp>
      <p:grpSp>
        <p:nvGrpSpPr>
          <p:cNvPr id="2" name="群組 33"/>
          <p:cNvGrpSpPr/>
          <p:nvPr/>
        </p:nvGrpSpPr>
        <p:grpSpPr>
          <a:xfrm>
            <a:off x="1447800" y="3810000"/>
            <a:ext cx="5754688" cy="2743200"/>
            <a:chOff x="1447800" y="3810000"/>
            <a:chExt cx="5754339" cy="2742903"/>
          </a:xfrm>
        </p:grpSpPr>
        <p:cxnSp>
          <p:nvCxnSpPr>
            <p:cNvPr id="4103" name="AutoShape 13"/>
            <p:cNvCxnSpPr>
              <a:endCxn id="4126" idx="5"/>
            </p:cNvCxnSpPr>
            <p:nvPr/>
          </p:nvCxnSpPr>
          <p:spPr>
            <a:xfrm>
              <a:off x="1828800" y="4495800"/>
              <a:ext cx="1335088" cy="685800"/>
            </a:xfrm>
            <a:prstGeom prst="straightConnector1">
              <a:avLst/>
            </a:prstGeom>
            <a:ln w="9525" cap="flat" cmpd="sng">
              <a:solidFill>
                <a:schemeClr val="tx1"/>
              </a:solidFill>
              <a:prstDash val="solid"/>
              <a:headEnd type="none" w="med" len="med"/>
              <a:tailEnd type="none" w="med" len="med"/>
            </a:ln>
          </p:spPr>
        </p:cxnSp>
        <p:cxnSp>
          <p:nvCxnSpPr>
            <p:cNvPr id="4104" name="AutoShape 14"/>
            <p:cNvCxnSpPr/>
            <p:nvPr/>
          </p:nvCxnSpPr>
          <p:spPr>
            <a:xfrm flipH="1">
              <a:off x="1828800" y="5159375"/>
              <a:ext cx="1273175" cy="774700"/>
            </a:xfrm>
            <a:prstGeom prst="straightConnector1">
              <a:avLst/>
            </a:prstGeom>
            <a:ln w="9525" cap="flat" cmpd="sng">
              <a:solidFill>
                <a:schemeClr val="tx1"/>
              </a:solidFill>
              <a:prstDash val="solid"/>
              <a:headEnd type="none" w="med" len="med"/>
              <a:tailEnd type="none" w="med" len="med"/>
            </a:ln>
          </p:spPr>
        </p:cxnSp>
        <p:cxnSp>
          <p:nvCxnSpPr>
            <p:cNvPr id="4105" name="AutoShape 15"/>
            <p:cNvCxnSpPr/>
            <p:nvPr/>
          </p:nvCxnSpPr>
          <p:spPr>
            <a:xfrm>
              <a:off x="1714500" y="4495800"/>
              <a:ext cx="0" cy="1371600"/>
            </a:xfrm>
            <a:prstGeom prst="straightConnector1">
              <a:avLst/>
            </a:prstGeom>
            <a:ln w="9525" cap="flat" cmpd="sng">
              <a:solidFill>
                <a:schemeClr val="tx1"/>
              </a:solidFill>
              <a:prstDash val="solid"/>
              <a:headEnd type="none" w="med" len="med"/>
              <a:tailEnd type="none" w="med" len="med"/>
            </a:ln>
          </p:spPr>
        </p:cxnSp>
        <p:cxnSp>
          <p:nvCxnSpPr>
            <p:cNvPr id="4106" name="AutoShape 16"/>
            <p:cNvCxnSpPr>
              <a:endCxn id="4127" idx="2"/>
            </p:cNvCxnSpPr>
            <p:nvPr/>
          </p:nvCxnSpPr>
          <p:spPr>
            <a:xfrm flipV="1">
              <a:off x="3200400" y="5137150"/>
              <a:ext cx="1676400" cy="3175"/>
            </a:xfrm>
            <a:prstGeom prst="straightConnector1">
              <a:avLst/>
            </a:prstGeom>
            <a:ln w="9525" cap="flat" cmpd="sng">
              <a:solidFill>
                <a:schemeClr val="tx1"/>
              </a:solidFill>
              <a:prstDash val="solid"/>
              <a:headEnd type="none" w="med" len="med"/>
              <a:tailEnd type="none" w="med" len="med"/>
            </a:ln>
          </p:spPr>
        </p:cxnSp>
        <p:cxnSp>
          <p:nvCxnSpPr>
            <p:cNvPr id="4107" name="AutoShape 17"/>
            <p:cNvCxnSpPr>
              <a:stCxn id="4127" idx="7"/>
              <a:endCxn id="4129" idx="3"/>
            </p:cNvCxnSpPr>
            <p:nvPr/>
          </p:nvCxnSpPr>
          <p:spPr>
            <a:xfrm flipV="1">
              <a:off x="4992688" y="4383088"/>
              <a:ext cx="742950" cy="706437"/>
            </a:xfrm>
            <a:prstGeom prst="straightConnector1">
              <a:avLst/>
            </a:prstGeom>
            <a:ln w="9525" cap="flat" cmpd="sng">
              <a:solidFill>
                <a:schemeClr val="tx1"/>
              </a:solidFill>
              <a:prstDash val="solid"/>
              <a:headEnd type="none" w="med" len="med"/>
              <a:tailEnd type="none" w="med" len="med"/>
            </a:ln>
          </p:spPr>
        </p:cxnSp>
        <p:cxnSp>
          <p:nvCxnSpPr>
            <p:cNvPr id="4108" name="AutoShape 18"/>
            <p:cNvCxnSpPr/>
            <p:nvPr/>
          </p:nvCxnSpPr>
          <p:spPr>
            <a:xfrm>
              <a:off x="5834063" y="4386263"/>
              <a:ext cx="752475" cy="673100"/>
            </a:xfrm>
            <a:prstGeom prst="straightConnector1">
              <a:avLst/>
            </a:prstGeom>
            <a:ln w="9525" cap="flat" cmpd="sng">
              <a:solidFill>
                <a:schemeClr val="tx1"/>
              </a:solidFill>
              <a:prstDash val="solid"/>
              <a:headEnd type="none" w="med" len="med"/>
              <a:tailEnd type="none" w="med" len="med"/>
            </a:ln>
          </p:spPr>
        </p:cxnSp>
        <p:cxnSp>
          <p:nvCxnSpPr>
            <p:cNvPr id="4109" name="AutoShape 19"/>
            <p:cNvCxnSpPr>
              <a:endCxn id="4130" idx="7"/>
            </p:cNvCxnSpPr>
            <p:nvPr/>
          </p:nvCxnSpPr>
          <p:spPr>
            <a:xfrm flipH="1">
              <a:off x="5754688" y="5221288"/>
              <a:ext cx="831850" cy="666750"/>
            </a:xfrm>
            <a:prstGeom prst="straightConnector1">
              <a:avLst/>
            </a:prstGeom>
            <a:ln w="9525" cap="flat" cmpd="sng">
              <a:solidFill>
                <a:schemeClr val="tx1"/>
              </a:solidFill>
              <a:prstDash val="solid"/>
              <a:headEnd type="none" w="med" len="med"/>
              <a:tailEnd type="none" w="med" len="med"/>
            </a:ln>
          </p:spPr>
        </p:cxnSp>
        <p:cxnSp>
          <p:nvCxnSpPr>
            <p:cNvPr id="4110" name="AutoShape 20"/>
            <p:cNvCxnSpPr>
              <a:stCxn id="4127" idx="4"/>
            </p:cNvCxnSpPr>
            <p:nvPr/>
          </p:nvCxnSpPr>
          <p:spPr>
            <a:xfrm>
              <a:off x="4945063" y="5205413"/>
              <a:ext cx="727075" cy="695325"/>
            </a:xfrm>
            <a:prstGeom prst="straightConnector1">
              <a:avLst/>
            </a:prstGeom>
            <a:ln w="9525" cap="flat" cmpd="sng">
              <a:solidFill>
                <a:schemeClr val="tx1"/>
              </a:solidFill>
              <a:prstDash val="solid"/>
              <a:headEnd type="none" w="med" len="med"/>
              <a:tailEnd type="none" w="med" len="med"/>
            </a:ln>
          </p:spPr>
        </p:cxnSp>
        <p:sp>
          <p:nvSpPr>
            <p:cNvPr id="4111" name="Text Box 21"/>
            <p:cNvSpPr txBox="1"/>
            <p:nvPr/>
          </p:nvSpPr>
          <p:spPr>
            <a:xfrm>
              <a:off x="1447800" y="3810000"/>
              <a:ext cx="420662" cy="45715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4112" name="Text Box 22"/>
            <p:cNvSpPr txBox="1"/>
            <p:nvPr/>
          </p:nvSpPr>
          <p:spPr>
            <a:xfrm>
              <a:off x="1447800" y="6095753"/>
              <a:ext cx="420662" cy="457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4113" name="Text Box 23"/>
            <p:cNvSpPr txBox="1"/>
            <p:nvPr/>
          </p:nvSpPr>
          <p:spPr>
            <a:xfrm>
              <a:off x="2743122" y="4495726"/>
              <a:ext cx="420662" cy="457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4114" name="Text Box 24"/>
            <p:cNvSpPr txBox="1"/>
            <p:nvPr/>
          </p:nvSpPr>
          <p:spPr>
            <a:xfrm>
              <a:off x="4724202" y="4495726"/>
              <a:ext cx="420662" cy="457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4115" name="Text Box 25"/>
            <p:cNvSpPr txBox="1"/>
            <p:nvPr/>
          </p:nvSpPr>
          <p:spPr>
            <a:xfrm>
              <a:off x="5486156" y="6095753"/>
              <a:ext cx="420662" cy="457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7</a:t>
              </a:r>
              <a:endParaRPr lang="en-US" altLang="zh-TW" sz="2400" baseline="-25000" dirty="0">
                <a:latin typeface="Times New Roman" panose="02020603050405020304" pitchFamily="18" charset="0"/>
                <a:ea typeface="Times New Roman" panose="02020603050405020304" pitchFamily="18" charset="0"/>
              </a:endParaRPr>
            </a:p>
          </p:txBody>
        </p:sp>
        <p:sp>
          <p:nvSpPr>
            <p:cNvPr id="4116" name="Text Box 26"/>
            <p:cNvSpPr txBox="1"/>
            <p:nvPr/>
          </p:nvSpPr>
          <p:spPr>
            <a:xfrm>
              <a:off x="5486156" y="3810000"/>
              <a:ext cx="420662" cy="45715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4117" name="Text Box 27"/>
            <p:cNvSpPr txBox="1"/>
            <p:nvPr/>
          </p:nvSpPr>
          <p:spPr>
            <a:xfrm>
              <a:off x="6781477" y="4876685"/>
              <a:ext cx="420662" cy="457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cxnSp>
          <p:nvCxnSpPr>
            <p:cNvPr id="4118" name="AutoShape 28"/>
            <p:cNvCxnSpPr>
              <a:stCxn id="4125" idx="6"/>
              <a:endCxn id="4126" idx="4"/>
            </p:cNvCxnSpPr>
            <p:nvPr/>
          </p:nvCxnSpPr>
          <p:spPr>
            <a:xfrm flipV="1">
              <a:off x="1812925" y="5202238"/>
              <a:ext cx="1303338" cy="733425"/>
            </a:xfrm>
            <a:prstGeom prst="curvedConnector2">
              <a:avLst/>
            </a:prstGeom>
            <a:ln w="9525" cap="flat" cmpd="sng">
              <a:solidFill>
                <a:schemeClr val="tx1"/>
              </a:solidFill>
              <a:prstDash val="solid"/>
              <a:headEnd type="none" w="med" len="med"/>
              <a:tailEnd type="none" w="med" len="med"/>
            </a:ln>
          </p:spPr>
        </p:cxnSp>
        <p:cxnSp>
          <p:nvCxnSpPr>
            <p:cNvPr id="4119" name="AutoShape 30"/>
            <p:cNvCxnSpPr>
              <a:stCxn id="4126" idx="5"/>
              <a:endCxn id="4127" idx="4"/>
            </p:cNvCxnSpPr>
            <p:nvPr/>
          </p:nvCxnSpPr>
          <p:spPr>
            <a:xfrm rot="-5400000" flipH="1">
              <a:off x="4042569" y="4302919"/>
              <a:ext cx="23813" cy="1781175"/>
            </a:xfrm>
            <a:prstGeom prst="curvedConnector3">
              <a:avLst>
                <a:gd name="adj1" fmla="val 1060000"/>
              </a:avLst>
            </a:prstGeom>
            <a:ln w="9525" cap="flat" cmpd="sng">
              <a:solidFill>
                <a:schemeClr val="tx1"/>
              </a:solidFill>
              <a:prstDash val="solid"/>
              <a:headEnd type="none" w="med" len="med"/>
              <a:tailEnd type="none" w="med" len="med"/>
            </a:ln>
          </p:spPr>
        </p:cxnSp>
        <p:cxnSp>
          <p:nvCxnSpPr>
            <p:cNvPr id="4120" name="AutoShape 32"/>
            <p:cNvCxnSpPr/>
            <p:nvPr/>
          </p:nvCxnSpPr>
          <p:spPr>
            <a:xfrm rot="5400000" flipV="1">
              <a:off x="4037806" y="4191794"/>
              <a:ext cx="1588" cy="1828800"/>
            </a:xfrm>
            <a:prstGeom prst="curvedConnector3">
              <a:avLst>
                <a:gd name="adj1" fmla="val -14400005"/>
              </a:avLst>
            </a:prstGeom>
            <a:ln w="9525" cap="flat" cmpd="sng">
              <a:solidFill>
                <a:schemeClr val="tx1"/>
              </a:solidFill>
              <a:prstDash val="solid"/>
              <a:headEnd type="none" w="med" len="med"/>
              <a:tailEnd type="none" w="med" len="med"/>
            </a:ln>
          </p:spPr>
        </p:cxnSp>
        <p:cxnSp>
          <p:nvCxnSpPr>
            <p:cNvPr id="4121" name="AutoShape 33"/>
            <p:cNvCxnSpPr/>
            <p:nvPr/>
          </p:nvCxnSpPr>
          <p:spPr>
            <a:xfrm>
              <a:off x="5029200" y="5140325"/>
              <a:ext cx="1524000" cy="0"/>
            </a:xfrm>
            <a:prstGeom prst="straightConnector1">
              <a:avLst/>
            </a:prstGeom>
            <a:ln w="9525" cap="flat" cmpd="sng">
              <a:solidFill>
                <a:schemeClr val="tx1"/>
              </a:solidFill>
              <a:prstDash val="solid"/>
              <a:headEnd type="none" w="med" len="med"/>
              <a:tailEnd type="none" w="med" len="med"/>
            </a:ln>
          </p:spPr>
        </p:cxnSp>
        <p:cxnSp>
          <p:nvCxnSpPr>
            <p:cNvPr id="4122" name="AutoShape 34"/>
            <p:cNvCxnSpPr/>
            <p:nvPr/>
          </p:nvCxnSpPr>
          <p:spPr>
            <a:xfrm rot="-5400000" flipH="1">
              <a:off x="5823743" y="4387056"/>
              <a:ext cx="1588" cy="1590675"/>
            </a:xfrm>
            <a:prstGeom prst="curvedConnector3">
              <a:avLst>
                <a:gd name="adj1" fmla="val 6100000"/>
              </a:avLst>
            </a:prstGeom>
            <a:ln w="9525" cap="flat" cmpd="sng">
              <a:solidFill>
                <a:schemeClr val="tx1"/>
              </a:solidFill>
              <a:prstDash val="solid"/>
              <a:headEnd type="none" w="med" len="med"/>
              <a:tailEnd type="none" w="med" len="med"/>
            </a:ln>
          </p:spPr>
        </p:cxnSp>
        <p:cxnSp>
          <p:nvCxnSpPr>
            <p:cNvPr id="4123" name="AutoShape 35"/>
            <p:cNvCxnSpPr>
              <a:stCxn id="4128" idx="5"/>
            </p:cNvCxnSpPr>
            <p:nvPr/>
          </p:nvCxnSpPr>
          <p:spPr>
            <a:xfrm rot="5400000">
              <a:off x="5828506" y="5068093"/>
              <a:ext cx="727075" cy="954088"/>
            </a:xfrm>
            <a:prstGeom prst="curvedConnector2">
              <a:avLst/>
            </a:prstGeom>
            <a:ln w="9525" cap="flat" cmpd="sng">
              <a:solidFill>
                <a:schemeClr val="tx1"/>
              </a:solidFill>
              <a:prstDash val="solid"/>
              <a:headEnd type="none" w="med" len="med"/>
              <a:tailEnd type="none" w="med" len="med"/>
            </a:ln>
          </p:spPr>
        </p:cxnSp>
        <p:sp>
          <p:nvSpPr>
            <p:cNvPr id="4124" name="Oval 36"/>
            <p:cNvSpPr/>
            <p:nvPr/>
          </p:nvSpPr>
          <p:spPr>
            <a:xfrm>
              <a:off x="1676400" y="44196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4125" name="Oval 37"/>
            <p:cNvSpPr/>
            <p:nvPr/>
          </p:nvSpPr>
          <p:spPr>
            <a:xfrm>
              <a:off x="1676400" y="58674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4126" name="Oval 38"/>
            <p:cNvSpPr/>
            <p:nvPr/>
          </p:nvSpPr>
          <p:spPr>
            <a:xfrm>
              <a:off x="3048000" y="5065713"/>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4127" name="Oval 39"/>
            <p:cNvSpPr/>
            <p:nvPr/>
          </p:nvSpPr>
          <p:spPr>
            <a:xfrm>
              <a:off x="4876800" y="5068888"/>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4128" name="Oval 40"/>
            <p:cNvSpPr/>
            <p:nvPr/>
          </p:nvSpPr>
          <p:spPr>
            <a:xfrm>
              <a:off x="6553200" y="5065713"/>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4129" name="Oval 41"/>
            <p:cNvSpPr/>
            <p:nvPr/>
          </p:nvSpPr>
          <p:spPr>
            <a:xfrm>
              <a:off x="5715000" y="42672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4130" name="Oval 42"/>
            <p:cNvSpPr/>
            <p:nvPr/>
          </p:nvSpPr>
          <p:spPr>
            <a:xfrm>
              <a:off x="5638800" y="58674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grpSp>
      <p:sp>
        <p:nvSpPr>
          <p:cNvPr id="4101" name="Rectangle 3"/>
          <p:cNvSpPr txBox="1"/>
          <p:nvPr/>
        </p:nvSpPr>
        <p:spPr>
          <a:xfrm>
            <a:off x="304800" y="533400"/>
            <a:ext cx="8610600" cy="14478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None/>
            </a:pPr>
            <a:r>
              <a:rPr lang="en-US" altLang="zh-TW" sz="2800" b="1" dirty="0">
                <a:solidFill>
                  <a:srgbClr val="FF0000"/>
                </a:solidFill>
              </a:rPr>
              <a:t>Def </a:t>
            </a:r>
            <a:r>
              <a:rPr lang="en-US" altLang="zh-TW" sz="2800" dirty="0"/>
              <a:t> A graph in which each edge connects two different vertices and where no two edges connect the same pair of vertices is called a </a:t>
            </a:r>
            <a:r>
              <a:rPr lang="en-US" altLang="zh-TW" sz="2800" dirty="0">
                <a:solidFill>
                  <a:srgbClr val="0000CC"/>
                </a:solidFill>
              </a:rPr>
              <a:t>simple graph</a:t>
            </a:r>
            <a:r>
              <a:rPr lang="en-US" altLang="zh-TW" sz="2800" dirty="0"/>
              <a:t>.</a:t>
            </a:r>
            <a:endParaRPr lang="en-US" altLang="zh-CN" sz="2800" dirty="0"/>
          </a:p>
        </p:txBody>
      </p:sp>
      <p:sp>
        <p:nvSpPr>
          <p:cNvPr id="4102" name="投影片編號版面配置區 35"/>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xEl>
                                              <p:charRg st="0" end="17"/>
                                            </p:txEl>
                                          </p:spTgt>
                                        </p:tgtEl>
                                        <p:attrNameLst>
                                          <p:attrName>style.visibility</p:attrName>
                                        </p:attrNameLst>
                                      </p:cBhvr>
                                      <p:to>
                                        <p:strVal val="visible"/>
                                      </p:to>
                                    </p:set>
                                    <p:anim calcmode="lin" valueType="num">
                                      <p:cBhvr additive="base">
                                        <p:cTn id="7" dur="500" fill="hold"/>
                                        <p:tgtEl>
                                          <p:spTgt spid="13315">
                                            <p:txEl>
                                              <p:charRg st="0" end="1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charRg st="0" end="17"/>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315">
                                            <p:txEl>
                                              <p:charRg st="17" end="109"/>
                                            </p:txEl>
                                          </p:spTgt>
                                        </p:tgtEl>
                                        <p:attrNameLst>
                                          <p:attrName>style.visibility</p:attrName>
                                        </p:attrNameLst>
                                      </p:cBhvr>
                                      <p:to>
                                        <p:strVal val="visible"/>
                                      </p:to>
                                    </p:set>
                                    <p:anim calcmode="lin" valueType="num">
                                      <p:cBhvr additive="base">
                                        <p:cTn id="11" dur="500" fill="hold"/>
                                        <p:tgtEl>
                                          <p:spTgt spid="13315">
                                            <p:txEl>
                                              <p:charRg st="17" end="10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315">
                                            <p:txEl>
                                              <p:charRg st="17" end="109"/>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315">
                                            <p:txEl>
                                              <p:charRg st="110" end="163"/>
                                            </p:txEl>
                                          </p:spTgt>
                                        </p:tgtEl>
                                        <p:attrNameLst>
                                          <p:attrName>style.visibility</p:attrName>
                                        </p:attrNameLst>
                                      </p:cBhvr>
                                      <p:to>
                                        <p:strVal val="visible"/>
                                      </p:to>
                                    </p:set>
                                    <p:anim calcmode="lin" valueType="num">
                                      <p:cBhvr additive="base">
                                        <p:cTn id="15" dur="500" fill="hold"/>
                                        <p:tgtEl>
                                          <p:spTgt spid="13315">
                                            <p:txEl>
                                              <p:charRg st="110" end="16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315">
                                            <p:txEl>
                                              <p:charRg st="110" end="16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316"/>
                                        </p:tgtEl>
                                        <p:attrNameLst>
                                          <p:attrName>style.visibility</p:attrName>
                                        </p:attrNameLst>
                                      </p:cBhvr>
                                      <p:to>
                                        <p:strVal val="visible"/>
                                      </p:to>
                                    </p:set>
                                    <p:anim calcmode="lin" valueType="num">
                                      <p:cBhvr additive="base">
                                        <p:cTn id="25" dur="500" fill="hold"/>
                                        <p:tgtEl>
                                          <p:spTgt spid="13316"/>
                                        </p:tgtEl>
                                        <p:attrNameLst>
                                          <p:attrName>ppt_x</p:attrName>
                                        </p:attrNameLst>
                                      </p:cBhvr>
                                      <p:tavLst>
                                        <p:tav tm="0">
                                          <p:val>
                                            <p:strVal val="#ppt_x"/>
                                          </p:val>
                                        </p:tav>
                                        <p:tav tm="100000">
                                          <p:val>
                                            <p:strVal val="#ppt_x"/>
                                          </p:val>
                                        </p:tav>
                                      </p:tavLst>
                                    </p:anim>
                                    <p:anim calcmode="lin" valueType="num">
                                      <p:cBhvr additive="base">
                                        <p:cTn id="26"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133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3"/>
          <p:cNvSpPr>
            <a:spLocks noGrp="1"/>
          </p:cNvSpPr>
          <p:nvPr>
            <p:ph idx="1"/>
          </p:nvPr>
        </p:nvSpPr>
        <p:spPr>
          <a:xfrm>
            <a:off x="304800" y="609600"/>
            <a:ext cx="8229600" cy="685800"/>
          </a:xfrm>
        </p:spPr>
        <p:txBody>
          <a:bodyPr vert="horz" wrap="square" lIns="91440" tIns="45720" rIns="91440" bIns="45720" anchor="t"/>
          <a:p>
            <a:pPr eaLnBrk="1" hangingPunct="1">
              <a:buNone/>
            </a:pPr>
            <a:r>
              <a:rPr lang="en-US" altLang="zh-TW" b="1" dirty="0">
                <a:solidFill>
                  <a:srgbClr val="FF0000"/>
                </a:solidFill>
              </a:rPr>
              <a:t>Def.</a:t>
            </a:r>
            <a:r>
              <a:rPr lang="en-US" altLang="zh-TW" dirty="0"/>
              <a:t>  </a:t>
            </a:r>
            <a:r>
              <a:rPr lang="en-US" altLang="zh-TW" dirty="0">
                <a:solidFill>
                  <a:srgbClr val="0000CC"/>
                </a:solidFill>
              </a:rPr>
              <a:t>Pseudograph</a:t>
            </a:r>
            <a:r>
              <a:rPr lang="en-US" altLang="zh-TW" dirty="0"/>
              <a:t>:</a:t>
            </a:r>
            <a:endParaRPr lang="en-US" altLang="zh-TW" dirty="0"/>
          </a:p>
        </p:txBody>
      </p:sp>
      <p:sp>
        <p:nvSpPr>
          <p:cNvPr id="5123" name="Text Box 4"/>
          <p:cNvSpPr txBox="1"/>
          <p:nvPr/>
        </p:nvSpPr>
        <p:spPr>
          <a:xfrm>
            <a:off x="1676400" y="1371600"/>
            <a:ext cx="4954588" cy="1066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dirty="0"/>
              <a:t>simple graph  +  multiedge</a:t>
            </a:r>
            <a:endParaRPr lang="en-US" altLang="zh-TW" dirty="0"/>
          </a:p>
          <a:p>
            <a:pPr marL="0" lvl="0" indent="0" eaLnBrk="1" hangingPunct="1">
              <a:spcBef>
                <a:spcPct val="0"/>
              </a:spcBef>
              <a:buClrTx/>
              <a:buSzPct val="100000"/>
              <a:buNone/>
            </a:pPr>
            <a:r>
              <a:rPr lang="en-US" altLang="zh-TW" dirty="0"/>
              <a:t>                       +  </a:t>
            </a:r>
            <a:r>
              <a:rPr lang="en-US" altLang="zh-TW" dirty="0">
                <a:solidFill>
                  <a:srgbClr val="0000CC"/>
                </a:solidFill>
              </a:rPr>
              <a:t>loop</a:t>
            </a:r>
            <a:endParaRPr lang="en-US" altLang="zh-TW" dirty="0">
              <a:solidFill>
                <a:srgbClr val="0000CC"/>
              </a:solidFill>
            </a:endParaRPr>
          </a:p>
        </p:txBody>
      </p:sp>
      <p:sp>
        <p:nvSpPr>
          <p:cNvPr id="5124" name="Text Box 5"/>
          <p:cNvSpPr txBox="1"/>
          <p:nvPr/>
        </p:nvSpPr>
        <p:spPr>
          <a:xfrm>
            <a:off x="4191000" y="2362200"/>
            <a:ext cx="474027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dirty="0"/>
              <a:t>(a loop:      )</a:t>
            </a:r>
            <a:endParaRPr lang="en-US" altLang="zh-TW" dirty="0"/>
          </a:p>
        </p:txBody>
      </p:sp>
      <p:cxnSp>
        <p:nvCxnSpPr>
          <p:cNvPr id="5125" name="AutoShape 7"/>
          <p:cNvCxnSpPr/>
          <p:nvPr/>
        </p:nvCxnSpPr>
        <p:spPr>
          <a:xfrm rot="5400000" flipV="1">
            <a:off x="5845175" y="2728913"/>
            <a:ext cx="47625" cy="115887"/>
          </a:xfrm>
          <a:prstGeom prst="curvedConnector4">
            <a:avLst>
              <a:gd name="adj1" fmla="val -523333"/>
              <a:gd name="adj2" fmla="val 297259"/>
            </a:avLst>
          </a:prstGeom>
          <a:ln w="9525" cap="flat" cmpd="sng">
            <a:solidFill>
              <a:schemeClr val="tx1"/>
            </a:solidFill>
            <a:prstDash val="solid"/>
            <a:headEnd type="none" w="med" len="med"/>
            <a:tailEnd type="none" w="med" len="med"/>
          </a:ln>
        </p:spPr>
      </p:cxnSp>
      <p:sp>
        <p:nvSpPr>
          <p:cNvPr id="5126" name="Text Box 11"/>
          <p:cNvSpPr txBox="1"/>
          <p:nvPr/>
        </p:nvSpPr>
        <p:spPr>
          <a:xfrm>
            <a:off x="669925" y="3468688"/>
            <a:ext cx="184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zh-TW" sz="1800" dirty="0"/>
          </a:p>
        </p:txBody>
      </p:sp>
      <p:sp>
        <p:nvSpPr>
          <p:cNvPr id="14344" name="Text Box 12"/>
          <p:cNvSpPr txBox="1"/>
          <p:nvPr/>
        </p:nvSpPr>
        <p:spPr>
          <a:xfrm>
            <a:off x="381000" y="3657600"/>
            <a:ext cx="74771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dirty="0"/>
              <a:t>eg.</a:t>
            </a:r>
            <a:endParaRPr lang="en-US" altLang="zh-TW" dirty="0"/>
          </a:p>
        </p:txBody>
      </p:sp>
      <p:sp>
        <p:nvSpPr>
          <p:cNvPr id="5128" name="Oval 26"/>
          <p:cNvSpPr/>
          <p:nvPr/>
        </p:nvSpPr>
        <p:spPr>
          <a:xfrm>
            <a:off x="5791200" y="27432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grpSp>
        <p:nvGrpSpPr>
          <p:cNvPr id="2" name="群組 20"/>
          <p:cNvGrpSpPr/>
          <p:nvPr/>
        </p:nvGrpSpPr>
        <p:grpSpPr>
          <a:xfrm>
            <a:off x="1524000" y="4572000"/>
            <a:ext cx="3717925" cy="1584325"/>
            <a:chOff x="1524000" y="4572000"/>
            <a:chExt cx="3717925" cy="1584325"/>
          </a:xfrm>
        </p:grpSpPr>
        <p:cxnSp>
          <p:nvCxnSpPr>
            <p:cNvPr id="5131" name="AutoShape 17"/>
            <p:cNvCxnSpPr>
              <a:endCxn id="5139" idx="0"/>
            </p:cNvCxnSpPr>
            <p:nvPr/>
          </p:nvCxnSpPr>
          <p:spPr>
            <a:xfrm flipH="1">
              <a:off x="1592263" y="4648200"/>
              <a:ext cx="84137" cy="1371600"/>
            </a:xfrm>
            <a:prstGeom prst="straightConnector1">
              <a:avLst/>
            </a:prstGeom>
            <a:ln w="9525" cap="flat" cmpd="sng">
              <a:solidFill>
                <a:schemeClr val="tx1"/>
              </a:solidFill>
              <a:prstDash val="solid"/>
              <a:headEnd type="none" w="med" len="med"/>
              <a:tailEnd type="none" w="med" len="med"/>
            </a:ln>
          </p:spPr>
        </p:cxnSp>
        <p:cxnSp>
          <p:nvCxnSpPr>
            <p:cNvPr id="5132" name="AutoShape 18"/>
            <p:cNvCxnSpPr/>
            <p:nvPr/>
          </p:nvCxnSpPr>
          <p:spPr>
            <a:xfrm>
              <a:off x="1752600" y="4648200"/>
              <a:ext cx="1447800" cy="0"/>
            </a:xfrm>
            <a:prstGeom prst="straightConnector1">
              <a:avLst/>
            </a:prstGeom>
            <a:ln w="9525" cap="flat" cmpd="sng">
              <a:solidFill>
                <a:schemeClr val="tx1"/>
              </a:solidFill>
              <a:prstDash val="solid"/>
              <a:headEnd type="none" w="med" len="med"/>
              <a:tailEnd type="none" w="med" len="med"/>
            </a:ln>
          </p:spPr>
        </p:cxnSp>
        <p:cxnSp>
          <p:nvCxnSpPr>
            <p:cNvPr id="5133" name="AutoShape 19"/>
            <p:cNvCxnSpPr>
              <a:stCxn id="5138" idx="6"/>
              <a:endCxn id="5141" idx="6"/>
            </p:cNvCxnSpPr>
            <p:nvPr/>
          </p:nvCxnSpPr>
          <p:spPr>
            <a:xfrm>
              <a:off x="1736725" y="4640263"/>
              <a:ext cx="3505200" cy="0"/>
            </a:xfrm>
            <a:prstGeom prst="straightConnector1">
              <a:avLst/>
            </a:prstGeom>
            <a:ln w="9525" cap="flat" cmpd="sng">
              <a:solidFill>
                <a:schemeClr val="tx1"/>
              </a:solidFill>
              <a:prstDash val="solid"/>
              <a:headEnd type="none" w="med" len="med"/>
              <a:tailEnd type="none" w="med" len="med"/>
            </a:ln>
          </p:spPr>
        </p:cxnSp>
        <p:cxnSp>
          <p:nvCxnSpPr>
            <p:cNvPr id="5134" name="AutoShape 20"/>
            <p:cNvCxnSpPr>
              <a:stCxn id="5139" idx="6"/>
              <a:endCxn id="5140" idx="3"/>
            </p:cNvCxnSpPr>
            <p:nvPr/>
          </p:nvCxnSpPr>
          <p:spPr>
            <a:xfrm flipV="1">
              <a:off x="1660525" y="4687888"/>
              <a:ext cx="1636713" cy="1400175"/>
            </a:xfrm>
            <a:prstGeom prst="straightConnector1">
              <a:avLst/>
            </a:prstGeom>
            <a:ln w="9525" cap="flat" cmpd="sng">
              <a:solidFill>
                <a:schemeClr val="tx1"/>
              </a:solidFill>
              <a:prstDash val="solid"/>
              <a:headEnd type="none" w="med" len="med"/>
              <a:tailEnd type="none" w="med" len="med"/>
            </a:ln>
          </p:spPr>
        </p:cxnSp>
        <p:cxnSp>
          <p:nvCxnSpPr>
            <p:cNvPr id="5135" name="AutoShape 21"/>
            <p:cNvCxnSpPr>
              <a:stCxn id="5140" idx="2"/>
              <a:endCxn id="5140" idx="7"/>
            </p:cNvCxnSpPr>
            <p:nvPr/>
          </p:nvCxnSpPr>
          <p:spPr>
            <a:xfrm rot="-10800000" flipH="1">
              <a:off x="3276600" y="4592638"/>
              <a:ext cx="115888" cy="47625"/>
            </a:xfrm>
            <a:prstGeom prst="curvedConnector4">
              <a:avLst>
                <a:gd name="adj1" fmla="val -197259"/>
                <a:gd name="adj2" fmla="val 623333"/>
              </a:avLst>
            </a:prstGeom>
            <a:ln w="38100" cap="flat" cmpd="sng">
              <a:solidFill>
                <a:srgbClr val="FF0000"/>
              </a:solidFill>
              <a:prstDash val="solid"/>
              <a:headEnd type="none" w="med" len="med"/>
              <a:tailEnd type="none" w="med" len="med"/>
            </a:ln>
          </p:spPr>
        </p:cxnSp>
        <p:cxnSp>
          <p:nvCxnSpPr>
            <p:cNvPr id="5136" name="AutoShape 22"/>
            <p:cNvCxnSpPr>
              <a:stCxn id="5140" idx="4"/>
              <a:endCxn id="5141" idx="5"/>
            </p:cNvCxnSpPr>
            <p:nvPr/>
          </p:nvCxnSpPr>
          <p:spPr>
            <a:xfrm rot="5400000" flipH="1" flipV="1">
              <a:off x="4272757" y="3759994"/>
              <a:ext cx="20637" cy="1876425"/>
            </a:xfrm>
            <a:prstGeom prst="curvedConnector3">
              <a:avLst>
                <a:gd name="adj1" fmla="val -1107694"/>
              </a:avLst>
            </a:prstGeom>
            <a:ln w="9525" cap="flat" cmpd="sng">
              <a:solidFill>
                <a:schemeClr val="tx1"/>
              </a:solidFill>
              <a:prstDash val="solid"/>
              <a:headEnd type="none" w="med" len="med"/>
              <a:tailEnd type="none" w="med" len="med"/>
            </a:ln>
          </p:spPr>
        </p:cxnSp>
        <p:cxnSp>
          <p:nvCxnSpPr>
            <p:cNvPr id="5137" name="AutoShape 24"/>
            <p:cNvCxnSpPr>
              <a:stCxn id="5140" idx="7"/>
              <a:endCxn id="5141" idx="0"/>
            </p:cNvCxnSpPr>
            <p:nvPr/>
          </p:nvCxnSpPr>
          <p:spPr>
            <a:xfrm rot="-5400000">
              <a:off x="4272756" y="3691731"/>
              <a:ext cx="20638" cy="1781175"/>
            </a:xfrm>
            <a:prstGeom prst="curvedConnector3">
              <a:avLst>
                <a:gd name="adj1" fmla="val 1207694"/>
              </a:avLst>
            </a:prstGeom>
            <a:ln w="9525" cap="flat" cmpd="sng">
              <a:solidFill>
                <a:schemeClr val="tx1"/>
              </a:solidFill>
              <a:prstDash val="solid"/>
              <a:headEnd type="none" w="med" len="med"/>
              <a:tailEnd type="none" w="med" len="med"/>
            </a:ln>
          </p:spPr>
        </p:cxnSp>
        <p:sp>
          <p:nvSpPr>
            <p:cNvPr id="5138" name="Oval 25"/>
            <p:cNvSpPr/>
            <p:nvPr/>
          </p:nvSpPr>
          <p:spPr>
            <a:xfrm>
              <a:off x="1600200" y="45720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139" name="Oval 27"/>
            <p:cNvSpPr/>
            <p:nvPr/>
          </p:nvSpPr>
          <p:spPr>
            <a:xfrm>
              <a:off x="1524000" y="60198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140" name="Oval 28"/>
            <p:cNvSpPr/>
            <p:nvPr/>
          </p:nvSpPr>
          <p:spPr>
            <a:xfrm>
              <a:off x="3276600" y="45720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141" name="Oval 29"/>
            <p:cNvSpPr/>
            <p:nvPr/>
          </p:nvSpPr>
          <p:spPr>
            <a:xfrm>
              <a:off x="5105400" y="45720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grpSp>
      <p:sp>
        <p:nvSpPr>
          <p:cNvPr id="5130" name="投影片編號版面配置區 21"/>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344"/>
                                        </p:tgtEl>
                                        <p:attrNameLst>
                                          <p:attrName>style.visibility</p:attrName>
                                        </p:attrNameLst>
                                      </p:cBhvr>
                                      <p:to>
                                        <p:strVal val="visible"/>
                                      </p:to>
                                    </p:set>
                                    <p:anim calcmode="lin" valueType="num">
                                      <p:cBhvr additive="base">
                                        <p:cTn id="11" dur="500" fill="hold"/>
                                        <p:tgtEl>
                                          <p:spTgt spid="14344"/>
                                        </p:tgtEl>
                                        <p:attrNameLst>
                                          <p:attrName>ppt_x</p:attrName>
                                        </p:attrNameLst>
                                      </p:cBhvr>
                                      <p:tavLst>
                                        <p:tav tm="0">
                                          <p:val>
                                            <p:strVal val="#ppt_x"/>
                                          </p:val>
                                        </p:tav>
                                        <p:tav tm="100000">
                                          <p:val>
                                            <p:strVal val="#ppt_x"/>
                                          </p:val>
                                        </p:tav>
                                      </p:tavLst>
                                    </p:anim>
                                    <p:anim calcmode="lin" valueType="num">
                                      <p:cBhvr additive="base">
                                        <p:cTn id="12" dur="500" fill="hold"/>
                                        <p:tgtEl>
                                          <p:spTgt spid="143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p:cNvSpPr>
          <p:nvPr>
            <p:ph idx="1"/>
          </p:nvPr>
        </p:nvSpPr>
        <p:spPr>
          <a:xfrm>
            <a:off x="228600" y="2971800"/>
            <a:ext cx="8229600" cy="723900"/>
          </a:xfrm>
        </p:spPr>
        <p:txBody>
          <a:bodyPr vert="horz" wrap="square" lIns="91440" tIns="45720" rIns="91440" bIns="45720" anchor="t"/>
          <a:p>
            <a:pPr eaLnBrk="1" hangingPunct="1">
              <a:buNone/>
            </a:pPr>
            <a:r>
              <a:rPr lang="en-US" altLang="zh-TW" sz="2800" dirty="0">
                <a:solidFill>
                  <a:srgbClr val="008000"/>
                </a:solidFill>
              </a:rPr>
              <a:t>Note:</a:t>
            </a:r>
            <a:endParaRPr lang="en-US" altLang="zh-TW" sz="2800" dirty="0">
              <a:solidFill>
                <a:srgbClr val="008000"/>
              </a:solidFill>
            </a:endParaRPr>
          </a:p>
        </p:txBody>
      </p:sp>
      <p:sp>
        <p:nvSpPr>
          <p:cNvPr id="15368" name="Text Box 11"/>
          <p:cNvSpPr txBox="1"/>
          <p:nvPr/>
        </p:nvSpPr>
        <p:spPr>
          <a:xfrm>
            <a:off x="304800" y="4648200"/>
            <a:ext cx="41148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The two edges (u,v),(u,v) </a:t>
            </a:r>
            <a:br>
              <a:rPr lang="en-US" altLang="zh-TW" sz="2800" dirty="0"/>
            </a:br>
            <a:r>
              <a:rPr lang="en-US" altLang="zh-TW" sz="2800" dirty="0"/>
              <a:t>are multiedges.</a:t>
            </a:r>
            <a:endParaRPr lang="en-US" altLang="zh-TW" sz="2800" dirty="0"/>
          </a:p>
        </p:txBody>
      </p:sp>
      <p:sp>
        <p:nvSpPr>
          <p:cNvPr id="15373" name="Text Box 19"/>
          <p:cNvSpPr txBox="1"/>
          <p:nvPr/>
        </p:nvSpPr>
        <p:spPr>
          <a:xfrm>
            <a:off x="4876800" y="4572000"/>
            <a:ext cx="4025900" cy="946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The two edges (u,v),</a:t>
            </a:r>
            <a:br>
              <a:rPr lang="en-US" altLang="zh-TW" sz="2800" dirty="0"/>
            </a:br>
            <a:r>
              <a:rPr lang="en-US" altLang="zh-TW" sz="2800" dirty="0"/>
              <a:t>(v,u) are not multiedges.</a:t>
            </a:r>
            <a:endParaRPr lang="en-US" altLang="zh-TW" sz="2800" dirty="0"/>
          </a:p>
        </p:txBody>
      </p:sp>
      <p:sp>
        <p:nvSpPr>
          <p:cNvPr id="6149" name="Rectangle 21"/>
          <p:cNvSpPr/>
          <p:nvPr/>
        </p:nvSpPr>
        <p:spPr>
          <a:xfrm>
            <a:off x="228600" y="609600"/>
            <a:ext cx="8229600" cy="10668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None/>
            </a:pPr>
            <a:r>
              <a:rPr lang="en-US" altLang="zh-TW" sz="2800" dirty="0">
                <a:solidFill>
                  <a:srgbClr val="FF0000"/>
                </a:solidFill>
              </a:rPr>
              <a:t>Def 2.</a:t>
            </a:r>
            <a:r>
              <a:rPr lang="en-US" altLang="zh-TW" sz="2800" dirty="0"/>
              <a:t> </a:t>
            </a:r>
            <a:r>
              <a:rPr lang="en-US" altLang="zh-TW" sz="2800" dirty="0">
                <a:solidFill>
                  <a:srgbClr val="0000CC"/>
                </a:solidFill>
              </a:rPr>
              <a:t>Directed graph (digraph)</a:t>
            </a:r>
            <a:r>
              <a:rPr lang="en-US" altLang="zh-TW" sz="2800" dirty="0"/>
              <a:t>: </a:t>
            </a:r>
            <a:br>
              <a:rPr lang="en-US" altLang="zh-TW" sz="2800" dirty="0"/>
            </a:br>
            <a:r>
              <a:rPr lang="en-US" altLang="zh-TW" sz="2800" dirty="0"/>
              <a:t>       graph with each edge directed</a:t>
            </a:r>
            <a:endParaRPr lang="en-US" altLang="zh-TW" sz="2800" dirty="0"/>
          </a:p>
        </p:txBody>
      </p:sp>
      <p:sp>
        <p:nvSpPr>
          <p:cNvPr id="6150" name="Oval 22"/>
          <p:cNvSpPr/>
          <p:nvPr/>
        </p:nvSpPr>
        <p:spPr>
          <a:xfrm>
            <a:off x="4876800" y="16764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800" dirty="0"/>
          </a:p>
        </p:txBody>
      </p:sp>
      <p:sp>
        <p:nvSpPr>
          <p:cNvPr id="6151" name="Oval 23"/>
          <p:cNvSpPr/>
          <p:nvPr/>
        </p:nvSpPr>
        <p:spPr>
          <a:xfrm>
            <a:off x="6019800" y="16764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800" dirty="0"/>
          </a:p>
        </p:txBody>
      </p:sp>
      <p:sp>
        <p:nvSpPr>
          <p:cNvPr id="6152" name="Line 24"/>
          <p:cNvSpPr/>
          <p:nvPr/>
        </p:nvSpPr>
        <p:spPr>
          <a:xfrm>
            <a:off x="4953000" y="1752600"/>
            <a:ext cx="1066800" cy="0"/>
          </a:xfrm>
          <a:prstGeom prst="line">
            <a:avLst/>
          </a:prstGeom>
          <a:ln w="9525" cap="flat" cmpd="sng">
            <a:solidFill>
              <a:schemeClr val="tx1"/>
            </a:solidFill>
            <a:prstDash val="solid"/>
            <a:headEnd type="none" w="med" len="med"/>
            <a:tailEnd type="triangle" w="lg" len="lg"/>
          </a:ln>
        </p:spPr>
      </p:sp>
      <p:grpSp>
        <p:nvGrpSpPr>
          <p:cNvPr id="2" name="群組 25"/>
          <p:cNvGrpSpPr/>
          <p:nvPr/>
        </p:nvGrpSpPr>
        <p:grpSpPr>
          <a:xfrm>
            <a:off x="593725" y="3570288"/>
            <a:ext cx="2740025" cy="530225"/>
            <a:chOff x="593725" y="3570288"/>
            <a:chExt cx="2740025" cy="530225"/>
          </a:xfrm>
        </p:grpSpPr>
        <p:cxnSp>
          <p:nvCxnSpPr>
            <p:cNvPr id="6166" name="AutoShape 6"/>
            <p:cNvCxnSpPr/>
            <p:nvPr/>
          </p:nvCxnSpPr>
          <p:spPr>
            <a:xfrm rot="5400000" flipV="1">
              <a:off x="1970881" y="3107531"/>
              <a:ext cx="1587" cy="1536700"/>
            </a:xfrm>
            <a:prstGeom prst="curvedConnector3">
              <a:avLst>
                <a:gd name="adj1" fmla="val -17200009"/>
              </a:avLst>
            </a:prstGeom>
            <a:ln w="9525" cap="flat" cmpd="sng">
              <a:solidFill>
                <a:schemeClr val="tx1"/>
              </a:solidFill>
              <a:prstDash val="solid"/>
              <a:headEnd type="none" w="med" len="med"/>
              <a:tailEnd type="triangle" w="lg" len="lg"/>
            </a:ln>
          </p:spPr>
        </p:cxnSp>
        <p:cxnSp>
          <p:nvCxnSpPr>
            <p:cNvPr id="6167" name="AutoShape 7"/>
            <p:cNvCxnSpPr/>
            <p:nvPr/>
          </p:nvCxnSpPr>
          <p:spPr>
            <a:xfrm rot="5400000">
              <a:off x="1961356" y="3225006"/>
              <a:ext cx="20638" cy="1552575"/>
            </a:xfrm>
            <a:prstGeom prst="curvedConnector3">
              <a:avLst>
                <a:gd name="adj1" fmla="val 1207694"/>
              </a:avLst>
            </a:prstGeom>
            <a:ln w="9525" cap="flat" cmpd="sng">
              <a:solidFill>
                <a:schemeClr val="tx1"/>
              </a:solidFill>
              <a:prstDash val="solid"/>
              <a:headEnd type="triangle" w="lg" len="lg"/>
              <a:tailEnd type="none" w="med" len="med"/>
            </a:ln>
          </p:spPr>
        </p:cxnSp>
        <p:sp>
          <p:nvSpPr>
            <p:cNvPr id="6168" name="Text Box 8"/>
            <p:cNvSpPr txBox="1"/>
            <p:nvPr/>
          </p:nvSpPr>
          <p:spPr>
            <a:xfrm>
              <a:off x="593725" y="3570288"/>
              <a:ext cx="382588"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u</a:t>
              </a:r>
              <a:endParaRPr lang="en-US" altLang="zh-TW" sz="2800" dirty="0"/>
            </a:p>
          </p:txBody>
        </p:sp>
        <p:sp>
          <p:nvSpPr>
            <p:cNvPr id="6169" name="Text Box 9"/>
            <p:cNvSpPr txBox="1"/>
            <p:nvPr/>
          </p:nvSpPr>
          <p:spPr>
            <a:xfrm>
              <a:off x="2971800" y="3581400"/>
              <a:ext cx="361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v</a:t>
              </a:r>
              <a:endParaRPr lang="en-US" altLang="zh-TW" sz="2800" dirty="0"/>
            </a:p>
          </p:txBody>
        </p:sp>
        <p:sp>
          <p:nvSpPr>
            <p:cNvPr id="6170" name="Oval 25"/>
            <p:cNvSpPr/>
            <p:nvPr/>
          </p:nvSpPr>
          <p:spPr>
            <a:xfrm>
              <a:off x="1127125" y="3875088"/>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800" dirty="0"/>
            </a:p>
          </p:txBody>
        </p:sp>
        <p:sp>
          <p:nvSpPr>
            <p:cNvPr id="6171" name="Oval 26"/>
            <p:cNvSpPr/>
            <p:nvPr/>
          </p:nvSpPr>
          <p:spPr>
            <a:xfrm>
              <a:off x="2727325" y="3875088"/>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800" dirty="0"/>
            </a:p>
          </p:txBody>
        </p:sp>
      </p:grpSp>
      <p:grpSp>
        <p:nvGrpSpPr>
          <p:cNvPr id="3" name="群組 26"/>
          <p:cNvGrpSpPr/>
          <p:nvPr/>
        </p:nvGrpSpPr>
        <p:grpSpPr>
          <a:xfrm>
            <a:off x="5089525" y="3570288"/>
            <a:ext cx="2740025" cy="530225"/>
            <a:chOff x="5089525" y="3570288"/>
            <a:chExt cx="2740025" cy="530225"/>
          </a:xfrm>
        </p:grpSpPr>
        <p:cxnSp>
          <p:nvCxnSpPr>
            <p:cNvPr id="6160" name="AutoShape 15"/>
            <p:cNvCxnSpPr/>
            <p:nvPr/>
          </p:nvCxnSpPr>
          <p:spPr>
            <a:xfrm rot="5400000" flipV="1">
              <a:off x="6466681" y="3107531"/>
              <a:ext cx="1587" cy="1536700"/>
            </a:xfrm>
            <a:prstGeom prst="curvedConnector3">
              <a:avLst>
                <a:gd name="adj1" fmla="val -17200009"/>
              </a:avLst>
            </a:prstGeom>
            <a:ln w="9525" cap="flat" cmpd="sng">
              <a:solidFill>
                <a:schemeClr val="tx1"/>
              </a:solidFill>
              <a:prstDash val="solid"/>
              <a:headEnd type="none" w="med" len="med"/>
              <a:tailEnd type="triangle" w="lg" len="lg"/>
            </a:ln>
          </p:spPr>
        </p:cxnSp>
        <p:cxnSp>
          <p:nvCxnSpPr>
            <p:cNvPr id="6161" name="AutoShape 16"/>
            <p:cNvCxnSpPr/>
            <p:nvPr/>
          </p:nvCxnSpPr>
          <p:spPr>
            <a:xfrm rot="5400000">
              <a:off x="6466681" y="3259931"/>
              <a:ext cx="1587" cy="1536700"/>
            </a:xfrm>
            <a:prstGeom prst="curvedConnector3">
              <a:avLst>
                <a:gd name="adj1" fmla="val 17200009"/>
              </a:avLst>
            </a:prstGeom>
            <a:ln w="9525" cap="flat" cmpd="sng">
              <a:solidFill>
                <a:schemeClr val="tx1"/>
              </a:solidFill>
              <a:prstDash val="solid"/>
              <a:headEnd type="none" w="med" len="med"/>
              <a:tailEnd type="triangle" w="lg" len="lg"/>
            </a:ln>
          </p:spPr>
        </p:cxnSp>
        <p:sp>
          <p:nvSpPr>
            <p:cNvPr id="6162" name="Text Box 17"/>
            <p:cNvSpPr txBox="1"/>
            <p:nvPr/>
          </p:nvSpPr>
          <p:spPr>
            <a:xfrm>
              <a:off x="5089525" y="3570288"/>
              <a:ext cx="382588"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u</a:t>
              </a:r>
              <a:endParaRPr lang="en-US" altLang="zh-TW" sz="2800" dirty="0"/>
            </a:p>
          </p:txBody>
        </p:sp>
        <p:sp>
          <p:nvSpPr>
            <p:cNvPr id="6163" name="Text Box 18"/>
            <p:cNvSpPr txBox="1"/>
            <p:nvPr/>
          </p:nvSpPr>
          <p:spPr>
            <a:xfrm>
              <a:off x="7467600" y="3581400"/>
              <a:ext cx="361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v</a:t>
              </a:r>
              <a:endParaRPr lang="en-US" altLang="zh-TW" sz="2800" dirty="0"/>
            </a:p>
          </p:txBody>
        </p:sp>
        <p:sp>
          <p:nvSpPr>
            <p:cNvPr id="6164" name="Oval 27"/>
            <p:cNvSpPr/>
            <p:nvPr/>
          </p:nvSpPr>
          <p:spPr>
            <a:xfrm>
              <a:off x="5622925" y="3875088"/>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800" dirty="0"/>
            </a:p>
          </p:txBody>
        </p:sp>
        <p:sp>
          <p:nvSpPr>
            <p:cNvPr id="6165" name="Oval 28"/>
            <p:cNvSpPr/>
            <p:nvPr/>
          </p:nvSpPr>
          <p:spPr>
            <a:xfrm>
              <a:off x="7223125" y="3875088"/>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800" dirty="0"/>
            </a:p>
          </p:txBody>
        </p:sp>
      </p:grpSp>
      <p:sp>
        <p:nvSpPr>
          <p:cNvPr id="15382" name="Rectangle 29"/>
          <p:cNvSpPr/>
          <p:nvPr/>
        </p:nvSpPr>
        <p:spPr>
          <a:xfrm>
            <a:off x="228600" y="2286000"/>
            <a:ext cx="8229600" cy="7239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None/>
            </a:pPr>
            <a:r>
              <a:rPr lang="en-US" altLang="zh-TW" sz="2800" dirty="0">
                <a:solidFill>
                  <a:srgbClr val="008000"/>
                </a:solidFill>
              </a:rPr>
              <a:t>Note:</a:t>
            </a:r>
            <a:r>
              <a:rPr lang="en-US" altLang="zh-TW" sz="2800" dirty="0"/>
              <a:t>        is not allowed in a </a:t>
            </a:r>
            <a:r>
              <a:rPr lang="en-US" altLang="zh-TW" sz="2800" dirty="0">
                <a:solidFill>
                  <a:srgbClr val="0000CC"/>
                </a:solidFill>
              </a:rPr>
              <a:t>simple directed graph.</a:t>
            </a:r>
            <a:endParaRPr lang="en-US" altLang="zh-TW" sz="2800" dirty="0">
              <a:solidFill>
                <a:srgbClr val="0000CC"/>
              </a:solidFill>
            </a:endParaRPr>
          </a:p>
        </p:txBody>
      </p:sp>
      <p:cxnSp>
        <p:nvCxnSpPr>
          <p:cNvPr id="15383" name="AutoShape 30"/>
          <p:cNvCxnSpPr>
            <a:stCxn id="15384" idx="1"/>
            <a:endCxn id="15384" idx="6"/>
          </p:cNvCxnSpPr>
          <p:nvPr/>
        </p:nvCxnSpPr>
        <p:spPr>
          <a:xfrm rot="5400000" flipV="1">
            <a:off x="1557338" y="2632075"/>
            <a:ext cx="47625" cy="115888"/>
          </a:xfrm>
          <a:prstGeom prst="curvedConnector4">
            <a:avLst>
              <a:gd name="adj1" fmla="val -523333"/>
              <a:gd name="adj2" fmla="val 297259"/>
            </a:avLst>
          </a:prstGeom>
          <a:ln w="9525" cap="flat" cmpd="sng">
            <a:solidFill>
              <a:schemeClr val="tx1"/>
            </a:solidFill>
            <a:prstDash val="solid"/>
            <a:headEnd type="none" w="med" len="med"/>
            <a:tailEnd type="triangle" w="lg" len="lg"/>
          </a:ln>
        </p:spPr>
      </p:cxnSp>
      <p:sp>
        <p:nvSpPr>
          <p:cNvPr id="15384" name="Oval 31"/>
          <p:cNvSpPr/>
          <p:nvPr/>
        </p:nvSpPr>
        <p:spPr>
          <a:xfrm>
            <a:off x="1503363" y="2646363"/>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800" dirty="0"/>
          </a:p>
        </p:txBody>
      </p:sp>
      <p:sp>
        <p:nvSpPr>
          <p:cNvPr id="15385" name="Rectangle 32"/>
          <p:cNvSpPr/>
          <p:nvPr/>
        </p:nvSpPr>
        <p:spPr>
          <a:xfrm>
            <a:off x="228600" y="5791200"/>
            <a:ext cx="8915400" cy="7239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None/>
            </a:pPr>
            <a:r>
              <a:rPr lang="en-US" altLang="zh-TW" sz="2800" dirty="0">
                <a:solidFill>
                  <a:srgbClr val="FF0000"/>
                </a:solidFill>
              </a:rPr>
              <a:t>Def.</a:t>
            </a:r>
            <a:r>
              <a:rPr lang="en-US" altLang="zh-TW" sz="2800" dirty="0"/>
              <a:t> </a:t>
            </a:r>
            <a:r>
              <a:rPr lang="en-US" altLang="zh-TW" sz="2800" dirty="0">
                <a:solidFill>
                  <a:srgbClr val="0000CC"/>
                </a:solidFill>
              </a:rPr>
              <a:t>Directed multigraph: </a:t>
            </a:r>
            <a:r>
              <a:rPr lang="en-US" altLang="zh-TW" sz="2800" dirty="0"/>
              <a:t>digraph+loop+multiedges</a:t>
            </a:r>
            <a:endParaRPr lang="en-US" altLang="zh-TW" sz="2800" dirty="0"/>
          </a:p>
        </p:txBody>
      </p:sp>
      <p:sp>
        <p:nvSpPr>
          <p:cNvPr id="6159" name="投影片編號版面配置區 27"/>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82"/>
                                        </p:tgtEl>
                                        <p:attrNameLst>
                                          <p:attrName>style.visibility</p:attrName>
                                        </p:attrNameLst>
                                      </p:cBhvr>
                                      <p:to>
                                        <p:strVal val="visible"/>
                                      </p:to>
                                    </p:set>
                                    <p:anim calcmode="lin" valueType="num">
                                      <p:cBhvr additive="base">
                                        <p:cTn id="7" dur="500" fill="hold"/>
                                        <p:tgtEl>
                                          <p:spTgt spid="15382"/>
                                        </p:tgtEl>
                                        <p:attrNameLst>
                                          <p:attrName>ppt_x</p:attrName>
                                        </p:attrNameLst>
                                      </p:cBhvr>
                                      <p:tavLst>
                                        <p:tav tm="0">
                                          <p:val>
                                            <p:strVal val="#ppt_x"/>
                                          </p:val>
                                        </p:tav>
                                        <p:tav tm="100000">
                                          <p:val>
                                            <p:strVal val="#ppt_x"/>
                                          </p:val>
                                        </p:tav>
                                      </p:tavLst>
                                    </p:anim>
                                    <p:anim calcmode="lin" valueType="num">
                                      <p:cBhvr additive="base">
                                        <p:cTn id="8" dur="500" fill="hold"/>
                                        <p:tgtEl>
                                          <p:spTgt spid="1538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383"/>
                                        </p:tgtEl>
                                        <p:attrNameLst>
                                          <p:attrName>style.visibility</p:attrName>
                                        </p:attrNameLst>
                                      </p:cBhvr>
                                      <p:to>
                                        <p:strVal val="visible"/>
                                      </p:to>
                                    </p:set>
                                    <p:anim calcmode="lin" valueType="num">
                                      <p:cBhvr additive="base">
                                        <p:cTn id="11" dur="500" fill="hold"/>
                                        <p:tgtEl>
                                          <p:spTgt spid="15383"/>
                                        </p:tgtEl>
                                        <p:attrNameLst>
                                          <p:attrName>ppt_x</p:attrName>
                                        </p:attrNameLst>
                                      </p:cBhvr>
                                      <p:tavLst>
                                        <p:tav tm="0">
                                          <p:val>
                                            <p:strVal val="#ppt_x"/>
                                          </p:val>
                                        </p:tav>
                                        <p:tav tm="100000">
                                          <p:val>
                                            <p:strVal val="#ppt_x"/>
                                          </p:val>
                                        </p:tav>
                                      </p:tavLst>
                                    </p:anim>
                                    <p:anim calcmode="lin" valueType="num">
                                      <p:cBhvr additive="base">
                                        <p:cTn id="12" dur="500" fill="hold"/>
                                        <p:tgtEl>
                                          <p:spTgt spid="1538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384"/>
                                        </p:tgtEl>
                                        <p:attrNameLst>
                                          <p:attrName>style.visibility</p:attrName>
                                        </p:attrNameLst>
                                      </p:cBhvr>
                                      <p:to>
                                        <p:strVal val="visible"/>
                                      </p:to>
                                    </p:set>
                                    <p:anim calcmode="lin" valueType="num">
                                      <p:cBhvr additive="base">
                                        <p:cTn id="15" dur="500" fill="hold"/>
                                        <p:tgtEl>
                                          <p:spTgt spid="15384"/>
                                        </p:tgtEl>
                                        <p:attrNameLst>
                                          <p:attrName>ppt_x</p:attrName>
                                        </p:attrNameLst>
                                      </p:cBhvr>
                                      <p:tavLst>
                                        <p:tav tm="0">
                                          <p:val>
                                            <p:strVal val="#ppt_x"/>
                                          </p:val>
                                        </p:tav>
                                        <p:tav tm="100000">
                                          <p:val>
                                            <p:strVal val="#ppt_x"/>
                                          </p:val>
                                        </p:tav>
                                      </p:tavLst>
                                    </p:anim>
                                    <p:anim calcmode="lin" valueType="num">
                                      <p:cBhvr additive="base">
                                        <p:cTn id="16" dur="500" fill="hold"/>
                                        <p:tgtEl>
                                          <p:spTgt spid="1538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5363">
                                            <p:txEl>
                                              <p:charRg st="0" end="6"/>
                                            </p:txEl>
                                          </p:spTgt>
                                        </p:tgtEl>
                                        <p:attrNameLst>
                                          <p:attrName>style.visibility</p:attrName>
                                        </p:attrNameLst>
                                      </p:cBhvr>
                                      <p:to>
                                        <p:strVal val="visible"/>
                                      </p:to>
                                    </p:set>
                                    <p:anim calcmode="lin" valueType="num">
                                      <p:cBhvr additive="base">
                                        <p:cTn id="25" dur="500" fill="hold"/>
                                        <p:tgtEl>
                                          <p:spTgt spid="15363">
                                            <p:txEl>
                                              <p:charRg st="0"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3">
                                            <p:txEl>
                                              <p:charRg st="0"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368"/>
                                        </p:tgtEl>
                                        <p:attrNameLst>
                                          <p:attrName>style.visibility</p:attrName>
                                        </p:attrNameLst>
                                      </p:cBhvr>
                                      <p:to>
                                        <p:strVal val="visible"/>
                                      </p:to>
                                    </p:set>
                                    <p:anim calcmode="lin" valueType="num">
                                      <p:cBhvr additive="base">
                                        <p:cTn id="29" dur="500" fill="hold"/>
                                        <p:tgtEl>
                                          <p:spTgt spid="15368"/>
                                        </p:tgtEl>
                                        <p:attrNameLst>
                                          <p:attrName>ppt_x</p:attrName>
                                        </p:attrNameLst>
                                      </p:cBhvr>
                                      <p:tavLst>
                                        <p:tav tm="0">
                                          <p:val>
                                            <p:strVal val="#ppt_x"/>
                                          </p:val>
                                        </p:tav>
                                        <p:tav tm="100000">
                                          <p:val>
                                            <p:strVal val="#ppt_x"/>
                                          </p:val>
                                        </p:tav>
                                      </p:tavLst>
                                    </p:anim>
                                    <p:anim calcmode="lin" valueType="num">
                                      <p:cBhvr additive="base">
                                        <p:cTn id="30" dur="500" fill="hold"/>
                                        <p:tgtEl>
                                          <p:spTgt spid="1536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373"/>
                                        </p:tgtEl>
                                        <p:attrNameLst>
                                          <p:attrName>style.visibility</p:attrName>
                                        </p:attrNameLst>
                                      </p:cBhvr>
                                      <p:to>
                                        <p:strVal val="visible"/>
                                      </p:to>
                                    </p:set>
                                    <p:anim calcmode="lin" valueType="num">
                                      <p:cBhvr additive="base">
                                        <p:cTn id="39" dur="500" fill="hold"/>
                                        <p:tgtEl>
                                          <p:spTgt spid="15373"/>
                                        </p:tgtEl>
                                        <p:attrNameLst>
                                          <p:attrName>ppt_x</p:attrName>
                                        </p:attrNameLst>
                                      </p:cBhvr>
                                      <p:tavLst>
                                        <p:tav tm="0">
                                          <p:val>
                                            <p:strVal val="#ppt_x"/>
                                          </p:val>
                                        </p:tav>
                                        <p:tav tm="100000">
                                          <p:val>
                                            <p:strVal val="#ppt_x"/>
                                          </p:val>
                                        </p:tav>
                                      </p:tavLst>
                                    </p:anim>
                                    <p:anim calcmode="lin" valueType="num">
                                      <p:cBhvr additive="base">
                                        <p:cTn id="40" dur="500" fill="hold"/>
                                        <p:tgtEl>
                                          <p:spTgt spid="1537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5385"/>
                                        </p:tgtEl>
                                        <p:attrNameLst>
                                          <p:attrName>style.visibility</p:attrName>
                                        </p:attrNameLst>
                                      </p:cBhvr>
                                      <p:to>
                                        <p:strVal val="visible"/>
                                      </p:to>
                                    </p:set>
                                    <p:anim calcmode="lin" valueType="num">
                                      <p:cBhvr additive="base">
                                        <p:cTn id="45" dur="500" fill="hold"/>
                                        <p:tgtEl>
                                          <p:spTgt spid="15385"/>
                                        </p:tgtEl>
                                        <p:attrNameLst>
                                          <p:attrName>ppt_x</p:attrName>
                                        </p:attrNameLst>
                                      </p:cBhvr>
                                      <p:tavLst>
                                        <p:tav tm="0">
                                          <p:val>
                                            <p:strVal val="#ppt_x"/>
                                          </p:val>
                                        </p:tav>
                                        <p:tav tm="100000">
                                          <p:val>
                                            <p:strVal val="#ppt_x"/>
                                          </p:val>
                                        </p:tav>
                                      </p:tavLst>
                                    </p:anim>
                                    <p:anim calcmode="lin" valueType="num">
                                      <p:cBhvr additive="base">
                                        <p:cTn id="46" dur="500" fill="hold"/>
                                        <p:tgtEl>
                                          <p:spTgt spid="153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P spid="15368" grpId="0"/>
      <p:bldP spid="15373" grpId="0"/>
      <p:bldP spid="15382" grpId="0"/>
      <p:bldP spid="15384" grpId="0" animBg="1"/>
      <p:bldP spid="1538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3"/>
          <p:cNvSpPr>
            <a:spLocks noGrp="1"/>
          </p:cNvSpPr>
          <p:nvPr>
            <p:ph type="body" sz="half" idx="1"/>
          </p:nvPr>
        </p:nvSpPr>
        <p:spPr>
          <a:xfrm>
            <a:off x="152400" y="685800"/>
            <a:ext cx="8763000" cy="685800"/>
          </a:xfrm>
        </p:spPr>
        <p:txBody>
          <a:bodyPr vert="horz" wrap="square" lIns="91440" tIns="45720" rIns="91440" bIns="45720" anchor="t"/>
          <a:p>
            <a:pPr eaLnBrk="1" hangingPunct="1">
              <a:buNone/>
            </a:pPr>
            <a:r>
              <a:rPr lang="en-US" altLang="zh-TW" b="1" dirty="0">
                <a:solidFill>
                  <a:srgbClr val="3366FF"/>
                </a:solidFill>
              </a:rPr>
              <a:t>Table 1.</a:t>
            </a:r>
            <a:r>
              <a:rPr lang="en-US" altLang="zh-TW" dirty="0"/>
              <a:t>  Graph Terminology</a:t>
            </a:r>
            <a:endParaRPr lang="en-US" altLang="zh-TW" dirty="0"/>
          </a:p>
        </p:txBody>
      </p:sp>
      <p:graphicFrame>
        <p:nvGraphicFramePr>
          <p:cNvPr id="17542" name="Group 134"/>
          <p:cNvGraphicFramePr>
            <a:graphicFrameLocks noGrp="1"/>
          </p:cNvGraphicFramePr>
          <p:nvPr>
            <p:ph sz="half" idx="1"/>
          </p:nvPr>
        </p:nvGraphicFramePr>
        <p:xfrm>
          <a:off x="304800" y="1524000"/>
          <a:ext cx="8458200" cy="4479925"/>
        </p:xfrm>
        <a:graphic>
          <a:graphicData uri="http://schemas.openxmlformats.org/drawingml/2006/table">
            <a:tbl>
              <a:tblPr/>
              <a:tblGrid>
                <a:gridCol w="3276600"/>
                <a:gridCol w="1981200"/>
                <a:gridCol w="1741488"/>
                <a:gridCol w="1458912"/>
              </a:tblGrid>
              <a:tr h="94474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dirty="0" smtClean="0">
                          <a:ln>
                            <a:noFill/>
                          </a:ln>
                          <a:solidFill>
                            <a:srgbClr val="0000CC"/>
                          </a:solidFill>
                          <a:effectLst/>
                          <a:latin typeface="Arial" panose="020B0604020202020204" pitchFamily="34" charset="0"/>
                          <a:ea typeface="PMingLiU" pitchFamily="18" charset="-120"/>
                        </a:rPr>
                        <a:t>Type</a:t>
                      </a:r>
                      <a:endParaRPr kumimoji="1" lang="en-US" altLang="zh-TW" sz="2800" b="0" i="0" u="none" strike="noStrike" cap="none" normalizeH="0" baseline="0" dirty="0" smtClean="0">
                        <a:ln>
                          <a:noFill/>
                        </a:ln>
                        <a:solidFill>
                          <a:srgbClr val="0000CC"/>
                        </a:solidFill>
                        <a:effectLst/>
                        <a:latin typeface="Arial" panose="020B0604020202020204" pitchFamily="34" charset="0"/>
                        <a:ea typeface="PMingLiU" pitchFamily="18" charset="-12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rgbClr val="0000CC"/>
                          </a:solidFill>
                          <a:effectLst/>
                          <a:latin typeface="Arial" panose="020B0604020202020204" pitchFamily="34" charset="0"/>
                          <a:ea typeface="PMingLiU" pitchFamily="18" charset="-120"/>
                        </a:rPr>
                        <a:t>Edges</a:t>
                      </a:r>
                      <a:endParaRPr kumimoji="1" lang="en-US" altLang="zh-TW" sz="2800" b="0" i="0" u="none" strike="noStrike" cap="none" normalizeH="0" baseline="0" smtClean="0">
                        <a:ln>
                          <a:noFill/>
                        </a:ln>
                        <a:solidFill>
                          <a:srgbClr val="0000CC"/>
                        </a:solidFill>
                        <a:effectLst/>
                        <a:latin typeface="Arial" panose="020B0604020202020204" pitchFamily="34" charset="0"/>
                        <a:ea typeface="PMingLiU" pitchFamily="18" charset="-12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rgbClr val="0000CC"/>
                          </a:solidFill>
                          <a:effectLst/>
                          <a:latin typeface="Arial" panose="020B0604020202020204" pitchFamily="34" charset="0"/>
                          <a:ea typeface="PMingLiU" pitchFamily="18" charset="-120"/>
                        </a:rPr>
                        <a:t>Multiple Edges</a:t>
                      </a:r>
                      <a:endParaRPr kumimoji="1" lang="en-US" altLang="zh-TW" sz="2800" b="0" i="0" u="none" strike="noStrike" cap="none" normalizeH="0" baseline="0" smtClean="0">
                        <a:ln>
                          <a:noFill/>
                        </a:ln>
                        <a:solidFill>
                          <a:srgbClr val="0000CC"/>
                        </a:solidFill>
                        <a:effectLst/>
                        <a:latin typeface="Arial" panose="020B0604020202020204" pitchFamily="34" charset="0"/>
                        <a:ea typeface="PMingLiU" pitchFamily="18" charset="-12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rgbClr val="0000CC"/>
                          </a:solidFill>
                          <a:effectLst/>
                          <a:latin typeface="Arial" panose="020B0604020202020204" pitchFamily="34" charset="0"/>
                          <a:ea typeface="PMingLiU" pitchFamily="18" charset="-120"/>
                        </a:rPr>
                        <a:t>Loops</a:t>
                      </a:r>
                      <a:endParaRPr kumimoji="1" lang="en-US" altLang="zh-TW" sz="2800" b="0" i="0" u="none" strike="noStrike" cap="none" normalizeH="0" baseline="0" smtClean="0">
                        <a:ln>
                          <a:noFill/>
                        </a:ln>
                        <a:solidFill>
                          <a:srgbClr val="0000CC"/>
                        </a:solidFill>
                        <a:effectLst/>
                        <a:latin typeface="Arial" panose="020B0604020202020204" pitchFamily="34" charset="0"/>
                        <a:ea typeface="PMingLiU" pitchFamily="18" charset="-12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60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rPr>
                        <a:t>Simple graph</a:t>
                      </a:r>
                      <a:endPar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rPr>
                        <a:t>undirectededge: {u,v}</a:t>
                      </a:r>
                      <a:endPar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dirty="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dirty="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60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rPr>
                        <a:t>Multigraph</a:t>
                      </a:r>
                      <a:endPar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60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rPr>
                        <a:t>Pseudograph</a:t>
                      </a:r>
                      <a:endPar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44746">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rPr>
                        <a:t>Simple directed graph</a:t>
                      </a:r>
                      <a:endPar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rPr>
                        <a:t>directed</a:t>
                      </a:r>
                      <a:endPar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rPr>
                        <a:t>edge: (</a:t>
                      </a:r>
                      <a:r>
                        <a:rPr kumimoji="1" lang="en-US" altLang="zh-TW" sz="2800" b="0" i="0" u="none" strike="noStrike" cap="none" normalizeH="0" baseline="0" dirty="0" err="1" smtClean="0">
                          <a:ln>
                            <a:noFill/>
                          </a:ln>
                          <a:solidFill>
                            <a:schemeClr val="tx1"/>
                          </a:solidFill>
                          <a:effectLst/>
                          <a:latin typeface="Arial" panose="020B0604020202020204" pitchFamily="34" charset="0"/>
                          <a:ea typeface="PMingLiU" pitchFamily="18" charset="-120"/>
                        </a:rPr>
                        <a:t>u,v</a:t>
                      </a:r>
                      <a:r>
                        <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rPr>
                        <a:t>)</a:t>
                      </a:r>
                      <a:endParaRPr kumimoji="1" lang="en-US" altLang="zh-TW" sz="2800" b="0" i="0" u="none" strike="noStrike" cap="none" normalizeH="0" baseline="0" dirty="0" smtClean="0">
                        <a:ln>
                          <a:noFill/>
                        </a:ln>
                        <a:solidFill>
                          <a:schemeClr val="tx1"/>
                        </a:solidFill>
                        <a:effectLst/>
                        <a:latin typeface="Arial" panose="020B0604020202020204" pitchFamily="34" charset="0"/>
                        <a:ea typeface="PMingLiU" pitchFamily="18" charset="-12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1" lang="en-US" altLang="zh-TW" sz="3600" b="0" i="0" u="none" strike="noStrike" cap="none" normalizeH="0" baseline="0" dirty="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dirty="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60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rPr>
                        <a:t>Directed multigraph</a:t>
                      </a:r>
                      <a:endPar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rPr>
                        <a:t></a:t>
                      </a:r>
                      <a:endParaRPr kumimoji="1" lang="en-US" altLang="zh-TW" sz="3600" b="0" i="0" u="none" strike="noStrike" cap="none" normalizeH="0" baseline="0" smtClean="0">
                        <a:ln>
                          <a:noFill/>
                        </a:ln>
                        <a:solidFill>
                          <a:schemeClr val="tx1"/>
                        </a:solidFill>
                        <a:effectLst/>
                        <a:latin typeface="Arial" panose="020B0604020202020204" pitchFamily="34" charset="0"/>
                        <a:ea typeface="PMingLiU" pitchFamily="18" charset="-120"/>
                        <a:sym typeface="Wingdings 2" panose="05020102010507070707" pitchFamily="18" charset="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6425" name="Text Box 135"/>
          <p:cNvSpPr txBox="1"/>
          <p:nvPr/>
        </p:nvSpPr>
        <p:spPr>
          <a:xfrm>
            <a:off x="228600" y="6096000"/>
            <a:ext cx="3754438" cy="528638"/>
          </a:xfrm>
          <a:prstGeom prst="rect">
            <a:avLst/>
          </a:prstGeom>
          <a:noFill/>
          <a:ln w="9525" cap="flat" cmpd="sng">
            <a:solidFill>
              <a:srgbClr val="0080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Exercise : 3, 5, 6, 7, 9</a:t>
            </a:r>
            <a:endParaRPr lang="en-US" altLang="zh-TW" sz="2800" b="1" dirty="0">
              <a:solidFill>
                <a:srgbClr val="008000"/>
              </a:solidFill>
            </a:endParaRPr>
          </a:p>
        </p:txBody>
      </p:sp>
      <p:sp>
        <p:nvSpPr>
          <p:cNvPr id="7209" name="投影片編號版面配置區 5"/>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25"/>
                                        </p:tgtEl>
                                        <p:attrNameLst>
                                          <p:attrName>style.visibility</p:attrName>
                                        </p:attrNameLst>
                                      </p:cBhvr>
                                      <p:to>
                                        <p:strVal val="visible"/>
                                      </p:to>
                                    </p:set>
                                    <p:anim calcmode="lin" valueType="num">
                                      <p:cBhvr additive="base">
                                        <p:cTn id="7" dur="500" fill="hold"/>
                                        <p:tgtEl>
                                          <p:spTgt spid="16425"/>
                                        </p:tgtEl>
                                        <p:attrNameLst>
                                          <p:attrName>ppt_x</p:attrName>
                                        </p:attrNameLst>
                                      </p:cBhvr>
                                      <p:tavLst>
                                        <p:tav tm="0">
                                          <p:val>
                                            <p:strVal val="#ppt_x"/>
                                          </p:val>
                                        </p:tav>
                                        <p:tav tm="100000">
                                          <p:val>
                                            <p:strVal val="#ppt_x"/>
                                          </p:val>
                                        </p:tav>
                                      </p:tavLst>
                                    </p:anim>
                                    <p:anim calcmode="lin" valueType="num">
                                      <p:cBhvr additive="base">
                                        <p:cTn id="8" dur="500" fill="hold"/>
                                        <p:tgtEl>
                                          <p:spTgt spid="164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5"/>
          <p:cNvSpPr txBox="1"/>
          <p:nvPr/>
        </p:nvSpPr>
        <p:spPr>
          <a:xfrm>
            <a:off x="228600" y="1219200"/>
            <a:ext cx="8686800" cy="2678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Example 2.</a:t>
            </a:r>
            <a:r>
              <a:rPr lang="en-US" altLang="zh-TW" sz="2800" dirty="0"/>
              <a:t> (Acquaintanceship graphs)</a:t>
            </a:r>
            <a:endParaRPr lang="en-US" altLang="zh-TW" sz="2800" dirty="0"/>
          </a:p>
          <a:p>
            <a:pPr marL="0" lvl="0" indent="0" eaLnBrk="1" hangingPunct="1">
              <a:spcBef>
                <a:spcPct val="0"/>
              </a:spcBef>
              <a:buClrTx/>
              <a:buSzPct val="100000"/>
              <a:buNone/>
            </a:pPr>
            <a:r>
              <a:rPr lang="en-US" altLang="zh-TW" sz="2800" dirty="0"/>
              <a:t>    We can use a </a:t>
            </a:r>
            <a:r>
              <a:rPr lang="en-US" altLang="zh-TW" sz="2800" u="sng" dirty="0"/>
              <a:t>simple graph </a:t>
            </a:r>
            <a:r>
              <a:rPr lang="en-US" altLang="zh-TW" sz="2800" dirty="0"/>
              <a:t>to represent whether two people know each other. Each person is represented by a vertex. An undirected edge is used to connect two people when these people know each other.</a:t>
            </a:r>
            <a:endParaRPr lang="en-US" altLang="zh-TW" sz="2800" dirty="0"/>
          </a:p>
        </p:txBody>
      </p:sp>
      <p:sp>
        <p:nvSpPr>
          <p:cNvPr id="8195" name="Text Box 5"/>
          <p:cNvSpPr txBox="1"/>
          <p:nvPr/>
        </p:nvSpPr>
        <p:spPr>
          <a:xfrm>
            <a:off x="152400" y="533400"/>
            <a:ext cx="8686800"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u="sng" dirty="0">
                <a:solidFill>
                  <a:srgbClr val="008000"/>
                </a:solidFill>
              </a:rPr>
              <a:t>Graph Models</a:t>
            </a:r>
            <a:endParaRPr lang="en-US" altLang="zh-TW" u="sng" dirty="0"/>
          </a:p>
        </p:txBody>
      </p:sp>
      <p:sp>
        <p:nvSpPr>
          <p:cNvPr id="31" name="矩形 30"/>
          <p:cNvSpPr/>
          <p:nvPr/>
        </p:nvSpPr>
        <p:spPr>
          <a:xfrm>
            <a:off x="304800" y="4038600"/>
            <a:ext cx="6048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eg</a:t>
            </a:r>
            <a:endParaRPr lang="zh-TW" altLang="en-US" sz="2800" dirty="0"/>
          </a:p>
        </p:txBody>
      </p:sp>
      <p:grpSp>
        <p:nvGrpSpPr>
          <p:cNvPr id="2" name="群組 42"/>
          <p:cNvGrpSpPr/>
          <p:nvPr/>
        </p:nvGrpSpPr>
        <p:grpSpPr>
          <a:xfrm>
            <a:off x="1905000" y="4191000"/>
            <a:ext cx="6019800" cy="2290763"/>
            <a:chOff x="1905000" y="3733800"/>
            <a:chExt cx="7098712" cy="2747665"/>
          </a:xfrm>
        </p:grpSpPr>
        <p:sp>
          <p:nvSpPr>
            <p:cNvPr id="8199" name="Text Box 26"/>
            <p:cNvSpPr txBox="1"/>
            <p:nvPr/>
          </p:nvSpPr>
          <p:spPr>
            <a:xfrm>
              <a:off x="1905000" y="3810000"/>
              <a:ext cx="681597"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Jan</a:t>
              </a:r>
              <a:endParaRPr lang="en-US" altLang="zh-TW" sz="2400" dirty="0"/>
            </a:p>
          </p:txBody>
        </p:sp>
        <p:sp>
          <p:nvSpPr>
            <p:cNvPr id="8200" name="Text Box 27"/>
            <p:cNvSpPr txBox="1"/>
            <p:nvPr/>
          </p:nvSpPr>
          <p:spPr>
            <a:xfrm>
              <a:off x="3810000" y="3810000"/>
              <a:ext cx="973343"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Paula</a:t>
              </a:r>
              <a:endParaRPr lang="en-US" altLang="zh-TW" sz="2400" dirty="0"/>
            </a:p>
          </p:txBody>
        </p:sp>
        <p:cxnSp>
          <p:nvCxnSpPr>
            <p:cNvPr id="8201" name="AutoShape 13"/>
            <p:cNvCxnSpPr>
              <a:stCxn id="8212" idx="6"/>
              <a:endCxn id="8215" idx="2"/>
            </p:cNvCxnSpPr>
            <p:nvPr/>
          </p:nvCxnSpPr>
          <p:spPr>
            <a:xfrm>
              <a:off x="2286000" y="4343400"/>
              <a:ext cx="1920875" cy="1587"/>
            </a:xfrm>
            <a:prstGeom prst="straightConnector1">
              <a:avLst/>
            </a:prstGeom>
            <a:ln w="9525" cap="flat" cmpd="sng">
              <a:solidFill>
                <a:schemeClr val="tx1"/>
              </a:solidFill>
              <a:prstDash val="solid"/>
              <a:headEnd type="none" w="med" len="med"/>
              <a:tailEnd type="none" w="med" len="med"/>
            </a:ln>
          </p:spPr>
        </p:cxnSp>
        <p:cxnSp>
          <p:nvCxnSpPr>
            <p:cNvPr id="8202" name="AutoShape 14"/>
            <p:cNvCxnSpPr>
              <a:endCxn id="8213" idx="1"/>
            </p:cNvCxnSpPr>
            <p:nvPr/>
          </p:nvCxnSpPr>
          <p:spPr>
            <a:xfrm rot="-5400000" flipH="1">
              <a:off x="1463675" y="5113337"/>
              <a:ext cx="1544638" cy="20638"/>
            </a:xfrm>
            <a:prstGeom prst="straightConnector1">
              <a:avLst/>
            </a:prstGeom>
            <a:ln w="9525" cap="flat" cmpd="sng">
              <a:solidFill>
                <a:schemeClr val="tx1"/>
              </a:solidFill>
              <a:prstDash val="solid"/>
              <a:headEnd type="none" w="med" len="med"/>
              <a:tailEnd type="none" w="med" len="med"/>
            </a:ln>
          </p:spPr>
        </p:cxnSp>
        <p:cxnSp>
          <p:nvCxnSpPr>
            <p:cNvPr id="8203" name="AutoShape 15"/>
            <p:cNvCxnSpPr>
              <a:stCxn id="8215" idx="0"/>
              <a:endCxn id="8214" idx="0"/>
            </p:cNvCxnSpPr>
            <p:nvPr/>
          </p:nvCxnSpPr>
          <p:spPr>
            <a:xfrm rot="-5400000" flipH="1">
              <a:off x="3475831" y="5076031"/>
              <a:ext cx="1600200" cy="1587"/>
            </a:xfrm>
            <a:prstGeom prst="straightConnector1">
              <a:avLst/>
            </a:prstGeom>
            <a:ln w="9525" cap="flat" cmpd="sng">
              <a:solidFill>
                <a:schemeClr val="tx1"/>
              </a:solidFill>
              <a:prstDash val="solid"/>
              <a:headEnd type="none" w="med" len="med"/>
              <a:tailEnd type="none" w="med" len="med"/>
            </a:ln>
          </p:spPr>
        </p:cxnSp>
        <p:cxnSp>
          <p:nvCxnSpPr>
            <p:cNvPr id="8204" name="AutoShape 16"/>
            <p:cNvCxnSpPr>
              <a:endCxn id="8217" idx="1"/>
            </p:cNvCxnSpPr>
            <p:nvPr/>
          </p:nvCxnSpPr>
          <p:spPr>
            <a:xfrm>
              <a:off x="4267200" y="4343400"/>
              <a:ext cx="1924994" cy="1543994"/>
            </a:xfrm>
            <a:prstGeom prst="straightConnector1">
              <a:avLst/>
            </a:prstGeom>
            <a:ln w="9525" cap="flat" cmpd="sng">
              <a:solidFill>
                <a:schemeClr val="tx1"/>
              </a:solidFill>
              <a:prstDash val="solid"/>
              <a:headEnd type="none" w="med" len="med"/>
              <a:tailEnd type="none" w="med" len="med"/>
            </a:ln>
          </p:spPr>
        </p:cxnSp>
        <p:cxnSp>
          <p:nvCxnSpPr>
            <p:cNvPr id="8205" name="AutoShape 17"/>
            <p:cNvCxnSpPr>
              <a:stCxn id="8215" idx="3"/>
              <a:endCxn id="8213" idx="7"/>
            </p:cNvCxnSpPr>
            <p:nvPr/>
          </p:nvCxnSpPr>
          <p:spPr>
            <a:xfrm rot="5400000">
              <a:off x="2532063" y="4200525"/>
              <a:ext cx="1504950" cy="1885950"/>
            </a:xfrm>
            <a:prstGeom prst="straightConnector1">
              <a:avLst/>
            </a:prstGeom>
            <a:ln w="9525" cap="flat" cmpd="sng">
              <a:solidFill>
                <a:schemeClr val="tx1"/>
              </a:solidFill>
              <a:prstDash val="solid"/>
              <a:headEnd type="none" w="med" len="med"/>
              <a:tailEnd type="none" w="med" len="med"/>
            </a:ln>
          </p:spPr>
        </p:cxnSp>
        <p:cxnSp>
          <p:nvCxnSpPr>
            <p:cNvPr id="8206" name="AutoShape 18"/>
            <p:cNvCxnSpPr>
              <a:endCxn id="8214" idx="6"/>
            </p:cNvCxnSpPr>
            <p:nvPr/>
          </p:nvCxnSpPr>
          <p:spPr>
            <a:xfrm flipV="1">
              <a:off x="2301875" y="5943600"/>
              <a:ext cx="2041525" cy="7937"/>
            </a:xfrm>
            <a:prstGeom prst="straightConnector1">
              <a:avLst/>
            </a:prstGeom>
            <a:ln w="9525" cap="flat" cmpd="sng">
              <a:solidFill>
                <a:schemeClr val="tx1"/>
              </a:solidFill>
              <a:prstDash val="solid"/>
              <a:headEnd type="none" w="med" len="med"/>
              <a:tailEnd type="none" w="med" len="med"/>
            </a:ln>
          </p:spPr>
        </p:cxnSp>
        <p:cxnSp>
          <p:nvCxnSpPr>
            <p:cNvPr id="8207" name="AutoShape 24"/>
            <p:cNvCxnSpPr>
              <a:stCxn id="8215" idx="6"/>
              <a:endCxn id="8216" idx="2"/>
            </p:cNvCxnSpPr>
            <p:nvPr/>
          </p:nvCxnSpPr>
          <p:spPr>
            <a:xfrm>
              <a:off x="4343400" y="4343400"/>
              <a:ext cx="1844675" cy="1587"/>
            </a:xfrm>
            <a:prstGeom prst="straightConnector1">
              <a:avLst/>
            </a:prstGeom>
            <a:ln w="9525" cap="flat" cmpd="sng">
              <a:solidFill>
                <a:schemeClr val="tx1"/>
              </a:solidFill>
              <a:prstDash val="solid"/>
              <a:headEnd type="none" w="med" len="med"/>
              <a:tailEnd type="none" w="med" len="med"/>
            </a:ln>
          </p:spPr>
        </p:cxnSp>
        <p:sp>
          <p:nvSpPr>
            <p:cNvPr id="8208" name="Text Box 30"/>
            <p:cNvSpPr txBox="1"/>
            <p:nvPr/>
          </p:nvSpPr>
          <p:spPr>
            <a:xfrm>
              <a:off x="5715000" y="3810000"/>
              <a:ext cx="852669"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Todd</a:t>
              </a:r>
              <a:endParaRPr lang="en-US" altLang="zh-TW" sz="2400" dirty="0"/>
            </a:p>
          </p:txBody>
        </p:sp>
        <p:sp>
          <p:nvSpPr>
            <p:cNvPr id="8209" name="Text Box 31"/>
            <p:cNvSpPr txBox="1"/>
            <p:nvPr/>
          </p:nvSpPr>
          <p:spPr>
            <a:xfrm>
              <a:off x="1905000" y="6019800"/>
              <a:ext cx="665567"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Lila</a:t>
              </a:r>
              <a:endParaRPr lang="en-US" altLang="zh-TW" sz="2400" dirty="0"/>
            </a:p>
          </p:txBody>
        </p:sp>
        <p:sp>
          <p:nvSpPr>
            <p:cNvPr id="8210" name="Text Box 32"/>
            <p:cNvSpPr txBox="1"/>
            <p:nvPr/>
          </p:nvSpPr>
          <p:spPr>
            <a:xfrm>
              <a:off x="3962400" y="6019800"/>
              <a:ext cx="750526"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Lizd</a:t>
              </a:r>
              <a:endParaRPr lang="en-US" altLang="zh-TW" sz="2400" dirty="0"/>
            </a:p>
          </p:txBody>
        </p:sp>
        <p:sp>
          <p:nvSpPr>
            <p:cNvPr id="8211" name="Text Box 33"/>
            <p:cNvSpPr txBox="1"/>
            <p:nvPr/>
          </p:nvSpPr>
          <p:spPr>
            <a:xfrm>
              <a:off x="5791200" y="6019800"/>
              <a:ext cx="971741"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Steve</a:t>
              </a:r>
              <a:endParaRPr lang="en-US" altLang="zh-TW" sz="2400" dirty="0"/>
            </a:p>
          </p:txBody>
        </p:sp>
        <p:sp>
          <p:nvSpPr>
            <p:cNvPr id="8212" name="Oval 4"/>
            <p:cNvSpPr/>
            <p:nvPr/>
          </p:nvSpPr>
          <p:spPr>
            <a:xfrm>
              <a:off x="2149475" y="4275137"/>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8213" name="Oval 4"/>
            <p:cNvSpPr/>
            <p:nvPr/>
          </p:nvSpPr>
          <p:spPr>
            <a:xfrm>
              <a:off x="2225675" y="5875337"/>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8214" name="Oval 4"/>
            <p:cNvSpPr/>
            <p:nvPr/>
          </p:nvSpPr>
          <p:spPr>
            <a:xfrm>
              <a:off x="4206875" y="5875337"/>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8215" name="Oval 4"/>
            <p:cNvSpPr/>
            <p:nvPr/>
          </p:nvSpPr>
          <p:spPr>
            <a:xfrm>
              <a:off x="4206875" y="4275137"/>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8216" name="Oval 4"/>
            <p:cNvSpPr/>
            <p:nvPr/>
          </p:nvSpPr>
          <p:spPr>
            <a:xfrm>
              <a:off x="6188075" y="4275137"/>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8217" name="Oval 4"/>
            <p:cNvSpPr/>
            <p:nvPr/>
          </p:nvSpPr>
          <p:spPr>
            <a:xfrm>
              <a:off x="6172200" y="58674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8218" name="AutoShape 24"/>
            <p:cNvCxnSpPr/>
            <p:nvPr/>
          </p:nvCxnSpPr>
          <p:spPr>
            <a:xfrm>
              <a:off x="6248400" y="4343400"/>
              <a:ext cx="1844675" cy="1587"/>
            </a:xfrm>
            <a:prstGeom prst="straightConnector1">
              <a:avLst/>
            </a:prstGeom>
            <a:ln w="9525" cap="flat" cmpd="sng">
              <a:solidFill>
                <a:schemeClr val="tx1"/>
              </a:solidFill>
              <a:prstDash val="solid"/>
              <a:headEnd type="none" w="med" len="med"/>
              <a:tailEnd type="none" w="med" len="med"/>
            </a:ln>
          </p:spPr>
        </p:cxnSp>
        <p:sp>
          <p:nvSpPr>
            <p:cNvPr id="8219" name="Oval 4"/>
            <p:cNvSpPr/>
            <p:nvPr/>
          </p:nvSpPr>
          <p:spPr>
            <a:xfrm>
              <a:off x="8077200" y="42672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8220" name="Text Box 30"/>
            <p:cNvSpPr txBox="1"/>
            <p:nvPr/>
          </p:nvSpPr>
          <p:spPr>
            <a:xfrm>
              <a:off x="7620000" y="3733800"/>
              <a:ext cx="1383712"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Kamlesh</a:t>
              </a:r>
              <a:endParaRPr lang="en-US" altLang="zh-TW" sz="2400" dirty="0"/>
            </a:p>
          </p:txBody>
        </p:sp>
        <p:cxnSp>
          <p:nvCxnSpPr>
            <p:cNvPr id="8221" name="AutoShape 15"/>
            <p:cNvCxnSpPr/>
            <p:nvPr/>
          </p:nvCxnSpPr>
          <p:spPr>
            <a:xfrm rot="-5400000" flipH="1">
              <a:off x="5449093" y="5142707"/>
              <a:ext cx="1600200" cy="1587"/>
            </a:xfrm>
            <a:prstGeom prst="straightConnector1">
              <a:avLst/>
            </a:prstGeom>
            <a:ln w="9525" cap="flat" cmpd="sng">
              <a:solidFill>
                <a:schemeClr val="tx1"/>
              </a:solidFill>
              <a:prstDash val="solid"/>
              <a:headEnd type="none" w="med" len="med"/>
              <a:tailEnd type="none" w="med" len="med"/>
            </a:ln>
          </p:spPr>
        </p:cxnSp>
        <p:cxnSp>
          <p:nvCxnSpPr>
            <p:cNvPr id="8222" name="AutoShape 18"/>
            <p:cNvCxnSpPr>
              <a:endCxn id="8217" idx="2"/>
            </p:cNvCxnSpPr>
            <p:nvPr/>
          </p:nvCxnSpPr>
          <p:spPr>
            <a:xfrm flipV="1">
              <a:off x="4343400" y="5935663"/>
              <a:ext cx="1828800" cy="15875"/>
            </a:xfrm>
            <a:prstGeom prst="straightConnector1">
              <a:avLst/>
            </a:prstGeom>
            <a:ln w="9525" cap="flat" cmpd="sng">
              <a:solidFill>
                <a:schemeClr val="tx1"/>
              </a:solidFill>
              <a:prstDash val="solid"/>
              <a:headEnd type="none" w="med" len="med"/>
              <a:tailEnd type="none" w="med" len="med"/>
            </a:ln>
          </p:spPr>
        </p:cxnSp>
        <p:sp>
          <p:nvSpPr>
            <p:cNvPr id="8223" name="Text Box 32"/>
            <p:cNvSpPr txBox="1"/>
            <p:nvPr/>
          </p:nvSpPr>
          <p:spPr>
            <a:xfrm>
              <a:off x="4953000" y="5410200"/>
              <a:ext cx="800219"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Amy</a:t>
              </a:r>
              <a:endParaRPr lang="en-US" altLang="zh-TW" sz="2400" dirty="0"/>
            </a:p>
          </p:txBody>
        </p:sp>
        <p:sp>
          <p:nvSpPr>
            <p:cNvPr id="8224" name="Oval 4"/>
            <p:cNvSpPr/>
            <p:nvPr/>
          </p:nvSpPr>
          <p:spPr>
            <a:xfrm>
              <a:off x="5181600" y="51054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8225" name="AutoShape 17"/>
            <p:cNvCxnSpPr>
              <a:stCxn id="8216" idx="3"/>
            </p:cNvCxnSpPr>
            <p:nvPr/>
          </p:nvCxnSpPr>
          <p:spPr>
            <a:xfrm rot="5400000">
              <a:off x="4471193" y="4187675"/>
              <a:ext cx="1532882" cy="1940869"/>
            </a:xfrm>
            <a:prstGeom prst="straightConnector1">
              <a:avLst/>
            </a:prstGeom>
            <a:ln w="9525" cap="flat" cmpd="sng">
              <a:solidFill>
                <a:schemeClr val="tx1"/>
              </a:solidFill>
              <a:prstDash val="solid"/>
              <a:headEnd type="none" w="med" len="med"/>
              <a:tailEnd type="none" w="med" len="med"/>
            </a:ln>
          </p:spPr>
        </p:cxnSp>
      </p:grpSp>
      <p:sp>
        <p:nvSpPr>
          <p:cNvPr id="8198" name="投影片編號版面配置區 3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5"/>
          <p:cNvSpPr txBox="1"/>
          <p:nvPr/>
        </p:nvSpPr>
        <p:spPr>
          <a:xfrm>
            <a:off x="228600" y="609600"/>
            <a:ext cx="8686800" cy="30813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Example 3.</a:t>
            </a:r>
            <a:r>
              <a:rPr lang="en-US" altLang="zh-TW" sz="2800" dirty="0"/>
              <a:t> (Influence graphs)</a:t>
            </a:r>
            <a:endParaRPr lang="en-US" altLang="zh-TW" sz="2800" dirty="0"/>
          </a:p>
          <a:p>
            <a:pPr marL="0" lvl="0" indent="0" eaLnBrk="1" hangingPunct="1">
              <a:spcBef>
                <a:spcPct val="0"/>
              </a:spcBef>
              <a:buClrTx/>
              <a:buSzPct val="100000"/>
              <a:buNone/>
            </a:pPr>
            <a:r>
              <a:rPr lang="en-US" altLang="zh-TW" sz="2800" dirty="0"/>
              <a:t>    In studies of group behavior it is observed that certain people can influence the thinking of others. </a:t>
            </a:r>
            <a:br>
              <a:rPr lang="en-US" altLang="zh-TW" sz="2800" dirty="0"/>
            </a:br>
            <a:r>
              <a:rPr lang="en-US" altLang="zh-TW" sz="2800" u="sng" dirty="0"/>
              <a:t>Simple digraph</a:t>
            </a:r>
            <a:r>
              <a:rPr lang="en-US" altLang="zh-TW" sz="2800" dirty="0"/>
              <a:t>  </a:t>
            </a:r>
            <a:r>
              <a:rPr lang="en-US" altLang="zh-TW" sz="2800" dirty="0">
                <a:sym typeface="Symbol" panose="05050102010706020507" pitchFamily="18" charset="2"/>
              </a:rPr>
              <a:t> </a:t>
            </a:r>
            <a:r>
              <a:rPr lang="en-US" altLang="zh-TW" sz="2800" dirty="0"/>
              <a:t>Each person of the group is represented by a vertex. There is a directed edge from vertex </a:t>
            </a:r>
            <a:r>
              <a:rPr lang="en-US" altLang="zh-TW" sz="2800" i="1" dirty="0">
                <a:latin typeface="Times New Roman" panose="02020603050405020304" pitchFamily="18" charset="0"/>
                <a:cs typeface="Times New Roman" panose="02020603050405020304" pitchFamily="18" charset="0"/>
              </a:rPr>
              <a:t>a</a:t>
            </a:r>
            <a:r>
              <a:rPr lang="en-US" altLang="zh-TW" sz="2800" dirty="0"/>
              <a:t> to vertex </a:t>
            </a:r>
            <a:r>
              <a:rPr lang="en-US" altLang="zh-TW" sz="2800" i="1" dirty="0">
                <a:latin typeface="Times New Roman" panose="02020603050405020304" pitchFamily="18" charset="0"/>
                <a:cs typeface="Times New Roman" panose="02020603050405020304" pitchFamily="18" charset="0"/>
              </a:rPr>
              <a:t>b</a:t>
            </a:r>
            <a:r>
              <a:rPr lang="en-US" altLang="zh-TW" sz="2800" dirty="0"/>
              <a:t> when the person </a:t>
            </a:r>
            <a:r>
              <a:rPr lang="en-US" altLang="zh-TW" sz="2800" i="1" dirty="0">
                <a:latin typeface="Times New Roman" panose="02020603050405020304" pitchFamily="18" charset="0"/>
                <a:cs typeface="Times New Roman" panose="02020603050405020304" pitchFamily="18" charset="0"/>
              </a:rPr>
              <a:t>a</a:t>
            </a:r>
            <a:r>
              <a:rPr lang="en-US" altLang="zh-TW" sz="2800" dirty="0"/>
              <a:t> influences the person </a:t>
            </a:r>
            <a:r>
              <a:rPr lang="en-US" altLang="zh-TW" sz="2800" i="1" dirty="0">
                <a:latin typeface="Times New Roman" panose="02020603050405020304" pitchFamily="18" charset="0"/>
                <a:cs typeface="Times New Roman" panose="02020603050405020304" pitchFamily="18" charset="0"/>
              </a:rPr>
              <a:t>b</a:t>
            </a:r>
            <a:r>
              <a:rPr lang="en-US" altLang="zh-TW" sz="2800" dirty="0"/>
              <a:t>.</a:t>
            </a:r>
            <a:endParaRPr lang="en-US" altLang="zh-TW" sz="2800" dirty="0"/>
          </a:p>
        </p:txBody>
      </p:sp>
      <p:sp>
        <p:nvSpPr>
          <p:cNvPr id="31" name="矩形 30"/>
          <p:cNvSpPr/>
          <p:nvPr/>
        </p:nvSpPr>
        <p:spPr>
          <a:xfrm>
            <a:off x="609600" y="3962400"/>
            <a:ext cx="6048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eg</a:t>
            </a:r>
            <a:endParaRPr lang="zh-TW" altLang="en-US" sz="2800" dirty="0"/>
          </a:p>
        </p:txBody>
      </p:sp>
      <p:grpSp>
        <p:nvGrpSpPr>
          <p:cNvPr id="2" name="群組 45"/>
          <p:cNvGrpSpPr/>
          <p:nvPr/>
        </p:nvGrpSpPr>
        <p:grpSpPr>
          <a:xfrm>
            <a:off x="1981200" y="4114800"/>
            <a:ext cx="6262688" cy="2303463"/>
            <a:chOff x="1066800" y="4025921"/>
            <a:chExt cx="6262090" cy="2303763"/>
          </a:xfrm>
        </p:grpSpPr>
        <p:sp>
          <p:nvSpPr>
            <p:cNvPr id="9222" name="Text Box 26"/>
            <p:cNvSpPr txBox="1"/>
            <p:nvPr/>
          </p:nvSpPr>
          <p:spPr>
            <a:xfrm>
              <a:off x="1066800" y="4038600"/>
              <a:ext cx="939681"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Linda</a:t>
              </a:r>
              <a:endParaRPr lang="en-US" altLang="zh-TW" sz="2400" dirty="0"/>
            </a:p>
          </p:txBody>
        </p:sp>
        <p:sp>
          <p:nvSpPr>
            <p:cNvPr id="9223" name="Text Box 27"/>
            <p:cNvSpPr txBox="1"/>
            <p:nvPr/>
          </p:nvSpPr>
          <p:spPr>
            <a:xfrm>
              <a:off x="2987065" y="4025921"/>
              <a:ext cx="904415"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Brian</a:t>
              </a:r>
              <a:endParaRPr lang="en-US" altLang="zh-TW" sz="2400" dirty="0"/>
            </a:p>
          </p:txBody>
        </p:sp>
        <p:cxnSp>
          <p:nvCxnSpPr>
            <p:cNvPr id="9224" name="AutoShape 13"/>
            <p:cNvCxnSpPr>
              <a:stCxn id="9232" idx="6"/>
              <a:endCxn id="9235" idx="2"/>
            </p:cNvCxnSpPr>
            <p:nvPr/>
          </p:nvCxnSpPr>
          <p:spPr>
            <a:xfrm>
              <a:off x="1694693" y="4470565"/>
              <a:ext cx="1628927" cy="1323"/>
            </a:xfrm>
            <a:prstGeom prst="straightConnector1">
              <a:avLst/>
            </a:prstGeom>
            <a:ln w="9525" cap="flat" cmpd="sng">
              <a:solidFill>
                <a:schemeClr val="tx1"/>
              </a:solidFill>
              <a:prstDash val="solid"/>
              <a:headEnd type="triangle" w="lg" len="lg"/>
              <a:tailEnd type="none" w="lg" len="lg"/>
            </a:ln>
          </p:spPr>
        </p:cxnSp>
        <p:cxnSp>
          <p:nvCxnSpPr>
            <p:cNvPr id="9225" name="AutoShape 14"/>
            <p:cNvCxnSpPr>
              <a:stCxn id="9232" idx="4"/>
              <a:endCxn id="9233" idx="1"/>
            </p:cNvCxnSpPr>
            <p:nvPr/>
          </p:nvCxnSpPr>
          <p:spPr>
            <a:xfrm rot="-5400000" flipH="1">
              <a:off x="1030253" y="5134022"/>
              <a:ext cx="1236792" cy="23686"/>
            </a:xfrm>
            <a:prstGeom prst="straightConnector1">
              <a:avLst/>
            </a:prstGeom>
            <a:ln w="9525" cap="flat" cmpd="sng">
              <a:solidFill>
                <a:schemeClr val="tx1"/>
              </a:solidFill>
              <a:prstDash val="solid"/>
              <a:headEnd type="triangle" w="lg" len="lg"/>
              <a:tailEnd type="none" w="med" len="med"/>
            </a:ln>
          </p:spPr>
        </p:cxnSp>
        <p:cxnSp>
          <p:nvCxnSpPr>
            <p:cNvPr id="9226" name="AutoShape 15"/>
            <p:cNvCxnSpPr>
              <a:stCxn id="9235" idx="4"/>
              <a:endCxn id="9234" idx="0"/>
            </p:cNvCxnSpPr>
            <p:nvPr/>
          </p:nvCxnSpPr>
          <p:spPr>
            <a:xfrm rot="5400000">
              <a:off x="2771446" y="5137530"/>
              <a:ext cx="1220125" cy="1588"/>
            </a:xfrm>
            <a:prstGeom prst="straightConnector1">
              <a:avLst/>
            </a:prstGeom>
            <a:ln w="9525" cap="flat" cmpd="sng">
              <a:solidFill>
                <a:schemeClr val="tx1"/>
              </a:solidFill>
              <a:prstDash val="solid"/>
              <a:headEnd type="triangle" w="lg" len="lg"/>
              <a:tailEnd type="none" w="lg" len="lg"/>
            </a:ln>
          </p:spPr>
        </p:cxnSp>
        <p:cxnSp>
          <p:nvCxnSpPr>
            <p:cNvPr id="9227" name="AutoShape 17"/>
            <p:cNvCxnSpPr>
              <a:stCxn id="9235" idx="3"/>
              <a:endCxn id="9233" idx="7"/>
            </p:cNvCxnSpPr>
            <p:nvPr/>
          </p:nvCxnSpPr>
          <p:spPr>
            <a:xfrm rot="5400000">
              <a:off x="1914200" y="4337876"/>
              <a:ext cx="1254533" cy="1599310"/>
            </a:xfrm>
            <a:prstGeom prst="straightConnector1">
              <a:avLst/>
            </a:prstGeom>
            <a:ln w="9525" cap="flat" cmpd="sng">
              <a:solidFill>
                <a:schemeClr val="tx1"/>
              </a:solidFill>
              <a:prstDash val="solid"/>
              <a:headEnd type="triangle" w="lg" len="lg"/>
              <a:tailEnd type="none" w="med" len="med"/>
            </a:ln>
          </p:spPr>
        </p:cxnSp>
        <p:cxnSp>
          <p:nvCxnSpPr>
            <p:cNvPr id="9228" name="AutoShape 18"/>
            <p:cNvCxnSpPr>
              <a:endCxn id="9234" idx="2"/>
            </p:cNvCxnSpPr>
            <p:nvPr/>
          </p:nvCxnSpPr>
          <p:spPr>
            <a:xfrm flipV="1">
              <a:off x="1708155" y="5804498"/>
              <a:ext cx="1615465" cy="6616"/>
            </a:xfrm>
            <a:prstGeom prst="straightConnector1">
              <a:avLst/>
            </a:prstGeom>
            <a:ln w="9525" cap="flat" cmpd="sng">
              <a:solidFill>
                <a:schemeClr val="tx1"/>
              </a:solidFill>
              <a:prstDash val="solid"/>
              <a:headEnd type="none" w="med" len="med"/>
              <a:tailEnd type="triangle" w="lg" len="lg"/>
            </a:ln>
          </p:spPr>
        </p:cxnSp>
        <p:sp>
          <p:nvSpPr>
            <p:cNvPr id="9229" name="Text Box 31"/>
            <p:cNvSpPr txBox="1"/>
            <p:nvPr/>
          </p:nvSpPr>
          <p:spPr>
            <a:xfrm>
              <a:off x="1066800" y="5791200"/>
              <a:ext cx="1367682"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Deborah</a:t>
              </a:r>
              <a:endParaRPr lang="en-US" altLang="zh-TW" sz="2400" dirty="0"/>
            </a:p>
          </p:txBody>
        </p:sp>
        <p:sp>
          <p:nvSpPr>
            <p:cNvPr id="9230" name="Text Box 32"/>
            <p:cNvSpPr txBox="1"/>
            <p:nvPr/>
          </p:nvSpPr>
          <p:spPr>
            <a:xfrm>
              <a:off x="3116302" y="5868019"/>
              <a:ext cx="817853"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Fred</a:t>
              </a:r>
              <a:endParaRPr lang="en-US" altLang="zh-TW" sz="2400" dirty="0"/>
            </a:p>
          </p:txBody>
        </p:sp>
        <p:sp>
          <p:nvSpPr>
            <p:cNvPr id="9231" name="Text Box 33"/>
            <p:cNvSpPr txBox="1"/>
            <p:nvPr/>
          </p:nvSpPr>
          <p:spPr>
            <a:xfrm>
              <a:off x="4667148" y="5868019"/>
              <a:ext cx="1212833"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Yvonne</a:t>
              </a:r>
              <a:endParaRPr lang="en-US" altLang="zh-TW" sz="2400" dirty="0"/>
            </a:p>
          </p:txBody>
        </p:sp>
        <p:sp>
          <p:nvSpPr>
            <p:cNvPr id="9232" name="Oval 4"/>
            <p:cNvSpPr/>
            <p:nvPr/>
          </p:nvSpPr>
          <p:spPr>
            <a:xfrm>
              <a:off x="1578918" y="4413661"/>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9233" name="Oval 4"/>
            <p:cNvSpPr/>
            <p:nvPr/>
          </p:nvSpPr>
          <p:spPr>
            <a:xfrm>
              <a:off x="1643537" y="5747594"/>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9234" name="Oval 4"/>
            <p:cNvSpPr/>
            <p:nvPr/>
          </p:nvSpPr>
          <p:spPr>
            <a:xfrm>
              <a:off x="3323620" y="5747594"/>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9235" name="Oval 4"/>
            <p:cNvSpPr/>
            <p:nvPr/>
          </p:nvSpPr>
          <p:spPr>
            <a:xfrm>
              <a:off x="3323620" y="4413661"/>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9236" name="Oval 4"/>
            <p:cNvSpPr/>
            <p:nvPr/>
          </p:nvSpPr>
          <p:spPr>
            <a:xfrm>
              <a:off x="4990241" y="5740978"/>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9237" name="AutoShape 18"/>
            <p:cNvCxnSpPr>
              <a:endCxn id="9236" idx="2"/>
            </p:cNvCxnSpPr>
            <p:nvPr/>
          </p:nvCxnSpPr>
          <p:spPr>
            <a:xfrm flipV="1">
              <a:off x="3439395" y="5797882"/>
              <a:ext cx="1550846" cy="13233"/>
            </a:xfrm>
            <a:prstGeom prst="straightConnector1">
              <a:avLst/>
            </a:prstGeom>
            <a:ln w="9525" cap="flat" cmpd="sng">
              <a:solidFill>
                <a:schemeClr val="tx1"/>
              </a:solidFill>
              <a:prstDash val="solid"/>
              <a:headEnd type="triangle" w="lg" len="lg"/>
              <a:tailEnd type="none" w="med" len="med"/>
            </a:ln>
          </p:spPr>
        </p:cxnSp>
        <p:sp>
          <p:nvSpPr>
            <p:cNvPr id="36" name="弧形 35"/>
            <p:cNvSpPr/>
            <p:nvPr/>
          </p:nvSpPr>
          <p:spPr>
            <a:xfrm rot="1071849">
              <a:off x="1201725" y="4453015"/>
              <a:ext cx="3930275" cy="1489269"/>
            </a:xfrm>
            <a:prstGeom prst="arc">
              <a:avLst>
                <a:gd name="adj1" fmla="val 16200000"/>
                <a:gd name="adj2" fmla="val 21561513"/>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1" name="弧形 40"/>
            <p:cNvSpPr/>
            <p:nvPr/>
          </p:nvSpPr>
          <p:spPr>
            <a:xfrm rot="12422829">
              <a:off x="3249405" y="5003948"/>
              <a:ext cx="4079485" cy="863712"/>
            </a:xfrm>
            <a:prstGeom prst="arc">
              <a:avLst>
                <a:gd name="adj1" fmla="val 16200000"/>
                <a:gd name="adj2" fmla="val 21561513"/>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9221" name="投影片編號版面配置區 2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28600" y="609600"/>
            <a:ext cx="8686800" cy="3378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8000"/>
                </a:solidFill>
              </a:rPr>
              <a:t>Example 9.</a:t>
            </a:r>
            <a:r>
              <a:rPr lang="en-US" altLang="zh-TW" sz="2400" dirty="0"/>
              <a:t> (Precedence graphs and concurrent processing)</a:t>
            </a:r>
            <a:endParaRPr lang="en-US" altLang="zh-TW" sz="2400" dirty="0"/>
          </a:p>
          <a:p>
            <a:pPr marL="0" lvl="0" indent="0" eaLnBrk="1" hangingPunct="1">
              <a:spcBef>
                <a:spcPct val="0"/>
              </a:spcBef>
              <a:buClrTx/>
              <a:buSzPct val="100000"/>
              <a:buNone/>
            </a:pPr>
            <a:r>
              <a:rPr lang="en-US" altLang="zh-TW" sz="2400" dirty="0"/>
              <a:t>    Computer programs can be executed more rapidly by executing certain statements concurrently. It is important not to execute a statement that requires results of statements not yet executed. </a:t>
            </a:r>
            <a:endParaRPr lang="en-US" altLang="zh-TW" sz="2400" dirty="0"/>
          </a:p>
          <a:p>
            <a:pPr marL="0" lvl="0" indent="0" eaLnBrk="1" hangingPunct="1">
              <a:spcBef>
                <a:spcPct val="0"/>
              </a:spcBef>
              <a:buClrTx/>
              <a:buSzPct val="100000"/>
              <a:buNone/>
            </a:pPr>
            <a:r>
              <a:rPr lang="en-US" altLang="zh-TW" sz="2400" u="sng" dirty="0"/>
              <a:t>Simple digraph</a:t>
            </a:r>
            <a:r>
              <a:rPr lang="en-US" altLang="zh-TW" sz="2400" dirty="0"/>
              <a:t> </a:t>
            </a:r>
            <a:r>
              <a:rPr lang="en-US" altLang="zh-TW" sz="2400" dirty="0">
                <a:sym typeface="Symbol" panose="05050102010706020507" pitchFamily="18" charset="2"/>
              </a:rPr>
              <a:t> Each statement is represented by a vertex, </a:t>
            </a:r>
            <a:br>
              <a:rPr lang="en-US" altLang="zh-TW" sz="2400" dirty="0">
                <a:sym typeface="Symbol" panose="05050102010706020507" pitchFamily="18" charset="2"/>
              </a:rPr>
            </a:br>
            <a:r>
              <a:rPr lang="en-US" altLang="zh-TW" sz="2400" dirty="0">
                <a:sym typeface="Symbol" panose="05050102010706020507" pitchFamily="18" charset="2"/>
              </a:rPr>
              <a:t>and there is an edge from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400" dirty="0">
                <a:sym typeface="Symbol" panose="05050102010706020507" pitchFamily="18" charset="2"/>
              </a:rPr>
              <a:t> to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b</a:t>
            </a:r>
            <a:r>
              <a:rPr lang="en-US" altLang="zh-TW" sz="2400" dirty="0">
                <a:sym typeface="Symbol" panose="05050102010706020507" pitchFamily="18" charset="2"/>
              </a:rPr>
              <a:t> </a:t>
            </a:r>
            <a:br>
              <a:rPr lang="en-US" altLang="zh-TW" sz="2400" dirty="0">
                <a:sym typeface="Symbol" panose="05050102010706020507" pitchFamily="18" charset="2"/>
              </a:rPr>
            </a:br>
            <a:r>
              <a:rPr lang="en-US" altLang="zh-TW" sz="2400" dirty="0">
                <a:sym typeface="Symbol" panose="05050102010706020507" pitchFamily="18" charset="2"/>
              </a:rPr>
              <a:t>if the statement of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b</a:t>
            </a:r>
            <a:r>
              <a:rPr lang="en-US" altLang="zh-TW" sz="2400" dirty="0">
                <a:sym typeface="Symbol" panose="05050102010706020507" pitchFamily="18" charset="2"/>
              </a:rPr>
              <a:t> cannot be </a:t>
            </a:r>
            <a:br>
              <a:rPr lang="en-US" altLang="zh-TW" sz="2400" dirty="0">
                <a:sym typeface="Symbol" panose="05050102010706020507" pitchFamily="18" charset="2"/>
              </a:rPr>
            </a:br>
            <a:r>
              <a:rPr lang="en-US" altLang="zh-TW" sz="2400" dirty="0">
                <a:sym typeface="Symbol" panose="05050102010706020507" pitchFamily="18" charset="2"/>
              </a:rPr>
              <a:t>executed before the statement of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400" dirty="0">
                <a:sym typeface="Symbol" panose="05050102010706020507" pitchFamily="18" charset="2"/>
              </a:rPr>
              <a:t>. </a:t>
            </a:r>
            <a:endParaRPr lang="en-US" altLang="zh-TW" sz="2400" dirty="0"/>
          </a:p>
        </p:txBody>
      </p:sp>
      <p:sp>
        <p:nvSpPr>
          <p:cNvPr id="31" name="矩形 30"/>
          <p:cNvSpPr/>
          <p:nvPr/>
        </p:nvSpPr>
        <p:spPr>
          <a:xfrm>
            <a:off x="3581400" y="3962400"/>
            <a:ext cx="6048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eg</a:t>
            </a:r>
            <a:endParaRPr lang="zh-TW" altLang="en-US" sz="2800" dirty="0"/>
          </a:p>
        </p:txBody>
      </p:sp>
      <p:grpSp>
        <p:nvGrpSpPr>
          <p:cNvPr id="2" name="群組 75"/>
          <p:cNvGrpSpPr/>
          <p:nvPr/>
        </p:nvGrpSpPr>
        <p:grpSpPr>
          <a:xfrm>
            <a:off x="5605463" y="3352800"/>
            <a:ext cx="2681287" cy="4802188"/>
            <a:chOff x="5605199" y="3352800"/>
            <a:chExt cx="2681372" cy="4802242"/>
          </a:xfrm>
        </p:grpSpPr>
        <p:sp>
          <p:nvSpPr>
            <p:cNvPr id="36" name="弧形 35"/>
            <p:cNvSpPr/>
            <p:nvPr/>
          </p:nvSpPr>
          <p:spPr>
            <a:xfrm rot="3082846">
              <a:off x="5366304" y="3752035"/>
              <a:ext cx="3032159" cy="2554368"/>
            </a:xfrm>
            <a:prstGeom prst="arc">
              <a:avLst>
                <a:gd name="adj1" fmla="val 16200000"/>
                <a:gd name="adj2" fmla="val 21561513"/>
              </a:avLst>
            </a:prstGeom>
            <a:ln w="2540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cxnSp>
          <p:nvCxnSpPr>
            <p:cNvPr id="10248" name="AutoShape 13"/>
            <p:cNvCxnSpPr>
              <a:endCxn id="10261" idx="1"/>
            </p:cNvCxnSpPr>
            <p:nvPr/>
          </p:nvCxnSpPr>
          <p:spPr>
            <a:xfrm rot="-5400000" flipH="1">
              <a:off x="6210444" y="4533755"/>
              <a:ext cx="2074067" cy="1083755"/>
            </a:xfrm>
            <a:prstGeom prst="straightConnector1">
              <a:avLst/>
            </a:prstGeom>
            <a:ln w="9525" cap="flat" cmpd="sng">
              <a:solidFill>
                <a:schemeClr val="tx1"/>
              </a:solidFill>
              <a:prstDash val="solid"/>
              <a:headEnd type="triangle" w="lg" len="lg"/>
              <a:tailEnd type="none" w="lg" len="lg"/>
            </a:ln>
          </p:spPr>
        </p:cxnSp>
        <p:cxnSp>
          <p:nvCxnSpPr>
            <p:cNvPr id="10249" name="AutoShape 14"/>
            <p:cNvCxnSpPr>
              <a:stCxn id="10255" idx="4"/>
              <a:endCxn id="10258" idx="0"/>
            </p:cNvCxnSpPr>
            <p:nvPr/>
          </p:nvCxnSpPr>
          <p:spPr>
            <a:xfrm rot="5400000">
              <a:off x="6096492" y="5581404"/>
              <a:ext cx="1029192" cy="1588"/>
            </a:xfrm>
            <a:prstGeom prst="straightConnector1">
              <a:avLst/>
            </a:prstGeom>
            <a:ln w="9525" cap="flat" cmpd="sng">
              <a:solidFill>
                <a:schemeClr val="tx1"/>
              </a:solidFill>
              <a:prstDash val="solid"/>
              <a:headEnd type="triangle" w="lg" len="lg"/>
              <a:tailEnd type="none" w="med" len="med"/>
            </a:ln>
          </p:spPr>
        </p:cxnSp>
        <p:cxnSp>
          <p:nvCxnSpPr>
            <p:cNvPr id="10250" name="AutoShape 15"/>
            <p:cNvCxnSpPr>
              <a:stCxn id="10256" idx="4"/>
            </p:cNvCxnSpPr>
            <p:nvPr/>
          </p:nvCxnSpPr>
          <p:spPr>
            <a:xfrm rot="-5400000" flipH="1">
              <a:off x="7361691" y="5687803"/>
              <a:ext cx="954710" cy="17519"/>
            </a:xfrm>
            <a:prstGeom prst="straightConnector1">
              <a:avLst/>
            </a:prstGeom>
            <a:ln w="9525" cap="flat" cmpd="sng">
              <a:solidFill>
                <a:schemeClr val="tx1"/>
              </a:solidFill>
              <a:prstDash val="solid"/>
              <a:headEnd type="triangle" w="lg" len="lg"/>
              <a:tailEnd type="none" w="lg" len="lg"/>
            </a:ln>
          </p:spPr>
        </p:cxnSp>
        <p:cxnSp>
          <p:nvCxnSpPr>
            <p:cNvPr id="10251" name="AutoShape 17"/>
            <p:cNvCxnSpPr>
              <a:stCxn id="10257" idx="3"/>
              <a:endCxn id="10258" idx="7"/>
            </p:cNvCxnSpPr>
            <p:nvPr/>
          </p:nvCxnSpPr>
          <p:spPr>
            <a:xfrm rot="5400000">
              <a:off x="6270324" y="4593637"/>
              <a:ext cx="1900726" cy="1137335"/>
            </a:xfrm>
            <a:prstGeom prst="straightConnector1">
              <a:avLst/>
            </a:prstGeom>
            <a:ln w="9525" cap="flat" cmpd="sng">
              <a:solidFill>
                <a:schemeClr val="tx1"/>
              </a:solidFill>
              <a:prstDash val="solid"/>
              <a:headEnd type="triangle" w="lg" len="lg"/>
              <a:tailEnd type="none" w="med" len="med"/>
            </a:ln>
          </p:spPr>
        </p:cxnSp>
        <p:cxnSp>
          <p:nvCxnSpPr>
            <p:cNvPr id="10252" name="AutoShape 18"/>
            <p:cNvCxnSpPr>
              <a:stCxn id="10258" idx="7"/>
              <a:endCxn id="10256" idx="3"/>
            </p:cNvCxnSpPr>
            <p:nvPr/>
          </p:nvCxnSpPr>
          <p:spPr>
            <a:xfrm rot="5400000" flipH="1" flipV="1">
              <a:off x="6765623" y="5088937"/>
              <a:ext cx="910126" cy="1137335"/>
            </a:xfrm>
            <a:prstGeom prst="straightConnector1">
              <a:avLst/>
            </a:prstGeom>
            <a:ln w="9525" cap="flat" cmpd="sng">
              <a:solidFill>
                <a:schemeClr val="tx1"/>
              </a:solidFill>
              <a:prstDash val="solid"/>
              <a:headEnd type="none" w="med" len="med"/>
              <a:tailEnd type="triangle" w="lg" len="lg"/>
            </a:ln>
          </p:spPr>
        </p:cxnSp>
        <p:sp>
          <p:nvSpPr>
            <p:cNvPr id="10253" name="Text Box 33"/>
            <p:cNvSpPr txBox="1"/>
            <p:nvPr/>
          </p:nvSpPr>
          <p:spPr>
            <a:xfrm>
              <a:off x="6400562" y="6172232"/>
              <a:ext cx="438163" cy="4572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10254" name="Oval 4"/>
            <p:cNvSpPr/>
            <p:nvPr/>
          </p:nvSpPr>
          <p:spPr>
            <a:xfrm>
              <a:off x="6553200" y="3810000"/>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0255" name="Oval 4"/>
            <p:cNvSpPr/>
            <p:nvPr/>
          </p:nvSpPr>
          <p:spPr>
            <a:xfrm>
              <a:off x="6553200" y="4953000"/>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0256" name="Oval 4"/>
            <p:cNvSpPr/>
            <p:nvPr/>
          </p:nvSpPr>
          <p:spPr>
            <a:xfrm>
              <a:off x="7772400" y="5105400"/>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0257" name="Oval 4"/>
            <p:cNvSpPr/>
            <p:nvPr/>
          </p:nvSpPr>
          <p:spPr>
            <a:xfrm>
              <a:off x="7772400" y="4114800"/>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0258" name="Oval 4"/>
            <p:cNvSpPr/>
            <p:nvPr/>
          </p:nvSpPr>
          <p:spPr>
            <a:xfrm>
              <a:off x="6553200" y="6096000"/>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1" name="弧形 40"/>
            <p:cNvSpPr/>
            <p:nvPr/>
          </p:nvSpPr>
          <p:spPr>
            <a:xfrm rot="15381987">
              <a:off x="5012293" y="5453869"/>
              <a:ext cx="4272011" cy="1130336"/>
            </a:xfrm>
            <a:prstGeom prst="arc">
              <a:avLst>
                <a:gd name="adj1" fmla="val 16200000"/>
                <a:gd name="adj2" fmla="val 21509336"/>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0260" name="Text Box 33"/>
            <p:cNvSpPr txBox="1"/>
            <p:nvPr/>
          </p:nvSpPr>
          <p:spPr>
            <a:xfrm>
              <a:off x="7619800" y="6172232"/>
              <a:ext cx="438164" cy="4572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10261" name="Oval 4"/>
            <p:cNvSpPr/>
            <p:nvPr/>
          </p:nvSpPr>
          <p:spPr>
            <a:xfrm>
              <a:off x="7772400" y="6096000"/>
              <a:ext cx="115775" cy="113808"/>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10262" name="AutoShape 14"/>
            <p:cNvCxnSpPr/>
            <p:nvPr/>
          </p:nvCxnSpPr>
          <p:spPr>
            <a:xfrm rot="5400000">
              <a:off x="6115598" y="4476202"/>
              <a:ext cx="1029192" cy="1588"/>
            </a:xfrm>
            <a:prstGeom prst="straightConnector1">
              <a:avLst/>
            </a:prstGeom>
            <a:ln w="9525" cap="flat" cmpd="sng">
              <a:solidFill>
                <a:schemeClr val="tx1"/>
              </a:solidFill>
              <a:prstDash val="solid"/>
              <a:headEnd type="triangle" w="lg" len="lg"/>
              <a:tailEnd type="none" w="med" len="med"/>
            </a:ln>
          </p:spPr>
        </p:cxnSp>
        <p:cxnSp>
          <p:nvCxnSpPr>
            <p:cNvPr id="10263" name="AutoShape 14"/>
            <p:cNvCxnSpPr>
              <a:stCxn id="10254" idx="5"/>
              <a:endCxn id="10256" idx="1"/>
            </p:cNvCxnSpPr>
            <p:nvPr/>
          </p:nvCxnSpPr>
          <p:spPr>
            <a:xfrm rot="-5400000" flipH="1">
              <a:off x="6613223" y="3945936"/>
              <a:ext cx="1214926" cy="1137335"/>
            </a:xfrm>
            <a:prstGeom prst="straightConnector1">
              <a:avLst/>
            </a:prstGeom>
            <a:ln w="9525" cap="flat" cmpd="sng">
              <a:solidFill>
                <a:schemeClr val="tx1"/>
              </a:solidFill>
              <a:prstDash val="solid"/>
              <a:headEnd type="triangle" w="lg" len="lg"/>
              <a:tailEnd type="none" w="med" len="med"/>
            </a:ln>
          </p:spPr>
        </p:cxnSp>
        <p:cxnSp>
          <p:nvCxnSpPr>
            <p:cNvPr id="10264" name="AutoShape 15"/>
            <p:cNvCxnSpPr/>
            <p:nvPr/>
          </p:nvCxnSpPr>
          <p:spPr>
            <a:xfrm rot="5400000">
              <a:off x="7439972" y="4675829"/>
              <a:ext cx="817257" cy="1588"/>
            </a:xfrm>
            <a:prstGeom prst="straightConnector1">
              <a:avLst/>
            </a:prstGeom>
            <a:ln w="9525" cap="flat" cmpd="sng">
              <a:solidFill>
                <a:schemeClr val="tx1"/>
              </a:solidFill>
              <a:prstDash val="solid"/>
              <a:headEnd type="triangle" w="lg" len="lg"/>
              <a:tailEnd type="none" w="lg" len="lg"/>
            </a:ln>
          </p:spPr>
        </p:cxnSp>
        <p:sp>
          <p:nvSpPr>
            <p:cNvPr id="10265" name="Text Box 33"/>
            <p:cNvSpPr txBox="1"/>
            <p:nvPr/>
          </p:nvSpPr>
          <p:spPr>
            <a:xfrm>
              <a:off x="7848407" y="4953018"/>
              <a:ext cx="438164" cy="4572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10266" name="Text Box 33"/>
            <p:cNvSpPr txBox="1"/>
            <p:nvPr/>
          </p:nvSpPr>
          <p:spPr>
            <a:xfrm>
              <a:off x="7619800" y="3657603"/>
              <a:ext cx="438164" cy="45720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10267" name="Text Box 33"/>
            <p:cNvSpPr txBox="1"/>
            <p:nvPr/>
          </p:nvSpPr>
          <p:spPr>
            <a:xfrm>
              <a:off x="6629169" y="4724416"/>
              <a:ext cx="438164" cy="4572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10268" name="Text Box 33"/>
            <p:cNvSpPr txBox="1"/>
            <p:nvPr/>
          </p:nvSpPr>
          <p:spPr>
            <a:xfrm>
              <a:off x="6400562" y="3352800"/>
              <a:ext cx="438163" cy="4572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grpSp>
      <p:sp>
        <p:nvSpPr>
          <p:cNvPr id="74" name="矩形 73"/>
          <p:cNvSpPr/>
          <p:nvPr/>
        </p:nvSpPr>
        <p:spPr>
          <a:xfrm>
            <a:off x="4419600" y="4114800"/>
            <a:ext cx="1676400" cy="22828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:=0</a:t>
            </a:r>
            <a:br>
              <a:rPr lang="en-US" altLang="zh-TW" sz="2400" dirty="0">
                <a:latin typeface="Times New Roman" panose="02020603050405020304" pitchFamily="18" charset="0"/>
                <a:cs typeface="Times New Roman" panose="02020603050405020304" pitchFamily="18" charset="0"/>
              </a:rPr>
            </a:b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:=1</a:t>
            </a:r>
            <a:br>
              <a:rPr lang="en-US" altLang="zh-TW" sz="2400" dirty="0">
                <a:latin typeface="Times New Roman" panose="02020603050405020304" pitchFamily="18" charset="0"/>
                <a:cs typeface="Times New Roman" panose="02020603050405020304" pitchFamily="18" charset="0"/>
              </a:rPr>
            </a:b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+1</a:t>
            </a:r>
            <a:endParaRPr lang="en-US" altLang="zh-TW" sz="24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4</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5</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+1</a:t>
            </a:r>
            <a:br>
              <a:rPr lang="en-US" altLang="zh-TW" sz="2400" dirty="0">
                <a:latin typeface="Times New Roman" panose="02020603050405020304" pitchFamily="18" charset="0"/>
                <a:cs typeface="Times New Roman" panose="02020603050405020304" pitchFamily="18" charset="0"/>
              </a:rPr>
            </a:br>
            <a:r>
              <a:rPr lang="en-US" altLang="zh-TW" sz="2400" i="1" dirty="0">
                <a:latin typeface="Times New Roman" panose="02020603050405020304" pitchFamily="18" charset="0"/>
                <a:cs typeface="Times New Roman" panose="02020603050405020304" pitchFamily="18" charset="0"/>
              </a:rPr>
              <a:t>S</a:t>
            </a:r>
            <a:r>
              <a:rPr lang="en-US" altLang="zh-TW" sz="2400" baseline="-25000" dirty="0">
                <a:latin typeface="Times New Roman" panose="02020603050405020304" pitchFamily="18" charset="0"/>
                <a:cs typeface="Times New Roman" panose="02020603050405020304" pitchFamily="18" charset="0"/>
              </a:rPr>
              <a:t>6</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10246" name="投影片編號版面配置區 28"/>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charRg st="252" end="417"/>
                                            </p:txEl>
                                          </p:spTgt>
                                        </p:tgtEl>
                                        <p:attrNameLst>
                                          <p:attrName>style.visibility</p:attrName>
                                        </p:attrNameLst>
                                      </p:cBhvr>
                                      <p:to>
                                        <p:strVal val="visible"/>
                                      </p:to>
                                    </p:set>
                                    <p:anim calcmode="lin" valueType="num">
                                      <p:cBhvr additive="base">
                                        <p:cTn id="7" dur="500" fill="hold"/>
                                        <p:tgtEl>
                                          <p:spTgt spid="6">
                                            <p:txEl>
                                              <p:charRg st="252" end="41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charRg st="252" end="41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500" fill="hold"/>
                                        <p:tgtEl>
                                          <p:spTgt spid="31"/>
                                        </p:tgtEl>
                                        <p:attrNameLst>
                                          <p:attrName>ppt_x</p:attrName>
                                        </p:attrNameLst>
                                      </p:cBhvr>
                                      <p:tavLst>
                                        <p:tav tm="0">
                                          <p:val>
                                            <p:strVal val="#ppt_x"/>
                                          </p:val>
                                        </p:tav>
                                        <p:tav tm="100000">
                                          <p:val>
                                            <p:strVal val="#ppt_x"/>
                                          </p:val>
                                        </p:tav>
                                      </p:tavLst>
                                    </p:anim>
                                    <p:anim calcmode="lin" valueType="num">
                                      <p:cBhvr additive="base">
                                        <p:cTn id="14" dur="500" fill="hold"/>
                                        <p:tgtEl>
                                          <p:spTgt spid="3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additive="base">
                                        <p:cTn id="17" dur="500" fill="hold"/>
                                        <p:tgtEl>
                                          <p:spTgt spid="74"/>
                                        </p:tgtEl>
                                        <p:attrNameLst>
                                          <p:attrName>ppt_x</p:attrName>
                                        </p:attrNameLst>
                                      </p:cBhvr>
                                      <p:tavLst>
                                        <p:tav tm="0">
                                          <p:val>
                                            <p:strVal val="#ppt_x"/>
                                          </p:val>
                                        </p:tav>
                                        <p:tav tm="100000">
                                          <p:val>
                                            <p:strVal val="#ppt_x"/>
                                          </p:val>
                                        </p:tav>
                                      </p:tavLst>
                                    </p:anim>
                                    <p:anim calcmode="lin" valueType="num">
                                      <p:cBhvr additive="base">
                                        <p:cTn id="18" dur="500" fill="hold"/>
                                        <p:tgtEl>
                                          <p:spTgt spid="7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7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5"/>
          <p:cNvSpPr txBox="1"/>
          <p:nvPr/>
        </p:nvSpPr>
        <p:spPr>
          <a:xfrm>
            <a:off x="228600" y="609600"/>
            <a:ext cx="8686800" cy="3508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Ex 13.</a:t>
            </a:r>
            <a:r>
              <a:rPr lang="en-US" altLang="zh-TW" sz="2800" dirty="0"/>
              <a:t> The </a:t>
            </a:r>
            <a:r>
              <a:rPr lang="en-US" altLang="zh-TW" sz="2800" dirty="0">
                <a:solidFill>
                  <a:srgbClr val="0000CC"/>
                </a:solidFill>
              </a:rPr>
              <a:t>intersection graph </a:t>
            </a:r>
            <a:r>
              <a:rPr lang="en-US" altLang="zh-TW" sz="2800" dirty="0"/>
              <a:t>of a collection of sets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8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800" dirty="0"/>
              <a:t>,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8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800" dirty="0"/>
              <a:t>, …,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8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800" dirty="0"/>
              <a:t> is the graph that has a vertex for each of these sets and has an edge connecting the vertices representing two sets if these sets have a nonempty intersection. Construct the intersection graph of the following collection of sets.</a:t>
            </a:r>
            <a:br>
              <a:rPr lang="en-US" altLang="zh-TW" sz="2800" dirty="0"/>
            </a:br>
            <a:r>
              <a:rPr lang="en-US" altLang="zh-TW" sz="2800" dirty="0"/>
              <a:t>(a)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8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800" dirty="0">
                <a:latin typeface="Times New Roman" panose="02020603050405020304" pitchFamily="18" charset="0"/>
                <a:cs typeface="Times New Roman" panose="02020603050405020304" pitchFamily="18" charset="0"/>
              </a:rPr>
              <a:t> = {0, 2, 4, 6, 8}</a:t>
            </a:r>
            <a:r>
              <a:rPr lang="en-US" altLang="zh-TW" sz="2800" dirty="0"/>
              <a:t>,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8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800" dirty="0"/>
              <a:t> </a:t>
            </a:r>
            <a:r>
              <a:rPr lang="en-US" altLang="zh-TW" sz="2800" dirty="0">
                <a:latin typeface="Times New Roman" panose="02020603050405020304" pitchFamily="18" charset="0"/>
                <a:cs typeface="Times New Roman" panose="02020603050405020304" pitchFamily="18" charset="0"/>
              </a:rPr>
              <a:t>= {0, 1, 2, 3, 4},</a:t>
            </a:r>
            <a:br>
              <a:rPr lang="en-US" altLang="zh-TW" sz="2800" dirty="0"/>
            </a:br>
            <a:r>
              <a:rPr lang="en-US" altLang="zh-TW" sz="2800" dirty="0"/>
              <a:t>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800" baseline="-25000" dirty="0">
                <a:latin typeface="Times New Roman" panose="02020603050405020304" pitchFamily="18" charset="0"/>
                <a:cs typeface="Times New Roman" panose="02020603050405020304" pitchFamily="18" charset="0"/>
                <a:sym typeface="Symbol" panose="05050102010706020507" pitchFamily="18" charset="2"/>
              </a:rPr>
              <a:t>3</a:t>
            </a:r>
            <a:r>
              <a:rPr lang="en-US" altLang="zh-TW" sz="2800" dirty="0"/>
              <a:t> </a:t>
            </a:r>
            <a:r>
              <a:rPr lang="en-US" altLang="zh-TW" sz="2800" dirty="0">
                <a:latin typeface="Times New Roman" panose="02020603050405020304" pitchFamily="18" charset="0"/>
                <a:cs typeface="Times New Roman" panose="02020603050405020304" pitchFamily="18" charset="0"/>
              </a:rPr>
              <a:t>= {1, 3, 5, 7, 9},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800" baseline="-25000" dirty="0">
                <a:latin typeface="Times New Roman" panose="02020603050405020304" pitchFamily="18" charset="0"/>
                <a:cs typeface="Times New Roman" panose="02020603050405020304" pitchFamily="18" charset="0"/>
                <a:sym typeface="Symbol" panose="05050102010706020507" pitchFamily="18" charset="2"/>
              </a:rPr>
              <a:t>4</a:t>
            </a:r>
            <a:r>
              <a:rPr lang="en-US" altLang="zh-TW" sz="2800" dirty="0"/>
              <a:t> </a:t>
            </a:r>
            <a:r>
              <a:rPr lang="en-US" altLang="zh-TW" sz="2800" dirty="0">
                <a:latin typeface="Times New Roman" panose="02020603050405020304" pitchFamily="18" charset="0"/>
                <a:cs typeface="Times New Roman" panose="02020603050405020304" pitchFamily="18" charset="0"/>
              </a:rPr>
              <a:t>= {5, 6, 7, 8, 9},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TW" sz="2800" baseline="-25000" dirty="0">
                <a:latin typeface="Times New Roman" panose="02020603050405020304" pitchFamily="18" charset="0"/>
                <a:cs typeface="Times New Roman" panose="02020603050405020304" pitchFamily="18" charset="0"/>
                <a:sym typeface="Symbol" panose="05050102010706020507" pitchFamily="18" charset="2"/>
              </a:rPr>
              <a:t>5</a:t>
            </a:r>
            <a:r>
              <a:rPr lang="en-US" altLang="zh-TW" sz="2800" dirty="0"/>
              <a:t> </a:t>
            </a:r>
            <a:r>
              <a:rPr lang="en-US" altLang="zh-TW" sz="2800" dirty="0">
                <a:latin typeface="Times New Roman" panose="02020603050405020304" pitchFamily="18" charset="0"/>
                <a:cs typeface="Times New Roman" panose="02020603050405020304" pitchFamily="18" charset="0"/>
              </a:rPr>
              <a:t>= {0, 1, 8, 9}.</a:t>
            </a:r>
            <a:endParaRPr lang="en-US" altLang="zh-TW" sz="2800" dirty="0">
              <a:latin typeface="Times New Roman" panose="02020603050405020304" pitchFamily="18" charset="0"/>
              <a:ea typeface="Times New Roman" panose="02020603050405020304" pitchFamily="18" charset="0"/>
            </a:endParaRPr>
          </a:p>
        </p:txBody>
      </p:sp>
      <p:sp>
        <p:nvSpPr>
          <p:cNvPr id="11267" name="投影片編號版面配置區 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0" y="457200"/>
            <a:ext cx="8915400" cy="838200"/>
          </a:xfrm>
        </p:spPr>
        <p:txBody>
          <a:bodyPr vert="horz" wrap="square" lIns="91440" tIns="45720" rIns="91440" bIns="45720" anchor="ctr"/>
          <a:p>
            <a:pPr eaLnBrk="1" hangingPunct="1"/>
            <a:r>
              <a:rPr lang="en-US" altLang="zh-TW" sz="3200" dirty="0"/>
              <a:t> §10.2 Graph Terminology and Special Types </a:t>
            </a:r>
            <a:br>
              <a:rPr lang="en-US" altLang="zh-TW" sz="3200" dirty="0"/>
            </a:br>
            <a:r>
              <a:rPr lang="en-US" altLang="zh-TW" sz="3200" dirty="0"/>
              <a:t>        of Graphs</a:t>
            </a:r>
            <a:endParaRPr lang="en-US" altLang="zh-TW" sz="3200" dirty="0"/>
          </a:p>
        </p:txBody>
      </p:sp>
      <p:sp>
        <p:nvSpPr>
          <p:cNvPr id="22531" name="Rectangle 3"/>
          <p:cNvSpPr>
            <a:spLocks noGrp="1"/>
          </p:cNvSpPr>
          <p:nvPr>
            <p:ph idx="1"/>
          </p:nvPr>
        </p:nvSpPr>
        <p:spPr>
          <a:xfrm>
            <a:off x="304800" y="1676400"/>
            <a:ext cx="8686800" cy="1905000"/>
          </a:xfrm>
        </p:spPr>
        <p:txBody>
          <a:bodyPr vert="horz" wrap="square" lIns="91440" tIns="45720" rIns="91440" bIns="45720" anchor="t"/>
          <a:p>
            <a:pPr eaLnBrk="1" hangingPunct="1">
              <a:buNone/>
            </a:pPr>
            <a:r>
              <a:rPr lang="en-US" altLang="zh-TW" sz="2800" dirty="0">
                <a:solidFill>
                  <a:srgbClr val="FF0000"/>
                </a:solidFill>
              </a:rPr>
              <a:t>Def 1.</a:t>
            </a:r>
            <a:r>
              <a:rPr lang="en-US" altLang="zh-TW" sz="2800" dirty="0"/>
              <a:t> </a:t>
            </a:r>
            <a:r>
              <a:rPr lang="en-US" altLang="zh-TW" sz="2800" b="1" i="1" dirty="0">
                <a:latin typeface="Times New Roman" panose="02020603050405020304" pitchFamily="18" charset="0"/>
              </a:rPr>
              <a:t>G</a:t>
            </a:r>
            <a:r>
              <a:rPr lang="en-US" altLang="zh-TW" sz="2800" b="1" dirty="0">
                <a:latin typeface="Times New Roman" panose="02020603050405020304" pitchFamily="18" charset="0"/>
              </a:rPr>
              <a:t>: </a:t>
            </a:r>
            <a:r>
              <a:rPr lang="en-US" altLang="zh-TW" sz="2800" dirty="0"/>
              <a:t>undirected graph </a:t>
            </a:r>
            <a:endParaRPr lang="en-US" altLang="zh-TW" sz="2800" dirty="0"/>
          </a:p>
          <a:p>
            <a:pPr eaLnBrk="1" hangingPunct="1">
              <a:buNone/>
            </a:pPr>
            <a:r>
              <a:rPr lang="en-US" altLang="zh-TW" sz="2800" dirty="0"/>
              <a:t>                         </a:t>
            </a:r>
            <a:r>
              <a:rPr lang="en-US" altLang="zh-TW" sz="2800" i="1" dirty="0">
                <a:latin typeface="Times New Roman" panose="02020603050405020304" pitchFamily="18" charset="0"/>
              </a:rPr>
              <a:t>u</a:t>
            </a:r>
            <a:r>
              <a:rPr lang="en-US" altLang="zh-TW" sz="2800" dirty="0"/>
              <a:t> and </a:t>
            </a:r>
            <a:r>
              <a:rPr lang="en-US" altLang="zh-TW" sz="2800" i="1" dirty="0">
                <a:latin typeface="Times New Roman" panose="02020603050405020304" pitchFamily="18" charset="0"/>
              </a:rPr>
              <a:t>v</a:t>
            </a:r>
            <a:r>
              <a:rPr lang="en-US" altLang="zh-TW" sz="2800" dirty="0"/>
              <a:t> are </a:t>
            </a:r>
            <a:r>
              <a:rPr lang="en-US" altLang="zh-TW" sz="2800" dirty="0">
                <a:solidFill>
                  <a:srgbClr val="0000CC"/>
                </a:solidFill>
              </a:rPr>
              <a:t>adjacent </a:t>
            </a:r>
            <a:r>
              <a:rPr lang="en-US" altLang="zh-TW" sz="2800" dirty="0">
                <a:solidFill>
                  <a:srgbClr val="000000"/>
                </a:solidFill>
              </a:rPr>
              <a:t>(or </a:t>
            </a:r>
            <a:r>
              <a:rPr lang="en-US" altLang="zh-TW" sz="2800" dirty="0">
                <a:solidFill>
                  <a:srgbClr val="0000CC"/>
                </a:solidFill>
              </a:rPr>
              <a:t>neighbors</a:t>
            </a:r>
            <a:r>
              <a:rPr lang="en-US" altLang="zh-TW" sz="2800" dirty="0">
                <a:solidFill>
                  <a:srgbClr val="000000"/>
                </a:solidFill>
              </a:rPr>
              <a:t>)</a:t>
            </a:r>
            <a:endParaRPr lang="en-US" altLang="zh-TW" sz="2800" dirty="0">
              <a:solidFill>
                <a:srgbClr val="000000"/>
              </a:solidFill>
            </a:endParaRPr>
          </a:p>
          <a:p>
            <a:pPr eaLnBrk="1" hangingPunct="1">
              <a:buNone/>
            </a:pPr>
            <a:r>
              <a:rPr lang="en-US" altLang="zh-TW" sz="2800" dirty="0">
                <a:solidFill>
                  <a:srgbClr val="000000"/>
                </a:solidFill>
              </a:rPr>
              <a:t>                         </a:t>
            </a:r>
            <a:r>
              <a:rPr lang="en-US" altLang="zh-TW" sz="2800" i="1" dirty="0">
                <a:latin typeface="Times New Roman" panose="02020603050405020304" pitchFamily="18" charset="0"/>
              </a:rPr>
              <a:t>e</a:t>
            </a:r>
            <a:r>
              <a:rPr lang="en-US" altLang="zh-TW" sz="2800" dirty="0"/>
              <a:t> is </a:t>
            </a:r>
            <a:r>
              <a:rPr lang="en-US" altLang="zh-TW" sz="2800" dirty="0">
                <a:solidFill>
                  <a:srgbClr val="0000CC"/>
                </a:solidFill>
              </a:rPr>
              <a:t>incident </a:t>
            </a:r>
            <a:r>
              <a:rPr lang="en-US" altLang="zh-TW" sz="2800" dirty="0"/>
              <a:t>with </a:t>
            </a:r>
            <a:r>
              <a:rPr lang="en-US" altLang="zh-TW" sz="2800" i="1" dirty="0">
                <a:latin typeface="Times New Roman" panose="02020603050405020304" pitchFamily="18" charset="0"/>
              </a:rPr>
              <a:t>u</a:t>
            </a:r>
            <a:r>
              <a:rPr lang="en-US" altLang="zh-TW" sz="2800" dirty="0"/>
              <a:t> and </a:t>
            </a:r>
            <a:r>
              <a:rPr lang="en-US" altLang="zh-TW" sz="2800" i="1" dirty="0">
                <a:latin typeface="Times New Roman" panose="02020603050405020304" pitchFamily="18" charset="0"/>
              </a:rPr>
              <a:t>v</a:t>
            </a:r>
            <a:endParaRPr lang="en-US" altLang="zh-TW" sz="2800" i="1" dirty="0">
              <a:latin typeface="Times New Roman" panose="02020603050405020304" pitchFamily="18" charset="0"/>
            </a:endParaRPr>
          </a:p>
          <a:p>
            <a:pPr eaLnBrk="1" hangingPunct="1">
              <a:buNone/>
            </a:pPr>
            <a:r>
              <a:rPr lang="en-US" altLang="zh-TW" sz="2800" i="1" dirty="0">
                <a:latin typeface="Times New Roman" panose="02020603050405020304" pitchFamily="18" charset="0"/>
              </a:rPr>
              <a:t>                            u</a:t>
            </a:r>
            <a:r>
              <a:rPr lang="en-US" altLang="zh-TW" sz="2800" dirty="0"/>
              <a:t> and </a:t>
            </a:r>
            <a:r>
              <a:rPr lang="en-US" altLang="zh-TW" sz="2800" i="1" dirty="0">
                <a:latin typeface="Times New Roman" panose="02020603050405020304" pitchFamily="18" charset="0"/>
              </a:rPr>
              <a:t>v </a:t>
            </a:r>
            <a:r>
              <a:rPr lang="en-US" altLang="zh-TW" sz="2800" dirty="0"/>
              <a:t>are </a:t>
            </a:r>
            <a:r>
              <a:rPr lang="en-US" altLang="zh-TW" sz="2800" dirty="0">
                <a:solidFill>
                  <a:srgbClr val="0000CC"/>
                </a:solidFill>
              </a:rPr>
              <a:t>endpoints</a:t>
            </a:r>
            <a:r>
              <a:rPr lang="en-US" altLang="zh-TW" sz="2800" dirty="0"/>
              <a:t> of </a:t>
            </a:r>
            <a:r>
              <a:rPr lang="en-US" altLang="zh-TW" sz="2800" i="1" dirty="0">
                <a:latin typeface="Times New Roman" panose="02020603050405020304" pitchFamily="18" charset="0"/>
              </a:rPr>
              <a:t>e</a:t>
            </a:r>
            <a:endParaRPr lang="en-US" altLang="zh-TW" sz="2800" dirty="0"/>
          </a:p>
          <a:p>
            <a:pPr eaLnBrk="1" hangingPunct="1"/>
            <a:endParaRPr lang="en-US" altLang="zh-TW" sz="2800" dirty="0"/>
          </a:p>
          <a:p>
            <a:pPr eaLnBrk="1" hangingPunct="1">
              <a:buNone/>
            </a:pPr>
            <a:r>
              <a:rPr lang="en-US" altLang="zh-TW" sz="2800" dirty="0">
                <a:solidFill>
                  <a:srgbClr val="FF0000"/>
                </a:solidFill>
              </a:rPr>
              <a:t>Def 2.</a:t>
            </a:r>
            <a:r>
              <a:rPr lang="en-US" altLang="zh-TW" sz="2800" dirty="0"/>
              <a:t> The </a:t>
            </a:r>
            <a:r>
              <a:rPr lang="en-US" altLang="zh-TW" sz="2800" dirty="0">
                <a:solidFill>
                  <a:srgbClr val="0000CC"/>
                </a:solidFill>
              </a:rPr>
              <a:t>degree</a:t>
            </a:r>
            <a:r>
              <a:rPr lang="en-US" altLang="zh-TW" sz="2800" dirty="0"/>
              <a:t> of a vertex </a:t>
            </a:r>
            <a:r>
              <a:rPr lang="en-US" altLang="zh-TW" sz="2800" b="1" i="1" dirty="0">
                <a:latin typeface="Times New Roman" panose="02020603050405020304" pitchFamily="18" charset="0"/>
              </a:rPr>
              <a:t>v</a:t>
            </a:r>
            <a:r>
              <a:rPr lang="en-US" altLang="zh-TW" sz="2800" dirty="0"/>
              <a:t>, denoted by </a:t>
            </a:r>
            <a:r>
              <a:rPr lang="en-US" altLang="zh-TW" sz="2800" dirty="0">
                <a:solidFill>
                  <a:srgbClr val="0000CC"/>
                </a:solidFill>
              </a:rPr>
              <a:t>deg(</a:t>
            </a:r>
            <a:r>
              <a:rPr lang="en-US" altLang="zh-TW" sz="2800" b="1" i="1" dirty="0">
                <a:solidFill>
                  <a:srgbClr val="0000CC"/>
                </a:solidFill>
                <a:latin typeface="Times New Roman" panose="02020603050405020304" pitchFamily="18" charset="0"/>
              </a:rPr>
              <a:t>v</a:t>
            </a:r>
            <a:r>
              <a:rPr lang="en-US" altLang="zh-TW" sz="2800" dirty="0">
                <a:solidFill>
                  <a:srgbClr val="0000CC"/>
                </a:solidFill>
              </a:rPr>
              <a:t>)</a:t>
            </a:r>
            <a:r>
              <a:rPr lang="en-US" altLang="zh-TW" sz="2800" dirty="0"/>
              <a:t>, </a:t>
            </a:r>
            <a:br>
              <a:rPr lang="en-US" altLang="zh-TW" sz="2800" dirty="0"/>
            </a:br>
            <a:r>
              <a:rPr lang="en-US" altLang="zh-TW" sz="2800" dirty="0"/>
              <a:t>        in an undirected graph is the number of edges </a:t>
            </a:r>
            <a:br>
              <a:rPr lang="en-US" altLang="zh-TW" sz="2800" dirty="0"/>
            </a:br>
            <a:r>
              <a:rPr lang="en-US" altLang="zh-TW" sz="2800" dirty="0"/>
              <a:t>        incident with it.</a:t>
            </a:r>
            <a:endParaRPr lang="en-US" altLang="zh-TW" sz="2800" dirty="0"/>
          </a:p>
        </p:txBody>
      </p:sp>
      <p:sp>
        <p:nvSpPr>
          <p:cNvPr id="22534" name="Text Box 6"/>
          <p:cNvSpPr txBox="1"/>
          <p:nvPr/>
        </p:nvSpPr>
        <p:spPr>
          <a:xfrm>
            <a:off x="381000" y="5715000"/>
            <a:ext cx="5945188"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(Note : A </a:t>
            </a:r>
            <a:r>
              <a:rPr lang="en-US" altLang="zh-TW" sz="2800" dirty="0">
                <a:solidFill>
                  <a:srgbClr val="800000"/>
                </a:solidFill>
              </a:rPr>
              <a:t>loop</a:t>
            </a:r>
            <a:r>
              <a:rPr lang="en-US" altLang="zh-TW" sz="2800" dirty="0"/>
              <a:t> adds 2 to the degree.)</a:t>
            </a:r>
            <a:endParaRPr lang="en-US" altLang="zh-TW" sz="2800" dirty="0"/>
          </a:p>
        </p:txBody>
      </p:sp>
      <p:grpSp>
        <p:nvGrpSpPr>
          <p:cNvPr id="2" name="群組 13"/>
          <p:cNvGrpSpPr/>
          <p:nvPr/>
        </p:nvGrpSpPr>
        <p:grpSpPr>
          <a:xfrm>
            <a:off x="914400" y="2438400"/>
            <a:ext cx="1560513" cy="558800"/>
            <a:chOff x="6934200" y="1260000"/>
            <a:chExt cx="1560513" cy="559275"/>
          </a:xfrm>
        </p:grpSpPr>
        <p:sp>
          <p:nvSpPr>
            <p:cNvPr id="12295" name="Oval 4"/>
            <p:cNvSpPr/>
            <p:nvPr/>
          </p:nvSpPr>
          <p:spPr>
            <a:xfrm>
              <a:off x="7010400" y="1260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2296" name="Oval 5"/>
            <p:cNvSpPr/>
            <p:nvPr/>
          </p:nvSpPr>
          <p:spPr>
            <a:xfrm>
              <a:off x="8229600" y="1264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2297" name="Line 6"/>
            <p:cNvSpPr/>
            <p:nvPr/>
          </p:nvSpPr>
          <p:spPr>
            <a:xfrm flipV="1">
              <a:off x="7162800" y="1341116"/>
              <a:ext cx="1143000" cy="0"/>
            </a:xfrm>
            <a:prstGeom prst="line">
              <a:avLst/>
            </a:prstGeom>
            <a:ln w="25400" cap="flat" cmpd="sng">
              <a:solidFill>
                <a:schemeClr val="tx1"/>
              </a:solidFill>
              <a:prstDash val="solid"/>
              <a:headEnd type="none" w="med" len="med"/>
              <a:tailEnd type="none" w="lg" len="lg"/>
            </a:ln>
          </p:spPr>
        </p:sp>
        <p:sp>
          <p:nvSpPr>
            <p:cNvPr id="12298" name="Text Box 7"/>
            <p:cNvSpPr txBox="1"/>
            <p:nvPr/>
          </p:nvSpPr>
          <p:spPr>
            <a:xfrm>
              <a:off x="6934200" y="1295400"/>
              <a:ext cx="361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u</a:t>
              </a:r>
              <a:endParaRPr lang="en-US" altLang="zh-TW" sz="2800" i="1" dirty="0">
                <a:latin typeface="Times New Roman" panose="02020603050405020304" pitchFamily="18" charset="0"/>
              </a:endParaRPr>
            </a:p>
          </p:txBody>
        </p:sp>
        <p:sp>
          <p:nvSpPr>
            <p:cNvPr id="12299" name="Text Box 8"/>
            <p:cNvSpPr txBox="1"/>
            <p:nvPr/>
          </p:nvSpPr>
          <p:spPr>
            <a:xfrm>
              <a:off x="8153400" y="1295400"/>
              <a:ext cx="34131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v</a:t>
              </a:r>
              <a:endParaRPr lang="en-US" altLang="zh-TW" sz="2800" i="1" dirty="0">
                <a:latin typeface="Times New Roman" panose="02020603050405020304" pitchFamily="18" charset="0"/>
              </a:endParaRPr>
            </a:p>
          </p:txBody>
        </p:sp>
        <p:sp>
          <p:nvSpPr>
            <p:cNvPr id="12300" name="矩形 12"/>
            <p:cNvSpPr/>
            <p:nvPr/>
          </p:nvSpPr>
          <p:spPr>
            <a:xfrm>
              <a:off x="7543800" y="1295400"/>
              <a:ext cx="342900"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e</a:t>
              </a:r>
              <a:endParaRPr lang="zh-TW" altLang="en-US" sz="2800" dirty="0"/>
            </a:p>
          </p:txBody>
        </p:sp>
      </p:grpSp>
      <p:sp>
        <p:nvSpPr>
          <p:cNvPr id="12294" name="投影片編號版面配置區 12"/>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xEl>
                                              <p:charRg st="0" end="28"/>
                                            </p:txEl>
                                          </p:spTgt>
                                        </p:tgtEl>
                                        <p:attrNameLst>
                                          <p:attrName>style.visibility</p:attrName>
                                        </p:attrNameLst>
                                      </p:cBhvr>
                                      <p:to>
                                        <p:strVal val="visible"/>
                                      </p:to>
                                    </p:set>
                                    <p:anim calcmode="lin" valueType="num">
                                      <p:cBhvr additive="base">
                                        <p:cTn id="7" dur="500" fill="hold"/>
                                        <p:tgtEl>
                                          <p:spTgt spid="22531">
                                            <p:txEl>
                                              <p:charRg st="0" end="2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charRg st="0" end="2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1">
                                            <p:txEl>
                                              <p:charRg st="28" end="89"/>
                                            </p:txEl>
                                          </p:spTgt>
                                        </p:tgtEl>
                                        <p:attrNameLst>
                                          <p:attrName>style.visibility</p:attrName>
                                        </p:attrNameLst>
                                      </p:cBhvr>
                                      <p:to>
                                        <p:strVal val="visible"/>
                                      </p:to>
                                    </p:set>
                                    <p:anim calcmode="lin" valueType="num">
                                      <p:cBhvr additive="base">
                                        <p:cTn id="19" dur="500" fill="hold"/>
                                        <p:tgtEl>
                                          <p:spTgt spid="22531">
                                            <p:txEl>
                                              <p:charRg st="28" end="8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charRg st="28" end="8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31">
                                            <p:txEl>
                                              <p:charRg st="89" end="141"/>
                                            </p:txEl>
                                          </p:spTgt>
                                        </p:tgtEl>
                                        <p:attrNameLst>
                                          <p:attrName>style.visibility</p:attrName>
                                        </p:attrNameLst>
                                      </p:cBhvr>
                                      <p:to>
                                        <p:strVal val="visible"/>
                                      </p:to>
                                    </p:set>
                                    <p:anim calcmode="lin" valueType="num">
                                      <p:cBhvr additive="base">
                                        <p:cTn id="25" dur="500" fill="hold"/>
                                        <p:tgtEl>
                                          <p:spTgt spid="22531">
                                            <p:txEl>
                                              <p:charRg st="89" end="14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1">
                                            <p:txEl>
                                              <p:charRg st="89" end="14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531">
                                            <p:txEl>
                                              <p:charRg st="141" end="196"/>
                                            </p:txEl>
                                          </p:spTgt>
                                        </p:tgtEl>
                                        <p:attrNameLst>
                                          <p:attrName>style.visibility</p:attrName>
                                        </p:attrNameLst>
                                      </p:cBhvr>
                                      <p:to>
                                        <p:strVal val="visible"/>
                                      </p:to>
                                    </p:set>
                                    <p:anim calcmode="lin" valueType="num">
                                      <p:cBhvr additive="base">
                                        <p:cTn id="31" dur="500" fill="hold"/>
                                        <p:tgtEl>
                                          <p:spTgt spid="22531">
                                            <p:txEl>
                                              <p:charRg st="141" end="19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1">
                                            <p:txEl>
                                              <p:charRg st="141" end="19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2531">
                                            <p:txEl>
                                              <p:charRg st="197" end="331"/>
                                            </p:txEl>
                                          </p:spTgt>
                                        </p:tgtEl>
                                        <p:attrNameLst>
                                          <p:attrName>style.visibility</p:attrName>
                                        </p:attrNameLst>
                                      </p:cBhvr>
                                      <p:to>
                                        <p:strVal val="visible"/>
                                      </p:to>
                                    </p:set>
                                    <p:anim calcmode="lin" valueType="num">
                                      <p:cBhvr additive="base">
                                        <p:cTn id="37" dur="500" fill="hold"/>
                                        <p:tgtEl>
                                          <p:spTgt spid="22531">
                                            <p:txEl>
                                              <p:charRg st="197" end="33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531">
                                            <p:txEl>
                                              <p:charRg st="197" end="33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2534"/>
                                        </p:tgtEl>
                                        <p:attrNameLst>
                                          <p:attrName>style.visibility</p:attrName>
                                        </p:attrNameLst>
                                      </p:cBhvr>
                                      <p:to>
                                        <p:strVal val="visible"/>
                                      </p:to>
                                    </p:set>
                                    <p:anim calcmode="lin" valueType="num">
                                      <p:cBhvr additive="base">
                                        <p:cTn id="43" dur="500" fill="hold"/>
                                        <p:tgtEl>
                                          <p:spTgt spid="22534"/>
                                        </p:tgtEl>
                                        <p:attrNameLst>
                                          <p:attrName>ppt_x</p:attrName>
                                        </p:attrNameLst>
                                      </p:cBhvr>
                                      <p:tavLst>
                                        <p:tav tm="0">
                                          <p:val>
                                            <p:strVal val="#ppt_x"/>
                                          </p:val>
                                        </p:tav>
                                        <p:tav tm="100000">
                                          <p:val>
                                            <p:strVal val="#ppt_x"/>
                                          </p:val>
                                        </p:tav>
                                      </p:tavLst>
                                    </p:anim>
                                    <p:anim calcmode="lin" valueType="num">
                                      <p:cBhvr additive="base">
                                        <p:cTn id="44"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P spid="225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3"/>
          <p:cNvSpPr>
            <a:spLocks noGrp="1"/>
          </p:cNvSpPr>
          <p:nvPr>
            <p:ph idx="1"/>
          </p:nvPr>
        </p:nvSpPr>
        <p:spPr>
          <a:xfrm>
            <a:off x="228600" y="609600"/>
            <a:ext cx="8229600" cy="1066800"/>
          </a:xfrm>
        </p:spPr>
        <p:txBody>
          <a:bodyPr vert="horz" wrap="square" lIns="91440" tIns="45720" rIns="91440" bIns="45720" anchor="t"/>
          <a:p>
            <a:pPr eaLnBrk="1" hangingPunct="1">
              <a:buNone/>
            </a:pPr>
            <a:r>
              <a:rPr lang="en-US" altLang="zh-TW" b="1" dirty="0">
                <a:solidFill>
                  <a:srgbClr val="008000"/>
                </a:solidFill>
              </a:rPr>
              <a:t>Example 1.</a:t>
            </a:r>
            <a:r>
              <a:rPr lang="en-US" altLang="zh-TW" dirty="0"/>
              <a:t>  What are the degrees of the vertices in the graph </a:t>
            </a:r>
            <a:r>
              <a:rPr lang="en-US" altLang="zh-TW" b="1" i="1" dirty="0">
                <a:latin typeface="Times New Roman" panose="02020603050405020304" pitchFamily="18" charset="0"/>
              </a:rPr>
              <a:t>H</a:t>
            </a:r>
            <a:r>
              <a:rPr lang="en-US" altLang="zh-TW" dirty="0"/>
              <a:t> ?</a:t>
            </a:r>
            <a:endParaRPr lang="en-US" altLang="zh-TW" dirty="0"/>
          </a:p>
        </p:txBody>
      </p:sp>
      <p:grpSp>
        <p:nvGrpSpPr>
          <p:cNvPr id="2" name="Group 41"/>
          <p:cNvGrpSpPr/>
          <p:nvPr/>
        </p:nvGrpSpPr>
        <p:grpSpPr>
          <a:xfrm>
            <a:off x="5943600" y="2133600"/>
            <a:ext cx="1676400" cy="3186113"/>
            <a:chOff x="3648" y="1296"/>
            <a:chExt cx="1056" cy="2007"/>
          </a:xfrm>
        </p:grpSpPr>
        <p:sp>
          <p:nvSpPr>
            <p:cNvPr id="13345" name="Text Box 35"/>
            <p:cNvSpPr txBox="1"/>
            <p:nvPr/>
          </p:nvSpPr>
          <p:spPr>
            <a:xfrm>
              <a:off x="3648" y="1296"/>
              <a:ext cx="93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i="1" dirty="0">
                  <a:latin typeface="Times New Roman" panose="02020603050405020304" pitchFamily="18" charset="0"/>
                  <a:cs typeface="Times New Roman" panose="02020603050405020304" pitchFamily="18" charset="0"/>
                </a:rPr>
                <a:t>a</a:t>
              </a:r>
              <a:r>
                <a:rPr lang="en-US" altLang="zh-TW" sz="2800" dirty="0">
                  <a:latin typeface="Times New Roman" panose="02020603050405020304" pitchFamily="18" charset="0"/>
                  <a:cs typeface="Times New Roman" panose="02020603050405020304" pitchFamily="18" charset="0"/>
                </a:rPr>
                <a:t>)=4</a:t>
              </a:r>
              <a:endParaRPr lang="en-US" altLang="zh-TW" sz="2800" dirty="0">
                <a:latin typeface="Times New Roman" panose="02020603050405020304" pitchFamily="18" charset="0"/>
                <a:ea typeface="Times New Roman" panose="02020603050405020304" pitchFamily="18" charset="0"/>
              </a:endParaRPr>
            </a:p>
          </p:txBody>
        </p:sp>
        <p:sp>
          <p:nvSpPr>
            <p:cNvPr id="13346" name="Text Box 36"/>
            <p:cNvSpPr txBox="1"/>
            <p:nvPr/>
          </p:nvSpPr>
          <p:spPr>
            <a:xfrm>
              <a:off x="3648" y="1641"/>
              <a:ext cx="93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i="1" dirty="0">
                  <a:latin typeface="Times New Roman" panose="02020603050405020304" pitchFamily="18" charset="0"/>
                  <a:cs typeface="Times New Roman" panose="02020603050405020304" pitchFamily="18" charset="0"/>
                </a:rPr>
                <a:t>b</a:t>
              </a:r>
              <a:r>
                <a:rPr lang="en-US" altLang="zh-TW" sz="2800" dirty="0">
                  <a:latin typeface="Times New Roman" panose="02020603050405020304" pitchFamily="18" charset="0"/>
                  <a:cs typeface="Times New Roman" panose="02020603050405020304" pitchFamily="18" charset="0"/>
                </a:rPr>
                <a:t>)=6</a:t>
              </a:r>
              <a:endParaRPr lang="en-US" altLang="zh-TW" sz="2800" dirty="0">
                <a:latin typeface="Times New Roman" panose="02020603050405020304" pitchFamily="18" charset="0"/>
                <a:ea typeface="Times New Roman" panose="02020603050405020304" pitchFamily="18" charset="0"/>
              </a:endParaRPr>
            </a:p>
          </p:txBody>
        </p:sp>
        <p:sp>
          <p:nvSpPr>
            <p:cNvPr id="13347" name="Text Box 37"/>
            <p:cNvSpPr txBox="1"/>
            <p:nvPr/>
          </p:nvSpPr>
          <p:spPr>
            <a:xfrm>
              <a:off x="3648" y="1977"/>
              <a:ext cx="926"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i="1" dirty="0">
                  <a:latin typeface="Times New Roman" panose="02020603050405020304" pitchFamily="18" charset="0"/>
                  <a:cs typeface="Times New Roman" panose="02020603050405020304" pitchFamily="18" charset="0"/>
                </a:rPr>
                <a:t>c</a:t>
              </a:r>
              <a:r>
                <a:rPr lang="en-US" altLang="zh-TW" sz="2800" dirty="0">
                  <a:latin typeface="Times New Roman" panose="02020603050405020304" pitchFamily="18" charset="0"/>
                  <a:cs typeface="Times New Roman" panose="02020603050405020304" pitchFamily="18" charset="0"/>
                </a:rPr>
                <a:t>)=1</a:t>
              </a:r>
              <a:endParaRPr lang="en-US" altLang="zh-TW" sz="2800" dirty="0">
                <a:latin typeface="Times New Roman" panose="02020603050405020304" pitchFamily="18" charset="0"/>
                <a:ea typeface="Times New Roman" panose="02020603050405020304" pitchFamily="18" charset="0"/>
              </a:endParaRPr>
            </a:p>
          </p:txBody>
        </p:sp>
        <p:sp>
          <p:nvSpPr>
            <p:cNvPr id="13348" name="Text Box 38"/>
            <p:cNvSpPr txBox="1"/>
            <p:nvPr/>
          </p:nvSpPr>
          <p:spPr>
            <a:xfrm>
              <a:off x="3648" y="2304"/>
              <a:ext cx="93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i="1" dirty="0">
                  <a:latin typeface="Times New Roman" panose="02020603050405020304" pitchFamily="18" charset="0"/>
                  <a:cs typeface="Times New Roman" panose="02020603050405020304" pitchFamily="18" charset="0"/>
                </a:rPr>
                <a:t>d</a:t>
              </a:r>
              <a:r>
                <a:rPr lang="en-US" altLang="zh-TW" sz="2800" dirty="0">
                  <a:latin typeface="Times New Roman" panose="02020603050405020304" pitchFamily="18" charset="0"/>
                  <a:cs typeface="Times New Roman" panose="02020603050405020304" pitchFamily="18" charset="0"/>
                </a:rPr>
                <a:t>)=5</a:t>
              </a:r>
              <a:endParaRPr lang="en-US" altLang="zh-TW" sz="2800" dirty="0">
                <a:latin typeface="Times New Roman" panose="02020603050405020304" pitchFamily="18" charset="0"/>
                <a:ea typeface="Times New Roman" panose="02020603050405020304" pitchFamily="18" charset="0"/>
              </a:endParaRPr>
            </a:p>
          </p:txBody>
        </p:sp>
        <p:sp>
          <p:nvSpPr>
            <p:cNvPr id="13349" name="Text Box 39"/>
            <p:cNvSpPr txBox="1"/>
            <p:nvPr/>
          </p:nvSpPr>
          <p:spPr>
            <a:xfrm>
              <a:off x="3648" y="2640"/>
              <a:ext cx="926"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i="1" dirty="0">
                  <a:latin typeface="Times New Roman" panose="02020603050405020304" pitchFamily="18" charset="0"/>
                  <a:cs typeface="Times New Roman" panose="02020603050405020304" pitchFamily="18" charset="0"/>
                </a:rPr>
                <a:t>e</a:t>
              </a:r>
              <a:r>
                <a:rPr lang="en-US" altLang="zh-TW" sz="2800" dirty="0">
                  <a:latin typeface="Times New Roman" panose="02020603050405020304" pitchFamily="18" charset="0"/>
                  <a:cs typeface="Times New Roman" panose="02020603050405020304" pitchFamily="18" charset="0"/>
                </a:rPr>
                <a:t>)=6</a:t>
              </a:r>
              <a:endParaRPr lang="en-US" altLang="zh-TW" sz="2800" dirty="0">
                <a:latin typeface="Times New Roman" panose="02020603050405020304" pitchFamily="18" charset="0"/>
                <a:ea typeface="Times New Roman" panose="02020603050405020304" pitchFamily="18" charset="0"/>
              </a:endParaRPr>
            </a:p>
          </p:txBody>
        </p:sp>
        <p:sp>
          <p:nvSpPr>
            <p:cNvPr id="13350" name="Text Box 40"/>
            <p:cNvSpPr txBox="1"/>
            <p:nvPr/>
          </p:nvSpPr>
          <p:spPr>
            <a:xfrm>
              <a:off x="3649" y="2976"/>
              <a:ext cx="1055"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dist"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i="1" dirty="0">
                  <a:latin typeface="Times New Roman" panose="02020603050405020304" pitchFamily="18" charset="0"/>
                  <a:cs typeface="Times New Roman" panose="02020603050405020304" pitchFamily="18" charset="0"/>
                </a:rPr>
                <a:t>f</a:t>
              </a:r>
              <a:r>
                <a:rPr lang="en-US" altLang="zh-TW" sz="2800" dirty="0">
                  <a:latin typeface="Times New Roman" panose="02020603050405020304" pitchFamily="18" charset="0"/>
                  <a:cs typeface="Times New Roman" panose="02020603050405020304" pitchFamily="18" charset="0"/>
                </a:rPr>
                <a:t>)=0</a:t>
              </a:r>
              <a:endParaRPr lang="en-US" altLang="zh-TW" sz="2800" dirty="0">
                <a:latin typeface="Times New Roman" panose="02020603050405020304" pitchFamily="18" charset="0"/>
                <a:ea typeface="Times New Roman" panose="02020603050405020304" pitchFamily="18" charset="0"/>
              </a:endParaRPr>
            </a:p>
          </p:txBody>
        </p:sp>
      </p:grpSp>
      <p:grpSp>
        <p:nvGrpSpPr>
          <p:cNvPr id="13316" name="群組 40"/>
          <p:cNvGrpSpPr/>
          <p:nvPr/>
        </p:nvGrpSpPr>
        <p:grpSpPr>
          <a:xfrm>
            <a:off x="457200" y="2057400"/>
            <a:ext cx="3554413" cy="3094038"/>
            <a:chOff x="1066800" y="2362200"/>
            <a:chExt cx="3554903" cy="3094038"/>
          </a:xfrm>
        </p:grpSpPr>
        <p:sp>
          <p:nvSpPr>
            <p:cNvPr id="13321" name="Text Box 34"/>
            <p:cNvSpPr txBox="1"/>
            <p:nvPr/>
          </p:nvSpPr>
          <p:spPr>
            <a:xfrm>
              <a:off x="1905000" y="4876800"/>
              <a:ext cx="50006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i="1" dirty="0">
                  <a:latin typeface="Times New Roman" panose="02020603050405020304" pitchFamily="18" charset="0"/>
                  <a:cs typeface="Times New Roman" panose="02020603050405020304" pitchFamily="18" charset="0"/>
                </a:rPr>
                <a:t>H</a:t>
              </a:r>
              <a:endParaRPr lang="en-US" altLang="zh-TW" b="1" i="1" dirty="0">
                <a:latin typeface="Times New Roman" panose="02020603050405020304" pitchFamily="18" charset="0"/>
                <a:ea typeface="Times New Roman" panose="02020603050405020304" pitchFamily="18" charset="0"/>
              </a:endParaRPr>
            </a:p>
          </p:txBody>
        </p:sp>
        <p:sp>
          <p:nvSpPr>
            <p:cNvPr id="13322" name="Text Box 26"/>
            <p:cNvSpPr txBox="1"/>
            <p:nvPr/>
          </p:nvSpPr>
          <p:spPr>
            <a:xfrm>
              <a:off x="1127133" y="2487613"/>
              <a:ext cx="33659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13323" name="Text Box 27"/>
            <p:cNvSpPr txBox="1"/>
            <p:nvPr/>
          </p:nvSpPr>
          <p:spPr>
            <a:xfrm>
              <a:off x="2654519" y="2362200"/>
              <a:ext cx="33659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cxnSp>
          <p:nvCxnSpPr>
            <p:cNvPr id="13324" name="AutoShape 13"/>
            <p:cNvCxnSpPr>
              <a:stCxn id="13339" idx="6"/>
              <a:endCxn id="13342" idx="2"/>
            </p:cNvCxnSpPr>
            <p:nvPr/>
          </p:nvCxnSpPr>
          <p:spPr>
            <a:xfrm>
              <a:off x="1237227" y="3047167"/>
              <a:ext cx="1538930" cy="1309"/>
            </a:xfrm>
            <a:prstGeom prst="straightConnector1">
              <a:avLst/>
            </a:prstGeom>
            <a:ln w="9525" cap="flat" cmpd="sng">
              <a:solidFill>
                <a:schemeClr val="tx1"/>
              </a:solidFill>
              <a:prstDash val="solid"/>
              <a:headEnd type="none" w="med" len="med"/>
              <a:tailEnd type="none" w="med" len="med"/>
            </a:ln>
          </p:spPr>
        </p:cxnSp>
        <p:cxnSp>
          <p:nvCxnSpPr>
            <p:cNvPr id="13325" name="AutoShape 14"/>
            <p:cNvCxnSpPr>
              <a:endCxn id="13340" idx="1"/>
            </p:cNvCxnSpPr>
            <p:nvPr/>
          </p:nvCxnSpPr>
          <p:spPr>
            <a:xfrm rot="-5400000" flipH="1">
              <a:off x="560001" y="3682611"/>
              <a:ext cx="1274326" cy="16534"/>
            </a:xfrm>
            <a:prstGeom prst="straightConnector1">
              <a:avLst/>
            </a:prstGeom>
            <a:ln w="9525" cap="flat" cmpd="sng">
              <a:solidFill>
                <a:schemeClr val="tx1"/>
              </a:solidFill>
              <a:prstDash val="solid"/>
              <a:headEnd type="none" w="med" len="med"/>
              <a:tailEnd type="none" w="med" len="med"/>
            </a:ln>
          </p:spPr>
        </p:cxnSp>
        <p:cxnSp>
          <p:nvCxnSpPr>
            <p:cNvPr id="13326" name="AutoShape 15"/>
            <p:cNvCxnSpPr>
              <a:stCxn id="13342" idx="0"/>
              <a:endCxn id="13341" idx="0"/>
            </p:cNvCxnSpPr>
            <p:nvPr/>
          </p:nvCxnSpPr>
          <p:spPr>
            <a:xfrm rot="-5400000" flipH="1">
              <a:off x="2171401" y="3651606"/>
              <a:ext cx="1320165" cy="1271"/>
            </a:xfrm>
            <a:prstGeom prst="straightConnector1">
              <a:avLst/>
            </a:prstGeom>
            <a:ln w="9525" cap="flat" cmpd="sng">
              <a:solidFill>
                <a:schemeClr val="tx1"/>
              </a:solidFill>
              <a:prstDash val="solid"/>
              <a:headEnd type="none" w="med" len="med"/>
              <a:tailEnd type="none" w="med" len="med"/>
            </a:ln>
          </p:spPr>
        </p:cxnSp>
        <p:cxnSp>
          <p:nvCxnSpPr>
            <p:cNvPr id="13327" name="AutoShape 16"/>
            <p:cNvCxnSpPr>
              <a:endCxn id="13341" idx="5"/>
            </p:cNvCxnSpPr>
            <p:nvPr/>
          </p:nvCxnSpPr>
          <p:spPr>
            <a:xfrm>
              <a:off x="1188897" y="3053715"/>
              <a:ext cx="1680105" cy="1352908"/>
            </a:xfrm>
            <a:prstGeom prst="straightConnector1">
              <a:avLst/>
            </a:prstGeom>
            <a:ln w="9525" cap="flat" cmpd="sng">
              <a:solidFill>
                <a:schemeClr val="tx1"/>
              </a:solidFill>
              <a:prstDash val="solid"/>
              <a:headEnd type="none" w="med" len="med"/>
              <a:tailEnd type="none" w="med" len="med"/>
            </a:ln>
          </p:spPr>
        </p:cxnSp>
        <p:cxnSp>
          <p:nvCxnSpPr>
            <p:cNvPr id="13328" name="AutoShape 17"/>
            <p:cNvCxnSpPr>
              <a:stCxn id="13342" idx="3"/>
              <a:endCxn id="13340" idx="7"/>
            </p:cNvCxnSpPr>
            <p:nvPr/>
          </p:nvCxnSpPr>
          <p:spPr>
            <a:xfrm rot="5400000">
              <a:off x="1416425" y="2951775"/>
              <a:ext cx="1241584" cy="1510950"/>
            </a:xfrm>
            <a:prstGeom prst="straightConnector1">
              <a:avLst/>
            </a:prstGeom>
            <a:ln w="9525" cap="flat" cmpd="sng">
              <a:solidFill>
                <a:schemeClr val="tx1"/>
              </a:solidFill>
              <a:prstDash val="solid"/>
              <a:headEnd type="none" w="med" len="med"/>
              <a:tailEnd type="none" w="med" len="med"/>
            </a:ln>
          </p:spPr>
        </p:cxnSp>
        <p:cxnSp>
          <p:nvCxnSpPr>
            <p:cNvPr id="13329" name="AutoShape 18"/>
            <p:cNvCxnSpPr>
              <a:endCxn id="13341" idx="6"/>
            </p:cNvCxnSpPr>
            <p:nvPr/>
          </p:nvCxnSpPr>
          <p:spPr>
            <a:xfrm flipV="1">
              <a:off x="1249945" y="4367332"/>
              <a:ext cx="1635590" cy="6548"/>
            </a:xfrm>
            <a:prstGeom prst="straightConnector1">
              <a:avLst/>
            </a:prstGeom>
            <a:ln w="9525" cap="flat" cmpd="sng">
              <a:solidFill>
                <a:schemeClr val="tx1"/>
              </a:solidFill>
              <a:prstDash val="solid"/>
              <a:headEnd type="none" w="med" len="med"/>
              <a:tailEnd type="none" w="med" len="med"/>
            </a:ln>
          </p:spPr>
        </p:cxnSp>
        <p:cxnSp>
          <p:nvCxnSpPr>
            <p:cNvPr id="13330" name="AutoShape 19"/>
            <p:cNvCxnSpPr/>
            <p:nvPr/>
          </p:nvCxnSpPr>
          <p:spPr>
            <a:xfrm rot="-5400000" flipH="1">
              <a:off x="2013669" y="3610157"/>
              <a:ext cx="1310" cy="1528756"/>
            </a:xfrm>
            <a:prstGeom prst="curvedConnector3">
              <a:avLst>
                <a:gd name="adj1" fmla="val 16500005"/>
              </a:avLst>
            </a:prstGeom>
            <a:ln w="9525" cap="flat" cmpd="sng">
              <a:solidFill>
                <a:schemeClr val="tx1"/>
              </a:solidFill>
              <a:prstDash val="solid"/>
              <a:headEnd type="none" w="med" len="med"/>
              <a:tailEnd type="none" w="med" len="med"/>
            </a:ln>
          </p:spPr>
        </p:cxnSp>
        <p:cxnSp>
          <p:nvCxnSpPr>
            <p:cNvPr id="13331" name="AutoShape 20"/>
            <p:cNvCxnSpPr/>
            <p:nvPr/>
          </p:nvCxnSpPr>
          <p:spPr>
            <a:xfrm rot="5400000" flipV="1">
              <a:off x="2013669" y="3610157"/>
              <a:ext cx="1310" cy="1528756"/>
            </a:xfrm>
            <a:prstGeom prst="curvedConnector3">
              <a:avLst>
                <a:gd name="adj1" fmla="val -16500005"/>
              </a:avLst>
            </a:prstGeom>
            <a:ln w="12700" cap="flat" cmpd="sng">
              <a:solidFill>
                <a:schemeClr val="tx1"/>
              </a:solidFill>
              <a:prstDash val="solid"/>
              <a:headEnd type="none" w="med" len="med"/>
              <a:tailEnd type="none" w="med" len="med"/>
            </a:ln>
          </p:spPr>
        </p:cxnSp>
        <p:cxnSp>
          <p:nvCxnSpPr>
            <p:cNvPr id="13332" name="AutoShape 23"/>
            <p:cNvCxnSpPr/>
            <p:nvPr/>
          </p:nvCxnSpPr>
          <p:spPr>
            <a:xfrm rot="10800000" flipH="1" flipV="1">
              <a:off x="1188897" y="3022283"/>
              <a:ext cx="1272" cy="1320165"/>
            </a:xfrm>
            <a:prstGeom prst="curvedConnector3">
              <a:avLst>
                <a:gd name="adj1" fmla="val -14400005"/>
              </a:avLst>
            </a:prstGeom>
            <a:ln w="9525" cap="flat" cmpd="sng">
              <a:solidFill>
                <a:schemeClr val="tx1"/>
              </a:solidFill>
              <a:prstDash val="solid"/>
              <a:headEnd type="none" w="med" len="med"/>
              <a:tailEnd type="none" w="med" len="med"/>
            </a:ln>
          </p:spPr>
        </p:cxnSp>
        <p:cxnSp>
          <p:nvCxnSpPr>
            <p:cNvPr id="13333" name="AutoShape 24"/>
            <p:cNvCxnSpPr>
              <a:stCxn id="13342" idx="6"/>
              <a:endCxn id="13343" idx="2"/>
            </p:cNvCxnSpPr>
            <p:nvPr/>
          </p:nvCxnSpPr>
          <p:spPr>
            <a:xfrm>
              <a:off x="2885536" y="3047167"/>
              <a:ext cx="1477882" cy="1309"/>
            </a:xfrm>
            <a:prstGeom prst="straightConnector1">
              <a:avLst/>
            </a:prstGeom>
            <a:ln w="9525" cap="flat" cmpd="sng">
              <a:solidFill>
                <a:schemeClr val="tx1"/>
              </a:solidFill>
              <a:prstDash val="solid"/>
              <a:headEnd type="none" w="med" len="med"/>
              <a:tailEnd type="none" w="med" len="med"/>
            </a:ln>
          </p:spPr>
        </p:cxnSp>
        <p:cxnSp>
          <p:nvCxnSpPr>
            <p:cNvPr id="13334" name="AutoShape 28"/>
            <p:cNvCxnSpPr/>
            <p:nvPr/>
          </p:nvCxnSpPr>
          <p:spPr>
            <a:xfrm flipH="1">
              <a:off x="2776157" y="3053715"/>
              <a:ext cx="115738" cy="1310"/>
            </a:xfrm>
            <a:prstGeom prst="curvedConnector5">
              <a:avLst>
                <a:gd name="adj1" fmla="val -100000"/>
                <a:gd name="adj2" fmla="val -21600009"/>
                <a:gd name="adj3" fmla="val 200000"/>
              </a:avLst>
            </a:prstGeom>
            <a:ln w="15875" cap="flat" cmpd="sng">
              <a:solidFill>
                <a:schemeClr val="tx1"/>
              </a:solidFill>
              <a:prstDash val="solid"/>
              <a:headEnd type="none" w="med" len="med"/>
              <a:tailEnd type="none" w="med" len="med"/>
            </a:ln>
          </p:spPr>
        </p:cxnSp>
        <p:sp>
          <p:nvSpPr>
            <p:cNvPr id="13335" name="Text Box 30"/>
            <p:cNvSpPr txBox="1"/>
            <p:nvPr/>
          </p:nvSpPr>
          <p:spPr>
            <a:xfrm>
              <a:off x="4302572" y="2551113"/>
              <a:ext cx="319131"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sp>
          <p:nvSpPr>
            <p:cNvPr id="13336" name="Text Box 31"/>
            <p:cNvSpPr txBox="1"/>
            <p:nvPr/>
          </p:nvSpPr>
          <p:spPr>
            <a:xfrm>
              <a:off x="1066800" y="4437063"/>
              <a:ext cx="31913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13337" name="Text Box 32"/>
            <p:cNvSpPr txBox="1"/>
            <p:nvPr/>
          </p:nvSpPr>
          <p:spPr>
            <a:xfrm>
              <a:off x="2654519" y="4437063"/>
              <a:ext cx="33659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13338" name="Text Box 33"/>
            <p:cNvSpPr txBox="1"/>
            <p:nvPr/>
          </p:nvSpPr>
          <p:spPr>
            <a:xfrm>
              <a:off x="4191431" y="4343400"/>
              <a:ext cx="2683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f</a:t>
              </a:r>
              <a:endParaRPr lang="en-US" altLang="zh-TW" sz="2400" i="1" dirty="0">
                <a:latin typeface="Times New Roman" panose="02020603050405020304" pitchFamily="18" charset="0"/>
                <a:ea typeface="Times New Roman" panose="02020603050405020304" pitchFamily="18" charset="0"/>
              </a:endParaRPr>
            </a:p>
          </p:txBody>
        </p:sp>
        <p:sp>
          <p:nvSpPr>
            <p:cNvPr id="13339" name="Oval 4"/>
            <p:cNvSpPr/>
            <p:nvPr/>
          </p:nvSpPr>
          <p:spPr>
            <a:xfrm>
              <a:off x="1127848" y="2990850"/>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3340" name="Oval 4"/>
            <p:cNvSpPr/>
            <p:nvPr/>
          </p:nvSpPr>
          <p:spPr>
            <a:xfrm>
              <a:off x="1188897" y="4311015"/>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3341" name="Oval 4"/>
            <p:cNvSpPr/>
            <p:nvPr/>
          </p:nvSpPr>
          <p:spPr>
            <a:xfrm>
              <a:off x="2776157" y="4311015"/>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3342" name="Oval 4"/>
            <p:cNvSpPr/>
            <p:nvPr/>
          </p:nvSpPr>
          <p:spPr>
            <a:xfrm>
              <a:off x="2776157" y="2990850"/>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3343" name="Oval 4"/>
            <p:cNvSpPr/>
            <p:nvPr/>
          </p:nvSpPr>
          <p:spPr>
            <a:xfrm>
              <a:off x="4363418" y="2990850"/>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3344" name="Oval 4"/>
            <p:cNvSpPr/>
            <p:nvPr/>
          </p:nvSpPr>
          <p:spPr>
            <a:xfrm>
              <a:off x="4302369" y="4248150"/>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grpSp>
      <p:sp>
        <p:nvSpPr>
          <p:cNvPr id="35" name="矩形 34"/>
          <p:cNvSpPr/>
          <p:nvPr/>
        </p:nvSpPr>
        <p:spPr>
          <a:xfrm>
            <a:off x="304800" y="5715000"/>
            <a:ext cx="8305800" cy="588963"/>
          </a:xfrm>
          <a:prstGeom prst="rect">
            <a:avLst/>
          </a:prstGeom>
          <a:ln>
            <a:solidFill>
              <a:schemeClr val="tx1">
                <a:lumMod val="75000"/>
                <a:lumOff val="25000"/>
              </a:schemeClr>
            </a:solid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3200" b="1" i="0" u="none" strike="noStrike" kern="1200" cap="none" spc="0" normalizeH="0" baseline="0" noProof="0" dirty="0">
                <a:ln>
                  <a:noFill/>
                </a:ln>
                <a:solidFill>
                  <a:srgbClr val="FF0000"/>
                </a:solidFill>
                <a:effectLst/>
                <a:uLnTx/>
                <a:uFillTx/>
                <a:latin typeface="Arial" panose="020B0604020202020204" pitchFamily="34" charset="0"/>
                <a:ea typeface="PMingLiU" pitchFamily="18" charset="-120"/>
                <a:cs typeface="+mn-cs"/>
              </a:rPr>
              <a:t>Def.</a:t>
            </a:r>
            <a:r>
              <a:rPr kumimoji="1" lang="en-US" altLang="zh-TW" sz="32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rPr>
              <a:t>   A vertex of degree </a:t>
            </a:r>
            <a:r>
              <a:rPr kumimoji="1" lang="en-US" altLang="zh-TW" sz="2800" b="0" i="0"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0</a:t>
            </a:r>
            <a:r>
              <a:rPr kumimoji="1" lang="en-US" altLang="zh-TW" sz="32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rPr>
              <a:t> is called </a:t>
            </a:r>
            <a:r>
              <a:rPr kumimoji="1" lang="en-US" altLang="zh-TW" sz="3200" b="0" i="0" u="none" strike="noStrike" kern="1200" cap="none" spc="0" normalizeH="0" baseline="0" noProof="0" dirty="0">
                <a:ln>
                  <a:noFill/>
                </a:ln>
                <a:solidFill>
                  <a:srgbClr val="3333CC"/>
                </a:solidFill>
                <a:effectLst/>
                <a:uLnTx/>
                <a:uFillTx/>
                <a:latin typeface="Arial" panose="020B0604020202020204" pitchFamily="34" charset="0"/>
                <a:ea typeface="PMingLiU" pitchFamily="18" charset="-120"/>
                <a:cs typeface="+mn-cs"/>
              </a:rPr>
              <a:t>isolated</a:t>
            </a:r>
            <a:r>
              <a:rPr kumimoji="1" lang="en-US" altLang="zh-TW" sz="32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rPr>
              <a:t>.</a:t>
            </a:r>
            <a:endParaRPr kumimoji="1" lang="en-US" altLang="zh-TW" sz="32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2" name="矩形 41"/>
          <p:cNvSpPr/>
          <p:nvPr/>
        </p:nvSpPr>
        <p:spPr>
          <a:xfrm>
            <a:off x="4572000" y="1828800"/>
            <a:ext cx="1185863" cy="584200"/>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3200" b="1" i="0" u="none" strike="noStrike" kern="0" cap="none" spc="0" normalizeH="0" baseline="0" noProof="0" dirty="0">
                <a:ln>
                  <a:noFill/>
                </a:ln>
                <a:solidFill>
                  <a:srgbClr val="008000"/>
                </a:solidFill>
                <a:effectLst/>
                <a:uLnTx/>
                <a:uFillTx/>
                <a:latin typeface="Arial" panose="020B0604020202020204"/>
                <a:ea typeface="PMingLiU"/>
                <a:cs typeface="+mn-cs"/>
              </a:rPr>
              <a:t>Sol :</a:t>
            </a:r>
            <a:r>
              <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rPr>
              <a:t> </a:t>
            </a:r>
            <a:endPar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sp>
        <p:nvSpPr>
          <p:cNvPr id="13319" name="投影片編號版面配置區 38"/>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cxnSp>
        <p:nvCxnSpPr>
          <p:cNvPr id="15383" name="AutoShape 30"/>
          <p:cNvCxnSpPr/>
          <p:nvPr/>
        </p:nvCxnSpPr>
        <p:spPr>
          <a:xfrm rot="5400000" flipV="1">
            <a:off x="2279650" y="2632075"/>
            <a:ext cx="47625" cy="115888"/>
          </a:xfrm>
          <a:prstGeom prst="curvedConnector4">
            <a:avLst>
              <a:gd name="adj1" fmla="val -523333"/>
              <a:gd name="adj2" fmla="val 265750"/>
            </a:avLst>
          </a:prstGeom>
          <a:ln w="9525" cap="flat" cmpd="sng">
            <a:solidFill>
              <a:schemeClr val="tx1"/>
            </a:solidFill>
            <a:prstDash val="solid"/>
            <a:headEnd type="none" w="med" len="med"/>
            <a:tailEnd type="none" w="lg" len="lg"/>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500" fill="hold"/>
                                        <p:tgtEl>
                                          <p:spTgt spid="35"/>
                                        </p:tgtEl>
                                        <p:attrNameLst>
                                          <p:attrName>ppt_x</p:attrName>
                                        </p:attrNameLst>
                                      </p:cBhvr>
                                      <p:tavLst>
                                        <p:tav tm="0">
                                          <p:val>
                                            <p:strVal val="#ppt_x"/>
                                          </p:val>
                                        </p:tav>
                                        <p:tav tm="100000">
                                          <p:val>
                                            <p:strVal val="#ppt_x"/>
                                          </p:val>
                                        </p:tav>
                                      </p:tavLst>
                                    </p:anim>
                                    <p:anim calcmode="lin" valueType="num">
                                      <p:cBhvr additive="base">
                                        <p:cTn id="14" dur="500" fill="hold"/>
                                        <p:tgtEl>
                                          <p:spTgt spid="3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5383"/>
                                        </p:tgtEl>
                                        <p:attrNameLst>
                                          <p:attrName>style.visibility</p:attrName>
                                        </p:attrNameLst>
                                      </p:cBhvr>
                                      <p:to>
                                        <p:strVal val="visible"/>
                                      </p:to>
                                    </p:set>
                                    <p:anim calcmode="lin" valueType="num">
                                      <p:cBhvr additive="base">
                                        <p:cTn id="17" dur="500" fill="hold"/>
                                        <p:tgtEl>
                                          <p:spTgt spid="15383"/>
                                        </p:tgtEl>
                                        <p:attrNameLst>
                                          <p:attrName>ppt_x</p:attrName>
                                        </p:attrNameLst>
                                      </p:cBhvr>
                                      <p:tavLst>
                                        <p:tav tm="0">
                                          <p:val>
                                            <p:strVal val="#ppt_x"/>
                                          </p:val>
                                        </p:tav>
                                        <p:tav tm="100000">
                                          <p:val>
                                            <p:strVal val="#ppt_x"/>
                                          </p:val>
                                        </p:tav>
                                      </p:tavLst>
                                    </p:anim>
                                    <p:anim calcmode="lin" valueType="num">
                                      <p:cBhvr additive="base">
                                        <p:cTn id="18" dur="500" fill="hold"/>
                                        <p:tgtEl>
                                          <p:spTgt spid="153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338" name="群組 7"/>
          <p:cNvGrpSpPr/>
          <p:nvPr/>
        </p:nvGrpSpPr>
        <p:grpSpPr>
          <a:xfrm>
            <a:off x="228600" y="533400"/>
            <a:ext cx="8669338" cy="2554288"/>
            <a:chOff x="304800" y="2743200"/>
            <a:chExt cx="8669361" cy="2554545"/>
          </a:xfrm>
        </p:grpSpPr>
        <p:sp>
          <p:nvSpPr>
            <p:cNvPr id="14341" name="Text Box 6"/>
            <p:cNvSpPr txBox="1"/>
            <p:nvPr/>
          </p:nvSpPr>
          <p:spPr>
            <a:xfrm>
              <a:off x="304800" y="2743200"/>
              <a:ext cx="8669361" cy="255454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3366FF"/>
                  </a:solidFill>
                </a:rPr>
                <a:t>Thm 1.</a:t>
              </a:r>
              <a:r>
                <a:rPr lang="en-US" altLang="zh-TW" dirty="0"/>
                <a:t> (The Handshaking Theorem)</a:t>
              </a:r>
              <a:endParaRPr lang="en-US" altLang="zh-TW" dirty="0"/>
            </a:p>
            <a:p>
              <a:pPr marL="0" lvl="0" indent="0" eaLnBrk="1" hangingPunct="1">
                <a:spcBef>
                  <a:spcPct val="0"/>
                </a:spcBef>
                <a:buClrTx/>
                <a:buSzPct val="100000"/>
                <a:buNone/>
              </a:pPr>
              <a:r>
                <a:rPr lang="en-US" altLang="zh-TW" dirty="0"/>
                <a:t>Let </a:t>
              </a:r>
              <a:r>
                <a:rPr lang="en-US" altLang="zh-TW" b="1" i="1" dirty="0">
                  <a:latin typeface="Times New Roman" panose="02020603050405020304" pitchFamily="18" charset="0"/>
                </a:rPr>
                <a:t>G </a:t>
              </a:r>
              <a:r>
                <a:rPr lang="en-US" altLang="zh-TW" b="1" dirty="0">
                  <a:latin typeface="Times New Roman" panose="02020603050405020304" pitchFamily="18" charset="0"/>
                </a:rPr>
                <a:t>= (</a:t>
              </a:r>
              <a:r>
                <a:rPr lang="en-US" altLang="zh-TW" b="1" i="1" dirty="0">
                  <a:latin typeface="Times New Roman" panose="02020603050405020304" pitchFamily="18" charset="0"/>
                </a:rPr>
                <a:t>V</a:t>
              </a:r>
              <a:r>
                <a:rPr lang="en-US" altLang="zh-TW" b="1" dirty="0">
                  <a:latin typeface="Times New Roman" panose="02020603050405020304" pitchFamily="18" charset="0"/>
                </a:rPr>
                <a:t>, </a:t>
              </a:r>
              <a:r>
                <a:rPr lang="en-US" altLang="zh-TW" b="1" i="1" dirty="0">
                  <a:latin typeface="Times New Roman" panose="02020603050405020304" pitchFamily="18" charset="0"/>
                </a:rPr>
                <a:t>E</a:t>
              </a:r>
              <a:r>
                <a:rPr lang="en-US" altLang="zh-TW" b="1" dirty="0">
                  <a:latin typeface="Times New Roman" panose="02020603050405020304" pitchFamily="18" charset="0"/>
                </a:rPr>
                <a:t>)</a:t>
              </a:r>
              <a:r>
                <a:rPr lang="en-US" altLang="zh-TW" b="1" dirty="0"/>
                <a:t> </a:t>
              </a:r>
              <a:r>
                <a:rPr lang="en-US" altLang="zh-TW" dirty="0"/>
                <a:t>be an undirected graph with</a:t>
              </a:r>
              <a:endParaRPr lang="en-US" altLang="zh-TW" dirty="0"/>
            </a:p>
            <a:p>
              <a:pPr marL="0" lvl="0" indent="0" eaLnBrk="1" hangingPunct="1">
                <a:spcBef>
                  <a:spcPct val="0"/>
                </a:spcBef>
                <a:buClrTx/>
                <a:buSzPct val="100000"/>
                <a:buNone/>
              </a:pPr>
              <a:r>
                <a:rPr lang="en-US" altLang="zh-TW" i="1" dirty="0">
                  <a:latin typeface="Times New Roman" panose="02020603050405020304" pitchFamily="18" charset="0"/>
                </a:rPr>
                <a:t>e</a:t>
              </a:r>
              <a:r>
                <a:rPr lang="en-US" altLang="zh-TW" dirty="0"/>
                <a:t> edges (i.e., </a:t>
              </a:r>
              <a:r>
                <a:rPr lang="en-US" altLang="zh-TW" b="1" dirty="0">
                  <a:latin typeface="Times New Roman" panose="02020603050405020304" pitchFamily="18" charset="0"/>
                </a:rPr>
                <a:t>|</a:t>
              </a:r>
              <a:r>
                <a:rPr lang="en-US" altLang="zh-TW" b="1" i="1" dirty="0">
                  <a:latin typeface="Times New Roman" panose="02020603050405020304" pitchFamily="18" charset="0"/>
                </a:rPr>
                <a:t>E</a:t>
              </a:r>
              <a:r>
                <a:rPr lang="en-US" altLang="zh-TW" b="1" dirty="0">
                  <a:latin typeface="Times New Roman" panose="02020603050405020304" pitchFamily="18" charset="0"/>
                </a:rPr>
                <a:t>| = </a:t>
              </a:r>
              <a:r>
                <a:rPr lang="en-US" altLang="zh-TW" b="1" i="1" dirty="0">
                  <a:latin typeface="Times New Roman" panose="02020603050405020304" pitchFamily="18" charset="0"/>
                </a:rPr>
                <a:t>e</a:t>
              </a:r>
              <a:r>
                <a:rPr lang="en-US" altLang="zh-TW" dirty="0"/>
                <a:t>). Then</a:t>
              </a:r>
              <a:endParaRPr lang="en-US" altLang="zh-TW" dirty="0"/>
            </a:p>
            <a:p>
              <a:pPr marL="0" lvl="0" indent="0" eaLnBrk="1" hangingPunct="1">
                <a:spcBef>
                  <a:spcPct val="0"/>
                </a:spcBef>
                <a:buClrTx/>
                <a:buSzPct val="100000"/>
                <a:buNone/>
              </a:pPr>
              <a:endParaRPr lang="en-US" altLang="zh-TW" dirty="0"/>
            </a:p>
            <a:p>
              <a:pPr marL="0" lvl="0" indent="0" eaLnBrk="1" hangingPunct="1">
                <a:spcBef>
                  <a:spcPct val="0"/>
                </a:spcBef>
                <a:buClrTx/>
                <a:buSzPct val="100000"/>
                <a:buNone/>
              </a:pPr>
              <a:endParaRPr lang="en-US" altLang="zh-TW" dirty="0"/>
            </a:p>
          </p:txBody>
        </p:sp>
        <p:graphicFrame>
          <p:nvGraphicFramePr>
            <p:cNvPr id="14342" name="Object 7"/>
            <p:cNvGraphicFramePr>
              <a:graphicFrameLocks noChangeAspect="1"/>
            </p:cNvGraphicFramePr>
            <p:nvPr/>
          </p:nvGraphicFramePr>
          <p:xfrm>
            <a:off x="3200408" y="4267200"/>
            <a:ext cx="2514614" cy="942981"/>
          </p:xfrm>
          <a:graphic>
            <a:graphicData uri="http://schemas.openxmlformats.org/presentationml/2006/ole">
              <mc:AlternateContent xmlns:mc="http://schemas.openxmlformats.org/markup-compatibility/2006">
                <mc:Choice xmlns:v="urn:schemas-microsoft-com:vml" Requires="v">
                  <p:oleObj spid="_x0000_s3084" name="" r:id="rId1" imgW="914400" imgH="342900" progId="Equation.3">
                    <p:embed/>
                  </p:oleObj>
                </mc:Choice>
                <mc:Fallback>
                  <p:oleObj name="" r:id="rId1" imgW="914400" imgH="342900" progId="Equation.3">
                    <p:embed/>
                    <p:pic>
                      <p:nvPicPr>
                        <p:cNvPr id="0" name="图片 3083"/>
                        <p:cNvPicPr/>
                        <p:nvPr/>
                      </p:nvPicPr>
                      <p:blipFill>
                        <a:blip r:embed="rId2"/>
                        <a:stretch>
                          <a:fillRect/>
                        </a:stretch>
                      </p:blipFill>
                      <p:spPr>
                        <a:xfrm>
                          <a:off x="3200408" y="4267200"/>
                          <a:ext cx="2514614" cy="942981"/>
                        </a:xfrm>
                        <a:prstGeom prst="rect">
                          <a:avLst/>
                        </a:prstGeom>
                        <a:noFill/>
                        <a:ln w="38100">
                          <a:noFill/>
                          <a:miter/>
                        </a:ln>
                      </p:spPr>
                    </p:pic>
                  </p:oleObj>
                </mc:Fallback>
              </mc:AlternateContent>
            </a:graphicData>
          </a:graphic>
        </p:graphicFrame>
      </p:grpSp>
      <p:sp>
        <p:nvSpPr>
          <p:cNvPr id="26634" name="Text Box 10"/>
          <p:cNvSpPr txBox="1"/>
          <p:nvPr/>
        </p:nvSpPr>
        <p:spPr>
          <a:xfrm>
            <a:off x="152400" y="3200400"/>
            <a:ext cx="84582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CN" sz="2800" dirty="0"/>
              <a:t>Note that this applies even if multiple edges and loops are present</a:t>
            </a:r>
            <a:endParaRPr lang="en-US" altLang="zh-CN" sz="2800" dirty="0"/>
          </a:p>
        </p:txBody>
      </p:sp>
      <p:sp>
        <p:nvSpPr>
          <p:cNvPr id="14340" name="投影片編號版面配置區 6"/>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34"/>
                                        </p:tgtEl>
                                        <p:attrNameLst>
                                          <p:attrName>style.visibility</p:attrName>
                                        </p:attrNameLst>
                                      </p:cBhvr>
                                      <p:to>
                                        <p:strVal val="visible"/>
                                      </p:to>
                                    </p:set>
                                    <p:anim calcmode="lin" valueType="num">
                                      <p:cBhvr additive="base">
                                        <p:cTn id="7" dur="500" fill="hold"/>
                                        <p:tgtEl>
                                          <p:spTgt spid="26634"/>
                                        </p:tgtEl>
                                        <p:attrNameLst>
                                          <p:attrName>ppt_x</p:attrName>
                                        </p:attrNameLst>
                                      </p:cBhvr>
                                      <p:tavLst>
                                        <p:tav tm="0">
                                          <p:val>
                                            <p:strVal val="#ppt_x"/>
                                          </p:val>
                                        </p:tav>
                                        <p:tav tm="100000">
                                          <p:val>
                                            <p:strVal val="#ppt_x"/>
                                          </p:val>
                                        </p:tav>
                                      </p:tavLst>
                                    </p:anim>
                                    <p:anim calcmode="lin" valueType="num">
                                      <p:cBhvr additive="base">
                                        <p:cTn id="8" dur="500" fill="hold"/>
                                        <p:tgtEl>
                                          <p:spTgt spid="266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a:spLocks noGrp="1"/>
          </p:cNvSpPr>
          <p:nvPr>
            <p:ph type="body" sz="half" idx="1"/>
          </p:nvPr>
        </p:nvSpPr>
        <p:spPr>
          <a:xfrm>
            <a:off x="0" y="533400"/>
            <a:ext cx="9144000" cy="1371600"/>
          </a:xfrm>
        </p:spPr>
        <p:txBody>
          <a:bodyPr vert="horz" wrap="square" lIns="91440" tIns="45720" rIns="91440" bIns="45720" anchor="t"/>
          <a:p>
            <a:pPr eaLnBrk="1" hangingPunct="1">
              <a:buNone/>
            </a:pPr>
            <a:r>
              <a:rPr lang="en-US" altLang="zh-TW" dirty="0"/>
              <a:t>  eg.	                                   The graph </a:t>
            </a:r>
            <a:r>
              <a:rPr lang="en-US" altLang="zh-TW" i="1" dirty="0">
                <a:latin typeface="Times New Roman" panose="02020603050405020304" pitchFamily="18" charset="0"/>
                <a:cs typeface="Times New Roman" panose="02020603050405020304" pitchFamily="18" charset="0"/>
              </a:rPr>
              <a:t>H</a:t>
            </a:r>
            <a:r>
              <a:rPr lang="en-US" altLang="zh-TW" dirty="0"/>
              <a:t> has 11   </a:t>
            </a:r>
            <a:br>
              <a:rPr lang="en-US" altLang="zh-TW" dirty="0"/>
            </a:br>
            <a:r>
              <a:rPr lang="en-US" altLang="zh-TW" dirty="0"/>
              <a:t>                                         edges, and</a:t>
            </a:r>
            <a:endParaRPr lang="en-US" altLang="zh-TW" dirty="0"/>
          </a:p>
        </p:txBody>
      </p:sp>
      <p:graphicFrame>
        <p:nvGraphicFramePr>
          <p:cNvPr id="15363" name="Object 4"/>
          <p:cNvGraphicFramePr>
            <a:graphicFrameLocks noChangeAspect="1"/>
          </p:cNvGraphicFramePr>
          <p:nvPr>
            <p:ph sz="half" idx="2"/>
          </p:nvPr>
        </p:nvGraphicFramePr>
        <p:xfrm>
          <a:off x="5562600" y="1846263"/>
          <a:ext cx="2362200" cy="873125"/>
        </p:xfrm>
        <a:graphic>
          <a:graphicData uri="http://schemas.openxmlformats.org/presentationml/2006/ole">
            <mc:AlternateContent xmlns:mc="http://schemas.openxmlformats.org/markup-compatibility/2006">
              <mc:Choice xmlns:v="urn:schemas-microsoft-com:vml" Requires="v">
                <p:oleObj spid="_x0000_s3081" name="" r:id="rId1" imgW="926465" imgH="342900" progId="Equation.3">
                  <p:embed/>
                </p:oleObj>
              </mc:Choice>
              <mc:Fallback>
                <p:oleObj name="" r:id="rId1" imgW="926465" imgH="342900" progId="Equation.3">
                  <p:embed/>
                  <p:pic>
                    <p:nvPicPr>
                      <p:cNvPr id="0" name="图片 3080"/>
                      <p:cNvPicPr/>
                      <p:nvPr/>
                    </p:nvPicPr>
                    <p:blipFill>
                      <a:blip r:embed="rId2"/>
                      <a:srcRect/>
                      <a:stretch>
                        <a:fillRect/>
                      </a:stretch>
                    </p:blipFill>
                    <p:spPr>
                      <a:xfrm>
                        <a:off x="5562600" y="1846263"/>
                        <a:ext cx="2362200" cy="873125"/>
                      </a:xfrm>
                      <a:prstGeom prst="rect">
                        <a:avLst/>
                      </a:prstGeom>
                      <a:noFill/>
                      <a:ln w="38100">
                        <a:miter/>
                      </a:ln>
                    </p:spPr>
                  </p:pic>
                </p:oleObj>
              </mc:Fallback>
            </mc:AlternateContent>
          </a:graphicData>
        </a:graphic>
      </p:graphicFrame>
      <p:sp>
        <p:nvSpPr>
          <p:cNvPr id="15364" name="Text Box 7"/>
          <p:cNvSpPr txBox="1"/>
          <p:nvPr/>
        </p:nvSpPr>
        <p:spPr>
          <a:xfrm>
            <a:off x="365125" y="2554288"/>
            <a:ext cx="184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zh-TW" sz="1800" dirty="0"/>
          </a:p>
        </p:txBody>
      </p:sp>
      <p:sp>
        <p:nvSpPr>
          <p:cNvPr id="29704" name="Text Box 8"/>
          <p:cNvSpPr txBox="1"/>
          <p:nvPr/>
        </p:nvSpPr>
        <p:spPr>
          <a:xfrm>
            <a:off x="228600" y="3733800"/>
            <a:ext cx="8245475" cy="15700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008000"/>
                </a:solidFill>
              </a:rPr>
              <a:t>Example 3.</a:t>
            </a:r>
            <a:r>
              <a:rPr lang="en-US" altLang="zh-TW" dirty="0"/>
              <a:t> How many edges are there in a </a:t>
            </a:r>
            <a:endParaRPr lang="en-US" altLang="zh-TW" dirty="0"/>
          </a:p>
          <a:p>
            <a:pPr marL="0" lvl="0" indent="0" eaLnBrk="1" hangingPunct="1">
              <a:spcBef>
                <a:spcPct val="0"/>
              </a:spcBef>
              <a:buClrTx/>
              <a:buSzPct val="100000"/>
              <a:buNone/>
            </a:pPr>
            <a:r>
              <a:rPr lang="en-US" altLang="zh-TW" dirty="0"/>
              <a:t>                    graph with 10 vertices each of </a:t>
            </a:r>
            <a:endParaRPr lang="en-US" altLang="zh-TW" dirty="0"/>
          </a:p>
          <a:p>
            <a:pPr marL="0" lvl="0" indent="0" eaLnBrk="1" hangingPunct="1">
              <a:spcBef>
                <a:spcPct val="0"/>
              </a:spcBef>
              <a:buClrTx/>
              <a:buSzPct val="100000"/>
              <a:buNone/>
            </a:pPr>
            <a:r>
              <a:rPr lang="en-US" altLang="zh-TW" dirty="0"/>
              <a:t>                    degree six?</a:t>
            </a:r>
            <a:endParaRPr lang="en-US" altLang="zh-TW" dirty="0"/>
          </a:p>
        </p:txBody>
      </p:sp>
      <p:sp>
        <p:nvSpPr>
          <p:cNvPr id="29705" name="Text Box 9"/>
          <p:cNvSpPr txBox="1"/>
          <p:nvPr/>
        </p:nvSpPr>
        <p:spPr>
          <a:xfrm>
            <a:off x="228600" y="5562600"/>
            <a:ext cx="4964113" cy="1066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008000"/>
                </a:solidFill>
              </a:rPr>
              <a:t>Sol :</a:t>
            </a:r>
            <a:endParaRPr lang="en-US" altLang="zh-TW" b="1" dirty="0">
              <a:solidFill>
                <a:srgbClr val="008000"/>
              </a:solidFill>
            </a:endParaRPr>
          </a:p>
          <a:p>
            <a:pPr marL="0" lvl="0" indent="0" eaLnBrk="1" hangingPunct="1">
              <a:spcBef>
                <a:spcPct val="0"/>
              </a:spcBef>
              <a:buClrTx/>
              <a:buSzPct val="100000"/>
              <a:buNone/>
            </a:pPr>
            <a:r>
              <a:rPr lang="en-US" altLang="zh-TW" dirty="0"/>
              <a:t>	10 </a:t>
            </a:r>
            <a:r>
              <a:rPr lang="en-US" altLang="zh-TW" dirty="0">
                <a:sym typeface="Symbol" panose="05050102010706020507" pitchFamily="18" charset="2"/>
              </a:rPr>
              <a:t> 6 = 2</a:t>
            </a:r>
            <a:r>
              <a:rPr lang="en-US" altLang="zh-TW" i="1" dirty="0">
                <a:latin typeface="Times New Roman" panose="02020603050405020304" pitchFamily="18" charset="0"/>
                <a:sym typeface="Symbol" panose="05050102010706020507" pitchFamily="18" charset="2"/>
              </a:rPr>
              <a:t>e</a:t>
            </a:r>
            <a:r>
              <a:rPr lang="en-US" altLang="zh-TW" dirty="0">
                <a:sym typeface="Symbol" panose="05050102010706020507" pitchFamily="18" charset="2"/>
              </a:rPr>
              <a:t>      </a:t>
            </a:r>
            <a:r>
              <a:rPr lang="en-US" altLang="zh-TW" i="1" dirty="0">
                <a:latin typeface="Times New Roman" panose="02020603050405020304" pitchFamily="18" charset="0"/>
                <a:sym typeface="Symbol" panose="05050102010706020507" pitchFamily="18" charset="2"/>
              </a:rPr>
              <a:t>e</a:t>
            </a:r>
            <a:r>
              <a:rPr lang="en-US" altLang="zh-TW" dirty="0">
                <a:sym typeface="Symbol" panose="05050102010706020507" pitchFamily="18" charset="2"/>
              </a:rPr>
              <a:t>=30</a:t>
            </a:r>
            <a:endParaRPr lang="en-US" altLang="zh-TW" dirty="0">
              <a:sym typeface="Symbol" panose="05050102010706020507" pitchFamily="18" charset="2"/>
            </a:endParaRPr>
          </a:p>
        </p:txBody>
      </p:sp>
      <p:grpSp>
        <p:nvGrpSpPr>
          <p:cNvPr id="15367" name="群組 7"/>
          <p:cNvGrpSpPr/>
          <p:nvPr/>
        </p:nvGrpSpPr>
        <p:grpSpPr>
          <a:xfrm>
            <a:off x="1219200" y="838200"/>
            <a:ext cx="3062288" cy="2646363"/>
            <a:chOff x="1066800" y="2451628"/>
            <a:chExt cx="3612219" cy="3105751"/>
          </a:xfrm>
        </p:grpSpPr>
        <p:sp>
          <p:nvSpPr>
            <p:cNvPr id="15369" name="Text Box 34"/>
            <p:cNvSpPr txBox="1"/>
            <p:nvPr/>
          </p:nvSpPr>
          <p:spPr>
            <a:xfrm>
              <a:off x="1905719" y="4877355"/>
              <a:ext cx="563648" cy="6800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latin typeface="Times New Roman" panose="02020603050405020304" pitchFamily="18" charset="0"/>
                  <a:cs typeface="Times New Roman" panose="02020603050405020304" pitchFamily="18" charset="0"/>
                </a:rPr>
                <a:t>H</a:t>
              </a:r>
              <a:endParaRPr lang="en-US" altLang="zh-TW" i="1" dirty="0">
                <a:latin typeface="Times New Roman" panose="02020603050405020304" pitchFamily="18" charset="0"/>
                <a:ea typeface="Times New Roman" panose="02020603050405020304" pitchFamily="18" charset="0"/>
              </a:endParaRPr>
            </a:p>
          </p:txBody>
        </p:sp>
        <p:sp>
          <p:nvSpPr>
            <p:cNvPr id="15370" name="Text Box 26"/>
            <p:cNvSpPr txBox="1"/>
            <p:nvPr/>
          </p:nvSpPr>
          <p:spPr>
            <a:xfrm>
              <a:off x="1128595" y="2487026"/>
              <a:ext cx="396989" cy="53656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15371" name="Text Box 27"/>
            <p:cNvSpPr txBox="1"/>
            <p:nvPr/>
          </p:nvSpPr>
          <p:spPr>
            <a:xfrm>
              <a:off x="2325178" y="2451628"/>
              <a:ext cx="396988" cy="53656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cxnSp>
          <p:nvCxnSpPr>
            <p:cNvPr id="15372" name="AutoShape 13"/>
            <p:cNvCxnSpPr>
              <a:stCxn id="15387" idx="6"/>
              <a:endCxn id="15390" idx="2"/>
            </p:cNvCxnSpPr>
            <p:nvPr/>
          </p:nvCxnSpPr>
          <p:spPr>
            <a:xfrm>
              <a:off x="1237227" y="3047167"/>
              <a:ext cx="1538930" cy="1309"/>
            </a:xfrm>
            <a:prstGeom prst="straightConnector1">
              <a:avLst/>
            </a:prstGeom>
            <a:ln w="9525" cap="flat" cmpd="sng">
              <a:solidFill>
                <a:schemeClr val="tx1"/>
              </a:solidFill>
              <a:prstDash val="solid"/>
              <a:headEnd type="none" w="med" len="med"/>
              <a:tailEnd type="none" w="med" len="med"/>
            </a:ln>
          </p:spPr>
        </p:cxnSp>
        <p:cxnSp>
          <p:nvCxnSpPr>
            <p:cNvPr id="15373" name="AutoShape 14"/>
            <p:cNvCxnSpPr>
              <a:endCxn id="15388" idx="1"/>
            </p:cNvCxnSpPr>
            <p:nvPr/>
          </p:nvCxnSpPr>
          <p:spPr>
            <a:xfrm rot="-5400000" flipH="1">
              <a:off x="560001" y="3682611"/>
              <a:ext cx="1274326" cy="16534"/>
            </a:xfrm>
            <a:prstGeom prst="straightConnector1">
              <a:avLst/>
            </a:prstGeom>
            <a:ln w="9525" cap="flat" cmpd="sng">
              <a:solidFill>
                <a:schemeClr val="tx1"/>
              </a:solidFill>
              <a:prstDash val="solid"/>
              <a:headEnd type="none" w="med" len="med"/>
              <a:tailEnd type="none" w="med" len="med"/>
            </a:ln>
          </p:spPr>
        </p:cxnSp>
        <p:cxnSp>
          <p:nvCxnSpPr>
            <p:cNvPr id="15374" name="AutoShape 15"/>
            <p:cNvCxnSpPr>
              <a:stCxn id="15390" idx="0"/>
              <a:endCxn id="15389" idx="0"/>
            </p:cNvCxnSpPr>
            <p:nvPr/>
          </p:nvCxnSpPr>
          <p:spPr>
            <a:xfrm rot="-5400000" flipH="1">
              <a:off x="2171401" y="3651606"/>
              <a:ext cx="1320165" cy="1271"/>
            </a:xfrm>
            <a:prstGeom prst="straightConnector1">
              <a:avLst/>
            </a:prstGeom>
            <a:ln w="9525" cap="flat" cmpd="sng">
              <a:solidFill>
                <a:schemeClr val="tx1"/>
              </a:solidFill>
              <a:prstDash val="solid"/>
              <a:headEnd type="none" w="med" len="med"/>
              <a:tailEnd type="none" w="med" len="med"/>
            </a:ln>
          </p:spPr>
        </p:cxnSp>
        <p:cxnSp>
          <p:nvCxnSpPr>
            <p:cNvPr id="15375" name="AutoShape 16"/>
            <p:cNvCxnSpPr>
              <a:endCxn id="15389" idx="5"/>
            </p:cNvCxnSpPr>
            <p:nvPr/>
          </p:nvCxnSpPr>
          <p:spPr>
            <a:xfrm>
              <a:off x="1188897" y="3053715"/>
              <a:ext cx="1680105" cy="1352908"/>
            </a:xfrm>
            <a:prstGeom prst="straightConnector1">
              <a:avLst/>
            </a:prstGeom>
            <a:ln w="9525" cap="flat" cmpd="sng">
              <a:solidFill>
                <a:schemeClr val="tx1"/>
              </a:solidFill>
              <a:prstDash val="solid"/>
              <a:headEnd type="none" w="med" len="med"/>
              <a:tailEnd type="none" w="med" len="med"/>
            </a:ln>
          </p:spPr>
        </p:cxnSp>
        <p:cxnSp>
          <p:nvCxnSpPr>
            <p:cNvPr id="15376" name="AutoShape 17"/>
            <p:cNvCxnSpPr>
              <a:stCxn id="15390" idx="3"/>
              <a:endCxn id="15388" idx="7"/>
            </p:cNvCxnSpPr>
            <p:nvPr/>
          </p:nvCxnSpPr>
          <p:spPr>
            <a:xfrm rot="5400000">
              <a:off x="1416425" y="2951775"/>
              <a:ext cx="1241584" cy="1510950"/>
            </a:xfrm>
            <a:prstGeom prst="straightConnector1">
              <a:avLst/>
            </a:prstGeom>
            <a:ln w="9525" cap="flat" cmpd="sng">
              <a:solidFill>
                <a:schemeClr val="tx1"/>
              </a:solidFill>
              <a:prstDash val="solid"/>
              <a:headEnd type="none" w="med" len="med"/>
              <a:tailEnd type="none" w="med" len="med"/>
            </a:ln>
          </p:spPr>
        </p:cxnSp>
        <p:cxnSp>
          <p:nvCxnSpPr>
            <p:cNvPr id="15377" name="AutoShape 18"/>
            <p:cNvCxnSpPr>
              <a:endCxn id="15389" idx="6"/>
            </p:cNvCxnSpPr>
            <p:nvPr/>
          </p:nvCxnSpPr>
          <p:spPr>
            <a:xfrm flipV="1">
              <a:off x="1249945" y="4367332"/>
              <a:ext cx="1635590" cy="6548"/>
            </a:xfrm>
            <a:prstGeom prst="straightConnector1">
              <a:avLst/>
            </a:prstGeom>
            <a:ln w="9525" cap="flat" cmpd="sng">
              <a:solidFill>
                <a:schemeClr val="tx1"/>
              </a:solidFill>
              <a:prstDash val="solid"/>
              <a:headEnd type="none" w="med" len="med"/>
              <a:tailEnd type="none" w="med" len="med"/>
            </a:ln>
          </p:spPr>
        </p:cxnSp>
        <p:cxnSp>
          <p:nvCxnSpPr>
            <p:cNvPr id="15378" name="AutoShape 19"/>
            <p:cNvCxnSpPr/>
            <p:nvPr/>
          </p:nvCxnSpPr>
          <p:spPr>
            <a:xfrm rot="-5400000" flipH="1">
              <a:off x="2013669" y="3610157"/>
              <a:ext cx="1310" cy="1528756"/>
            </a:xfrm>
            <a:prstGeom prst="curvedConnector3">
              <a:avLst>
                <a:gd name="adj1" fmla="val 16500005"/>
              </a:avLst>
            </a:prstGeom>
            <a:ln w="9525" cap="flat" cmpd="sng">
              <a:solidFill>
                <a:schemeClr val="tx1"/>
              </a:solidFill>
              <a:prstDash val="solid"/>
              <a:headEnd type="none" w="med" len="med"/>
              <a:tailEnd type="none" w="med" len="med"/>
            </a:ln>
          </p:spPr>
        </p:cxnSp>
        <p:cxnSp>
          <p:nvCxnSpPr>
            <p:cNvPr id="15379" name="AutoShape 20"/>
            <p:cNvCxnSpPr/>
            <p:nvPr/>
          </p:nvCxnSpPr>
          <p:spPr>
            <a:xfrm rot="5400000" flipV="1">
              <a:off x="2013669" y="3610157"/>
              <a:ext cx="1310" cy="1528756"/>
            </a:xfrm>
            <a:prstGeom prst="curvedConnector3">
              <a:avLst>
                <a:gd name="adj1" fmla="val -16500005"/>
              </a:avLst>
            </a:prstGeom>
            <a:ln w="12700" cap="flat" cmpd="sng">
              <a:solidFill>
                <a:schemeClr val="tx1"/>
              </a:solidFill>
              <a:prstDash val="solid"/>
              <a:headEnd type="none" w="med" len="med"/>
              <a:tailEnd type="none" w="med" len="med"/>
            </a:ln>
          </p:spPr>
        </p:cxnSp>
        <p:cxnSp>
          <p:nvCxnSpPr>
            <p:cNvPr id="15380" name="AutoShape 23"/>
            <p:cNvCxnSpPr/>
            <p:nvPr/>
          </p:nvCxnSpPr>
          <p:spPr>
            <a:xfrm rot="10800000" flipH="1" flipV="1">
              <a:off x="1188897" y="3022283"/>
              <a:ext cx="1272" cy="1320165"/>
            </a:xfrm>
            <a:prstGeom prst="curvedConnector3">
              <a:avLst>
                <a:gd name="adj1" fmla="val -14400005"/>
              </a:avLst>
            </a:prstGeom>
            <a:ln w="9525" cap="flat" cmpd="sng">
              <a:solidFill>
                <a:schemeClr val="tx1"/>
              </a:solidFill>
              <a:prstDash val="solid"/>
              <a:headEnd type="none" w="med" len="med"/>
              <a:tailEnd type="none" w="med" len="med"/>
            </a:ln>
          </p:spPr>
        </p:cxnSp>
        <p:cxnSp>
          <p:nvCxnSpPr>
            <p:cNvPr id="15381" name="AutoShape 24"/>
            <p:cNvCxnSpPr>
              <a:stCxn id="15390" idx="6"/>
              <a:endCxn id="15391" idx="2"/>
            </p:cNvCxnSpPr>
            <p:nvPr/>
          </p:nvCxnSpPr>
          <p:spPr>
            <a:xfrm>
              <a:off x="2885536" y="3047167"/>
              <a:ext cx="1477882" cy="1309"/>
            </a:xfrm>
            <a:prstGeom prst="straightConnector1">
              <a:avLst/>
            </a:prstGeom>
            <a:ln w="9525" cap="flat" cmpd="sng">
              <a:solidFill>
                <a:schemeClr val="tx1"/>
              </a:solidFill>
              <a:prstDash val="solid"/>
              <a:headEnd type="none" w="med" len="med"/>
              <a:tailEnd type="none" w="med" len="med"/>
            </a:ln>
          </p:spPr>
        </p:cxnSp>
        <p:cxnSp>
          <p:nvCxnSpPr>
            <p:cNvPr id="15382" name="AutoShape 28"/>
            <p:cNvCxnSpPr/>
            <p:nvPr/>
          </p:nvCxnSpPr>
          <p:spPr>
            <a:xfrm flipH="1">
              <a:off x="2776157" y="3053715"/>
              <a:ext cx="115738" cy="1310"/>
            </a:xfrm>
            <a:prstGeom prst="curvedConnector5">
              <a:avLst>
                <a:gd name="adj1" fmla="val -100000"/>
                <a:gd name="adj2" fmla="val -21600009"/>
                <a:gd name="adj3" fmla="val 200000"/>
              </a:avLst>
            </a:prstGeom>
            <a:ln w="15875" cap="flat" cmpd="sng">
              <a:solidFill>
                <a:schemeClr val="tx1"/>
              </a:solidFill>
              <a:prstDash val="solid"/>
              <a:headEnd type="none" w="med" len="med"/>
              <a:tailEnd type="none" w="med" len="med"/>
            </a:ln>
          </p:spPr>
        </p:cxnSp>
        <p:sp>
          <p:nvSpPr>
            <p:cNvPr id="15383" name="Text Box 30"/>
            <p:cNvSpPr txBox="1"/>
            <p:nvPr/>
          </p:nvSpPr>
          <p:spPr>
            <a:xfrm>
              <a:off x="4302630" y="2550371"/>
              <a:ext cx="376389" cy="53656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sp>
          <p:nvSpPr>
            <p:cNvPr id="15384" name="Text Box 31"/>
            <p:cNvSpPr txBox="1"/>
            <p:nvPr/>
          </p:nvSpPr>
          <p:spPr>
            <a:xfrm>
              <a:off x="1066800" y="4437669"/>
              <a:ext cx="376390" cy="53656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15385" name="Text Box 32"/>
            <p:cNvSpPr txBox="1"/>
            <p:nvPr/>
          </p:nvSpPr>
          <p:spPr>
            <a:xfrm>
              <a:off x="2654753" y="4437669"/>
              <a:ext cx="396988" cy="53656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15386" name="Text Box 33"/>
            <p:cNvSpPr txBox="1"/>
            <p:nvPr/>
          </p:nvSpPr>
          <p:spPr>
            <a:xfrm>
              <a:off x="4240834" y="4499151"/>
              <a:ext cx="316467" cy="53656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f</a:t>
              </a:r>
              <a:endParaRPr lang="en-US" altLang="zh-TW" sz="2400" i="1" dirty="0">
                <a:latin typeface="Times New Roman" panose="02020603050405020304" pitchFamily="18" charset="0"/>
                <a:ea typeface="Times New Roman" panose="02020603050405020304" pitchFamily="18" charset="0"/>
              </a:endParaRPr>
            </a:p>
          </p:txBody>
        </p:sp>
        <p:sp>
          <p:nvSpPr>
            <p:cNvPr id="15387" name="Oval 4"/>
            <p:cNvSpPr/>
            <p:nvPr/>
          </p:nvSpPr>
          <p:spPr>
            <a:xfrm>
              <a:off x="1127848" y="2990850"/>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5388" name="Oval 4"/>
            <p:cNvSpPr/>
            <p:nvPr/>
          </p:nvSpPr>
          <p:spPr>
            <a:xfrm>
              <a:off x="1188897" y="4311015"/>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5389" name="Oval 4"/>
            <p:cNvSpPr/>
            <p:nvPr/>
          </p:nvSpPr>
          <p:spPr>
            <a:xfrm>
              <a:off x="2776157" y="4311015"/>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5390" name="Oval 4"/>
            <p:cNvSpPr/>
            <p:nvPr/>
          </p:nvSpPr>
          <p:spPr>
            <a:xfrm>
              <a:off x="2776157" y="2990850"/>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5391" name="Oval 4"/>
            <p:cNvSpPr/>
            <p:nvPr/>
          </p:nvSpPr>
          <p:spPr>
            <a:xfrm>
              <a:off x="4363418" y="2990850"/>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15392" name="Oval 4"/>
            <p:cNvSpPr/>
            <p:nvPr/>
          </p:nvSpPr>
          <p:spPr>
            <a:xfrm>
              <a:off x="4302369" y="4248150"/>
              <a:ext cx="109379" cy="112633"/>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grpSp>
      <p:sp>
        <p:nvSpPr>
          <p:cNvPr id="15368" name="投影片編號版面配置區 32"/>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4"/>
                                        </p:tgtEl>
                                        <p:attrNameLst>
                                          <p:attrName>style.visibility</p:attrName>
                                        </p:attrNameLst>
                                      </p:cBhvr>
                                      <p:to>
                                        <p:strVal val="visible"/>
                                      </p:to>
                                    </p:set>
                                    <p:anim calcmode="lin" valueType="num">
                                      <p:cBhvr additive="base">
                                        <p:cTn id="7" dur="500" fill="hold"/>
                                        <p:tgtEl>
                                          <p:spTgt spid="29704"/>
                                        </p:tgtEl>
                                        <p:attrNameLst>
                                          <p:attrName>ppt_x</p:attrName>
                                        </p:attrNameLst>
                                      </p:cBhvr>
                                      <p:tavLst>
                                        <p:tav tm="0">
                                          <p:val>
                                            <p:strVal val="#ppt_x"/>
                                          </p:val>
                                        </p:tav>
                                        <p:tav tm="100000">
                                          <p:val>
                                            <p:strVal val="#ppt_x"/>
                                          </p:val>
                                        </p:tav>
                                      </p:tavLst>
                                    </p:anim>
                                    <p:anim calcmode="lin" valueType="num">
                                      <p:cBhvr additive="base">
                                        <p:cTn id="8" dur="500" fill="hold"/>
                                        <p:tgtEl>
                                          <p:spTgt spid="297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705"/>
                                        </p:tgtEl>
                                        <p:attrNameLst>
                                          <p:attrName>style.visibility</p:attrName>
                                        </p:attrNameLst>
                                      </p:cBhvr>
                                      <p:to>
                                        <p:strVal val="visible"/>
                                      </p:to>
                                    </p:set>
                                    <p:anim calcmode="lin" valueType="num">
                                      <p:cBhvr additive="base">
                                        <p:cTn id="13" dur="500" fill="hold"/>
                                        <p:tgtEl>
                                          <p:spTgt spid="29705"/>
                                        </p:tgtEl>
                                        <p:attrNameLst>
                                          <p:attrName>ppt_x</p:attrName>
                                        </p:attrNameLst>
                                      </p:cBhvr>
                                      <p:tavLst>
                                        <p:tav tm="0">
                                          <p:val>
                                            <p:strVal val="#ppt_x"/>
                                          </p:val>
                                        </p:tav>
                                        <p:tav tm="100000">
                                          <p:val>
                                            <p:strVal val="#ppt_x"/>
                                          </p:val>
                                        </p:tav>
                                      </p:tavLst>
                                    </p:anim>
                                    <p:anim calcmode="lin" valueType="num">
                                      <p:cBhvr additive="base">
                                        <p:cTn id="14" dur="500" fill="hold"/>
                                        <p:tgtEl>
                                          <p:spTgt spid="297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4" grpId="0"/>
      <p:bldP spid="2970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7" name="Rectangle 3"/>
          <p:cNvSpPr>
            <a:spLocks noGrp="1" noChangeArrowheads="1"/>
          </p:cNvSpPr>
          <p:nvPr>
            <p:ph idx="1"/>
          </p:nvPr>
        </p:nvSpPr>
        <p:spPr>
          <a:xfrm>
            <a:off x="152400" y="533400"/>
            <a:ext cx="8839200" cy="914400"/>
          </a:xfrm>
          <a:ln>
            <a:solidFill>
              <a:schemeClr val="tx1">
                <a:lumMod val="75000"/>
                <a:lumOff val="25000"/>
              </a:schemeClr>
            </a:solidFill>
          </a:ln>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1" lang="en-US" altLang="zh-TW" sz="2800" b="1" i="0" u="none" strike="noStrike" kern="0" cap="none" spc="0" normalizeH="0" baseline="0" noProof="0" dirty="0" err="1" smtClean="0">
                <a:ln>
                  <a:noFill/>
                </a:ln>
                <a:solidFill>
                  <a:srgbClr val="3366FF"/>
                </a:solidFill>
                <a:effectLst/>
                <a:uLnTx/>
                <a:uFillTx/>
                <a:latin typeface="+mn-lt"/>
                <a:ea typeface="+mn-ea"/>
                <a:cs typeface="+mn-cs"/>
              </a:rPr>
              <a:t>Thm</a:t>
            </a:r>
            <a:r>
              <a:rPr kumimoji="1" lang="en-US" altLang="zh-TW" sz="2800" b="1" i="0" u="none" strike="noStrike" kern="0" cap="none" spc="0" normalizeH="0" baseline="0" noProof="0" dirty="0" smtClean="0">
                <a:ln>
                  <a:noFill/>
                </a:ln>
                <a:solidFill>
                  <a:srgbClr val="3366FF"/>
                </a:solidFill>
                <a:effectLst/>
                <a:uLnTx/>
                <a:uFillTx/>
                <a:latin typeface="+mn-lt"/>
                <a:ea typeface="+mn-ea"/>
                <a:cs typeface="+mn-cs"/>
              </a:rPr>
              <a:t> 2.</a:t>
            </a:r>
            <a:r>
              <a:rPr kumimoji="1" lang="en-US" altLang="zh-TW" sz="2800" b="0" i="0" u="none" strike="noStrike" kern="0" cap="none" spc="0" normalizeH="0" baseline="0" noProof="0" dirty="0" smtClean="0">
                <a:ln>
                  <a:noFill/>
                </a:ln>
                <a:solidFill>
                  <a:schemeClr val="tx1"/>
                </a:solidFill>
                <a:effectLst/>
                <a:uLnTx/>
                <a:uFillTx/>
                <a:latin typeface="+mn-lt"/>
                <a:ea typeface="+mn-ea"/>
                <a:cs typeface="+mn-cs"/>
              </a:rPr>
              <a:t>  An undirected graph </a:t>
            </a:r>
            <a:r>
              <a:rPr kumimoji="1" lang="en-US" altLang="zh-TW" sz="2800" b="0" i="1"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G </a:t>
            </a:r>
            <a:r>
              <a:rPr kumimoji="1" lang="en-US" altLang="zh-TW" sz="2800" b="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1" lang="en-US" altLang="zh-TW" sz="2800" b="0" i="1"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V</a:t>
            </a:r>
            <a:r>
              <a:rPr kumimoji="1" lang="en-US" altLang="zh-TW" sz="2800" b="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1" lang="en-US" altLang="zh-TW" sz="2800" b="0" i="1"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E</a:t>
            </a:r>
            <a:r>
              <a:rPr kumimoji="1" lang="en-US" altLang="zh-TW" sz="2800" b="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1" lang="en-US" altLang="zh-TW" sz="2800" b="0" i="0" u="none" strike="noStrike" kern="0" cap="none" spc="0" normalizeH="0" baseline="0" noProof="0" dirty="0" smtClean="0">
                <a:ln>
                  <a:noFill/>
                </a:ln>
                <a:solidFill>
                  <a:schemeClr val="tx1"/>
                </a:solidFill>
                <a:effectLst/>
                <a:uLnTx/>
                <a:uFillTx/>
                <a:latin typeface="+mn-lt"/>
                <a:ea typeface="+mn-ea"/>
                <a:cs typeface="+mn-cs"/>
              </a:rPr>
              <a:t> has an even number of vertices of odd degree.</a:t>
            </a:r>
            <a:endParaRPr kumimoji="1" lang="en-US" altLang="zh-TW" sz="28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1" lang="en-US" altLang="zh-TW" sz="28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1" lang="en-US" altLang="zh-TW" sz="28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1" lang="en-US" altLang="zh-TW" sz="2800" b="0" i="0" u="none" strike="noStrike" kern="0" cap="none" spc="0" normalizeH="0" baseline="0" noProof="0" dirty="0" smtClean="0">
                <a:ln>
                  <a:noFill/>
                </a:ln>
                <a:solidFill>
                  <a:schemeClr val="tx1"/>
                </a:solidFill>
                <a:effectLst/>
                <a:uLnTx/>
                <a:uFillTx/>
                <a:latin typeface="+mn-lt"/>
                <a:ea typeface="+mn-ea"/>
                <a:cs typeface="+mn-cs"/>
              </a:rPr>
              <a:t>	</a:t>
            </a:r>
            <a:endParaRPr kumimoji="1" lang="en-US" altLang="zh-TW" sz="28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1" lang="en-US" altLang="zh-TW" sz="2800" b="0" i="0" u="none" strike="noStrike" kern="0" cap="none" spc="0" normalizeH="0" baseline="0" noProof="0" dirty="0" smtClean="0">
                <a:ln>
                  <a:noFill/>
                </a:ln>
                <a:solidFill>
                  <a:schemeClr val="tx1"/>
                </a:solidFill>
                <a:effectLst/>
                <a:uLnTx/>
                <a:uFillTx/>
                <a:latin typeface="+mn-lt"/>
                <a:ea typeface="+mn-ea"/>
                <a:cs typeface="+mn-cs"/>
              </a:rPr>
              <a:t>		</a:t>
            </a:r>
            <a:endParaRPr kumimoji="1" lang="en-US" altLang="zh-TW" sz="2800" b="0" i="1"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sym typeface="Symbol" panose="05050102010706020507" pitchFamily="18" charset="2"/>
            </a:endParaRPr>
          </a:p>
        </p:txBody>
      </p:sp>
      <p:grpSp>
        <p:nvGrpSpPr>
          <p:cNvPr id="2" name="Group 9"/>
          <p:cNvGrpSpPr/>
          <p:nvPr/>
        </p:nvGrpSpPr>
        <p:grpSpPr>
          <a:xfrm>
            <a:off x="2438400" y="5943600"/>
            <a:ext cx="2779713" cy="673100"/>
            <a:chOff x="1200" y="3744"/>
            <a:chExt cx="1751" cy="424"/>
          </a:xfrm>
        </p:grpSpPr>
        <p:sp>
          <p:nvSpPr>
            <p:cNvPr id="16398" name="Oval 4"/>
            <p:cNvSpPr/>
            <p:nvPr/>
          </p:nvSpPr>
          <p:spPr>
            <a:xfrm>
              <a:off x="1248" y="3744"/>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6399" name="Oval 5"/>
            <p:cNvSpPr/>
            <p:nvPr/>
          </p:nvSpPr>
          <p:spPr>
            <a:xfrm>
              <a:off x="2784" y="3744"/>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6400" name="Line 6"/>
            <p:cNvSpPr/>
            <p:nvPr/>
          </p:nvSpPr>
          <p:spPr>
            <a:xfrm>
              <a:off x="1344" y="3792"/>
              <a:ext cx="1440" cy="0"/>
            </a:xfrm>
            <a:prstGeom prst="line">
              <a:avLst/>
            </a:prstGeom>
            <a:ln w="38100" cap="flat" cmpd="sng">
              <a:solidFill>
                <a:schemeClr val="tx1"/>
              </a:solidFill>
              <a:prstDash val="solid"/>
              <a:headEnd type="none" w="med" len="med"/>
              <a:tailEnd type="triangle" w="lg" len="lg"/>
            </a:ln>
          </p:spPr>
        </p:sp>
        <p:sp>
          <p:nvSpPr>
            <p:cNvPr id="16401" name="Text Box 7"/>
            <p:cNvSpPr txBox="1"/>
            <p:nvPr/>
          </p:nvSpPr>
          <p:spPr>
            <a:xfrm>
              <a:off x="1200" y="3841"/>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u</a:t>
              </a:r>
              <a:endParaRPr lang="en-US" altLang="zh-TW" sz="2800" i="1" dirty="0">
                <a:latin typeface="Times New Roman" panose="02020603050405020304" pitchFamily="18" charset="0"/>
              </a:endParaRPr>
            </a:p>
          </p:txBody>
        </p:sp>
        <p:sp>
          <p:nvSpPr>
            <p:cNvPr id="16402" name="Text Box 8"/>
            <p:cNvSpPr txBox="1"/>
            <p:nvPr/>
          </p:nvSpPr>
          <p:spPr>
            <a:xfrm>
              <a:off x="2736" y="3793"/>
              <a:ext cx="215"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v</a:t>
              </a:r>
              <a:endParaRPr lang="en-US" altLang="zh-TW" sz="2800" i="1" dirty="0">
                <a:latin typeface="Times New Roman" panose="02020603050405020304" pitchFamily="18" charset="0"/>
              </a:endParaRPr>
            </a:p>
          </p:txBody>
        </p:sp>
      </p:grpSp>
      <p:sp>
        <p:nvSpPr>
          <p:cNvPr id="10" name="Text Box 10"/>
          <p:cNvSpPr txBox="1"/>
          <p:nvPr/>
        </p:nvSpPr>
        <p:spPr>
          <a:xfrm>
            <a:off x="152400" y="1524000"/>
            <a:ext cx="87630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chemeClr val="tx2"/>
                </a:solidFill>
              </a:rPr>
              <a:t>Pf :</a:t>
            </a:r>
            <a:r>
              <a:rPr lang="en-US" altLang="zh-TW" sz="2800" dirty="0">
                <a:solidFill>
                  <a:schemeClr val="tx2"/>
                </a:solidFill>
              </a:rPr>
              <a:t> </a:t>
            </a:r>
            <a:r>
              <a:rPr lang="en-US" altLang="zh-TW" sz="2800" dirty="0"/>
              <a:t>Let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800" i="1" dirty="0">
                <a:latin typeface="Times New Roman" panose="02020603050405020304" pitchFamily="18" charset="0"/>
              </a:rPr>
              <a:t>V | </a:t>
            </a:r>
            <a:r>
              <a:rPr lang="en-US" altLang="zh-TW" sz="2800" dirty="0">
                <a:latin typeface="Times New Roman" panose="02020603050405020304" pitchFamily="18" charset="0"/>
              </a:rPr>
              <a:t>deg(</a:t>
            </a:r>
            <a:r>
              <a:rPr lang="en-US" altLang="zh-TW" sz="2800" i="1" dirty="0">
                <a:latin typeface="Times New Roman" panose="02020603050405020304" pitchFamily="18" charset="0"/>
              </a:rPr>
              <a:t>v</a:t>
            </a:r>
            <a:r>
              <a:rPr lang="en-US" altLang="zh-TW" sz="2800" dirty="0">
                <a:latin typeface="Times New Roman" panose="02020603050405020304" pitchFamily="18" charset="0"/>
              </a:rPr>
              <a:t>) is even},</a:t>
            </a:r>
            <a:r>
              <a:rPr lang="en-US" altLang="zh-TW" sz="2800" i="1" dirty="0">
                <a:latin typeface="Times New Roman" panose="02020603050405020304" pitchFamily="18" charset="0"/>
                <a:cs typeface="Times New Roman" panose="02020603050405020304" pitchFamily="18" charset="0"/>
              </a:rPr>
              <a:t> </a:t>
            </a:r>
            <a:br>
              <a:rPr lang="en-US" altLang="zh-TW" sz="2800" i="1" dirty="0">
                <a:latin typeface="Times New Roman" panose="02020603050405020304" pitchFamily="18" charset="0"/>
                <a:cs typeface="Times New Roman" panose="02020603050405020304" pitchFamily="18" charset="0"/>
              </a:rPr>
            </a:br>
            <a:r>
              <a:rPr lang="en-US" altLang="zh-TW" sz="2800" i="1" dirty="0">
                <a:latin typeface="Times New Roman" panose="02020603050405020304" pitchFamily="18" charset="0"/>
                <a:cs typeface="Times New Roman" panose="02020603050405020304" pitchFamily="18" charset="0"/>
              </a:rPr>
              <a:t>              V</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800" i="1" dirty="0">
                <a:latin typeface="Times New Roman" panose="02020603050405020304" pitchFamily="18" charset="0"/>
              </a:rPr>
              <a:t>V | </a:t>
            </a:r>
            <a:r>
              <a:rPr lang="en-US" altLang="zh-TW" sz="2800" dirty="0">
                <a:latin typeface="Times New Roman" panose="02020603050405020304" pitchFamily="18" charset="0"/>
              </a:rPr>
              <a:t>deg(</a:t>
            </a:r>
            <a:r>
              <a:rPr lang="en-US" altLang="zh-TW" sz="2800" i="1" dirty="0">
                <a:latin typeface="Times New Roman" panose="02020603050405020304" pitchFamily="18" charset="0"/>
              </a:rPr>
              <a:t>v</a:t>
            </a:r>
            <a:r>
              <a:rPr lang="en-US" altLang="zh-TW" sz="2800" dirty="0">
                <a:latin typeface="Times New Roman" panose="02020603050405020304" pitchFamily="18" charset="0"/>
              </a:rPr>
              <a:t>) is odd}.   </a:t>
            </a:r>
            <a:endParaRPr lang="en-US" altLang="zh-TW" sz="2800" dirty="0">
              <a:latin typeface="Times New Roman" panose="02020603050405020304" pitchFamily="18" charset="0"/>
              <a:ea typeface="Times New Roman" panose="02020603050405020304" pitchFamily="18" charset="0"/>
            </a:endParaRPr>
          </a:p>
        </p:txBody>
      </p:sp>
      <p:sp>
        <p:nvSpPr>
          <p:cNvPr id="11" name="矩形 10"/>
          <p:cNvSpPr/>
          <p:nvPr/>
        </p:nvSpPr>
        <p:spPr>
          <a:xfrm>
            <a:off x="152400" y="3429000"/>
            <a:ext cx="8534400" cy="22463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FF0000"/>
                </a:solidFill>
              </a:rPr>
              <a:t>Def 3. </a:t>
            </a:r>
            <a:r>
              <a:rPr lang="en-US" altLang="zh-TW" sz="2800" i="1" dirty="0">
                <a:latin typeface="Times New Roman" panose="02020603050405020304" pitchFamily="18" charset="0"/>
              </a:rPr>
              <a:t>G </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dirty="0">
                <a:latin typeface="Times New Roman" panose="02020603050405020304" pitchFamily="18" charset="0"/>
              </a:rPr>
              <a:t>, </a:t>
            </a:r>
            <a:r>
              <a:rPr lang="en-US" altLang="zh-TW" sz="2800" i="1" dirty="0">
                <a:latin typeface="Times New Roman" panose="02020603050405020304" pitchFamily="18" charset="0"/>
              </a:rPr>
              <a:t>E</a:t>
            </a:r>
            <a:r>
              <a:rPr lang="en-US" altLang="zh-TW" sz="2800" dirty="0">
                <a:latin typeface="Times New Roman" panose="02020603050405020304" pitchFamily="18" charset="0"/>
              </a:rPr>
              <a:t>):</a:t>
            </a:r>
            <a:r>
              <a:rPr lang="en-US" altLang="zh-TW" sz="2800" dirty="0"/>
              <a:t> directed graph,</a:t>
            </a:r>
            <a:br>
              <a:rPr lang="en-US" altLang="zh-TW" sz="2800" dirty="0"/>
            </a:br>
            <a:r>
              <a:rPr lang="en-US" altLang="zh-TW" sz="2800" dirty="0"/>
              <a:t>           </a:t>
            </a:r>
            <a:r>
              <a:rPr lang="en-US" altLang="zh-TW" sz="2800" i="1" dirty="0">
                <a:latin typeface="Times New Roman" panose="02020603050405020304" pitchFamily="18" charset="0"/>
              </a:rPr>
              <a:t>e </a:t>
            </a:r>
            <a:r>
              <a:rPr lang="en-US" altLang="zh-TW" sz="2800" dirty="0">
                <a:latin typeface="Times New Roman" panose="02020603050405020304" pitchFamily="18" charset="0"/>
              </a:rPr>
              <a:t>= (</a:t>
            </a:r>
            <a:r>
              <a:rPr lang="en-US" altLang="zh-TW" sz="2800" i="1" dirty="0">
                <a:latin typeface="Times New Roman" panose="02020603050405020304" pitchFamily="18" charset="0"/>
              </a:rPr>
              <a:t>u</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dirty="0">
                <a:latin typeface="Times New Roman" panose="02020603050405020304" pitchFamily="18" charset="0"/>
              </a:rPr>
              <a:t>) </a:t>
            </a:r>
            <a:r>
              <a:rPr lang="en-US" altLang="zh-TW" sz="2800" dirty="0">
                <a:latin typeface="Times New Roman" panose="02020603050405020304" pitchFamily="18" charset="0"/>
                <a:sym typeface="Symbol" panose="05050102010706020507" pitchFamily="18" charset="2"/>
              </a:rPr>
              <a:t> </a:t>
            </a:r>
            <a:r>
              <a:rPr lang="en-US" altLang="zh-TW" sz="2800" i="1" dirty="0">
                <a:latin typeface="Times New Roman" panose="02020603050405020304" pitchFamily="18" charset="0"/>
                <a:sym typeface="Symbol" panose="05050102010706020507" pitchFamily="18" charset="2"/>
              </a:rPr>
              <a:t>E</a:t>
            </a:r>
            <a:r>
              <a:rPr lang="en-US" altLang="zh-TW" sz="2800" dirty="0">
                <a:sym typeface="Symbol" panose="05050102010706020507" pitchFamily="18" charset="2"/>
              </a:rPr>
              <a:t> : </a:t>
            </a:r>
            <a:r>
              <a:rPr lang="en-US" altLang="zh-TW" sz="2800" i="1" dirty="0">
                <a:latin typeface="Times New Roman" panose="02020603050405020304" pitchFamily="18" charset="0"/>
                <a:sym typeface="Symbol" panose="05050102010706020507" pitchFamily="18" charset="2"/>
              </a:rPr>
              <a:t>u</a:t>
            </a:r>
            <a:r>
              <a:rPr lang="en-US" altLang="zh-TW" sz="2800" dirty="0">
                <a:sym typeface="Symbol" panose="05050102010706020507" pitchFamily="18" charset="2"/>
              </a:rPr>
              <a:t> is </a:t>
            </a:r>
            <a:r>
              <a:rPr lang="en-US" altLang="zh-TW" sz="2800" dirty="0">
                <a:solidFill>
                  <a:srgbClr val="3333CC"/>
                </a:solidFill>
                <a:sym typeface="Symbol" panose="05050102010706020507" pitchFamily="18" charset="2"/>
              </a:rPr>
              <a:t>adjacent to</a:t>
            </a:r>
            <a:r>
              <a:rPr lang="en-US" altLang="zh-TW" sz="2800" dirty="0">
                <a:sym typeface="Symbol" panose="05050102010706020507" pitchFamily="18" charset="2"/>
              </a:rPr>
              <a:t> </a:t>
            </a:r>
            <a:r>
              <a:rPr lang="en-US" altLang="zh-TW" sz="2800" i="1" dirty="0">
                <a:latin typeface="Times New Roman" panose="02020603050405020304" pitchFamily="18" charset="0"/>
                <a:sym typeface="Symbol" panose="05050102010706020507" pitchFamily="18" charset="2"/>
              </a:rPr>
              <a:t>v</a:t>
            </a:r>
            <a:endParaRPr lang="en-US" altLang="zh-TW" sz="2800" i="1" dirty="0">
              <a:latin typeface="Times New Roman" panose="02020603050405020304" pitchFamily="18" charset="0"/>
              <a:sym typeface="Symbol" panose="05050102010706020507" pitchFamily="18" charset="2"/>
            </a:endParaRPr>
          </a:p>
          <a:p>
            <a:pPr marL="0" lvl="0" indent="0" eaLnBrk="1" hangingPunct="1">
              <a:spcBef>
                <a:spcPct val="0"/>
              </a:spcBef>
              <a:buClrTx/>
              <a:buSzPct val="100000"/>
              <a:buNone/>
            </a:pPr>
            <a:r>
              <a:rPr lang="en-US" altLang="zh-TW" sz="2800" dirty="0">
                <a:sym typeface="Symbol" panose="05050102010706020507" pitchFamily="18" charset="2"/>
              </a:rPr>
              <a:t>                                  </a:t>
            </a:r>
            <a:r>
              <a:rPr lang="en-US" altLang="zh-TW" sz="2800" i="1" dirty="0">
                <a:latin typeface="Times New Roman" panose="02020603050405020304" pitchFamily="18" charset="0"/>
                <a:sym typeface="Symbol" panose="05050102010706020507" pitchFamily="18" charset="2"/>
              </a:rPr>
              <a:t>v</a:t>
            </a:r>
            <a:r>
              <a:rPr lang="en-US" altLang="zh-TW" sz="2800" dirty="0">
                <a:sym typeface="Symbol" panose="05050102010706020507" pitchFamily="18" charset="2"/>
              </a:rPr>
              <a:t> is </a:t>
            </a:r>
            <a:r>
              <a:rPr lang="en-US" altLang="zh-TW" sz="2800" dirty="0">
                <a:solidFill>
                  <a:srgbClr val="3333CC"/>
                </a:solidFill>
                <a:sym typeface="Symbol" panose="05050102010706020507" pitchFamily="18" charset="2"/>
              </a:rPr>
              <a:t>adjacent from</a:t>
            </a:r>
            <a:r>
              <a:rPr lang="en-US" altLang="zh-TW" sz="2800" dirty="0">
                <a:sym typeface="Symbol" panose="05050102010706020507" pitchFamily="18" charset="2"/>
              </a:rPr>
              <a:t> </a:t>
            </a:r>
            <a:r>
              <a:rPr lang="en-US" altLang="zh-TW" sz="2800" i="1" dirty="0">
                <a:latin typeface="Times New Roman" panose="02020603050405020304" pitchFamily="18" charset="0"/>
                <a:sym typeface="Symbol" panose="05050102010706020507" pitchFamily="18" charset="2"/>
              </a:rPr>
              <a:t>u</a:t>
            </a:r>
            <a:endParaRPr lang="en-US" altLang="zh-TW" sz="2800" i="1" dirty="0">
              <a:latin typeface="Times New Roman" panose="02020603050405020304" pitchFamily="18" charset="0"/>
              <a:sym typeface="Symbol" panose="05050102010706020507" pitchFamily="18" charset="2"/>
            </a:endParaRPr>
          </a:p>
          <a:p>
            <a:pPr marL="0" lvl="0" indent="0" eaLnBrk="1" hangingPunct="1">
              <a:spcBef>
                <a:spcPct val="0"/>
              </a:spcBef>
              <a:buClrTx/>
              <a:buSzPct val="100000"/>
              <a:buNone/>
            </a:pPr>
            <a:r>
              <a:rPr lang="en-US" altLang="zh-TW" sz="2800" i="1" dirty="0">
                <a:latin typeface="Times New Roman" panose="02020603050405020304" pitchFamily="18" charset="0"/>
                <a:sym typeface="Symbol" panose="05050102010706020507" pitchFamily="18" charset="2"/>
              </a:rPr>
              <a:t>            u</a:t>
            </a:r>
            <a:r>
              <a:rPr lang="en-US" altLang="zh-TW" sz="2800" dirty="0">
                <a:sym typeface="Symbol" panose="05050102010706020507" pitchFamily="18" charset="2"/>
              </a:rPr>
              <a:t> : </a:t>
            </a:r>
            <a:r>
              <a:rPr lang="en-US" altLang="zh-TW" sz="2800" dirty="0">
                <a:solidFill>
                  <a:srgbClr val="3333CC"/>
                </a:solidFill>
                <a:sym typeface="Symbol" panose="05050102010706020507" pitchFamily="18" charset="2"/>
              </a:rPr>
              <a:t>initial vertex</a:t>
            </a:r>
            <a:r>
              <a:rPr lang="en-US" altLang="zh-TW" sz="2800" dirty="0">
                <a:sym typeface="Symbol" panose="05050102010706020507" pitchFamily="18" charset="2"/>
              </a:rPr>
              <a:t> of </a:t>
            </a:r>
            <a:r>
              <a:rPr lang="en-US" altLang="zh-TW" sz="2800" i="1" dirty="0">
                <a:latin typeface="Times New Roman" panose="02020603050405020304" pitchFamily="18" charset="0"/>
                <a:sym typeface="Symbol" panose="05050102010706020507" pitchFamily="18" charset="2"/>
              </a:rPr>
              <a:t>e</a:t>
            </a:r>
            <a:br>
              <a:rPr lang="en-US" altLang="zh-TW" sz="2800" dirty="0">
                <a:sym typeface="Symbol" panose="05050102010706020507" pitchFamily="18" charset="2"/>
              </a:rPr>
            </a:br>
            <a:r>
              <a:rPr lang="en-US" altLang="zh-TW" sz="2800" dirty="0">
                <a:sym typeface="Symbol" panose="05050102010706020507" pitchFamily="18" charset="2"/>
              </a:rPr>
              <a:t>           </a:t>
            </a:r>
            <a:r>
              <a:rPr lang="en-US" altLang="zh-TW" sz="2800" i="1" dirty="0">
                <a:latin typeface="Times New Roman" panose="02020603050405020304" pitchFamily="18" charset="0"/>
                <a:sym typeface="Symbol" panose="05050102010706020507" pitchFamily="18" charset="2"/>
              </a:rPr>
              <a:t>v</a:t>
            </a:r>
            <a:r>
              <a:rPr lang="en-US" altLang="zh-TW" sz="2800" dirty="0">
                <a:sym typeface="Symbol" panose="05050102010706020507" pitchFamily="18" charset="2"/>
              </a:rPr>
              <a:t> : </a:t>
            </a:r>
            <a:r>
              <a:rPr lang="en-US" altLang="zh-TW" sz="2800" dirty="0">
                <a:solidFill>
                  <a:srgbClr val="3333CC"/>
                </a:solidFill>
                <a:sym typeface="Symbol" panose="05050102010706020507" pitchFamily="18" charset="2"/>
              </a:rPr>
              <a:t>terminal (end) vertex</a:t>
            </a:r>
            <a:r>
              <a:rPr lang="en-US" altLang="zh-TW" sz="2800" dirty="0">
                <a:sym typeface="Symbol" panose="05050102010706020507" pitchFamily="18" charset="2"/>
              </a:rPr>
              <a:t> of </a:t>
            </a:r>
            <a:r>
              <a:rPr lang="en-US" altLang="zh-TW" sz="2800" i="1" dirty="0">
                <a:latin typeface="Times New Roman" panose="02020603050405020304" pitchFamily="18" charset="0"/>
                <a:sym typeface="Symbol" panose="05050102010706020507" pitchFamily="18" charset="2"/>
              </a:rPr>
              <a:t>e</a:t>
            </a:r>
            <a:r>
              <a:rPr lang="en-US" altLang="zh-TW" sz="2800" dirty="0"/>
              <a:t> </a:t>
            </a:r>
            <a:endParaRPr lang="zh-TW" altLang="en-US" sz="2800" dirty="0"/>
          </a:p>
        </p:txBody>
      </p:sp>
      <p:sp>
        <p:nvSpPr>
          <p:cNvPr id="3081" name="矩形 12"/>
          <p:cNvSpPr/>
          <p:nvPr/>
        </p:nvSpPr>
        <p:spPr>
          <a:xfrm>
            <a:off x="3657600" y="6019800"/>
            <a:ext cx="342900"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e</a:t>
            </a:r>
            <a:endParaRPr lang="zh-TW" altLang="en-US" sz="2800" dirty="0"/>
          </a:p>
        </p:txBody>
      </p:sp>
      <p:graphicFrame>
        <p:nvGraphicFramePr>
          <p:cNvPr id="14" name="Object 10"/>
          <p:cNvGraphicFramePr>
            <a:graphicFrameLocks noChangeAspect="1"/>
          </p:cNvGraphicFramePr>
          <p:nvPr/>
        </p:nvGraphicFramePr>
        <p:xfrm>
          <a:off x="962025" y="2438400"/>
          <a:ext cx="4032250" cy="920750"/>
        </p:xfrm>
        <a:graphic>
          <a:graphicData uri="http://schemas.openxmlformats.org/presentationml/2006/ole">
            <mc:AlternateContent xmlns:mc="http://schemas.openxmlformats.org/markup-compatibility/2006">
              <mc:Choice xmlns:v="urn:schemas-microsoft-com:vml" Requires="v">
                <p:oleObj spid="_x0000_s3082" name="" r:id="rId1" imgW="1612900" imgH="368300" progId="Equation.3">
                  <p:embed/>
                </p:oleObj>
              </mc:Choice>
              <mc:Fallback>
                <p:oleObj name="" r:id="rId1" imgW="1612900" imgH="368300" progId="Equation.3">
                  <p:embed/>
                  <p:pic>
                    <p:nvPicPr>
                      <p:cNvPr id="0" name="图片 3081"/>
                      <p:cNvPicPr/>
                      <p:nvPr/>
                    </p:nvPicPr>
                    <p:blipFill>
                      <a:blip r:embed="rId2"/>
                      <a:stretch>
                        <a:fillRect/>
                      </a:stretch>
                    </p:blipFill>
                    <p:spPr>
                      <a:xfrm>
                        <a:off x="962025" y="2438400"/>
                        <a:ext cx="4032250" cy="920750"/>
                      </a:xfrm>
                      <a:prstGeom prst="rect">
                        <a:avLst/>
                      </a:prstGeom>
                      <a:noFill/>
                      <a:ln w="38100">
                        <a:noFill/>
                        <a:miter/>
                      </a:ln>
                    </p:spPr>
                  </p:pic>
                </p:oleObj>
              </mc:Fallback>
            </mc:AlternateContent>
          </a:graphicData>
        </a:graphic>
      </p:graphicFrame>
      <p:grpSp>
        <p:nvGrpSpPr>
          <p:cNvPr id="3" name="群組 17"/>
          <p:cNvGrpSpPr/>
          <p:nvPr/>
        </p:nvGrpSpPr>
        <p:grpSpPr>
          <a:xfrm>
            <a:off x="5257800" y="2438400"/>
            <a:ext cx="3729038" cy="927100"/>
            <a:chOff x="5257800" y="2438399"/>
            <a:chExt cx="3729024" cy="926591"/>
          </a:xfrm>
        </p:grpSpPr>
        <p:sp>
          <p:nvSpPr>
            <p:cNvPr id="16395" name="矩形 14"/>
            <p:cNvSpPr/>
            <p:nvPr/>
          </p:nvSpPr>
          <p:spPr>
            <a:xfrm>
              <a:off x="5257800" y="2514600"/>
              <a:ext cx="538930"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ym typeface="Symbol" panose="05050102010706020507" pitchFamily="18" charset="2"/>
                </a:rPr>
                <a:t></a:t>
              </a:r>
              <a:endParaRPr lang="zh-TW" altLang="en-US" sz="2800" dirty="0"/>
            </a:p>
          </p:txBody>
        </p:sp>
        <p:graphicFrame>
          <p:nvGraphicFramePr>
            <p:cNvPr id="16396" name="Object 11"/>
            <p:cNvGraphicFramePr>
              <a:graphicFrameLocks noChangeAspect="1"/>
            </p:cNvGraphicFramePr>
            <p:nvPr/>
          </p:nvGraphicFramePr>
          <p:xfrm>
            <a:off x="5867401" y="2438399"/>
            <a:ext cx="1597572" cy="926591"/>
          </p:xfrm>
          <a:graphic>
            <a:graphicData uri="http://schemas.openxmlformats.org/presentationml/2006/ole">
              <mc:AlternateContent xmlns:mc="http://schemas.openxmlformats.org/markup-compatibility/2006">
                <mc:Choice xmlns:v="urn:schemas-microsoft-com:vml" Requires="v">
                  <p:oleObj spid="_x0000_s3083" name="" r:id="rId3" imgW="635000" imgH="368300" progId="Equation.3">
                    <p:embed/>
                  </p:oleObj>
                </mc:Choice>
                <mc:Fallback>
                  <p:oleObj name="" r:id="rId3" imgW="635000" imgH="368300" progId="Equation.3">
                    <p:embed/>
                    <p:pic>
                      <p:nvPicPr>
                        <p:cNvPr id="0" name="图片 3082"/>
                        <p:cNvPicPr/>
                        <p:nvPr/>
                      </p:nvPicPr>
                      <p:blipFill>
                        <a:blip r:embed="rId4"/>
                        <a:stretch>
                          <a:fillRect/>
                        </a:stretch>
                      </p:blipFill>
                      <p:spPr>
                        <a:xfrm>
                          <a:off x="5867401" y="2438399"/>
                          <a:ext cx="1597572" cy="926591"/>
                        </a:xfrm>
                        <a:prstGeom prst="rect">
                          <a:avLst/>
                        </a:prstGeom>
                        <a:noFill/>
                        <a:ln w="38100">
                          <a:noFill/>
                          <a:miter/>
                        </a:ln>
                      </p:spPr>
                    </p:pic>
                  </p:oleObj>
                </mc:Fallback>
              </mc:AlternateContent>
            </a:graphicData>
          </a:graphic>
        </p:graphicFrame>
        <p:sp>
          <p:nvSpPr>
            <p:cNvPr id="16397" name="矩形 16"/>
            <p:cNvSpPr/>
            <p:nvPr/>
          </p:nvSpPr>
          <p:spPr>
            <a:xfrm>
              <a:off x="7543800" y="2514600"/>
              <a:ext cx="1443024"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ym typeface="Symbol" panose="05050102010706020507" pitchFamily="18" charset="2"/>
                </a:rPr>
                <a:t>is even.</a:t>
              </a:r>
              <a:endParaRPr lang="zh-TW" altLang="en-US" sz="2800" dirty="0"/>
            </a:p>
          </p:txBody>
        </p:sp>
      </p:grpSp>
      <p:sp>
        <p:nvSpPr>
          <p:cNvPr id="18" name="矩形 17"/>
          <p:cNvSpPr/>
          <p:nvPr/>
        </p:nvSpPr>
        <p:spPr>
          <a:xfrm>
            <a:off x="7010400" y="3276600"/>
            <a:ext cx="1897063"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5</a:t>
            </a:r>
            <a:endParaRPr lang="zh-TW" altLang="en-US" sz="2400" dirty="0">
              <a:solidFill>
                <a:srgbClr val="0000CC"/>
              </a:solidFill>
            </a:endParaRPr>
          </a:p>
        </p:txBody>
      </p:sp>
      <p:sp>
        <p:nvSpPr>
          <p:cNvPr id="16394" name="投影片編號版面配置區 18"/>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081"/>
                                        </p:tgtEl>
                                        <p:attrNameLst>
                                          <p:attrName>style.visibility</p:attrName>
                                        </p:attrNameLst>
                                      </p:cBhvr>
                                      <p:to>
                                        <p:strVal val="visible"/>
                                      </p:to>
                                    </p:set>
                                    <p:anim calcmode="lin" valueType="num">
                                      <p:cBhvr additive="base">
                                        <p:cTn id="39" dur="500" fill="hold"/>
                                        <p:tgtEl>
                                          <p:spTgt spid="3081"/>
                                        </p:tgtEl>
                                        <p:attrNameLst>
                                          <p:attrName>ppt_x</p:attrName>
                                        </p:attrNameLst>
                                      </p:cBhvr>
                                      <p:tavLst>
                                        <p:tav tm="0">
                                          <p:val>
                                            <p:strVal val="#ppt_x"/>
                                          </p:val>
                                        </p:tav>
                                        <p:tav tm="100000">
                                          <p:val>
                                            <p:strVal val="#ppt_x"/>
                                          </p:val>
                                        </p:tav>
                                      </p:tavLst>
                                    </p:anim>
                                    <p:anim calcmode="lin" valueType="num">
                                      <p:cBhvr additive="base">
                                        <p:cTn id="40" dur="500" fill="hold"/>
                                        <p:tgtEl>
                                          <p:spTgt spid="30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3081" grpId="0"/>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a:spLocks noGrp="1"/>
          </p:cNvSpPr>
          <p:nvPr>
            <p:ph idx="1"/>
          </p:nvPr>
        </p:nvSpPr>
        <p:spPr>
          <a:xfrm>
            <a:off x="228600" y="533400"/>
            <a:ext cx="8458200" cy="2819400"/>
          </a:xfrm>
        </p:spPr>
        <p:txBody>
          <a:bodyPr vert="horz" wrap="square" lIns="91440" tIns="45720" rIns="91440" bIns="45720" anchor="t"/>
          <a:p>
            <a:pPr eaLnBrk="1" hangingPunct="1">
              <a:lnSpc>
                <a:spcPct val="90000"/>
              </a:lnSpc>
              <a:buNone/>
            </a:pPr>
            <a:r>
              <a:rPr lang="en-US" altLang="zh-TW" sz="2800" b="1" dirty="0">
                <a:solidFill>
                  <a:srgbClr val="FF0000"/>
                </a:solidFill>
              </a:rPr>
              <a:t>Def 4.</a:t>
            </a:r>
            <a:r>
              <a:rPr lang="en-US" altLang="zh-TW" sz="2800" dirty="0"/>
              <a:t> </a:t>
            </a:r>
            <a:endParaRPr lang="en-US" altLang="zh-TW" sz="2800" dirty="0"/>
          </a:p>
          <a:p>
            <a:pPr eaLnBrk="1" hangingPunct="1">
              <a:lnSpc>
                <a:spcPct val="90000"/>
              </a:lnSpc>
              <a:buNone/>
            </a:pPr>
            <a:r>
              <a:rPr lang="en-US" altLang="zh-TW" sz="2800" dirty="0"/>
              <a:t>		</a:t>
            </a:r>
            <a:r>
              <a:rPr lang="en-US" altLang="zh-TW" sz="2800" i="1" dirty="0">
                <a:latin typeface="Times New Roman" panose="02020603050405020304" pitchFamily="18" charset="0"/>
              </a:rPr>
              <a:t>G</a:t>
            </a:r>
            <a:r>
              <a:rPr lang="en-US" altLang="zh-TW" sz="2800" dirty="0">
                <a:latin typeface="Times New Roman" panose="02020603050405020304" pitchFamily="18" charset="0"/>
              </a:rPr>
              <a:t> = (</a:t>
            </a:r>
            <a:r>
              <a:rPr lang="en-US" altLang="zh-TW" sz="2800" i="1" dirty="0">
                <a:latin typeface="Times New Roman" panose="02020603050405020304" pitchFamily="18" charset="0"/>
              </a:rPr>
              <a:t>V</a:t>
            </a:r>
            <a:r>
              <a:rPr lang="en-US" altLang="zh-TW" sz="2800" dirty="0">
                <a:latin typeface="Times New Roman" panose="02020603050405020304" pitchFamily="18" charset="0"/>
              </a:rPr>
              <a:t>, </a:t>
            </a:r>
            <a:r>
              <a:rPr lang="en-US" altLang="zh-TW" sz="2800" i="1" dirty="0">
                <a:latin typeface="Times New Roman" panose="02020603050405020304" pitchFamily="18" charset="0"/>
              </a:rPr>
              <a:t>E</a:t>
            </a:r>
            <a:r>
              <a:rPr lang="en-US" altLang="zh-TW" sz="2800" dirty="0">
                <a:latin typeface="Times New Roman" panose="02020603050405020304" pitchFamily="18" charset="0"/>
              </a:rPr>
              <a:t>)</a:t>
            </a:r>
            <a:r>
              <a:rPr lang="en-US" altLang="zh-TW" sz="2800" dirty="0"/>
              <a:t> : directed graph,  </a:t>
            </a:r>
            <a:r>
              <a:rPr lang="en-US" altLang="zh-TW" sz="2800" i="1" dirty="0">
                <a:latin typeface="Times New Roman" panose="02020603050405020304" pitchFamily="18" charset="0"/>
              </a:rPr>
              <a:t>v</a:t>
            </a:r>
            <a:r>
              <a:rPr lang="en-US" altLang="zh-TW" sz="2800" dirty="0">
                <a:sym typeface="Symbol" panose="05050102010706020507" pitchFamily="18" charset="2"/>
              </a:rPr>
              <a:t></a:t>
            </a:r>
            <a:r>
              <a:rPr lang="en-US" altLang="zh-TW" sz="2800" i="1" dirty="0">
                <a:latin typeface="Times New Roman" panose="02020603050405020304" pitchFamily="18" charset="0"/>
                <a:sym typeface="Symbol" panose="05050102010706020507" pitchFamily="18" charset="2"/>
              </a:rPr>
              <a:t>V</a:t>
            </a:r>
            <a:endParaRPr lang="en-US" altLang="zh-TW" sz="2800" i="1" dirty="0">
              <a:latin typeface="Times New Roman" panose="02020603050405020304" pitchFamily="18" charset="0"/>
              <a:sym typeface="Symbol" panose="05050102010706020507" pitchFamily="18" charset="2"/>
            </a:endParaRPr>
          </a:p>
          <a:p>
            <a:pPr eaLnBrk="1" hangingPunct="1">
              <a:lnSpc>
                <a:spcPct val="90000"/>
              </a:lnSpc>
              <a:buNone/>
            </a:pPr>
            <a:r>
              <a:rPr lang="en-US" altLang="zh-TW" sz="2800" dirty="0">
                <a:sym typeface="Symbol" panose="05050102010706020507" pitchFamily="18" charset="2"/>
              </a:rPr>
              <a:t>         </a:t>
            </a:r>
            <a:r>
              <a:rPr lang="en-US" altLang="zh-TW" sz="2800" dirty="0">
                <a:solidFill>
                  <a:srgbClr val="3333CC"/>
                </a:solidFill>
                <a:latin typeface="Times New Roman" panose="02020603050405020304" pitchFamily="18" charset="0"/>
                <a:sym typeface="Symbol" panose="05050102010706020507" pitchFamily="18" charset="2"/>
              </a:rPr>
              <a:t>deg</a:t>
            </a:r>
            <a:r>
              <a:rPr lang="en-US" altLang="zh-TW" sz="2800" baseline="30000" dirty="0">
                <a:solidFill>
                  <a:srgbClr val="3333CC"/>
                </a:solidFill>
                <a:latin typeface="Symbol" panose="05050102010706020507" pitchFamily="18" charset="2"/>
                <a:sym typeface="Symbol" panose="05050102010706020507" pitchFamily="18" charset="2"/>
              </a:rPr>
              <a:t>-</a:t>
            </a:r>
            <a:r>
              <a:rPr lang="en-US" altLang="zh-TW" sz="2800" dirty="0">
                <a:solidFill>
                  <a:srgbClr val="3333CC"/>
                </a:solidFill>
                <a:sym typeface="Symbol" panose="05050102010706020507" pitchFamily="18" charset="2"/>
              </a:rPr>
              <a:t>(</a:t>
            </a:r>
            <a:r>
              <a:rPr lang="en-US" altLang="zh-TW" sz="2800" i="1" dirty="0">
                <a:solidFill>
                  <a:srgbClr val="3333CC"/>
                </a:solidFill>
                <a:latin typeface="Times New Roman" panose="02020603050405020304" pitchFamily="18" charset="0"/>
                <a:sym typeface="Symbol" panose="05050102010706020507" pitchFamily="18" charset="2"/>
              </a:rPr>
              <a:t>v</a:t>
            </a:r>
            <a:r>
              <a:rPr lang="en-US" altLang="zh-TW" sz="2800" dirty="0">
                <a:solidFill>
                  <a:srgbClr val="3333CC"/>
                </a:solidFill>
                <a:sym typeface="Symbol" panose="05050102010706020507" pitchFamily="18" charset="2"/>
              </a:rPr>
              <a:t>)</a:t>
            </a:r>
            <a:r>
              <a:rPr lang="en-US" altLang="zh-TW" sz="2800" dirty="0">
                <a:sym typeface="Symbol" panose="05050102010706020507" pitchFamily="18" charset="2"/>
              </a:rPr>
              <a:t> : # of edges with </a:t>
            </a:r>
            <a:r>
              <a:rPr lang="en-US" altLang="zh-TW" sz="2800" i="1" dirty="0">
                <a:latin typeface="Times New Roman" panose="02020603050405020304" pitchFamily="18" charset="0"/>
                <a:sym typeface="Symbol" panose="05050102010706020507" pitchFamily="18" charset="2"/>
              </a:rPr>
              <a:t>v </a:t>
            </a:r>
            <a:r>
              <a:rPr lang="en-US" altLang="zh-TW" sz="2800" dirty="0">
                <a:sym typeface="Symbol" panose="05050102010706020507" pitchFamily="18" charset="2"/>
              </a:rPr>
              <a:t>as a terminal.</a:t>
            </a:r>
            <a:endParaRPr lang="en-US" altLang="zh-TW" sz="2800" dirty="0">
              <a:sym typeface="Symbol" panose="05050102010706020507" pitchFamily="18" charset="2"/>
            </a:endParaRPr>
          </a:p>
          <a:p>
            <a:pPr eaLnBrk="1" hangingPunct="1">
              <a:lnSpc>
                <a:spcPct val="90000"/>
              </a:lnSpc>
              <a:buNone/>
            </a:pPr>
            <a:r>
              <a:rPr lang="en-US" altLang="zh-TW" sz="2800" dirty="0">
                <a:sym typeface="Symbol" panose="05050102010706020507" pitchFamily="18" charset="2"/>
              </a:rPr>
              <a:t>                      (</a:t>
            </a:r>
            <a:r>
              <a:rPr lang="en-US" altLang="zh-TW" sz="2800" dirty="0">
                <a:solidFill>
                  <a:srgbClr val="3333CC"/>
                </a:solidFill>
                <a:sym typeface="Symbol" panose="05050102010706020507" pitchFamily="18" charset="2"/>
              </a:rPr>
              <a:t>in-degree</a:t>
            </a:r>
            <a:r>
              <a:rPr lang="en-US" altLang="zh-TW" sz="2800" dirty="0">
                <a:sym typeface="Symbol" panose="05050102010706020507" pitchFamily="18" charset="2"/>
              </a:rPr>
              <a:t>)</a:t>
            </a:r>
            <a:endParaRPr lang="en-US" altLang="zh-TW" sz="2800" dirty="0">
              <a:sym typeface="Symbol" panose="05050102010706020507" pitchFamily="18" charset="2"/>
            </a:endParaRPr>
          </a:p>
          <a:p>
            <a:pPr eaLnBrk="1" hangingPunct="1">
              <a:lnSpc>
                <a:spcPct val="90000"/>
              </a:lnSpc>
              <a:buNone/>
            </a:pPr>
            <a:r>
              <a:rPr lang="en-US" altLang="zh-TW" sz="2800" dirty="0">
                <a:sym typeface="Symbol" panose="05050102010706020507" pitchFamily="18" charset="2"/>
              </a:rPr>
              <a:t>         </a:t>
            </a:r>
            <a:r>
              <a:rPr lang="en-US" altLang="zh-TW" sz="2800" dirty="0">
                <a:solidFill>
                  <a:srgbClr val="3333CC"/>
                </a:solidFill>
                <a:latin typeface="Times New Roman" panose="02020603050405020304" pitchFamily="18" charset="0"/>
                <a:sym typeface="Symbol" panose="05050102010706020507" pitchFamily="18" charset="2"/>
              </a:rPr>
              <a:t>deg</a:t>
            </a:r>
            <a:r>
              <a:rPr lang="en-US" altLang="zh-TW" sz="2800" baseline="30000" dirty="0">
                <a:solidFill>
                  <a:srgbClr val="3333CC"/>
                </a:solidFill>
                <a:latin typeface="Times New Roman" panose="02020603050405020304" pitchFamily="18" charset="0"/>
                <a:sym typeface="Symbol" panose="05050102010706020507" pitchFamily="18" charset="2"/>
              </a:rPr>
              <a:t>+</a:t>
            </a:r>
            <a:r>
              <a:rPr lang="en-US" altLang="zh-TW" sz="2800" dirty="0">
                <a:solidFill>
                  <a:srgbClr val="3333CC"/>
                </a:solidFill>
                <a:latin typeface="Times New Roman" panose="02020603050405020304" pitchFamily="18" charset="0"/>
                <a:sym typeface="Symbol" panose="05050102010706020507" pitchFamily="18" charset="2"/>
              </a:rPr>
              <a:t>(</a:t>
            </a:r>
            <a:r>
              <a:rPr lang="en-US" altLang="zh-TW" sz="2800" i="1" dirty="0">
                <a:solidFill>
                  <a:srgbClr val="3333CC"/>
                </a:solidFill>
                <a:latin typeface="Times New Roman" panose="02020603050405020304" pitchFamily="18" charset="0"/>
                <a:sym typeface="Symbol" panose="05050102010706020507" pitchFamily="18" charset="2"/>
              </a:rPr>
              <a:t>v</a:t>
            </a:r>
            <a:r>
              <a:rPr lang="en-US" altLang="zh-TW" sz="2800" dirty="0">
                <a:solidFill>
                  <a:srgbClr val="3333CC"/>
                </a:solidFill>
                <a:latin typeface="Times New Roman" panose="02020603050405020304" pitchFamily="18" charset="0"/>
                <a:sym typeface="Symbol" panose="05050102010706020507" pitchFamily="18" charset="2"/>
              </a:rPr>
              <a:t>)</a:t>
            </a:r>
            <a:r>
              <a:rPr lang="en-US" altLang="zh-TW" sz="2800" dirty="0">
                <a:sym typeface="Symbol" panose="05050102010706020507" pitchFamily="18" charset="2"/>
              </a:rPr>
              <a:t> : # of edges with </a:t>
            </a:r>
            <a:r>
              <a:rPr lang="en-US" altLang="zh-TW" sz="2800" i="1" dirty="0">
                <a:latin typeface="Times New Roman" panose="02020603050405020304" pitchFamily="18" charset="0"/>
                <a:sym typeface="Symbol" panose="05050102010706020507" pitchFamily="18" charset="2"/>
              </a:rPr>
              <a:t>v</a:t>
            </a:r>
            <a:r>
              <a:rPr lang="en-US" altLang="zh-TW" sz="2800" dirty="0">
                <a:sym typeface="Symbol" panose="05050102010706020507" pitchFamily="18" charset="2"/>
              </a:rPr>
              <a:t> as a initial vertex</a:t>
            </a:r>
            <a:br>
              <a:rPr lang="en-US" altLang="zh-TW" sz="2800" dirty="0">
                <a:sym typeface="Symbol" panose="05050102010706020507" pitchFamily="18" charset="2"/>
              </a:rPr>
            </a:br>
            <a:r>
              <a:rPr lang="en-US" altLang="zh-TW" sz="2800" dirty="0">
                <a:sym typeface="Symbol" panose="05050102010706020507" pitchFamily="18" charset="2"/>
              </a:rPr>
              <a:t>                   (</a:t>
            </a:r>
            <a:r>
              <a:rPr lang="en-US" altLang="zh-TW" sz="2800" dirty="0">
                <a:solidFill>
                  <a:srgbClr val="3333CC"/>
                </a:solidFill>
                <a:sym typeface="Symbol" panose="05050102010706020507" pitchFamily="18" charset="2"/>
              </a:rPr>
              <a:t>out-degree</a:t>
            </a:r>
            <a:r>
              <a:rPr lang="en-US" altLang="zh-TW" sz="2800" dirty="0">
                <a:sym typeface="Symbol" panose="05050102010706020507" pitchFamily="18" charset="2"/>
              </a:rPr>
              <a:t>)</a:t>
            </a:r>
            <a:endParaRPr lang="en-US" altLang="zh-TW" sz="2800" dirty="0">
              <a:sym typeface="Symbol" panose="05050102010706020507" pitchFamily="18" charset="2"/>
            </a:endParaRPr>
          </a:p>
        </p:txBody>
      </p:sp>
      <p:sp>
        <p:nvSpPr>
          <p:cNvPr id="4" name="Rectangle 3"/>
          <p:cNvSpPr txBox="1">
            <a:spLocks noChangeArrowheads="1"/>
          </p:cNvSpPr>
          <p:nvPr/>
        </p:nvSpPr>
        <p:spPr bwMode="auto">
          <a:xfrm>
            <a:off x="152400" y="3276600"/>
            <a:ext cx="2286000" cy="685800"/>
          </a:xfrm>
          <a:prstGeom prst="rect">
            <a:avLst/>
          </a:prstGeom>
          <a:noFill/>
          <a:ln w="9525">
            <a:noFill/>
            <a:miter lim="800000"/>
          </a:ln>
          <a:effectLst/>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3200" b="1" kern="0" cap="none" spc="0" normalizeH="0" baseline="0" noProof="0" dirty="0">
                <a:solidFill>
                  <a:srgbClr val="008000"/>
                </a:solidFill>
                <a:latin typeface="+mn-lt"/>
                <a:ea typeface="+mn-ea"/>
                <a:cs typeface="+mn-cs"/>
              </a:rPr>
              <a:t>Example 4.</a:t>
            </a:r>
            <a:endParaRPr kumimoji="1" lang="en-US" altLang="zh-TW" sz="3200" kern="0" cap="none" spc="0" normalizeH="0" baseline="0" noProof="0" dirty="0">
              <a:latin typeface="+mn-lt"/>
              <a:ea typeface="+mn-ea"/>
              <a:cs typeface="+mn-cs"/>
            </a:endParaRPr>
          </a:p>
        </p:txBody>
      </p:sp>
      <p:sp>
        <p:nvSpPr>
          <p:cNvPr id="47" name="Text Box 41"/>
          <p:cNvSpPr txBox="1"/>
          <p:nvPr/>
        </p:nvSpPr>
        <p:spPr>
          <a:xfrm>
            <a:off x="5410200" y="3810000"/>
            <a:ext cx="3581400" cy="2654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baseline="30000" dirty="0">
                <a:latin typeface="Symbol" panose="05050102010706020507" pitchFamily="18" charset="2"/>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a</a:t>
            </a:r>
            <a:r>
              <a:rPr lang="en-US" altLang="zh-TW" sz="2800" dirty="0">
                <a:latin typeface="Times New Roman" panose="02020603050405020304" pitchFamily="18" charset="0"/>
                <a:cs typeface="Times New Roman" panose="02020603050405020304" pitchFamily="18" charset="0"/>
              </a:rPr>
              <a:t>)=2, deg</a:t>
            </a:r>
            <a:r>
              <a:rPr lang="en-US" altLang="zh-TW" sz="2800" baseline="30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a</a:t>
            </a:r>
            <a:r>
              <a:rPr lang="en-US" altLang="zh-TW" sz="2800" dirty="0">
                <a:latin typeface="Times New Roman" panose="02020603050405020304" pitchFamily="18" charset="0"/>
                <a:cs typeface="Times New Roman" panose="02020603050405020304" pitchFamily="18" charset="0"/>
              </a:rPr>
              <a:t>)=4</a:t>
            </a:r>
            <a:endParaRPr lang="en-US" altLang="zh-TW" sz="28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baseline="30000" dirty="0">
                <a:latin typeface="Symbol" panose="05050102010706020507" pitchFamily="18" charset="2"/>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b</a:t>
            </a:r>
            <a:r>
              <a:rPr lang="en-US" altLang="zh-TW" sz="2800" dirty="0">
                <a:latin typeface="Times New Roman" panose="02020603050405020304" pitchFamily="18" charset="0"/>
                <a:cs typeface="Times New Roman" panose="02020603050405020304" pitchFamily="18" charset="0"/>
              </a:rPr>
              <a:t>)=2, deg</a:t>
            </a:r>
            <a:r>
              <a:rPr lang="en-US" altLang="zh-TW" sz="2800" baseline="30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b</a:t>
            </a:r>
            <a:r>
              <a:rPr lang="en-US" altLang="zh-TW" sz="2800" dirty="0">
                <a:latin typeface="Times New Roman" panose="02020603050405020304" pitchFamily="18" charset="0"/>
                <a:cs typeface="Times New Roman" panose="02020603050405020304" pitchFamily="18" charset="0"/>
              </a:rPr>
              <a:t>)=1</a:t>
            </a:r>
            <a:endParaRPr lang="en-US" altLang="zh-TW" sz="28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baseline="30000" dirty="0">
                <a:latin typeface="Symbol" panose="05050102010706020507" pitchFamily="18" charset="2"/>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c</a:t>
            </a:r>
            <a:r>
              <a:rPr lang="en-US" altLang="zh-TW" sz="2800" dirty="0">
                <a:latin typeface="Times New Roman" panose="02020603050405020304" pitchFamily="18" charset="0"/>
                <a:cs typeface="Times New Roman" panose="02020603050405020304" pitchFamily="18" charset="0"/>
              </a:rPr>
              <a:t>)=3, deg</a:t>
            </a:r>
            <a:r>
              <a:rPr lang="en-US" altLang="zh-TW" sz="2800" baseline="30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c</a:t>
            </a:r>
            <a:r>
              <a:rPr lang="en-US" altLang="zh-TW" sz="2800" dirty="0">
                <a:latin typeface="Times New Roman" panose="02020603050405020304" pitchFamily="18" charset="0"/>
                <a:cs typeface="Times New Roman" panose="02020603050405020304" pitchFamily="18" charset="0"/>
              </a:rPr>
              <a:t>)=2</a:t>
            </a:r>
            <a:endParaRPr lang="en-US" altLang="zh-TW" sz="28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baseline="30000" dirty="0">
                <a:latin typeface="Symbol" panose="05050102010706020507" pitchFamily="18" charset="2"/>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d</a:t>
            </a:r>
            <a:r>
              <a:rPr lang="en-US" altLang="zh-TW" sz="2800" dirty="0">
                <a:latin typeface="Times New Roman" panose="02020603050405020304" pitchFamily="18" charset="0"/>
                <a:cs typeface="Times New Roman" panose="02020603050405020304" pitchFamily="18" charset="0"/>
              </a:rPr>
              <a:t>)=2, deg</a:t>
            </a:r>
            <a:r>
              <a:rPr lang="en-US" altLang="zh-TW" sz="2800" baseline="30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d</a:t>
            </a:r>
            <a:r>
              <a:rPr lang="en-US" altLang="zh-TW" sz="2800" dirty="0">
                <a:latin typeface="Times New Roman" panose="02020603050405020304" pitchFamily="18" charset="0"/>
                <a:cs typeface="Times New Roman" panose="02020603050405020304" pitchFamily="18" charset="0"/>
              </a:rPr>
              <a:t>)=2</a:t>
            </a:r>
            <a:endParaRPr lang="en-US" altLang="zh-TW" sz="28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rPr>
              <a:t>deg</a:t>
            </a:r>
            <a:r>
              <a:rPr lang="en-US" altLang="zh-TW" sz="2800" baseline="30000" dirty="0">
                <a:latin typeface="Symbol" panose="05050102010706020507" pitchFamily="18" charset="2"/>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e</a:t>
            </a:r>
            <a:r>
              <a:rPr lang="en-US" altLang="zh-TW" sz="2800" dirty="0">
                <a:latin typeface="Times New Roman" panose="02020603050405020304" pitchFamily="18" charset="0"/>
                <a:cs typeface="Times New Roman" panose="02020603050405020304" pitchFamily="18" charset="0"/>
              </a:rPr>
              <a:t>)=3, deg</a:t>
            </a:r>
            <a:r>
              <a:rPr lang="en-US" altLang="zh-TW" sz="2800" baseline="30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e</a:t>
            </a:r>
            <a:r>
              <a:rPr lang="en-US" altLang="zh-TW" sz="2800" dirty="0">
                <a:latin typeface="Times New Roman" panose="02020603050405020304" pitchFamily="18" charset="0"/>
                <a:cs typeface="Times New Roman" panose="02020603050405020304" pitchFamily="18" charset="0"/>
              </a:rPr>
              <a:t>)=3</a:t>
            </a:r>
            <a:endParaRPr lang="en-US" altLang="zh-TW" sz="2800" dirty="0">
              <a:latin typeface="Times New Roman" panose="02020603050405020304" pitchFamily="18" charset="0"/>
              <a:cs typeface="Times New Roman" panose="02020603050405020304" pitchFamily="18" charset="0"/>
            </a:endParaRPr>
          </a:p>
          <a:p>
            <a:pPr marL="0" lvl="0" indent="0" eaLnBrk="1" hangingPunct="1">
              <a:spcBef>
                <a:spcPct val="0"/>
              </a:spcBef>
              <a:buClrTx/>
              <a:buSzPct val="100000"/>
              <a:buNone/>
            </a:pP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deg</a:t>
            </a:r>
            <a:r>
              <a:rPr lang="en-US" altLang="zh-TW" sz="2800" baseline="30000" dirty="0">
                <a:latin typeface="Symbol" panose="05050102010706020507" pitchFamily="18" charset="2"/>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800" i="1" dirty="0">
                <a:latin typeface="Times New Roman" panose="02020603050405020304" pitchFamily="18" charset="0"/>
                <a:cs typeface="Times New Roman" panose="02020603050405020304" pitchFamily="18" charset="0"/>
              </a:rPr>
              <a:t>f </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)=0, deg</a:t>
            </a:r>
            <a:r>
              <a:rPr lang="en-US" altLang="zh-TW" sz="2800"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800" i="1" dirty="0">
                <a:latin typeface="Times New Roman" panose="02020603050405020304" pitchFamily="18" charset="0"/>
                <a:cs typeface="Times New Roman" panose="02020603050405020304" pitchFamily="18" charset="0"/>
              </a:rPr>
              <a:t>f </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)=0</a:t>
            </a:r>
            <a:endParaRPr lang="en-US" altLang="zh-TW" sz="2800" dirty="0">
              <a:latin typeface="Times New Roman" panose="02020603050405020304" pitchFamily="18" charset="0"/>
              <a:ea typeface="Times New Roman" panose="02020603050405020304" pitchFamily="18" charset="0"/>
              <a:sym typeface="Symbol" panose="05050102010706020507" pitchFamily="18" charset="2"/>
            </a:endParaRPr>
          </a:p>
        </p:txBody>
      </p:sp>
      <p:grpSp>
        <p:nvGrpSpPr>
          <p:cNvPr id="2" name="群組 49"/>
          <p:cNvGrpSpPr/>
          <p:nvPr/>
        </p:nvGrpSpPr>
        <p:grpSpPr>
          <a:xfrm>
            <a:off x="457200" y="3962400"/>
            <a:ext cx="4510088" cy="2590800"/>
            <a:chOff x="609600" y="4191000"/>
            <a:chExt cx="4510334" cy="2590503"/>
          </a:xfrm>
        </p:grpSpPr>
        <p:sp>
          <p:nvSpPr>
            <p:cNvPr id="17415" name="Text Box 26"/>
            <p:cNvSpPr txBox="1"/>
            <p:nvPr/>
          </p:nvSpPr>
          <p:spPr>
            <a:xfrm>
              <a:off x="609600" y="4495765"/>
              <a:ext cx="336568" cy="4571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17416" name="Text Box 27"/>
            <p:cNvSpPr txBox="1"/>
            <p:nvPr/>
          </p:nvSpPr>
          <p:spPr>
            <a:xfrm>
              <a:off x="2819521" y="4191000"/>
              <a:ext cx="336568" cy="4571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cxnSp>
          <p:nvCxnSpPr>
            <p:cNvPr id="17417" name="AutoShape 13"/>
            <p:cNvCxnSpPr>
              <a:stCxn id="17429" idx="6"/>
              <a:endCxn id="17432" idx="2"/>
            </p:cNvCxnSpPr>
            <p:nvPr/>
          </p:nvCxnSpPr>
          <p:spPr>
            <a:xfrm>
              <a:off x="1066800" y="4640263"/>
              <a:ext cx="1920875" cy="1588"/>
            </a:xfrm>
            <a:prstGeom prst="straightConnector1">
              <a:avLst/>
            </a:prstGeom>
            <a:ln w="9525" cap="flat" cmpd="sng">
              <a:solidFill>
                <a:schemeClr val="tx1"/>
              </a:solidFill>
              <a:prstDash val="solid"/>
              <a:headEnd type="none" w="med" len="med"/>
              <a:tailEnd type="triangle" w="lg" len="lg"/>
            </a:ln>
          </p:spPr>
        </p:cxnSp>
        <p:cxnSp>
          <p:nvCxnSpPr>
            <p:cNvPr id="17418" name="AutoShape 15"/>
            <p:cNvCxnSpPr>
              <a:stCxn id="17432" idx="0"/>
              <a:endCxn id="17431" idx="0"/>
            </p:cNvCxnSpPr>
            <p:nvPr/>
          </p:nvCxnSpPr>
          <p:spPr>
            <a:xfrm rot="-5400000" flipH="1">
              <a:off x="2255838" y="5372100"/>
              <a:ext cx="1600200" cy="1588"/>
            </a:xfrm>
            <a:prstGeom prst="straightConnector1">
              <a:avLst/>
            </a:prstGeom>
            <a:ln w="9525" cap="flat" cmpd="sng">
              <a:solidFill>
                <a:schemeClr val="tx1"/>
              </a:solidFill>
              <a:prstDash val="solid"/>
              <a:headEnd type="none" w="med" len="med"/>
              <a:tailEnd type="triangle" w="lg" len="lg"/>
            </a:ln>
          </p:spPr>
        </p:cxnSp>
        <p:cxnSp>
          <p:nvCxnSpPr>
            <p:cNvPr id="17419" name="AutoShape 17"/>
            <p:cNvCxnSpPr>
              <a:stCxn id="17425" idx="0"/>
            </p:cNvCxnSpPr>
            <p:nvPr/>
          </p:nvCxnSpPr>
          <p:spPr>
            <a:xfrm rot="-5400000" flipH="1" flipV="1">
              <a:off x="3192430" y="4503769"/>
              <a:ext cx="1624200" cy="1913061"/>
            </a:xfrm>
            <a:prstGeom prst="straightConnector1">
              <a:avLst/>
            </a:prstGeom>
            <a:ln w="9525" cap="flat" cmpd="sng">
              <a:solidFill>
                <a:schemeClr val="tx1"/>
              </a:solidFill>
              <a:prstDash val="solid"/>
              <a:headEnd type="triangle" w="lg" len="lg"/>
              <a:tailEnd type="none" w="med" len="med"/>
            </a:ln>
          </p:spPr>
        </p:cxnSp>
        <p:cxnSp>
          <p:nvCxnSpPr>
            <p:cNvPr id="17420" name="AutoShape 19"/>
            <p:cNvCxnSpPr/>
            <p:nvPr/>
          </p:nvCxnSpPr>
          <p:spPr>
            <a:xfrm rot="-5400000" flipH="1">
              <a:off x="2060207" y="5331193"/>
              <a:ext cx="1587" cy="1836000"/>
            </a:xfrm>
            <a:prstGeom prst="curvedConnector3">
              <a:avLst>
                <a:gd name="adj1" fmla="val 16500005"/>
              </a:avLst>
            </a:prstGeom>
            <a:ln w="9525" cap="flat" cmpd="sng">
              <a:solidFill>
                <a:schemeClr val="tx1"/>
              </a:solidFill>
              <a:prstDash val="solid"/>
              <a:headEnd type="triangle" w="lg" len="lg"/>
              <a:tailEnd type="none" w="med" len="med"/>
            </a:ln>
          </p:spPr>
        </p:cxnSp>
        <p:cxnSp>
          <p:nvCxnSpPr>
            <p:cNvPr id="17421" name="AutoShape 20"/>
            <p:cNvCxnSpPr/>
            <p:nvPr/>
          </p:nvCxnSpPr>
          <p:spPr>
            <a:xfrm rot="5400000" flipV="1">
              <a:off x="2019919" y="5295281"/>
              <a:ext cx="1762" cy="1908000"/>
            </a:xfrm>
            <a:prstGeom prst="curvedConnector3">
              <a:avLst>
                <a:gd name="adj1" fmla="val -7850741"/>
              </a:avLst>
            </a:prstGeom>
            <a:ln w="12700" cap="flat" cmpd="sng">
              <a:solidFill>
                <a:schemeClr val="tx1"/>
              </a:solidFill>
              <a:prstDash val="solid"/>
              <a:headEnd type="none" w="med" len="med"/>
              <a:tailEnd type="triangle" w="lg" len="lg"/>
            </a:ln>
          </p:spPr>
        </p:cxnSp>
        <p:cxnSp>
          <p:nvCxnSpPr>
            <p:cNvPr id="17422" name="AutoShape 23"/>
            <p:cNvCxnSpPr/>
            <p:nvPr/>
          </p:nvCxnSpPr>
          <p:spPr>
            <a:xfrm rot="10800000" flipH="1" flipV="1">
              <a:off x="1066800" y="4648200"/>
              <a:ext cx="1588" cy="1548000"/>
            </a:xfrm>
            <a:prstGeom prst="curvedConnector3">
              <a:avLst>
                <a:gd name="adj1" fmla="val 6164991"/>
              </a:avLst>
            </a:prstGeom>
            <a:ln w="9525" cap="flat" cmpd="sng">
              <a:solidFill>
                <a:schemeClr val="tx1"/>
              </a:solidFill>
              <a:prstDash val="solid"/>
              <a:headEnd type="none" w="lg" len="lg"/>
              <a:tailEnd type="triangle" w="lg" len="lg"/>
            </a:ln>
          </p:spPr>
        </p:cxnSp>
        <p:cxnSp>
          <p:nvCxnSpPr>
            <p:cNvPr id="17423" name="AutoShape 24"/>
            <p:cNvCxnSpPr>
              <a:stCxn id="17432" idx="6"/>
              <a:endCxn id="17433" idx="2"/>
            </p:cNvCxnSpPr>
            <p:nvPr/>
          </p:nvCxnSpPr>
          <p:spPr>
            <a:xfrm>
              <a:off x="3124200" y="4640263"/>
              <a:ext cx="1844675" cy="1588"/>
            </a:xfrm>
            <a:prstGeom prst="straightConnector1">
              <a:avLst/>
            </a:prstGeom>
            <a:ln w="9525" cap="flat" cmpd="sng">
              <a:solidFill>
                <a:schemeClr val="tx1"/>
              </a:solidFill>
              <a:prstDash val="solid"/>
              <a:headEnd type="triangle" w="lg" len="lg"/>
              <a:tailEnd type="none" w="med" len="med"/>
            </a:ln>
          </p:spPr>
        </p:cxnSp>
        <p:cxnSp>
          <p:nvCxnSpPr>
            <p:cNvPr id="17424" name="AutoShape 28"/>
            <p:cNvCxnSpPr/>
            <p:nvPr/>
          </p:nvCxnSpPr>
          <p:spPr>
            <a:xfrm rot="5400000" flipH="1">
              <a:off x="4953000" y="4648200"/>
              <a:ext cx="144000" cy="1588"/>
            </a:xfrm>
            <a:prstGeom prst="curvedConnector5">
              <a:avLst>
                <a:gd name="adj1" fmla="val -100000"/>
                <a:gd name="adj2" fmla="val -21600009"/>
                <a:gd name="adj3" fmla="val 200000"/>
              </a:avLst>
            </a:prstGeom>
            <a:ln w="9525" cap="flat" cmpd="sng">
              <a:solidFill>
                <a:schemeClr val="tx1"/>
              </a:solidFill>
              <a:prstDash val="solid"/>
              <a:headEnd type="none" w="med" len="med"/>
              <a:tailEnd type="triangle" w="lg" len="lg"/>
            </a:ln>
          </p:spPr>
        </p:cxnSp>
        <p:sp>
          <p:nvSpPr>
            <p:cNvPr id="17425" name="Text Box 30"/>
            <p:cNvSpPr txBox="1"/>
            <p:nvPr/>
          </p:nvSpPr>
          <p:spPr>
            <a:xfrm>
              <a:off x="4800829" y="4648148"/>
              <a:ext cx="319105" cy="45714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sp>
          <p:nvSpPr>
            <p:cNvPr id="17426" name="Text Box 31"/>
            <p:cNvSpPr txBox="1"/>
            <p:nvPr/>
          </p:nvSpPr>
          <p:spPr>
            <a:xfrm>
              <a:off x="854088" y="6324355"/>
              <a:ext cx="319105" cy="4571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17427" name="Text Box 32"/>
            <p:cNvSpPr txBox="1"/>
            <p:nvPr/>
          </p:nvSpPr>
          <p:spPr>
            <a:xfrm>
              <a:off x="2835397" y="6324355"/>
              <a:ext cx="336568" cy="4571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17428" name="Text Box 33"/>
            <p:cNvSpPr txBox="1"/>
            <p:nvPr/>
          </p:nvSpPr>
          <p:spPr>
            <a:xfrm>
              <a:off x="4800829" y="6248164"/>
              <a:ext cx="209562" cy="45714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f</a:t>
              </a:r>
              <a:endParaRPr lang="en-US" altLang="zh-TW" sz="2400" i="1" dirty="0">
                <a:latin typeface="Times New Roman" panose="02020603050405020304" pitchFamily="18" charset="0"/>
                <a:ea typeface="Times New Roman" panose="02020603050405020304" pitchFamily="18" charset="0"/>
              </a:endParaRPr>
            </a:p>
          </p:txBody>
        </p:sp>
        <p:sp>
          <p:nvSpPr>
            <p:cNvPr id="17429" name="Oval 4"/>
            <p:cNvSpPr/>
            <p:nvPr/>
          </p:nvSpPr>
          <p:spPr>
            <a:xfrm>
              <a:off x="930275" y="45720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7430" name="Oval 4"/>
            <p:cNvSpPr/>
            <p:nvPr/>
          </p:nvSpPr>
          <p:spPr>
            <a:xfrm>
              <a:off x="1006475" y="61722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7431" name="Oval 4"/>
            <p:cNvSpPr/>
            <p:nvPr/>
          </p:nvSpPr>
          <p:spPr>
            <a:xfrm>
              <a:off x="2987675" y="61722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7432" name="Oval 4"/>
            <p:cNvSpPr/>
            <p:nvPr/>
          </p:nvSpPr>
          <p:spPr>
            <a:xfrm>
              <a:off x="2987675" y="45720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7433" name="Oval 4"/>
            <p:cNvSpPr/>
            <p:nvPr/>
          </p:nvSpPr>
          <p:spPr>
            <a:xfrm>
              <a:off x="4968875" y="45720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7434" name="Oval 4"/>
            <p:cNvSpPr/>
            <p:nvPr/>
          </p:nvSpPr>
          <p:spPr>
            <a:xfrm>
              <a:off x="4892675" y="6096000"/>
              <a:ext cx="136525" cy="136525"/>
            </a:xfrm>
            <a:prstGeom prst="ellipse">
              <a:avLst/>
            </a:prstGeom>
            <a:solidFill>
              <a:srgbClr val="00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17435" name="AutoShape 20"/>
            <p:cNvCxnSpPr/>
            <p:nvPr/>
          </p:nvCxnSpPr>
          <p:spPr>
            <a:xfrm rot="5400000" flipV="1">
              <a:off x="3029609" y="2685391"/>
              <a:ext cx="1762" cy="3927381"/>
            </a:xfrm>
            <a:prstGeom prst="curvedConnector3">
              <a:avLst>
                <a:gd name="adj1" fmla="val -20824634"/>
              </a:avLst>
            </a:prstGeom>
            <a:ln w="12700" cap="flat" cmpd="sng">
              <a:solidFill>
                <a:schemeClr val="tx1"/>
              </a:solidFill>
              <a:prstDash val="solid"/>
              <a:headEnd type="none" w="med" len="med"/>
              <a:tailEnd type="triangle" w="lg" len="lg"/>
            </a:ln>
          </p:spPr>
        </p:cxnSp>
        <p:cxnSp>
          <p:nvCxnSpPr>
            <p:cNvPr id="17436" name="AutoShape 23"/>
            <p:cNvCxnSpPr/>
            <p:nvPr/>
          </p:nvCxnSpPr>
          <p:spPr>
            <a:xfrm rot="10800000" flipH="1" flipV="1">
              <a:off x="1006475" y="4698300"/>
              <a:ext cx="1588" cy="1512000"/>
            </a:xfrm>
            <a:prstGeom prst="curvedConnector3">
              <a:avLst>
                <a:gd name="adj1" fmla="val -8230546"/>
              </a:avLst>
            </a:prstGeom>
            <a:ln w="9525" cap="flat" cmpd="sng">
              <a:solidFill>
                <a:schemeClr val="tx1"/>
              </a:solidFill>
              <a:prstDash val="solid"/>
              <a:headEnd type="triangle" w="lg" len="lg"/>
              <a:tailEnd type="none" w="lg" len="lg"/>
            </a:ln>
          </p:spPr>
        </p:cxnSp>
        <p:cxnSp>
          <p:nvCxnSpPr>
            <p:cNvPr id="17437" name="AutoShape 28"/>
            <p:cNvCxnSpPr/>
            <p:nvPr/>
          </p:nvCxnSpPr>
          <p:spPr>
            <a:xfrm rot="-5400000" flipH="1">
              <a:off x="995594" y="6243406"/>
              <a:ext cx="144000" cy="1588"/>
            </a:xfrm>
            <a:prstGeom prst="curvedConnector5">
              <a:avLst>
                <a:gd name="adj1" fmla="val -100000"/>
                <a:gd name="adj2" fmla="val -21600009"/>
                <a:gd name="adj3" fmla="val 200000"/>
              </a:avLst>
            </a:prstGeom>
            <a:ln w="9525" cap="flat" cmpd="sng">
              <a:solidFill>
                <a:schemeClr val="tx1"/>
              </a:solidFill>
              <a:prstDash val="solid"/>
              <a:headEnd type="none" w="med" len="med"/>
              <a:tailEnd type="triangle" w="lg" len="lg"/>
            </a:ln>
          </p:spPr>
        </p:cxnSp>
        <p:cxnSp>
          <p:nvCxnSpPr>
            <p:cNvPr id="17438" name="AutoShape 28"/>
            <p:cNvCxnSpPr/>
            <p:nvPr/>
          </p:nvCxnSpPr>
          <p:spPr>
            <a:xfrm flipH="1">
              <a:off x="919394" y="4643206"/>
              <a:ext cx="144000" cy="1588"/>
            </a:xfrm>
            <a:prstGeom prst="curvedConnector5">
              <a:avLst>
                <a:gd name="adj1" fmla="val -100000"/>
                <a:gd name="adj2" fmla="val -21600009"/>
                <a:gd name="adj3" fmla="val 200000"/>
              </a:avLst>
            </a:prstGeom>
            <a:ln w="9525" cap="flat" cmpd="sng">
              <a:solidFill>
                <a:schemeClr val="tx1"/>
              </a:solidFill>
              <a:prstDash val="solid"/>
              <a:headEnd type="none" w="med" len="med"/>
              <a:tailEnd type="triangle" w="lg" len="lg"/>
            </a:ln>
          </p:spPr>
        </p:cxnSp>
      </p:grpSp>
      <p:sp>
        <p:nvSpPr>
          <p:cNvPr id="17414" name="投影片編號版面配置區 30"/>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additive="base">
                                        <p:cTn id="17" dur="500" fill="hold"/>
                                        <p:tgtEl>
                                          <p:spTgt spid="47"/>
                                        </p:tgtEl>
                                        <p:attrNameLst>
                                          <p:attrName>ppt_x</p:attrName>
                                        </p:attrNameLst>
                                      </p:cBhvr>
                                      <p:tavLst>
                                        <p:tav tm="0">
                                          <p:val>
                                            <p:strVal val="#ppt_x"/>
                                          </p:val>
                                        </p:tav>
                                        <p:tav tm="100000">
                                          <p:val>
                                            <p:strVal val="#ppt_x"/>
                                          </p:val>
                                        </p:tav>
                                      </p:tavLst>
                                    </p:anim>
                                    <p:anim calcmode="lin" valueType="num">
                                      <p:cBhvr additive="base">
                                        <p:cTn id="18"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3"/>
          <p:cNvSpPr>
            <a:spLocks noGrp="1"/>
          </p:cNvSpPr>
          <p:nvPr>
            <p:ph type="body" sz="half" idx="1"/>
          </p:nvPr>
        </p:nvSpPr>
        <p:spPr>
          <a:xfrm>
            <a:off x="228600" y="609600"/>
            <a:ext cx="8763000" cy="1600200"/>
          </a:xfrm>
          <a:ln>
            <a:solidFill>
              <a:schemeClr val="tx1">
                <a:alpha val="100000"/>
              </a:schemeClr>
            </a:solidFill>
            <a:miter lim="800000"/>
          </a:ln>
        </p:spPr>
        <p:txBody>
          <a:bodyPr vert="horz" wrap="square" lIns="91440" tIns="45720" rIns="91440" bIns="45720" anchor="t"/>
          <a:p>
            <a:pPr eaLnBrk="1" hangingPunct="1">
              <a:buNone/>
            </a:pPr>
            <a:r>
              <a:rPr lang="en-US" altLang="zh-TW" b="1" dirty="0">
                <a:solidFill>
                  <a:srgbClr val="3366FF"/>
                </a:solidFill>
              </a:rPr>
              <a:t>Thm 3.</a:t>
            </a:r>
            <a:r>
              <a:rPr lang="en-US" altLang="zh-TW" dirty="0"/>
              <a:t> Let </a:t>
            </a:r>
            <a:r>
              <a:rPr lang="en-US" altLang="zh-TW" i="1" dirty="0">
                <a:latin typeface="Times New Roman" panose="02020603050405020304" pitchFamily="18" charset="0"/>
              </a:rPr>
              <a:t>G</a:t>
            </a:r>
            <a:r>
              <a:rPr lang="en-US" altLang="zh-TW" dirty="0">
                <a:latin typeface="Times New Roman" panose="02020603050405020304" pitchFamily="18" charset="0"/>
              </a:rPr>
              <a:t> = (</a:t>
            </a:r>
            <a:r>
              <a:rPr lang="en-US" altLang="zh-TW" i="1" dirty="0">
                <a:latin typeface="Times New Roman" panose="02020603050405020304" pitchFamily="18" charset="0"/>
              </a:rPr>
              <a:t>V</a:t>
            </a:r>
            <a:r>
              <a:rPr lang="en-US" altLang="zh-TW" dirty="0">
                <a:latin typeface="Times New Roman" panose="02020603050405020304" pitchFamily="18" charset="0"/>
              </a:rPr>
              <a:t>, </a:t>
            </a:r>
            <a:r>
              <a:rPr lang="en-US" altLang="zh-TW" i="1" dirty="0">
                <a:latin typeface="Times New Roman" panose="02020603050405020304" pitchFamily="18" charset="0"/>
              </a:rPr>
              <a:t>E</a:t>
            </a:r>
            <a:r>
              <a:rPr lang="en-US" altLang="zh-TW" dirty="0">
                <a:latin typeface="Times New Roman" panose="02020603050405020304" pitchFamily="18" charset="0"/>
              </a:rPr>
              <a:t>)</a:t>
            </a:r>
            <a:r>
              <a:rPr lang="en-US" altLang="zh-TW" dirty="0"/>
              <a:t> be a digraph. Then</a:t>
            </a:r>
            <a:endParaRPr lang="en-US" altLang="zh-TW" dirty="0"/>
          </a:p>
        </p:txBody>
      </p:sp>
      <p:graphicFrame>
        <p:nvGraphicFramePr>
          <p:cNvPr id="18435" name="Object 4"/>
          <p:cNvGraphicFramePr>
            <a:graphicFrameLocks noChangeAspect="1"/>
          </p:cNvGraphicFramePr>
          <p:nvPr>
            <p:ph sz="half" idx="2"/>
          </p:nvPr>
        </p:nvGraphicFramePr>
        <p:xfrm>
          <a:off x="1930400" y="1219200"/>
          <a:ext cx="4826000" cy="917575"/>
        </p:xfrm>
        <a:graphic>
          <a:graphicData uri="http://schemas.openxmlformats.org/presentationml/2006/ole">
            <mc:AlternateContent xmlns:mc="http://schemas.openxmlformats.org/markup-compatibility/2006">
              <mc:Choice xmlns:v="urn:schemas-microsoft-com:vml" Requires="v">
                <p:oleObj spid="_x0000_s3076" name="" r:id="rId1" imgW="1803400" imgH="342900" progId="Equation.3">
                  <p:embed/>
                </p:oleObj>
              </mc:Choice>
              <mc:Fallback>
                <p:oleObj name="" r:id="rId1" imgW="1803400" imgH="342900" progId="Equation.3">
                  <p:embed/>
                  <p:pic>
                    <p:nvPicPr>
                      <p:cNvPr id="0" name="图片 3075"/>
                      <p:cNvPicPr/>
                      <p:nvPr/>
                    </p:nvPicPr>
                    <p:blipFill>
                      <a:blip r:embed="rId2"/>
                      <a:srcRect/>
                      <a:stretch>
                        <a:fillRect/>
                      </a:stretch>
                    </p:blipFill>
                    <p:spPr>
                      <a:xfrm>
                        <a:off x="1930400" y="1219200"/>
                        <a:ext cx="4826000" cy="917575"/>
                      </a:xfrm>
                      <a:prstGeom prst="rect">
                        <a:avLst/>
                      </a:prstGeom>
                      <a:noFill/>
                      <a:ln w="38100">
                        <a:miter/>
                      </a:ln>
                    </p:spPr>
                  </p:pic>
                </p:oleObj>
              </mc:Fallback>
            </mc:AlternateContent>
          </a:graphicData>
        </a:graphic>
      </p:graphicFrame>
      <p:sp>
        <p:nvSpPr>
          <p:cNvPr id="18436" name="Text Box 7"/>
          <p:cNvSpPr txBox="1"/>
          <p:nvPr/>
        </p:nvSpPr>
        <p:spPr>
          <a:xfrm>
            <a:off x="304800" y="2438400"/>
            <a:ext cx="8686800" cy="15541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3366FF"/>
                </a:solidFill>
              </a:rPr>
              <a:t>pf :</a:t>
            </a:r>
            <a:endParaRPr lang="en-US" altLang="zh-TW" b="1" dirty="0">
              <a:solidFill>
                <a:srgbClr val="3366FF"/>
              </a:solidFill>
            </a:endParaRPr>
          </a:p>
          <a:p>
            <a:pPr marL="0" lvl="0" indent="0" eaLnBrk="1" hangingPunct="1">
              <a:spcBef>
                <a:spcPct val="0"/>
              </a:spcBef>
              <a:buClrTx/>
              <a:buSzPct val="100000"/>
              <a:buNone/>
            </a:pPr>
            <a:r>
              <a:rPr lang="zh-TW" altLang="en-US" sz="2800" dirty="0"/>
              <a:t>   </a:t>
            </a:r>
            <a:r>
              <a:rPr lang="en-US" altLang="zh-CN" sz="2800" dirty="0"/>
              <a:t>for each</a:t>
            </a:r>
            <a:r>
              <a:rPr lang="en-US" altLang="zh-TW" sz="2800" dirty="0"/>
              <a:t> edge</a:t>
            </a:r>
            <a:r>
              <a:rPr lang="en-US" altLang="zh-TW" dirty="0"/>
              <a:t>               </a:t>
            </a:r>
            <a:r>
              <a:rPr lang="en-US" altLang="zh-TW" sz="2800" dirty="0">
                <a:latin typeface="Times New Roman" panose="02020603050405020304" pitchFamily="18" charset="0"/>
                <a:cs typeface="Times New Roman" panose="02020603050405020304" pitchFamily="18" charset="0"/>
              </a:rPr>
              <a:t>deg</a:t>
            </a:r>
            <a:r>
              <a:rPr lang="en-US" altLang="zh-TW" sz="2800" baseline="30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a:t>
            </a:r>
            <a:r>
              <a:rPr lang="en-US" altLang="zh-CN" sz="2800" dirty="0">
                <a:cs typeface="Times New Roman" panose="02020603050405020304" pitchFamily="18" charset="0"/>
              </a:rPr>
              <a:t>gets increased by </a:t>
            </a:r>
            <a:r>
              <a:rPr lang="en-US" altLang="zh-TW" sz="2800" dirty="0">
                <a:cs typeface="Times New Roman" panose="02020603050405020304" pitchFamily="18" charset="0"/>
              </a:rPr>
              <a:t>1</a:t>
            </a:r>
            <a:r>
              <a:rPr lang="en-US" altLang="zh-TW" sz="2800" dirty="0"/>
              <a:t>	</a:t>
            </a:r>
            <a:r>
              <a:rPr lang="en-US" altLang="zh-TW" sz="2400" dirty="0"/>
              <a:t>		</a:t>
            </a:r>
            <a:r>
              <a:rPr lang="en-US" altLang="zh-TW" dirty="0"/>
              <a:t>             </a:t>
            </a:r>
            <a:r>
              <a:rPr lang="en-US" altLang="zh-CN" sz="2800" dirty="0"/>
              <a:t>so does </a:t>
            </a:r>
            <a:r>
              <a:rPr lang="en-US" altLang="zh-TW" sz="2800" dirty="0">
                <a:latin typeface="Times New Roman" panose="02020603050405020304" pitchFamily="18" charset="0"/>
                <a:cs typeface="Times New Roman" panose="02020603050405020304" pitchFamily="18" charset="0"/>
              </a:rPr>
              <a:t>deg</a:t>
            </a:r>
            <a:r>
              <a:rPr lang="en-US" altLang="zh-TW" sz="2800" baseline="30000" dirty="0">
                <a:latin typeface="Symbol" panose="05050102010706020507" pitchFamily="18" charset="2"/>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dirty="0">
                <a:latin typeface="Times New Roman" panose="02020603050405020304" pitchFamily="18" charset="0"/>
                <a:cs typeface="Times New Roman" panose="02020603050405020304" pitchFamily="18" charset="0"/>
              </a:rPr>
              <a:t>)</a:t>
            </a:r>
            <a:endParaRPr lang="en-US" altLang="zh-TW" sz="2800" i="1" dirty="0">
              <a:latin typeface="Times New Roman" panose="02020603050405020304" pitchFamily="18" charset="0"/>
              <a:ea typeface="Times New Roman" panose="02020603050405020304" pitchFamily="18" charset="0"/>
            </a:endParaRPr>
          </a:p>
        </p:txBody>
      </p:sp>
      <p:grpSp>
        <p:nvGrpSpPr>
          <p:cNvPr id="18437" name="群組 22"/>
          <p:cNvGrpSpPr/>
          <p:nvPr/>
        </p:nvGrpSpPr>
        <p:grpSpPr>
          <a:xfrm>
            <a:off x="2895600" y="3214688"/>
            <a:ext cx="1484313" cy="595312"/>
            <a:chOff x="2438400" y="5943600"/>
            <a:chExt cx="1484313" cy="595313"/>
          </a:xfrm>
        </p:grpSpPr>
        <p:sp>
          <p:nvSpPr>
            <p:cNvPr id="18439" name="Oval 4"/>
            <p:cNvSpPr/>
            <p:nvPr/>
          </p:nvSpPr>
          <p:spPr>
            <a:xfrm>
              <a:off x="2514600" y="5943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8440" name="Oval 5"/>
            <p:cNvSpPr/>
            <p:nvPr/>
          </p:nvSpPr>
          <p:spPr>
            <a:xfrm>
              <a:off x="3657600" y="5943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18441" name="Text Box 7"/>
            <p:cNvSpPr txBox="1"/>
            <p:nvPr/>
          </p:nvSpPr>
          <p:spPr>
            <a:xfrm>
              <a:off x="2438400" y="6019800"/>
              <a:ext cx="361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u</a:t>
              </a:r>
              <a:endParaRPr lang="en-US" altLang="zh-TW" sz="2800" i="1" dirty="0">
                <a:latin typeface="Times New Roman" panose="02020603050405020304" pitchFamily="18" charset="0"/>
              </a:endParaRPr>
            </a:p>
          </p:txBody>
        </p:sp>
        <p:sp>
          <p:nvSpPr>
            <p:cNvPr id="18442" name="Text Box 8"/>
            <p:cNvSpPr txBox="1"/>
            <p:nvPr/>
          </p:nvSpPr>
          <p:spPr>
            <a:xfrm>
              <a:off x="3581400" y="6019800"/>
              <a:ext cx="34131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v</a:t>
              </a:r>
              <a:endParaRPr lang="en-US" altLang="zh-TW" sz="2800" i="1" dirty="0">
                <a:latin typeface="Times New Roman" panose="02020603050405020304" pitchFamily="18" charset="0"/>
              </a:endParaRPr>
            </a:p>
          </p:txBody>
        </p:sp>
        <p:cxnSp>
          <p:nvCxnSpPr>
            <p:cNvPr id="19" name="直線單箭頭接點 18"/>
            <p:cNvCxnSpPr>
              <a:stCxn id="18441" idx="0"/>
            </p:cNvCxnSpPr>
            <p:nvPr/>
          </p:nvCxnSpPr>
          <p:spPr>
            <a:xfrm rot="5400000" flipH="1" flipV="1">
              <a:off x="3137694" y="5501481"/>
              <a:ext cx="1587" cy="103822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8438" name="投影片編號版面配置區 12"/>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線接點 23"/>
          <p:cNvCxnSpPr>
            <a:stCxn id="19464" idx="2"/>
            <a:endCxn id="19465" idx="6"/>
          </p:cNvCxnSpPr>
          <p:nvPr/>
        </p:nvCxnSpPr>
        <p:spPr>
          <a:xfrm rot="10800000" flipH="1">
            <a:off x="2971800" y="4038600"/>
            <a:ext cx="1143000" cy="1588"/>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接點 28"/>
          <p:cNvCxnSpPr>
            <a:endCxn id="19465" idx="0"/>
          </p:cNvCxnSpPr>
          <p:nvPr/>
        </p:nvCxnSpPr>
        <p:spPr>
          <a:xfrm rot="5400000" flipH="1" flipV="1">
            <a:off x="3618706" y="4380706"/>
            <a:ext cx="839788" cy="317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19460" name="Text Box 17"/>
          <p:cNvSpPr txBox="1"/>
          <p:nvPr/>
        </p:nvSpPr>
        <p:spPr>
          <a:xfrm>
            <a:off x="0" y="3124200"/>
            <a:ext cx="8053388" cy="15541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008000"/>
                </a:solidFill>
              </a:rPr>
              <a:t>eg.</a:t>
            </a:r>
            <a:r>
              <a:rPr lang="en-US" altLang="zh-TW" dirty="0"/>
              <a:t> </a:t>
            </a:r>
            <a:endParaRPr lang="en-US" altLang="zh-TW" dirty="0"/>
          </a:p>
          <a:p>
            <a:pPr marL="0" lvl="0" indent="0" eaLnBrk="1" hangingPunct="1">
              <a:spcBef>
                <a:spcPct val="0"/>
              </a:spcBef>
              <a:buClrTx/>
              <a:buSzPct val="100000"/>
              <a:buNone/>
            </a:pPr>
            <a:r>
              <a:rPr lang="en-US" altLang="zh-TW" dirty="0"/>
              <a:t>		</a:t>
            </a:r>
            <a:r>
              <a:rPr lang="en-US" altLang="zh-TW" i="1" dirty="0">
                <a:latin typeface="Times New Roman" panose="02020603050405020304" pitchFamily="18" charset="0"/>
                <a:cs typeface="Times New Roman" panose="02020603050405020304" pitchFamily="18" charset="0"/>
              </a:rPr>
              <a:t>K</a:t>
            </a:r>
            <a:r>
              <a:rPr lang="en-US" altLang="zh-TW" baseline="-25000" dirty="0">
                <a:latin typeface="Times New Roman" panose="02020603050405020304" pitchFamily="18" charset="0"/>
                <a:cs typeface="Times New Roman" panose="02020603050405020304" pitchFamily="18" charset="0"/>
              </a:rPr>
              <a:t>4</a:t>
            </a:r>
            <a:r>
              <a:rPr lang="en-US" altLang="zh-TW" dirty="0"/>
              <a:t> :                                                </a:t>
            </a:r>
            <a:endParaRPr lang="en-US" altLang="zh-TW" dirty="0"/>
          </a:p>
          <a:p>
            <a:pPr marL="0" lvl="0" indent="0" eaLnBrk="1" hangingPunct="1">
              <a:spcBef>
                <a:spcPct val="0"/>
              </a:spcBef>
              <a:buClrTx/>
              <a:buSzPct val="100000"/>
              <a:buNone/>
            </a:pPr>
            <a:r>
              <a:rPr lang="en-US" altLang="zh-TW" dirty="0"/>
              <a:t>                                      		is 3-regular.</a:t>
            </a:r>
            <a:endParaRPr lang="en-US" altLang="zh-TW" dirty="0"/>
          </a:p>
        </p:txBody>
      </p:sp>
      <p:sp>
        <p:nvSpPr>
          <p:cNvPr id="19461" name="Rectangle 3"/>
          <p:cNvSpPr>
            <a:spLocks noGrp="1"/>
          </p:cNvSpPr>
          <p:nvPr>
            <p:ph idx="1"/>
          </p:nvPr>
        </p:nvSpPr>
        <p:spPr>
          <a:xfrm>
            <a:off x="0" y="609600"/>
            <a:ext cx="9144000" cy="2438400"/>
          </a:xfrm>
        </p:spPr>
        <p:txBody>
          <a:bodyPr vert="horz" wrap="square" lIns="91440" tIns="45720" rIns="91440" bIns="45720" anchor="t"/>
          <a:p>
            <a:pPr eaLnBrk="1" hangingPunct="1">
              <a:buNone/>
            </a:pPr>
            <a:r>
              <a:rPr lang="en-US" altLang="zh-TW" b="1" dirty="0">
                <a:solidFill>
                  <a:srgbClr val="008000"/>
                </a:solidFill>
              </a:rPr>
              <a:t>(ex47)</a:t>
            </a:r>
            <a:r>
              <a:rPr lang="zh-TW" altLang="en-US" dirty="0"/>
              <a:t>  </a:t>
            </a:r>
            <a:r>
              <a:rPr lang="en-US" altLang="zh-TW" dirty="0"/>
              <a:t>A simple graph </a:t>
            </a:r>
            <a:r>
              <a:rPr lang="en-US" altLang="zh-TW" i="1" dirty="0">
                <a:latin typeface="Times New Roman" panose="02020603050405020304" pitchFamily="18" charset="0"/>
                <a:cs typeface="Times New Roman" panose="02020603050405020304" pitchFamily="18" charset="0"/>
              </a:rPr>
              <a:t>G</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 </a:t>
            </a:r>
            <a:r>
              <a:rPr lang="en-US" altLang="zh-TW" dirty="0"/>
              <a:t>is called </a:t>
            </a:r>
            <a:endParaRPr lang="en-US" altLang="zh-TW" dirty="0"/>
          </a:p>
          <a:p>
            <a:pPr eaLnBrk="1" hangingPunct="1">
              <a:buNone/>
            </a:pPr>
            <a:r>
              <a:rPr lang="en-US" altLang="zh-TW" dirty="0"/>
              <a:t>   </a:t>
            </a:r>
            <a:r>
              <a:rPr lang="en-US" altLang="zh-TW" dirty="0">
                <a:solidFill>
                  <a:srgbClr val="0000CC"/>
                </a:solidFill>
              </a:rPr>
              <a:t>regular</a:t>
            </a:r>
            <a:r>
              <a:rPr lang="en-US" altLang="zh-TW" dirty="0"/>
              <a:t> if every vertex of this graph has the </a:t>
            </a:r>
            <a:endParaRPr lang="en-US" altLang="zh-TW" dirty="0"/>
          </a:p>
          <a:p>
            <a:pPr eaLnBrk="1" hangingPunct="1">
              <a:buNone/>
            </a:pPr>
            <a:r>
              <a:rPr lang="en-US" altLang="zh-TW" dirty="0"/>
              <a:t>   same degree. A regular graph is called </a:t>
            </a:r>
            <a:endParaRPr lang="en-US" altLang="zh-TW" dirty="0"/>
          </a:p>
          <a:p>
            <a:pPr eaLnBrk="1" hangingPunct="1">
              <a:buNone/>
            </a:pPr>
            <a:r>
              <a:rPr lang="en-US" altLang="zh-TW" dirty="0"/>
              <a:t>   </a:t>
            </a:r>
            <a:r>
              <a:rPr lang="en-US" altLang="zh-TW" i="1" dirty="0">
                <a:solidFill>
                  <a:srgbClr val="0000CC"/>
                </a:solidFill>
                <a:latin typeface="Times New Roman" panose="02020603050405020304" pitchFamily="18" charset="0"/>
                <a:cs typeface="Times New Roman" panose="02020603050405020304" pitchFamily="18" charset="0"/>
              </a:rPr>
              <a:t>n</a:t>
            </a:r>
            <a:r>
              <a:rPr lang="en-US" altLang="zh-TW" dirty="0">
                <a:solidFill>
                  <a:srgbClr val="0000CC"/>
                </a:solidFill>
              </a:rPr>
              <a:t>-regular</a:t>
            </a:r>
            <a:r>
              <a:rPr lang="en-US" altLang="zh-TW" dirty="0"/>
              <a:t> if deg(</a:t>
            </a:r>
            <a:r>
              <a:rPr lang="en-US" altLang="zh-TW" i="1" dirty="0">
                <a:latin typeface="Times New Roman" panose="02020603050405020304" pitchFamily="18" charset="0"/>
                <a:cs typeface="Times New Roman" panose="02020603050405020304" pitchFamily="18" charset="0"/>
              </a:rPr>
              <a:t>v</a:t>
            </a:r>
            <a:r>
              <a:rPr lang="en-US" altLang="zh-TW" dirty="0"/>
              <a:t>)=</a:t>
            </a:r>
            <a:r>
              <a:rPr lang="en-US" altLang="zh-TW" i="1" dirty="0">
                <a:latin typeface="Times New Roman" panose="02020603050405020304" pitchFamily="18" charset="0"/>
                <a:cs typeface="Times New Roman" panose="02020603050405020304" pitchFamily="18" charset="0"/>
              </a:rPr>
              <a:t>n</a:t>
            </a:r>
            <a:r>
              <a:rPr lang="en-US" altLang="zh-TW" dirty="0"/>
              <a:t> , </a:t>
            </a:r>
            <a:r>
              <a:rPr lang="en-US" altLang="zh-TW" dirty="0">
                <a:sym typeface="Symbol" panose="05050102010706020507" pitchFamily="18" charset="2"/>
              </a:rPr>
              <a:t></a:t>
            </a:r>
            <a:r>
              <a:rPr lang="en-US" altLang="zh-TW" i="1" dirty="0">
                <a:latin typeface="Times New Roman" panose="02020603050405020304" pitchFamily="18" charset="0"/>
                <a:cs typeface="Times New Roman" panose="02020603050405020304" pitchFamily="18" charset="0"/>
              </a:rPr>
              <a:t>v</a:t>
            </a:r>
            <a:r>
              <a:rPr lang="en-US" altLang="zh-TW" dirty="0">
                <a:sym typeface="Symbol" panose="05050102010706020507" pitchFamily="18" charset="2"/>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TW" dirty="0">
                <a:sym typeface="Symbol" panose="05050102010706020507" pitchFamily="18" charset="2"/>
              </a:rPr>
              <a:t>.</a:t>
            </a:r>
            <a:endParaRPr lang="en-US" altLang="zh-TW" dirty="0">
              <a:sym typeface="Symbol" panose="05050102010706020507" pitchFamily="18" charset="2"/>
            </a:endParaRPr>
          </a:p>
        </p:txBody>
      </p:sp>
      <p:sp>
        <p:nvSpPr>
          <p:cNvPr id="19462" name="Text Box 4"/>
          <p:cNvSpPr txBox="1"/>
          <p:nvPr/>
        </p:nvSpPr>
        <p:spPr>
          <a:xfrm>
            <a:off x="669925" y="725488"/>
            <a:ext cx="184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zh-TW" sz="1800" dirty="0"/>
          </a:p>
        </p:txBody>
      </p:sp>
      <p:sp>
        <p:nvSpPr>
          <p:cNvPr id="19463" name="Oval 4"/>
          <p:cNvSpPr/>
          <p:nvPr/>
        </p:nvSpPr>
        <p:spPr>
          <a:xfrm>
            <a:off x="2971800" y="4724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19464" name="Oval 4"/>
          <p:cNvSpPr/>
          <p:nvPr/>
        </p:nvSpPr>
        <p:spPr>
          <a:xfrm>
            <a:off x="2971800" y="3962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19465" name="Oval 4"/>
          <p:cNvSpPr/>
          <p:nvPr/>
        </p:nvSpPr>
        <p:spPr>
          <a:xfrm>
            <a:off x="3962400" y="3962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19466" name="Oval 4"/>
          <p:cNvSpPr/>
          <p:nvPr/>
        </p:nvSpPr>
        <p:spPr>
          <a:xfrm>
            <a:off x="3962400" y="4724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cxnSp>
        <p:nvCxnSpPr>
          <p:cNvPr id="23" name="直線接點 22"/>
          <p:cNvCxnSpPr/>
          <p:nvPr/>
        </p:nvCxnSpPr>
        <p:spPr>
          <a:xfrm rot="16200000" flipH="1">
            <a:off x="3162300" y="3924300"/>
            <a:ext cx="762000" cy="99060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rot="10800000" flipH="1">
            <a:off x="2971800" y="4800600"/>
            <a:ext cx="1143000" cy="1588"/>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a:endCxn id="19465" idx="0"/>
          </p:cNvCxnSpPr>
          <p:nvPr/>
        </p:nvCxnSpPr>
        <p:spPr>
          <a:xfrm rot="16200000" flipV="1">
            <a:off x="4038600" y="3962400"/>
            <a:ext cx="76200" cy="7620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 name="直線接點 33"/>
          <p:cNvCxnSpPr>
            <a:stCxn id="19463" idx="4"/>
            <a:endCxn id="19464" idx="0"/>
          </p:cNvCxnSpPr>
          <p:nvPr/>
        </p:nvCxnSpPr>
        <p:spPr>
          <a:xfrm rot="5400000" flipH="1">
            <a:off x="2590006" y="4418806"/>
            <a:ext cx="915988" cy="317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8" name="直線接點 37"/>
          <p:cNvCxnSpPr>
            <a:stCxn id="19463" idx="3"/>
            <a:endCxn id="19465" idx="3"/>
          </p:cNvCxnSpPr>
          <p:nvPr/>
        </p:nvCxnSpPr>
        <p:spPr>
          <a:xfrm rot="5400000" flipH="1" flipV="1">
            <a:off x="3108325" y="3978275"/>
            <a:ext cx="762000" cy="99060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6553200" y="5486400"/>
            <a:ext cx="2409825"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7, 49</a:t>
            </a:r>
            <a:endParaRPr lang="zh-TW" altLang="en-US" sz="2400" dirty="0">
              <a:solidFill>
                <a:srgbClr val="0000CC"/>
              </a:solidFill>
            </a:endParaRPr>
          </a:p>
        </p:txBody>
      </p:sp>
      <p:sp>
        <p:nvSpPr>
          <p:cNvPr id="19473" name="投影片編號版面配置區 18"/>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4"/>
          <p:cNvSpPr txBox="1"/>
          <p:nvPr/>
        </p:nvSpPr>
        <p:spPr>
          <a:xfrm>
            <a:off x="42863" y="990600"/>
            <a:ext cx="8661400" cy="2528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008000"/>
                </a:solidFill>
              </a:rPr>
              <a:t>Example 5.</a:t>
            </a:r>
            <a:endParaRPr lang="en-US" altLang="zh-TW" b="1" dirty="0">
              <a:solidFill>
                <a:srgbClr val="008000"/>
              </a:solidFill>
            </a:endParaRPr>
          </a:p>
          <a:p>
            <a:pPr marL="0" lvl="0" indent="0" eaLnBrk="1" hangingPunct="1">
              <a:spcBef>
                <a:spcPct val="0"/>
              </a:spcBef>
              <a:buClrTx/>
              <a:buSzPct val="100000"/>
              <a:buNone/>
            </a:pPr>
            <a:r>
              <a:rPr lang="en-US" altLang="zh-TW" dirty="0"/>
              <a:t>      The </a:t>
            </a:r>
            <a:r>
              <a:rPr lang="en-US" altLang="zh-TW" dirty="0">
                <a:solidFill>
                  <a:srgbClr val="0000CC"/>
                </a:solidFill>
              </a:rPr>
              <a:t>complete graph on </a:t>
            </a:r>
            <a:r>
              <a:rPr lang="en-US" altLang="zh-TW" i="1" dirty="0">
                <a:solidFill>
                  <a:srgbClr val="0000CC"/>
                </a:solidFill>
                <a:latin typeface="Times New Roman" panose="02020603050405020304" pitchFamily="18" charset="0"/>
                <a:cs typeface="Times New Roman" panose="02020603050405020304" pitchFamily="18" charset="0"/>
              </a:rPr>
              <a:t>n</a:t>
            </a:r>
            <a:r>
              <a:rPr lang="en-US" altLang="zh-TW" dirty="0">
                <a:solidFill>
                  <a:srgbClr val="0000CC"/>
                </a:solidFill>
              </a:rPr>
              <a:t> vertices</a:t>
            </a:r>
            <a:r>
              <a:rPr lang="en-US" altLang="zh-TW" dirty="0"/>
              <a:t>, denoted </a:t>
            </a:r>
            <a:endParaRPr lang="en-US" altLang="zh-TW" dirty="0"/>
          </a:p>
          <a:p>
            <a:pPr marL="0" lvl="0" indent="0" eaLnBrk="1" hangingPunct="1">
              <a:spcBef>
                <a:spcPct val="0"/>
              </a:spcBef>
              <a:buClrTx/>
              <a:buSzPct val="100000"/>
              <a:buNone/>
            </a:pPr>
            <a:r>
              <a:rPr lang="en-US" altLang="zh-TW" dirty="0"/>
              <a:t>      by </a:t>
            </a:r>
            <a:r>
              <a:rPr lang="en-US" altLang="zh-TW" i="1" dirty="0">
                <a:solidFill>
                  <a:srgbClr val="0000CC"/>
                </a:solidFill>
                <a:latin typeface="Times New Roman" panose="02020603050405020304" pitchFamily="18" charset="0"/>
                <a:cs typeface="Times New Roman" panose="02020603050405020304" pitchFamily="18" charset="0"/>
              </a:rPr>
              <a:t>K</a:t>
            </a:r>
            <a:r>
              <a:rPr lang="en-US" altLang="zh-TW" i="1" baseline="-25000" dirty="0">
                <a:solidFill>
                  <a:srgbClr val="0000CC"/>
                </a:solidFill>
                <a:latin typeface="Times New Roman" panose="02020603050405020304" pitchFamily="18" charset="0"/>
                <a:cs typeface="Times New Roman" panose="02020603050405020304" pitchFamily="18" charset="0"/>
              </a:rPr>
              <a:t>n</a:t>
            </a:r>
            <a:r>
              <a:rPr lang="en-US" altLang="zh-TW" dirty="0"/>
              <a:t>, is the simple graph that contains</a:t>
            </a:r>
            <a:endParaRPr lang="en-US" altLang="zh-TW" dirty="0"/>
          </a:p>
          <a:p>
            <a:pPr marL="0" lvl="0" indent="0" eaLnBrk="1" hangingPunct="1">
              <a:spcBef>
                <a:spcPct val="0"/>
              </a:spcBef>
              <a:buClrTx/>
              <a:buSzPct val="100000"/>
              <a:buNone/>
            </a:pPr>
            <a:r>
              <a:rPr lang="en-US" altLang="zh-TW" dirty="0"/>
              <a:t>      exactly one edge between each pair of </a:t>
            </a:r>
            <a:endParaRPr lang="en-US" altLang="zh-TW" dirty="0"/>
          </a:p>
          <a:p>
            <a:pPr marL="0" lvl="0" indent="0" eaLnBrk="1" hangingPunct="1">
              <a:spcBef>
                <a:spcPct val="0"/>
              </a:spcBef>
              <a:buClrTx/>
              <a:buSzPct val="100000"/>
              <a:buNone/>
            </a:pPr>
            <a:r>
              <a:rPr lang="en-US" altLang="zh-TW" dirty="0"/>
              <a:t>      distinct vertices.</a:t>
            </a:r>
            <a:endParaRPr lang="en-US" altLang="zh-TW" dirty="0"/>
          </a:p>
        </p:txBody>
      </p:sp>
      <p:sp>
        <p:nvSpPr>
          <p:cNvPr id="20483" name="文字方塊 34"/>
          <p:cNvSpPr txBox="1"/>
          <p:nvPr/>
        </p:nvSpPr>
        <p:spPr>
          <a:xfrm>
            <a:off x="304800" y="381000"/>
            <a:ext cx="6211888"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3600" u="sng" dirty="0">
                <a:solidFill>
                  <a:srgbClr val="008000"/>
                </a:solidFill>
              </a:rPr>
              <a:t>Some Special Simple Graphs</a:t>
            </a:r>
            <a:endParaRPr lang="zh-TW" altLang="en-US" sz="3600" u="sng" dirty="0">
              <a:solidFill>
                <a:srgbClr val="008000"/>
              </a:solidFill>
            </a:endParaRPr>
          </a:p>
        </p:txBody>
      </p:sp>
      <p:grpSp>
        <p:nvGrpSpPr>
          <p:cNvPr id="2" name="群組 81"/>
          <p:cNvGrpSpPr/>
          <p:nvPr/>
        </p:nvGrpSpPr>
        <p:grpSpPr>
          <a:xfrm>
            <a:off x="1828800" y="3733800"/>
            <a:ext cx="5410200" cy="1433513"/>
            <a:chOff x="533400" y="3733800"/>
            <a:chExt cx="5410200" cy="1432860"/>
          </a:xfrm>
        </p:grpSpPr>
        <p:cxnSp>
          <p:nvCxnSpPr>
            <p:cNvPr id="54" name="直線接點 53"/>
            <p:cNvCxnSpPr/>
            <p:nvPr/>
          </p:nvCxnSpPr>
          <p:spPr>
            <a:xfrm rot="16200000" flipH="1" flipV="1">
              <a:off x="3179142" y="3983624"/>
              <a:ext cx="760067" cy="41275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0489" name="Text Box 26"/>
            <p:cNvSpPr txBox="1"/>
            <p:nvPr/>
          </p:nvSpPr>
          <p:spPr>
            <a:xfrm>
              <a:off x="533400" y="4571618"/>
              <a:ext cx="541338" cy="5188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i="1" dirty="0">
                  <a:latin typeface="Times New Roman" panose="02020603050405020304" pitchFamily="18" charset="0"/>
                  <a:cs typeface="Times New Roman" panose="02020603050405020304" pitchFamily="18" charset="0"/>
                </a:rPr>
                <a:t>K</a:t>
              </a:r>
              <a:r>
                <a:rPr lang="en-US" altLang="zh-TW" sz="2800" baseline="-25000" dirty="0">
                  <a:latin typeface="Times New Roman" panose="02020603050405020304" pitchFamily="18" charset="0"/>
                  <a:cs typeface="Times New Roman" panose="02020603050405020304" pitchFamily="18" charset="0"/>
                </a:rPr>
                <a:t>1</a:t>
              </a:r>
              <a:endParaRPr lang="en-US" altLang="zh-TW" sz="2800" baseline="-25000" dirty="0">
                <a:latin typeface="Times New Roman" panose="02020603050405020304" pitchFamily="18" charset="0"/>
                <a:ea typeface="Times New Roman" panose="02020603050405020304" pitchFamily="18" charset="0"/>
              </a:endParaRPr>
            </a:p>
          </p:txBody>
        </p:sp>
        <p:sp>
          <p:nvSpPr>
            <p:cNvPr id="20490" name="Oval 4"/>
            <p:cNvSpPr/>
            <p:nvPr/>
          </p:nvSpPr>
          <p:spPr>
            <a:xfrm>
              <a:off x="685800" y="4267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0491" name="Oval 4"/>
            <p:cNvSpPr/>
            <p:nvPr/>
          </p:nvSpPr>
          <p:spPr>
            <a:xfrm>
              <a:off x="1752600" y="4267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0492" name="Oval 4"/>
            <p:cNvSpPr/>
            <p:nvPr/>
          </p:nvSpPr>
          <p:spPr>
            <a:xfrm>
              <a:off x="2438400" y="4267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40" name="直線接點 39"/>
            <p:cNvCxnSpPr>
              <a:stCxn id="20491" idx="2"/>
              <a:endCxn id="20492" idx="6"/>
            </p:cNvCxnSpPr>
            <p:nvPr/>
          </p:nvCxnSpPr>
          <p:spPr>
            <a:xfrm rot="10800000" flipH="1">
              <a:off x="1752600" y="4343122"/>
              <a:ext cx="838200" cy="158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4" name="Text Box 26"/>
            <p:cNvSpPr txBox="1"/>
            <p:nvPr/>
          </p:nvSpPr>
          <p:spPr>
            <a:xfrm>
              <a:off x="1905000" y="4571618"/>
              <a:ext cx="541338" cy="5188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i="1" dirty="0">
                  <a:latin typeface="Times New Roman" panose="02020603050405020304" pitchFamily="18" charset="0"/>
                  <a:cs typeface="Times New Roman" panose="02020603050405020304" pitchFamily="18" charset="0"/>
                </a:rPr>
                <a:t>K</a:t>
              </a:r>
              <a:r>
                <a:rPr lang="en-US" altLang="zh-TW" sz="2800" baseline="-25000" dirty="0">
                  <a:latin typeface="Times New Roman" panose="02020603050405020304" pitchFamily="18" charset="0"/>
                  <a:cs typeface="Times New Roman" panose="02020603050405020304" pitchFamily="18" charset="0"/>
                </a:rPr>
                <a:t>2</a:t>
              </a:r>
              <a:endParaRPr lang="en-US" altLang="zh-TW" sz="2800" baseline="-25000" dirty="0">
                <a:latin typeface="Times New Roman" panose="02020603050405020304" pitchFamily="18" charset="0"/>
                <a:ea typeface="Times New Roman" panose="02020603050405020304" pitchFamily="18" charset="0"/>
              </a:endParaRPr>
            </a:p>
          </p:txBody>
        </p:sp>
        <p:sp>
          <p:nvSpPr>
            <p:cNvPr id="20495" name="Oval 4"/>
            <p:cNvSpPr/>
            <p:nvPr/>
          </p:nvSpPr>
          <p:spPr>
            <a:xfrm>
              <a:off x="3657600" y="3810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0496" name="Oval 4"/>
            <p:cNvSpPr/>
            <p:nvPr/>
          </p:nvSpPr>
          <p:spPr>
            <a:xfrm>
              <a:off x="3276600" y="4495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0497" name="Oval 4"/>
            <p:cNvSpPr/>
            <p:nvPr/>
          </p:nvSpPr>
          <p:spPr>
            <a:xfrm>
              <a:off x="4114800" y="4495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49" name="直線接點 48"/>
            <p:cNvCxnSpPr>
              <a:endCxn id="20497" idx="6"/>
            </p:cNvCxnSpPr>
            <p:nvPr/>
          </p:nvCxnSpPr>
          <p:spPr>
            <a:xfrm flipV="1">
              <a:off x="3352800" y="4571618"/>
              <a:ext cx="914400" cy="1587"/>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2" name="直線接點 51"/>
            <p:cNvCxnSpPr>
              <a:stCxn id="20495" idx="5"/>
              <a:endCxn id="20497" idx="1"/>
            </p:cNvCxnSpPr>
            <p:nvPr/>
          </p:nvCxnSpPr>
          <p:spPr>
            <a:xfrm rot="16200000" flipH="1">
              <a:off x="3673608" y="4054249"/>
              <a:ext cx="577587" cy="34925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0500" name="Text Box 26"/>
            <p:cNvSpPr txBox="1"/>
            <p:nvPr/>
          </p:nvSpPr>
          <p:spPr>
            <a:xfrm>
              <a:off x="3505200" y="4647784"/>
              <a:ext cx="541338" cy="5188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i="1" dirty="0">
                  <a:latin typeface="Times New Roman" panose="02020603050405020304" pitchFamily="18" charset="0"/>
                  <a:cs typeface="Times New Roman" panose="02020603050405020304" pitchFamily="18" charset="0"/>
                </a:rPr>
                <a:t>K</a:t>
              </a:r>
              <a:r>
                <a:rPr lang="en-US" altLang="zh-TW" sz="2800" baseline="-25000" dirty="0">
                  <a:latin typeface="Times New Roman" panose="02020603050405020304" pitchFamily="18" charset="0"/>
                  <a:cs typeface="Times New Roman" panose="02020603050405020304" pitchFamily="18" charset="0"/>
                </a:rPr>
                <a:t>3</a:t>
              </a:r>
              <a:endParaRPr lang="en-US" altLang="zh-TW" sz="2800" baseline="-25000" dirty="0">
                <a:latin typeface="Times New Roman" panose="02020603050405020304" pitchFamily="18" charset="0"/>
                <a:ea typeface="Times New Roman" panose="02020603050405020304" pitchFamily="18" charset="0"/>
              </a:endParaRPr>
            </a:p>
          </p:txBody>
        </p:sp>
        <p:cxnSp>
          <p:nvCxnSpPr>
            <p:cNvPr id="59" name="直線接點 58"/>
            <p:cNvCxnSpPr>
              <a:stCxn id="20502" idx="2"/>
            </p:cNvCxnSpPr>
            <p:nvPr/>
          </p:nvCxnSpPr>
          <p:spPr>
            <a:xfrm rot="10800000" flipV="1">
              <a:off x="5029200" y="3809965"/>
              <a:ext cx="762000" cy="760067"/>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0502" name="Oval 4"/>
            <p:cNvSpPr/>
            <p:nvPr/>
          </p:nvSpPr>
          <p:spPr>
            <a:xfrm>
              <a:off x="5791200" y="3733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0503" name="Oval 4"/>
            <p:cNvSpPr/>
            <p:nvPr/>
          </p:nvSpPr>
          <p:spPr>
            <a:xfrm>
              <a:off x="4953000" y="4495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0504" name="Oval 4"/>
            <p:cNvSpPr/>
            <p:nvPr/>
          </p:nvSpPr>
          <p:spPr>
            <a:xfrm>
              <a:off x="5791200" y="4495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63" name="直線接點 62"/>
            <p:cNvCxnSpPr>
              <a:endCxn id="20504" idx="6"/>
            </p:cNvCxnSpPr>
            <p:nvPr/>
          </p:nvCxnSpPr>
          <p:spPr>
            <a:xfrm flipV="1">
              <a:off x="5029200" y="4571618"/>
              <a:ext cx="914400" cy="1587"/>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4" name="直線接點 63"/>
            <p:cNvCxnSpPr/>
            <p:nvPr/>
          </p:nvCxnSpPr>
          <p:spPr>
            <a:xfrm rot="16200000" flipH="1">
              <a:off x="5524661" y="4152705"/>
              <a:ext cx="707702" cy="2222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0507" name="Text Box 26"/>
            <p:cNvSpPr txBox="1"/>
            <p:nvPr/>
          </p:nvSpPr>
          <p:spPr>
            <a:xfrm>
              <a:off x="5181600" y="4647784"/>
              <a:ext cx="541338" cy="5188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i="1" dirty="0">
                  <a:latin typeface="Times New Roman" panose="02020603050405020304" pitchFamily="18" charset="0"/>
                  <a:cs typeface="Times New Roman" panose="02020603050405020304" pitchFamily="18" charset="0"/>
                </a:rPr>
                <a:t>K</a:t>
              </a:r>
              <a:r>
                <a:rPr lang="en-US" altLang="zh-TW" sz="2800" baseline="-25000" dirty="0">
                  <a:latin typeface="Times New Roman" panose="02020603050405020304" pitchFamily="18" charset="0"/>
                  <a:cs typeface="Times New Roman" panose="02020603050405020304" pitchFamily="18" charset="0"/>
                </a:rPr>
                <a:t>4</a:t>
              </a:r>
              <a:endParaRPr lang="en-US" altLang="zh-TW" sz="2800" baseline="-25000" dirty="0">
                <a:latin typeface="Times New Roman" panose="02020603050405020304" pitchFamily="18" charset="0"/>
                <a:ea typeface="Times New Roman" panose="02020603050405020304" pitchFamily="18" charset="0"/>
              </a:endParaRPr>
            </a:p>
          </p:txBody>
        </p:sp>
        <p:sp>
          <p:nvSpPr>
            <p:cNvPr id="20508" name="Oval 4"/>
            <p:cNvSpPr/>
            <p:nvPr/>
          </p:nvSpPr>
          <p:spPr>
            <a:xfrm>
              <a:off x="4953000" y="3733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70" name="直線接點 69"/>
            <p:cNvCxnSpPr>
              <a:stCxn id="20502" idx="6"/>
            </p:cNvCxnSpPr>
            <p:nvPr/>
          </p:nvCxnSpPr>
          <p:spPr>
            <a:xfrm flipH="1" flipV="1">
              <a:off x="5029200" y="3808379"/>
              <a:ext cx="914400" cy="1586"/>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2" name="直線接點 71"/>
            <p:cNvCxnSpPr>
              <a:stCxn id="20508" idx="4"/>
              <a:endCxn id="20503" idx="0"/>
            </p:cNvCxnSpPr>
            <p:nvPr/>
          </p:nvCxnSpPr>
          <p:spPr>
            <a:xfrm rot="5400000">
              <a:off x="4724540" y="4190792"/>
              <a:ext cx="609322" cy="317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 name="直線接點 76"/>
            <p:cNvCxnSpPr>
              <a:stCxn id="20504" idx="1"/>
            </p:cNvCxnSpPr>
            <p:nvPr/>
          </p:nvCxnSpPr>
          <p:spPr>
            <a:xfrm rot="16200000" flipV="1">
              <a:off x="5066669" y="3770910"/>
              <a:ext cx="709289" cy="78422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grpSp>
      <p:graphicFrame>
        <p:nvGraphicFramePr>
          <p:cNvPr id="5122" name="Object 38"/>
          <p:cNvGraphicFramePr>
            <a:graphicFrameLocks noChangeAspect="1"/>
          </p:cNvGraphicFramePr>
          <p:nvPr/>
        </p:nvGraphicFramePr>
        <p:xfrm>
          <a:off x="1371600" y="5915025"/>
          <a:ext cx="2133600" cy="942975"/>
        </p:xfrm>
        <a:graphic>
          <a:graphicData uri="http://schemas.openxmlformats.org/presentationml/2006/ole">
            <mc:AlternateContent xmlns:mc="http://schemas.openxmlformats.org/markup-compatibility/2006">
              <mc:Choice xmlns:v="urn:schemas-microsoft-com:vml" Requires="v">
                <p:oleObj spid="_x0000_s3077" name="" r:id="rId1" imgW="862965" imgH="381000" progId="Equation.3">
                  <p:embed/>
                </p:oleObj>
              </mc:Choice>
              <mc:Fallback>
                <p:oleObj name="" r:id="rId1" imgW="862965" imgH="381000" progId="Equation.3">
                  <p:embed/>
                  <p:pic>
                    <p:nvPicPr>
                      <p:cNvPr id="0" name="图片 3076"/>
                      <p:cNvPicPr/>
                      <p:nvPr/>
                    </p:nvPicPr>
                    <p:blipFill>
                      <a:blip r:embed="rId2"/>
                      <a:stretch>
                        <a:fillRect/>
                      </a:stretch>
                    </p:blipFill>
                    <p:spPr>
                      <a:xfrm>
                        <a:off x="1371600" y="5915025"/>
                        <a:ext cx="2133600" cy="942975"/>
                      </a:xfrm>
                      <a:prstGeom prst="rect">
                        <a:avLst/>
                      </a:prstGeom>
                      <a:noFill/>
                      <a:ln w="38100">
                        <a:noFill/>
                        <a:miter/>
                      </a:ln>
                    </p:spPr>
                  </p:pic>
                </p:oleObj>
              </mc:Fallback>
            </mc:AlternateContent>
          </a:graphicData>
        </a:graphic>
      </p:graphicFrame>
      <p:sp>
        <p:nvSpPr>
          <p:cNvPr id="5128" name="Text Box 6"/>
          <p:cNvSpPr txBox="1"/>
          <p:nvPr/>
        </p:nvSpPr>
        <p:spPr>
          <a:xfrm>
            <a:off x="228600" y="5410200"/>
            <a:ext cx="649922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008000"/>
                </a:solidFill>
              </a:rPr>
              <a:t>Note. </a:t>
            </a:r>
            <a:r>
              <a:rPr lang="en-US" altLang="zh-TW" i="1" dirty="0">
                <a:latin typeface="Times New Roman" panose="02020603050405020304" pitchFamily="18" charset="0"/>
                <a:cs typeface="Times New Roman" panose="02020603050405020304" pitchFamily="18" charset="0"/>
              </a:rPr>
              <a:t>K</a:t>
            </a:r>
            <a:r>
              <a:rPr lang="en-US" altLang="zh-TW" i="1" baseline="-25000" dirty="0">
                <a:latin typeface="Times New Roman" panose="02020603050405020304" pitchFamily="18" charset="0"/>
                <a:cs typeface="Times New Roman" panose="02020603050405020304" pitchFamily="18" charset="0"/>
              </a:rPr>
              <a:t>n</a:t>
            </a:r>
            <a:r>
              <a:rPr lang="en-US" altLang="zh-TW" dirty="0"/>
              <a:t> is (</a:t>
            </a:r>
            <a:r>
              <a:rPr lang="en-US" altLang="zh-TW" i="1" dirty="0">
                <a:latin typeface="Times New Roman" panose="02020603050405020304" pitchFamily="18" charset="0"/>
                <a:cs typeface="Times New Roman" panose="02020603050405020304" pitchFamily="18" charset="0"/>
              </a:rPr>
              <a:t>n</a:t>
            </a:r>
            <a:r>
              <a:rPr lang="en-US" altLang="zh-TW" dirty="0">
                <a:latin typeface="Symbol" panose="05050102010706020507" pitchFamily="18" charset="2"/>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1)</a:t>
            </a:r>
            <a:r>
              <a:rPr lang="en-US" altLang="zh-TW" dirty="0"/>
              <a:t>-regular, </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K</a:t>
            </a:r>
            <a:r>
              <a:rPr lang="en-US" altLang="zh-TW" i="1" baseline="-25000"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n</a:t>
            </a:r>
            <a:r>
              <a:rPr lang="en-US" altLang="zh-TW" dirty="0"/>
              <a:t>, </a:t>
            </a:r>
            <a:endParaRPr lang="en-US" altLang="zh-TW" dirty="0"/>
          </a:p>
        </p:txBody>
      </p:sp>
      <p:sp>
        <p:nvSpPr>
          <p:cNvPr id="20487" name="投影片編號版面配置區 31"/>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8"/>
                                        </p:tgtEl>
                                        <p:attrNameLst>
                                          <p:attrName>style.visibility</p:attrName>
                                        </p:attrNameLst>
                                      </p:cBhvr>
                                      <p:to>
                                        <p:strVal val="visible"/>
                                      </p:to>
                                    </p:set>
                                    <p:anim calcmode="lin" valueType="num">
                                      <p:cBhvr additive="base">
                                        <p:cTn id="13" dur="500" fill="hold"/>
                                        <p:tgtEl>
                                          <p:spTgt spid="5128"/>
                                        </p:tgtEl>
                                        <p:attrNameLst>
                                          <p:attrName>ppt_x</p:attrName>
                                        </p:attrNameLst>
                                      </p:cBhvr>
                                      <p:tavLst>
                                        <p:tav tm="0">
                                          <p:val>
                                            <p:strVal val="#ppt_x"/>
                                          </p:val>
                                        </p:tav>
                                        <p:tav tm="100000">
                                          <p:val>
                                            <p:strVal val="#ppt_x"/>
                                          </p:val>
                                        </p:tav>
                                      </p:tavLst>
                                    </p:anim>
                                    <p:anim calcmode="lin" valueType="num">
                                      <p:cBhvr additive="base">
                                        <p:cTn id="14" dur="500" fill="hold"/>
                                        <p:tgtEl>
                                          <p:spTgt spid="512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122"/>
                                        </p:tgtEl>
                                        <p:attrNameLst>
                                          <p:attrName>style.visibility</p:attrName>
                                        </p:attrNameLst>
                                      </p:cBhvr>
                                      <p:to>
                                        <p:strVal val="visible"/>
                                      </p:to>
                                    </p:set>
                                    <p:anim calcmode="lin" valueType="num">
                                      <p:cBhvr additive="base">
                                        <p:cTn id="17" dur="500" fill="hold"/>
                                        <p:tgtEl>
                                          <p:spTgt spid="5122"/>
                                        </p:tgtEl>
                                        <p:attrNameLst>
                                          <p:attrName>ppt_x</p:attrName>
                                        </p:attrNameLst>
                                      </p:cBhvr>
                                      <p:tavLst>
                                        <p:tav tm="0">
                                          <p:val>
                                            <p:strVal val="#ppt_x"/>
                                          </p:val>
                                        </p:tav>
                                        <p:tav tm="100000">
                                          <p:val>
                                            <p:strVal val="#ppt_x"/>
                                          </p:val>
                                        </p:tav>
                                      </p:tavLst>
                                    </p:anim>
                                    <p:anim calcmode="lin" valueType="num">
                                      <p:cBhvr additive="base">
                                        <p:cTn id="1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3"/>
          <p:cNvSpPr>
            <a:spLocks noGrp="1"/>
          </p:cNvSpPr>
          <p:nvPr>
            <p:ph idx="1"/>
          </p:nvPr>
        </p:nvSpPr>
        <p:spPr>
          <a:xfrm>
            <a:off x="120650" y="503238"/>
            <a:ext cx="8870950" cy="2239962"/>
          </a:xfrm>
        </p:spPr>
        <p:txBody>
          <a:bodyPr vert="horz" wrap="square" lIns="91440" tIns="45720" rIns="91440" bIns="45720" anchor="t"/>
          <a:p>
            <a:pPr eaLnBrk="1" hangingPunct="1">
              <a:buNone/>
            </a:pPr>
            <a:r>
              <a:rPr lang="en-US" altLang="zh-TW" b="1" dirty="0">
                <a:solidFill>
                  <a:srgbClr val="008000"/>
                </a:solidFill>
              </a:rPr>
              <a:t>Example 6.</a:t>
            </a:r>
            <a:r>
              <a:rPr lang="en-US" altLang="zh-TW" dirty="0"/>
              <a:t> The </a:t>
            </a:r>
            <a:r>
              <a:rPr lang="en-US" altLang="zh-TW" dirty="0">
                <a:solidFill>
                  <a:srgbClr val="0000CC"/>
                </a:solidFill>
              </a:rPr>
              <a:t>cycle </a:t>
            </a:r>
            <a:r>
              <a:rPr lang="en-US" altLang="zh-TW" i="1" dirty="0">
                <a:solidFill>
                  <a:srgbClr val="0000CC"/>
                </a:solidFill>
                <a:latin typeface="Times New Roman" panose="02020603050405020304" pitchFamily="18" charset="0"/>
                <a:cs typeface="Times New Roman" panose="02020603050405020304" pitchFamily="18" charset="0"/>
              </a:rPr>
              <a:t>C</a:t>
            </a:r>
            <a:r>
              <a:rPr lang="en-US" altLang="zh-TW" i="1" baseline="-25000" dirty="0">
                <a:solidFill>
                  <a:srgbClr val="0000CC"/>
                </a:solidFill>
                <a:latin typeface="Times New Roman" panose="02020603050405020304" pitchFamily="18" charset="0"/>
                <a:cs typeface="Times New Roman" panose="02020603050405020304" pitchFamily="18" charset="0"/>
              </a:rPr>
              <a:t>n</a:t>
            </a:r>
            <a:r>
              <a:rPr lang="en-US" altLang="zh-TW" dirty="0"/>
              <a:t>, </a:t>
            </a:r>
            <a:r>
              <a:rPr lang="en-US" altLang="zh-TW" i="1" dirty="0">
                <a:latin typeface="Times New Roman" panose="02020603050405020304" pitchFamily="18" charset="0"/>
                <a:cs typeface="Times New Roman" panose="02020603050405020304" pitchFamily="18" charset="0"/>
              </a:rPr>
              <a:t>n</a:t>
            </a:r>
            <a:r>
              <a:rPr lang="en-US" altLang="zh-TW" dirty="0">
                <a:sym typeface="Symbol" panose="05050102010706020507" pitchFamily="18" charset="2"/>
              </a:rPr>
              <a:t></a:t>
            </a:r>
            <a:r>
              <a:rPr lang="en-US" altLang="zh-TW" dirty="0"/>
              <a:t>3, consists of </a:t>
            </a:r>
            <a:r>
              <a:rPr lang="en-US" altLang="zh-TW" i="1" dirty="0">
                <a:latin typeface="Times New Roman" panose="02020603050405020304" pitchFamily="18" charset="0"/>
                <a:cs typeface="Times New Roman" panose="02020603050405020304" pitchFamily="18" charset="0"/>
              </a:rPr>
              <a:t>n</a:t>
            </a:r>
            <a:r>
              <a:rPr lang="en-US" altLang="zh-TW" dirty="0"/>
              <a:t> vertices </a:t>
            </a:r>
            <a:r>
              <a:rPr lang="en-US" altLang="zh-TW" i="1" dirty="0">
                <a:latin typeface="Times New Roman" panose="02020603050405020304" pitchFamily="18" charset="0"/>
                <a:cs typeface="Times New Roman" panose="02020603050405020304" pitchFamily="18" charset="0"/>
              </a:rPr>
              <a:t>v</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v</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ea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v</a:t>
            </a:r>
            <a:r>
              <a:rPr lang="en-US" altLang="zh-TW" i="1" baseline="-25000"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 </a:t>
            </a:r>
            <a:r>
              <a:rPr lang="en-US" altLang="zh-TW" dirty="0"/>
              <a:t>and </a:t>
            </a:r>
            <a:r>
              <a:rPr lang="en-US" altLang="zh-CN" i="1" dirty="0">
                <a:latin typeface="Times New Roman" panose="02020603050405020304" pitchFamily="18" charset="0"/>
                <a:cs typeface="Times New Roman" panose="02020603050405020304" pitchFamily="18" charset="0"/>
              </a:rPr>
              <a:t>n</a:t>
            </a:r>
            <a:r>
              <a:rPr lang="en-US" altLang="zh-CN" dirty="0"/>
              <a:t> </a:t>
            </a:r>
            <a:r>
              <a:rPr lang="en-US" altLang="zh-TW" dirty="0"/>
              <a:t>edges </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v</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ea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v</a:t>
            </a:r>
            <a:r>
              <a:rPr lang="en-US" altLang="zh-TW" i="1" baseline="-25000" dirty="0">
                <a:latin typeface="Times New Roman" panose="02020603050405020304" pitchFamily="18" charset="0"/>
                <a:cs typeface="Times New Roman" panose="02020603050405020304" pitchFamily="18" charset="0"/>
              </a:rPr>
              <a:t>n</a:t>
            </a:r>
            <a:r>
              <a:rPr lang="en-US" altLang="zh-TW" baseline="-25000" dirty="0">
                <a:latin typeface="Symbol" panose="05050102010706020507" pitchFamily="18" charset="2"/>
                <a:cs typeface="Times New Roman" panose="02020603050405020304" pitchFamily="18" charset="0"/>
              </a:rPr>
              <a:t>-</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i="1" baseline="-25000"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v</a:t>
            </a:r>
            <a:r>
              <a:rPr lang="en-US" altLang="zh-TW" i="1" baseline="-25000"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ea typeface="Times New Roman" panose="02020603050405020304" pitchFamily="18" charset="0"/>
            </a:endParaRPr>
          </a:p>
        </p:txBody>
      </p:sp>
      <p:sp>
        <p:nvSpPr>
          <p:cNvPr id="59" name="Text Box 6"/>
          <p:cNvSpPr txBox="1"/>
          <p:nvPr/>
        </p:nvSpPr>
        <p:spPr>
          <a:xfrm>
            <a:off x="381000" y="4495800"/>
            <a:ext cx="755491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008000"/>
                </a:solidFill>
              </a:rPr>
              <a:t>Note</a:t>
            </a:r>
            <a:r>
              <a:rPr lang="en-US" altLang="zh-TW" dirty="0">
                <a:solidFill>
                  <a:schemeClr val="tx2"/>
                </a:solidFill>
              </a:rPr>
              <a:t> </a:t>
            </a:r>
            <a:r>
              <a:rPr lang="en-US" altLang="zh-TW" i="1" dirty="0">
                <a:solidFill>
                  <a:schemeClr val="tx2"/>
                </a:solidFill>
                <a:latin typeface="Times New Roman" panose="02020603050405020304" pitchFamily="18" charset="0"/>
                <a:cs typeface="Times New Roman" panose="02020603050405020304" pitchFamily="18" charset="0"/>
              </a:rPr>
              <a:t>C</a:t>
            </a:r>
            <a:r>
              <a:rPr lang="en-US" altLang="zh-TW" i="1" baseline="-25000" dirty="0">
                <a:solidFill>
                  <a:schemeClr val="tx2"/>
                </a:solidFill>
                <a:latin typeface="Times New Roman" panose="02020603050405020304" pitchFamily="18" charset="0"/>
                <a:cs typeface="Times New Roman" panose="02020603050405020304" pitchFamily="18" charset="0"/>
              </a:rPr>
              <a:t>n </a:t>
            </a:r>
            <a:r>
              <a:rPr lang="en-US" altLang="zh-TW" dirty="0"/>
              <a:t>is </a:t>
            </a:r>
            <a:r>
              <a:rPr lang="en-US" altLang="zh-TW" dirty="0">
                <a:latin typeface="Times New Roman" panose="02020603050405020304" pitchFamily="18" charset="0"/>
                <a:cs typeface="Times New Roman" panose="02020603050405020304" pitchFamily="18" charset="0"/>
              </a:rPr>
              <a:t>2</a:t>
            </a:r>
            <a:r>
              <a:rPr lang="en-US" altLang="zh-TW" dirty="0"/>
              <a:t>-regular, </a:t>
            </a:r>
            <a:r>
              <a:rPr lang="en-US" altLang="zh-TW" dirty="0">
                <a:solidFill>
                  <a:schemeClr val="tx2"/>
                </a:solidFill>
                <a:latin typeface="Times New Roman" panose="02020603050405020304" pitchFamily="18" charset="0"/>
                <a:cs typeface="Times New Roman" panose="02020603050405020304" pitchFamily="18" charset="0"/>
              </a:rPr>
              <a:t>|</a:t>
            </a:r>
            <a:r>
              <a:rPr lang="en-US" altLang="zh-TW" i="1" dirty="0">
                <a:solidFill>
                  <a:schemeClr val="tx2"/>
                </a:solidFill>
                <a:latin typeface="Times New Roman" panose="02020603050405020304" pitchFamily="18" charset="0"/>
                <a:cs typeface="Times New Roman" panose="02020603050405020304" pitchFamily="18" charset="0"/>
              </a:rPr>
              <a:t>V</a:t>
            </a:r>
            <a:r>
              <a:rPr lang="en-US" altLang="zh-TW" dirty="0">
                <a:solidFill>
                  <a:schemeClr val="tx2"/>
                </a:solidFill>
                <a:latin typeface="Times New Roman" panose="02020603050405020304" pitchFamily="18" charset="0"/>
                <a:cs typeface="Times New Roman" panose="02020603050405020304" pitchFamily="18" charset="0"/>
              </a:rPr>
              <a:t>(</a:t>
            </a:r>
            <a:r>
              <a:rPr lang="en-US" altLang="zh-TW" i="1" dirty="0">
                <a:solidFill>
                  <a:schemeClr val="tx2"/>
                </a:solidFill>
                <a:latin typeface="Times New Roman" panose="02020603050405020304" pitchFamily="18" charset="0"/>
                <a:cs typeface="Times New Roman" panose="02020603050405020304" pitchFamily="18" charset="0"/>
              </a:rPr>
              <a:t>C</a:t>
            </a:r>
            <a:r>
              <a:rPr lang="en-US" altLang="zh-TW" i="1" baseline="-25000" dirty="0">
                <a:solidFill>
                  <a:schemeClr val="tx2"/>
                </a:solidFill>
                <a:latin typeface="Times New Roman" panose="02020603050405020304" pitchFamily="18" charset="0"/>
                <a:cs typeface="Times New Roman" panose="02020603050405020304" pitchFamily="18" charset="0"/>
              </a:rPr>
              <a:t>n</a:t>
            </a:r>
            <a:r>
              <a:rPr lang="en-US" altLang="zh-TW" dirty="0">
                <a:solidFill>
                  <a:schemeClr val="tx2"/>
                </a:solidFill>
                <a:latin typeface="Times New Roman" panose="02020603050405020304" pitchFamily="18" charset="0"/>
                <a:cs typeface="Times New Roman" panose="02020603050405020304" pitchFamily="18" charset="0"/>
              </a:rPr>
              <a:t>)| = </a:t>
            </a:r>
            <a:r>
              <a:rPr lang="en-US" altLang="zh-TW" i="1" dirty="0">
                <a:solidFill>
                  <a:schemeClr val="tx2"/>
                </a:solidFill>
                <a:latin typeface="Times New Roman" panose="02020603050405020304" pitchFamily="18" charset="0"/>
                <a:cs typeface="Times New Roman" panose="02020603050405020304" pitchFamily="18" charset="0"/>
              </a:rPr>
              <a:t>n,</a:t>
            </a:r>
            <a:r>
              <a:rPr lang="en-US" altLang="zh-TW" dirty="0"/>
              <a:t> </a:t>
            </a:r>
            <a:r>
              <a:rPr lang="en-US" altLang="zh-TW" dirty="0">
                <a:solidFill>
                  <a:schemeClr val="tx2"/>
                </a:solidFill>
                <a:latin typeface="Times New Roman" panose="02020603050405020304" pitchFamily="18" charset="0"/>
                <a:cs typeface="Times New Roman" panose="02020603050405020304" pitchFamily="18" charset="0"/>
              </a:rPr>
              <a:t>|</a:t>
            </a:r>
            <a:r>
              <a:rPr lang="en-US" altLang="zh-TW" i="1" dirty="0">
                <a:solidFill>
                  <a:schemeClr val="tx2"/>
                </a:solidFill>
                <a:latin typeface="Times New Roman" panose="02020603050405020304" pitchFamily="18" charset="0"/>
                <a:cs typeface="Times New Roman" panose="02020603050405020304" pitchFamily="18" charset="0"/>
              </a:rPr>
              <a:t>E</a:t>
            </a:r>
            <a:r>
              <a:rPr lang="en-US" altLang="zh-TW" dirty="0">
                <a:solidFill>
                  <a:schemeClr val="tx2"/>
                </a:solidFill>
                <a:latin typeface="Times New Roman" panose="02020603050405020304" pitchFamily="18" charset="0"/>
                <a:cs typeface="Times New Roman" panose="02020603050405020304" pitchFamily="18" charset="0"/>
              </a:rPr>
              <a:t>(</a:t>
            </a:r>
            <a:r>
              <a:rPr lang="en-US" altLang="zh-TW" i="1" dirty="0">
                <a:solidFill>
                  <a:schemeClr val="tx2"/>
                </a:solidFill>
                <a:latin typeface="Times New Roman" panose="02020603050405020304" pitchFamily="18" charset="0"/>
                <a:cs typeface="Times New Roman" panose="02020603050405020304" pitchFamily="18" charset="0"/>
              </a:rPr>
              <a:t>C</a:t>
            </a:r>
            <a:r>
              <a:rPr lang="en-US" altLang="zh-TW" i="1" baseline="-25000" dirty="0">
                <a:solidFill>
                  <a:schemeClr val="tx2"/>
                </a:solidFill>
                <a:latin typeface="Times New Roman" panose="02020603050405020304" pitchFamily="18" charset="0"/>
                <a:cs typeface="Times New Roman" panose="02020603050405020304" pitchFamily="18" charset="0"/>
              </a:rPr>
              <a:t>n</a:t>
            </a:r>
            <a:r>
              <a:rPr lang="en-US" altLang="zh-TW" dirty="0">
                <a:solidFill>
                  <a:schemeClr val="tx2"/>
                </a:solidFill>
                <a:latin typeface="Times New Roman" panose="02020603050405020304" pitchFamily="18" charset="0"/>
                <a:cs typeface="Times New Roman" panose="02020603050405020304" pitchFamily="18" charset="0"/>
              </a:rPr>
              <a:t>)| = </a:t>
            </a:r>
            <a:r>
              <a:rPr lang="en-US" altLang="zh-TW" i="1" dirty="0">
                <a:solidFill>
                  <a:schemeClr val="tx2"/>
                </a:solidFill>
                <a:latin typeface="Times New Roman" panose="02020603050405020304" pitchFamily="18" charset="0"/>
                <a:cs typeface="Times New Roman" panose="02020603050405020304" pitchFamily="18" charset="0"/>
              </a:rPr>
              <a:t>n</a:t>
            </a:r>
            <a:endParaRPr lang="en-US" altLang="zh-TW" i="1" dirty="0">
              <a:solidFill>
                <a:schemeClr val="tx2"/>
              </a:solidFill>
              <a:latin typeface="Times New Roman" panose="02020603050405020304" pitchFamily="18" charset="0"/>
              <a:ea typeface="Times New Roman" panose="02020603050405020304" pitchFamily="18" charset="0"/>
            </a:endParaRPr>
          </a:p>
        </p:txBody>
      </p:sp>
      <p:grpSp>
        <p:nvGrpSpPr>
          <p:cNvPr id="2" name="群組 87"/>
          <p:cNvGrpSpPr/>
          <p:nvPr/>
        </p:nvGrpSpPr>
        <p:grpSpPr>
          <a:xfrm>
            <a:off x="2057400" y="2362200"/>
            <a:ext cx="4191000" cy="1587500"/>
            <a:chOff x="609600" y="2286000"/>
            <a:chExt cx="4191000" cy="1586847"/>
          </a:xfrm>
        </p:grpSpPr>
        <p:cxnSp>
          <p:nvCxnSpPr>
            <p:cNvPr id="33" name="直線接點 32"/>
            <p:cNvCxnSpPr>
              <a:endCxn id="21533" idx="3"/>
            </p:cNvCxnSpPr>
            <p:nvPr/>
          </p:nvCxnSpPr>
          <p:spPr>
            <a:xfrm rot="10800000" flipV="1">
              <a:off x="3679825" y="2286000"/>
              <a:ext cx="542925" cy="51096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1511" name="Oval 4"/>
            <p:cNvSpPr/>
            <p:nvPr/>
          </p:nvSpPr>
          <p:spPr>
            <a:xfrm>
              <a:off x="4114800" y="2286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1512" name="Oval 4"/>
            <p:cNvSpPr/>
            <p:nvPr/>
          </p:nvSpPr>
          <p:spPr>
            <a:xfrm>
              <a:off x="3810000" y="3200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1513" name="Oval 4"/>
            <p:cNvSpPr/>
            <p:nvPr/>
          </p:nvSpPr>
          <p:spPr>
            <a:xfrm>
              <a:off x="4495800" y="3200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43" name="直線接點 42"/>
            <p:cNvCxnSpPr>
              <a:stCxn id="21512" idx="2"/>
              <a:endCxn id="21513" idx="6"/>
            </p:cNvCxnSpPr>
            <p:nvPr/>
          </p:nvCxnSpPr>
          <p:spPr>
            <a:xfrm rot="10800000" flipH="1">
              <a:off x="3810000" y="3276193"/>
              <a:ext cx="838200" cy="1587"/>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4" name="直線接點 43"/>
            <p:cNvCxnSpPr>
              <a:stCxn id="21511" idx="5"/>
              <a:endCxn id="21534" idx="1"/>
            </p:cNvCxnSpPr>
            <p:nvPr/>
          </p:nvCxnSpPr>
          <p:spPr>
            <a:xfrm rot="16200000" flipH="1">
              <a:off x="4321231" y="2339865"/>
              <a:ext cx="272938" cy="42545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1516" name="Text Box 26"/>
            <p:cNvSpPr txBox="1"/>
            <p:nvPr/>
          </p:nvSpPr>
          <p:spPr>
            <a:xfrm>
              <a:off x="3962400" y="3352361"/>
              <a:ext cx="541338" cy="5189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i="1" dirty="0">
                  <a:latin typeface="Times New Roman" panose="02020603050405020304" pitchFamily="18" charset="0"/>
                  <a:cs typeface="Times New Roman" panose="02020603050405020304" pitchFamily="18" charset="0"/>
                </a:rPr>
                <a:t>C</a:t>
              </a:r>
              <a:r>
                <a:rPr lang="en-US" altLang="zh-TW" sz="2800" baseline="-25000" dirty="0">
                  <a:latin typeface="Times New Roman" panose="02020603050405020304" pitchFamily="18" charset="0"/>
                  <a:cs typeface="Times New Roman" panose="02020603050405020304" pitchFamily="18" charset="0"/>
                </a:rPr>
                <a:t>5</a:t>
              </a:r>
              <a:endParaRPr lang="en-US" altLang="zh-TW" sz="2800" baseline="-25000" dirty="0">
                <a:latin typeface="Times New Roman" panose="02020603050405020304" pitchFamily="18" charset="0"/>
                <a:ea typeface="Times New Roman" panose="02020603050405020304" pitchFamily="18" charset="0"/>
              </a:endParaRPr>
            </a:p>
          </p:txBody>
        </p:sp>
        <p:cxnSp>
          <p:nvCxnSpPr>
            <p:cNvPr id="60" name="直線接點 59"/>
            <p:cNvCxnSpPr/>
            <p:nvPr/>
          </p:nvCxnSpPr>
          <p:spPr>
            <a:xfrm rot="16200000" flipH="1" flipV="1">
              <a:off x="512126" y="2689768"/>
              <a:ext cx="760099" cy="41275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1518" name="Oval 4"/>
            <p:cNvSpPr/>
            <p:nvPr/>
          </p:nvSpPr>
          <p:spPr>
            <a:xfrm>
              <a:off x="990600" y="251618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1519" name="Oval 4"/>
            <p:cNvSpPr/>
            <p:nvPr/>
          </p:nvSpPr>
          <p:spPr>
            <a:xfrm>
              <a:off x="609600" y="320198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1520" name="Oval 4"/>
            <p:cNvSpPr/>
            <p:nvPr/>
          </p:nvSpPr>
          <p:spPr>
            <a:xfrm>
              <a:off x="1447800" y="320198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64" name="直線接點 63"/>
            <p:cNvCxnSpPr>
              <a:endCxn id="21520" idx="6"/>
            </p:cNvCxnSpPr>
            <p:nvPr/>
          </p:nvCxnSpPr>
          <p:spPr>
            <a:xfrm flipV="1">
              <a:off x="685800" y="3277780"/>
              <a:ext cx="914400" cy="1586"/>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 name="直線接點 64"/>
            <p:cNvCxnSpPr>
              <a:stCxn id="21518" idx="5"/>
              <a:endCxn id="21520" idx="1"/>
            </p:cNvCxnSpPr>
            <p:nvPr/>
          </p:nvCxnSpPr>
          <p:spPr>
            <a:xfrm rot="16200000" flipH="1">
              <a:off x="1006594" y="2760396"/>
              <a:ext cx="577612" cy="34925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1523" name="Text Box 26"/>
            <p:cNvSpPr txBox="1"/>
            <p:nvPr/>
          </p:nvSpPr>
          <p:spPr>
            <a:xfrm>
              <a:off x="838200" y="3353948"/>
              <a:ext cx="541338" cy="51889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i="1" dirty="0">
                  <a:latin typeface="Times New Roman" panose="02020603050405020304" pitchFamily="18" charset="0"/>
                  <a:cs typeface="Times New Roman" panose="02020603050405020304" pitchFamily="18" charset="0"/>
                </a:rPr>
                <a:t>C</a:t>
              </a:r>
              <a:r>
                <a:rPr lang="en-US" altLang="zh-TW" sz="2800" baseline="-25000" dirty="0">
                  <a:latin typeface="Times New Roman" panose="02020603050405020304" pitchFamily="18" charset="0"/>
                  <a:cs typeface="Times New Roman" panose="02020603050405020304" pitchFamily="18" charset="0"/>
                </a:rPr>
                <a:t>3</a:t>
              </a:r>
              <a:endParaRPr lang="en-US" altLang="zh-TW" sz="2800" baseline="-25000" dirty="0">
                <a:latin typeface="Times New Roman" panose="02020603050405020304" pitchFamily="18" charset="0"/>
                <a:ea typeface="Times New Roman" panose="02020603050405020304" pitchFamily="18" charset="0"/>
              </a:endParaRPr>
            </a:p>
          </p:txBody>
        </p:sp>
        <p:sp>
          <p:nvSpPr>
            <p:cNvPr id="21524" name="Oval 4"/>
            <p:cNvSpPr/>
            <p:nvPr/>
          </p:nvSpPr>
          <p:spPr>
            <a:xfrm>
              <a:off x="3124200" y="243998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1525" name="Oval 4"/>
            <p:cNvSpPr/>
            <p:nvPr/>
          </p:nvSpPr>
          <p:spPr>
            <a:xfrm>
              <a:off x="2286000" y="320198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1526" name="Oval 4"/>
            <p:cNvSpPr/>
            <p:nvPr/>
          </p:nvSpPr>
          <p:spPr>
            <a:xfrm>
              <a:off x="3124200" y="320198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70" name="直線接點 69"/>
            <p:cNvCxnSpPr>
              <a:endCxn id="21526" idx="6"/>
            </p:cNvCxnSpPr>
            <p:nvPr/>
          </p:nvCxnSpPr>
          <p:spPr>
            <a:xfrm flipV="1">
              <a:off x="2362200" y="3277780"/>
              <a:ext cx="914400" cy="1586"/>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1" name="直線接點 70"/>
            <p:cNvCxnSpPr/>
            <p:nvPr/>
          </p:nvCxnSpPr>
          <p:spPr>
            <a:xfrm rot="16200000" flipH="1">
              <a:off x="2857646" y="2858849"/>
              <a:ext cx="707734" cy="2222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1529" name="Text Box 26"/>
            <p:cNvSpPr txBox="1"/>
            <p:nvPr/>
          </p:nvSpPr>
          <p:spPr>
            <a:xfrm>
              <a:off x="2514600" y="3353948"/>
              <a:ext cx="541338" cy="51889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i="1" dirty="0">
                  <a:latin typeface="Times New Roman" panose="02020603050405020304" pitchFamily="18" charset="0"/>
                  <a:cs typeface="Times New Roman" panose="02020603050405020304" pitchFamily="18" charset="0"/>
                </a:rPr>
                <a:t>C</a:t>
              </a:r>
              <a:r>
                <a:rPr lang="en-US" altLang="zh-TW" sz="2800" baseline="-25000" dirty="0">
                  <a:latin typeface="Times New Roman" panose="02020603050405020304" pitchFamily="18" charset="0"/>
                  <a:cs typeface="Times New Roman" panose="02020603050405020304" pitchFamily="18" charset="0"/>
                </a:rPr>
                <a:t>4</a:t>
              </a:r>
              <a:endParaRPr lang="en-US" altLang="zh-TW" sz="2800" baseline="-25000" dirty="0">
                <a:latin typeface="Times New Roman" panose="02020603050405020304" pitchFamily="18" charset="0"/>
                <a:ea typeface="Times New Roman" panose="02020603050405020304" pitchFamily="18" charset="0"/>
              </a:endParaRPr>
            </a:p>
          </p:txBody>
        </p:sp>
        <p:sp>
          <p:nvSpPr>
            <p:cNvPr id="21530" name="Oval 4"/>
            <p:cNvSpPr/>
            <p:nvPr/>
          </p:nvSpPr>
          <p:spPr>
            <a:xfrm>
              <a:off x="2286000" y="243998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74" name="直線接點 73"/>
            <p:cNvCxnSpPr>
              <a:stCxn id="21524" idx="6"/>
            </p:cNvCxnSpPr>
            <p:nvPr/>
          </p:nvCxnSpPr>
          <p:spPr>
            <a:xfrm flipH="1" flipV="1">
              <a:off x="2362200" y="2514506"/>
              <a:ext cx="914400" cy="1587"/>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5" name="直線接點 74"/>
            <p:cNvCxnSpPr>
              <a:stCxn id="21530" idx="4"/>
              <a:endCxn id="21525" idx="0"/>
            </p:cNvCxnSpPr>
            <p:nvPr/>
          </p:nvCxnSpPr>
          <p:spPr>
            <a:xfrm rot="5400000">
              <a:off x="2057526" y="2896935"/>
              <a:ext cx="609349" cy="317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21533" name="Oval 4"/>
            <p:cNvSpPr/>
            <p:nvPr/>
          </p:nvSpPr>
          <p:spPr>
            <a:xfrm>
              <a:off x="3657600" y="2667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1534" name="Oval 4"/>
            <p:cNvSpPr/>
            <p:nvPr/>
          </p:nvSpPr>
          <p:spPr>
            <a:xfrm>
              <a:off x="4648200" y="2667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81" name="直線接點 80"/>
            <p:cNvCxnSpPr/>
            <p:nvPr/>
          </p:nvCxnSpPr>
          <p:spPr>
            <a:xfrm rot="16200000" flipH="1">
              <a:off x="3559274" y="2917539"/>
              <a:ext cx="479228" cy="13017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3" name="直線接點 82"/>
            <p:cNvCxnSpPr/>
            <p:nvPr/>
          </p:nvCxnSpPr>
          <p:spPr>
            <a:xfrm rot="5400000">
              <a:off x="4397474" y="2917539"/>
              <a:ext cx="479228" cy="130175"/>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21509" name="投影片編號版面配置區 3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cBhvr additive="base">
                                        <p:cTn id="13" dur="500" fill="hold"/>
                                        <p:tgtEl>
                                          <p:spTgt spid="59"/>
                                        </p:tgtEl>
                                        <p:attrNameLst>
                                          <p:attrName>ppt_x</p:attrName>
                                        </p:attrNameLst>
                                      </p:cBhvr>
                                      <p:tavLst>
                                        <p:tav tm="0">
                                          <p:val>
                                            <p:strVal val="#ppt_x"/>
                                          </p:val>
                                        </p:tav>
                                        <p:tav tm="100000">
                                          <p:val>
                                            <p:strVal val="#ppt_x"/>
                                          </p:val>
                                        </p:tav>
                                      </p:tavLst>
                                    </p:anim>
                                    <p:anim calcmode="lin" valueType="num">
                                      <p:cBhvr additive="base">
                                        <p:cTn id="1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3"/>
          <p:cNvSpPr>
            <a:spLocks noGrp="1"/>
          </p:cNvSpPr>
          <p:nvPr>
            <p:ph idx="1"/>
          </p:nvPr>
        </p:nvSpPr>
        <p:spPr>
          <a:xfrm>
            <a:off x="457200" y="533400"/>
            <a:ext cx="8229600" cy="2209800"/>
          </a:xfrm>
        </p:spPr>
        <p:txBody>
          <a:bodyPr vert="horz" wrap="square" lIns="91440" tIns="45720" rIns="91440" bIns="45720" anchor="t"/>
          <a:p>
            <a:pPr eaLnBrk="1" hangingPunct="1">
              <a:buNone/>
            </a:pPr>
            <a:r>
              <a:rPr lang="en-US" altLang="zh-TW" b="1" dirty="0">
                <a:solidFill>
                  <a:srgbClr val="008000"/>
                </a:solidFill>
              </a:rPr>
              <a:t>Example 7. </a:t>
            </a:r>
            <a:r>
              <a:rPr lang="en-US" altLang="zh-TW" dirty="0">
                <a:solidFill>
                  <a:schemeClr val="tx2"/>
                </a:solidFill>
              </a:rPr>
              <a:t>We obtained the </a:t>
            </a:r>
            <a:r>
              <a:rPr lang="en-US" altLang="zh-TW" dirty="0">
                <a:solidFill>
                  <a:srgbClr val="0000CC"/>
                </a:solidFill>
              </a:rPr>
              <a:t>wheel</a:t>
            </a:r>
            <a:r>
              <a:rPr lang="en-US" altLang="zh-TW" dirty="0">
                <a:solidFill>
                  <a:schemeClr val="tx2"/>
                </a:solidFill>
              </a:rPr>
              <a:t> </a:t>
            </a:r>
            <a:r>
              <a:rPr lang="en-US" altLang="zh-TW" i="1" dirty="0">
                <a:solidFill>
                  <a:srgbClr val="0000CC"/>
                </a:solidFill>
                <a:latin typeface="Times New Roman" panose="02020603050405020304" pitchFamily="18" charset="0"/>
                <a:cs typeface="Times New Roman" panose="02020603050405020304" pitchFamily="18" charset="0"/>
              </a:rPr>
              <a:t>W</a:t>
            </a:r>
            <a:r>
              <a:rPr lang="en-US" altLang="zh-TW" i="1" baseline="-25000" dirty="0">
                <a:solidFill>
                  <a:srgbClr val="0000CC"/>
                </a:solidFill>
                <a:latin typeface="Times New Roman" panose="02020603050405020304" pitchFamily="18" charset="0"/>
                <a:cs typeface="Times New Roman" panose="02020603050405020304" pitchFamily="18" charset="0"/>
              </a:rPr>
              <a:t>n</a:t>
            </a:r>
            <a:r>
              <a:rPr lang="en-US" altLang="zh-TW" dirty="0"/>
              <a:t> when we add an additional vertex to the cycle </a:t>
            </a:r>
            <a:r>
              <a:rPr lang="en-US" altLang="zh-TW" i="1" dirty="0">
                <a:latin typeface="Times New Roman" panose="02020603050405020304" pitchFamily="18" charset="0"/>
                <a:cs typeface="Times New Roman" panose="02020603050405020304" pitchFamily="18" charset="0"/>
              </a:rPr>
              <a:t>C</a:t>
            </a:r>
            <a:r>
              <a:rPr lang="en-US" altLang="zh-TW" i="1" baseline="-25000" dirty="0">
                <a:latin typeface="Times New Roman" panose="02020603050405020304" pitchFamily="18" charset="0"/>
                <a:cs typeface="Times New Roman" panose="02020603050405020304" pitchFamily="18" charset="0"/>
              </a:rPr>
              <a:t>n</a:t>
            </a:r>
            <a:r>
              <a:rPr lang="en-US" altLang="zh-TW" i="1" dirty="0">
                <a:latin typeface="Times New Roman" panose="02020603050405020304" pitchFamily="18" charset="0"/>
                <a:cs typeface="Times New Roman" panose="02020603050405020304" pitchFamily="18" charset="0"/>
              </a:rPr>
              <a:t>,</a:t>
            </a:r>
            <a:r>
              <a:rPr lang="en-US" altLang="zh-TW" i="1" baseline="-25000" dirty="0">
                <a:latin typeface="Times New Roman" panose="02020603050405020304" pitchFamily="18" charset="0"/>
                <a:cs typeface="Times New Roman" panose="02020603050405020304" pitchFamily="18" charset="0"/>
              </a:rPr>
              <a:t> </a:t>
            </a:r>
            <a:r>
              <a:rPr lang="en-US" altLang="zh-TW" dirty="0"/>
              <a:t>for </a:t>
            </a:r>
            <a:r>
              <a:rPr lang="en-US" altLang="zh-TW" i="1" dirty="0">
                <a:latin typeface="Times New Roman" panose="02020603050405020304" pitchFamily="18" charset="0"/>
                <a:cs typeface="Times New Roman" panose="02020603050405020304" pitchFamily="18" charset="0"/>
              </a:rPr>
              <a:t>n</a:t>
            </a:r>
            <a:r>
              <a:rPr lang="en-US" altLang="zh-TW" dirty="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3,</a:t>
            </a:r>
            <a:r>
              <a:rPr lang="en-US" altLang="zh-TW" dirty="0"/>
              <a:t> and connect this new vertex to each of the </a:t>
            </a:r>
            <a:r>
              <a:rPr lang="en-US" altLang="zh-TW" i="1" dirty="0">
                <a:latin typeface="Times New Roman" panose="02020603050405020304" pitchFamily="18" charset="0"/>
                <a:cs typeface="Times New Roman" panose="02020603050405020304" pitchFamily="18" charset="0"/>
              </a:rPr>
              <a:t>n</a:t>
            </a:r>
            <a:r>
              <a:rPr lang="en-US" altLang="zh-TW" dirty="0"/>
              <a:t> vertices in </a:t>
            </a:r>
            <a:r>
              <a:rPr lang="en-US" altLang="zh-TW" i="1" dirty="0">
                <a:latin typeface="Times New Roman" panose="02020603050405020304" pitchFamily="18" charset="0"/>
                <a:cs typeface="Times New Roman" panose="02020603050405020304" pitchFamily="18" charset="0"/>
              </a:rPr>
              <a:t>C</a:t>
            </a:r>
            <a:r>
              <a:rPr lang="en-US" altLang="zh-TW" i="1" baseline="-25000" dirty="0">
                <a:latin typeface="Times New Roman" panose="02020603050405020304" pitchFamily="18" charset="0"/>
                <a:cs typeface="Times New Roman" panose="02020603050405020304" pitchFamily="18" charset="0"/>
              </a:rPr>
              <a:t>n</a:t>
            </a:r>
            <a:r>
              <a:rPr lang="en-US" altLang="zh-TW" dirty="0"/>
              <a:t>, by new edges.</a:t>
            </a:r>
            <a:endParaRPr lang="en-US" altLang="zh-TW" dirty="0"/>
          </a:p>
        </p:txBody>
      </p:sp>
      <p:grpSp>
        <p:nvGrpSpPr>
          <p:cNvPr id="22531" name="Group 58"/>
          <p:cNvGrpSpPr/>
          <p:nvPr/>
        </p:nvGrpSpPr>
        <p:grpSpPr>
          <a:xfrm>
            <a:off x="990600" y="2819400"/>
            <a:ext cx="2590800" cy="2438400"/>
            <a:chOff x="672" y="1584"/>
            <a:chExt cx="1632" cy="1536"/>
          </a:xfrm>
        </p:grpSpPr>
        <p:cxnSp>
          <p:nvCxnSpPr>
            <p:cNvPr id="22562" name="AutoShape 11"/>
            <p:cNvCxnSpPr>
              <a:endCxn id="22534" idx="3"/>
            </p:cNvCxnSpPr>
            <p:nvPr/>
          </p:nvCxnSpPr>
          <p:spPr>
            <a:xfrm flipV="1">
              <a:off x="672" y="1810"/>
              <a:ext cx="734" cy="564"/>
            </a:xfrm>
            <a:prstGeom prst="straightConnector1">
              <a:avLst/>
            </a:prstGeom>
            <a:ln w="9525" cap="flat" cmpd="sng">
              <a:solidFill>
                <a:schemeClr val="tx1"/>
              </a:solidFill>
              <a:prstDash val="solid"/>
              <a:headEnd type="none" w="med" len="med"/>
              <a:tailEnd type="none" w="med" len="med"/>
            </a:ln>
          </p:spPr>
        </p:cxnSp>
        <p:cxnSp>
          <p:nvCxnSpPr>
            <p:cNvPr id="22563" name="AutoShape 12"/>
            <p:cNvCxnSpPr>
              <a:stCxn id="22534" idx="5"/>
              <a:endCxn id="22539" idx="1"/>
            </p:cNvCxnSpPr>
            <p:nvPr/>
          </p:nvCxnSpPr>
          <p:spPr>
            <a:xfrm rot="-5400000" flipH="1">
              <a:off x="1594" y="1690"/>
              <a:ext cx="508" cy="748"/>
            </a:xfrm>
            <a:prstGeom prst="straightConnector1">
              <a:avLst/>
            </a:prstGeom>
            <a:ln w="9525" cap="flat" cmpd="sng">
              <a:solidFill>
                <a:schemeClr val="tx1"/>
              </a:solidFill>
              <a:prstDash val="solid"/>
              <a:headEnd type="none" w="med" len="med"/>
              <a:tailEnd type="none" w="med" len="med"/>
            </a:ln>
          </p:spPr>
        </p:cxnSp>
        <p:cxnSp>
          <p:nvCxnSpPr>
            <p:cNvPr id="22564" name="AutoShape 13"/>
            <p:cNvCxnSpPr>
              <a:stCxn id="22539" idx="3"/>
            </p:cNvCxnSpPr>
            <p:nvPr/>
          </p:nvCxnSpPr>
          <p:spPr>
            <a:xfrm rot="5400000">
              <a:off x="1687" y="2570"/>
              <a:ext cx="721" cy="350"/>
            </a:xfrm>
            <a:prstGeom prst="straightConnector1">
              <a:avLst/>
            </a:prstGeom>
            <a:ln w="9525" cap="flat" cmpd="sng">
              <a:solidFill>
                <a:schemeClr val="tx1"/>
              </a:solidFill>
              <a:prstDash val="solid"/>
              <a:headEnd type="none" w="med" len="med"/>
              <a:tailEnd type="none" w="med" len="med"/>
            </a:ln>
          </p:spPr>
        </p:cxnSp>
        <p:cxnSp>
          <p:nvCxnSpPr>
            <p:cNvPr id="22565" name="AutoShape 14"/>
            <p:cNvCxnSpPr>
              <a:endCxn id="22537" idx="1"/>
            </p:cNvCxnSpPr>
            <p:nvPr/>
          </p:nvCxnSpPr>
          <p:spPr>
            <a:xfrm rot="-5400000" flipH="1">
              <a:off x="528" y="2544"/>
              <a:ext cx="686" cy="398"/>
            </a:xfrm>
            <a:prstGeom prst="straightConnector1">
              <a:avLst/>
            </a:prstGeom>
            <a:ln w="9525" cap="flat" cmpd="sng">
              <a:solidFill>
                <a:schemeClr val="tx1"/>
              </a:solidFill>
              <a:prstDash val="solid"/>
              <a:headEnd type="none" w="med" len="med"/>
              <a:tailEnd type="none" w="med" len="med"/>
            </a:ln>
          </p:spPr>
        </p:cxnSp>
        <p:cxnSp>
          <p:nvCxnSpPr>
            <p:cNvPr id="22566" name="AutoShape 15"/>
            <p:cNvCxnSpPr>
              <a:endCxn id="22538" idx="2"/>
            </p:cNvCxnSpPr>
            <p:nvPr/>
          </p:nvCxnSpPr>
          <p:spPr>
            <a:xfrm>
              <a:off x="1152" y="3120"/>
              <a:ext cx="672" cy="0"/>
            </a:xfrm>
            <a:prstGeom prst="straightConnector1">
              <a:avLst/>
            </a:prstGeom>
            <a:ln w="9525" cap="flat" cmpd="sng">
              <a:solidFill>
                <a:schemeClr val="tx1"/>
              </a:solidFill>
              <a:prstDash val="solid"/>
              <a:headEnd type="none" w="med" len="med"/>
              <a:tailEnd type="none" w="med" len="med"/>
            </a:ln>
          </p:spPr>
        </p:cxnSp>
        <p:cxnSp>
          <p:nvCxnSpPr>
            <p:cNvPr id="22567" name="AutoShape 17"/>
            <p:cNvCxnSpPr>
              <a:endCxn id="22535" idx="2"/>
            </p:cNvCxnSpPr>
            <p:nvPr/>
          </p:nvCxnSpPr>
          <p:spPr>
            <a:xfrm>
              <a:off x="720" y="2400"/>
              <a:ext cx="672" cy="96"/>
            </a:xfrm>
            <a:prstGeom prst="straightConnector1">
              <a:avLst/>
            </a:prstGeom>
            <a:ln w="9525" cap="flat" cmpd="sng">
              <a:solidFill>
                <a:schemeClr val="tx1"/>
              </a:solidFill>
              <a:prstDash val="solid"/>
              <a:headEnd type="none" w="med" len="med"/>
              <a:tailEnd type="none" w="med" len="med"/>
            </a:ln>
          </p:spPr>
        </p:cxnSp>
        <p:cxnSp>
          <p:nvCxnSpPr>
            <p:cNvPr id="22568" name="AutoShape 18"/>
            <p:cNvCxnSpPr>
              <a:endCxn id="22535" idx="0"/>
            </p:cNvCxnSpPr>
            <p:nvPr/>
          </p:nvCxnSpPr>
          <p:spPr>
            <a:xfrm rot="5400000">
              <a:off x="1103" y="2112"/>
              <a:ext cx="672" cy="1"/>
            </a:xfrm>
            <a:prstGeom prst="straightConnector1">
              <a:avLst/>
            </a:prstGeom>
            <a:ln w="9525" cap="flat" cmpd="sng">
              <a:solidFill>
                <a:schemeClr val="tx1"/>
              </a:solidFill>
              <a:prstDash val="solid"/>
              <a:headEnd type="none" w="med" len="med"/>
              <a:tailEnd type="none" w="med" len="med"/>
            </a:ln>
          </p:spPr>
        </p:cxnSp>
        <p:cxnSp>
          <p:nvCxnSpPr>
            <p:cNvPr id="22569" name="AutoShape 19"/>
            <p:cNvCxnSpPr>
              <a:stCxn id="22539" idx="6"/>
            </p:cNvCxnSpPr>
            <p:nvPr/>
          </p:nvCxnSpPr>
          <p:spPr>
            <a:xfrm flipH="1">
              <a:off x="1488" y="2352"/>
              <a:ext cx="816" cy="155"/>
            </a:xfrm>
            <a:prstGeom prst="straightConnector1">
              <a:avLst/>
            </a:prstGeom>
            <a:ln w="9525" cap="flat" cmpd="sng">
              <a:solidFill>
                <a:schemeClr val="tx1"/>
              </a:solidFill>
              <a:prstDash val="solid"/>
              <a:headEnd type="none" w="med" len="med"/>
              <a:tailEnd type="none" w="med" len="med"/>
            </a:ln>
          </p:spPr>
        </p:cxnSp>
        <p:cxnSp>
          <p:nvCxnSpPr>
            <p:cNvPr id="22570" name="AutoShape 20"/>
            <p:cNvCxnSpPr>
              <a:endCxn id="22537" idx="0"/>
            </p:cNvCxnSpPr>
            <p:nvPr/>
          </p:nvCxnSpPr>
          <p:spPr>
            <a:xfrm rot="5400000">
              <a:off x="989" y="2610"/>
              <a:ext cx="576" cy="347"/>
            </a:xfrm>
            <a:prstGeom prst="straightConnector1">
              <a:avLst/>
            </a:prstGeom>
            <a:ln w="9525" cap="flat" cmpd="sng">
              <a:solidFill>
                <a:schemeClr val="tx1"/>
              </a:solidFill>
              <a:prstDash val="solid"/>
              <a:headEnd type="none" w="med" len="med"/>
              <a:tailEnd type="none" w="med" len="med"/>
            </a:ln>
          </p:spPr>
        </p:cxnSp>
        <p:cxnSp>
          <p:nvCxnSpPr>
            <p:cNvPr id="22571" name="AutoShape 21"/>
            <p:cNvCxnSpPr>
              <a:endCxn id="22538" idx="0"/>
            </p:cNvCxnSpPr>
            <p:nvPr/>
          </p:nvCxnSpPr>
          <p:spPr>
            <a:xfrm rot="-5400000" flipH="1">
              <a:off x="1368" y="2568"/>
              <a:ext cx="576" cy="432"/>
            </a:xfrm>
            <a:prstGeom prst="straightConnector1">
              <a:avLst/>
            </a:prstGeom>
            <a:ln w="9525" cap="flat" cmpd="sng">
              <a:solidFill>
                <a:schemeClr val="tx1"/>
              </a:solidFill>
              <a:prstDash val="solid"/>
              <a:headEnd type="none" w="med" len="med"/>
              <a:tailEnd type="none" w="med" len="med"/>
            </a:ln>
          </p:spPr>
        </p:cxnSp>
        <p:sp>
          <p:nvSpPr>
            <p:cNvPr id="22572" name="Text Box 56"/>
            <p:cNvSpPr txBox="1"/>
            <p:nvPr/>
          </p:nvSpPr>
          <p:spPr>
            <a:xfrm>
              <a:off x="768" y="1584"/>
              <a:ext cx="34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W</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grpSp>
      <p:grpSp>
        <p:nvGrpSpPr>
          <p:cNvPr id="22532" name="Group 59"/>
          <p:cNvGrpSpPr/>
          <p:nvPr/>
        </p:nvGrpSpPr>
        <p:grpSpPr>
          <a:xfrm>
            <a:off x="5105400" y="2667000"/>
            <a:ext cx="2536825" cy="2720975"/>
            <a:chOff x="3229" y="1392"/>
            <a:chExt cx="1598" cy="1714"/>
          </a:xfrm>
        </p:grpSpPr>
        <p:grpSp>
          <p:nvGrpSpPr>
            <p:cNvPr id="22548" name="Group 22"/>
            <p:cNvGrpSpPr/>
            <p:nvPr/>
          </p:nvGrpSpPr>
          <p:grpSpPr>
            <a:xfrm>
              <a:off x="3229" y="1776"/>
              <a:ext cx="1598" cy="1297"/>
              <a:chOff x="2653" y="1968"/>
              <a:chExt cx="1598" cy="1297"/>
            </a:xfrm>
          </p:grpSpPr>
          <p:cxnSp>
            <p:nvCxnSpPr>
              <p:cNvPr id="22556" name="AutoShape 28"/>
              <p:cNvCxnSpPr>
                <a:stCxn id="22544" idx="7"/>
                <a:endCxn id="22540" idx="3"/>
              </p:cNvCxnSpPr>
              <p:nvPr/>
            </p:nvCxnSpPr>
            <p:spPr>
              <a:xfrm rot="5400000" flipH="1" flipV="1">
                <a:off x="2615" y="2074"/>
                <a:ext cx="556" cy="412"/>
              </a:xfrm>
              <a:prstGeom prst="straightConnector1">
                <a:avLst/>
              </a:prstGeom>
              <a:ln w="9525" cap="flat" cmpd="sng">
                <a:solidFill>
                  <a:schemeClr val="tx1"/>
                </a:solidFill>
                <a:prstDash val="solid"/>
                <a:headEnd type="none" w="med" len="med"/>
                <a:tailEnd type="none" w="med" len="med"/>
              </a:ln>
            </p:spPr>
          </p:cxnSp>
          <p:cxnSp>
            <p:nvCxnSpPr>
              <p:cNvPr id="22557" name="AutoShape 29"/>
              <p:cNvCxnSpPr>
                <a:stCxn id="22545" idx="6"/>
                <a:endCxn id="22546" idx="2"/>
              </p:cNvCxnSpPr>
              <p:nvPr/>
            </p:nvCxnSpPr>
            <p:spPr>
              <a:xfrm>
                <a:off x="3133" y="3264"/>
                <a:ext cx="672" cy="1"/>
              </a:xfrm>
              <a:prstGeom prst="straightConnector1">
                <a:avLst/>
              </a:prstGeom>
              <a:ln w="9525" cap="flat" cmpd="sng">
                <a:solidFill>
                  <a:schemeClr val="tx1"/>
                </a:solidFill>
                <a:prstDash val="solid"/>
                <a:headEnd type="none" w="med" len="med"/>
                <a:tailEnd type="none" w="med" len="med"/>
              </a:ln>
            </p:spPr>
          </p:cxnSp>
          <p:cxnSp>
            <p:nvCxnSpPr>
              <p:cNvPr id="22558" name="AutoShape 31"/>
              <p:cNvCxnSpPr>
                <a:stCxn id="22541" idx="5"/>
                <a:endCxn id="22542" idx="1"/>
              </p:cNvCxnSpPr>
              <p:nvPr/>
            </p:nvCxnSpPr>
            <p:spPr>
              <a:xfrm rot="-5400000" flipH="1">
                <a:off x="3791" y="2098"/>
                <a:ext cx="556" cy="364"/>
              </a:xfrm>
              <a:prstGeom prst="straightConnector1">
                <a:avLst/>
              </a:prstGeom>
              <a:ln w="9525" cap="flat" cmpd="sng">
                <a:solidFill>
                  <a:schemeClr val="tx1"/>
                </a:solidFill>
                <a:prstDash val="solid"/>
                <a:headEnd type="none" w="med" len="med"/>
                <a:tailEnd type="none" w="med" len="med"/>
              </a:ln>
            </p:spPr>
          </p:cxnSp>
          <p:cxnSp>
            <p:nvCxnSpPr>
              <p:cNvPr id="22559" name="AutoShape 32"/>
              <p:cNvCxnSpPr>
                <a:stCxn id="22540" idx="6"/>
                <a:endCxn id="22541" idx="6"/>
              </p:cNvCxnSpPr>
              <p:nvPr/>
            </p:nvCxnSpPr>
            <p:spPr>
              <a:xfrm>
                <a:off x="3181" y="1968"/>
                <a:ext cx="720" cy="1"/>
              </a:xfrm>
              <a:prstGeom prst="straightConnector1">
                <a:avLst/>
              </a:prstGeom>
              <a:ln w="9525" cap="flat" cmpd="sng">
                <a:solidFill>
                  <a:schemeClr val="tx1"/>
                </a:solidFill>
                <a:prstDash val="solid"/>
                <a:headEnd type="none" w="med" len="med"/>
                <a:tailEnd type="none" w="med" len="med"/>
              </a:ln>
            </p:spPr>
          </p:cxnSp>
          <p:cxnSp>
            <p:nvCxnSpPr>
              <p:cNvPr id="22560" name="AutoShape 33"/>
              <p:cNvCxnSpPr>
                <a:stCxn id="22546" idx="7"/>
                <a:endCxn id="22542" idx="3"/>
              </p:cNvCxnSpPr>
              <p:nvPr/>
            </p:nvCxnSpPr>
            <p:spPr>
              <a:xfrm rot="5400000" flipH="1" flipV="1">
                <a:off x="3767" y="2746"/>
                <a:ext cx="604" cy="364"/>
              </a:xfrm>
              <a:prstGeom prst="straightConnector1">
                <a:avLst/>
              </a:prstGeom>
              <a:ln w="9525" cap="flat" cmpd="sng">
                <a:solidFill>
                  <a:schemeClr val="tx1"/>
                </a:solidFill>
                <a:prstDash val="solid"/>
                <a:headEnd type="none" w="med" len="med"/>
                <a:tailEnd type="none" w="med" len="med"/>
              </a:ln>
            </p:spPr>
          </p:cxnSp>
          <p:cxnSp>
            <p:nvCxnSpPr>
              <p:cNvPr id="22561" name="AutoShape 34"/>
              <p:cNvCxnSpPr>
                <a:endCxn id="22545" idx="1"/>
              </p:cNvCxnSpPr>
              <p:nvPr/>
            </p:nvCxnSpPr>
            <p:spPr>
              <a:xfrm rot="-5400000" flipH="1">
                <a:off x="2533" y="2712"/>
                <a:ext cx="638" cy="398"/>
              </a:xfrm>
              <a:prstGeom prst="straightConnector1">
                <a:avLst/>
              </a:prstGeom>
              <a:ln w="9525" cap="flat" cmpd="sng">
                <a:solidFill>
                  <a:schemeClr val="tx1"/>
                </a:solidFill>
                <a:prstDash val="solid"/>
                <a:headEnd type="none" w="med" len="med"/>
                <a:tailEnd type="none" w="med" len="med"/>
              </a:ln>
            </p:spPr>
          </p:cxnSp>
        </p:grpSp>
        <p:cxnSp>
          <p:nvCxnSpPr>
            <p:cNvPr id="22549" name="AutoShape 49"/>
            <p:cNvCxnSpPr/>
            <p:nvPr/>
          </p:nvCxnSpPr>
          <p:spPr>
            <a:xfrm>
              <a:off x="3229" y="2400"/>
              <a:ext cx="816" cy="0"/>
            </a:xfrm>
            <a:prstGeom prst="straightConnector1">
              <a:avLst/>
            </a:prstGeom>
            <a:ln w="9525" cap="flat" cmpd="sng">
              <a:solidFill>
                <a:schemeClr val="tx1"/>
              </a:solidFill>
              <a:prstDash val="solid"/>
              <a:headEnd type="none" w="med" len="med"/>
              <a:tailEnd type="none" w="med" len="med"/>
            </a:ln>
          </p:spPr>
        </p:cxnSp>
        <p:cxnSp>
          <p:nvCxnSpPr>
            <p:cNvPr id="22550" name="AutoShape 50"/>
            <p:cNvCxnSpPr>
              <a:endCxn id="22542" idx="2"/>
            </p:cNvCxnSpPr>
            <p:nvPr/>
          </p:nvCxnSpPr>
          <p:spPr>
            <a:xfrm>
              <a:off x="3949" y="2400"/>
              <a:ext cx="864" cy="0"/>
            </a:xfrm>
            <a:prstGeom prst="straightConnector1">
              <a:avLst/>
            </a:prstGeom>
            <a:ln w="9525" cap="flat" cmpd="sng">
              <a:solidFill>
                <a:schemeClr val="tx1"/>
              </a:solidFill>
              <a:prstDash val="solid"/>
              <a:headEnd type="none" w="med" len="med"/>
              <a:tailEnd type="none" w="med" len="med"/>
            </a:ln>
          </p:spPr>
        </p:cxnSp>
        <p:cxnSp>
          <p:nvCxnSpPr>
            <p:cNvPr id="22551" name="AutoShape 52"/>
            <p:cNvCxnSpPr>
              <a:stCxn id="22540" idx="4"/>
              <a:endCxn id="22543" idx="1"/>
            </p:cNvCxnSpPr>
            <p:nvPr/>
          </p:nvCxnSpPr>
          <p:spPr>
            <a:xfrm rot="-5400000" flipH="1">
              <a:off x="3589" y="1944"/>
              <a:ext cx="542" cy="302"/>
            </a:xfrm>
            <a:prstGeom prst="straightConnector1">
              <a:avLst/>
            </a:prstGeom>
            <a:ln w="9525" cap="flat" cmpd="sng">
              <a:solidFill>
                <a:schemeClr val="tx1"/>
              </a:solidFill>
              <a:prstDash val="solid"/>
              <a:headEnd type="none" w="med" len="med"/>
              <a:tailEnd type="none" w="med" len="med"/>
            </a:ln>
          </p:spPr>
        </p:cxnSp>
        <p:cxnSp>
          <p:nvCxnSpPr>
            <p:cNvPr id="22552" name="AutoShape 53"/>
            <p:cNvCxnSpPr>
              <a:endCxn id="22546" idx="5"/>
            </p:cNvCxnSpPr>
            <p:nvPr/>
          </p:nvCxnSpPr>
          <p:spPr>
            <a:xfrm rot="-5400000" flipH="1">
              <a:off x="3901" y="2544"/>
              <a:ext cx="706" cy="418"/>
            </a:xfrm>
            <a:prstGeom prst="straightConnector1">
              <a:avLst/>
            </a:prstGeom>
            <a:ln w="9525" cap="flat" cmpd="sng">
              <a:solidFill>
                <a:schemeClr val="tx1"/>
              </a:solidFill>
              <a:prstDash val="solid"/>
              <a:headEnd type="none" w="med" len="med"/>
              <a:tailEnd type="none" w="med" len="med"/>
            </a:ln>
          </p:spPr>
        </p:cxnSp>
        <p:cxnSp>
          <p:nvCxnSpPr>
            <p:cNvPr id="22553" name="AutoShape 54"/>
            <p:cNvCxnSpPr>
              <a:stCxn id="22541" idx="3"/>
              <a:endCxn id="22543" idx="7"/>
            </p:cNvCxnSpPr>
            <p:nvPr/>
          </p:nvCxnSpPr>
          <p:spPr>
            <a:xfrm rot="5400000">
              <a:off x="3959" y="1930"/>
              <a:ext cx="556" cy="316"/>
            </a:xfrm>
            <a:prstGeom prst="straightConnector1">
              <a:avLst/>
            </a:prstGeom>
            <a:ln w="9525" cap="flat" cmpd="sng">
              <a:solidFill>
                <a:schemeClr val="tx1"/>
              </a:solidFill>
              <a:prstDash val="solid"/>
              <a:headEnd type="none" w="med" len="med"/>
              <a:tailEnd type="none" w="med" len="med"/>
            </a:ln>
          </p:spPr>
        </p:cxnSp>
        <p:cxnSp>
          <p:nvCxnSpPr>
            <p:cNvPr id="22554" name="AutoShape 55"/>
            <p:cNvCxnSpPr>
              <a:stCxn id="22543" idx="3"/>
              <a:endCxn id="22545" idx="0"/>
            </p:cNvCxnSpPr>
            <p:nvPr/>
          </p:nvCxnSpPr>
          <p:spPr>
            <a:xfrm rot="5400000">
              <a:off x="3541" y="2554"/>
              <a:ext cx="590" cy="350"/>
            </a:xfrm>
            <a:prstGeom prst="straightConnector1">
              <a:avLst/>
            </a:prstGeom>
            <a:ln w="9525" cap="flat" cmpd="sng">
              <a:solidFill>
                <a:schemeClr val="tx1"/>
              </a:solidFill>
              <a:prstDash val="solid"/>
              <a:headEnd type="none" w="med" len="med"/>
              <a:tailEnd type="none" w="med" len="med"/>
            </a:ln>
          </p:spPr>
        </p:cxnSp>
        <p:sp>
          <p:nvSpPr>
            <p:cNvPr id="22555" name="Text Box 57"/>
            <p:cNvSpPr txBox="1"/>
            <p:nvPr/>
          </p:nvSpPr>
          <p:spPr>
            <a:xfrm>
              <a:off x="3805" y="1392"/>
              <a:ext cx="34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W</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grpSp>
      <p:sp>
        <p:nvSpPr>
          <p:cNvPr id="21510" name="Text Box 60"/>
          <p:cNvSpPr txBox="1">
            <a:spLocks noChangeArrowheads="1"/>
          </p:cNvSpPr>
          <p:nvPr/>
        </p:nvSpPr>
        <p:spPr bwMode="auto">
          <a:xfrm>
            <a:off x="304800" y="5638800"/>
            <a:ext cx="7543800" cy="1066800"/>
          </a:xfrm>
          <a:prstGeom prst="rect">
            <a:avLst/>
          </a:prstGeom>
          <a:noFill/>
          <a:ln w="9525">
            <a:noFill/>
            <a:miter lim="800000"/>
          </a:ln>
        </p:spPr>
        <p:txBody>
          <a:bodyPr>
            <a:spAutoFit/>
          </a:bodyPr>
          <a:lstStyle/>
          <a:p>
            <a:pPr marR="0" defTabSz="914400">
              <a:buClrTx/>
              <a:buSzTx/>
              <a:buFontTx/>
              <a:buNone/>
              <a:defRPr/>
            </a:pPr>
            <a:r>
              <a:rPr kumimoji="1" lang="en-US" altLang="zh-TW" sz="3200" kern="1200" cap="none" spc="0" normalizeH="0" baseline="0" noProof="0" dirty="0">
                <a:latin typeface="+mn-lt"/>
                <a:ea typeface="+mn-ea"/>
                <a:cs typeface="+mn-cs"/>
              </a:rPr>
              <a:t>Note. </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32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W</a:t>
            </a:r>
            <a:r>
              <a:rPr kumimoji="1" lang="en-US" altLang="zh-TW" sz="32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n</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 = </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n</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 + 1, |</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E</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32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W</a:t>
            </a:r>
            <a:r>
              <a:rPr kumimoji="1" lang="en-US" altLang="zh-TW" sz="32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n</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 = 2</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n, </a:t>
            </a:r>
            <a:b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b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32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W</a:t>
            </a:r>
            <a:r>
              <a:rPr kumimoji="1" lang="en-US" altLang="zh-TW" sz="32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n</a:t>
            </a:r>
            <a:r>
              <a:rPr kumimoji="1" lang="en-US" altLang="zh-TW" sz="3200" i="1" kern="1200" cap="none" spc="0" normalizeH="0" baseline="-25000" noProof="0" dirty="0">
                <a:latin typeface="Times New Roman" panose="02020603050405020304" pitchFamily="18" charset="0"/>
                <a:ea typeface="PMingLiU" pitchFamily="18" charset="-120"/>
                <a:cs typeface="Times New Roman" panose="02020603050405020304" pitchFamily="18" charset="0"/>
              </a:rPr>
              <a:t> </a:t>
            </a:r>
            <a:r>
              <a:rPr kumimoji="1" lang="en-US" altLang="zh-TW" sz="3200" kern="1200" cap="none" spc="0" normalizeH="0" baseline="0" noProof="0" dirty="0">
                <a:latin typeface="Arial" panose="020B0604020202020204" pitchFamily="34" charset="0"/>
                <a:ea typeface="PMingLiU" pitchFamily="18" charset="-120"/>
                <a:cs typeface="+mn-cs"/>
              </a:rPr>
              <a:t>is not a regular graph if </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n </a:t>
            </a:r>
            <a:r>
              <a:rPr kumimoji="1" lang="en-US" altLang="zh-TW" sz="3200" kern="1200" cap="none" spc="0" normalizeH="0" baseline="0" noProof="0" dirty="0">
                <a:latin typeface="Arial" panose="020B0604020202020204" pitchFamily="34" charset="0"/>
                <a:ea typeface="PMingLiU" pitchFamily="18" charset="-120"/>
                <a:cs typeface="+mn-cs"/>
                <a:sym typeface="Symbol" panose="05050102010706020507"/>
              </a:rPr>
              <a:t> </a:t>
            </a:r>
            <a:r>
              <a:rPr kumimoji="1" lang="en-US" altLang="zh-TW" sz="3200" kern="1200" cap="none" spc="0" normalizeH="0" baseline="0" noProof="0" dirty="0">
                <a:latin typeface="Arial" panose="020B0604020202020204" pitchFamily="34" charset="0"/>
                <a:ea typeface="PMingLiU" pitchFamily="18" charset="-120"/>
                <a:cs typeface="+mn-cs"/>
              </a:rPr>
              <a:t>3.</a:t>
            </a:r>
            <a:endPar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endParaRPr>
          </a:p>
        </p:txBody>
      </p:sp>
      <p:sp>
        <p:nvSpPr>
          <p:cNvPr id="22534" name="Oval 4"/>
          <p:cNvSpPr/>
          <p:nvPr/>
        </p:nvSpPr>
        <p:spPr>
          <a:xfrm>
            <a:off x="2133600" y="3048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35" name="Oval 4"/>
          <p:cNvSpPr/>
          <p:nvPr/>
        </p:nvSpPr>
        <p:spPr>
          <a:xfrm>
            <a:off x="2133600" y="4191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36" name="Oval 4"/>
          <p:cNvSpPr/>
          <p:nvPr/>
        </p:nvSpPr>
        <p:spPr>
          <a:xfrm>
            <a:off x="914400" y="4038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37" name="Oval 4"/>
          <p:cNvSpPr/>
          <p:nvPr/>
        </p:nvSpPr>
        <p:spPr>
          <a:xfrm>
            <a:off x="1600200" y="5181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38" name="Oval 4"/>
          <p:cNvSpPr/>
          <p:nvPr/>
        </p:nvSpPr>
        <p:spPr>
          <a:xfrm>
            <a:off x="2819400" y="5181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39" name="Oval 4"/>
          <p:cNvSpPr/>
          <p:nvPr/>
        </p:nvSpPr>
        <p:spPr>
          <a:xfrm>
            <a:off x="3429000" y="3962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40" name="Oval 4"/>
          <p:cNvSpPr/>
          <p:nvPr/>
        </p:nvSpPr>
        <p:spPr>
          <a:xfrm>
            <a:off x="5791200" y="3200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41" name="Oval 4"/>
          <p:cNvSpPr/>
          <p:nvPr/>
        </p:nvSpPr>
        <p:spPr>
          <a:xfrm>
            <a:off x="6934200" y="3200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42" name="Oval 4"/>
          <p:cNvSpPr/>
          <p:nvPr/>
        </p:nvSpPr>
        <p:spPr>
          <a:xfrm>
            <a:off x="7620000" y="4191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43" name="Oval 4"/>
          <p:cNvSpPr/>
          <p:nvPr/>
        </p:nvSpPr>
        <p:spPr>
          <a:xfrm>
            <a:off x="6324600" y="4191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44" name="Oval 4"/>
          <p:cNvSpPr/>
          <p:nvPr/>
        </p:nvSpPr>
        <p:spPr>
          <a:xfrm>
            <a:off x="5029200" y="4191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45" name="Oval 4"/>
          <p:cNvSpPr/>
          <p:nvPr/>
        </p:nvSpPr>
        <p:spPr>
          <a:xfrm>
            <a:off x="5715000" y="525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46" name="Oval 4"/>
          <p:cNvSpPr/>
          <p:nvPr/>
        </p:nvSpPr>
        <p:spPr>
          <a:xfrm>
            <a:off x="6934200" y="525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2547" name="投影片編號版面配置區 44"/>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 calcmode="lin" valueType="num">
                                      <p:cBhvr additive="base">
                                        <p:cTn id="7" dur="500" fill="hold"/>
                                        <p:tgtEl>
                                          <p:spTgt spid="21510"/>
                                        </p:tgtEl>
                                        <p:attrNameLst>
                                          <p:attrName>ppt_x</p:attrName>
                                        </p:attrNameLst>
                                      </p:cBhvr>
                                      <p:tavLst>
                                        <p:tav tm="0">
                                          <p:val>
                                            <p:strVal val="#ppt_x"/>
                                          </p:val>
                                        </p:tav>
                                        <p:tav tm="100000">
                                          <p:val>
                                            <p:strVal val="#ppt_x"/>
                                          </p:val>
                                        </p:tav>
                                      </p:tavLst>
                                    </p:anim>
                                    <p:anim calcmode="lin" valueType="num">
                                      <p:cBhvr additive="base">
                                        <p:cTn id="8" dur="500" fill="hold"/>
                                        <p:tgtEl>
                                          <p:spTgt spid="215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3"/>
          <p:cNvSpPr>
            <a:spLocks noGrp="1"/>
          </p:cNvSpPr>
          <p:nvPr>
            <p:ph idx="1"/>
          </p:nvPr>
        </p:nvSpPr>
        <p:spPr>
          <a:xfrm>
            <a:off x="457200" y="533400"/>
            <a:ext cx="8229600" cy="2209800"/>
          </a:xfrm>
        </p:spPr>
        <p:txBody>
          <a:bodyPr vert="horz" wrap="square" lIns="91440" tIns="45720" rIns="91440" bIns="45720" anchor="t"/>
          <a:p>
            <a:pPr eaLnBrk="1" hangingPunct="1">
              <a:buNone/>
            </a:pPr>
            <a:r>
              <a:rPr lang="en-US" altLang="zh-TW" sz="2800" b="1" dirty="0">
                <a:solidFill>
                  <a:srgbClr val="008000"/>
                </a:solidFill>
              </a:rPr>
              <a:t>Example 8. </a:t>
            </a:r>
            <a:r>
              <a:rPr lang="en-US" altLang="zh-TW" sz="2800" dirty="0">
                <a:solidFill>
                  <a:schemeClr val="tx2"/>
                </a:solidFill>
              </a:rPr>
              <a:t>The </a:t>
            </a:r>
            <a:r>
              <a:rPr lang="en-US" altLang="zh-TW" sz="2800" i="1" dirty="0">
                <a:solidFill>
                  <a:srgbClr val="0000CC"/>
                </a:solidFill>
                <a:latin typeface="Times New Roman" panose="02020603050405020304" pitchFamily="18" charset="0"/>
                <a:cs typeface="Times New Roman" panose="02020603050405020304" pitchFamily="18" charset="0"/>
              </a:rPr>
              <a:t>n</a:t>
            </a:r>
            <a:r>
              <a:rPr lang="en-US" altLang="zh-TW" sz="2800" dirty="0">
                <a:solidFill>
                  <a:srgbClr val="0000CC"/>
                </a:solidFill>
              </a:rPr>
              <a:t>-dimensional hypercube</a:t>
            </a:r>
            <a:r>
              <a:rPr lang="en-US" altLang="zh-TW" sz="2800" dirty="0">
                <a:solidFill>
                  <a:schemeClr val="tx2"/>
                </a:solidFill>
              </a:rPr>
              <a:t>, or </a:t>
            </a:r>
            <a:br>
              <a:rPr lang="en-US" altLang="zh-TW" sz="2800" dirty="0">
                <a:solidFill>
                  <a:schemeClr val="tx2"/>
                </a:solidFill>
              </a:rPr>
            </a:br>
            <a:r>
              <a:rPr lang="en-US" altLang="zh-TW" sz="2800" i="1" dirty="0">
                <a:solidFill>
                  <a:srgbClr val="0000CC"/>
                </a:solidFill>
                <a:latin typeface="Times New Roman" panose="02020603050405020304" pitchFamily="18" charset="0"/>
                <a:cs typeface="Times New Roman" panose="02020603050405020304" pitchFamily="18" charset="0"/>
              </a:rPr>
              <a:t>n</a:t>
            </a:r>
            <a:r>
              <a:rPr lang="en-US" altLang="zh-TW" sz="2800" dirty="0">
                <a:solidFill>
                  <a:srgbClr val="0000CC"/>
                </a:solidFill>
              </a:rPr>
              <a:t>-cube</a:t>
            </a:r>
            <a:r>
              <a:rPr lang="en-US" altLang="zh-TW" sz="2800" dirty="0">
                <a:solidFill>
                  <a:schemeClr val="tx2"/>
                </a:solidFill>
              </a:rPr>
              <a:t>, denoted by </a:t>
            </a:r>
            <a:r>
              <a:rPr lang="en-US" altLang="zh-TW" sz="2800" i="1" dirty="0">
                <a:solidFill>
                  <a:srgbClr val="0000CC"/>
                </a:solidFill>
                <a:latin typeface="Times New Roman" panose="02020603050405020304" pitchFamily="18" charset="0"/>
                <a:cs typeface="Times New Roman" panose="02020603050405020304" pitchFamily="18" charset="0"/>
              </a:rPr>
              <a:t>Q</a:t>
            </a:r>
            <a:r>
              <a:rPr lang="en-US" altLang="zh-TW" sz="2800" i="1" baseline="-25000" dirty="0">
                <a:solidFill>
                  <a:srgbClr val="0000CC"/>
                </a:solidFill>
                <a:latin typeface="Times New Roman" panose="02020603050405020304" pitchFamily="18" charset="0"/>
                <a:cs typeface="Times New Roman" panose="02020603050405020304" pitchFamily="18" charset="0"/>
              </a:rPr>
              <a:t>n</a:t>
            </a:r>
            <a:r>
              <a:rPr lang="en-US" altLang="zh-TW" sz="2800" dirty="0"/>
              <a:t>, is the graph that has vertices representing the </a:t>
            </a:r>
            <a:r>
              <a:rPr lang="en-US" altLang="zh-TW" sz="2800" dirty="0">
                <a:latin typeface="Times New Roman" panose="02020603050405020304" pitchFamily="18" charset="0"/>
                <a:cs typeface="Times New Roman" panose="02020603050405020304" pitchFamily="18" charset="0"/>
              </a:rPr>
              <a:t>2</a:t>
            </a:r>
            <a:r>
              <a:rPr lang="en-US" altLang="zh-TW" sz="2800" i="1" baseline="30000" dirty="0">
                <a:latin typeface="Times New Roman" panose="02020603050405020304" pitchFamily="18" charset="0"/>
                <a:cs typeface="Times New Roman" panose="02020603050405020304" pitchFamily="18" charset="0"/>
              </a:rPr>
              <a:t>n</a:t>
            </a:r>
            <a:r>
              <a:rPr lang="en-US" altLang="zh-TW" sz="2800" dirty="0"/>
              <a:t> bit strings of length </a:t>
            </a:r>
            <a:r>
              <a:rPr lang="en-US" altLang="zh-TW" sz="2800" i="1" dirty="0">
                <a:latin typeface="Times New Roman" panose="02020603050405020304" pitchFamily="18" charset="0"/>
                <a:cs typeface="Times New Roman" panose="02020603050405020304" pitchFamily="18" charset="0"/>
              </a:rPr>
              <a:t>n</a:t>
            </a:r>
            <a:r>
              <a:rPr lang="en-US" altLang="zh-TW" sz="2800" dirty="0"/>
              <a:t>.</a:t>
            </a:r>
            <a:br>
              <a:rPr lang="en-US" altLang="zh-TW" sz="2800" dirty="0"/>
            </a:br>
            <a:r>
              <a:rPr lang="en-US" altLang="zh-TW" sz="2800" dirty="0"/>
              <a:t>Two vertices are adjacent if and only if the bit strings that they represent differ in exactly one bit position.</a:t>
            </a:r>
            <a:endParaRPr lang="en-US" altLang="zh-TW" sz="2800" dirty="0"/>
          </a:p>
        </p:txBody>
      </p:sp>
      <p:cxnSp>
        <p:nvCxnSpPr>
          <p:cNvPr id="23555" name="AutoShape 17"/>
          <p:cNvCxnSpPr>
            <a:stCxn id="23560" idx="2"/>
            <a:endCxn id="23559" idx="2"/>
          </p:cNvCxnSpPr>
          <p:nvPr/>
        </p:nvCxnSpPr>
        <p:spPr>
          <a:xfrm rot="-10800000" flipH="1">
            <a:off x="914400" y="4114800"/>
            <a:ext cx="914400" cy="1588"/>
          </a:xfrm>
          <a:prstGeom prst="straightConnector1">
            <a:avLst/>
          </a:prstGeom>
          <a:ln w="9525" cap="flat" cmpd="sng">
            <a:solidFill>
              <a:schemeClr val="tx1"/>
            </a:solidFill>
            <a:prstDash val="solid"/>
            <a:headEnd type="none" w="med" len="med"/>
            <a:tailEnd type="none" w="med" len="med"/>
          </a:ln>
        </p:spPr>
      </p:cxnSp>
      <p:sp>
        <p:nvSpPr>
          <p:cNvPr id="23556" name="Text Box 56"/>
          <p:cNvSpPr txBox="1"/>
          <p:nvPr/>
        </p:nvSpPr>
        <p:spPr>
          <a:xfrm>
            <a:off x="3200400" y="4648200"/>
            <a:ext cx="5064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Q</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21510" name="Text Box 60"/>
          <p:cNvSpPr txBox="1">
            <a:spLocks noChangeArrowheads="1"/>
          </p:cNvSpPr>
          <p:nvPr/>
        </p:nvSpPr>
        <p:spPr bwMode="auto">
          <a:xfrm>
            <a:off x="152400" y="5791200"/>
            <a:ext cx="8763000" cy="519113"/>
          </a:xfrm>
          <a:prstGeom prst="rect">
            <a:avLst/>
          </a:prstGeom>
          <a:noFill/>
          <a:ln w="9525">
            <a:noFill/>
            <a:miter lim="800000"/>
          </a:ln>
        </p:spPr>
        <p:txBody>
          <a:bodyPr>
            <a:spAutoFit/>
          </a:bodyPr>
          <a:lstStyle/>
          <a:p>
            <a:pPr marR="0" defTabSz="914400">
              <a:buClrTx/>
              <a:buSzTx/>
              <a:buFontTx/>
              <a:buNone/>
              <a:defRPr/>
            </a:pPr>
            <a:r>
              <a:rPr kumimoji="1" lang="en-US" altLang="zh-TW" sz="2800" kern="1200" cap="none" spc="0" normalizeH="0" baseline="0" noProof="0" dirty="0">
                <a:latin typeface="+mn-lt"/>
                <a:ea typeface="+mn-ea"/>
                <a:cs typeface="+mn-cs"/>
              </a:rPr>
              <a:t>Note. </a:t>
            </a:r>
            <a:r>
              <a:rPr kumimoji="1" lang="en-US" altLang="zh-TW" sz="28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Q</a:t>
            </a:r>
            <a:r>
              <a:rPr kumimoji="1" lang="en-US" altLang="zh-TW" sz="28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n</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 is </a:t>
            </a:r>
            <a:r>
              <a:rPr kumimoji="1" lang="en-US" altLang="zh-TW" sz="2800" i="1" kern="1200" cap="none" spc="0" normalizeH="0" baseline="0" noProof="0" dirty="0">
                <a:latin typeface="Times New Roman" panose="02020603050405020304" pitchFamily="18" charset="0"/>
                <a:ea typeface="PMingLiU" pitchFamily="18" charset="-120"/>
                <a:cs typeface="Times New Roman" panose="02020603050405020304" pitchFamily="18" charset="0"/>
              </a:rPr>
              <a:t>n</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-regular, |</a:t>
            </a:r>
            <a:r>
              <a:rPr kumimoji="1" lang="en-US" altLang="zh-TW" sz="28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8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Q</a:t>
            </a:r>
            <a:r>
              <a:rPr kumimoji="1" lang="en-US" altLang="zh-TW" sz="28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n</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 = 2</a:t>
            </a:r>
            <a:r>
              <a:rPr kumimoji="1" lang="en-US" altLang="zh-TW" sz="2800" i="1" kern="1200" cap="none" spc="0" normalizeH="0" baseline="30000" noProof="0" dirty="0">
                <a:latin typeface="Times New Roman" panose="02020603050405020304" pitchFamily="18" charset="0"/>
                <a:ea typeface="PMingLiU" pitchFamily="18" charset="-120"/>
                <a:cs typeface="Times New Roman" panose="02020603050405020304" pitchFamily="18" charset="0"/>
              </a:rPr>
              <a:t>n</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2800" i="1" kern="1200" cap="none" spc="0" normalizeH="0" baseline="0" noProof="0" dirty="0">
                <a:latin typeface="Times New Roman" panose="02020603050405020304" pitchFamily="18" charset="0"/>
                <a:ea typeface="PMingLiU" pitchFamily="18" charset="-120"/>
                <a:cs typeface="Times New Roman" panose="02020603050405020304" pitchFamily="18" charset="0"/>
              </a:rPr>
              <a:t>E</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8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Q</a:t>
            </a:r>
            <a:r>
              <a:rPr kumimoji="1" lang="en-US" altLang="zh-TW" sz="28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n</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 = (2</a:t>
            </a:r>
            <a:r>
              <a:rPr kumimoji="1" lang="en-US" altLang="zh-TW" sz="2800" i="1" kern="1200" cap="none" spc="0" normalizeH="0" baseline="30000" noProof="0" dirty="0">
                <a:latin typeface="Times New Roman" panose="02020603050405020304" pitchFamily="18" charset="0"/>
                <a:ea typeface="PMingLiU" pitchFamily="18" charset="-120"/>
                <a:cs typeface="Times New Roman" panose="02020603050405020304" pitchFamily="18" charset="0"/>
              </a:rPr>
              <a:t>n</a:t>
            </a:r>
            <a:r>
              <a:rPr kumimoji="1" lang="en-US" altLang="zh-TW" sz="2800" i="1" kern="1200" cap="none" spc="0" normalizeH="0" baseline="0" noProof="0" dirty="0">
                <a:latin typeface="Times New Roman" panose="02020603050405020304" pitchFamily="18" charset="0"/>
                <a:ea typeface="PMingLiU" pitchFamily="18" charset="-120"/>
                <a:cs typeface="Times New Roman" panose="02020603050405020304" pitchFamily="18" charset="0"/>
              </a:rPr>
              <a:t>n</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)/2</a:t>
            </a:r>
            <a:r>
              <a:rPr kumimoji="1" lang="en-US" altLang="zh-TW" sz="2800" i="1"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2800" kern="1200" cap="none" spc="0" normalizeH="0" baseline="0" noProof="0" dirty="0">
                <a:latin typeface="Times New Roman" panose="02020603050405020304" pitchFamily="18" charset="0"/>
                <a:ea typeface="PMingLiU" pitchFamily="18" charset="-120"/>
                <a:cs typeface="Times New Roman" panose="02020603050405020304" pitchFamily="18" charset="0"/>
              </a:rPr>
              <a:t>2</a:t>
            </a:r>
            <a:r>
              <a:rPr kumimoji="1" lang="en-US" altLang="zh-TW" sz="2800" i="1" kern="1200" cap="none" spc="0" normalizeH="0" baseline="30000" noProof="0" dirty="0">
                <a:latin typeface="Times New Roman" panose="02020603050405020304" pitchFamily="18" charset="0"/>
                <a:ea typeface="PMingLiU" pitchFamily="18" charset="-120"/>
                <a:cs typeface="Times New Roman" panose="02020603050405020304" pitchFamily="18" charset="0"/>
              </a:rPr>
              <a:t>n</a:t>
            </a:r>
            <a:r>
              <a:rPr kumimoji="1" lang="en-US" altLang="zh-TW" sz="2800" i="1" kern="1200" cap="none" spc="0" normalizeH="0" baseline="30000" noProof="0" dirty="0">
                <a:latin typeface="Symbol" panose="05050102010706020507" pitchFamily="18" charset="2"/>
                <a:ea typeface="PMingLiU" pitchFamily="18" charset="-120"/>
                <a:cs typeface="Times New Roman" panose="02020603050405020304" pitchFamily="18" charset="0"/>
              </a:rPr>
              <a:t>-</a:t>
            </a:r>
            <a:r>
              <a:rPr kumimoji="1" lang="en-US" altLang="zh-TW" sz="2800" kern="1200" cap="none" spc="0" normalizeH="0" baseline="30000" noProof="0" dirty="0">
                <a:latin typeface="Times New Roman" panose="02020603050405020304" pitchFamily="18" charset="0"/>
                <a:ea typeface="PMingLiU" pitchFamily="18" charset="-120"/>
                <a:cs typeface="Times New Roman" panose="02020603050405020304" pitchFamily="18" charset="0"/>
              </a:rPr>
              <a:t>1</a:t>
            </a:r>
            <a:r>
              <a:rPr kumimoji="1" lang="en-US" altLang="zh-TW" sz="2800" i="1" kern="1200" cap="none" spc="0" normalizeH="0" baseline="0" noProof="0" dirty="0">
                <a:latin typeface="Times New Roman" panose="02020603050405020304" pitchFamily="18" charset="0"/>
                <a:ea typeface="PMingLiU" pitchFamily="18" charset="-120"/>
                <a:cs typeface="Times New Roman" panose="02020603050405020304" pitchFamily="18" charset="0"/>
              </a:rPr>
              <a:t>n</a:t>
            </a:r>
            <a:endParaRPr kumimoji="1" lang="en-US" altLang="zh-TW" sz="2800" i="1" kern="1200" cap="none" spc="0" normalizeH="0" baseline="0" noProof="0" dirty="0">
              <a:latin typeface="Times New Roman" panose="02020603050405020304" pitchFamily="18" charset="0"/>
              <a:ea typeface="PMingLiU" pitchFamily="18" charset="-120"/>
              <a:cs typeface="Times New Roman" panose="02020603050405020304" pitchFamily="18" charset="0"/>
            </a:endParaRPr>
          </a:p>
        </p:txBody>
      </p:sp>
      <p:sp>
        <p:nvSpPr>
          <p:cNvPr id="23558" name="Oval 4"/>
          <p:cNvSpPr/>
          <p:nvPr/>
        </p:nvSpPr>
        <p:spPr>
          <a:xfrm>
            <a:off x="2819400" y="3657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59" name="Oval 4"/>
          <p:cNvSpPr/>
          <p:nvPr/>
        </p:nvSpPr>
        <p:spPr>
          <a:xfrm>
            <a:off x="1828800" y="4038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60" name="Oval 4"/>
          <p:cNvSpPr/>
          <p:nvPr/>
        </p:nvSpPr>
        <p:spPr>
          <a:xfrm>
            <a:off x="914400" y="4038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61" name="Oval 4"/>
          <p:cNvSpPr/>
          <p:nvPr/>
        </p:nvSpPr>
        <p:spPr>
          <a:xfrm>
            <a:off x="3810000" y="4419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62" name="Oval 4"/>
          <p:cNvSpPr/>
          <p:nvPr/>
        </p:nvSpPr>
        <p:spPr>
          <a:xfrm>
            <a:off x="2819400" y="4419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63" name="Oval 4"/>
          <p:cNvSpPr/>
          <p:nvPr/>
        </p:nvSpPr>
        <p:spPr>
          <a:xfrm>
            <a:off x="3810000" y="3657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23564" name="AutoShape 17"/>
          <p:cNvCxnSpPr/>
          <p:nvPr/>
        </p:nvCxnSpPr>
        <p:spPr>
          <a:xfrm rot="-10800000" flipH="1">
            <a:off x="2895600" y="3733800"/>
            <a:ext cx="914400" cy="1588"/>
          </a:xfrm>
          <a:prstGeom prst="straightConnector1">
            <a:avLst/>
          </a:prstGeom>
          <a:ln w="9525" cap="flat" cmpd="sng">
            <a:solidFill>
              <a:schemeClr val="tx1"/>
            </a:solidFill>
            <a:prstDash val="solid"/>
            <a:headEnd type="none" w="med" len="med"/>
            <a:tailEnd type="none" w="med" len="med"/>
          </a:ln>
        </p:spPr>
      </p:cxnSp>
      <p:cxnSp>
        <p:nvCxnSpPr>
          <p:cNvPr id="23565" name="AutoShape 17"/>
          <p:cNvCxnSpPr>
            <a:stCxn id="23558" idx="4"/>
            <a:endCxn id="23562" idx="0"/>
          </p:cNvCxnSpPr>
          <p:nvPr/>
        </p:nvCxnSpPr>
        <p:spPr>
          <a:xfrm rot="5400000">
            <a:off x="2590800" y="4114800"/>
            <a:ext cx="609600" cy="3175"/>
          </a:xfrm>
          <a:prstGeom prst="straightConnector1">
            <a:avLst/>
          </a:prstGeom>
          <a:ln w="9525" cap="flat" cmpd="sng">
            <a:solidFill>
              <a:schemeClr val="tx1"/>
            </a:solidFill>
            <a:prstDash val="solid"/>
            <a:headEnd type="none" w="med" len="med"/>
            <a:tailEnd type="none" w="med" len="med"/>
          </a:ln>
        </p:spPr>
      </p:cxnSp>
      <p:cxnSp>
        <p:nvCxnSpPr>
          <p:cNvPr id="23566" name="AutoShape 17"/>
          <p:cNvCxnSpPr/>
          <p:nvPr/>
        </p:nvCxnSpPr>
        <p:spPr>
          <a:xfrm rot="5400000">
            <a:off x="3581400" y="4113213"/>
            <a:ext cx="609600" cy="1587"/>
          </a:xfrm>
          <a:prstGeom prst="straightConnector1">
            <a:avLst/>
          </a:prstGeom>
          <a:ln w="9525" cap="flat" cmpd="sng">
            <a:solidFill>
              <a:schemeClr val="tx1"/>
            </a:solidFill>
            <a:prstDash val="solid"/>
            <a:headEnd type="none" w="med" len="med"/>
            <a:tailEnd type="none" w="med" len="med"/>
          </a:ln>
        </p:spPr>
      </p:cxnSp>
      <p:cxnSp>
        <p:nvCxnSpPr>
          <p:cNvPr id="23567" name="AutoShape 17"/>
          <p:cNvCxnSpPr/>
          <p:nvPr/>
        </p:nvCxnSpPr>
        <p:spPr>
          <a:xfrm rot="-10800000" flipH="1">
            <a:off x="2895600" y="4495800"/>
            <a:ext cx="914400" cy="1588"/>
          </a:xfrm>
          <a:prstGeom prst="straightConnector1">
            <a:avLst/>
          </a:prstGeom>
          <a:ln w="9525" cap="flat" cmpd="sng">
            <a:solidFill>
              <a:schemeClr val="tx1"/>
            </a:solidFill>
            <a:prstDash val="solid"/>
            <a:headEnd type="none" w="med" len="med"/>
            <a:tailEnd type="none" w="med" len="med"/>
          </a:ln>
        </p:spPr>
      </p:cxnSp>
      <p:sp>
        <p:nvSpPr>
          <p:cNvPr id="23568" name="Text Box 56"/>
          <p:cNvSpPr txBox="1"/>
          <p:nvPr/>
        </p:nvSpPr>
        <p:spPr>
          <a:xfrm>
            <a:off x="1219200" y="4267200"/>
            <a:ext cx="5064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Q</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23569" name="Text Box 56"/>
          <p:cNvSpPr txBox="1"/>
          <p:nvPr/>
        </p:nvSpPr>
        <p:spPr>
          <a:xfrm>
            <a:off x="838200" y="365760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0</a:t>
            </a:r>
            <a:endParaRPr lang="en-US" altLang="zh-TW" sz="2000" baseline="-25000" dirty="0">
              <a:latin typeface="Times New Roman" panose="02020603050405020304" pitchFamily="18" charset="0"/>
              <a:ea typeface="Times New Roman" panose="02020603050405020304" pitchFamily="18" charset="0"/>
            </a:endParaRPr>
          </a:p>
        </p:txBody>
      </p:sp>
      <p:sp>
        <p:nvSpPr>
          <p:cNvPr id="23570" name="Text Box 56"/>
          <p:cNvSpPr txBox="1"/>
          <p:nvPr/>
        </p:nvSpPr>
        <p:spPr>
          <a:xfrm>
            <a:off x="1752600" y="365760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baseline="-25000" dirty="0">
              <a:latin typeface="Times New Roman" panose="02020603050405020304" pitchFamily="18" charset="0"/>
              <a:ea typeface="Times New Roman" panose="02020603050405020304" pitchFamily="18" charset="0"/>
            </a:endParaRPr>
          </a:p>
        </p:txBody>
      </p:sp>
      <p:sp>
        <p:nvSpPr>
          <p:cNvPr id="23571" name="Text Box 56"/>
          <p:cNvSpPr txBox="1"/>
          <p:nvPr/>
        </p:nvSpPr>
        <p:spPr>
          <a:xfrm>
            <a:off x="2590800" y="3276600"/>
            <a:ext cx="438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baseline="-25000" dirty="0">
              <a:latin typeface="Times New Roman" panose="02020603050405020304" pitchFamily="18" charset="0"/>
              <a:ea typeface="Times New Roman" panose="02020603050405020304" pitchFamily="18" charset="0"/>
            </a:endParaRPr>
          </a:p>
        </p:txBody>
      </p:sp>
      <p:sp>
        <p:nvSpPr>
          <p:cNvPr id="23572" name="Text Box 56"/>
          <p:cNvSpPr txBox="1"/>
          <p:nvPr/>
        </p:nvSpPr>
        <p:spPr>
          <a:xfrm>
            <a:off x="3657600" y="3276600"/>
            <a:ext cx="438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11</a:t>
            </a:r>
            <a:endParaRPr lang="en-US" altLang="zh-TW" sz="2000" baseline="-25000" dirty="0">
              <a:latin typeface="Times New Roman" panose="02020603050405020304" pitchFamily="18" charset="0"/>
              <a:ea typeface="Times New Roman" panose="02020603050405020304" pitchFamily="18" charset="0"/>
            </a:endParaRPr>
          </a:p>
        </p:txBody>
      </p:sp>
      <p:sp>
        <p:nvSpPr>
          <p:cNvPr id="23573" name="Text Box 56"/>
          <p:cNvSpPr txBox="1"/>
          <p:nvPr/>
        </p:nvSpPr>
        <p:spPr>
          <a:xfrm>
            <a:off x="2667000" y="4495800"/>
            <a:ext cx="438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00</a:t>
            </a:r>
            <a:endParaRPr lang="en-US" altLang="zh-TW" sz="2000" baseline="-25000" dirty="0">
              <a:latin typeface="Times New Roman" panose="02020603050405020304" pitchFamily="18" charset="0"/>
              <a:ea typeface="Times New Roman" panose="02020603050405020304" pitchFamily="18" charset="0"/>
            </a:endParaRPr>
          </a:p>
        </p:txBody>
      </p:sp>
      <p:sp>
        <p:nvSpPr>
          <p:cNvPr id="23574" name="Text Box 56"/>
          <p:cNvSpPr txBox="1"/>
          <p:nvPr/>
        </p:nvSpPr>
        <p:spPr>
          <a:xfrm>
            <a:off x="3733800" y="4495800"/>
            <a:ext cx="438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01</a:t>
            </a:r>
            <a:endParaRPr lang="en-US" altLang="zh-TW" sz="2000" baseline="-25000" dirty="0">
              <a:latin typeface="Times New Roman" panose="02020603050405020304" pitchFamily="18" charset="0"/>
              <a:ea typeface="Times New Roman" panose="02020603050405020304" pitchFamily="18" charset="0"/>
            </a:endParaRPr>
          </a:p>
        </p:txBody>
      </p:sp>
      <p:grpSp>
        <p:nvGrpSpPr>
          <p:cNvPr id="23575" name="群組 110"/>
          <p:cNvGrpSpPr/>
          <p:nvPr/>
        </p:nvGrpSpPr>
        <p:grpSpPr>
          <a:xfrm>
            <a:off x="4800600" y="3124200"/>
            <a:ext cx="2506663" cy="2511425"/>
            <a:chOff x="4637206" y="2819400"/>
            <a:chExt cx="2868292" cy="2981327"/>
          </a:xfrm>
        </p:grpSpPr>
        <p:grpSp>
          <p:nvGrpSpPr>
            <p:cNvPr id="23577" name="Group 59"/>
            <p:cNvGrpSpPr/>
            <p:nvPr/>
          </p:nvGrpSpPr>
          <p:grpSpPr>
            <a:xfrm>
              <a:off x="5105400" y="3276601"/>
              <a:ext cx="1981200" cy="2524126"/>
              <a:chOff x="3229" y="1776"/>
              <a:chExt cx="1248" cy="1590"/>
            </a:xfrm>
          </p:grpSpPr>
          <p:grpSp>
            <p:nvGrpSpPr>
              <p:cNvPr id="23594" name="Group 22"/>
              <p:cNvGrpSpPr/>
              <p:nvPr/>
            </p:nvGrpSpPr>
            <p:grpSpPr>
              <a:xfrm>
                <a:off x="3229" y="1776"/>
                <a:ext cx="1248" cy="1153"/>
                <a:chOff x="2653" y="1968"/>
                <a:chExt cx="1248" cy="1153"/>
              </a:xfrm>
            </p:grpSpPr>
            <p:cxnSp>
              <p:nvCxnSpPr>
                <p:cNvPr id="23600" name="AutoShape 28"/>
                <p:cNvCxnSpPr>
                  <a:stCxn id="23582" idx="7"/>
                  <a:endCxn id="23578" idx="3"/>
                </p:cNvCxnSpPr>
                <p:nvPr/>
              </p:nvCxnSpPr>
              <p:spPr>
                <a:xfrm rot="5400000" flipH="1" flipV="1">
                  <a:off x="2711" y="1978"/>
                  <a:ext cx="364" cy="412"/>
                </a:xfrm>
                <a:prstGeom prst="straightConnector1">
                  <a:avLst/>
                </a:prstGeom>
                <a:ln w="9525" cap="flat" cmpd="sng">
                  <a:solidFill>
                    <a:schemeClr val="tx1"/>
                  </a:solidFill>
                  <a:prstDash val="solid"/>
                  <a:headEnd type="none" w="med" len="med"/>
                  <a:tailEnd type="none" w="med" len="med"/>
                </a:ln>
              </p:spPr>
            </p:cxnSp>
            <p:cxnSp>
              <p:nvCxnSpPr>
                <p:cNvPr id="23601" name="AutoShape 29"/>
                <p:cNvCxnSpPr>
                  <a:stCxn id="23583" idx="6"/>
                  <a:endCxn id="23584" idx="2"/>
                </p:cNvCxnSpPr>
                <p:nvPr/>
              </p:nvCxnSpPr>
              <p:spPr>
                <a:xfrm>
                  <a:off x="2749" y="3120"/>
                  <a:ext cx="672" cy="1"/>
                </a:xfrm>
                <a:prstGeom prst="straightConnector1">
                  <a:avLst/>
                </a:prstGeom>
                <a:ln w="9525" cap="flat" cmpd="sng">
                  <a:solidFill>
                    <a:schemeClr val="tx1"/>
                  </a:solidFill>
                  <a:prstDash val="solid"/>
                  <a:headEnd type="none" w="med" len="med"/>
                  <a:tailEnd type="none" w="med" len="med"/>
                </a:ln>
              </p:spPr>
            </p:cxnSp>
            <p:cxnSp>
              <p:nvCxnSpPr>
                <p:cNvPr id="23602" name="AutoShape 31"/>
                <p:cNvCxnSpPr>
                  <a:stCxn id="23579" idx="4"/>
                  <a:endCxn id="23580" idx="0"/>
                </p:cNvCxnSpPr>
                <p:nvPr/>
              </p:nvCxnSpPr>
              <p:spPr>
                <a:xfrm rot="5400000">
                  <a:off x="3516" y="2352"/>
                  <a:ext cx="672" cy="1"/>
                </a:xfrm>
                <a:prstGeom prst="straightConnector1">
                  <a:avLst/>
                </a:prstGeom>
                <a:ln w="9525" cap="flat" cmpd="sng">
                  <a:solidFill>
                    <a:schemeClr val="tx1"/>
                  </a:solidFill>
                  <a:prstDash val="solid"/>
                  <a:headEnd type="none" w="med" len="med"/>
                  <a:tailEnd type="none" w="med" len="med"/>
                </a:ln>
              </p:spPr>
            </p:cxnSp>
            <p:cxnSp>
              <p:nvCxnSpPr>
                <p:cNvPr id="23603" name="AutoShape 32"/>
                <p:cNvCxnSpPr>
                  <a:stCxn id="23578" idx="6"/>
                  <a:endCxn id="23579" idx="6"/>
                </p:cNvCxnSpPr>
                <p:nvPr/>
              </p:nvCxnSpPr>
              <p:spPr>
                <a:xfrm>
                  <a:off x="3181" y="1968"/>
                  <a:ext cx="720" cy="1"/>
                </a:xfrm>
                <a:prstGeom prst="straightConnector1">
                  <a:avLst/>
                </a:prstGeom>
                <a:ln w="9525" cap="flat" cmpd="sng">
                  <a:solidFill>
                    <a:schemeClr val="tx1"/>
                  </a:solidFill>
                  <a:prstDash val="solid"/>
                  <a:headEnd type="none" w="med" len="med"/>
                  <a:tailEnd type="none" w="med" len="med"/>
                </a:ln>
              </p:spPr>
            </p:cxnSp>
            <p:cxnSp>
              <p:nvCxnSpPr>
                <p:cNvPr id="23604" name="AutoShape 33"/>
                <p:cNvCxnSpPr>
                  <a:stCxn id="23584" idx="7"/>
                  <a:endCxn id="23580" idx="3"/>
                </p:cNvCxnSpPr>
                <p:nvPr/>
              </p:nvCxnSpPr>
              <p:spPr>
                <a:xfrm rot="5400000" flipH="1" flipV="1">
                  <a:off x="3503" y="2770"/>
                  <a:ext cx="316" cy="316"/>
                </a:xfrm>
                <a:prstGeom prst="straightConnector1">
                  <a:avLst/>
                </a:prstGeom>
                <a:ln w="9525" cap="flat" cmpd="sng">
                  <a:solidFill>
                    <a:schemeClr val="tx1"/>
                  </a:solidFill>
                  <a:prstDash val="solid"/>
                  <a:headEnd type="none" w="med" len="med"/>
                  <a:tailEnd type="none" w="med" len="med"/>
                </a:ln>
              </p:spPr>
            </p:cxnSp>
            <p:cxnSp>
              <p:nvCxnSpPr>
                <p:cNvPr id="23605" name="AutoShape 34"/>
                <p:cNvCxnSpPr>
                  <a:stCxn id="23582" idx="4"/>
                  <a:endCxn id="23583" idx="1"/>
                </p:cNvCxnSpPr>
                <p:nvPr/>
              </p:nvCxnSpPr>
              <p:spPr>
                <a:xfrm rot="-5400000" flipH="1">
                  <a:off x="2341" y="2760"/>
                  <a:ext cx="638" cy="14"/>
                </a:xfrm>
                <a:prstGeom prst="straightConnector1">
                  <a:avLst/>
                </a:prstGeom>
                <a:ln w="9525" cap="flat" cmpd="sng">
                  <a:solidFill>
                    <a:schemeClr val="tx1"/>
                  </a:solidFill>
                  <a:prstDash val="solid"/>
                  <a:headEnd type="none" w="med" len="med"/>
                  <a:tailEnd type="none" w="med" len="med"/>
                </a:ln>
              </p:spPr>
            </p:cxnSp>
            <p:cxnSp>
              <p:nvCxnSpPr>
                <p:cNvPr id="23606" name="AutoShape 31"/>
                <p:cNvCxnSpPr>
                  <a:endCxn id="23585" idx="0"/>
                </p:cNvCxnSpPr>
                <p:nvPr/>
              </p:nvCxnSpPr>
              <p:spPr>
                <a:xfrm rot="5400000">
                  <a:off x="2772" y="2328"/>
                  <a:ext cx="720" cy="1"/>
                </a:xfrm>
                <a:prstGeom prst="straightConnector1">
                  <a:avLst/>
                </a:prstGeom>
                <a:ln w="9525" cap="flat" cmpd="sng">
                  <a:solidFill>
                    <a:schemeClr val="tx1"/>
                  </a:solidFill>
                  <a:prstDash val="solid"/>
                  <a:headEnd type="none" w="med" len="med"/>
                  <a:tailEnd type="none" w="med" len="med"/>
                </a:ln>
              </p:spPr>
            </p:cxnSp>
            <p:cxnSp>
              <p:nvCxnSpPr>
                <p:cNvPr id="23607" name="AutoShape 33"/>
                <p:cNvCxnSpPr>
                  <a:stCxn id="23583" idx="7"/>
                  <a:endCxn id="23585" idx="3"/>
                </p:cNvCxnSpPr>
                <p:nvPr/>
              </p:nvCxnSpPr>
              <p:spPr>
                <a:xfrm rot="5400000" flipH="1" flipV="1">
                  <a:off x="2759" y="2746"/>
                  <a:ext cx="316" cy="364"/>
                </a:xfrm>
                <a:prstGeom prst="straightConnector1">
                  <a:avLst/>
                </a:prstGeom>
                <a:ln w="9525" cap="flat" cmpd="sng">
                  <a:solidFill>
                    <a:schemeClr val="tx1"/>
                  </a:solidFill>
                  <a:prstDash val="solid"/>
                  <a:headEnd type="none" w="med" len="med"/>
                  <a:tailEnd type="none" w="med" len="med"/>
                </a:ln>
              </p:spPr>
            </p:cxnSp>
          </p:grpSp>
          <p:cxnSp>
            <p:nvCxnSpPr>
              <p:cNvPr id="23595" name="AutoShape 49"/>
              <p:cNvCxnSpPr/>
              <p:nvPr/>
            </p:nvCxnSpPr>
            <p:spPr>
              <a:xfrm>
                <a:off x="3229" y="2208"/>
                <a:ext cx="816" cy="0"/>
              </a:xfrm>
              <a:prstGeom prst="straightConnector1">
                <a:avLst/>
              </a:prstGeom>
              <a:ln w="9525" cap="flat" cmpd="sng">
                <a:solidFill>
                  <a:schemeClr val="tx1"/>
                </a:solidFill>
                <a:prstDash val="solid"/>
                <a:headEnd type="none" w="med" len="med"/>
                <a:tailEnd type="none" w="med" len="med"/>
              </a:ln>
            </p:spPr>
          </p:cxnSp>
          <p:cxnSp>
            <p:nvCxnSpPr>
              <p:cNvPr id="23596" name="AutoShape 50"/>
              <p:cNvCxnSpPr>
                <a:stCxn id="23585" idx="6"/>
                <a:endCxn id="23580" idx="2"/>
              </p:cNvCxnSpPr>
              <p:nvPr/>
            </p:nvCxnSpPr>
            <p:spPr>
              <a:xfrm>
                <a:off x="3757" y="2544"/>
                <a:ext cx="624" cy="1"/>
              </a:xfrm>
              <a:prstGeom prst="straightConnector1">
                <a:avLst/>
              </a:prstGeom>
              <a:ln w="9525" cap="flat" cmpd="sng">
                <a:solidFill>
                  <a:schemeClr val="tx1"/>
                </a:solidFill>
                <a:prstDash val="solid"/>
                <a:headEnd type="none" w="med" len="med"/>
                <a:tailEnd type="none" w="med" len="med"/>
              </a:ln>
            </p:spPr>
          </p:cxnSp>
          <p:cxnSp>
            <p:nvCxnSpPr>
              <p:cNvPr id="23597" name="AutoShape 53"/>
              <p:cNvCxnSpPr>
                <a:stCxn id="23581" idx="4"/>
                <a:endCxn id="23584" idx="4"/>
              </p:cNvCxnSpPr>
              <p:nvPr/>
            </p:nvCxnSpPr>
            <p:spPr>
              <a:xfrm rot="5400000">
                <a:off x="3684" y="2616"/>
                <a:ext cx="720" cy="1"/>
              </a:xfrm>
              <a:prstGeom prst="straightConnector1">
                <a:avLst/>
              </a:prstGeom>
              <a:ln w="9525" cap="flat" cmpd="sng">
                <a:solidFill>
                  <a:schemeClr val="tx1"/>
                </a:solidFill>
                <a:prstDash val="solid"/>
                <a:headEnd type="none" w="med" len="med"/>
                <a:tailEnd type="none" w="med" len="med"/>
              </a:ln>
            </p:spPr>
          </p:cxnSp>
          <p:cxnSp>
            <p:nvCxnSpPr>
              <p:cNvPr id="23598" name="AutoShape 54"/>
              <p:cNvCxnSpPr>
                <a:stCxn id="23579" idx="3"/>
                <a:endCxn id="23581" idx="7"/>
              </p:cNvCxnSpPr>
              <p:nvPr/>
            </p:nvCxnSpPr>
            <p:spPr>
              <a:xfrm rot="5400000">
                <a:off x="4055" y="1834"/>
                <a:ext cx="364" cy="316"/>
              </a:xfrm>
              <a:prstGeom prst="straightConnector1">
                <a:avLst/>
              </a:prstGeom>
              <a:ln w="9525" cap="flat" cmpd="sng">
                <a:solidFill>
                  <a:schemeClr val="tx1"/>
                </a:solidFill>
                <a:prstDash val="solid"/>
                <a:headEnd type="none" w="med" len="med"/>
                <a:tailEnd type="none" w="med" len="med"/>
              </a:ln>
            </p:spPr>
          </p:cxnSp>
          <p:sp>
            <p:nvSpPr>
              <p:cNvPr id="23599" name="Text Box 57"/>
              <p:cNvSpPr txBox="1"/>
              <p:nvPr/>
            </p:nvSpPr>
            <p:spPr>
              <a:xfrm>
                <a:off x="3518" y="3024"/>
                <a:ext cx="365" cy="3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Q</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grpSp>
        <p:sp>
          <p:nvSpPr>
            <p:cNvPr id="23578" name="Oval 4"/>
            <p:cNvSpPr/>
            <p:nvPr/>
          </p:nvSpPr>
          <p:spPr>
            <a:xfrm>
              <a:off x="5791200" y="3200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79" name="Oval 4"/>
            <p:cNvSpPr/>
            <p:nvPr/>
          </p:nvSpPr>
          <p:spPr>
            <a:xfrm>
              <a:off x="6934200" y="3200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80" name="Oval 4"/>
            <p:cNvSpPr/>
            <p:nvPr/>
          </p:nvSpPr>
          <p:spPr>
            <a:xfrm>
              <a:off x="6934200" y="4419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81" name="Oval 4"/>
            <p:cNvSpPr/>
            <p:nvPr/>
          </p:nvSpPr>
          <p:spPr>
            <a:xfrm>
              <a:off x="6324600" y="3886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82" name="Oval 4"/>
            <p:cNvSpPr/>
            <p:nvPr/>
          </p:nvSpPr>
          <p:spPr>
            <a:xfrm>
              <a:off x="5029200" y="3886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83" name="Oval 4"/>
            <p:cNvSpPr/>
            <p:nvPr/>
          </p:nvSpPr>
          <p:spPr>
            <a:xfrm>
              <a:off x="5105400" y="5029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84" name="Oval 4"/>
            <p:cNvSpPr/>
            <p:nvPr/>
          </p:nvSpPr>
          <p:spPr>
            <a:xfrm>
              <a:off x="6324600" y="5029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85" name="Oval 4"/>
            <p:cNvSpPr/>
            <p:nvPr/>
          </p:nvSpPr>
          <p:spPr>
            <a:xfrm>
              <a:off x="5791200" y="4419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3586" name="Text Box 56"/>
            <p:cNvSpPr txBox="1"/>
            <p:nvPr/>
          </p:nvSpPr>
          <p:spPr>
            <a:xfrm>
              <a:off x="4637206" y="3452602"/>
              <a:ext cx="646683" cy="4711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100</a:t>
              </a:r>
              <a:endParaRPr lang="en-US" altLang="zh-TW" sz="2000" baseline="-25000" dirty="0">
                <a:latin typeface="Times New Roman" panose="02020603050405020304" pitchFamily="18" charset="0"/>
                <a:ea typeface="Times New Roman" panose="02020603050405020304" pitchFamily="18" charset="0"/>
              </a:endParaRPr>
            </a:p>
          </p:txBody>
        </p:sp>
        <p:sp>
          <p:nvSpPr>
            <p:cNvPr id="23587" name="Text Box 56"/>
            <p:cNvSpPr txBox="1"/>
            <p:nvPr/>
          </p:nvSpPr>
          <p:spPr>
            <a:xfrm>
              <a:off x="5561817" y="2819400"/>
              <a:ext cx="646682" cy="4711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110</a:t>
              </a:r>
              <a:endParaRPr lang="en-US" altLang="zh-TW" sz="2000" baseline="-25000" dirty="0">
                <a:latin typeface="Times New Roman" panose="02020603050405020304" pitchFamily="18" charset="0"/>
                <a:ea typeface="Times New Roman" panose="02020603050405020304" pitchFamily="18" charset="0"/>
              </a:endParaRPr>
            </a:p>
          </p:txBody>
        </p:sp>
        <p:sp>
          <p:nvSpPr>
            <p:cNvPr id="23588" name="Text Box 56"/>
            <p:cNvSpPr txBox="1"/>
            <p:nvPr/>
          </p:nvSpPr>
          <p:spPr>
            <a:xfrm>
              <a:off x="6706227" y="2819400"/>
              <a:ext cx="646683" cy="4711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111</a:t>
              </a:r>
              <a:endParaRPr lang="en-US" altLang="zh-TW" sz="2000" baseline="-25000" dirty="0">
                <a:latin typeface="Times New Roman" panose="02020603050405020304" pitchFamily="18" charset="0"/>
                <a:ea typeface="Times New Roman" panose="02020603050405020304" pitchFamily="18" charset="0"/>
              </a:endParaRPr>
            </a:p>
          </p:txBody>
        </p:sp>
        <p:sp>
          <p:nvSpPr>
            <p:cNvPr id="23589" name="Text Box 56"/>
            <p:cNvSpPr txBox="1"/>
            <p:nvPr/>
          </p:nvSpPr>
          <p:spPr>
            <a:xfrm>
              <a:off x="6858815" y="4496632"/>
              <a:ext cx="646683" cy="4711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011</a:t>
              </a:r>
              <a:endParaRPr lang="en-US" altLang="zh-TW" sz="2000" baseline="-25000" dirty="0">
                <a:latin typeface="Times New Roman" panose="02020603050405020304" pitchFamily="18" charset="0"/>
                <a:ea typeface="Times New Roman" panose="02020603050405020304" pitchFamily="18" charset="0"/>
              </a:endParaRPr>
            </a:p>
          </p:txBody>
        </p:sp>
        <p:sp>
          <p:nvSpPr>
            <p:cNvPr id="23590" name="Text Box 56"/>
            <p:cNvSpPr txBox="1"/>
            <p:nvPr/>
          </p:nvSpPr>
          <p:spPr>
            <a:xfrm>
              <a:off x="5247558" y="4176262"/>
              <a:ext cx="646683" cy="4711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010</a:t>
              </a:r>
              <a:endParaRPr lang="en-US" altLang="zh-TW" sz="2000" baseline="-25000" dirty="0">
                <a:latin typeface="Times New Roman" panose="02020603050405020304" pitchFamily="18" charset="0"/>
                <a:ea typeface="Times New Roman" panose="02020603050405020304" pitchFamily="18" charset="0"/>
              </a:endParaRPr>
            </a:p>
          </p:txBody>
        </p:sp>
        <p:sp>
          <p:nvSpPr>
            <p:cNvPr id="23591" name="Text Box 56"/>
            <p:cNvSpPr txBox="1"/>
            <p:nvPr/>
          </p:nvSpPr>
          <p:spPr>
            <a:xfrm>
              <a:off x="4724399" y="5080836"/>
              <a:ext cx="646683" cy="4711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000</a:t>
              </a:r>
              <a:endParaRPr lang="en-US" altLang="zh-TW" sz="2000" baseline="-25000" dirty="0">
                <a:latin typeface="Times New Roman" panose="02020603050405020304" pitchFamily="18" charset="0"/>
                <a:ea typeface="Times New Roman" panose="02020603050405020304" pitchFamily="18" charset="0"/>
              </a:endParaRPr>
            </a:p>
          </p:txBody>
        </p:sp>
        <p:sp>
          <p:nvSpPr>
            <p:cNvPr id="23592" name="Text Box 56"/>
            <p:cNvSpPr txBox="1"/>
            <p:nvPr/>
          </p:nvSpPr>
          <p:spPr>
            <a:xfrm>
              <a:off x="6172169" y="5105335"/>
              <a:ext cx="646683" cy="4711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001</a:t>
              </a:r>
              <a:endParaRPr lang="en-US" altLang="zh-TW" sz="2000" baseline="-25000" dirty="0">
                <a:latin typeface="Times New Roman" panose="02020603050405020304" pitchFamily="18" charset="0"/>
                <a:ea typeface="Times New Roman" panose="02020603050405020304" pitchFamily="18" charset="0"/>
              </a:endParaRPr>
            </a:p>
          </p:txBody>
        </p:sp>
        <p:sp>
          <p:nvSpPr>
            <p:cNvPr id="23593" name="Text Box 56"/>
            <p:cNvSpPr txBox="1"/>
            <p:nvPr/>
          </p:nvSpPr>
          <p:spPr>
            <a:xfrm>
              <a:off x="5857910" y="3543060"/>
              <a:ext cx="646683" cy="4711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101</a:t>
              </a:r>
              <a:endParaRPr lang="en-US" altLang="zh-TW" sz="2000" baseline="-25000" dirty="0">
                <a:latin typeface="Times New Roman" panose="02020603050405020304" pitchFamily="18" charset="0"/>
                <a:ea typeface="Times New Roman" panose="02020603050405020304" pitchFamily="18" charset="0"/>
              </a:endParaRPr>
            </a:p>
          </p:txBody>
        </p:sp>
      </p:grpSp>
      <p:sp>
        <p:nvSpPr>
          <p:cNvPr id="23576" name="投影片編號版面配置區 55"/>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 calcmode="lin" valueType="num">
                                      <p:cBhvr additive="base">
                                        <p:cTn id="7" dur="500" fill="hold"/>
                                        <p:tgtEl>
                                          <p:spTgt spid="21510"/>
                                        </p:tgtEl>
                                        <p:attrNameLst>
                                          <p:attrName>ppt_x</p:attrName>
                                        </p:attrNameLst>
                                      </p:cBhvr>
                                      <p:tavLst>
                                        <p:tav tm="0">
                                          <p:val>
                                            <p:strVal val="#ppt_x"/>
                                          </p:val>
                                        </p:tav>
                                        <p:tav tm="100000">
                                          <p:val>
                                            <p:strVal val="#ppt_x"/>
                                          </p:val>
                                        </p:tav>
                                      </p:tavLst>
                                    </p:anim>
                                    <p:anim calcmode="lin" valueType="num">
                                      <p:cBhvr additive="base">
                                        <p:cTn id="8" dur="500" fill="hold"/>
                                        <p:tgtEl>
                                          <p:spTgt spid="215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3"/>
          <p:cNvSpPr>
            <a:spLocks noGrp="1"/>
          </p:cNvSpPr>
          <p:nvPr>
            <p:ph idx="1"/>
          </p:nvPr>
        </p:nvSpPr>
        <p:spPr>
          <a:xfrm>
            <a:off x="228600" y="1219200"/>
            <a:ext cx="8229600" cy="1981200"/>
          </a:xfrm>
        </p:spPr>
        <p:txBody>
          <a:bodyPr vert="horz" wrap="square" lIns="91440" tIns="45720" rIns="91440" bIns="45720" anchor="t"/>
          <a:p>
            <a:pPr eaLnBrk="1" hangingPunct="1">
              <a:buNone/>
            </a:pPr>
            <a:r>
              <a:rPr lang="en-US" altLang="zh-TW" sz="2800" b="1" dirty="0">
                <a:solidFill>
                  <a:srgbClr val="FF0000"/>
                </a:solidFill>
              </a:rPr>
              <a:t>Def 5.</a:t>
            </a:r>
            <a:r>
              <a:rPr lang="en-US" altLang="zh-TW" sz="2800" dirty="0"/>
              <a:t> A simple graph </a:t>
            </a:r>
            <a:r>
              <a:rPr lang="en-US" altLang="zh-TW" sz="2800" i="1" dirty="0">
                <a:latin typeface="Times New Roman" panose="02020603050405020304" pitchFamily="18" charset="0"/>
                <a:cs typeface="Times New Roman" panose="02020603050405020304" pitchFamily="18" charset="0"/>
              </a:rPr>
              <a:t>G</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E</a:t>
            </a:r>
            <a:r>
              <a:rPr lang="en-US" altLang="zh-TW" sz="2800" dirty="0">
                <a:latin typeface="Times New Roman" panose="02020603050405020304" pitchFamily="18" charset="0"/>
                <a:cs typeface="Times New Roman" panose="02020603050405020304" pitchFamily="18" charset="0"/>
              </a:rPr>
              <a:t>) </a:t>
            </a:r>
            <a:r>
              <a:rPr lang="en-US" altLang="zh-TW" sz="2800" dirty="0"/>
              <a:t>is called </a:t>
            </a:r>
            <a:r>
              <a:rPr lang="en-US" altLang="zh-TW" sz="2800" dirty="0">
                <a:solidFill>
                  <a:srgbClr val="0000CC"/>
                </a:solidFill>
              </a:rPr>
              <a:t>bipartite</a:t>
            </a:r>
            <a:r>
              <a:rPr lang="en-US" altLang="zh-TW" sz="2800" dirty="0"/>
              <a:t> if </a:t>
            </a:r>
            <a:r>
              <a:rPr lang="en-US" altLang="zh-TW" sz="2800" i="1" dirty="0">
                <a:latin typeface="Times New Roman" panose="02020603050405020304" pitchFamily="18" charset="0"/>
                <a:cs typeface="Times New Roman" panose="02020603050405020304" pitchFamily="18" charset="0"/>
              </a:rPr>
              <a:t>V</a:t>
            </a:r>
            <a:r>
              <a:rPr lang="en-US" altLang="zh-TW" sz="2800" dirty="0"/>
              <a:t> can be partitioned into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t> and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ea typeface="AR MinchoL JIS" pitchFamily="49" charset="-128"/>
              </a:rPr>
              <a:t>∩</a:t>
            </a:r>
            <a:r>
              <a:rPr lang="en-US" altLang="zh-TW" sz="2800" i="1" dirty="0">
                <a:latin typeface="Times New Roman" panose="02020603050405020304" pitchFamily="18" charset="0"/>
                <a:ea typeface="AR MinchoL JIS" pitchFamily="49" charset="-128"/>
              </a:rPr>
              <a:t>V</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ea typeface="AR MinchoL JIS" pitchFamily="49" charset="-128"/>
              </a:rPr>
              <a:t>=</a:t>
            </a:r>
            <a:r>
              <a:rPr lang="en-US" altLang="zh-TW" sz="2800" dirty="0">
                <a:sym typeface="Symbol" panose="05050102010706020507" pitchFamily="18" charset="2"/>
              </a:rPr>
              <a:t></a:t>
            </a:r>
            <a:r>
              <a:rPr lang="en-US" altLang="zh-TW" sz="2800" dirty="0"/>
              <a:t>, such that every edge in the graph connect a vertex in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t> and a vertex in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t>.</a:t>
            </a:r>
            <a:endParaRPr lang="en-US" altLang="zh-TW" sz="2800" dirty="0"/>
          </a:p>
        </p:txBody>
      </p:sp>
      <p:grpSp>
        <p:nvGrpSpPr>
          <p:cNvPr id="2" name="群組 34"/>
          <p:cNvGrpSpPr/>
          <p:nvPr/>
        </p:nvGrpSpPr>
        <p:grpSpPr>
          <a:xfrm>
            <a:off x="228600" y="3048000"/>
            <a:ext cx="7629525" cy="3622675"/>
            <a:chOff x="228600" y="3230563"/>
            <a:chExt cx="7628899" cy="3622675"/>
          </a:xfrm>
        </p:grpSpPr>
        <p:sp>
          <p:nvSpPr>
            <p:cNvPr id="24582" name="Text Box 4"/>
            <p:cNvSpPr txBox="1"/>
            <p:nvPr/>
          </p:nvSpPr>
          <p:spPr>
            <a:xfrm>
              <a:off x="228600" y="3230563"/>
              <a:ext cx="23050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008000"/>
                  </a:solidFill>
                </a:rPr>
                <a:t>Example 9.</a:t>
              </a:r>
              <a:endParaRPr lang="en-US" altLang="zh-TW" b="1" dirty="0">
                <a:solidFill>
                  <a:srgbClr val="008000"/>
                </a:solidFill>
              </a:endParaRPr>
            </a:p>
          </p:txBody>
        </p:sp>
        <p:sp>
          <p:nvSpPr>
            <p:cNvPr id="24583" name="Oval 5"/>
            <p:cNvSpPr/>
            <p:nvPr/>
          </p:nvSpPr>
          <p:spPr>
            <a:xfrm>
              <a:off x="685800" y="4038600"/>
              <a:ext cx="1447800" cy="2209800"/>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4584" name="Oval 6"/>
            <p:cNvSpPr/>
            <p:nvPr/>
          </p:nvSpPr>
          <p:spPr>
            <a:xfrm>
              <a:off x="2971800" y="4114800"/>
              <a:ext cx="1447800" cy="2209800"/>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cxnSp>
          <p:nvCxnSpPr>
            <p:cNvPr id="24585" name="AutoShape 13"/>
            <p:cNvCxnSpPr/>
            <p:nvPr/>
          </p:nvCxnSpPr>
          <p:spPr>
            <a:xfrm>
              <a:off x="1600200" y="4610100"/>
              <a:ext cx="1905000" cy="0"/>
            </a:xfrm>
            <a:prstGeom prst="straightConnector1">
              <a:avLst/>
            </a:prstGeom>
            <a:ln w="9525" cap="flat" cmpd="sng">
              <a:solidFill>
                <a:schemeClr val="tx1"/>
              </a:solidFill>
              <a:prstDash val="solid"/>
              <a:headEnd type="none" w="med" len="med"/>
              <a:tailEnd type="none" w="med" len="med"/>
            </a:ln>
          </p:spPr>
        </p:cxnSp>
        <p:cxnSp>
          <p:nvCxnSpPr>
            <p:cNvPr id="24586" name="AutoShape 14"/>
            <p:cNvCxnSpPr/>
            <p:nvPr/>
          </p:nvCxnSpPr>
          <p:spPr>
            <a:xfrm>
              <a:off x="1600200" y="4610100"/>
              <a:ext cx="1905000" cy="1371600"/>
            </a:xfrm>
            <a:prstGeom prst="straightConnector1">
              <a:avLst/>
            </a:prstGeom>
            <a:ln w="9525" cap="flat" cmpd="sng">
              <a:solidFill>
                <a:schemeClr val="tx1"/>
              </a:solidFill>
              <a:prstDash val="solid"/>
              <a:headEnd type="none" w="med" len="med"/>
              <a:tailEnd type="none" w="med" len="med"/>
            </a:ln>
          </p:spPr>
        </p:cxnSp>
        <p:cxnSp>
          <p:nvCxnSpPr>
            <p:cNvPr id="24587" name="AutoShape 15"/>
            <p:cNvCxnSpPr/>
            <p:nvPr/>
          </p:nvCxnSpPr>
          <p:spPr>
            <a:xfrm flipV="1">
              <a:off x="1600200" y="4610100"/>
              <a:ext cx="1905000" cy="609600"/>
            </a:xfrm>
            <a:prstGeom prst="straightConnector1">
              <a:avLst/>
            </a:prstGeom>
            <a:ln w="9525" cap="flat" cmpd="sng">
              <a:solidFill>
                <a:schemeClr val="tx1"/>
              </a:solidFill>
              <a:prstDash val="solid"/>
              <a:headEnd type="none" w="med" len="med"/>
              <a:tailEnd type="none" w="med" len="med"/>
            </a:ln>
          </p:spPr>
        </p:cxnSp>
        <p:cxnSp>
          <p:nvCxnSpPr>
            <p:cNvPr id="24588" name="AutoShape 16"/>
            <p:cNvCxnSpPr/>
            <p:nvPr/>
          </p:nvCxnSpPr>
          <p:spPr>
            <a:xfrm>
              <a:off x="1600200" y="5219700"/>
              <a:ext cx="1905000" cy="76200"/>
            </a:xfrm>
            <a:prstGeom prst="straightConnector1">
              <a:avLst/>
            </a:prstGeom>
            <a:ln w="9525" cap="flat" cmpd="sng">
              <a:solidFill>
                <a:schemeClr val="tx1"/>
              </a:solidFill>
              <a:prstDash val="solid"/>
              <a:headEnd type="none" w="med" len="med"/>
              <a:tailEnd type="none" w="med" len="med"/>
            </a:ln>
          </p:spPr>
        </p:cxnSp>
        <p:cxnSp>
          <p:nvCxnSpPr>
            <p:cNvPr id="24589" name="AutoShape 17"/>
            <p:cNvCxnSpPr/>
            <p:nvPr/>
          </p:nvCxnSpPr>
          <p:spPr>
            <a:xfrm flipH="1">
              <a:off x="1600200" y="5295900"/>
              <a:ext cx="1905000" cy="609600"/>
            </a:xfrm>
            <a:prstGeom prst="straightConnector1">
              <a:avLst/>
            </a:prstGeom>
            <a:ln w="9525" cap="flat" cmpd="sng">
              <a:solidFill>
                <a:schemeClr val="tx1"/>
              </a:solidFill>
              <a:prstDash val="solid"/>
              <a:headEnd type="none" w="med" len="med"/>
              <a:tailEnd type="none" w="med" len="med"/>
            </a:ln>
          </p:spPr>
        </p:cxnSp>
        <p:cxnSp>
          <p:nvCxnSpPr>
            <p:cNvPr id="24590" name="AutoShape 18"/>
            <p:cNvCxnSpPr/>
            <p:nvPr/>
          </p:nvCxnSpPr>
          <p:spPr>
            <a:xfrm>
              <a:off x="1600200" y="5905500"/>
              <a:ext cx="1905000" cy="76200"/>
            </a:xfrm>
            <a:prstGeom prst="straightConnector1">
              <a:avLst/>
            </a:prstGeom>
            <a:ln w="9525" cap="flat" cmpd="sng">
              <a:solidFill>
                <a:schemeClr val="tx1"/>
              </a:solidFill>
              <a:prstDash val="solid"/>
              <a:headEnd type="none" w="med" len="med"/>
              <a:tailEnd type="none" w="med" len="med"/>
            </a:ln>
          </p:spPr>
        </p:cxnSp>
        <p:sp>
          <p:nvSpPr>
            <p:cNvPr id="24591" name="Text Box 19"/>
            <p:cNvSpPr txBox="1"/>
            <p:nvPr/>
          </p:nvSpPr>
          <p:spPr>
            <a:xfrm>
              <a:off x="1142925" y="4343400"/>
              <a:ext cx="374619"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cs typeface="Times New Roman" panose="02020603050405020304" pitchFamily="18" charset="0"/>
                </a:rPr>
                <a:t>v</a:t>
              </a:r>
              <a:r>
                <a:rPr lang="en-US" altLang="zh-TW" sz="1800" baseline="-25000" dirty="0">
                  <a:latin typeface="Times New Roman" panose="02020603050405020304" pitchFamily="18" charset="0"/>
                  <a:cs typeface="Times New Roman" panose="02020603050405020304" pitchFamily="18" charset="0"/>
                </a:rPr>
                <a:t>1</a:t>
              </a:r>
              <a:endParaRPr lang="en-US" altLang="zh-TW" sz="1800" baseline="-25000" dirty="0">
                <a:latin typeface="Times New Roman" panose="02020603050405020304" pitchFamily="18" charset="0"/>
                <a:ea typeface="Times New Roman" panose="02020603050405020304" pitchFamily="18" charset="0"/>
              </a:endParaRPr>
            </a:p>
          </p:txBody>
        </p:sp>
        <p:sp>
          <p:nvSpPr>
            <p:cNvPr id="24592" name="Text Box 20"/>
            <p:cNvSpPr txBox="1"/>
            <p:nvPr/>
          </p:nvSpPr>
          <p:spPr>
            <a:xfrm>
              <a:off x="1066731" y="4953000"/>
              <a:ext cx="37462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cs typeface="Times New Roman" panose="02020603050405020304" pitchFamily="18" charset="0"/>
                </a:rPr>
                <a:t>v</a:t>
              </a:r>
              <a:r>
                <a:rPr lang="en-US" altLang="zh-TW" sz="1800" baseline="-25000" dirty="0">
                  <a:latin typeface="Times New Roman" panose="02020603050405020304" pitchFamily="18" charset="0"/>
                  <a:cs typeface="Times New Roman" panose="02020603050405020304" pitchFamily="18" charset="0"/>
                </a:rPr>
                <a:t>3</a:t>
              </a:r>
              <a:endParaRPr lang="en-US" altLang="zh-TW" sz="1800" baseline="-25000" dirty="0">
                <a:latin typeface="Times New Roman" panose="02020603050405020304" pitchFamily="18" charset="0"/>
                <a:ea typeface="Times New Roman" panose="02020603050405020304" pitchFamily="18" charset="0"/>
              </a:endParaRPr>
            </a:p>
          </p:txBody>
        </p:sp>
        <p:sp>
          <p:nvSpPr>
            <p:cNvPr id="24593" name="Text Box 21"/>
            <p:cNvSpPr txBox="1"/>
            <p:nvPr/>
          </p:nvSpPr>
          <p:spPr>
            <a:xfrm>
              <a:off x="1142925" y="5715000"/>
              <a:ext cx="374619"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cs typeface="Times New Roman" panose="02020603050405020304" pitchFamily="18" charset="0"/>
                </a:rPr>
                <a:t>v</a:t>
              </a:r>
              <a:r>
                <a:rPr lang="en-US" altLang="zh-TW" sz="1800" baseline="-25000" dirty="0">
                  <a:latin typeface="Times New Roman" panose="02020603050405020304" pitchFamily="18" charset="0"/>
                  <a:cs typeface="Times New Roman" panose="02020603050405020304" pitchFamily="18" charset="0"/>
                </a:rPr>
                <a:t>5</a:t>
              </a:r>
              <a:endParaRPr lang="en-US" altLang="zh-TW" sz="1800" baseline="-25000" dirty="0">
                <a:latin typeface="Times New Roman" panose="02020603050405020304" pitchFamily="18" charset="0"/>
                <a:ea typeface="Times New Roman" panose="02020603050405020304" pitchFamily="18" charset="0"/>
              </a:endParaRPr>
            </a:p>
          </p:txBody>
        </p:sp>
        <p:sp>
          <p:nvSpPr>
            <p:cNvPr id="24594" name="Text Box 22"/>
            <p:cNvSpPr txBox="1"/>
            <p:nvPr/>
          </p:nvSpPr>
          <p:spPr>
            <a:xfrm>
              <a:off x="3657600" y="4343400"/>
              <a:ext cx="42545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cs typeface="Times New Roman" panose="02020603050405020304" pitchFamily="18" charset="0"/>
                </a:rPr>
                <a:t>v</a:t>
              </a:r>
              <a:r>
                <a:rPr lang="en-US" altLang="zh-TW" sz="1800" baseline="-25000" dirty="0">
                  <a:latin typeface="Times New Roman" panose="02020603050405020304" pitchFamily="18" charset="0"/>
                  <a:cs typeface="Times New Roman" panose="02020603050405020304" pitchFamily="18" charset="0"/>
                </a:rPr>
                <a:t>2</a:t>
              </a:r>
              <a:endParaRPr lang="en-US" altLang="zh-TW" sz="1800" baseline="-25000" dirty="0">
                <a:latin typeface="Times New Roman" panose="02020603050405020304" pitchFamily="18" charset="0"/>
                <a:ea typeface="Times New Roman" panose="02020603050405020304" pitchFamily="18" charset="0"/>
              </a:endParaRPr>
            </a:p>
          </p:txBody>
        </p:sp>
        <p:sp>
          <p:nvSpPr>
            <p:cNvPr id="24595" name="Text Box 23"/>
            <p:cNvSpPr txBox="1"/>
            <p:nvPr/>
          </p:nvSpPr>
          <p:spPr>
            <a:xfrm>
              <a:off x="3657319" y="5029200"/>
              <a:ext cx="374619"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cs typeface="Times New Roman" panose="02020603050405020304" pitchFamily="18" charset="0"/>
                </a:rPr>
                <a:t>v</a:t>
              </a:r>
              <a:r>
                <a:rPr lang="en-US" altLang="zh-TW" sz="1800" baseline="-25000" dirty="0">
                  <a:latin typeface="Times New Roman" panose="02020603050405020304" pitchFamily="18" charset="0"/>
                  <a:cs typeface="Times New Roman" panose="02020603050405020304" pitchFamily="18" charset="0"/>
                </a:rPr>
                <a:t>4</a:t>
              </a:r>
              <a:endParaRPr lang="en-US" altLang="zh-TW" sz="1800" baseline="-25000" dirty="0">
                <a:latin typeface="Times New Roman" panose="02020603050405020304" pitchFamily="18" charset="0"/>
                <a:ea typeface="Times New Roman" panose="02020603050405020304" pitchFamily="18" charset="0"/>
              </a:endParaRPr>
            </a:p>
          </p:txBody>
        </p:sp>
        <p:sp>
          <p:nvSpPr>
            <p:cNvPr id="24596" name="Text Box 24"/>
            <p:cNvSpPr txBox="1"/>
            <p:nvPr/>
          </p:nvSpPr>
          <p:spPr>
            <a:xfrm>
              <a:off x="3657319" y="5791200"/>
              <a:ext cx="374619"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cs typeface="Times New Roman" panose="02020603050405020304" pitchFamily="18" charset="0"/>
                </a:rPr>
                <a:t>v</a:t>
              </a:r>
              <a:r>
                <a:rPr lang="en-US" altLang="zh-TW" sz="1800" baseline="-25000" dirty="0">
                  <a:latin typeface="Times New Roman" panose="02020603050405020304" pitchFamily="18" charset="0"/>
                  <a:cs typeface="Times New Roman" panose="02020603050405020304" pitchFamily="18" charset="0"/>
                </a:rPr>
                <a:t>6</a:t>
              </a:r>
              <a:endParaRPr lang="en-US" altLang="zh-TW" sz="1800" baseline="-25000" dirty="0">
                <a:latin typeface="Times New Roman" panose="02020603050405020304" pitchFamily="18" charset="0"/>
                <a:ea typeface="Times New Roman" panose="02020603050405020304" pitchFamily="18" charset="0"/>
              </a:endParaRPr>
            </a:p>
          </p:txBody>
        </p:sp>
        <p:sp>
          <p:nvSpPr>
            <p:cNvPr id="24597" name="Text Box 25"/>
            <p:cNvSpPr txBox="1"/>
            <p:nvPr/>
          </p:nvSpPr>
          <p:spPr>
            <a:xfrm>
              <a:off x="5028806" y="5029200"/>
              <a:ext cx="282869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t>∴ </a:t>
              </a:r>
              <a:r>
                <a:rPr lang="en-US" altLang="zh-TW" sz="2800" i="1" dirty="0">
                  <a:latin typeface="Times New Roman" panose="02020603050405020304" pitchFamily="18" charset="0"/>
                  <a:cs typeface="Times New Roman" panose="02020603050405020304" pitchFamily="18" charset="0"/>
                </a:rPr>
                <a:t>C</a:t>
              </a:r>
              <a:r>
                <a:rPr lang="en-US" altLang="zh-TW" baseline="-25000" dirty="0">
                  <a:latin typeface="Times New Roman" panose="02020603050405020304" pitchFamily="18" charset="0"/>
                  <a:cs typeface="Times New Roman" panose="02020603050405020304" pitchFamily="18" charset="0"/>
                </a:rPr>
                <a:t>6</a:t>
              </a:r>
              <a:r>
                <a:rPr lang="en-US" altLang="zh-TW" sz="2800" b="1" dirty="0"/>
                <a:t> </a:t>
              </a:r>
              <a:r>
                <a:rPr lang="en-US" altLang="zh-TW" sz="2800" dirty="0"/>
                <a:t>is bipartite.</a:t>
              </a:r>
              <a:endParaRPr lang="en-US" altLang="zh-TW" sz="2800" dirty="0"/>
            </a:p>
          </p:txBody>
        </p:sp>
        <p:sp>
          <p:nvSpPr>
            <p:cNvPr id="24598" name="Oval 4"/>
            <p:cNvSpPr/>
            <p:nvPr/>
          </p:nvSpPr>
          <p:spPr>
            <a:xfrm>
              <a:off x="3505200" y="44958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4599" name="Oval 4"/>
            <p:cNvSpPr/>
            <p:nvPr/>
          </p:nvSpPr>
          <p:spPr>
            <a:xfrm>
              <a:off x="3505200" y="51816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4600" name="Oval 4"/>
            <p:cNvSpPr/>
            <p:nvPr/>
          </p:nvSpPr>
          <p:spPr>
            <a:xfrm>
              <a:off x="3505200" y="59436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4601" name="Oval 4"/>
            <p:cNvSpPr/>
            <p:nvPr/>
          </p:nvSpPr>
          <p:spPr>
            <a:xfrm>
              <a:off x="1524000" y="44958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4602" name="Oval 4"/>
            <p:cNvSpPr/>
            <p:nvPr/>
          </p:nvSpPr>
          <p:spPr>
            <a:xfrm>
              <a:off x="1524000" y="5105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4603" name="Oval 4"/>
            <p:cNvSpPr/>
            <p:nvPr/>
          </p:nvSpPr>
          <p:spPr>
            <a:xfrm>
              <a:off x="1524000" y="5791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33" name="矩形 32"/>
            <p:cNvSpPr/>
            <p:nvPr/>
          </p:nvSpPr>
          <p:spPr>
            <a:xfrm>
              <a:off x="1066731" y="6273801"/>
              <a:ext cx="565104" cy="579437"/>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32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V</a:t>
              </a:r>
              <a:r>
                <a:rPr kumimoji="1" lang="en-US" altLang="zh-TW" sz="32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4" name="矩形 33"/>
            <p:cNvSpPr/>
            <p:nvPr/>
          </p:nvSpPr>
          <p:spPr>
            <a:xfrm>
              <a:off x="3428737" y="6273801"/>
              <a:ext cx="565104" cy="579437"/>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32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V</a:t>
              </a:r>
              <a:r>
                <a:rPr kumimoji="1" lang="en-US" altLang="zh-TW" sz="32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sp>
        <p:nvSpPr>
          <p:cNvPr id="24580" name="文字方塊 34"/>
          <p:cNvSpPr txBox="1"/>
          <p:nvPr/>
        </p:nvSpPr>
        <p:spPr>
          <a:xfrm>
            <a:off x="304800" y="381000"/>
            <a:ext cx="6211888"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3600" u="sng" dirty="0">
                <a:solidFill>
                  <a:srgbClr val="008000"/>
                </a:solidFill>
              </a:rPr>
              <a:t>Some Special Simple Graphs</a:t>
            </a:r>
            <a:endParaRPr lang="zh-TW" altLang="en-US" sz="3600" u="sng" dirty="0">
              <a:solidFill>
                <a:srgbClr val="008000"/>
              </a:solidFill>
            </a:endParaRPr>
          </a:p>
        </p:txBody>
      </p:sp>
      <p:sp>
        <p:nvSpPr>
          <p:cNvPr id="24581" name="投影片編號版面配置區 29"/>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p:cNvSpPr>
          <p:nvPr>
            <p:ph idx="1"/>
          </p:nvPr>
        </p:nvSpPr>
        <p:spPr>
          <a:xfrm>
            <a:off x="0" y="533400"/>
            <a:ext cx="8229600" cy="685800"/>
          </a:xfrm>
        </p:spPr>
        <p:txBody>
          <a:bodyPr vert="horz" wrap="square" lIns="91440" tIns="45720" rIns="91440" bIns="45720" anchor="t"/>
          <a:p>
            <a:pPr eaLnBrk="1" hangingPunct="1">
              <a:buNone/>
            </a:pPr>
            <a:r>
              <a:rPr lang="en-US" altLang="zh-TW" b="1" dirty="0">
                <a:solidFill>
                  <a:srgbClr val="008000"/>
                </a:solidFill>
              </a:rPr>
              <a:t>Example 11.</a:t>
            </a:r>
            <a:r>
              <a:rPr lang="en-US" altLang="zh-TW" dirty="0"/>
              <a:t> Is the graph </a:t>
            </a:r>
            <a:r>
              <a:rPr lang="en-US" altLang="zh-TW" i="1" dirty="0">
                <a:latin typeface="Times New Roman" panose="02020603050405020304" pitchFamily="18" charset="0"/>
                <a:cs typeface="Times New Roman" panose="02020603050405020304" pitchFamily="18" charset="0"/>
              </a:rPr>
              <a:t>G</a:t>
            </a:r>
            <a:r>
              <a:rPr lang="en-US" altLang="zh-TW" dirty="0"/>
              <a:t> bipartite?</a:t>
            </a:r>
            <a:endParaRPr lang="en-US" altLang="zh-TW" dirty="0"/>
          </a:p>
        </p:txBody>
      </p:sp>
      <p:grpSp>
        <p:nvGrpSpPr>
          <p:cNvPr id="2" name="群組 128"/>
          <p:cNvGrpSpPr/>
          <p:nvPr/>
        </p:nvGrpSpPr>
        <p:grpSpPr>
          <a:xfrm>
            <a:off x="5410200" y="2971800"/>
            <a:ext cx="3048000" cy="936625"/>
            <a:chOff x="5410200" y="2971832"/>
            <a:chExt cx="3048000" cy="936696"/>
          </a:xfrm>
        </p:grpSpPr>
        <p:cxnSp>
          <p:nvCxnSpPr>
            <p:cNvPr id="25668" name="AutoShape 44"/>
            <p:cNvCxnSpPr>
              <a:stCxn id="25632" idx="6"/>
              <a:endCxn id="25640" idx="1"/>
            </p:cNvCxnSpPr>
            <p:nvPr/>
          </p:nvCxnSpPr>
          <p:spPr>
            <a:xfrm>
              <a:off x="5410200" y="3429032"/>
              <a:ext cx="2917918" cy="479496"/>
            </a:xfrm>
            <a:prstGeom prst="straightConnector1">
              <a:avLst/>
            </a:prstGeom>
            <a:ln w="9525" cap="flat" cmpd="sng">
              <a:solidFill>
                <a:schemeClr val="tx1"/>
              </a:solidFill>
              <a:prstDash val="solid"/>
              <a:headEnd type="none" w="med" len="med"/>
              <a:tailEnd type="none" w="med" len="med"/>
            </a:ln>
          </p:spPr>
        </p:cxnSp>
        <p:cxnSp>
          <p:nvCxnSpPr>
            <p:cNvPr id="25669" name="AutoShape 48"/>
            <p:cNvCxnSpPr>
              <a:stCxn id="25639" idx="6"/>
              <a:endCxn id="25632" idx="6"/>
            </p:cNvCxnSpPr>
            <p:nvPr/>
          </p:nvCxnSpPr>
          <p:spPr>
            <a:xfrm flipH="1">
              <a:off x="5410200" y="2971832"/>
              <a:ext cx="3048000" cy="457200"/>
            </a:xfrm>
            <a:prstGeom prst="straightConnector1">
              <a:avLst/>
            </a:prstGeom>
            <a:ln w="9525" cap="flat" cmpd="sng">
              <a:solidFill>
                <a:schemeClr val="tx1"/>
              </a:solidFill>
              <a:prstDash val="solid"/>
              <a:headEnd type="none" w="med" len="med"/>
              <a:tailEnd type="none" w="med" len="med"/>
            </a:ln>
          </p:spPr>
        </p:cxnSp>
      </p:grpSp>
      <p:grpSp>
        <p:nvGrpSpPr>
          <p:cNvPr id="3" name="群組 116"/>
          <p:cNvGrpSpPr/>
          <p:nvPr/>
        </p:nvGrpSpPr>
        <p:grpSpPr>
          <a:xfrm>
            <a:off x="5334000" y="1828800"/>
            <a:ext cx="2998788" cy="3086100"/>
            <a:chOff x="5334000" y="1828832"/>
            <a:chExt cx="2998790" cy="3086071"/>
          </a:xfrm>
        </p:grpSpPr>
        <p:cxnSp>
          <p:nvCxnSpPr>
            <p:cNvPr id="25664" name="AutoShape 41"/>
            <p:cNvCxnSpPr/>
            <p:nvPr/>
          </p:nvCxnSpPr>
          <p:spPr>
            <a:xfrm rot="-5400000" flipV="1">
              <a:off x="5290360" y="1872473"/>
              <a:ext cx="3086071" cy="2998789"/>
            </a:xfrm>
            <a:prstGeom prst="straightConnector1">
              <a:avLst/>
            </a:prstGeom>
            <a:ln w="9525" cap="flat" cmpd="sng">
              <a:solidFill>
                <a:schemeClr val="tx1"/>
              </a:solidFill>
              <a:prstDash val="solid"/>
              <a:headEnd type="none" w="med" len="med"/>
              <a:tailEnd type="none" w="med" len="med"/>
            </a:ln>
          </p:spPr>
        </p:cxnSp>
        <p:cxnSp>
          <p:nvCxnSpPr>
            <p:cNvPr id="25665" name="AutoShape 42"/>
            <p:cNvCxnSpPr>
              <a:endCxn id="25638" idx="2"/>
            </p:cNvCxnSpPr>
            <p:nvPr/>
          </p:nvCxnSpPr>
          <p:spPr>
            <a:xfrm>
              <a:off x="5334000" y="1828832"/>
              <a:ext cx="2971800" cy="76200"/>
            </a:xfrm>
            <a:prstGeom prst="straightConnector1">
              <a:avLst/>
            </a:prstGeom>
            <a:ln w="9525" cap="flat" cmpd="sng">
              <a:solidFill>
                <a:schemeClr val="tx1"/>
              </a:solidFill>
              <a:prstDash val="solid"/>
              <a:headEnd type="none" w="med" len="med"/>
              <a:tailEnd type="none" w="med" len="med"/>
            </a:ln>
          </p:spPr>
        </p:cxnSp>
        <p:cxnSp>
          <p:nvCxnSpPr>
            <p:cNvPr id="25666" name="AutoShape 47"/>
            <p:cNvCxnSpPr>
              <a:endCxn id="25639" idx="1"/>
            </p:cNvCxnSpPr>
            <p:nvPr/>
          </p:nvCxnSpPr>
          <p:spPr>
            <a:xfrm>
              <a:off x="5334000" y="1828832"/>
              <a:ext cx="2994118" cy="1089096"/>
            </a:xfrm>
            <a:prstGeom prst="straightConnector1">
              <a:avLst/>
            </a:prstGeom>
            <a:ln w="9525" cap="flat" cmpd="sng">
              <a:solidFill>
                <a:schemeClr val="tx1"/>
              </a:solidFill>
              <a:prstDash val="solid"/>
              <a:headEnd type="none" w="med" len="med"/>
              <a:tailEnd type="none" w="med" len="med"/>
            </a:ln>
          </p:spPr>
        </p:cxnSp>
        <p:cxnSp>
          <p:nvCxnSpPr>
            <p:cNvPr id="25667" name="AutoShape 49"/>
            <p:cNvCxnSpPr>
              <a:endCxn id="25640" idx="1"/>
            </p:cNvCxnSpPr>
            <p:nvPr/>
          </p:nvCxnSpPr>
          <p:spPr>
            <a:xfrm>
              <a:off x="5334000" y="1828832"/>
              <a:ext cx="2994118" cy="2079696"/>
            </a:xfrm>
            <a:prstGeom prst="straightConnector1">
              <a:avLst/>
            </a:prstGeom>
            <a:ln w="9525" cap="flat" cmpd="sng">
              <a:solidFill>
                <a:schemeClr val="tx1"/>
              </a:solidFill>
              <a:prstDash val="solid"/>
              <a:headEnd type="none" w="med" len="med"/>
              <a:tailEnd type="none" w="med" len="med"/>
            </a:ln>
          </p:spPr>
        </p:cxnSp>
      </p:grpSp>
      <p:grpSp>
        <p:nvGrpSpPr>
          <p:cNvPr id="4" name="群組 141"/>
          <p:cNvGrpSpPr/>
          <p:nvPr/>
        </p:nvGrpSpPr>
        <p:grpSpPr>
          <a:xfrm>
            <a:off x="5280025" y="3025775"/>
            <a:ext cx="3178175" cy="1927225"/>
            <a:chOff x="5280118" y="3025734"/>
            <a:chExt cx="3178082" cy="1927298"/>
          </a:xfrm>
        </p:grpSpPr>
        <p:cxnSp>
          <p:nvCxnSpPr>
            <p:cNvPr id="25661" name="AutoShape 45"/>
            <p:cNvCxnSpPr>
              <a:stCxn id="25641" idx="6"/>
              <a:endCxn id="25629" idx="5"/>
            </p:cNvCxnSpPr>
            <p:nvPr/>
          </p:nvCxnSpPr>
          <p:spPr>
            <a:xfrm flipH="1" flipV="1">
              <a:off x="5387882" y="4549735"/>
              <a:ext cx="3070318" cy="403297"/>
            </a:xfrm>
            <a:prstGeom prst="straightConnector1">
              <a:avLst/>
            </a:prstGeom>
            <a:ln w="9525" cap="flat" cmpd="sng">
              <a:solidFill>
                <a:schemeClr val="tx1"/>
              </a:solidFill>
              <a:prstDash val="solid"/>
              <a:headEnd type="none" w="med" len="med"/>
              <a:tailEnd type="none" w="med" len="med"/>
            </a:ln>
          </p:spPr>
        </p:cxnSp>
        <p:cxnSp>
          <p:nvCxnSpPr>
            <p:cNvPr id="25662" name="AutoShape 50"/>
            <p:cNvCxnSpPr>
              <a:stCxn id="25640" idx="2"/>
              <a:endCxn id="25629" idx="3"/>
            </p:cNvCxnSpPr>
            <p:nvPr/>
          </p:nvCxnSpPr>
          <p:spPr>
            <a:xfrm rot="-10800000" flipV="1">
              <a:off x="5280118" y="3962431"/>
              <a:ext cx="3025682" cy="587303"/>
            </a:xfrm>
            <a:prstGeom prst="straightConnector1">
              <a:avLst/>
            </a:prstGeom>
            <a:ln w="9525" cap="flat" cmpd="sng">
              <a:solidFill>
                <a:schemeClr val="tx1"/>
              </a:solidFill>
              <a:prstDash val="solid"/>
              <a:headEnd type="none" w="med" len="med"/>
              <a:tailEnd type="none" w="med" len="med"/>
            </a:ln>
          </p:spPr>
        </p:cxnSp>
        <p:cxnSp>
          <p:nvCxnSpPr>
            <p:cNvPr id="25663" name="AutoShape 51"/>
            <p:cNvCxnSpPr>
              <a:stCxn id="25639" idx="3"/>
              <a:endCxn id="25629" idx="6"/>
            </p:cNvCxnSpPr>
            <p:nvPr/>
          </p:nvCxnSpPr>
          <p:spPr>
            <a:xfrm rot="5400000">
              <a:off x="6134111" y="2301823"/>
              <a:ext cx="1470097" cy="2917918"/>
            </a:xfrm>
            <a:prstGeom prst="straightConnector1">
              <a:avLst/>
            </a:prstGeom>
            <a:ln w="9525" cap="flat" cmpd="sng">
              <a:solidFill>
                <a:schemeClr val="tx1"/>
              </a:solidFill>
              <a:prstDash val="solid"/>
              <a:headEnd type="none" w="med" len="med"/>
              <a:tailEnd type="none" w="med" len="med"/>
            </a:ln>
          </p:spPr>
        </p:cxnSp>
      </p:grpSp>
      <p:sp>
        <p:nvSpPr>
          <p:cNvPr id="23558" name="Line 60"/>
          <p:cNvSpPr/>
          <p:nvPr/>
        </p:nvSpPr>
        <p:spPr>
          <a:xfrm>
            <a:off x="4114800" y="3352800"/>
            <a:ext cx="609600" cy="0"/>
          </a:xfrm>
          <a:prstGeom prst="line">
            <a:avLst/>
          </a:prstGeom>
          <a:ln w="127000" cap="flat" cmpd="dbl">
            <a:solidFill>
              <a:schemeClr val="tx1"/>
            </a:solidFill>
            <a:prstDash val="solid"/>
            <a:headEnd type="none" w="med" len="med"/>
            <a:tailEnd type="triangle" w="med" len="med"/>
          </a:ln>
        </p:spPr>
      </p:sp>
      <p:sp>
        <p:nvSpPr>
          <p:cNvPr id="23559" name="Text Box 61"/>
          <p:cNvSpPr txBox="1"/>
          <p:nvPr/>
        </p:nvSpPr>
        <p:spPr>
          <a:xfrm>
            <a:off x="6248400" y="5562600"/>
            <a:ext cx="115411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t>Yes !</a:t>
            </a:r>
            <a:endParaRPr lang="en-US" altLang="zh-TW" b="1" dirty="0"/>
          </a:p>
        </p:txBody>
      </p:sp>
      <p:cxnSp>
        <p:nvCxnSpPr>
          <p:cNvPr id="23594" name="AutoShape 14"/>
          <p:cNvCxnSpPr>
            <a:stCxn id="61" idx="5"/>
            <a:endCxn id="66" idx="1"/>
          </p:cNvCxnSpPr>
          <p:nvPr/>
        </p:nvCxnSpPr>
        <p:spPr>
          <a:xfrm rot="-5400000" flipH="1">
            <a:off x="2606675" y="2225675"/>
            <a:ext cx="730250" cy="501650"/>
          </a:xfrm>
          <a:prstGeom prst="straightConnector1">
            <a:avLst/>
          </a:prstGeom>
          <a:ln w="19050" cap="flat" cmpd="sng">
            <a:solidFill>
              <a:schemeClr val="tx1"/>
            </a:solidFill>
            <a:prstDash val="solid"/>
            <a:headEnd type="none" w="med" len="med"/>
            <a:tailEnd type="none" w="med" len="med"/>
          </a:ln>
        </p:spPr>
      </p:cxnSp>
      <p:cxnSp>
        <p:nvCxnSpPr>
          <p:cNvPr id="23597" name="AutoShape 17"/>
          <p:cNvCxnSpPr>
            <a:stCxn id="66" idx="4"/>
            <a:endCxn id="65" idx="0"/>
          </p:cNvCxnSpPr>
          <p:nvPr/>
        </p:nvCxnSpPr>
        <p:spPr>
          <a:xfrm rot="5400000">
            <a:off x="2743200" y="3505200"/>
            <a:ext cx="1066800" cy="3175"/>
          </a:xfrm>
          <a:prstGeom prst="straightConnector1">
            <a:avLst/>
          </a:prstGeom>
          <a:ln w="19050" cap="flat" cmpd="sng">
            <a:solidFill>
              <a:schemeClr val="tx1"/>
            </a:solidFill>
            <a:prstDash val="solid"/>
            <a:headEnd type="none" w="med" len="med"/>
            <a:tailEnd type="none" w="med" len="med"/>
          </a:ln>
        </p:spPr>
      </p:cxnSp>
      <p:grpSp>
        <p:nvGrpSpPr>
          <p:cNvPr id="5" name="群組 129"/>
          <p:cNvGrpSpPr/>
          <p:nvPr/>
        </p:nvGrpSpPr>
        <p:grpSpPr>
          <a:xfrm>
            <a:off x="1120775" y="2111375"/>
            <a:ext cx="1546225" cy="2613025"/>
            <a:chOff x="1120775" y="2111375"/>
            <a:chExt cx="1546225" cy="2613025"/>
          </a:xfrm>
        </p:grpSpPr>
        <p:cxnSp>
          <p:nvCxnSpPr>
            <p:cNvPr id="25659" name="AutoShape 15"/>
            <p:cNvCxnSpPr>
              <a:stCxn id="61" idx="3"/>
              <a:endCxn id="63" idx="7"/>
            </p:cNvCxnSpPr>
            <p:nvPr/>
          </p:nvCxnSpPr>
          <p:spPr>
            <a:xfrm rot="5400000">
              <a:off x="930275" y="2301875"/>
              <a:ext cx="1873250" cy="1492250"/>
            </a:xfrm>
            <a:prstGeom prst="straightConnector1">
              <a:avLst/>
            </a:prstGeom>
            <a:ln w="19050" cap="flat" cmpd="sng">
              <a:solidFill>
                <a:schemeClr val="tx1"/>
              </a:solidFill>
              <a:prstDash val="solid"/>
              <a:headEnd type="none" w="med" len="med"/>
              <a:tailEnd type="none" w="med" len="med"/>
            </a:ln>
          </p:spPr>
        </p:cxnSp>
        <p:cxnSp>
          <p:nvCxnSpPr>
            <p:cNvPr id="25660" name="AutoShape 19"/>
            <p:cNvCxnSpPr>
              <a:stCxn id="64" idx="0"/>
              <a:endCxn id="61" idx="4"/>
            </p:cNvCxnSpPr>
            <p:nvPr/>
          </p:nvCxnSpPr>
          <p:spPr>
            <a:xfrm rot="5400000" flipH="1" flipV="1">
              <a:off x="1143000" y="3200400"/>
              <a:ext cx="2590800" cy="457200"/>
            </a:xfrm>
            <a:prstGeom prst="straightConnector1">
              <a:avLst/>
            </a:prstGeom>
            <a:ln w="19050" cap="flat" cmpd="sng">
              <a:solidFill>
                <a:schemeClr val="tx1"/>
              </a:solidFill>
              <a:prstDash val="solid"/>
              <a:headEnd type="none" w="med" len="med"/>
              <a:tailEnd type="none" w="med" len="med"/>
            </a:ln>
          </p:spPr>
        </p:cxnSp>
      </p:grpSp>
      <p:grpSp>
        <p:nvGrpSpPr>
          <p:cNvPr id="6" name="群組 121"/>
          <p:cNvGrpSpPr/>
          <p:nvPr/>
        </p:nvGrpSpPr>
        <p:grpSpPr>
          <a:xfrm>
            <a:off x="434975" y="2111375"/>
            <a:ext cx="2895600" cy="2635250"/>
            <a:chOff x="434975" y="2111335"/>
            <a:chExt cx="2895507" cy="2635290"/>
          </a:xfrm>
        </p:grpSpPr>
        <p:cxnSp>
          <p:nvCxnSpPr>
            <p:cNvPr id="25655" name="AutoShape 12"/>
            <p:cNvCxnSpPr>
              <a:stCxn id="62" idx="7"/>
              <a:endCxn id="60" idx="3"/>
            </p:cNvCxnSpPr>
            <p:nvPr/>
          </p:nvCxnSpPr>
          <p:spPr>
            <a:xfrm rot="5400000" flipH="1" flipV="1">
              <a:off x="358775" y="2187575"/>
              <a:ext cx="882650" cy="730250"/>
            </a:xfrm>
            <a:prstGeom prst="straightConnector1">
              <a:avLst/>
            </a:prstGeom>
            <a:ln w="19050" cap="flat" cmpd="sng">
              <a:solidFill>
                <a:schemeClr val="tx1"/>
              </a:solidFill>
              <a:prstDash val="solid"/>
              <a:headEnd type="none" w="med" len="med"/>
              <a:tailEnd type="none" w="med" len="med"/>
            </a:ln>
          </p:spPr>
        </p:cxnSp>
        <p:cxnSp>
          <p:nvCxnSpPr>
            <p:cNvPr id="25656" name="AutoShape 13"/>
            <p:cNvCxnSpPr>
              <a:stCxn id="60" idx="5"/>
              <a:endCxn id="66" idx="5"/>
            </p:cNvCxnSpPr>
            <p:nvPr/>
          </p:nvCxnSpPr>
          <p:spPr>
            <a:xfrm rot="-5400000" flipH="1">
              <a:off x="1882682" y="1501735"/>
              <a:ext cx="838200" cy="2057400"/>
            </a:xfrm>
            <a:prstGeom prst="straightConnector1">
              <a:avLst/>
            </a:prstGeom>
            <a:ln w="19050" cap="flat" cmpd="sng">
              <a:solidFill>
                <a:schemeClr val="tx1"/>
              </a:solidFill>
              <a:prstDash val="solid"/>
              <a:headEnd type="none" w="med" len="med"/>
              <a:tailEnd type="none" w="med" len="med"/>
            </a:ln>
          </p:spPr>
        </p:cxnSp>
        <p:cxnSp>
          <p:nvCxnSpPr>
            <p:cNvPr id="25657" name="AutoShape 18"/>
            <p:cNvCxnSpPr>
              <a:stCxn id="60" idx="5"/>
              <a:endCxn id="64" idx="1"/>
            </p:cNvCxnSpPr>
            <p:nvPr/>
          </p:nvCxnSpPr>
          <p:spPr>
            <a:xfrm rot="-5400000" flipH="1">
              <a:off x="396875" y="2987675"/>
              <a:ext cx="2635250" cy="882650"/>
            </a:xfrm>
            <a:prstGeom prst="straightConnector1">
              <a:avLst/>
            </a:prstGeom>
            <a:ln w="19050" cap="flat" cmpd="sng">
              <a:solidFill>
                <a:schemeClr val="tx1"/>
              </a:solidFill>
              <a:prstDash val="solid"/>
              <a:headEnd type="none" w="med" len="med"/>
              <a:tailEnd type="none" w="med" len="med"/>
            </a:ln>
          </p:spPr>
        </p:cxnSp>
        <p:cxnSp>
          <p:nvCxnSpPr>
            <p:cNvPr id="25658" name="AutoShape 20"/>
            <p:cNvCxnSpPr>
              <a:stCxn id="60" idx="4"/>
              <a:endCxn id="63" idx="0"/>
            </p:cNvCxnSpPr>
            <p:nvPr/>
          </p:nvCxnSpPr>
          <p:spPr>
            <a:xfrm rot="5400000">
              <a:off x="228600" y="2971800"/>
              <a:ext cx="1828800" cy="152400"/>
            </a:xfrm>
            <a:prstGeom prst="straightConnector1">
              <a:avLst/>
            </a:prstGeom>
            <a:ln w="19050" cap="flat" cmpd="sng">
              <a:solidFill>
                <a:schemeClr val="tx1"/>
              </a:solidFill>
              <a:prstDash val="solid"/>
              <a:headEnd type="none" w="med" len="med"/>
              <a:tailEnd type="none" w="med" len="med"/>
            </a:ln>
          </p:spPr>
        </p:cxnSp>
      </p:grpSp>
      <p:grpSp>
        <p:nvGrpSpPr>
          <p:cNvPr id="7" name="群組 142"/>
          <p:cNvGrpSpPr/>
          <p:nvPr/>
        </p:nvGrpSpPr>
        <p:grpSpPr>
          <a:xfrm>
            <a:off x="457200" y="3048000"/>
            <a:ext cx="2765425" cy="1698625"/>
            <a:chOff x="457200" y="3048000"/>
            <a:chExt cx="2765425" cy="1698625"/>
          </a:xfrm>
        </p:grpSpPr>
        <p:cxnSp>
          <p:nvCxnSpPr>
            <p:cNvPr id="25652" name="AutoShape 16"/>
            <p:cNvCxnSpPr>
              <a:stCxn id="62" idx="6"/>
              <a:endCxn id="65" idx="2"/>
            </p:cNvCxnSpPr>
            <p:nvPr/>
          </p:nvCxnSpPr>
          <p:spPr>
            <a:xfrm>
              <a:off x="457200" y="3048000"/>
              <a:ext cx="2743200" cy="1066800"/>
            </a:xfrm>
            <a:prstGeom prst="straightConnector1">
              <a:avLst/>
            </a:prstGeom>
            <a:ln w="19050" cap="flat" cmpd="sng">
              <a:solidFill>
                <a:schemeClr val="tx1"/>
              </a:solidFill>
              <a:prstDash val="solid"/>
              <a:headEnd type="none" w="med" len="med"/>
              <a:tailEnd type="none" w="med" len="med"/>
            </a:ln>
          </p:spPr>
        </p:cxnSp>
        <p:cxnSp>
          <p:nvCxnSpPr>
            <p:cNvPr id="25653" name="AutoShape 22"/>
            <p:cNvCxnSpPr>
              <a:endCxn id="65" idx="2"/>
            </p:cNvCxnSpPr>
            <p:nvPr/>
          </p:nvCxnSpPr>
          <p:spPr>
            <a:xfrm>
              <a:off x="1066800" y="4038600"/>
              <a:ext cx="2133600" cy="76200"/>
            </a:xfrm>
            <a:prstGeom prst="straightConnector1">
              <a:avLst/>
            </a:prstGeom>
            <a:ln w="19050" cap="flat" cmpd="sng">
              <a:solidFill>
                <a:schemeClr val="tx1"/>
              </a:solidFill>
              <a:prstDash val="solid"/>
              <a:headEnd type="none" w="med" len="med"/>
              <a:tailEnd type="none" w="med" len="med"/>
            </a:ln>
          </p:spPr>
        </p:cxnSp>
        <p:cxnSp>
          <p:nvCxnSpPr>
            <p:cNvPr id="25654" name="AutoShape 23"/>
            <p:cNvCxnSpPr>
              <a:stCxn id="64" idx="7"/>
              <a:endCxn id="65" idx="3"/>
            </p:cNvCxnSpPr>
            <p:nvPr/>
          </p:nvCxnSpPr>
          <p:spPr>
            <a:xfrm rot="5400000" flipH="1" flipV="1">
              <a:off x="2454275" y="3978275"/>
              <a:ext cx="577850" cy="958850"/>
            </a:xfrm>
            <a:prstGeom prst="straightConnector1">
              <a:avLst/>
            </a:prstGeom>
            <a:ln w="19050" cap="flat" cmpd="sng">
              <a:solidFill>
                <a:schemeClr val="tx1"/>
              </a:solidFill>
              <a:prstDash val="solid"/>
              <a:headEnd type="none" w="med" len="med"/>
              <a:tailEnd type="none" w="med" len="med"/>
            </a:ln>
          </p:spPr>
        </p:cxnSp>
      </p:grpSp>
      <p:grpSp>
        <p:nvGrpSpPr>
          <p:cNvPr id="25613" name="群組 123"/>
          <p:cNvGrpSpPr/>
          <p:nvPr/>
        </p:nvGrpSpPr>
        <p:grpSpPr>
          <a:xfrm>
            <a:off x="152400" y="1371600"/>
            <a:ext cx="3519488" cy="4618038"/>
            <a:chOff x="152400" y="1371600"/>
            <a:chExt cx="3519734" cy="4618612"/>
          </a:xfrm>
        </p:grpSpPr>
        <p:sp>
          <p:nvSpPr>
            <p:cNvPr id="25644" name="Text Box 24"/>
            <p:cNvSpPr txBox="1"/>
            <p:nvPr/>
          </p:nvSpPr>
          <p:spPr>
            <a:xfrm>
              <a:off x="914453" y="1371600"/>
              <a:ext cx="336574" cy="4572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25645" name="Text Box 25"/>
            <p:cNvSpPr txBox="1"/>
            <p:nvPr/>
          </p:nvSpPr>
          <p:spPr>
            <a:xfrm>
              <a:off x="2514766" y="1371600"/>
              <a:ext cx="336573" cy="4572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sp>
          <p:nvSpPr>
            <p:cNvPr id="25646" name="Text Box 26"/>
            <p:cNvSpPr txBox="1"/>
            <p:nvPr/>
          </p:nvSpPr>
          <p:spPr>
            <a:xfrm>
              <a:off x="152400" y="2362323"/>
              <a:ext cx="336574" cy="4572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endParaRPr lang="en-US" altLang="zh-TW" sz="2400" i="1" dirty="0">
                <a:latin typeface="Times New Roman" panose="02020603050405020304" pitchFamily="18" charset="0"/>
                <a:ea typeface="Times New Roman" panose="02020603050405020304" pitchFamily="18" charset="0"/>
              </a:endParaRPr>
            </a:p>
          </p:txBody>
        </p:sp>
        <p:sp>
          <p:nvSpPr>
            <p:cNvPr id="25647" name="Text Box 27"/>
            <p:cNvSpPr txBox="1"/>
            <p:nvPr/>
          </p:nvSpPr>
          <p:spPr>
            <a:xfrm>
              <a:off x="685837" y="4115141"/>
              <a:ext cx="268307" cy="4572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f</a:t>
              </a:r>
              <a:endParaRPr lang="en-US" altLang="zh-TW" sz="2400" i="1" dirty="0">
                <a:latin typeface="Times New Roman" panose="02020603050405020304" pitchFamily="18" charset="0"/>
                <a:ea typeface="Times New Roman" panose="02020603050405020304" pitchFamily="18" charset="0"/>
              </a:endParaRPr>
            </a:p>
          </p:txBody>
        </p:sp>
        <p:sp>
          <p:nvSpPr>
            <p:cNvPr id="25648" name="Text Box 28"/>
            <p:cNvSpPr txBox="1"/>
            <p:nvPr/>
          </p:nvSpPr>
          <p:spPr>
            <a:xfrm>
              <a:off x="1981328" y="4877236"/>
              <a:ext cx="319110" cy="4572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25649" name="Text Box 29"/>
            <p:cNvSpPr txBox="1"/>
            <p:nvPr/>
          </p:nvSpPr>
          <p:spPr>
            <a:xfrm>
              <a:off x="3216490" y="4227868"/>
              <a:ext cx="336574" cy="4572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25650" name="Text Box 30"/>
            <p:cNvSpPr txBox="1"/>
            <p:nvPr/>
          </p:nvSpPr>
          <p:spPr>
            <a:xfrm>
              <a:off x="3353025" y="2667161"/>
              <a:ext cx="319109" cy="4572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sp>
          <p:nvSpPr>
            <p:cNvPr id="58" name="矩形 57"/>
            <p:cNvSpPr/>
            <p:nvPr/>
          </p:nvSpPr>
          <p:spPr>
            <a:xfrm>
              <a:off x="1752712" y="5410702"/>
              <a:ext cx="477871" cy="57951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32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endParaRPr kumimoji="1" lang="zh-TW" altLang="en-US" sz="1800" b="0" i="1"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grpSp>
      <p:sp>
        <p:nvSpPr>
          <p:cNvPr id="60" name="Oval 4"/>
          <p:cNvSpPr/>
          <p:nvPr/>
        </p:nvSpPr>
        <p:spPr>
          <a:xfrm>
            <a:off x="1143000" y="1981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61" name="Oval 4"/>
          <p:cNvSpPr/>
          <p:nvPr/>
        </p:nvSpPr>
        <p:spPr>
          <a:xfrm>
            <a:off x="2590800" y="1981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62" name="Oval 4"/>
          <p:cNvSpPr/>
          <p:nvPr/>
        </p:nvSpPr>
        <p:spPr>
          <a:xfrm>
            <a:off x="304800" y="2971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63" name="Oval 4"/>
          <p:cNvSpPr/>
          <p:nvPr/>
        </p:nvSpPr>
        <p:spPr>
          <a:xfrm>
            <a:off x="990600" y="3962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64" name="Oval 4"/>
          <p:cNvSpPr/>
          <p:nvPr/>
        </p:nvSpPr>
        <p:spPr>
          <a:xfrm>
            <a:off x="2133600" y="4724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65" name="Oval 4"/>
          <p:cNvSpPr/>
          <p:nvPr/>
        </p:nvSpPr>
        <p:spPr>
          <a:xfrm>
            <a:off x="3200400" y="4038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66" name="Oval 4"/>
          <p:cNvSpPr/>
          <p:nvPr/>
        </p:nvSpPr>
        <p:spPr>
          <a:xfrm>
            <a:off x="3200400" y="2819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grpSp>
        <p:nvGrpSpPr>
          <p:cNvPr id="9" name="群組 115"/>
          <p:cNvGrpSpPr/>
          <p:nvPr/>
        </p:nvGrpSpPr>
        <p:grpSpPr>
          <a:xfrm>
            <a:off x="4903788" y="1295400"/>
            <a:ext cx="430212" cy="609600"/>
            <a:chOff x="4903788" y="1295400"/>
            <a:chExt cx="430212" cy="609663"/>
          </a:xfrm>
        </p:grpSpPr>
        <p:sp>
          <p:nvSpPr>
            <p:cNvPr id="25642" name="Text Box 52"/>
            <p:cNvSpPr txBox="1"/>
            <p:nvPr/>
          </p:nvSpPr>
          <p:spPr>
            <a:xfrm>
              <a:off x="4903788" y="1295400"/>
              <a:ext cx="336550" cy="45724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25643" name="Oval 4"/>
            <p:cNvSpPr/>
            <p:nvPr/>
          </p:nvSpPr>
          <p:spPr>
            <a:xfrm>
              <a:off x="5181600" y="17526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grpSp>
      <p:grpSp>
        <p:nvGrpSpPr>
          <p:cNvPr id="10" name="群組 117"/>
          <p:cNvGrpSpPr/>
          <p:nvPr/>
        </p:nvGrpSpPr>
        <p:grpSpPr>
          <a:xfrm>
            <a:off x="8305800" y="1524000"/>
            <a:ext cx="506413" cy="3581400"/>
            <a:chOff x="8305800" y="1524000"/>
            <a:chExt cx="506412" cy="3581400"/>
          </a:xfrm>
        </p:grpSpPr>
        <p:sp>
          <p:nvSpPr>
            <p:cNvPr id="25633" name="Text Box 54"/>
            <p:cNvSpPr txBox="1"/>
            <p:nvPr/>
          </p:nvSpPr>
          <p:spPr>
            <a:xfrm>
              <a:off x="8458200" y="4648200"/>
              <a:ext cx="35401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endParaRPr lang="en-US" altLang="zh-TW" sz="2400" i="1" dirty="0">
                <a:latin typeface="Times New Roman" panose="02020603050405020304" pitchFamily="18" charset="0"/>
                <a:ea typeface="Times New Roman" panose="02020603050405020304" pitchFamily="18" charset="0"/>
              </a:endParaRPr>
            </a:p>
          </p:txBody>
        </p:sp>
        <p:sp>
          <p:nvSpPr>
            <p:cNvPr id="25634" name="Text Box 55"/>
            <p:cNvSpPr txBox="1"/>
            <p:nvPr/>
          </p:nvSpPr>
          <p:spPr>
            <a:xfrm>
              <a:off x="8458200" y="3657600"/>
              <a:ext cx="26828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f</a:t>
              </a:r>
              <a:endParaRPr lang="en-US" altLang="zh-TW" sz="2400" i="1" dirty="0">
                <a:latin typeface="Times New Roman" panose="02020603050405020304" pitchFamily="18" charset="0"/>
                <a:ea typeface="Times New Roman" panose="02020603050405020304" pitchFamily="18" charset="0"/>
              </a:endParaRPr>
            </a:p>
          </p:txBody>
        </p:sp>
        <p:sp>
          <p:nvSpPr>
            <p:cNvPr id="25635" name="Text Box 56"/>
            <p:cNvSpPr txBox="1"/>
            <p:nvPr/>
          </p:nvSpPr>
          <p:spPr>
            <a:xfrm>
              <a:off x="8458200" y="2667000"/>
              <a:ext cx="31908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25636" name="Text Box 58"/>
            <p:cNvSpPr txBox="1"/>
            <p:nvPr/>
          </p:nvSpPr>
          <p:spPr>
            <a:xfrm>
              <a:off x="8458200" y="1524000"/>
              <a:ext cx="3365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grpSp>
          <p:nvGrpSpPr>
            <p:cNvPr id="25637" name="群組 114"/>
            <p:cNvGrpSpPr/>
            <p:nvPr/>
          </p:nvGrpSpPr>
          <p:grpSpPr>
            <a:xfrm>
              <a:off x="8305800" y="1828800"/>
              <a:ext cx="152400" cy="3200463"/>
              <a:chOff x="8305800" y="1828800"/>
              <a:chExt cx="152400" cy="3200463"/>
            </a:xfrm>
          </p:grpSpPr>
          <p:sp>
            <p:nvSpPr>
              <p:cNvPr id="25638" name="Oval 4"/>
              <p:cNvSpPr/>
              <p:nvPr/>
            </p:nvSpPr>
            <p:spPr>
              <a:xfrm>
                <a:off x="8305800" y="18288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25639" name="Oval 4"/>
              <p:cNvSpPr/>
              <p:nvPr/>
            </p:nvSpPr>
            <p:spPr>
              <a:xfrm>
                <a:off x="8305800" y="28956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25640" name="Oval 4"/>
              <p:cNvSpPr/>
              <p:nvPr/>
            </p:nvSpPr>
            <p:spPr>
              <a:xfrm>
                <a:off x="8305800" y="3886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sp>
            <p:nvSpPr>
              <p:cNvPr id="25641" name="Oval 4"/>
              <p:cNvSpPr/>
              <p:nvPr/>
            </p:nvSpPr>
            <p:spPr>
              <a:xfrm>
                <a:off x="8305800" y="48768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grpSp>
      </p:grpSp>
      <p:grpSp>
        <p:nvGrpSpPr>
          <p:cNvPr id="12" name="群組 122"/>
          <p:cNvGrpSpPr/>
          <p:nvPr/>
        </p:nvGrpSpPr>
        <p:grpSpPr>
          <a:xfrm>
            <a:off x="4979988" y="1958975"/>
            <a:ext cx="3348037" cy="1546225"/>
            <a:chOff x="4979988" y="1958935"/>
            <a:chExt cx="3348131" cy="1546328"/>
          </a:xfrm>
        </p:grpSpPr>
        <p:cxnSp>
          <p:nvCxnSpPr>
            <p:cNvPr id="25630" name="AutoShape 43"/>
            <p:cNvCxnSpPr>
              <a:stCxn id="25632" idx="7"/>
              <a:endCxn id="25638" idx="3"/>
            </p:cNvCxnSpPr>
            <p:nvPr/>
          </p:nvCxnSpPr>
          <p:spPr>
            <a:xfrm rot="5400000" flipH="1" flipV="1">
              <a:off x="6149904" y="1196913"/>
              <a:ext cx="1416193" cy="2940236"/>
            </a:xfrm>
            <a:prstGeom prst="straightConnector1">
              <a:avLst/>
            </a:prstGeom>
            <a:ln w="9525" cap="flat" cmpd="sng">
              <a:solidFill>
                <a:schemeClr val="tx1"/>
              </a:solidFill>
              <a:prstDash val="solid"/>
              <a:headEnd type="none" w="med" len="med"/>
              <a:tailEnd type="none" w="med" len="med"/>
            </a:ln>
          </p:spPr>
        </p:cxnSp>
        <p:sp>
          <p:nvSpPr>
            <p:cNvPr id="25631" name="Text Box 53"/>
            <p:cNvSpPr txBox="1"/>
            <p:nvPr/>
          </p:nvSpPr>
          <p:spPr>
            <a:xfrm>
              <a:off x="4979988" y="2895622"/>
              <a:ext cx="336559" cy="457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sp>
          <p:nvSpPr>
            <p:cNvPr id="25632" name="Oval 4"/>
            <p:cNvSpPr/>
            <p:nvPr/>
          </p:nvSpPr>
          <p:spPr>
            <a:xfrm>
              <a:off x="5257800" y="33528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grpSp>
      <p:grpSp>
        <p:nvGrpSpPr>
          <p:cNvPr id="13" name="群組 132"/>
          <p:cNvGrpSpPr/>
          <p:nvPr/>
        </p:nvGrpSpPr>
        <p:grpSpPr>
          <a:xfrm>
            <a:off x="4876800" y="1958975"/>
            <a:ext cx="3451225" cy="2689225"/>
            <a:chOff x="4876800" y="1958934"/>
            <a:chExt cx="3451319" cy="2688976"/>
          </a:xfrm>
        </p:grpSpPr>
        <p:cxnSp>
          <p:nvCxnSpPr>
            <p:cNvPr id="25627" name="AutoShape 46"/>
            <p:cNvCxnSpPr>
              <a:stCxn id="25638" idx="3"/>
              <a:endCxn id="25629" idx="7"/>
            </p:cNvCxnSpPr>
            <p:nvPr/>
          </p:nvCxnSpPr>
          <p:spPr>
            <a:xfrm rot="5400000">
              <a:off x="5616504" y="1730312"/>
              <a:ext cx="2482993" cy="2940236"/>
            </a:xfrm>
            <a:prstGeom prst="straightConnector1">
              <a:avLst/>
            </a:prstGeom>
            <a:ln w="9525" cap="flat" cmpd="sng">
              <a:solidFill>
                <a:schemeClr val="tx1"/>
              </a:solidFill>
              <a:prstDash val="solid"/>
              <a:headEnd type="none" w="med" len="med"/>
              <a:tailEnd type="none" w="med" len="med"/>
            </a:ln>
          </p:spPr>
        </p:cxnSp>
        <p:sp>
          <p:nvSpPr>
            <p:cNvPr id="25628" name="Text Box 57"/>
            <p:cNvSpPr txBox="1"/>
            <p:nvPr/>
          </p:nvSpPr>
          <p:spPr>
            <a:xfrm>
              <a:off x="4876800" y="4190752"/>
              <a:ext cx="336559" cy="4571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25629" name="Oval 4"/>
            <p:cNvSpPr/>
            <p:nvPr/>
          </p:nvSpPr>
          <p:spPr>
            <a:xfrm>
              <a:off x="5257800" y="44196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i="1" dirty="0">
                <a:latin typeface="Times New Roman" panose="02020603050405020304" pitchFamily="18" charset="0"/>
                <a:ea typeface="Times New Roman" panose="02020603050405020304" pitchFamily="18" charset="0"/>
              </a:endParaRPr>
            </a:p>
          </p:txBody>
        </p:sp>
      </p:grpSp>
      <p:sp>
        <p:nvSpPr>
          <p:cNvPr id="69" name="矩形 68"/>
          <p:cNvSpPr/>
          <p:nvPr/>
        </p:nvSpPr>
        <p:spPr>
          <a:xfrm>
            <a:off x="381000" y="6172200"/>
            <a:ext cx="3094038"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21, 23, 25</a:t>
            </a:r>
            <a:endParaRPr lang="zh-TW" altLang="en-US" sz="2400" dirty="0">
              <a:solidFill>
                <a:srgbClr val="0000CC"/>
              </a:solidFill>
            </a:endParaRPr>
          </a:p>
        </p:txBody>
      </p:sp>
      <p:sp>
        <p:nvSpPr>
          <p:cNvPr id="25626" name="投影片編號版面配置區 69"/>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8"/>
                                        </p:tgtEl>
                                        <p:attrNameLst>
                                          <p:attrName>style.visibility</p:attrName>
                                        </p:attrNameLst>
                                      </p:cBhvr>
                                      <p:to>
                                        <p:strVal val="visible"/>
                                      </p:to>
                                    </p:set>
                                    <p:anim calcmode="lin" valueType="num">
                                      <p:cBhvr additive="base">
                                        <p:cTn id="7" dur="500" fill="hold"/>
                                        <p:tgtEl>
                                          <p:spTgt spid="23558"/>
                                        </p:tgtEl>
                                        <p:attrNameLst>
                                          <p:attrName>ppt_x</p:attrName>
                                        </p:attrNameLst>
                                      </p:cBhvr>
                                      <p:tavLst>
                                        <p:tav tm="0">
                                          <p:val>
                                            <p:strVal val="#ppt_x"/>
                                          </p:val>
                                        </p:tav>
                                        <p:tav tm="100000">
                                          <p:val>
                                            <p:strVal val="#ppt_x"/>
                                          </p:val>
                                        </p:tav>
                                      </p:tavLst>
                                    </p:anim>
                                    <p:anim calcmode="lin" valueType="num">
                                      <p:cBhvr additive="base">
                                        <p:cTn id="8" dur="500" fill="hold"/>
                                        <p:tgtEl>
                                          <p:spTgt spid="2355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1" presetClass="emph" presetSubtype="2" fill="hold" nodeType="withEffect">
                                  <p:stCondLst>
                                    <p:cond delay="0"/>
                                  </p:stCondLst>
                                  <p:childTnLst>
                                    <p:animClr clrSpc="rgb" dir="cw">
                                      <p:cBhvr>
                                        <p:cTn id="16" dur="2000" fill="hold"/>
                                        <p:tgtEl>
                                          <p:spTgt spid="60"/>
                                        </p:tgtEl>
                                        <p:attrNameLst>
                                          <p:attrName>fillcolor</p:attrName>
                                        </p:attrNameLst>
                                      </p:cBhvr>
                                      <p:to>
                                        <a:srgbClr val="FF0000"/>
                                      </p:to>
                                    </p:animClr>
                                    <p:set>
                                      <p:cBhvr>
                                        <p:cTn id="17" dur="2000" fill="hold"/>
                                        <p:tgtEl>
                                          <p:spTgt spid="60"/>
                                        </p:tgtEl>
                                        <p:attrNameLst>
                                          <p:attrName>fill.type</p:attrName>
                                        </p:attrNameLst>
                                      </p:cBhvr>
                                      <p:to>
                                        <p:strVal val="solid"/>
                                      </p:to>
                                    </p:set>
                                    <p:set>
                                      <p:cBhvr>
                                        <p:cTn id="18" dur="2000" fill="hold"/>
                                        <p:tgtEl>
                                          <p:spTgt spid="60"/>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9" presetClass="emph" presetSubtype="0" nodeType="withEffect">
                                  <p:stCondLst>
                                    <p:cond delay="0"/>
                                  </p:stCondLst>
                                  <p:childTnLst>
                                    <p:set>
                                      <p:cBhvr rctx="PPT">
                                        <p:cTn id="30" dur="indefinite"/>
                                        <p:tgtEl>
                                          <p:spTgt spid="6"/>
                                        </p:tgtEl>
                                        <p:attrNameLst>
                                          <p:attrName>style.opacity</p:attrName>
                                        </p:attrNameLst>
                                      </p:cBhvr>
                                      <p:to>
                                        <p:strVal val="0.5"/>
                                      </p:to>
                                    </p:set>
                                    <p:animEffect filter="image" prLst="opacity: 0.5">
                                      <p:cBhvr rctx="IE">
                                        <p:cTn id="31" dur="indefinite"/>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ppt_x"/>
                                          </p:val>
                                        </p:tav>
                                        <p:tav tm="100000">
                                          <p:val>
                                            <p:strVal val="#ppt_x"/>
                                          </p:val>
                                        </p:tav>
                                      </p:tavLst>
                                    </p:anim>
                                    <p:anim calcmode="lin" valueType="num">
                                      <p:cBhvr additive="base">
                                        <p:cTn id="37" dur="500" fill="hold"/>
                                        <p:tgtEl>
                                          <p:spTgt spid="12"/>
                                        </p:tgtEl>
                                        <p:attrNameLst>
                                          <p:attrName>ppt_y</p:attrName>
                                        </p:attrNameLst>
                                      </p:cBhvr>
                                      <p:tavLst>
                                        <p:tav tm="0">
                                          <p:val>
                                            <p:strVal val="1+#ppt_h/2"/>
                                          </p:val>
                                        </p:tav>
                                        <p:tav tm="100000">
                                          <p:val>
                                            <p:strVal val="#ppt_y"/>
                                          </p:val>
                                        </p:tav>
                                      </p:tavLst>
                                    </p:anim>
                                  </p:childTnLst>
                                </p:cTn>
                              </p:par>
                              <p:par>
                                <p:cTn id="38" presetID="9" presetClass="emph" presetSubtype="0" nodeType="withEffect">
                                  <p:stCondLst>
                                    <p:cond delay="0"/>
                                  </p:stCondLst>
                                  <p:childTnLst>
                                    <p:set>
                                      <p:cBhvr rctx="PPT">
                                        <p:cTn id="39" dur="indefinite"/>
                                        <p:tgtEl>
                                          <p:spTgt spid="23594"/>
                                        </p:tgtEl>
                                        <p:attrNameLst>
                                          <p:attrName>style.opacity</p:attrName>
                                        </p:attrNameLst>
                                      </p:cBhvr>
                                      <p:to>
                                        <p:strVal val="0.5"/>
                                      </p:to>
                                    </p:set>
                                    <p:animEffect filter="image" prLst="opacity: 0.5">
                                      <p:cBhvr rctx="IE">
                                        <p:cTn id="40" dur="indefinite"/>
                                        <p:tgtEl>
                                          <p:spTgt spid="23594"/>
                                        </p:tgtEl>
                                      </p:cBhvr>
                                    </p:animEffect>
                                  </p:childTnLst>
                                </p:cTn>
                              </p:par>
                              <p:par>
                                <p:cTn id="41" presetID="1" presetClass="emph" presetSubtype="2" fill="hold" nodeType="withEffect">
                                  <p:stCondLst>
                                    <p:cond delay="0"/>
                                  </p:stCondLst>
                                  <p:childTnLst>
                                    <p:animClr clrSpc="rgb" dir="cw">
                                      <p:cBhvr>
                                        <p:cTn id="42" dur="2000" fill="hold"/>
                                        <p:tgtEl>
                                          <p:spTgt spid="66"/>
                                        </p:tgtEl>
                                        <p:attrNameLst>
                                          <p:attrName>fillcolor</p:attrName>
                                        </p:attrNameLst>
                                      </p:cBhvr>
                                      <p:to>
                                        <a:srgbClr val="FF0000"/>
                                      </p:to>
                                    </p:animClr>
                                    <p:set>
                                      <p:cBhvr>
                                        <p:cTn id="43" dur="2000" fill="hold"/>
                                        <p:tgtEl>
                                          <p:spTgt spid="66"/>
                                        </p:tgtEl>
                                        <p:attrNameLst>
                                          <p:attrName>fill.type</p:attrName>
                                        </p:attrNameLst>
                                      </p:cBhvr>
                                      <p:to>
                                        <p:strVal val="solid"/>
                                      </p:to>
                                    </p:set>
                                    <p:set>
                                      <p:cBhvr>
                                        <p:cTn id="44" dur="2000" fill="hold"/>
                                        <p:tgtEl>
                                          <p:spTgt spid="66"/>
                                        </p:tgtEl>
                                        <p:attrNameLst>
                                          <p:attrName>fill.on</p:attrName>
                                        </p:attrNameLst>
                                      </p:cBhvr>
                                      <p:to>
                                        <p:strVal val="true"/>
                                      </p:to>
                                    </p:set>
                                  </p:childTnLst>
                                </p:cTn>
                              </p:par>
                              <p:par>
                                <p:cTn id="45" presetID="2" presetClass="entr" presetSubtype="4"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9" presetClass="emph" presetSubtype="0" nodeType="withEffect">
                                  <p:stCondLst>
                                    <p:cond delay="0"/>
                                  </p:stCondLst>
                                  <p:childTnLst>
                                    <p:set>
                                      <p:cBhvr rctx="PPT">
                                        <p:cTn id="50" dur="indefinite"/>
                                        <p:tgtEl>
                                          <p:spTgt spid="23597"/>
                                        </p:tgtEl>
                                        <p:attrNameLst>
                                          <p:attrName>style.opacity</p:attrName>
                                        </p:attrNameLst>
                                      </p:cBhvr>
                                      <p:to>
                                        <p:strVal val="0.5"/>
                                      </p:to>
                                    </p:set>
                                    <p:animEffect filter="image" prLst="opacity: 0.5">
                                      <p:cBhvr rctx="IE">
                                        <p:cTn id="51" dur="indefinite"/>
                                        <p:tgtEl>
                                          <p:spTgt spid="23597"/>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additive="base">
                                        <p:cTn id="56" dur="500" fill="hold"/>
                                        <p:tgtEl>
                                          <p:spTgt spid="2"/>
                                        </p:tgtEl>
                                        <p:attrNameLst>
                                          <p:attrName>ppt_x</p:attrName>
                                        </p:attrNameLst>
                                      </p:cBhvr>
                                      <p:tavLst>
                                        <p:tav tm="0">
                                          <p:val>
                                            <p:strVal val="#ppt_x"/>
                                          </p:val>
                                        </p:tav>
                                        <p:tav tm="100000">
                                          <p:val>
                                            <p:strVal val="#ppt_x"/>
                                          </p:val>
                                        </p:tav>
                                      </p:tavLst>
                                    </p:anim>
                                    <p:anim calcmode="lin" valueType="num">
                                      <p:cBhvr additive="base">
                                        <p:cTn id="57" dur="500" fill="hold"/>
                                        <p:tgtEl>
                                          <p:spTgt spid="2"/>
                                        </p:tgtEl>
                                        <p:attrNameLst>
                                          <p:attrName>ppt_y</p:attrName>
                                        </p:attrNameLst>
                                      </p:cBhvr>
                                      <p:tavLst>
                                        <p:tav tm="0">
                                          <p:val>
                                            <p:strVal val="1+#ppt_h/2"/>
                                          </p:val>
                                        </p:tav>
                                        <p:tav tm="100000">
                                          <p:val>
                                            <p:strVal val="#ppt_y"/>
                                          </p:val>
                                        </p:tav>
                                      </p:tavLst>
                                    </p:anim>
                                  </p:childTnLst>
                                </p:cTn>
                              </p:par>
                              <p:par>
                                <p:cTn id="58" presetID="1" presetClass="emph" presetSubtype="2" fill="hold" nodeType="withEffect">
                                  <p:stCondLst>
                                    <p:cond delay="0"/>
                                  </p:stCondLst>
                                  <p:childTnLst>
                                    <p:animClr clrSpc="rgb" dir="cw">
                                      <p:cBhvr>
                                        <p:cTn id="59" dur="2000" fill="hold"/>
                                        <p:tgtEl>
                                          <p:spTgt spid="61"/>
                                        </p:tgtEl>
                                        <p:attrNameLst>
                                          <p:attrName>fillcolor</p:attrName>
                                        </p:attrNameLst>
                                      </p:cBhvr>
                                      <p:to>
                                        <a:srgbClr val="FF0000"/>
                                      </p:to>
                                    </p:animClr>
                                    <p:set>
                                      <p:cBhvr>
                                        <p:cTn id="60" dur="2000" fill="hold"/>
                                        <p:tgtEl>
                                          <p:spTgt spid="61"/>
                                        </p:tgtEl>
                                        <p:attrNameLst>
                                          <p:attrName>fill.type</p:attrName>
                                        </p:attrNameLst>
                                      </p:cBhvr>
                                      <p:to>
                                        <p:strVal val="solid"/>
                                      </p:to>
                                    </p:set>
                                    <p:set>
                                      <p:cBhvr>
                                        <p:cTn id="61" dur="2000" fill="hold"/>
                                        <p:tgtEl>
                                          <p:spTgt spid="61"/>
                                        </p:tgtEl>
                                        <p:attrNameLst>
                                          <p:attrName>fill.on</p:attrName>
                                        </p:attrNameLst>
                                      </p:cBhvr>
                                      <p:to>
                                        <p:strVal val="true"/>
                                      </p:to>
                                    </p:set>
                                  </p:childTnLst>
                                </p:cTn>
                              </p:par>
                              <p:par>
                                <p:cTn id="62" presetID="9" presetClass="emph" presetSubtype="0" nodeType="withEffect">
                                  <p:stCondLst>
                                    <p:cond delay="0"/>
                                  </p:stCondLst>
                                  <p:childTnLst>
                                    <p:set>
                                      <p:cBhvr rctx="PPT">
                                        <p:cTn id="63" dur="indefinite"/>
                                        <p:tgtEl>
                                          <p:spTgt spid="5"/>
                                        </p:tgtEl>
                                        <p:attrNameLst>
                                          <p:attrName>style.opacity</p:attrName>
                                        </p:attrNameLst>
                                      </p:cBhvr>
                                      <p:to>
                                        <p:strVal val="0.5"/>
                                      </p:to>
                                    </p:set>
                                    <p:animEffect filter="image" prLst="opacity: 0.5">
                                      <p:cBhvr rctx="IE">
                                        <p:cTn id="64" dur="indefinite"/>
                                        <p:tgtEl>
                                          <p:spTgt spid="5"/>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 calcmode="lin" valueType="num">
                                      <p:cBhvr additive="base">
                                        <p:cTn id="69" dur="500" fill="hold"/>
                                        <p:tgtEl>
                                          <p:spTgt spid="4"/>
                                        </p:tgtEl>
                                        <p:attrNameLst>
                                          <p:attrName>ppt_x</p:attrName>
                                        </p:attrNameLst>
                                      </p:cBhvr>
                                      <p:tavLst>
                                        <p:tav tm="0">
                                          <p:val>
                                            <p:strVal val="#ppt_x"/>
                                          </p:val>
                                        </p:tav>
                                        <p:tav tm="100000">
                                          <p:val>
                                            <p:strVal val="#ppt_x"/>
                                          </p:val>
                                        </p:tav>
                                      </p:tavLst>
                                    </p:anim>
                                    <p:anim calcmode="lin" valueType="num">
                                      <p:cBhvr additive="base">
                                        <p:cTn id="70" dur="500" fill="hold"/>
                                        <p:tgtEl>
                                          <p:spTgt spid="4"/>
                                        </p:tgtEl>
                                        <p:attrNameLst>
                                          <p:attrName>ppt_y</p:attrName>
                                        </p:attrNameLst>
                                      </p:cBhvr>
                                      <p:tavLst>
                                        <p:tav tm="0">
                                          <p:val>
                                            <p:strVal val="1+#ppt_h/2"/>
                                          </p:val>
                                        </p:tav>
                                        <p:tav tm="100000">
                                          <p:val>
                                            <p:strVal val="#ppt_y"/>
                                          </p:val>
                                        </p:tav>
                                      </p:tavLst>
                                    </p:anim>
                                  </p:childTnLst>
                                </p:cTn>
                              </p:par>
                              <p:par>
                                <p:cTn id="71" presetID="9" presetClass="emph" presetSubtype="0" nodeType="withEffect">
                                  <p:stCondLst>
                                    <p:cond delay="0"/>
                                  </p:stCondLst>
                                  <p:childTnLst>
                                    <p:set>
                                      <p:cBhvr rctx="PPT">
                                        <p:cTn id="72" dur="indefinite"/>
                                        <p:tgtEl>
                                          <p:spTgt spid="7"/>
                                        </p:tgtEl>
                                        <p:attrNameLst>
                                          <p:attrName>style.opacity</p:attrName>
                                        </p:attrNameLst>
                                      </p:cBhvr>
                                      <p:to>
                                        <p:strVal val="0.5"/>
                                      </p:to>
                                    </p:set>
                                    <p:animEffect filter="image" prLst="opacity: 0.5">
                                      <p:cBhvr rctx="IE">
                                        <p:cTn id="73" dur="indefinite"/>
                                        <p:tgtEl>
                                          <p:spTgt spid="7"/>
                                        </p:tgtEl>
                                      </p:cBhvr>
                                    </p:animEffect>
                                  </p:childTnLst>
                                </p:cTn>
                              </p:par>
                              <p:par>
                                <p:cTn id="74" presetID="1" presetClass="emph" presetSubtype="2" fill="hold" nodeType="withEffect">
                                  <p:stCondLst>
                                    <p:cond delay="0"/>
                                  </p:stCondLst>
                                  <p:childTnLst>
                                    <p:animClr clrSpc="rgb" dir="cw">
                                      <p:cBhvr>
                                        <p:cTn id="75" dur="2000" fill="hold"/>
                                        <p:tgtEl>
                                          <p:spTgt spid="65"/>
                                        </p:tgtEl>
                                        <p:attrNameLst>
                                          <p:attrName>fillcolor</p:attrName>
                                        </p:attrNameLst>
                                      </p:cBhvr>
                                      <p:to>
                                        <a:srgbClr val="FF0000"/>
                                      </p:to>
                                    </p:animClr>
                                    <p:set>
                                      <p:cBhvr>
                                        <p:cTn id="76" dur="2000" fill="hold"/>
                                        <p:tgtEl>
                                          <p:spTgt spid="65"/>
                                        </p:tgtEl>
                                        <p:attrNameLst>
                                          <p:attrName>fill.type</p:attrName>
                                        </p:attrNameLst>
                                      </p:cBhvr>
                                      <p:to>
                                        <p:strVal val="solid"/>
                                      </p:to>
                                    </p:set>
                                    <p:set>
                                      <p:cBhvr>
                                        <p:cTn id="77" dur="2000" fill="hold"/>
                                        <p:tgtEl>
                                          <p:spTgt spid="65"/>
                                        </p:tgtEl>
                                        <p:attrNameLst>
                                          <p:attrName>fill.on</p:attrName>
                                        </p:attrNameLst>
                                      </p:cBhvr>
                                      <p:to>
                                        <p:strVal val="true"/>
                                      </p:to>
                                    </p:set>
                                  </p:childTnLst>
                                </p:cTn>
                              </p:par>
                            </p:childTnLst>
                          </p:cTn>
                        </p:par>
                      </p:childTnLst>
                    </p:cTn>
                  </p:par>
                  <p:par>
                    <p:cTn id="78" fill="hold">
                      <p:stCondLst>
                        <p:cond delay="indefinite"/>
                      </p:stCondLst>
                      <p:childTnLst>
                        <p:par>
                          <p:cTn id="79" fill="hold">
                            <p:stCondLst>
                              <p:cond delay="0"/>
                            </p:stCondLst>
                            <p:childTnLst>
                              <p:par>
                                <p:cTn id="80" presetID="1" presetClass="emph" presetSubtype="2" fill="hold" nodeType="clickEffect">
                                  <p:stCondLst>
                                    <p:cond delay="0"/>
                                  </p:stCondLst>
                                  <p:childTnLst>
                                    <p:animClr clrSpc="rgb" dir="cw">
                                      <p:cBhvr>
                                        <p:cTn id="81" dur="2000" fill="hold"/>
                                        <p:tgtEl>
                                          <p:spTgt spid="64"/>
                                        </p:tgtEl>
                                        <p:attrNameLst>
                                          <p:attrName>fillcolor</p:attrName>
                                        </p:attrNameLst>
                                      </p:cBhvr>
                                      <p:to>
                                        <a:srgbClr val="FF0000"/>
                                      </p:to>
                                    </p:animClr>
                                    <p:set>
                                      <p:cBhvr>
                                        <p:cTn id="82" dur="2000" fill="hold"/>
                                        <p:tgtEl>
                                          <p:spTgt spid="64"/>
                                        </p:tgtEl>
                                        <p:attrNameLst>
                                          <p:attrName>fill.type</p:attrName>
                                        </p:attrNameLst>
                                      </p:cBhvr>
                                      <p:to>
                                        <p:strVal val="solid"/>
                                      </p:to>
                                    </p:set>
                                    <p:set>
                                      <p:cBhvr>
                                        <p:cTn id="83" dur="2000" fill="hold"/>
                                        <p:tgtEl>
                                          <p:spTgt spid="64"/>
                                        </p:tgtEl>
                                        <p:attrNameLst>
                                          <p:attrName>fill.on</p:attrName>
                                        </p:attrNameLst>
                                      </p:cBhvr>
                                      <p:to>
                                        <p:strVal val="true"/>
                                      </p:to>
                                    </p:set>
                                  </p:childTnLst>
                                </p:cTn>
                              </p:par>
                              <p:par>
                                <p:cTn id="84" presetID="1" presetClass="emph" presetSubtype="2" fill="hold" nodeType="withEffect">
                                  <p:stCondLst>
                                    <p:cond delay="0"/>
                                  </p:stCondLst>
                                  <p:childTnLst>
                                    <p:animClr clrSpc="rgb" dir="cw">
                                      <p:cBhvr>
                                        <p:cTn id="85" dur="2000" fill="hold"/>
                                        <p:tgtEl>
                                          <p:spTgt spid="63"/>
                                        </p:tgtEl>
                                        <p:attrNameLst>
                                          <p:attrName>fillcolor</p:attrName>
                                        </p:attrNameLst>
                                      </p:cBhvr>
                                      <p:to>
                                        <a:srgbClr val="FF0000"/>
                                      </p:to>
                                    </p:animClr>
                                    <p:set>
                                      <p:cBhvr>
                                        <p:cTn id="86" dur="2000" fill="hold"/>
                                        <p:tgtEl>
                                          <p:spTgt spid="63"/>
                                        </p:tgtEl>
                                        <p:attrNameLst>
                                          <p:attrName>fill.type</p:attrName>
                                        </p:attrNameLst>
                                      </p:cBhvr>
                                      <p:to>
                                        <p:strVal val="solid"/>
                                      </p:to>
                                    </p:set>
                                    <p:set>
                                      <p:cBhvr>
                                        <p:cTn id="87" dur="2000" fill="hold"/>
                                        <p:tgtEl>
                                          <p:spTgt spid="63"/>
                                        </p:tgtEl>
                                        <p:attrNameLst>
                                          <p:attrName>fill.on</p:attrName>
                                        </p:attrNameLst>
                                      </p:cBhvr>
                                      <p:to>
                                        <p:strVal val="true"/>
                                      </p:to>
                                    </p:set>
                                  </p:childTnLst>
                                </p:cTn>
                              </p:par>
                              <p:par>
                                <p:cTn id="88" presetID="1" presetClass="emph" presetSubtype="2" fill="hold" nodeType="withEffect">
                                  <p:stCondLst>
                                    <p:cond delay="0"/>
                                  </p:stCondLst>
                                  <p:childTnLst>
                                    <p:animClr clrSpc="rgb" dir="cw">
                                      <p:cBhvr>
                                        <p:cTn id="89" dur="2000" fill="hold"/>
                                        <p:tgtEl>
                                          <p:spTgt spid="62"/>
                                        </p:tgtEl>
                                        <p:attrNameLst>
                                          <p:attrName>fillcolor</p:attrName>
                                        </p:attrNameLst>
                                      </p:cBhvr>
                                      <p:to>
                                        <a:srgbClr val="FF0000"/>
                                      </p:to>
                                    </p:animClr>
                                    <p:set>
                                      <p:cBhvr>
                                        <p:cTn id="90" dur="2000" fill="hold"/>
                                        <p:tgtEl>
                                          <p:spTgt spid="62"/>
                                        </p:tgtEl>
                                        <p:attrNameLst>
                                          <p:attrName>fill.type</p:attrName>
                                        </p:attrNameLst>
                                      </p:cBhvr>
                                      <p:to>
                                        <p:strVal val="solid"/>
                                      </p:to>
                                    </p:set>
                                    <p:set>
                                      <p:cBhvr>
                                        <p:cTn id="91" dur="2000" fill="hold"/>
                                        <p:tgtEl>
                                          <p:spTgt spid="62"/>
                                        </p:tgtEl>
                                        <p:attrNameLst>
                                          <p:attrName>fill.on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23559"/>
                                        </p:tgtEl>
                                        <p:attrNameLst>
                                          <p:attrName>style.visibility</p:attrName>
                                        </p:attrNameLst>
                                      </p:cBhvr>
                                      <p:to>
                                        <p:strVal val="visible"/>
                                      </p:to>
                                    </p:set>
                                    <p:anim calcmode="lin" valueType="num">
                                      <p:cBhvr additive="base">
                                        <p:cTn id="96" dur="500" fill="hold"/>
                                        <p:tgtEl>
                                          <p:spTgt spid="23559"/>
                                        </p:tgtEl>
                                        <p:attrNameLst>
                                          <p:attrName>ppt_x</p:attrName>
                                        </p:attrNameLst>
                                      </p:cBhvr>
                                      <p:tavLst>
                                        <p:tav tm="0">
                                          <p:val>
                                            <p:strVal val="#ppt_x"/>
                                          </p:val>
                                        </p:tav>
                                        <p:tav tm="100000">
                                          <p:val>
                                            <p:strVal val="#ppt_x"/>
                                          </p:val>
                                        </p:tav>
                                      </p:tavLst>
                                    </p:anim>
                                    <p:anim calcmode="lin" valueType="num">
                                      <p:cBhvr additive="base">
                                        <p:cTn id="97"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69"/>
                                        </p:tgtEl>
                                        <p:attrNameLst>
                                          <p:attrName>style.visibility</p:attrName>
                                        </p:attrNameLst>
                                      </p:cBhvr>
                                      <p:to>
                                        <p:strVal val="visible"/>
                                      </p:to>
                                    </p:set>
                                    <p:anim calcmode="lin" valueType="num">
                                      <p:cBhvr additive="base">
                                        <p:cTn id="102" dur="500" fill="hold"/>
                                        <p:tgtEl>
                                          <p:spTgt spid="69"/>
                                        </p:tgtEl>
                                        <p:attrNameLst>
                                          <p:attrName>ppt_x</p:attrName>
                                        </p:attrNameLst>
                                      </p:cBhvr>
                                      <p:tavLst>
                                        <p:tav tm="0">
                                          <p:val>
                                            <p:strVal val="#ppt_x"/>
                                          </p:val>
                                        </p:tav>
                                        <p:tav tm="100000">
                                          <p:val>
                                            <p:strVal val="#ppt_x"/>
                                          </p:val>
                                        </p:tav>
                                      </p:tavLst>
                                    </p:anim>
                                    <p:anim calcmode="lin" valueType="num">
                                      <p:cBhvr additive="base">
                                        <p:cTn id="103"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p:bldP spid="6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投影片編號版面配置區 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Rectangle 3"/>
          <p:cNvSpPr txBox="1">
            <a:spLocks noChangeArrowheads="1"/>
          </p:cNvSpPr>
          <p:nvPr/>
        </p:nvSpPr>
        <p:spPr bwMode="auto">
          <a:xfrm>
            <a:off x="228600" y="609600"/>
            <a:ext cx="8763000" cy="1828800"/>
          </a:xfrm>
          <a:prstGeom prst="rect">
            <a:avLst/>
          </a:prstGeom>
          <a:noFill/>
          <a:ln w="9525">
            <a:solidFill>
              <a:schemeClr val="tx1"/>
            </a:solidFill>
            <a:miter lim="800000"/>
          </a:ln>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2800" b="1" kern="0" cap="none" spc="0" normalizeH="0" baseline="0" noProof="0" dirty="0" err="1">
                <a:solidFill>
                  <a:srgbClr val="3366FF"/>
                </a:solidFill>
                <a:latin typeface="+mn-lt"/>
                <a:ea typeface="+mn-ea"/>
                <a:cs typeface="+mn-cs"/>
              </a:rPr>
              <a:t>Thm</a:t>
            </a:r>
            <a:r>
              <a:rPr kumimoji="1" lang="en-US" altLang="zh-TW" sz="2800" b="1" kern="0" cap="none" spc="0" normalizeH="0" baseline="0" noProof="0" dirty="0">
                <a:solidFill>
                  <a:srgbClr val="3366FF"/>
                </a:solidFill>
                <a:latin typeface="+mn-lt"/>
                <a:ea typeface="+mn-ea"/>
                <a:cs typeface="+mn-cs"/>
              </a:rPr>
              <a:t> 4.</a:t>
            </a:r>
            <a:r>
              <a:rPr kumimoji="1" lang="en-US" altLang="zh-TW" sz="2800" kern="0" cap="none" spc="0" normalizeH="0" baseline="0" noProof="0" dirty="0">
                <a:latin typeface="+mn-lt"/>
                <a:ea typeface="+mn-ea"/>
                <a:cs typeface="+mn-cs"/>
              </a:rPr>
              <a:t> A simple graph is bipartite if and only if it is possible to assign one of two different colors to each vertex of the graph so that no two adjacent vertices are assigned the same color.</a:t>
            </a:r>
            <a:endParaRPr kumimoji="1" lang="en-US" altLang="zh-TW" sz="2800" kern="0" cap="none" spc="0" normalizeH="0" baseline="0" noProof="0" dirty="0">
              <a:latin typeface="+mn-lt"/>
              <a:ea typeface="+mn-ea"/>
              <a:cs typeface="+mn-cs"/>
            </a:endParaRPr>
          </a:p>
        </p:txBody>
      </p:sp>
      <p:sp>
        <p:nvSpPr>
          <p:cNvPr id="6" name="Rectangle 3"/>
          <p:cNvSpPr txBox="1">
            <a:spLocks noChangeArrowheads="1"/>
          </p:cNvSpPr>
          <p:nvPr/>
        </p:nvSpPr>
        <p:spPr bwMode="auto">
          <a:xfrm>
            <a:off x="228600" y="2590800"/>
            <a:ext cx="8763000" cy="609600"/>
          </a:xfrm>
          <a:prstGeom prst="rect">
            <a:avLst/>
          </a:prstGeom>
          <a:noFill/>
          <a:ln w="9525">
            <a:noFill/>
            <a:miter lim="800000"/>
          </a:ln>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2800" b="1" kern="0" cap="none" spc="0" normalizeH="0" baseline="0" noProof="0" dirty="0">
                <a:solidFill>
                  <a:srgbClr val="008000"/>
                </a:solidFill>
                <a:latin typeface="+mn-lt"/>
                <a:ea typeface="+mn-ea"/>
                <a:cs typeface="+mn-cs"/>
              </a:rPr>
              <a:t>Example 12.</a:t>
            </a:r>
            <a:r>
              <a:rPr kumimoji="1" lang="en-US" altLang="zh-TW" sz="2800" kern="0" cap="none" spc="0" normalizeH="0" baseline="0" noProof="0" dirty="0">
                <a:latin typeface="+mn-lt"/>
                <a:ea typeface="+mn-ea"/>
                <a:cs typeface="+mn-cs"/>
              </a:rPr>
              <a:t> Use </a:t>
            </a:r>
            <a:r>
              <a:rPr kumimoji="1" lang="en-US" altLang="zh-TW" sz="2800" kern="0" cap="none" spc="0" normalizeH="0" baseline="0" noProof="0" dirty="0" err="1">
                <a:latin typeface="+mn-lt"/>
                <a:ea typeface="+mn-ea"/>
                <a:cs typeface="+mn-cs"/>
              </a:rPr>
              <a:t>Thm</a:t>
            </a:r>
            <a:r>
              <a:rPr kumimoji="1" lang="en-US" altLang="zh-TW" sz="2800" kern="0" cap="none" spc="0" normalizeH="0" baseline="0" noProof="0" dirty="0">
                <a:latin typeface="+mn-lt"/>
                <a:ea typeface="+mn-ea"/>
                <a:cs typeface="+mn-cs"/>
              </a:rPr>
              <a:t> 4 to show that </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rPr>
              <a:t>G</a:t>
            </a:r>
            <a:r>
              <a:rPr kumimoji="1" lang="en-US" altLang="zh-TW" sz="2800" kern="0" cap="none" spc="0" normalizeH="0" baseline="0" noProof="0" dirty="0">
                <a:latin typeface="+mn-lt"/>
                <a:ea typeface="+mn-ea"/>
                <a:cs typeface="+mn-cs"/>
              </a:rPr>
              <a:t> is bipartite.</a:t>
            </a:r>
            <a:endParaRPr kumimoji="1" lang="en-US" altLang="zh-TW" sz="2800" kern="0" cap="none" spc="0" normalizeH="0" baseline="0" noProof="0" dirty="0">
              <a:latin typeface="+mn-lt"/>
              <a:ea typeface="+mn-ea"/>
              <a:cs typeface="+mn-cs"/>
            </a:endParaRPr>
          </a:p>
        </p:txBody>
      </p:sp>
      <p:cxnSp>
        <p:nvCxnSpPr>
          <p:cNvPr id="26629" name="AutoShape 14"/>
          <p:cNvCxnSpPr>
            <a:stCxn id="26636" idx="5"/>
            <a:endCxn id="26641" idx="1"/>
          </p:cNvCxnSpPr>
          <p:nvPr/>
        </p:nvCxnSpPr>
        <p:spPr>
          <a:xfrm rot="-5400000" flipH="1">
            <a:off x="2400300" y="3849688"/>
            <a:ext cx="490538" cy="334962"/>
          </a:xfrm>
          <a:prstGeom prst="straightConnector1">
            <a:avLst/>
          </a:prstGeom>
          <a:ln w="19050" cap="flat" cmpd="sng">
            <a:solidFill>
              <a:schemeClr val="tx1"/>
            </a:solidFill>
            <a:prstDash val="solid"/>
            <a:headEnd type="none" w="med" len="med"/>
            <a:tailEnd type="none" w="med" len="med"/>
          </a:ln>
        </p:spPr>
      </p:cxnSp>
      <p:cxnSp>
        <p:nvCxnSpPr>
          <p:cNvPr id="26630" name="AutoShape 17"/>
          <p:cNvCxnSpPr>
            <a:stCxn id="26641" idx="4"/>
            <a:endCxn id="26640" idx="0"/>
          </p:cNvCxnSpPr>
          <p:nvPr/>
        </p:nvCxnSpPr>
        <p:spPr>
          <a:xfrm rot="5400000">
            <a:off x="2490788" y="4706938"/>
            <a:ext cx="715962" cy="1587"/>
          </a:xfrm>
          <a:prstGeom prst="straightConnector1">
            <a:avLst/>
          </a:prstGeom>
          <a:ln w="19050" cap="flat" cmpd="sng">
            <a:solidFill>
              <a:schemeClr val="tx1"/>
            </a:solidFill>
            <a:prstDash val="solid"/>
            <a:headEnd type="none" w="med" len="med"/>
            <a:tailEnd type="none" w="med" len="med"/>
          </a:ln>
        </p:spPr>
      </p:cxnSp>
      <p:grpSp>
        <p:nvGrpSpPr>
          <p:cNvPr id="26631" name="群組 129"/>
          <p:cNvGrpSpPr/>
          <p:nvPr/>
        </p:nvGrpSpPr>
        <p:grpSpPr>
          <a:xfrm>
            <a:off x="1408113" y="3771900"/>
            <a:ext cx="1033462" cy="1752600"/>
            <a:chOff x="1120775" y="2111375"/>
            <a:chExt cx="1546225" cy="2613025"/>
          </a:xfrm>
        </p:grpSpPr>
        <p:cxnSp>
          <p:nvCxnSpPr>
            <p:cNvPr id="26664" name="AutoShape 15"/>
            <p:cNvCxnSpPr>
              <a:stCxn id="26636" idx="3"/>
              <a:endCxn id="26638" idx="7"/>
            </p:cNvCxnSpPr>
            <p:nvPr/>
          </p:nvCxnSpPr>
          <p:spPr>
            <a:xfrm rot="5400000">
              <a:off x="930275" y="2301875"/>
              <a:ext cx="1873250" cy="1492250"/>
            </a:xfrm>
            <a:prstGeom prst="straightConnector1">
              <a:avLst/>
            </a:prstGeom>
            <a:ln w="19050" cap="flat" cmpd="sng">
              <a:solidFill>
                <a:schemeClr val="tx1"/>
              </a:solidFill>
              <a:prstDash val="solid"/>
              <a:headEnd type="none" w="med" len="med"/>
              <a:tailEnd type="none" w="med" len="med"/>
            </a:ln>
          </p:spPr>
        </p:cxnSp>
        <p:cxnSp>
          <p:nvCxnSpPr>
            <p:cNvPr id="26665" name="AutoShape 19"/>
            <p:cNvCxnSpPr>
              <a:stCxn id="26639" idx="0"/>
              <a:endCxn id="26636" idx="4"/>
            </p:cNvCxnSpPr>
            <p:nvPr/>
          </p:nvCxnSpPr>
          <p:spPr>
            <a:xfrm rot="5400000" flipH="1" flipV="1">
              <a:off x="1143000" y="3200400"/>
              <a:ext cx="2590800" cy="457200"/>
            </a:xfrm>
            <a:prstGeom prst="straightConnector1">
              <a:avLst/>
            </a:prstGeom>
            <a:ln w="19050" cap="flat" cmpd="sng">
              <a:solidFill>
                <a:schemeClr val="tx1"/>
              </a:solidFill>
              <a:prstDash val="solid"/>
              <a:headEnd type="none" w="med" len="med"/>
              <a:tailEnd type="none" w="med" len="med"/>
            </a:ln>
          </p:spPr>
        </p:cxnSp>
      </p:grpSp>
      <p:grpSp>
        <p:nvGrpSpPr>
          <p:cNvPr id="26632" name="群組 121"/>
          <p:cNvGrpSpPr/>
          <p:nvPr/>
        </p:nvGrpSpPr>
        <p:grpSpPr>
          <a:xfrm>
            <a:off x="950913" y="3771900"/>
            <a:ext cx="1933575" cy="1766888"/>
            <a:chOff x="434975" y="2111335"/>
            <a:chExt cx="2895507" cy="2635290"/>
          </a:xfrm>
        </p:grpSpPr>
        <p:cxnSp>
          <p:nvCxnSpPr>
            <p:cNvPr id="26660" name="AutoShape 12"/>
            <p:cNvCxnSpPr>
              <a:stCxn id="26637" idx="7"/>
              <a:endCxn id="26635" idx="3"/>
            </p:cNvCxnSpPr>
            <p:nvPr/>
          </p:nvCxnSpPr>
          <p:spPr>
            <a:xfrm rot="5400000" flipH="1" flipV="1">
              <a:off x="358775" y="2187575"/>
              <a:ext cx="882650" cy="730250"/>
            </a:xfrm>
            <a:prstGeom prst="straightConnector1">
              <a:avLst/>
            </a:prstGeom>
            <a:ln w="19050" cap="flat" cmpd="sng">
              <a:solidFill>
                <a:schemeClr val="tx1"/>
              </a:solidFill>
              <a:prstDash val="solid"/>
              <a:headEnd type="none" w="med" len="med"/>
              <a:tailEnd type="none" w="med" len="med"/>
            </a:ln>
          </p:spPr>
        </p:cxnSp>
        <p:cxnSp>
          <p:nvCxnSpPr>
            <p:cNvPr id="26661" name="AutoShape 13"/>
            <p:cNvCxnSpPr>
              <a:stCxn id="26635" idx="5"/>
              <a:endCxn id="26641" idx="5"/>
            </p:cNvCxnSpPr>
            <p:nvPr/>
          </p:nvCxnSpPr>
          <p:spPr>
            <a:xfrm rot="-5400000" flipH="1">
              <a:off x="1882682" y="1501735"/>
              <a:ext cx="838200" cy="2057400"/>
            </a:xfrm>
            <a:prstGeom prst="straightConnector1">
              <a:avLst/>
            </a:prstGeom>
            <a:ln w="19050" cap="flat" cmpd="sng">
              <a:solidFill>
                <a:schemeClr val="tx1"/>
              </a:solidFill>
              <a:prstDash val="solid"/>
              <a:headEnd type="none" w="med" len="med"/>
              <a:tailEnd type="none" w="med" len="med"/>
            </a:ln>
          </p:spPr>
        </p:cxnSp>
        <p:cxnSp>
          <p:nvCxnSpPr>
            <p:cNvPr id="26662" name="AutoShape 18"/>
            <p:cNvCxnSpPr>
              <a:stCxn id="26635" idx="5"/>
              <a:endCxn id="26639" idx="1"/>
            </p:cNvCxnSpPr>
            <p:nvPr/>
          </p:nvCxnSpPr>
          <p:spPr>
            <a:xfrm rot="-5400000" flipH="1">
              <a:off x="396875" y="2987675"/>
              <a:ext cx="2635250" cy="882650"/>
            </a:xfrm>
            <a:prstGeom prst="straightConnector1">
              <a:avLst/>
            </a:prstGeom>
            <a:ln w="19050" cap="flat" cmpd="sng">
              <a:solidFill>
                <a:schemeClr val="tx1"/>
              </a:solidFill>
              <a:prstDash val="solid"/>
              <a:headEnd type="none" w="med" len="med"/>
              <a:tailEnd type="none" w="med" len="med"/>
            </a:ln>
          </p:spPr>
        </p:cxnSp>
        <p:cxnSp>
          <p:nvCxnSpPr>
            <p:cNvPr id="26663" name="AutoShape 20"/>
            <p:cNvCxnSpPr>
              <a:stCxn id="26635" idx="4"/>
              <a:endCxn id="26638" idx="0"/>
            </p:cNvCxnSpPr>
            <p:nvPr/>
          </p:nvCxnSpPr>
          <p:spPr>
            <a:xfrm rot="5400000">
              <a:off x="228600" y="2971800"/>
              <a:ext cx="1828800" cy="152400"/>
            </a:xfrm>
            <a:prstGeom prst="straightConnector1">
              <a:avLst/>
            </a:prstGeom>
            <a:ln w="19050" cap="flat" cmpd="sng">
              <a:solidFill>
                <a:schemeClr val="tx1"/>
              </a:solidFill>
              <a:prstDash val="solid"/>
              <a:headEnd type="none" w="med" len="med"/>
              <a:tailEnd type="none" w="med" len="med"/>
            </a:ln>
          </p:spPr>
        </p:cxnSp>
      </p:grpSp>
      <p:grpSp>
        <p:nvGrpSpPr>
          <p:cNvPr id="26633" name="群組 142"/>
          <p:cNvGrpSpPr/>
          <p:nvPr/>
        </p:nvGrpSpPr>
        <p:grpSpPr>
          <a:xfrm>
            <a:off x="965200" y="4400550"/>
            <a:ext cx="1847850" cy="1138238"/>
            <a:chOff x="457200" y="3048000"/>
            <a:chExt cx="2765425" cy="1698625"/>
          </a:xfrm>
        </p:grpSpPr>
        <p:cxnSp>
          <p:nvCxnSpPr>
            <p:cNvPr id="26657" name="AutoShape 16"/>
            <p:cNvCxnSpPr>
              <a:stCxn id="26637" idx="6"/>
              <a:endCxn id="26640" idx="2"/>
            </p:cNvCxnSpPr>
            <p:nvPr/>
          </p:nvCxnSpPr>
          <p:spPr>
            <a:xfrm>
              <a:off x="457200" y="3048000"/>
              <a:ext cx="2743200" cy="1066800"/>
            </a:xfrm>
            <a:prstGeom prst="straightConnector1">
              <a:avLst/>
            </a:prstGeom>
            <a:ln w="19050" cap="flat" cmpd="sng">
              <a:solidFill>
                <a:schemeClr val="tx1"/>
              </a:solidFill>
              <a:prstDash val="solid"/>
              <a:headEnd type="none" w="med" len="med"/>
              <a:tailEnd type="none" w="med" len="med"/>
            </a:ln>
          </p:spPr>
        </p:cxnSp>
        <p:cxnSp>
          <p:nvCxnSpPr>
            <p:cNvPr id="26658" name="AutoShape 22"/>
            <p:cNvCxnSpPr>
              <a:endCxn id="26640" idx="2"/>
            </p:cNvCxnSpPr>
            <p:nvPr/>
          </p:nvCxnSpPr>
          <p:spPr>
            <a:xfrm>
              <a:off x="1066800" y="4038600"/>
              <a:ext cx="2133600" cy="76200"/>
            </a:xfrm>
            <a:prstGeom prst="straightConnector1">
              <a:avLst/>
            </a:prstGeom>
            <a:ln w="19050" cap="flat" cmpd="sng">
              <a:solidFill>
                <a:schemeClr val="tx1"/>
              </a:solidFill>
              <a:prstDash val="solid"/>
              <a:headEnd type="none" w="med" len="med"/>
              <a:tailEnd type="none" w="med" len="med"/>
            </a:ln>
          </p:spPr>
        </p:cxnSp>
        <p:cxnSp>
          <p:nvCxnSpPr>
            <p:cNvPr id="26659" name="AutoShape 23"/>
            <p:cNvCxnSpPr>
              <a:stCxn id="26639" idx="7"/>
              <a:endCxn id="26640" idx="3"/>
            </p:cNvCxnSpPr>
            <p:nvPr/>
          </p:nvCxnSpPr>
          <p:spPr>
            <a:xfrm rot="5400000" flipH="1" flipV="1">
              <a:off x="2454275" y="3978275"/>
              <a:ext cx="577850" cy="958850"/>
            </a:xfrm>
            <a:prstGeom prst="straightConnector1">
              <a:avLst/>
            </a:prstGeom>
            <a:ln w="19050" cap="flat" cmpd="sng">
              <a:solidFill>
                <a:schemeClr val="tx1"/>
              </a:solidFill>
              <a:prstDash val="solid"/>
              <a:headEnd type="none" w="med" len="med"/>
              <a:tailEnd type="none" w="med" len="med"/>
            </a:ln>
          </p:spPr>
        </p:cxnSp>
      </p:grpSp>
      <p:grpSp>
        <p:nvGrpSpPr>
          <p:cNvPr id="26634" name="群組 123"/>
          <p:cNvGrpSpPr/>
          <p:nvPr/>
        </p:nvGrpSpPr>
        <p:grpSpPr>
          <a:xfrm>
            <a:off x="533400" y="3276600"/>
            <a:ext cx="2686050" cy="3287713"/>
            <a:chOff x="-189885" y="1371600"/>
            <a:chExt cx="4020830" cy="4904475"/>
          </a:xfrm>
        </p:grpSpPr>
        <p:sp>
          <p:nvSpPr>
            <p:cNvPr id="26649" name="Text Box 24"/>
            <p:cNvSpPr txBox="1"/>
            <p:nvPr/>
          </p:nvSpPr>
          <p:spPr>
            <a:xfrm>
              <a:off x="915130" y="1371600"/>
              <a:ext cx="503792" cy="6820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26650" name="Text Box 25"/>
            <p:cNvSpPr txBox="1"/>
            <p:nvPr/>
          </p:nvSpPr>
          <p:spPr>
            <a:xfrm>
              <a:off x="2514432" y="1371600"/>
              <a:ext cx="503792" cy="6820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sp>
          <p:nvSpPr>
            <p:cNvPr id="26651" name="Text Box 26"/>
            <p:cNvSpPr txBox="1"/>
            <p:nvPr/>
          </p:nvSpPr>
          <p:spPr>
            <a:xfrm>
              <a:off x="-189885" y="2619624"/>
              <a:ext cx="503792" cy="6820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endParaRPr lang="en-US" altLang="zh-TW" sz="2400" i="1" dirty="0">
                <a:latin typeface="Times New Roman" panose="02020603050405020304" pitchFamily="18" charset="0"/>
                <a:ea typeface="Times New Roman" panose="02020603050405020304" pitchFamily="18" charset="0"/>
              </a:endParaRPr>
            </a:p>
          </p:txBody>
        </p:sp>
        <p:sp>
          <p:nvSpPr>
            <p:cNvPr id="26652" name="Text Box 27"/>
            <p:cNvSpPr txBox="1"/>
            <p:nvPr/>
          </p:nvSpPr>
          <p:spPr>
            <a:xfrm>
              <a:off x="684622" y="3986057"/>
              <a:ext cx="401607" cy="6820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f</a:t>
              </a:r>
              <a:endParaRPr lang="en-US" altLang="zh-TW" sz="2400" i="1" dirty="0">
                <a:latin typeface="Times New Roman" panose="02020603050405020304" pitchFamily="18" charset="0"/>
                <a:ea typeface="Times New Roman" panose="02020603050405020304" pitchFamily="18" charset="0"/>
              </a:endParaRPr>
            </a:p>
          </p:txBody>
        </p:sp>
        <p:sp>
          <p:nvSpPr>
            <p:cNvPr id="26653" name="Text Box 28"/>
            <p:cNvSpPr txBox="1"/>
            <p:nvPr/>
          </p:nvSpPr>
          <p:spPr>
            <a:xfrm>
              <a:off x="1982123" y="4781762"/>
              <a:ext cx="477652" cy="6820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26654" name="Text Box 29"/>
            <p:cNvSpPr txBox="1"/>
            <p:nvPr/>
          </p:nvSpPr>
          <p:spPr>
            <a:xfrm>
              <a:off x="3215463" y="4227610"/>
              <a:ext cx="503792" cy="6820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26655" name="Text Box 30"/>
            <p:cNvSpPr txBox="1"/>
            <p:nvPr/>
          </p:nvSpPr>
          <p:spPr>
            <a:xfrm>
              <a:off x="3353293" y="2666988"/>
              <a:ext cx="477652" cy="6820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sp>
          <p:nvSpPr>
            <p:cNvPr id="38" name="矩形 37"/>
            <p:cNvSpPr/>
            <p:nvPr/>
          </p:nvSpPr>
          <p:spPr>
            <a:xfrm>
              <a:off x="1751616" y="5411693"/>
              <a:ext cx="715289" cy="864382"/>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32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endParaRPr kumimoji="1" lang="zh-TW" altLang="en-US" sz="1800" b="0" i="1"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grpSp>
      <p:sp>
        <p:nvSpPr>
          <p:cNvPr id="26635" name="Oval 4"/>
          <p:cNvSpPr/>
          <p:nvPr/>
        </p:nvSpPr>
        <p:spPr>
          <a:xfrm>
            <a:off x="1423988" y="3684588"/>
            <a:ext cx="101600" cy="103187"/>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6636" name="Oval 4"/>
          <p:cNvSpPr/>
          <p:nvPr/>
        </p:nvSpPr>
        <p:spPr>
          <a:xfrm>
            <a:off x="2390775" y="3684588"/>
            <a:ext cx="101600" cy="103187"/>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6637" name="Oval 4"/>
          <p:cNvSpPr/>
          <p:nvPr/>
        </p:nvSpPr>
        <p:spPr>
          <a:xfrm>
            <a:off x="863600" y="4349750"/>
            <a:ext cx="101600" cy="1016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6638" name="Oval 4"/>
          <p:cNvSpPr/>
          <p:nvPr/>
        </p:nvSpPr>
        <p:spPr>
          <a:xfrm>
            <a:off x="1322388" y="5013325"/>
            <a:ext cx="101600" cy="1016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6639" name="Oval 4"/>
          <p:cNvSpPr/>
          <p:nvPr/>
        </p:nvSpPr>
        <p:spPr>
          <a:xfrm>
            <a:off x="2084388" y="5524500"/>
            <a:ext cx="103187" cy="1016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6640" name="Oval 4"/>
          <p:cNvSpPr/>
          <p:nvPr/>
        </p:nvSpPr>
        <p:spPr>
          <a:xfrm>
            <a:off x="2797175" y="5064125"/>
            <a:ext cx="101600" cy="103188"/>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6641" name="Oval 4"/>
          <p:cNvSpPr/>
          <p:nvPr/>
        </p:nvSpPr>
        <p:spPr>
          <a:xfrm>
            <a:off x="2797175" y="4246563"/>
            <a:ext cx="101600" cy="103187"/>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48" name="Text Box 24"/>
          <p:cNvSpPr txBox="1"/>
          <p:nvPr/>
        </p:nvSpPr>
        <p:spPr>
          <a:xfrm>
            <a:off x="1033463" y="32004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olidFill>
                  <a:srgbClr val="0000CC"/>
                </a:solidFill>
                <a:latin typeface="Times New Roman" panose="02020603050405020304" pitchFamily="18" charset="0"/>
                <a:cs typeface="Times New Roman" panose="02020603050405020304" pitchFamily="18" charset="0"/>
              </a:rPr>
              <a:t>1</a:t>
            </a:r>
            <a:endParaRPr lang="en-US" altLang="zh-TW" sz="2400" dirty="0">
              <a:solidFill>
                <a:srgbClr val="0000CC"/>
              </a:solidFill>
              <a:latin typeface="Times New Roman" panose="02020603050405020304" pitchFamily="18" charset="0"/>
              <a:ea typeface="Times New Roman" panose="02020603050405020304" pitchFamily="18" charset="0"/>
            </a:endParaRPr>
          </a:p>
        </p:txBody>
      </p:sp>
      <p:sp>
        <p:nvSpPr>
          <p:cNvPr id="49" name="Text Box 24"/>
          <p:cNvSpPr txBox="1"/>
          <p:nvPr/>
        </p:nvSpPr>
        <p:spPr>
          <a:xfrm>
            <a:off x="1752600" y="54102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olidFill>
                  <a:srgbClr val="FF0000"/>
                </a:solidFill>
                <a:latin typeface="Times New Roman" panose="02020603050405020304" pitchFamily="18" charset="0"/>
                <a:cs typeface="Times New Roman" panose="02020603050405020304" pitchFamily="18" charset="0"/>
              </a:rPr>
              <a:t>2</a:t>
            </a:r>
            <a:endParaRPr lang="en-US" altLang="zh-TW" sz="2400" dirty="0">
              <a:solidFill>
                <a:srgbClr val="FF0000"/>
              </a:solidFill>
              <a:latin typeface="Times New Roman" panose="02020603050405020304" pitchFamily="18" charset="0"/>
              <a:ea typeface="Times New Roman" panose="02020603050405020304" pitchFamily="18" charset="0"/>
            </a:endParaRPr>
          </a:p>
        </p:txBody>
      </p:sp>
      <p:sp>
        <p:nvSpPr>
          <p:cNvPr id="50" name="Text Box 24"/>
          <p:cNvSpPr txBox="1"/>
          <p:nvPr/>
        </p:nvSpPr>
        <p:spPr>
          <a:xfrm>
            <a:off x="381000" y="39624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olidFill>
                  <a:srgbClr val="FF0000"/>
                </a:solidFill>
                <a:latin typeface="Times New Roman" panose="02020603050405020304" pitchFamily="18" charset="0"/>
                <a:cs typeface="Times New Roman" panose="02020603050405020304" pitchFamily="18" charset="0"/>
              </a:rPr>
              <a:t>2</a:t>
            </a:r>
            <a:endParaRPr lang="en-US" altLang="zh-TW" sz="2400" dirty="0">
              <a:solidFill>
                <a:srgbClr val="FF0000"/>
              </a:solidFill>
              <a:latin typeface="Times New Roman" panose="02020603050405020304" pitchFamily="18" charset="0"/>
              <a:ea typeface="Times New Roman" panose="02020603050405020304" pitchFamily="18" charset="0"/>
            </a:endParaRPr>
          </a:p>
        </p:txBody>
      </p:sp>
      <p:sp>
        <p:nvSpPr>
          <p:cNvPr id="51" name="Text Box 24"/>
          <p:cNvSpPr txBox="1"/>
          <p:nvPr/>
        </p:nvSpPr>
        <p:spPr>
          <a:xfrm>
            <a:off x="914400" y="48006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olidFill>
                  <a:srgbClr val="FF0000"/>
                </a:solidFill>
                <a:latin typeface="Times New Roman" panose="02020603050405020304" pitchFamily="18" charset="0"/>
                <a:cs typeface="Times New Roman" panose="02020603050405020304" pitchFamily="18" charset="0"/>
              </a:rPr>
              <a:t>2</a:t>
            </a:r>
            <a:endParaRPr lang="en-US" altLang="zh-TW" sz="2400" dirty="0">
              <a:solidFill>
                <a:srgbClr val="FF0000"/>
              </a:solidFill>
              <a:latin typeface="Times New Roman" panose="02020603050405020304" pitchFamily="18" charset="0"/>
              <a:ea typeface="Times New Roman" panose="02020603050405020304" pitchFamily="18" charset="0"/>
            </a:endParaRPr>
          </a:p>
        </p:txBody>
      </p:sp>
      <p:sp>
        <p:nvSpPr>
          <p:cNvPr id="52" name="Text Box 24"/>
          <p:cNvSpPr txBox="1"/>
          <p:nvPr/>
        </p:nvSpPr>
        <p:spPr>
          <a:xfrm>
            <a:off x="3048000" y="38862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olidFill>
                  <a:srgbClr val="FF0000"/>
                </a:solidFill>
                <a:latin typeface="Times New Roman" panose="02020603050405020304" pitchFamily="18" charset="0"/>
                <a:cs typeface="Times New Roman" panose="02020603050405020304" pitchFamily="18" charset="0"/>
              </a:rPr>
              <a:t>2</a:t>
            </a:r>
            <a:endParaRPr lang="en-US" altLang="zh-TW" sz="2400" dirty="0">
              <a:solidFill>
                <a:srgbClr val="FF0000"/>
              </a:solidFill>
              <a:latin typeface="Times New Roman" panose="02020603050405020304" pitchFamily="18" charset="0"/>
              <a:ea typeface="Times New Roman" panose="02020603050405020304" pitchFamily="18" charset="0"/>
            </a:endParaRPr>
          </a:p>
        </p:txBody>
      </p:sp>
      <p:sp>
        <p:nvSpPr>
          <p:cNvPr id="53" name="Text Box 24"/>
          <p:cNvSpPr txBox="1"/>
          <p:nvPr/>
        </p:nvSpPr>
        <p:spPr>
          <a:xfrm>
            <a:off x="2133600" y="32004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olidFill>
                  <a:srgbClr val="0000CC"/>
                </a:solidFill>
                <a:latin typeface="Times New Roman" panose="02020603050405020304" pitchFamily="18" charset="0"/>
                <a:cs typeface="Times New Roman" panose="02020603050405020304" pitchFamily="18" charset="0"/>
              </a:rPr>
              <a:t>1</a:t>
            </a:r>
            <a:endParaRPr lang="en-US" altLang="zh-TW" sz="2400" dirty="0">
              <a:solidFill>
                <a:srgbClr val="0000CC"/>
              </a:solidFill>
              <a:latin typeface="Times New Roman" panose="02020603050405020304" pitchFamily="18" charset="0"/>
              <a:ea typeface="Times New Roman" panose="02020603050405020304" pitchFamily="18" charset="0"/>
            </a:endParaRPr>
          </a:p>
        </p:txBody>
      </p:sp>
      <p:sp>
        <p:nvSpPr>
          <p:cNvPr id="54" name="Text Box 24"/>
          <p:cNvSpPr txBox="1"/>
          <p:nvPr/>
        </p:nvSpPr>
        <p:spPr>
          <a:xfrm>
            <a:off x="2971800" y="48768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olidFill>
                  <a:srgbClr val="0000CC"/>
                </a:solidFill>
                <a:latin typeface="Times New Roman" panose="02020603050405020304" pitchFamily="18" charset="0"/>
                <a:cs typeface="Times New Roman" panose="02020603050405020304" pitchFamily="18" charset="0"/>
              </a:rPr>
              <a:t>1</a:t>
            </a:r>
            <a:endParaRPr lang="en-US" altLang="zh-TW" sz="2400" dirty="0">
              <a:solidFill>
                <a:srgbClr val="0000CC"/>
              </a:solidFill>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
                                        </p:tgtEl>
                                        <p:attrNameLst>
                                          <p:attrName>style.visibility</p:attrName>
                                        </p:attrNameLst>
                                      </p:cBhvr>
                                      <p:to>
                                        <p:strVal val="visible"/>
                                      </p:to>
                                    </p:set>
                                    <p:anim calcmode="lin" valueType="num">
                                      <p:cBhvr additive="base">
                                        <p:cTn id="13" dur="500" fill="hold"/>
                                        <p:tgtEl>
                                          <p:spTgt spid="52"/>
                                        </p:tgtEl>
                                        <p:attrNameLst>
                                          <p:attrName>ppt_x</p:attrName>
                                        </p:attrNameLst>
                                      </p:cBhvr>
                                      <p:tavLst>
                                        <p:tav tm="0">
                                          <p:val>
                                            <p:strVal val="#ppt_x"/>
                                          </p:val>
                                        </p:tav>
                                        <p:tav tm="100000">
                                          <p:val>
                                            <p:strVal val="#ppt_x"/>
                                          </p:val>
                                        </p:tav>
                                      </p:tavLst>
                                    </p:anim>
                                    <p:anim calcmode="lin" valueType="num">
                                      <p:cBhvr additive="base">
                                        <p:cTn id="14"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ppt_x"/>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500" fill="hold"/>
                                        <p:tgtEl>
                                          <p:spTgt spid="51"/>
                                        </p:tgtEl>
                                        <p:attrNameLst>
                                          <p:attrName>ppt_x</p:attrName>
                                        </p:attrNameLst>
                                      </p:cBhvr>
                                      <p:tavLst>
                                        <p:tav tm="0">
                                          <p:val>
                                            <p:strVal val="#ppt_x"/>
                                          </p:val>
                                        </p:tav>
                                        <p:tav tm="100000">
                                          <p:val>
                                            <p:strVal val="#ppt_x"/>
                                          </p:val>
                                        </p:tav>
                                      </p:tavLst>
                                    </p:anim>
                                    <p:anim calcmode="lin" valueType="num">
                                      <p:cBhvr additive="base">
                                        <p:cTn id="26"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fill="hold"/>
                                        <p:tgtEl>
                                          <p:spTgt spid="53"/>
                                        </p:tgtEl>
                                        <p:attrNameLst>
                                          <p:attrName>ppt_x</p:attrName>
                                        </p:attrNameLst>
                                      </p:cBhvr>
                                      <p:tavLst>
                                        <p:tav tm="0">
                                          <p:val>
                                            <p:strVal val="#ppt_x"/>
                                          </p:val>
                                        </p:tav>
                                        <p:tav tm="100000">
                                          <p:val>
                                            <p:strVal val="#ppt_x"/>
                                          </p:val>
                                        </p:tav>
                                      </p:tavLst>
                                    </p:anim>
                                    <p:anim calcmode="lin" valueType="num">
                                      <p:cBhvr additive="base">
                                        <p:cTn id="3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anim calcmode="lin" valueType="num">
                                      <p:cBhvr additive="base">
                                        <p:cTn id="43" dur="500" fill="hold"/>
                                        <p:tgtEl>
                                          <p:spTgt spid="54"/>
                                        </p:tgtEl>
                                        <p:attrNameLst>
                                          <p:attrName>ppt_x</p:attrName>
                                        </p:attrNameLst>
                                      </p:cBhvr>
                                      <p:tavLst>
                                        <p:tav tm="0">
                                          <p:val>
                                            <p:strVal val="#ppt_x"/>
                                          </p:val>
                                        </p:tav>
                                        <p:tav tm="100000">
                                          <p:val>
                                            <p:strVal val="#ppt_x"/>
                                          </p:val>
                                        </p:tav>
                                      </p:tavLst>
                                    </p:anim>
                                    <p:anim calcmode="lin" valueType="num">
                                      <p:cBhvr additive="base">
                                        <p:cTn id="4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P spid="5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4"/>
          <p:cNvSpPr>
            <a:spLocks noGrp="1"/>
          </p:cNvSpPr>
          <p:nvPr>
            <p:ph idx="1"/>
          </p:nvPr>
        </p:nvSpPr>
        <p:spPr>
          <a:xfrm>
            <a:off x="0" y="533400"/>
            <a:ext cx="8839200" cy="609600"/>
          </a:xfrm>
        </p:spPr>
        <p:txBody>
          <a:bodyPr vert="horz" wrap="square" lIns="91440" tIns="45720" rIns="91440" bIns="45720" anchor="t"/>
          <a:p>
            <a:pPr eaLnBrk="1" hangingPunct="1"/>
            <a:r>
              <a:rPr lang="en-US" altLang="zh-TW" dirty="0"/>
              <a:t>Example 13. Complete Bipartite graphs (</a:t>
            </a:r>
            <a:r>
              <a:rPr lang="en-US" altLang="zh-TW" i="1" dirty="0">
                <a:latin typeface="Times New Roman" panose="02020603050405020304" pitchFamily="18" charset="0"/>
                <a:cs typeface="Times New Roman" panose="02020603050405020304" pitchFamily="18" charset="0"/>
              </a:rPr>
              <a:t>K</a:t>
            </a:r>
            <a:r>
              <a:rPr lang="en-US" altLang="zh-TW" i="1" baseline="-25000" dirty="0">
                <a:latin typeface="Times New Roman" panose="02020603050405020304" pitchFamily="18" charset="0"/>
                <a:cs typeface="Times New Roman" panose="02020603050405020304" pitchFamily="18" charset="0"/>
              </a:rPr>
              <a:t>m,n</a:t>
            </a:r>
            <a:r>
              <a:rPr lang="en-US" altLang="zh-TW" dirty="0"/>
              <a:t>)</a:t>
            </a:r>
            <a:endParaRPr lang="en-US" altLang="zh-TW" dirty="0"/>
          </a:p>
        </p:txBody>
      </p:sp>
      <p:cxnSp>
        <p:nvCxnSpPr>
          <p:cNvPr id="27651" name="AutoShape 11"/>
          <p:cNvCxnSpPr>
            <a:stCxn id="27669" idx="3"/>
            <a:endCxn id="27671" idx="7"/>
          </p:cNvCxnSpPr>
          <p:nvPr/>
        </p:nvCxnSpPr>
        <p:spPr>
          <a:xfrm rot="5400000">
            <a:off x="358775" y="1654175"/>
            <a:ext cx="958850" cy="806450"/>
          </a:xfrm>
          <a:prstGeom prst="straightConnector1">
            <a:avLst/>
          </a:prstGeom>
          <a:ln w="9525" cap="flat" cmpd="sng">
            <a:solidFill>
              <a:schemeClr val="tx1"/>
            </a:solidFill>
            <a:prstDash val="solid"/>
            <a:headEnd type="none" w="med" len="med"/>
            <a:tailEnd type="none" w="med" len="med"/>
          </a:ln>
        </p:spPr>
      </p:cxnSp>
      <p:cxnSp>
        <p:nvCxnSpPr>
          <p:cNvPr id="27652" name="AutoShape 12"/>
          <p:cNvCxnSpPr>
            <a:stCxn id="27669" idx="4"/>
            <a:endCxn id="27672" idx="5"/>
          </p:cNvCxnSpPr>
          <p:nvPr/>
        </p:nvCxnSpPr>
        <p:spPr>
          <a:xfrm rot="-5400000" flipH="1">
            <a:off x="1028700" y="1866900"/>
            <a:ext cx="1044575" cy="511175"/>
          </a:xfrm>
          <a:prstGeom prst="straightConnector1">
            <a:avLst/>
          </a:prstGeom>
          <a:ln w="9525" cap="flat" cmpd="sng">
            <a:solidFill>
              <a:schemeClr val="tx1"/>
            </a:solidFill>
            <a:prstDash val="solid"/>
            <a:headEnd type="none" w="med" len="med"/>
            <a:tailEnd type="none" w="med" len="med"/>
          </a:ln>
        </p:spPr>
      </p:cxnSp>
      <p:cxnSp>
        <p:nvCxnSpPr>
          <p:cNvPr id="27653" name="AutoShape 13"/>
          <p:cNvCxnSpPr>
            <a:stCxn id="27670" idx="3"/>
            <a:endCxn id="27671" idx="7"/>
          </p:cNvCxnSpPr>
          <p:nvPr/>
        </p:nvCxnSpPr>
        <p:spPr>
          <a:xfrm rot="5400000">
            <a:off x="968375" y="1044575"/>
            <a:ext cx="958850" cy="2025650"/>
          </a:xfrm>
          <a:prstGeom prst="straightConnector1">
            <a:avLst/>
          </a:prstGeom>
          <a:ln w="9525" cap="flat" cmpd="sng">
            <a:solidFill>
              <a:schemeClr val="tx1"/>
            </a:solidFill>
            <a:prstDash val="solid"/>
            <a:headEnd type="none" w="med" len="med"/>
            <a:tailEnd type="none" w="med" len="med"/>
          </a:ln>
        </p:spPr>
      </p:cxnSp>
      <p:cxnSp>
        <p:nvCxnSpPr>
          <p:cNvPr id="27654" name="AutoShape 14"/>
          <p:cNvCxnSpPr>
            <a:stCxn id="27669" idx="5"/>
            <a:endCxn id="27673" idx="1"/>
          </p:cNvCxnSpPr>
          <p:nvPr/>
        </p:nvCxnSpPr>
        <p:spPr>
          <a:xfrm rot="-5400000" flipH="1">
            <a:off x="1692275" y="1235075"/>
            <a:ext cx="958850" cy="1644650"/>
          </a:xfrm>
          <a:prstGeom prst="straightConnector1">
            <a:avLst/>
          </a:prstGeom>
          <a:ln w="9525" cap="flat" cmpd="sng">
            <a:solidFill>
              <a:schemeClr val="tx1"/>
            </a:solidFill>
            <a:prstDash val="solid"/>
            <a:headEnd type="none" w="med" len="med"/>
            <a:tailEnd type="none" w="med" len="med"/>
          </a:ln>
        </p:spPr>
      </p:cxnSp>
      <p:cxnSp>
        <p:nvCxnSpPr>
          <p:cNvPr id="27655" name="AutoShape 15"/>
          <p:cNvCxnSpPr>
            <a:stCxn id="27670" idx="4"/>
            <a:endCxn id="27672" idx="7"/>
          </p:cNvCxnSpPr>
          <p:nvPr/>
        </p:nvCxnSpPr>
        <p:spPr>
          <a:xfrm rot="5400000">
            <a:off x="1692275" y="1714500"/>
            <a:ext cx="936625" cy="708025"/>
          </a:xfrm>
          <a:prstGeom prst="straightConnector1">
            <a:avLst/>
          </a:prstGeom>
          <a:ln w="9525" cap="flat" cmpd="sng">
            <a:solidFill>
              <a:schemeClr val="tx1"/>
            </a:solidFill>
            <a:prstDash val="solid"/>
            <a:headEnd type="none" w="med" len="med"/>
            <a:tailEnd type="none" w="med" len="med"/>
          </a:ln>
        </p:spPr>
      </p:cxnSp>
      <p:cxnSp>
        <p:nvCxnSpPr>
          <p:cNvPr id="27656" name="AutoShape 16"/>
          <p:cNvCxnSpPr>
            <a:stCxn id="27670" idx="1"/>
            <a:endCxn id="27673" idx="0"/>
          </p:cNvCxnSpPr>
          <p:nvPr/>
        </p:nvCxnSpPr>
        <p:spPr>
          <a:xfrm rot="-5400000" flipH="1">
            <a:off x="2232025" y="1698625"/>
            <a:ext cx="1044575" cy="587375"/>
          </a:xfrm>
          <a:prstGeom prst="straightConnector1">
            <a:avLst/>
          </a:prstGeom>
          <a:ln w="9525" cap="flat" cmpd="sng">
            <a:solidFill>
              <a:schemeClr val="tx1"/>
            </a:solidFill>
            <a:prstDash val="solid"/>
            <a:headEnd type="none" w="med" len="med"/>
            <a:tailEnd type="none" w="med" len="med"/>
          </a:ln>
        </p:spPr>
      </p:cxnSp>
      <p:cxnSp>
        <p:nvCxnSpPr>
          <p:cNvPr id="27657" name="AutoShape 23"/>
          <p:cNvCxnSpPr>
            <a:stCxn id="27674" idx="4"/>
            <a:endCxn id="27675" idx="0"/>
          </p:cNvCxnSpPr>
          <p:nvPr/>
        </p:nvCxnSpPr>
        <p:spPr>
          <a:xfrm rot="5400000">
            <a:off x="4421188" y="2133600"/>
            <a:ext cx="1065212" cy="1588"/>
          </a:xfrm>
          <a:prstGeom prst="straightConnector1">
            <a:avLst/>
          </a:prstGeom>
          <a:ln w="9525" cap="flat" cmpd="sng">
            <a:solidFill>
              <a:schemeClr val="tx1"/>
            </a:solidFill>
            <a:prstDash val="solid"/>
            <a:headEnd type="none" w="med" len="med"/>
            <a:tailEnd type="none" w="med" len="med"/>
          </a:ln>
        </p:spPr>
      </p:cxnSp>
      <p:cxnSp>
        <p:nvCxnSpPr>
          <p:cNvPr id="27658" name="AutoShape 24"/>
          <p:cNvCxnSpPr>
            <a:stCxn id="27674" idx="5"/>
            <a:endCxn id="27677" idx="1"/>
          </p:cNvCxnSpPr>
          <p:nvPr/>
        </p:nvCxnSpPr>
        <p:spPr>
          <a:xfrm rot="-5400000" flipH="1">
            <a:off x="5006975" y="1577975"/>
            <a:ext cx="1111250" cy="1111250"/>
          </a:xfrm>
          <a:prstGeom prst="straightConnector1">
            <a:avLst/>
          </a:prstGeom>
          <a:ln w="9525" cap="flat" cmpd="sng">
            <a:solidFill>
              <a:schemeClr val="tx1"/>
            </a:solidFill>
            <a:prstDash val="solid"/>
            <a:headEnd type="none" w="med" len="med"/>
            <a:tailEnd type="none" w="med" len="med"/>
          </a:ln>
        </p:spPr>
      </p:cxnSp>
      <p:cxnSp>
        <p:nvCxnSpPr>
          <p:cNvPr id="27659" name="AutoShape 25"/>
          <p:cNvCxnSpPr>
            <a:stCxn id="27676" idx="4"/>
            <a:endCxn id="27675" idx="3"/>
          </p:cNvCxnSpPr>
          <p:nvPr/>
        </p:nvCxnSpPr>
        <p:spPr>
          <a:xfrm rot="5400000">
            <a:off x="4937125" y="1562100"/>
            <a:ext cx="1196975" cy="1273175"/>
          </a:xfrm>
          <a:prstGeom prst="straightConnector1">
            <a:avLst/>
          </a:prstGeom>
          <a:ln w="9525" cap="flat" cmpd="sng">
            <a:solidFill>
              <a:schemeClr val="tx1"/>
            </a:solidFill>
            <a:prstDash val="solid"/>
            <a:headEnd type="none" w="med" len="med"/>
            <a:tailEnd type="none" w="med" len="med"/>
          </a:ln>
        </p:spPr>
      </p:cxnSp>
      <p:cxnSp>
        <p:nvCxnSpPr>
          <p:cNvPr id="27660" name="AutoShape 26"/>
          <p:cNvCxnSpPr>
            <a:stCxn id="27676" idx="5"/>
            <a:endCxn id="27678" idx="5"/>
          </p:cNvCxnSpPr>
          <p:nvPr/>
        </p:nvCxnSpPr>
        <p:spPr>
          <a:xfrm rot="-5400000" flipH="1">
            <a:off x="6226175" y="1577975"/>
            <a:ext cx="1219200" cy="1219200"/>
          </a:xfrm>
          <a:prstGeom prst="straightConnector1">
            <a:avLst/>
          </a:prstGeom>
          <a:ln w="9525" cap="flat" cmpd="sng">
            <a:solidFill>
              <a:schemeClr val="tx1"/>
            </a:solidFill>
            <a:prstDash val="solid"/>
            <a:headEnd type="none" w="med" len="med"/>
            <a:tailEnd type="none" w="med" len="med"/>
          </a:ln>
        </p:spPr>
      </p:cxnSp>
      <p:cxnSp>
        <p:nvCxnSpPr>
          <p:cNvPr id="27661" name="AutoShape 27"/>
          <p:cNvCxnSpPr>
            <a:endCxn id="27677" idx="3"/>
          </p:cNvCxnSpPr>
          <p:nvPr/>
        </p:nvCxnSpPr>
        <p:spPr>
          <a:xfrm rot="5400000">
            <a:off x="6118225" y="1600200"/>
            <a:ext cx="1196975" cy="1196975"/>
          </a:xfrm>
          <a:prstGeom prst="straightConnector1">
            <a:avLst/>
          </a:prstGeom>
          <a:ln w="9525" cap="flat" cmpd="sng">
            <a:solidFill>
              <a:schemeClr val="tx1"/>
            </a:solidFill>
            <a:prstDash val="solid"/>
            <a:headEnd type="none" w="med" len="med"/>
            <a:tailEnd type="none" w="med" len="med"/>
          </a:ln>
        </p:spPr>
      </p:cxnSp>
      <p:cxnSp>
        <p:nvCxnSpPr>
          <p:cNvPr id="27662" name="AutoShape 28"/>
          <p:cNvCxnSpPr>
            <a:endCxn id="27678" idx="0"/>
          </p:cNvCxnSpPr>
          <p:nvPr/>
        </p:nvCxnSpPr>
        <p:spPr>
          <a:xfrm rot="-5400000" flipH="1">
            <a:off x="6819900" y="2095500"/>
            <a:ext cx="1066800" cy="76200"/>
          </a:xfrm>
          <a:prstGeom prst="straightConnector1">
            <a:avLst/>
          </a:prstGeom>
          <a:ln w="9525" cap="flat" cmpd="sng">
            <a:solidFill>
              <a:schemeClr val="tx1"/>
            </a:solidFill>
            <a:prstDash val="solid"/>
            <a:headEnd type="none" w="med" len="med"/>
            <a:tailEnd type="none" w="med" len="med"/>
          </a:ln>
        </p:spPr>
      </p:cxnSp>
      <p:cxnSp>
        <p:nvCxnSpPr>
          <p:cNvPr id="27663" name="AutoShape 29"/>
          <p:cNvCxnSpPr>
            <a:stCxn id="27676" idx="4"/>
            <a:endCxn id="27677" idx="0"/>
          </p:cNvCxnSpPr>
          <p:nvPr/>
        </p:nvCxnSpPr>
        <p:spPr>
          <a:xfrm rot="5400000">
            <a:off x="5640388" y="2133600"/>
            <a:ext cx="1065212" cy="1588"/>
          </a:xfrm>
          <a:prstGeom prst="straightConnector1">
            <a:avLst/>
          </a:prstGeom>
          <a:ln w="9525" cap="flat" cmpd="sng">
            <a:solidFill>
              <a:schemeClr val="tx1"/>
            </a:solidFill>
            <a:prstDash val="solid"/>
            <a:headEnd type="none" w="med" len="med"/>
            <a:tailEnd type="none" w="med" len="med"/>
          </a:ln>
        </p:spPr>
      </p:cxnSp>
      <p:cxnSp>
        <p:nvCxnSpPr>
          <p:cNvPr id="27664" name="AutoShape 30"/>
          <p:cNvCxnSpPr>
            <a:stCxn id="27674" idx="6"/>
            <a:endCxn id="27678" idx="2"/>
          </p:cNvCxnSpPr>
          <p:nvPr/>
        </p:nvCxnSpPr>
        <p:spPr>
          <a:xfrm>
            <a:off x="5029200" y="1524000"/>
            <a:ext cx="2286000" cy="1219200"/>
          </a:xfrm>
          <a:prstGeom prst="straightConnector1">
            <a:avLst/>
          </a:prstGeom>
          <a:ln w="9525" cap="flat" cmpd="sng">
            <a:solidFill>
              <a:schemeClr val="tx1"/>
            </a:solidFill>
            <a:prstDash val="solid"/>
            <a:headEnd type="none" w="med" len="med"/>
            <a:tailEnd type="none" w="med" len="med"/>
          </a:ln>
        </p:spPr>
      </p:cxnSp>
      <p:cxnSp>
        <p:nvCxnSpPr>
          <p:cNvPr id="27665" name="AutoShape 31"/>
          <p:cNvCxnSpPr>
            <a:endCxn id="27675" idx="3"/>
          </p:cNvCxnSpPr>
          <p:nvPr/>
        </p:nvCxnSpPr>
        <p:spPr>
          <a:xfrm rot="5400000">
            <a:off x="5470525" y="1006475"/>
            <a:ext cx="1219200" cy="2362200"/>
          </a:xfrm>
          <a:prstGeom prst="straightConnector1">
            <a:avLst/>
          </a:prstGeom>
          <a:ln w="9525" cap="flat" cmpd="sng">
            <a:solidFill>
              <a:schemeClr val="tx1"/>
            </a:solidFill>
            <a:prstDash val="solid"/>
            <a:headEnd type="none" w="med" len="med"/>
            <a:tailEnd type="none" w="med" len="med"/>
          </a:ln>
        </p:spPr>
      </p:cxnSp>
      <p:sp>
        <p:nvSpPr>
          <p:cNvPr id="27666" name="Text Box 32"/>
          <p:cNvSpPr txBox="1"/>
          <p:nvPr/>
        </p:nvSpPr>
        <p:spPr>
          <a:xfrm>
            <a:off x="1371600" y="2895600"/>
            <a:ext cx="72231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K</a:t>
            </a:r>
            <a:r>
              <a:rPr lang="en-US" altLang="zh-TW" sz="2800" baseline="-25000" dirty="0">
                <a:latin typeface="Times New Roman" panose="02020603050405020304" pitchFamily="18" charset="0"/>
                <a:cs typeface="Times New Roman" panose="02020603050405020304" pitchFamily="18" charset="0"/>
              </a:rPr>
              <a:t>2,3</a:t>
            </a:r>
            <a:endParaRPr lang="en-US" altLang="zh-TW" sz="2800" baseline="-25000" dirty="0">
              <a:latin typeface="Times New Roman" panose="02020603050405020304" pitchFamily="18" charset="0"/>
              <a:ea typeface="Times New Roman" panose="02020603050405020304" pitchFamily="18" charset="0"/>
            </a:endParaRPr>
          </a:p>
        </p:txBody>
      </p:sp>
      <p:sp>
        <p:nvSpPr>
          <p:cNvPr id="27667" name="Text Box 33"/>
          <p:cNvSpPr txBox="1"/>
          <p:nvPr/>
        </p:nvSpPr>
        <p:spPr>
          <a:xfrm>
            <a:off x="5943600" y="2971800"/>
            <a:ext cx="72231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K</a:t>
            </a:r>
            <a:r>
              <a:rPr lang="en-US" altLang="zh-TW" sz="2800" baseline="-25000" dirty="0">
                <a:latin typeface="Times New Roman" panose="02020603050405020304" pitchFamily="18" charset="0"/>
                <a:cs typeface="Times New Roman" panose="02020603050405020304" pitchFamily="18" charset="0"/>
              </a:rPr>
              <a:t>3,3</a:t>
            </a:r>
            <a:endParaRPr lang="en-US" altLang="zh-TW" sz="2800" baseline="-25000" dirty="0">
              <a:latin typeface="Times New Roman" panose="02020603050405020304" pitchFamily="18" charset="0"/>
              <a:ea typeface="Times New Roman" panose="02020603050405020304" pitchFamily="18" charset="0"/>
            </a:endParaRPr>
          </a:p>
        </p:txBody>
      </p:sp>
      <p:sp>
        <p:nvSpPr>
          <p:cNvPr id="24608" name="Text Box 34"/>
          <p:cNvSpPr txBox="1">
            <a:spLocks noChangeArrowheads="1"/>
          </p:cNvSpPr>
          <p:nvPr/>
        </p:nvSpPr>
        <p:spPr bwMode="auto">
          <a:xfrm>
            <a:off x="533400" y="4343400"/>
            <a:ext cx="7239000" cy="1077913"/>
          </a:xfrm>
          <a:prstGeom prst="rect">
            <a:avLst/>
          </a:prstGeom>
          <a:noFill/>
          <a:ln w="9525">
            <a:solidFill>
              <a:schemeClr val="tx1"/>
            </a:solidFill>
            <a:miter lim="800000"/>
          </a:ln>
        </p:spPr>
        <p:txBody>
          <a:bodyPr>
            <a:spAutoFit/>
          </a:bodyPr>
          <a:lstStyle/>
          <a:p>
            <a:pPr marR="0" defTabSz="914400">
              <a:buClrTx/>
              <a:buSzTx/>
              <a:buFontTx/>
              <a:buNone/>
              <a:defRPr/>
            </a:pPr>
            <a:r>
              <a:rPr kumimoji="1" lang="en-US" altLang="zh-TW" sz="3200" kern="1200" cap="none" spc="0" normalizeH="0" baseline="0" noProof="0" dirty="0">
                <a:latin typeface="Arial" panose="020B0604020202020204" pitchFamily="34" charset="0"/>
                <a:ea typeface="PMingLiU" pitchFamily="18" charset="-120"/>
                <a:cs typeface="+mn-cs"/>
              </a:rPr>
              <a:t>Note. </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32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K</a:t>
            </a:r>
            <a:r>
              <a:rPr kumimoji="1" lang="en-US" altLang="zh-TW" sz="32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m,n</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 = </a:t>
            </a:r>
            <a:r>
              <a:rPr kumimoji="1" lang="en-US" altLang="zh-TW" sz="32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m+n</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E</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32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K</a:t>
            </a:r>
            <a:r>
              <a:rPr kumimoji="1" lang="en-US" altLang="zh-TW" sz="32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m,n</a:t>
            </a:r>
            <a:r>
              <a:rPr kumimoji="1" lang="en-US" altLang="zh-TW" sz="3200" kern="1200" cap="none" spc="0" normalizeH="0" baseline="0" noProof="0" dirty="0">
                <a:latin typeface="Times New Roman" panose="02020603050405020304" pitchFamily="18" charset="0"/>
                <a:ea typeface="PMingLiU" pitchFamily="18" charset="-120"/>
                <a:cs typeface="Times New Roman" panose="02020603050405020304" pitchFamily="18" charset="0"/>
              </a:rPr>
              <a:t>)| = </a:t>
            </a:r>
            <a:r>
              <a:rPr kumimoji="1" lang="en-US" altLang="zh-TW" sz="32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mn</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b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b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3200" i="1" kern="1200" cap="none" spc="0" normalizeH="0" baseline="0" noProof="0" dirty="0" err="1">
                <a:latin typeface="Times New Roman" panose="02020603050405020304" pitchFamily="18" charset="0"/>
                <a:ea typeface="PMingLiU" pitchFamily="18" charset="-120"/>
                <a:cs typeface="Times New Roman" panose="02020603050405020304" pitchFamily="18" charset="0"/>
              </a:rPr>
              <a:t>K</a:t>
            </a:r>
            <a:r>
              <a:rPr kumimoji="1" lang="en-US" altLang="zh-TW" sz="3200" i="1" kern="1200" cap="none" spc="0" normalizeH="0" baseline="-25000" noProof="0" dirty="0" err="1">
                <a:latin typeface="Times New Roman" panose="02020603050405020304" pitchFamily="18" charset="0"/>
                <a:ea typeface="PMingLiU" pitchFamily="18" charset="-120"/>
                <a:cs typeface="Times New Roman" panose="02020603050405020304" pitchFamily="18" charset="0"/>
              </a:rPr>
              <a:t>m,n</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3200" kern="1200" cap="none" spc="0" normalizeH="0" baseline="0" noProof="0" dirty="0">
                <a:latin typeface="+mj-lt"/>
                <a:ea typeface="PMingLiU" pitchFamily="18" charset="-120"/>
                <a:cs typeface="Times New Roman" panose="02020603050405020304" pitchFamily="18" charset="0"/>
              </a:rPr>
              <a:t>is regular if and only if </a:t>
            </a:r>
            <a:r>
              <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rPr>
              <a:t>m=n.</a:t>
            </a:r>
            <a:endParaRPr kumimoji="1" lang="en-US" altLang="zh-TW" sz="3200" i="1" kern="1200" cap="none" spc="0" normalizeH="0" baseline="0" noProof="0" dirty="0">
              <a:latin typeface="Times New Roman" panose="02020603050405020304" pitchFamily="18" charset="0"/>
              <a:ea typeface="PMingLiU" pitchFamily="18" charset="-120"/>
              <a:cs typeface="Times New Roman" panose="02020603050405020304" pitchFamily="18" charset="0"/>
            </a:endParaRPr>
          </a:p>
        </p:txBody>
      </p:sp>
      <p:sp>
        <p:nvSpPr>
          <p:cNvPr id="27669" name="Oval 4"/>
          <p:cNvSpPr/>
          <p:nvPr/>
        </p:nvSpPr>
        <p:spPr>
          <a:xfrm>
            <a:off x="12192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0" name="Oval 4"/>
          <p:cNvSpPr/>
          <p:nvPr/>
        </p:nvSpPr>
        <p:spPr>
          <a:xfrm>
            <a:off x="24384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1" name="Oval 4"/>
          <p:cNvSpPr/>
          <p:nvPr/>
        </p:nvSpPr>
        <p:spPr>
          <a:xfrm>
            <a:off x="304800" y="2514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2" name="Oval 4"/>
          <p:cNvSpPr/>
          <p:nvPr/>
        </p:nvSpPr>
        <p:spPr>
          <a:xfrm>
            <a:off x="1676400" y="2514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3" name="Oval 4"/>
          <p:cNvSpPr/>
          <p:nvPr/>
        </p:nvSpPr>
        <p:spPr>
          <a:xfrm>
            <a:off x="2971800" y="2514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4" name="Oval 4"/>
          <p:cNvSpPr/>
          <p:nvPr/>
        </p:nvSpPr>
        <p:spPr>
          <a:xfrm>
            <a:off x="48768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5" name="Oval 4"/>
          <p:cNvSpPr/>
          <p:nvPr/>
        </p:nvSpPr>
        <p:spPr>
          <a:xfrm>
            <a:off x="4876800" y="2667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6" name="Oval 4"/>
          <p:cNvSpPr/>
          <p:nvPr/>
        </p:nvSpPr>
        <p:spPr>
          <a:xfrm>
            <a:off x="60960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7" name="Oval 4"/>
          <p:cNvSpPr/>
          <p:nvPr/>
        </p:nvSpPr>
        <p:spPr>
          <a:xfrm>
            <a:off x="6096000" y="2667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8" name="Oval 4"/>
          <p:cNvSpPr/>
          <p:nvPr/>
        </p:nvSpPr>
        <p:spPr>
          <a:xfrm>
            <a:off x="7315200" y="2667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79" name="Oval 4"/>
          <p:cNvSpPr/>
          <p:nvPr/>
        </p:nvSpPr>
        <p:spPr>
          <a:xfrm>
            <a:off x="72390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7680" name="投影片編號版面配置區 32"/>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608"/>
                                        </p:tgtEl>
                                        <p:attrNameLst>
                                          <p:attrName>style.visibility</p:attrName>
                                        </p:attrNameLst>
                                      </p:cBhvr>
                                      <p:to>
                                        <p:strVal val="visible"/>
                                      </p:to>
                                    </p:set>
                                    <p:anim calcmode="lin" valueType="num">
                                      <p:cBhvr additive="base">
                                        <p:cTn id="7" dur="500" fill="hold"/>
                                        <p:tgtEl>
                                          <p:spTgt spid="24608"/>
                                        </p:tgtEl>
                                        <p:attrNameLst>
                                          <p:attrName>ppt_x</p:attrName>
                                        </p:attrNameLst>
                                      </p:cBhvr>
                                      <p:tavLst>
                                        <p:tav tm="0">
                                          <p:val>
                                            <p:strVal val="#ppt_x"/>
                                          </p:val>
                                        </p:tav>
                                        <p:tav tm="100000">
                                          <p:val>
                                            <p:strVal val="#ppt_x"/>
                                          </p:val>
                                        </p:tav>
                                      </p:tavLst>
                                    </p:anim>
                                    <p:anim calcmode="lin" valueType="num">
                                      <p:cBhvr additive="base">
                                        <p:cTn id="8" dur="500" fill="hold"/>
                                        <p:tgtEl>
                                          <p:spTgt spid="246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3" name="Rectangle 3"/>
          <p:cNvSpPr>
            <a:spLocks noGrp="1"/>
          </p:cNvSpPr>
          <p:nvPr>
            <p:ph idx="1"/>
          </p:nvPr>
        </p:nvSpPr>
        <p:spPr>
          <a:xfrm>
            <a:off x="152400" y="2895600"/>
            <a:ext cx="8229600" cy="609600"/>
          </a:xfrm>
        </p:spPr>
        <p:txBody>
          <a:bodyPr vert="horz" wrap="square" lIns="91440" tIns="45720" rIns="91440" bIns="45720" anchor="t"/>
          <a:p>
            <a:pPr eaLnBrk="1" hangingPunct="1">
              <a:buNone/>
            </a:pPr>
            <a:r>
              <a:rPr lang="en-US" altLang="zh-TW" b="1" dirty="0">
                <a:solidFill>
                  <a:srgbClr val="008000"/>
                </a:solidFill>
              </a:rPr>
              <a:t>Example 14.</a:t>
            </a:r>
            <a:r>
              <a:rPr lang="en-US" altLang="zh-TW" dirty="0"/>
              <a:t> A subgraph of </a:t>
            </a:r>
            <a:r>
              <a:rPr lang="en-US" altLang="zh-TW" i="1" dirty="0">
                <a:latin typeface="Times New Roman" panose="02020603050405020304" pitchFamily="18" charset="0"/>
                <a:cs typeface="Times New Roman" panose="02020603050405020304" pitchFamily="18" charset="0"/>
              </a:rPr>
              <a:t>K</a:t>
            </a:r>
            <a:r>
              <a:rPr lang="en-US" altLang="zh-TW" baseline="-25000" dirty="0">
                <a:latin typeface="Times New Roman" panose="02020603050405020304" pitchFamily="18" charset="0"/>
                <a:cs typeface="Times New Roman" panose="02020603050405020304" pitchFamily="18" charset="0"/>
              </a:rPr>
              <a:t>5</a:t>
            </a:r>
            <a:endParaRPr lang="en-US" altLang="zh-TW" baseline="-25000" dirty="0">
              <a:latin typeface="Times New Roman" panose="02020603050405020304" pitchFamily="18" charset="0"/>
              <a:ea typeface="Times New Roman" panose="02020603050405020304" pitchFamily="18" charset="0"/>
            </a:endParaRPr>
          </a:p>
        </p:txBody>
      </p:sp>
      <p:sp>
        <p:nvSpPr>
          <p:cNvPr id="28675" name="Text Box 31"/>
          <p:cNvSpPr txBox="1"/>
          <p:nvPr/>
        </p:nvSpPr>
        <p:spPr>
          <a:xfrm>
            <a:off x="228600" y="1219200"/>
            <a:ext cx="8763000" cy="15541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FF0000"/>
                </a:solidFill>
              </a:rPr>
              <a:t>Def 6.</a:t>
            </a:r>
            <a:r>
              <a:rPr lang="en-US" altLang="zh-TW" dirty="0"/>
              <a:t>   A </a:t>
            </a:r>
            <a:r>
              <a:rPr lang="en-US" altLang="zh-TW" dirty="0">
                <a:solidFill>
                  <a:srgbClr val="0000CC"/>
                </a:solidFill>
              </a:rPr>
              <a:t>subgraph</a:t>
            </a:r>
            <a:r>
              <a:rPr lang="en-US" altLang="zh-TW" dirty="0"/>
              <a:t> of a graph </a:t>
            </a:r>
            <a:r>
              <a:rPr lang="en-US" altLang="zh-TW" i="1" dirty="0">
                <a:latin typeface="Times New Roman" panose="02020603050405020304" pitchFamily="18" charset="0"/>
                <a:cs typeface="Times New Roman" panose="02020603050405020304" pitchFamily="18" charset="0"/>
              </a:rPr>
              <a:t>G</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 </a:t>
            </a:r>
            <a:r>
              <a:rPr lang="en-US" altLang="zh-TW" dirty="0"/>
              <a:t>is a </a:t>
            </a:r>
            <a:endParaRPr lang="en-US" altLang="zh-TW" dirty="0"/>
          </a:p>
          <a:p>
            <a:pPr marL="0" lvl="0" indent="0" eaLnBrk="1" hangingPunct="1">
              <a:spcBef>
                <a:spcPct val="0"/>
              </a:spcBef>
              <a:buClrTx/>
              <a:buSzPct val="100000"/>
              <a:buNone/>
            </a:pPr>
            <a:r>
              <a:rPr lang="en-US" altLang="zh-TW" dirty="0"/>
              <a:t>            graph </a:t>
            </a:r>
            <a:r>
              <a:rPr lang="en-US" altLang="zh-TW" i="1" dirty="0">
                <a:latin typeface="Times New Roman" panose="02020603050405020304" pitchFamily="18" charset="0"/>
                <a:cs typeface="Times New Roman" panose="02020603050405020304" pitchFamily="18" charset="0"/>
              </a:rPr>
              <a:t>H</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W</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F</a:t>
            </a:r>
            <a:r>
              <a:rPr lang="en-US" altLang="zh-TW" dirty="0">
                <a:latin typeface="Times New Roman" panose="02020603050405020304" pitchFamily="18" charset="0"/>
                <a:cs typeface="Times New Roman" panose="02020603050405020304" pitchFamily="18" charset="0"/>
              </a:rPr>
              <a:t>) </a:t>
            </a:r>
            <a:r>
              <a:rPr lang="en-US" altLang="zh-TW" dirty="0"/>
              <a:t>where </a:t>
            </a:r>
            <a:r>
              <a:rPr lang="en-US" altLang="zh-TW" i="1" dirty="0">
                <a:latin typeface="Times New Roman" panose="02020603050405020304" pitchFamily="18" charset="0"/>
                <a:cs typeface="Times New Roman" panose="02020603050405020304" pitchFamily="18" charset="0"/>
              </a:rPr>
              <a:t>W</a:t>
            </a:r>
            <a:r>
              <a:rPr lang="en-US" altLang="zh-TW" dirty="0"/>
              <a:t> </a:t>
            </a:r>
            <a:r>
              <a:rPr lang="en-US" altLang="zh-TW" dirty="0">
                <a:sym typeface="Symbol" panose="05050102010706020507" pitchFamily="18" charset="2"/>
              </a:rPr>
              <a:t>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TW" dirty="0">
                <a:sym typeface="Symbol" panose="05050102010706020507" pitchFamily="18" charset="2"/>
              </a:rPr>
              <a:t> and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TW" dirty="0">
                <a:sym typeface="Symbol" panose="05050102010706020507" pitchFamily="18" charset="2"/>
              </a:rPr>
              <a:t> 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TW" dirty="0">
                <a:sym typeface="Symbol" panose="05050102010706020507" pitchFamily="18" charset="2"/>
              </a:rPr>
              <a:t>.</a:t>
            </a:r>
            <a:endParaRPr lang="en-US" altLang="zh-TW" dirty="0">
              <a:sym typeface="Symbol" panose="05050102010706020507" pitchFamily="18" charset="2"/>
            </a:endParaRPr>
          </a:p>
          <a:p>
            <a:pPr marL="0" lvl="0" indent="0" eaLnBrk="1" hangingPunct="1">
              <a:spcBef>
                <a:spcPct val="0"/>
              </a:spcBef>
              <a:buClrTx/>
              <a:buSzPct val="100000"/>
              <a:buNone/>
            </a:pPr>
            <a:r>
              <a:rPr lang="en-US" altLang="zh-TW" dirty="0">
                <a:sym typeface="Symbol" panose="05050102010706020507" pitchFamily="18" charset="2"/>
              </a:rPr>
              <a:t>            </a:t>
            </a:r>
            <a:endParaRPr lang="en-US" altLang="zh-TW" dirty="0">
              <a:sym typeface="Symbol" panose="05050102010706020507" pitchFamily="18" charset="2"/>
            </a:endParaRPr>
          </a:p>
        </p:txBody>
      </p:sp>
      <p:grpSp>
        <p:nvGrpSpPr>
          <p:cNvPr id="2" name="群組 118"/>
          <p:cNvGrpSpPr/>
          <p:nvPr/>
        </p:nvGrpSpPr>
        <p:grpSpPr>
          <a:xfrm>
            <a:off x="914400" y="3429000"/>
            <a:ext cx="2825750" cy="3063875"/>
            <a:chOff x="914400" y="3429000"/>
            <a:chExt cx="2825750" cy="3063935"/>
          </a:xfrm>
        </p:grpSpPr>
        <p:grpSp>
          <p:nvGrpSpPr>
            <p:cNvPr id="28695" name="Group 63"/>
            <p:cNvGrpSpPr/>
            <p:nvPr/>
          </p:nvGrpSpPr>
          <p:grpSpPr>
            <a:xfrm>
              <a:off x="914400" y="3429000"/>
              <a:ext cx="2825750" cy="2570163"/>
              <a:chOff x="182" y="887"/>
              <a:chExt cx="1780" cy="1619"/>
            </a:xfrm>
          </p:grpSpPr>
          <p:cxnSp>
            <p:nvCxnSpPr>
              <p:cNvPr id="28702" name="AutoShape 32"/>
              <p:cNvCxnSpPr>
                <a:stCxn id="28697" idx="3"/>
                <a:endCxn id="28698" idx="3"/>
              </p:cNvCxnSpPr>
              <p:nvPr/>
            </p:nvCxnSpPr>
            <p:spPr>
              <a:xfrm rot="5400000">
                <a:off x="436" y="1161"/>
                <a:ext cx="480" cy="672"/>
              </a:xfrm>
              <a:prstGeom prst="straightConnector1">
                <a:avLst/>
              </a:prstGeom>
              <a:ln w="9525" cap="flat" cmpd="sng">
                <a:solidFill>
                  <a:schemeClr val="tx1"/>
                </a:solidFill>
                <a:prstDash val="solid"/>
                <a:headEnd type="none" w="med" len="med"/>
                <a:tailEnd type="none" w="med" len="med"/>
              </a:ln>
            </p:spPr>
          </p:cxnSp>
          <p:cxnSp>
            <p:nvCxnSpPr>
              <p:cNvPr id="28703" name="AutoShape 34"/>
              <p:cNvCxnSpPr>
                <a:stCxn id="28698" idx="4"/>
                <a:endCxn id="28699" idx="1"/>
              </p:cNvCxnSpPr>
              <p:nvPr/>
            </p:nvCxnSpPr>
            <p:spPr>
              <a:xfrm rot="-5400000" flipH="1">
                <a:off x="230" y="1895"/>
                <a:ext cx="590" cy="302"/>
              </a:xfrm>
              <a:prstGeom prst="straightConnector1">
                <a:avLst/>
              </a:prstGeom>
              <a:ln w="9525" cap="flat" cmpd="sng">
                <a:solidFill>
                  <a:schemeClr val="tx1"/>
                </a:solidFill>
                <a:prstDash val="solid"/>
                <a:headEnd type="none" w="med" len="med"/>
                <a:tailEnd type="none" w="med" len="med"/>
              </a:ln>
            </p:spPr>
          </p:cxnSp>
          <p:cxnSp>
            <p:nvCxnSpPr>
              <p:cNvPr id="28704" name="AutoShape 35"/>
              <p:cNvCxnSpPr>
                <a:stCxn id="28697" idx="7"/>
                <a:endCxn id="28699" idx="4"/>
              </p:cNvCxnSpPr>
              <p:nvPr/>
            </p:nvCxnSpPr>
            <p:spPr>
              <a:xfrm rot="-5400000" flipH="1" flipV="1">
                <a:off x="278" y="1621"/>
                <a:ext cx="1234" cy="370"/>
              </a:xfrm>
              <a:prstGeom prst="straightConnector1">
                <a:avLst/>
              </a:prstGeom>
              <a:ln w="9525" cap="flat" cmpd="sng">
                <a:solidFill>
                  <a:schemeClr val="tx1"/>
                </a:solidFill>
                <a:prstDash val="solid"/>
                <a:headEnd type="none" w="med" len="med"/>
                <a:tailEnd type="none" w="med" len="med"/>
              </a:ln>
            </p:spPr>
          </p:cxnSp>
          <p:cxnSp>
            <p:nvCxnSpPr>
              <p:cNvPr id="28705" name="AutoShape 36"/>
              <p:cNvCxnSpPr>
                <a:stCxn id="28697" idx="4"/>
                <a:endCxn id="28700" idx="1"/>
              </p:cNvCxnSpPr>
              <p:nvPr/>
            </p:nvCxnSpPr>
            <p:spPr>
              <a:xfrm rot="-5400000" flipH="1">
                <a:off x="734" y="1583"/>
                <a:ext cx="1070" cy="446"/>
              </a:xfrm>
              <a:prstGeom prst="straightConnector1">
                <a:avLst/>
              </a:prstGeom>
              <a:ln w="9525" cap="flat" cmpd="sng">
                <a:solidFill>
                  <a:schemeClr val="tx1"/>
                </a:solidFill>
                <a:prstDash val="solid"/>
                <a:headEnd type="none" w="med" len="med"/>
                <a:tailEnd type="none" w="med" len="med"/>
              </a:ln>
            </p:spPr>
          </p:cxnSp>
          <p:cxnSp>
            <p:nvCxnSpPr>
              <p:cNvPr id="28706" name="AutoShape 37"/>
              <p:cNvCxnSpPr>
                <a:stCxn id="28697" idx="5"/>
                <a:endCxn id="28701" idx="1"/>
              </p:cNvCxnSpPr>
              <p:nvPr/>
            </p:nvCxnSpPr>
            <p:spPr>
              <a:xfrm rot="-5400000" flipH="1">
                <a:off x="1224" y="1113"/>
                <a:ext cx="412" cy="700"/>
              </a:xfrm>
              <a:prstGeom prst="straightConnector1">
                <a:avLst/>
              </a:prstGeom>
              <a:ln w="9525" cap="flat" cmpd="sng">
                <a:solidFill>
                  <a:schemeClr val="tx1"/>
                </a:solidFill>
                <a:prstDash val="solid"/>
                <a:headEnd type="none" w="med" len="med"/>
                <a:tailEnd type="none" w="med" len="med"/>
              </a:ln>
            </p:spPr>
          </p:cxnSp>
          <p:cxnSp>
            <p:nvCxnSpPr>
              <p:cNvPr id="28707" name="AutoShape 38"/>
              <p:cNvCxnSpPr>
                <a:stCxn id="28701" idx="3"/>
                <a:endCxn id="28700" idx="7"/>
              </p:cNvCxnSpPr>
              <p:nvPr/>
            </p:nvCxnSpPr>
            <p:spPr>
              <a:xfrm rot="5400000">
                <a:off x="1368" y="1929"/>
                <a:ext cx="604" cy="220"/>
              </a:xfrm>
              <a:prstGeom prst="straightConnector1">
                <a:avLst/>
              </a:prstGeom>
              <a:ln w="9525" cap="flat" cmpd="sng">
                <a:solidFill>
                  <a:schemeClr val="tx1"/>
                </a:solidFill>
                <a:prstDash val="solid"/>
                <a:headEnd type="none" w="med" len="med"/>
                <a:tailEnd type="none" w="med" len="med"/>
              </a:ln>
            </p:spPr>
          </p:cxnSp>
          <p:cxnSp>
            <p:nvCxnSpPr>
              <p:cNvPr id="28708" name="AutoShape 39"/>
              <p:cNvCxnSpPr>
                <a:stCxn id="28698" idx="6"/>
                <a:endCxn id="28701" idx="6"/>
              </p:cNvCxnSpPr>
              <p:nvPr/>
            </p:nvCxnSpPr>
            <p:spPr>
              <a:xfrm>
                <a:off x="422" y="1703"/>
                <a:ext cx="1440" cy="1"/>
              </a:xfrm>
              <a:prstGeom prst="straightConnector1">
                <a:avLst/>
              </a:prstGeom>
              <a:ln w="9525" cap="flat" cmpd="sng">
                <a:solidFill>
                  <a:schemeClr val="tx1"/>
                </a:solidFill>
                <a:prstDash val="solid"/>
                <a:headEnd type="none" w="med" len="med"/>
                <a:tailEnd type="none" w="med" len="med"/>
              </a:ln>
            </p:spPr>
          </p:cxnSp>
          <p:cxnSp>
            <p:nvCxnSpPr>
              <p:cNvPr id="28709" name="AutoShape 40"/>
              <p:cNvCxnSpPr>
                <a:stCxn id="28698" idx="5"/>
                <a:endCxn id="28700" idx="1"/>
              </p:cNvCxnSpPr>
              <p:nvPr/>
            </p:nvCxnSpPr>
            <p:spPr>
              <a:xfrm rot="-5400000" flipH="1">
                <a:off x="648" y="1497"/>
                <a:ext cx="604" cy="1084"/>
              </a:xfrm>
              <a:prstGeom prst="straightConnector1">
                <a:avLst/>
              </a:prstGeom>
              <a:ln w="9525" cap="flat" cmpd="sng">
                <a:solidFill>
                  <a:schemeClr val="tx1"/>
                </a:solidFill>
                <a:prstDash val="solid"/>
                <a:headEnd type="none" w="med" len="med"/>
                <a:tailEnd type="none" w="med" len="med"/>
              </a:ln>
            </p:spPr>
          </p:cxnSp>
          <p:cxnSp>
            <p:nvCxnSpPr>
              <p:cNvPr id="28710" name="AutoShape 41"/>
              <p:cNvCxnSpPr>
                <a:stCxn id="28701" idx="3"/>
                <a:endCxn id="28699" idx="3"/>
              </p:cNvCxnSpPr>
              <p:nvPr/>
            </p:nvCxnSpPr>
            <p:spPr>
              <a:xfrm rot="5400000">
                <a:off x="892" y="1521"/>
                <a:ext cx="672" cy="1104"/>
              </a:xfrm>
              <a:prstGeom prst="straightConnector1">
                <a:avLst/>
              </a:prstGeom>
              <a:ln w="9525" cap="flat" cmpd="sng">
                <a:solidFill>
                  <a:schemeClr val="tx1"/>
                </a:solidFill>
                <a:prstDash val="solid"/>
                <a:headEnd type="none" w="med" len="med"/>
                <a:tailEnd type="none" w="med" len="med"/>
              </a:ln>
            </p:spPr>
          </p:cxnSp>
          <p:cxnSp>
            <p:nvCxnSpPr>
              <p:cNvPr id="28711" name="AutoShape 42"/>
              <p:cNvCxnSpPr>
                <a:stCxn id="28699" idx="6"/>
                <a:endCxn id="28700" idx="2"/>
              </p:cNvCxnSpPr>
              <p:nvPr/>
            </p:nvCxnSpPr>
            <p:spPr>
              <a:xfrm>
                <a:off x="758" y="2375"/>
                <a:ext cx="720" cy="1"/>
              </a:xfrm>
              <a:prstGeom prst="straightConnector1">
                <a:avLst/>
              </a:prstGeom>
              <a:ln w="9525" cap="flat" cmpd="sng">
                <a:solidFill>
                  <a:schemeClr val="tx1"/>
                </a:solidFill>
                <a:prstDash val="solid"/>
                <a:headEnd type="none" w="med" len="med"/>
                <a:tailEnd type="none" w="med" len="med"/>
              </a:ln>
            </p:spPr>
          </p:cxnSp>
          <p:sp>
            <p:nvSpPr>
              <p:cNvPr id="28712" name="Text Box 58"/>
              <p:cNvSpPr txBox="1"/>
              <p:nvPr/>
            </p:nvSpPr>
            <p:spPr>
              <a:xfrm>
                <a:off x="950" y="887"/>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28713" name="Text Box 59"/>
              <p:cNvSpPr txBox="1"/>
              <p:nvPr/>
            </p:nvSpPr>
            <p:spPr>
              <a:xfrm>
                <a:off x="1766" y="1319"/>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28714" name="Text Box 60"/>
              <p:cNvSpPr txBox="1"/>
              <p:nvPr/>
            </p:nvSpPr>
            <p:spPr>
              <a:xfrm>
                <a:off x="1574" y="2231"/>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28715" name="Text Box 61"/>
              <p:cNvSpPr txBox="1"/>
              <p:nvPr/>
            </p:nvSpPr>
            <p:spPr>
              <a:xfrm>
                <a:off x="432" y="2256"/>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28716" name="Text Box 62"/>
              <p:cNvSpPr txBox="1"/>
              <p:nvPr/>
            </p:nvSpPr>
            <p:spPr>
              <a:xfrm>
                <a:off x="182" y="1367"/>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grpSp>
        <p:sp>
          <p:nvSpPr>
            <p:cNvPr id="28696" name="Rectangle 69"/>
            <p:cNvSpPr/>
            <p:nvPr/>
          </p:nvSpPr>
          <p:spPr>
            <a:xfrm>
              <a:off x="2209800" y="6096052"/>
              <a:ext cx="436563" cy="39688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K</a:t>
              </a:r>
              <a:r>
                <a:rPr lang="en-US" altLang="zh-TW" sz="2000" baseline="-25000" dirty="0">
                  <a:latin typeface="Times New Roman" panose="02020603050405020304" pitchFamily="18" charset="0"/>
                  <a:cs typeface="Times New Roman" panose="02020603050405020304" pitchFamily="18" charset="0"/>
                </a:rPr>
                <a:t>5</a:t>
              </a:r>
              <a:endParaRPr lang="en-US" altLang="zh-TW" sz="2000" baseline="-25000" dirty="0">
                <a:latin typeface="Times New Roman" panose="02020603050405020304" pitchFamily="18" charset="0"/>
                <a:ea typeface="Times New Roman" panose="02020603050405020304" pitchFamily="18" charset="0"/>
              </a:endParaRPr>
            </a:p>
          </p:txBody>
        </p:sp>
        <p:sp>
          <p:nvSpPr>
            <p:cNvPr id="28697" name="Oval 4"/>
            <p:cNvSpPr/>
            <p:nvPr/>
          </p:nvSpPr>
          <p:spPr>
            <a:xfrm>
              <a:off x="2209800" y="3886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8698" name="Oval 4"/>
            <p:cNvSpPr/>
            <p:nvPr/>
          </p:nvSpPr>
          <p:spPr>
            <a:xfrm>
              <a:off x="1143000" y="4648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8699" name="Oval 4"/>
            <p:cNvSpPr/>
            <p:nvPr/>
          </p:nvSpPr>
          <p:spPr>
            <a:xfrm>
              <a:off x="1676400" y="57150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8700" name="Oval 4"/>
            <p:cNvSpPr/>
            <p:nvPr/>
          </p:nvSpPr>
          <p:spPr>
            <a:xfrm>
              <a:off x="2971800" y="57150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8701" name="Oval 4"/>
            <p:cNvSpPr/>
            <p:nvPr/>
          </p:nvSpPr>
          <p:spPr>
            <a:xfrm>
              <a:off x="3429000" y="4648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grpSp>
      <p:grpSp>
        <p:nvGrpSpPr>
          <p:cNvPr id="4" name="群組 119"/>
          <p:cNvGrpSpPr/>
          <p:nvPr/>
        </p:nvGrpSpPr>
        <p:grpSpPr>
          <a:xfrm>
            <a:off x="4953000" y="3505200"/>
            <a:ext cx="2825750" cy="2911475"/>
            <a:chOff x="4953000" y="3505200"/>
            <a:chExt cx="2825750" cy="2911535"/>
          </a:xfrm>
        </p:grpSpPr>
        <p:sp>
          <p:nvSpPr>
            <p:cNvPr id="28680" name="Rectangle 70"/>
            <p:cNvSpPr/>
            <p:nvPr/>
          </p:nvSpPr>
          <p:spPr>
            <a:xfrm>
              <a:off x="5562600" y="6019852"/>
              <a:ext cx="1704975" cy="39688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buNone/>
              </a:pPr>
              <a:r>
                <a:rPr lang="en-US" altLang="zh-TW" sz="2000" dirty="0">
                  <a:latin typeface="Times New Roman" panose="02020603050405020304" pitchFamily="18" charset="0"/>
                  <a:cs typeface="Times New Roman" panose="02020603050405020304" pitchFamily="18" charset="0"/>
                </a:rPr>
                <a:t>subgraph of </a:t>
              </a:r>
              <a:r>
                <a:rPr lang="en-US" altLang="zh-TW" sz="2000" i="1" dirty="0">
                  <a:latin typeface="Times New Roman" panose="02020603050405020304" pitchFamily="18" charset="0"/>
                  <a:cs typeface="Times New Roman" panose="02020603050405020304" pitchFamily="18" charset="0"/>
                </a:rPr>
                <a:t>K</a:t>
              </a:r>
              <a:r>
                <a:rPr lang="en-US" altLang="zh-TW" sz="2000" baseline="-25000" dirty="0">
                  <a:latin typeface="Times New Roman" panose="02020603050405020304" pitchFamily="18" charset="0"/>
                  <a:cs typeface="Times New Roman" panose="02020603050405020304" pitchFamily="18" charset="0"/>
                </a:rPr>
                <a:t>5</a:t>
              </a:r>
              <a:endParaRPr lang="en-US" altLang="zh-TW" sz="2000" baseline="-25000" dirty="0">
                <a:latin typeface="Times New Roman" panose="02020603050405020304" pitchFamily="18" charset="0"/>
                <a:ea typeface="Times New Roman" panose="02020603050405020304" pitchFamily="18" charset="0"/>
              </a:endParaRPr>
            </a:p>
          </p:txBody>
        </p:sp>
        <p:grpSp>
          <p:nvGrpSpPr>
            <p:cNvPr id="28681" name="Group 63"/>
            <p:cNvGrpSpPr/>
            <p:nvPr/>
          </p:nvGrpSpPr>
          <p:grpSpPr>
            <a:xfrm>
              <a:off x="4953000" y="3505200"/>
              <a:ext cx="2825750" cy="2530475"/>
              <a:chOff x="182" y="887"/>
              <a:chExt cx="1780" cy="1594"/>
            </a:xfrm>
          </p:grpSpPr>
          <p:cxnSp>
            <p:nvCxnSpPr>
              <p:cNvPr id="28686" name="AutoShape 32"/>
              <p:cNvCxnSpPr>
                <a:stCxn id="28682" idx="3"/>
                <a:endCxn id="28683" idx="3"/>
              </p:cNvCxnSpPr>
              <p:nvPr/>
            </p:nvCxnSpPr>
            <p:spPr>
              <a:xfrm rot="5400000">
                <a:off x="436" y="1161"/>
                <a:ext cx="480" cy="672"/>
              </a:xfrm>
              <a:prstGeom prst="straightConnector1">
                <a:avLst/>
              </a:prstGeom>
              <a:ln w="9525" cap="flat" cmpd="sng">
                <a:solidFill>
                  <a:schemeClr val="tx1"/>
                </a:solidFill>
                <a:prstDash val="solid"/>
                <a:headEnd type="none" w="med" len="med"/>
                <a:tailEnd type="none" w="med" len="med"/>
              </a:ln>
            </p:spPr>
          </p:cxnSp>
          <p:cxnSp>
            <p:nvCxnSpPr>
              <p:cNvPr id="28687" name="AutoShape 36"/>
              <p:cNvCxnSpPr>
                <a:stCxn id="28682" idx="4"/>
                <a:endCxn id="28684" idx="1"/>
              </p:cNvCxnSpPr>
              <p:nvPr/>
            </p:nvCxnSpPr>
            <p:spPr>
              <a:xfrm rot="-5400000" flipH="1">
                <a:off x="734" y="1583"/>
                <a:ext cx="1070" cy="446"/>
              </a:xfrm>
              <a:prstGeom prst="straightConnector1">
                <a:avLst/>
              </a:prstGeom>
              <a:ln w="9525" cap="flat" cmpd="sng">
                <a:solidFill>
                  <a:schemeClr val="tx1"/>
                </a:solidFill>
                <a:prstDash val="solid"/>
                <a:headEnd type="none" w="med" len="med"/>
                <a:tailEnd type="none" w="med" len="med"/>
              </a:ln>
            </p:spPr>
          </p:cxnSp>
          <p:cxnSp>
            <p:nvCxnSpPr>
              <p:cNvPr id="28688" name="AutoShape 37"/>
              <p:cNvCxnSpPr>
                <a:stCxn id="28682" idx="5"/>
                <a:endCxn id="28685" idx="1"/>
              </p:cNvCxnSpPr>
              <p:nvPr/>
            </p:nvCxnSpPr>
            <p:spPr>
              <a:xfrm rot="-5400000" flipH="1">
                <a:off x="1224" y="1113"/>
                <a:ext cx="412" cy="700"/>
              </a:xfrm>
              <a:prstGeom prst="straightConnector1">
                <a:avLst/>
              </a:prstGeom>
              <a:ln w="9525" cap="flat" cmpd="sng">
                <a:solidFill>
                  <a:schemeClr val="tx1"/>
                </a:solidFill>
                <a:prstDash val="solid"/>
                <a:headEnd type="none" w="med" len="med"/>
                <a:tailEnd type="none" w="med" len="med"/>
              </a:ln>
            </p:spPr>
          </p:cxnSp>
          <p:cxnSp>
            <p:nvCxnSpPr>
              <p:cNvPr id="28689" name="AutoShape 38"/>
              <p:cNvCxnSpPr>
                <a:stCxn id="28685" idx="3"/>
                <a:endCxn id="28684" idx="7"/>
              </p:cNvCxnSpPr>
              <p:nvPr/>
            </p:nvCxnSpPr>
            <p:spPr>
              <a:xfrm rot="5400000">
                <a:off x="1368" y="1929"/>
                <a:ext cx="604" cy="220"/>
              </a:xfrm>
              <a:prstGeom prst="straightConnector1">
                <a:avLst/>
              </a:prstGeom>
              <a:ln w="9525" cap="flat" cmpd="sng">
                <a:solidFill>
                  <a:schemeClr val="tx1"/>
                </a:solidFill>
                <a:prstDash val="solid"/>
                <a:headEnd type="none" w="med" len="med"/>
                <a:tailEnd type="none" w="med" len="med"/>
              </a:ln>
            </p:spPr>
          </p:cxnSp>
          <p:cxnSp>
            <p:nvCxnSpPr>
              <p:cNvPr id="28690" name="AutoShape 39"/>
              <p:cNvCxnSpPr>
                <a:stCxn id="28683" idx="6"/>
                <a:endCxn id="28685" idx="6"/>
              </p:cNvCxnSpPr>
              <p:nvPr/>
            </p:nvCxnSpPr>
            <p:spPr>
              <a:xfrm>
                <a:off x="422" y="1703"/>
                <a:ext cx="1440" cy="1"/>
              </a:xfrm>
              <a:prstGeom prst="straightConnector1">
                <a:avLst/>
              </a:prstGeom>
              <a:ln w="9525" cap="flat" cmpd="sng">
                <a:solidFill>
                  <a:schemeClr val="tx1"/>
                </a:solidFill>
                <a:prstDash val="solid"/>
                <a:headEnd type="none" w="med" len="med"/>
                <a:tailEnd type="none" w="med" len="med"/>
              </a:ln>
            </p:spPr>
          </p:cxnSp>
          <p:sp>
            <p:nvSpPr>
              <p:cNvPr id="28691" name="Text Box 58"/>
              <p:cNvSpPr txBox="1"/>
              <p:nvPr/>
            </p:nvSpPr>
            <p:spPr>
              <a:xfrm>
                <a:off x="950" y="887"/>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28692" name="Text Box 59"/>
              <p:cNvSpPr txBox="1"/>
              <p:nvPr/>
            </p:nvSpPr>
            <p:spPr>
              <a:xfrm>
                <a:off x="1766" y="1319"/>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28693" name="Text Box 60"/>
              <p:cNvSpPr txBox="1"/>
              <p:nvPr/>
            </p:nvSpPr>
            <p:spPr>
              <a:xfrm>
                <a:off x="1574" y="2231"/>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28694" name="Text Box 62"/>
              <p:cNvSpPr txBox="1"/>
              <p:nvPr/>
            </p:nvSpPr>
            <p:spPr>
              <a:xfrm>
                <a:off x="182" y="1367"/>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grpSp>
        <p:sp>
          <p:nvSpPr>
            <p:cNvPr id="28682" name="Oval 4"/>
            <p:cNvSpPr/>
            <p:nvPr/>
          </p:nvSpPr>
          <p:spPr>
            <a:xfrm>
              <a:off x="6248400" y="3962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8683" name="Oval 4"/>
            <p:cNvSpPr/>
            <p:nvPr/>
          </p:nvSpPr>
          <p:spPr>
            <a:xfrm>
              <a:off x="5181600" y="4724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8684" name="Oval 4"/>
            <p:cNvSpPr/>
            <p:nvPr/>
          </p:nvSpPr>
          <p:spPr>
            <a:xfrm>
              <a:off x="7010400" y="5791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8685" name="Oval 4"/>
            <p:cNvSpPr/>
            <p:nvPr/>
          </p:nvSpPr>
          <p:spPr>
            <a:xfrm>
              <a:off x="7467600" y="4724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grpSp>
      <p:sp>
        <p:nvSpPr>
          <p:cNvPr id="118" name="Rectangle 3"/>
          <p:cNvSpPr txBox="1">
            <a:spLocks noChangeArrowheads="1"/>
          </p:cNvSpPr>
          <p:nvPr/>
        </p:nvSpPr>
        <p:spPr bwMode="auto">
          <a:xfrm>
            <a:off x="152400" y="533400"/>
            <a:ext cx="8229600" cy="609600"/>
          </a:xfrm>
          <a:prstGeom prst="rect">
            <a:avLst/>
          </a:prstGeom>
          <a:noFill/>
          <a:ln w="9525">
            <a:noFill/>
            <a:miter lim="800000"/>
          </a:ln>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3200" b="1" u="sng" kern="0" cap="none" spc="0" normalizeH="0" baseline="0" noProof="0" dirty="0">
                <a:solidFill>
                  <a:srgbClr val="008000"/>
                </a:solidFill>
                <a:latin typeface="+mn-lt"/>
                <a:ea typeface="+mn-ea"/>
                <a:cs typeface="+mn-cs"/>
              </a:rPr>
              <a:t>New Graphs from Old</a:t>
            </a:r>
            <a:endParaRPr kumimoji="1" lang="en-US" altLang="zh-TW" sz="3200" u="sng" kern="0" cap="none" spc="0" normalizeH="0" baseline="-25000" noProof="0" dirty="0">
              <a:latin typeface="Times New Roman" panose="02020603050405020304" pitchFamily="18" charset="0"/>
              <a:ea typeface="+mn-ea"/>
              <a:cs typeface="Times New Roman" panose="02020603050405020304" pitchFamily="18" charset="0"/>
            </a:endParaRPr>
          </a:p>
        </p:txBody>
      </p:sp>
      <p:sp>
        <p:nvSpPr>
          <p:cNvPr id="28679" name="投影片編號版面配置區 44"/>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xEl>
                                              <p:charRg st="0" end="29"/>
                                            </p:txEl>
                                          </p:spTgt>
                                        </p:tgtEl>
                                        <p:attrNameLst>
                                          <p:attrName>style.visibility</p:attrName>
                                        </p:attrNameLst>
                                      </p:cBhvr>
                                      <p:to>
                                        <p:strVal val="visible"/>
                                      </p:to>
                                    </p:set>
                                    <p:anim calcmode="lin" valueType="num">
                                      <p:cBhvr additive="base">
                                        <p:cTn id="7" dur="500" fill="hold"/>
                                        <p:tgtEl>
                                          <p:spTgt spid="25603">
                                            <p:txEl>
                                              <p:charRg st="0" end="2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charRg st="0" end="2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3"/>
          <p:cNvSpPr>
            <a:spLocks noGrp="1"/>
          </p:cNvSpPr>
          <p:nvPr>
            <p:ph idx="1"/>
          </p:nvPr>
        </p:nvSpPr>
        <p:spPr>
          <a:xfrm>
            <a:off x="0" y="533400"/>
            <a:ext cx="9144000" cy="1371600"/>
          </a:xfrm>
        </p:spPr>
        <p:txBody>
          <a:bodyPr vert="horz" wrap="square" lIns="91440" tIns="45720" rIns="91440" bIns="45720" anchor="t"/>
          <a:p>
            <a:pPr eaLnBrk="1" hangingPunct="1">
              <a:lnSpc>
                <a:spcPct val="80000"/>
              </a:lnSpc>
              <a:buNone/>
            </a:pPr>
            <a:r>
              <a:rPr lang="en-US" altLang="zh-TW" sz="2800" b="1" dirty="0">
                <a:solidFill>
                  <a:srgbClr val="FF0000"/>
                </a:solidFill>
              </a:rPr>
              <a:t>Def 7.</a:t>
            </a:r>
            <a:r>
              <a:rPr lang="en-US" altLang="zh-TW" sz="2800" dirty="0"/>
              <a:t>  The </a:t>
            </a:r>
            <a:r>
              <a:rPr lang="en-US" altLang="zh-TW" sz="2800" dirty="0">
                <a:solidFill>
                  <a:srgbClr val="0000CC"/>
                </a:solidFill>
              </a:rPr>
              <a:t>union</a:t>
            </a:r>
            <a:r>
              <a:rPr lang="en-US" altLang="zh-TW" sz="2800" dirty="0"/>
              <a:t> of two simple graphs </a:t>
            </a:r>
            <a:endParaRPr lang="en-US" altLang="zh-TW" sz="2800" dirty="0"/>
          </a:p>
          <a:p>
            <a:pPr eaLnBrk="1" hangingPunct="1">
              <a:lnSpc>
                <a:spcPct val="80000"/>
              </a:lnSpc>
              <a:buNone/>
            </a:pPr>
            <a:r>
              <a:rPr lang="en-US" altLang="zh-TW" sz="2800" dirty="0"/>
              <a:t>      </a:t>
            </a:r>
            <a:r>
              <a:rPr lang="en-US" altLang="zh-TW" sz="2800" i="1" dirty="0">
                <a:latin typeface="Times New Roman" panose="02020603050405020304" pitchFamily="18" charset="0"/>
                <a:cs typeface="Times New Roman" panose="02020603050405020304" pitchFamily="18" charset="0"/>
              </a:rPr>
              <a:t>G</a:t>
            </a:r>
            <a:r>
              <a:rPr lang="en-US" altLang="zh-TW" sz="24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E</a:t>
            </a:r>
            <a:r>
              <a:rPr lang="en-US" altLang="zh-TW" sz="24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a:t>
            </a:r>
            <a:r>
              <a:rPr lang="en-US" altLang="zh-TW" sz="2800" dirty="0"/>
              <a:t>and </a:t>
            </a:r>
            <a:r>
              <a:rPr lang="en-US" altLang="zh-TW" sz="2800" i="1" dirty="0">
                <a:latin typeface="Times New Roman" panose="02020603050405020304" pitchFamily="18" charset="0"/>
                <a:cs typeface="Times New Roman" panose="02020603050405020304" pitchFamily="18" charset="0"/>
              </a:rPr>
              <a:t>G</a:t>
            </a:r>
            <a:r>
              <a:rPr lang="en-US" altLang="zh-TW" sz="24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E</a:t>
            </a:r>
            <a:r>
              <a:rPr lang="en-US" altLang="zh-TW" sz="24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a:t>
            </a:r>
            <a:r>
              <a:rPr lang="en-US" altLang="zh-TW" sz="2800" dirty="0"/>
              <a:t>is the simple graph</a:t>
            </a:r>
            <a:endParaRPr lang="en-US" altLang="zh-TW" sz="2800" dirty="0"/>
          </a:p>
          <a:p>
            <a:pPr eaLnBrk="1" hangingPunct="1">
              <a:lnSpc>
                <a:spcPct val="80000"/>
              </a:lnSpc>
              <a:buNone/>
            </a:pPr>
            <a:r>
              <a:rPr lang="en-US" altLang="zh-TW" sz="2800" dirty="0"/>
              <a:t>      </a:t>
            </a:r>
            <a:r>
              <a:rPr lang="en-US" altLang="zh-TW" sz="2800" i="1" dirty="0">
                <a:latin typeface="Times New Roman" panose="02020603050405020304" pitchFamily="18" charset="0"/>
                <a:cs typeface="Times New Roman" panose="02020603050405020304" pitchFamily="18" charset="0"/>
              </a:rPr>
              <a:t>G</a:t>
            </a:r>
            <a:r>
              <a:rPr lang="en-US" altLang="zh-TW" sz="24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ea typeface="AR MinchoL JIS" pitchFamily="49" charset="-128"/>
              </a:rPr>
              <a:t>∪</a:t>
            </a:r>
            <a:r>
              <a:rPr lang="en-US" altLang="zh-TW" sz="2800" i="1" dirty="0">
                <a:latin typeface="Times New Roman" panose="02020603050405020304" pitchFamily="18" charset="0"/>
                <a:ea typeface="AR MinchoL JIS" pitchFamily="49" charset="-128"/>
              </a:rPr>
              <a:t>G</a:t>
            </a:r>
            <a:r>
              <a:rPr lang="en-US" altLang="zh-TW" sz="2400" baseline="-25000" dirty="0">
                <a:latin typeface="Times New Roman" panose="02020603050405020304" pitchFamily="18" charset="0"/>
                <a:ea typeface="AR MinchoL JIS" pitchFamily="49" charset="-128"/>
              </a:rPr>
              <a:t>2</a:t>
            </a:r>
            <a:r>
              <a:rPr lang="en-US" altLang="zh-TW" sz="2800" dirty="0">
                <a:latin typeface="Times New Roman" panose="02020603050405020304" pitchFamily="18" charset="0"/>
                <a:ea typeface="AR MinchoL JIS" pitchFamily="49" charset="-128"/>
              </a:rPr>
              <a:t>=(</a:t>
            </a:r>
            <a:r>
              <a:rPr lang="en-US" altLang="zh-TW" sz="2800" i="1" dirty="0">
                <a:latin typeface="Times New Roman" panose="02020603050405020304" pitchFamily="18" charset="0"/>
                <a:ea typeface="AR MinchoL JIS" pitchFamily="49" charset="-128"/>
              </a:rPr>
              <a:t>V</a:t>
            </a:r>
            <a:r>
              <a:rPr lang="en-US" altLang="zh-TW" sz="24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ea typeface="AR MinchoL JIS" pitchFamily="49" charset="-128"/>
              </a:rPr>
              <a:t>∪</a:t>
            </a:r>
            <a:r>
              <a:rPr lang="en-US" altLang="zh-TW" sz="2800" i="1" dirty="0">
                <a:latin typeface="Times New Roman" panose="02020603050405020304" pitchFamily="18" charset="0"/>
                <a:ea typeface="AR MinchoL JIS" pitchFamily="49" charset="-128"/>
              </a:rPr>
              <a:t>V</a:t>
            </a:r>
            <a:r>
              <a:rPr lang="en-US" altLang="zh-TW" sz="24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ea typeface="AR MinchoL JIS" pitchFamily="49" charset="-128"/>
              </a:rPr>
              <a:t>, </a:t>
            </a:r>
            <a:r>
              <a:rPr lang="en-US" altLang="zh-TW" sz="2800" i="1" dirty="0">
                <a:latin typeface="Times New Roman" panose="02020603050405020304" pitchFamily="18" charset="0"/>
                <a:ea typeface="AR MinchoL JIS" pitchFamily="49" charset="-128"/>
              </a:rPr>
              <a:t>E</a:t>
            </a:r>
            <a:r>
              <a:rPr lang="en-US" altLang="zh-TW" sz="24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ea typeface="AR MinchoL JIS" pitchFamily="49" charset="-128"/>
              </a:rPr>
              <a:t>∪</a:t>
            </a:r>
            <a:r>
              <a:rPr lang="en-US" altLang="zh-TW" sz="2800" i="1" dirty="0">
                <a:latin typeface="Times New Roman" panose="02020603050405020304" pitchFamily="18" charset="0"/>
                <a:ea typeface="AR MinchoL JIS" pitchFamily="49" charset="-128"/>
              </a:rPr>
              <a:t>E</a:t>
            </a:r>
            <a:r>
              <a:rPr lang="en-US" altLang="zh-TW" sz="24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ea typeface="AR MinchoL JIS" pitchFamily="49" charset="-128"/>
              </a:rPr>
              <a:t>)</a:t>
            </a:r>
            <a:endParaRPr lang="en-US" altLang="zh-TW" sz="2800" dirty="0">
              <a:latin typeface="Times New Roman" panose="02020603050405020304" pitchFamily="18" charset="0"/>
              <a:ea typeface="Times New Roman" panose="02020603050405020304" pitchFamily="18" charset="0"/>
            </a:endParaRPr>
          </a:p>
        </p:txBody>
      </p:sp>
      <p:grpSp>
        <p:nvGrpSpPr>
          <p:cNvPr id="2" name="群組 112"/>
          <p:cNvGrpSpPr/>
          <p:nvPr/>
        </p:nvGrpSpPr>
        <p:grpSpPr>
          <a:xfrm>
            <a:off x="1066800" y="4510088"/>
            <a:ext cx="5629275" cy="2378075"/>
            <a:chOff x="1066800" y="4510088"/>
            <a:chExt cx="5629275" cy="2378074"/>
          </a:xfrm>
        </p:grpSpPr>
        <p:grpSp>
          <p:nvGrpSpPr>
            <p:cNvPr id="29741" name="Group 40"/>
            <p:cNvGrpSpPr/>
            <p:nvPr/>
          </p:nvGrpSpPr>
          <p:grpSpPr>
            <a:xfrm>
              <a:off x="2971800" y="4510088"/>
              <a:ext cx="2582863" cy="2378074"/>
              <a:chOff x="3974" y="887"/>
              <a:chExt cx="1627" cy="1498"/>
            </a:xfrm>
          </p:grpSpPr>
          <p:cxnSp>
            <p:nvCxnSpPr>
              <p:cNvPr id="29750" name="AutoShape 46"/>
              <p:cNvCxnSpPr>
                <a:stCxn id="29744" idx="6"/>
                <a:endCxn id="29749" idx="2"/>
              </p:cNvCxnSpPr>
              <p:nvPr/>
            </p:nvCxnSpPr>
            <p:spPr>
              <a:xfrm>
                <a:off x="4118" y="1310"/>
                <a:ext cx="624" cy="1"/>
              </a:xfrm>
              <a:prstGeom prst="straightConnector1">
                <a:avLst/>
              </a:prstGeom>
              <a:ln w="9525" cap="flat" cmpd="sng">
                <a:solidFill>
                  <a:schemeClr val="tx1"/>
                </a:solidFill>
                <a:prstDash val="solid"/>
                <a:headEnd type="none" w="med" len="med"/>
                <a:tailEnd type="none" w="med" len="med"/>
              </a:ln>
            </p:spPr>
          </p:cxnSp>
          <p:cxnSp>
            <p:nvCxnSpPr>
              <p:cNvPr id="29751" name="AutoShape 47"/>
              <p:cNvCxnSpPr>
                <a:stCxn id="29749" idx="6"/>
                <a:endCxn id="29747" idx="2"/>
              </p:cNvCxnSpPr>
              <p:nvPr/>
            </p:nvCxnSpPr>
            <p:spPr>
              <a:xfrm>
                <a:off x="4838" y="1310"/>
                <a:ext cx="624" cy="1"/>
              </a:xfrm>
              <a:prstGeom prst="straightConnector1">
                <a:avLst/>
              </a:prstGeom>
              <a:ln w="9525" cap="flat" cmpd="sng">
                <a:solidFill>
                  <a:schemeClr val="tx1"/>
                </a:solidFill>
                <a:prstDash val="solid"/>
                <a:headEnd type="none" w="med" len="med"/>
                <a:tailEnd type="none" w="med" len="med"/>
              </a:ln>
            </p:spPr>
          </p:cxnSp>
          <p:cxnSp>
            <p:nvCxnSpPr>
              <p:cNvPr id="29752" name="AutoShape 48"/>
              <p:cNvCxnSpPr>
                <a:stCxn id="29749" idx="3"/>
                <a:endCxn id="29745" idx="3"/>
              </p:cNvCxnSpPr>
              <p:nvPr/>
            </p:nvCxnSpPr>
            <p:spPr>
              <a:xfrm rot="5400000">
                <a:off x="4036" y="1344"/>
                <a:ext cx="720" cy="720"/>
              </a:xfrm>
              <a:prstGeom prst="straightConnector1">
                <a:avLst/>
              </a:prstGeom>
              <a:ln w="9525" cap="flat" cmpd="sng">
                <a:solidFill>
                  <a:schemeClr val="tx1"/>
                </a:solidFill>
                <a:prstDash val="solid"/>
                <a:headEnd type="none" w="med" len="med"/>
                <a:tailEnd type="none" w="med" len="med"/>
              </a:ln>
            </p:spPr>
          </p:cxnSp>
          <p:cxnSp>
            <p:nvCxnSpPr>
              <p:cNvPr id="29753" name="AutoShape 49"/>
              <p:cNvCxnSpPr>
                <a:endCxn id="29748" idx="1"/>
              </p:cNvCxnSpPr>
              <p:nvPr/>
            </p:nvCxnSpPr>
            <p:spPr>
              <a:xfrm rot="-5400000" flipH="1">
                <a:off x="4790" y="1310"/>
                <a:ext cx="686" cy="686"/>
              </a:xfrm>
              <a:prstGeom prst="straightConnector1">
                <a:avLst/>
              </a:prstGeom>
              <a:ln w="9525" cap="flat" cmpd="sng">
                <a:solidFill>
                  <a:schemeClr val="tx1"/>
                </a:solidFill>
                <a:prstDash val="solid"/>
                <a:headEnd type="none" w="med" len="med"/>
                <a:tailEnd type="none" w="med" len="med"/>
              </a:ln>
            </p:spPr>
          </p:cxnSp>
          <p:cxnSp>
            <p:nvCxnSpPr>
              <p:cNvPr id="29754" name="AutoShape 50"/>
              <p:cNvCxnSpPr>
                <a:stCxn id="29747" idx="4"/>
                <a:endCxn id="29748" idx="0"/>
              </p:cNvCxnSpPr>
              <p:nvPr/>
            </p:nvCxnSpPr>
            <p:spPr>
              <a:xfrm rot="5400000">
                <a:off x="5197" y="1670"/>
                <a:ext cx="624" cy="1"/>
              </a:xfrm>
              <a:prstGeom prst="straightConnector1">
                <a:avLst/>
              </a:prstGeom>
              <a:ln w="9525" cap="flat" cmpd="sng">
                <a:solidFill>
                  <a:schemeClr val="tx1"/>
                </a:solidFill>
                <a:prstDash val="solid"/>
                <a:headEnd type="none" w="med" len="med"/>
                <a:tailEnd type="none" w="med" len="med"/>
              </a:ln>
            </p:spPr>
          </p:cxnSp>
          <p:cxnSp>
            <p:nvCxnSpPr>
              <p:cNvPr id="29755" name="AutoShape 52"/>
              <p:cNvCxnSpPr>
                <a:stCxn id="29744" idx="0"/>
                <a:endCxn id="29745" idx="0"/>
              </p:cNvCxnSpPr>
              <p:nvPr/>
            </p:nvCxnSpPr>
            <p:spPr>
              <a:xfrm rot="-5400000" flipH="1">
                <a:off x="3709" y="1622"/>
                <a:ext cx="720" cy="1"/>
              </a:xfrm>
              <a:prstGeom prst="straightConnector1">
                <a:avLst/>
              </a:prstGeom>
              <a:ln w="9525" cap="flat" cmpd="sng">
                <a:solidFill>
                  <a:schemeClr val="tx1"/>
                </a:solidFill>
                <a:prstDash val="solid"/>
                <a:headEnd type="none" w="med" len="med"/>
                <a:tailEnd type="none" w="med" len="med"/>
              </a:ln>
            </p:spPr>
          </p:cxnSp>
          <p:cxnSp>
            <p:nvCxnSpPr>
              <p:cNvPr id="29756" name="AutoShape 53"/>
              <p:cNvCxnSpPr>
                <a:stCxn id="29749" idx="0"/>
                <a:endCxn id="29746" idx="0"/>
              </p:cNvCxnSpPr>
              <p:nvPr/>
            </p:nvCxnSpPr>
            <p:spPr>
              <a:xfrm rot="-5400000" flipH="1">
                <a:off x="4429" y="1622"/>
                <a:ext cx="720" cy="1"/>
              </a:xfrm>
              <a:prstGeom prst="straightConnector1">
                <a:avLst/>
              </a:prstGeom>
              <a:ln w="9525" cap="flat" cmpd="sng">
                <a:solidFill>
                  <a:schemeClr val="tx1"/>
                </a:solidFill>
                <a:prstDash val="solid"/>
                <a:headEnd type="none" w="med" len="med"/>
                <a:tailEnd type="none" w="med" len="med"/>
              </a:ln>
            </p:spPr>
          </p:cxnSp>
          <p:cxnSp>
            <p:nvCxnSpPr>
              <p:cNvPr id="29757" name="AutoShape 54"/>
              <p:cNvCxnSpPr>
                <a:endCxn id="29746" idx="2"/>
              </p:cNvCxnSpPr>
              <p:nvPr/>
            </p:nvCxnSpPr>
            <p:spPr>
              <a:xfrm>
                <a:off x="4070" y="2030"/>
                <a:ext cx="672" cy="0"/>
              </a:xfrm>
              <a:prstGeom prst="straightConnector1">
                <a:avLst/>
              </a:prstGeom>
              <a:ln w="9525" cap="flat" cmpd="sng">
                <a:solidFill>
                  <a:schemeClr val="tx1"/>
                </a:solidFill>
                <a:prstDash val="solid"/>
                <a:headEnd type="none" w="med" len="med"/>
                <a:tailEnd type="none" w="med" len="med"/>
              </a:ln>
            </p:spPr>
          </p:cxnSp>
          <p:cxnSp>
            <p:nvCxnSpPr>
              <p:cNvPr id="29758" name="AutoShape 55"/>
              <p:cNvCxnSpPr>
                <a:stCxn id="29747" idx="3"/>
              </p:cNvCxnSpPr>
              <p:nvPr/>
            </p:nvCxnSpPr>
            <p:spPr>
              <a:xfrm rot="5400000">
                <a:off x="4779" y="1355"/>
                <a:ext cx="708" cy="686"/>
              </a:xfrm>
              <a:prstGeom prst="straightConnector1">
                <a:avLst/>
              </a:prstGeom>
              <a:ln w="9525" cap="flat" cmpd="sng">
                <a:solidFill>
                  <a:schemeClr val="tx1"/>
                </a:solidFill>
                <a:prstDash val="solid"/>
                <a:headEnd type="none" w="med" len="med"/>
                <a:tailEnd type="none" w="med" len="med"/>
              </a:ln>
            </p:spPr>
          </p:cxnSp>
          <p:sp>
            <p:nvSpPr>
              <p:cNvPr id="29759" name="Text Box 56"/>
              <p:cNvSpPr txBox="1"/>
              <p:nvPr/>
            </p:nvSpPr>
            <p:spPr>
              <a:xfrm>
                <a:off x="3974" y="935"/>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29760" name="Text Box 57"/>
              <p:cNvSpPr txBox="1"/>
              <p:nvPr/>
            </p:nvSpPr>
            <p:spPr>
              <a:xfrm>
                <a:off x="4694" y="887"/>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29761" name="Text Box 58"/>
              <p:cNvSpPr txBox="1"/>
              <p:nvPr/>
            </p:nvSpPr>
            <p:spPr>
              <a:xfrm>
                <a:off x="5414" y="887"/>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29762" name="Text Box 59"/>
              <p:cNvSpPr txBox="1"/>
              <p:nvPr/>
            </p:nvSpPr>
            <p:spPr>
              <a:xfrm>
                <a:off x="4022" y="2087"/>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29763" name="Text Box 60"/>
              <p:cNvSpPr txBox="1"/>
              <p:nvPr/>
            </p:nvSpPr>
            <p:spPr>
              <a:xfrm>
                <a:off x="4694" y="2087"/>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29764" name="Text Box 61"/>
              <p:cNvSpPr txBox="1"/>
              <p:nvPr/>
            </p:nvSpPr>
            <p:spPr>
              <a:xfrm>
                <a:off x="5414" y="2135"/>
                <a:ext cx="1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f</a:t>
                </a:r>
                <a:endParaRPr lang="en-US" altLang="zh-TW" sz="2000" i="1" dirty="0">
                  <a:latin typeface="Times New Roman" panose="02020603050405020304" pitchFamily="18" charset="0"/>
                  <a:ea typeface="Times New Roman" panose="02020603050405020304" pitchFamily="18" charset="0"/>
                </a:endParaRPr>
              </a:p>
            </p:txBody>
          </p:sp>
        </p:grpSp>
        <p:sp>
          <p:nvSpPr>
            <p:cNvPr id="29742" name="Text Box 64"/>
            <p:cNvSpPr txBox="1"/>
            <p:nvPr/>
          </p:nvSpPr>
          <p:spPr>
            <a:xfrm>
              <a:off x="5562600" y="5486400"/>
              <a:ext cx="11334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r>
                <a:rPr lang="en-US" altLang="zh-TW" sz="2400" baseline="-25000" dirty="0">
                  <a:latin typeface="Times New Roman" panose="02020603050405020304" pitchFamily="18" charset="0"/>
                  <a:cs typeface="Times New Roman" panose="02020603050405020304" pitchFamily="18" charset="0"/>
                </a:rPr>
                <a:t>1</a:t>
              </a:r>
              <a:r>
                <a:rPr lang="en-US" altLang="zh-TW" sz="2400" b="1" dirty="0">
                  <a:latin typeface="Times New Roman" panose="02020603050405020304" pitchFamily="18" charset="0"/>
                  <a:ea typeface="AR MinchoL JIS" pitchFamily="49" charset="-128"/>
                </a:rPr>
                <a:t>∪</a:t>
              </a:r>
              <a:r>
                <a:rPr lang="en-US" altLang="zh-TW" sz="2400" i="1" dirty="0">
                  <a:latin typeface="Times New Roman" panose="02020603050405020304" pitchFamily="18" charset="0"/>
                  <a:ea typeface="AR MinchoL JIS" pitchFamily="49" charset="-128"/>
                </a:rPr>
                <a:t>G</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29743" name="Line 65"/>
            <p:cNvSpPr/>
            <p:nvPr/>
          </p:nvSpPr>
          <p:spPr>
            <a:xfrm>
              <a:off x="1066800" y="5715000"/>
              <a:ext cx="685800" cy="0"/>
            </a:xfrm>
            <a:prstGeom prst="line">
              <a:avLst/>
            </a:prstGeom>
            <a:ln w="114300" cap="flat" cmpd="dbl">
              <a:solidFill>
                <a:schemeClr val="tx1"/>
              </a:solidFill>
              <a:prstDash val="solid"/>
              <a:headEnd type="none" w="med" len="med"/>
              <a:tailEnd type="triangle" w="med" len="med"/>
            </a:ln>
          </p:spPr>
        </p:sp>
        <p:sp>
          <p:nvSpPr>
            <p:cNvPr id="29744" name="Oval 4"/>
            <p:cNvSpPr/>
            <p:nvPr/>
          </p:nvSpPr>
          <p:spPr>
            <a:xfrm>
              <a:off x="3048000" y="5105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45" name="Oval 4"/>
            <p:cNvSpPr/>
            <p:nvPr/>
          </p:nvSpPr>
          <p:spPr>
            <a:xfrm>
              <a:off x="3048000" y="6248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46" name="Oval 4"/>
            <p:cNvSpPr/>
            <p:nvPr/>
          </p:nvSpPr>
          <p:spPr>
            <a:xfrm>
              <a:off x="4191000" y="6248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47" name="Oval 4"/>
            <p:cNvSpPr/>
            <p:nvPr/>
          </p:nvSpPr>
          <p:spPr>
            <a:xfrm>
              <a:off x="5334000" y="5105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48" name="Oval 4"/>
            <p:cNvSpPr/>
            <p:nvPr/>
          </p:nvSpPr>
          <p:spPr>
            <a:xfrm>
              <a:off x="5334000" y="6248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49" name="Oval 4"/>
            <p:cNvSpPr/>
            <p:nvPr/>
          </p:nvSpPr>
          <p:spPr>
            <a:xfrm>
              <a:off x="4191000" y="5105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grpSp>
      <p:grpSp>
        <p:nvGrpSpPr>
          <p:cNvPr id="4" name="群組 113"/>
          <p:cNvGrpSpPr/>
          <p:nvPr/>
        </p:nvGrpSpPr>
        <p:grpSpPr>
          <a:xfrm>
            <a:off x="0" y="1828800"/>
            <a:ext cx="8053388" cy="2759075"/>
            <a:chOff x="0" y="1828800"/>
            <a:chExt cx="8053388" cy="2759076"/>
          </a:xfrm>
        </p:grpSpPr>
        <p:sp>
          <p:nvSpPr>
            <p:cNvPr id="29703" name="Rectangle 4"/>
            <p:cNvSpPr/>
            <p:nvPr/>
          </p:nvSpPr>
          <p:spPr>
            <a:xfrm>
              <a:off x="0" y="1828800"/>
              <a:ext cx="2895600" cy="5334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None/>
              </a:pPr>
              <a:r>
                <a:rPr lang="en-US" altLang="zh-TW" sz="2800" b="1" dirty="0">
                  <a:solidFill>
                    <a:srgbClr val="008000"/>
                  </a:solidFill>
                </a:rPr>
                <a:t> Example 15.</a:t>
              </a:r>
              <a:endParaRPr lang="en-US" altLang="zh-TW" sz="2800" b="1" dirty="0">
                <a:solidFill>
                  <a:srgbClr val="008000"/>
                </a:solidFill>
              </a:endParaRPr>
            </a:p>
          </p:txBody>
        </p:sp>
        <p:grpSp>
          <p:nvGrpSpPr>
            <p:cNvPr id="29704" name="Group 5"/>
            <p:cNvGrpSpPr/>
            <p:nvPr/>
          </p:nvGrpSpPr>
          <p:grpSpPr>
            <a:xfrm>
              <a:off x="5546725" y="2286000"/>
              <a:ext cx="2506663" cy="2301876"/>
              <a:chOff x="2006" y="935"/>
              <a:chExt cx="1579" cy="1450"/>
            </a:xfrm>
          </p:grpSpPr>
          <p:grpSp>
            <p:nvGrpSpPr>
              <p:cNvPr id="29730" name="Group 6"/>
              <p:cNvGrpSpPr/>
              <p:nvPr/>
            </p:nvGrpSpPr>
            <p:grpSpPr>
              <a:xfrm>
                <a:off x="2112" y="1319"/>
                <a:ext cx="1344" cy="646"/>
                <a:chOff x="2112" y="1319"/>
                <a:chExt cx="1344" cy="646"/>
              </a:xfrm>
            </p:grpSpPr>
            <p:cxnSp>
              <p:nvCxnSpPr>
                <p:cNvPr id="29736" name="AutoShape 12"/>
                <p:cNvCxnSpPr>
                  <a:endCxn id="29714" idx="2"/>
                </p:cNvCxnSpPr>
                <p:nvPr/>
              </p:nvCxnSpPr>
              <p:spPr>
                <a:xfrm>
                  <a:off x="2112" y="1319"/>
                  <a:ext cx="624" cy="0"/>
                </a:xfrm>
                <a:prstGeom prst="straightConnector1">
                  <a:avLst/>
                </a:prstGeom>
                <a:ln w="9525" cap="flat" cmpd="sng">
                  <a:solidFill>
                    <a:schemeClr val="tx1"/>
                  </a:solidFill>
                  <a:prstDash val="solid"/>
                  <a:headEnd type="none" w="med" len="med"/>
                  <a:tailEnd type="none" w="med" len="med"/>
                </a:ln>
              </p:spPr>
            </p:cxnSp>
            <p:cxnSp>
              <p:nvCxnSpPr>
                <p:cNvPr id="29737" name="AutoShape 13"/>
                <p:cNvCxnSpPr>
                  <a:endCxn id="29715" idx="2"/>
                </p:cNvCxnSpPr>
                <p:nvPr/>
              </p:nvCxnSpPr>
              <p:spPr>
                <a:xfrm>
                  <a:off x="2832" y="1319"/>
                  <a:ext cx="576" cy="0"/>
                </a:xfrm>
                <a:prstGeom prst="straightConnector1">
                  <a:avLst/>
                </a:prstGeom>
                <a:ln w="9525" cap="flat" cmpd="sng">
                  <a:solidFill>
                    <a:schemeClr val="tx1"/>
                  </a:solidFill>
                  <a:prstDash val="solid"/>
                  <a:headEnd type="none" w="med" len="med"/>
                  <a:tailEnd type="none" w="med" len="med"/>
                </a:ln>
              </p:spPr>
            </p:cxnSp>
            <p:cxnSp>
              <p:nvCxnSpPr>
                <p:cNvPr id="29738" name="AutoShape 14"/>
                <p:cNvCxnSpPr>
                  <a:stCxn id="29714" idx="3"/>
                </p:cNvCxnSpPr>
                <p:nvPr/>
              </p:nvCxnSpPr>
              <p:spPr>
                <a:xfrm rot="5400000">
                  <a:off x="2149" y="1364"/>
                  <a:ext cx="612" cy="590"/>
                </a:xfrm>
                <a:prstGeom prst="straightConnector1">
                  <a:avLst/>
                </a:prstGeom>
                <a:ln w="9525" cap="flat" cmpd="sng">
                  <a:solidFill>
                    <a:schemeClr val="tx1"/>
                  </a:solidFill>
                  <a:prstDash val="solid"/>
                  <a:headEnd type="none" w="med" len="med"/>
                  <a:tailEnd type="none" w="med" len="med"/>
                </a:ln>
              </p:spPr>
            </p:cxnSp>
            <p:cxnSp>
              <p:nvCxnSpPr>
                <p:cNvPr id="29739" name="AutoShape 15"/>
                <p:cNvCxnSpPr>
                  <a:endCxn id="29716" idx="1"/>
                </p:cNvCxnSpPr>
                <p:nvPr/>
              </p:nvCxnSpPr>
              <p:spPr>
                <a:xfrm rot="-5400000" flipH="1">
                  <a:off x="2784" y="1319"/>
                  <a:ext cx="638" cy="638"/>
                </a:xfrm>
                <a:prstGeom prst="straightConnector1">
                  <a:avLst/>
                </a:prstGeom>
                <a:ln w="9525" cap="flat" cmpd="sng">
                  <a:solidFill>
                    <a:schemeClr val="tx1"/>
                  </a:solidFill>
                  <a:prstDash val="solid"/>
                  <a:headEnd type="none" w="med" len="med"/>
                  <a:tailEnd type="none" w="med" len="med"/>
                </a:ln>
              </p:spPr>
            </p:cxnSp>
            <p:cxnSp>
              <p:nvCxnSpPr>
                <p:cNvPr id="29740" name="AutoShape 16"/>
                <p:cNvCxnSpPr>
                  <a:endCxn id="29716" idx="0"/>
                </p:cNvCxnSpPr>
                <p:nvPr/>
              </p:nvCxnSpPr>
              <p:spPr>
                <a:xfrm rot="5400000">
                  <a:off x="3143" y="1631"/>
                  <a:ext cx="624" cy="1"/>
                </a:xfrm>
                <a:prstGeom prst="straightConnector1">
                  <a:avLst/>
                </a:prstGeom>
                <a:ln w="9525" cap="flat" cmpd="sng">
                  <a:solidFill>
                    <a:schemeClr val="tx1"/>
                  </a:solidFill>
                  <a:prstDash val="solid"/>
                  <a:headEnd type="none" w="med" len="med"/>
                  <a:tailEnd type="none" w="med" len="med"/>
                </a:ln>
              </p:spPr>
            </p:cxnSp>
          </p:grpSp>
          <p:sp>
            <p:nvSpPr>
              <p:cNvPr id="29731" name="Text Box 17"/>
              <p:cNvSpPr txBox="1"/>
              <p:nvPr/>
            </p:nvSpPr>
            <p:spPr>
              <a:xfrm>
                <a:off x="2006" y="935"/>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29732" name="Text Box 18"/>
              <p:cNvSpPr txBox="1"/>
              <p:nvPr/>
            </p:nvSpPr>
            <p:spPr>
              <a:xfrm>
                <a:off x="2726" y="935"/>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29733" name="Text Box 19"/>
              <p:cNvSpPr txBox="1"/>
              <p:nvPr/>
            </p:nvSpPr>
            <p:spPr>
              <a:xfrm>
                <a:off x="3398" y="935"/>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29734" name="Text Box 20"/>
              <p:cNvSpPr txBox="1"/>
              <p:nvPr/>
            </p:nvSpPr>
            <p:spPr>
              <a:xfrm>
                <a:off x="2006" y="2087"/>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29735" name="Text Box 21"/>
              <p:cNvSpPr txBox="1"/>
              <p:nvPr/>
            </p:nvSpPr>
            <p:spPr>
              <a:xfrm>
                <a:off x="3398" y="2135"/>
                <a:ext cx="1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f</a:t>
                </a:r>
                <a:endParaRPr lang="en-US" altLang="zh-TW" sz="2000" i="1" dirty="0">
                  <a:latin typeface="Times New Roman" panose="02020603050405020304" pitchFamily="18" charset="0"/>
                  <a:ea typeface="Times New Roman" panose="02020603050405020304" pitchFamily="18" charset="0"/>
                </a:endParaRPr>
              </a:p>
            </p:txBody>
          </p:sp>
        </p:grpSp>
        <p:grpSp>
          <p:nvGrpSpPr>
            <p:cNvPr id="29705" name="Group 22"/>
            <p:cNvGrpSpPr/>
            <p:nvPr/>
          </p:nvGrpSpPr>
          <p:grpSpPr>
            <a:xfrm>
              <a:off x="1295400" y="2286000"/>
              <a:ext cx="2582863" cy="2225676"/>
              <a:chOff x="134" y="935"/>
              <a:chExt cx="1627" cy="1402"/>
            </a:xfrm>
          </p:grpSpPr>
          <p:grpSp>
            <p:nvGrpSpPr>
              <p:cNvPr id="29718" name="Group 23"/>
              <p:cNvGrpSpPr/>
              <p:nvPr/>
            </p:nvGrpSpPr>
            <p:grpSpPr>
              <a:xfrm>
                <a:off x="229" y="1319"/>
                <a:ext cx="1407" cy="672"/>
                <a:chOff x="229" y="1319"/>
                <a:chExt cx="1407" cy="672"/>
              </a:xfrm>
            </p:grpSpPr>
            <p:cxnSp>
              <p:nvCxnSpPr>
                <p:cNvPr id="29724" name="AutoShape 29"/>
                <p:cNvCxnSpPr>
                  <a:endCxn id="29709" idx="6"/>
                </p:cNvCxnSpPr>
                <p:nvPr/>
              </p:nvCxnSpPr>
              <p:spPr>
                <a:xfrm>
                  <a:off x="278" y="1319"/>
                  <a:ext cx="768" cy="0"/>
                </a:xfrm>
                <a:prstGeom prst="straightConnector1">
                  <a:avLst/>
                </a:prstGeom>
                <a:ln w="9525" cap="flat" cmpd="sng">
                  <a:solidFill>
                    <a:schemeClr val="tx1"/>
                  </a:solidFill>
                  <a:prstDash val="solid"/>
                  <a:headEnd type="none" w="med" len="med"/>
                  <a:tailEnd type="none" w="med" len="med"/>
                </a:ln>
              </p:spPr>
            </p:cxnSp>
            <p:cxnSp>
              <p:nvCxnSpPr>
                <p:cNvPr id="29725" name="AutoShape 30"/>
                <p:cNvCxnSpPr>
                  <a:endCxn id="29711" idx="0"/>
                </p:cNvCxnSpPr>
                <p:nvPr/>
              </p:nvCxnSpPr>
              <p:spPr>
                <a:xfrm rot="5400000">
                  <a:off x="-58" y="1655"/>
                  <a:ext cx="576" cy="1"/>
                </a:xfrm>
                <a:prstGeom prst="straightConnector1">
                  <a:avLst/>
                </a:prstGeom>
                <a:ln w="9525" cap="flat" cmpd="sng">
                  <a:solidFill>
                    <a:schemeClr val="tx1"/>
                  </a:solidFill>
                  <a:prstDash val="solid"/>
                  <a:headEnd type="none" w="med" len="med"/>
                  <a:tailEnd type="none" w="med" len="med"/>
                </a:ln>
              </p:spPr>
            </p:cxnSp>
            <p:cxnSp>
              <p:nvCxnSpPr>
                <p:cNvPr id="29726" name="AutoShape 31"/>
                <p:cNvCxnSpPr>
                  <a:endCxn id="29712" idx="2"/>
                </p:cNvCxnSpPr>
                <p:nvPr/>
              </p:nvCxnSpPr>
              <p:spPr>
                <a:xfrm>
                  <a:off x="278" y="1991"/>
                  <a:ext cx="672" cy="0"/>
                </a:xfrm>
                <a:prstGeom prst="straightConnector1">
                  <a:avLst/>
                </a:prstGeom>
                <a:ln w="9525" cap="flat" cmpd="sng">
                  <a:solidFill>
                    <a:schemeClr val="tx1"/>
                  </a:solidFill>
                  <a:prstDash val="solid"/>
                  <a:headEnd type="none" w="med" len="med"/>
                  <a:tailEnd type="none" w="med" len="med"/>
                </a:ln>
              </p:spPr>
            </p:cxnSp>
            <p:cxnSp>
              <p:nvCxnSpPr>
                <p:cNvPr id="29727" name="AutoShape 32"/>
                <p:cNvCxnSpPr>
                  <a:endCxn id="29712" idx="0"/>
                </p:cNvCxnSpPr>
                <p:nvPr/>
              </p:nvCxnSpPr>
              <p:spPr>
                <a:xfrm rot="5400000">
                  <a:off x="709" y="1655"/>
                  <a:ext cx="576" cy="1"/>
                </a:xfrm>
                <a:prstGeom prst="straightConnector1">
                  <a:avLst/>
                </a:prstGeom>
                <a:ln w="9525" cap="flat" cmpd="sng">
                  <a:solidFill>
                    <a:schemeClr val="tx1"/>
                  </a:solidFill>
                  <a:prstDash val="solid"/>
                  <a:headEnd type="none" w="med" len="med"/>
                  <a:tailEnd type="none" w="med" len="med"/>
                </a:ln>
              </p:spPr>
            </p:cxnSp>
            <p:cxnSp>
              <p:nvCxnSpPr>
                <p:cNvPr id="29728" name="AutoShape 33"/>
                <p:cNvCxnSpPr>
                  <a:endCxn id="29710" idx="2"/>
                </p:cNvCxnSpPr>
                <p:nvPr/>
              </p:nvCxnSpPr>
              <p:spPr>
                <a:xfrm>
                  <a:off x="1046" y="1319"/>
                  <a:ext cx="576" cy="0"/>
                </a:xfrm>
                <a:prstGeom prst="straightConnector1">
                  <a:avLst/>
                </a:prstGeom>
                <a:ln w="9525" cap="flat" cmpd="sng">
                  <a:solidFill>
                    <a:schemeClr val="tx1"/>
                  </a:solidFill>
                  <a:prstDash val="solid"/>
                  <a:headEnd type="none" w="med" len="med"/>
                  <a:tailEnd type="none" w="med" len="med"/>
                </a:ln>
              </p:spPr>
            </p:cxnSp>
            <p:cxnSp>
              <p:nvCxnSpPr>
                <p:cNvPr id="29729" name="AutoShape 34"/>
                <p:cNvCxnSpPr>
                  <a:stCxn id="29710" idx="3"/>
                </p:cNvCxnSpPr>
                <p:nvPr/>
              </p:nvCxnSpPr>
              <p:spPr>
                <a:xfrm rot="5400000">
                  <a:off x="1010" y="1341"/>
                  <a:ext cx="614" cy="638"/>
                </a:xfrm>
                <a:prstGeom prst="straightConnector1">
                  <a:avLst/>
                </a:prstGeom>
                <a:ln w="9525" cap="flat" cmpd="sng">
                  <a:solidFill>
                    <a:schemeClr val="tx1"/>
                  </a:solidFill>
                  <a:prstDash val="solid"/>
                  <a:headEnd type="none" w="med" len="med"/>
                  <a:tailEnd type="none" w="med" len="med"/>
                </a:ln>
              </p:spPr>
            </p:cxnSp>
          </p:grpSp>
          <p:sp>
            <p:nvSpPr>
              <p:cNvPr id="29719" name="Text Box 35"/>
              <p:cNvSpPr txBox="1"/>
              <p:nvPr/>
            </p:nvSpPr>
            <p:spPr>
              <a:xfrm>
                <a:off x="134" y="935"/>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29720" name="Text Box 36"/>
              <p:cNvSpPr txBox="1"/>
              <p:nvPr/>
            </p:nvSpPr>
            <p:spPr>
              <a:xfrm>
                <a:off x="902" y="935"/>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29721" name="Text Box 37"/>
              <p:cNvSpPr txBox="1"/>
              <p:nvPr/>
            </p:nvSpPr>
            <p:spPr>
              <a:xfrm>
                <a:off x="1574" y="935"/>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29722" name="Text Box 38"/>
              <p:cNvSpPr txBox="1"/>
              <p:nvPr/>
            </p:nvSpPr>
            <p:spPr>
              <a:xfrm>
                <a:off x="182" y="2087"/>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29723" name="Text Box 39"/>
              <p:cNvSpPr txBox="1"/>
              <p:nvPr/>
            </p:nvSpPr>
            <p:spPr>
              <a:xfrm>
                <a:off x="902" y="2087"/>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grpSp>
        <p:sp>
          <p:nvSpPr>
            <p:cNvPr id="29706" name="Text Box 62"/>
            <p:cNvSpPr txBox="1"/>
            <p:nvPr/>
          </p:nvSpPr>
          <p:spPr>
            <a:xfrm>
              <a:off x="669925" y="2935288"/>
              <a:ext cx="5064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29707" name="Text Box 63"/>
            <p:cNvSpPr txBox="1"/>
            <p:nvPr/>
          </p:nvSpPr>
          <p:spPr>
            <a:xfrm>
              <a:off x="4800600" y="3051175"/>
              <a:ext cx="506413" cy="45720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29708" name="Oval 4"/>
            <p:cNvSpPr/>
            <p:nvPr/>
          </p:nvSpPr>
          <p:spPr>
            <a:xfrm>
              <a:off x="1371600" y="2819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09" name="Oval 4"/>
            <p:cNvSpPr/>
            <p:nvPr/>
          </p:nvSpPr>
          <p:spPr>
            <a:xfrm>
              <a:off x="2590800" y="2819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10" name="Oval 4"/>
            <p:cNvSpPr/>
            <p:nvPr/>
          </p:nvSpPr>
          <p:spPr>
            <a:xfrm>
              <a:off x="3657600" y="2819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11" name="Oval 4"/>
            <p:cNvSpPr/>
            <p:nvPr/>
          </p:nvSpPr>
          <p:spPr>
            <a:xfrm>
              <a:off x="1371600" y="3886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12" name="Oval 4"/>
            <p:cNvSpPr/>
            <p:nvPr/>
          </p:nvSpPr>
          <p:spPr>
            <a:xfrm>
              <a:off x="2590800" y="3886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13" name="Oval 4"/>
            <p:cNvSpPr/>
            <p:nvPr/>
          </p:nvSpPr>
          <p:spPr>
            <a:xfrm>
              <a:off x="5562600" y="2819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14" name="Oval 4"/>
            <p:cNvSpPr/>
            <p:nvPr/>
          </p:nvSpPr>
          <p:spPr>
            <a:xfrm>
              <a:off x="6705600" y="2819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15" name="Oval 4"/>
            <p:cNvSpPr/>
            <p:nvPr/>
          </p:nvSpPr>
          <p:spPr>
            <a:xfrm>
              <a:off x="7772400" y="28194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16" name="Oval 4"/>
            <p:cNvSpPr/>
            <p:nvPr/>
          </p:nvSpPr>
          <p:spPr>
            <a:xfrm>
              <a:off x="7772400" y="3886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sp>
          <p:nvSpPr>
            <p:cNvPr id="29717" name="Oval 4"/>
            <p:cNvSpPr/>
            <p:nvPr/>
          </p:nvSpPr>
          <p:spPr>
            <a:xfrm>
              <a:off x="5638800" y="3886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latin typeface="Times New Roman" panose="02020603050405020304" pitchFamily="18" charset="0"/>
                <a:ea typeface="Times New Roman" panose="02020603050405020304" pitchFamily="18" charset="0"/>
              </a:endParaRPr>
            </a:p>
          </p:txBody>
        </p:sp>
      </p:grpSp>
      <p:sp>
        <p:nvSpPr>
          <p:cNvPr id="29701" name="投影片編號版面配置區 67"/>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68" name="矩形 67"/>
          <p:cNvSpPr/>
          <p:nvPr/>
        </p:nvSpPr>
        <p:spPr>
          <a:xfrm>
            <a:off x="6934200" y="5867400"/>
            <a:ext cx="2068513"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51</a:t>
            </a:r>
            <a:endParaRPr lang="zh-TW" altLang="en-US" sz="24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additive="base">
                                        <p:cTn id="19" dur="500" fill="hold"/>
                                        <p:tgtEl>
                                          <p:spTgt spid="68"/>
                                        </p:tgtEl>
                                        <p:attrNameLst>
                                          <p:attrName>ppt_x</p:attrName>
                                        </p:attrNameLst>
                                      </p:cBhvr>
                                      <p:tavLst>
                                        <p:tav tm="0">
                                          <p:val>
                                            <p:strVal val="#ppt_x"/>
                                          </p:val>
                                        </p:tav>
                                        <p:tav tm="100000">
                                          <p:val>
                                            <p:strVal val="#ppt_x"/>
                                          </p:val>
                                        </p:tav>
                                      </p:tavLst>
                                    </p:anim>
                                    <p:anim calcmode="lin" valueType="num">
                                      <p:cBhvr additive="base">
                                        <p:cTn id="20"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228600" y="457200"/>
            <a:ext cx="8229600" cy="1371600"/>
          </a:xfrm>
        </p:spPr>
        <p:txBody>
          <a:bodyPr vert="horz" wrap="square" lIns="91440" tIns="45720" rIns="91440" bIns="45720" anchor="ctr"/>
          <a:p>
            <a:pPr eaLnBrk="1" hangingPunct="1"/>
            <a:r>
              <a:rPr lang="en-US" altLang="zh-TW" sz="4000" dirty="0"/>
              <a:t>§10.3 Representing Graphs and  </a:t>
            </a:r>
            <a:br>
              <a:rPr lang="en-US" altLang="zh-TW" sz="4000" dirty="0"/>
            </a:br>
            <a:r>
              <a:rPr lang="en-US" altLang="zh-TW" sz="4000" dirty="0"/>
              <a:t>       Graph Isomorphism</a:t>
            </a:r>
            <a:endParaRPr lang="en-US" altLang="zh-TW" sz="4000" dirty="0"/>
          </a:p>
        </p:txBody>
      </p:sp>
      <p:sp>
        <p:nvSpPr>
          <p:cNvPr id="30723" name="Rectangle 3"/>
          <p:cNvSpPr>
            <a:spLocks noGrp="1"/>
          </p:cNvSpPr>
          <p:nvPr>
            <p:ph type="body" sz="half" idx="1"/>
          </p:nvPr>
        </p:nvSpPr>
        <p:spPr>
          <a:xfrm>
            <a:off x="152400" y="1828800"/>
            <a:ext cx="8839200" cy="1524000"/>
          </a:xfrm>
        </p:spPr>
        <p:txBody>
          <a:bodyPr vert="horz" wrap="square" lIns="91440" tIns="45720" rIns="91440" bIns="45720" anchor="t"/>
          <a:p>
            <a:pPr eaLnBrk="1" hangingPunct="1">
              <a:buNone/>
            </a:pPr>
            <a:r>
              <a:rPr lang="en-US" altLang="zh-TW" sz="2800" b="1" dirty="0">
                <a:solidFill>
                  <a:srgbClr val="008000"/>
                </a:solidFill>
              </a:rPr>
              <a:t>※</a:t>
            </a:r>
            <a:r>
              <a:rPr lang="en-US" altLang="zh-TW" sz="2800" b="1" u="sng" dirty="0">
                <a:solidFill>
                  <a:srgbClr val="008000"/>
                </a:solidFill>
              </a:rPr>
              <a:t>Adjacency list</a:t>
            </a:r>
            <a:endParaRPr lang="en-US" altLang="zh-TW" sz="2800" b="1" u="sng" dirty="0">
              <a:solidFill>
                <a:srgbClr val="008000"/>
              </a:solidFill>
            </a:endParaRPr>
          </a:p>
          <a:p>
            <a:pPr eaLnBrk="1" hangingPunct="1">
              <a:buNone/>
            </a:pPr>
            <a:r>
              <a:rPr lang="en-US" altLang="zh-TW" sz="2800" b="1" dirty="0">
                <a:solidFill>
                  <a:srgbClr val="008000"/>
                </a:solidFill>
              </a:rPr>
              <a:t>Example 1.</a:t>
            </a:r>
            <a:r>
              <a:rPr lang="en-US" altLang="zh-TW" sz="2800" dirty="0"/>
              <a:t>   Use adjacency lists to describe the simple graph given below.</a:t>
            </a:r>
            <a:endParaRPr lang="en-US" altLang="zh-TW" sz="2800" dirty="0"/>
          </a:p>
        </p:txBody>
      </p:sp>
      <p:grpSp>
        <p:nvGrpSpPr>
          <p:cNvPr id="30724" name="Group 58"/>
          <p:cNvGrpSpPr/>
          <p:nvPr/>
        </p:nvGrpSpPr>
        <p:grpSpPr>
          <a:xfrm>
            <a:off x="304800" y="3657600"/>
            <a:ext cx="2887663" cy="2454275"/>
            <a:chOff x="192" y="2304"/>
            <a:chExt cx="1819" cy="1546"/>
          </a:xfrm>
        </p:grpSpPr>
        <p:cxnSp>
          <p:nvCxnSpPr>
            <p:cNvPr id="30755" name="AutoShape 10"/>
            <p:cNvCxnSpPr>
              <a:stCxn id="30749" idx="3"/>
              <a:endCxn id="30750" idx="7"/>
            </p:cNvCxnSpPr>
            <p:nvPr/>
          </p:nvCxnSpPr>
          <p:spPr>
            <a:xfrm rot="5400000">
              <a:off x="586" y="2506"/>
              <a:ext cx="364" cy="604"/>
            </a:xfrm>
            <a:prstGeom prst="straightConnector1">
              <a:avLst/>
            </a:prstGeom>
            <a:ln w="9525" cap="flat" cmpd="sng">
              <a:solidFill>
                <a:schemeClr val="tx1"/>
              </a:solidFill>
              <a:prstDash val="solid"/>
              <a:headEnd type="none" w="med" len="med"/>
              <a:tailEnd type="none" w="med" len="med"/>
            </a:ln>
          </p:spPr>
        </p:cxnSp>
        <p:cxnSp>
          <p:nvCxnSpPr>
            <p:cNvPr id="30756" name="AutoShape 11"/>
            <p:cNvCxnSpPr>
              <a:endCxn id="30751" idx="1"/>
            </p:cNvCxnSpPr>
            <p:nvPr/>
          </p:nvCxnSpPr>
          <p:spPr>
            <a:xfrm rot="-5400000" flipH="1">
              <a:off x="312" y="3144"/>
              <a:ext cx="542" cy="302"/>
            </a:xfrm>
            <a:prstGeom prst="straightConnector1">
              <a:avLst/>
            </a:prstGeom>
            <a:ln w="9525" cap="flat" cmpd="sng">
              <a:solidFill>
                <a:schemeClr val="tx1"/>
              </a:solidFill>
              <a:prstDash val="solid"/>
              <a:headEnd type="none" w="med" len="med"/>
              <a:tailEnd type="none" w="med" len="med"/>
            </a:ln>
          </p:spPr>
        </p:cxnSp>
        <p:cxnSp>
          <p:nvCxnSpPr>
            <p:cNvPr id="30757" name="AutoShape 13"/>
            <p:cNvCxnSpPr>
              <a:endCxn id="30752" idx="7"/>
            </p:cNvCxnSpPr>
            <p:nvPr/>
          </p:nvCxnSpPr>
          <p:spPr>
            <a:xfrm rot="5400000">
              <a:off x="1454" y="3139"/>
              <a:ext cx="542" cy="313"/>
            </a:xfrm>
            <a:prstGeom prst="straightConnector1">
              <a:avLst/>
            </a:prstGeom>
            <a:ln w="9525" cap="flat" cmpd="sng">
              <a:solidFill>
                <a:schemeClr val="tx1"/>
              </a:solidFill>
              <a:prstDash val="solid"/>
              <a:headEnd type="none" w="med" len="med"/>
              <a:tailEnd type="none" w="med" len="med"/>
            </a:ln>
          </p:spPr>
        </p:cxnSp>
        <p:cxnSp>
          <p:nvCxnSpPr>
            <p:cNvPr id="30758" name="AutoShape 14"/>
            <p:cNvCxnSpPr>
              <a:endCxn id="30752" idx="2"/>
            </p:cNvCxnSpPr>
            <p:nvPr/>
          </p:nvCxnSpPr>
          <p:spPr>
            <a:xfrm>
              <a:off x="768" y="3600"/>
              <a:ext cx="720" cy="0"/>
            </a:xfrm>
            <a:prstGeom prst="straightConnector1">
              <a:avLst/>
            </a:prstGeom>
            <a:ln w="9525" cap="flat" cmpd="sng">
              <a:solidFill>
                <a:schemeClr val="tx1"/>
              </a:solidFill>
              <a:prstDash val="solid"/>
              <a:headEnd type="none" w="med" len="med"/>
              <a:tailEnd type="none" w="med" len="med"/>
            </a:ln>
          </p:spPr>
        </p:cxnSp>
        <p:cxnSp>
          <p:nvCxnSpPr>
            <p:cNvPr id="30759" name="AutoShape 15"/>
            <p:cNvCxnSpPr>
              <a:stCxn id="30750" idx="6"/>
              <a:endCxn id="30753" idx="2"/>
            </p:cNvCxnSpPr>
            <p:nvPr/>
          </p:nvCxnSpPr>
          <p:spPr>
            <a:xfrm>
              <a:off x="480" y="3024"/>
              <a:ext cx="1344" cy="1"/>
            </a:xfrm>
            <a:prstGeom prst="straightConnector1">
              <a:avLst/>
            </a:prstGeom>
            <a:ln w="9525" cap="flat" cmpd="sng">
              <a:solidFill>
                <a:schemeClr val="tx1"/>
              </a:solidFill>
              <a:prstDash val="solid"/>
              <a:headEnd type="none" w="med" len="med"/>
              <a:tailEnd type="none" w="med" len="med"/>
            </a:ln>
          </p:spPr>
        </p:cxnSp>
        <p:cxnSp>
          <p:nvCxnSpPr>
            <p:cNvPr id="30760" name="AutoShape 16"/>
            <p:cNvCxnSpPr>
              <a:stCxn id="30753" idx="3"/>
              <a:endCxn id="30751" idx="7"/>
            </p:cNvCxnSpPr>
            <p:nvPr/>
          </p:nvCxnSpPr>
          <p:spPr>
            <a:xfrm rot="5400000">
              <a:off x="1066" y="2794"/>
              <a:ext cx="508" cy="1036"/>
            </a:xfrm>
            <a:prstGeom prst="straightConnector1">
              <a:avLst/>
            </a:prstGeom>
            <a:ln w="9525" cap="flat" cmpd="sng">
              <a:solidFill>
                <a:schemeClr val="tx1"/>
              </a:solidFill>
              <a:prstDash val="solid"/>
              <a:headEnd type="none" w="med" len="med"/>
              <a:tailEnd type="none" w="med" len="med"/>
            </a:ln>
          </p:spPr>
        </p:cxnSp>
        <p:sp>
          <p:nvSpPr>
            <p:cNvPr id="30761" name="Text Box 17"/>
            <p:cNvSpPr txBox="1"/>
            <p:nvPr/>
          </p:nvSpPr>
          <p:spPr>
            <a:xfrm>
              <a:off x="912" y="2304"/>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30762" name="Text Box 18"/>
            <p:cNvSpPr txBox="1"/>
            <p:nvPr/>
          </p:nvSpPr>
          <p:spPr>
            <a:xfrm>
              <a:off x="192" y="2832"/>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30763" name="Text Box 19"/>
            <p:cNvSpPr txBox="1"/>
            <p:nvPr/>
          </p:nvSpPr>
          <p:spPr>
            <a:xfrm>
              <a:off x="528" y="3552"/>
              <a:ext cx="234"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30764" name="Text Box 20"/>
            <p:cNvSpPr txBox="1"/>
            <p:nvPr/>
          </p:nvSpPr>
          <p:spPr>
            <a:xfrm>
              <a:off x="1536" y="3600"/>
              <a:ext cx="196"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30765" name="Text Box 21"/>
            <p:cNvSpPr txBox="1"/>
            <p:nvPr/>
          </p:nvSpPr>
          <p:spPr>
            <a:xfrm>
              <a:off x="1824" y="2784"/>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grpSp>
      <p:graphicFrame>
        <p:nvGraphicFramePr>
          <p:cNvPr id="60478" name="Group 62"/>
          <p:cNvGraphicFramePr>
            <a:graphicFrameLocks noGrp="1"/>
          </p:cNvGraphicFramePr>
          <p:nvPr>
            <p:ph sz="half" idx="1"/>
          </p:nvPr>
        </p:nvGraphicFramePr>
        <p:xfrm>
          <a:off x="4267200" y="3429000"/>
          <a:ext cx="4419600" cy="2898775"/>
        </p:xfrm>
        <a:graphic>
          <a:graphicData uri="http://schemas.openxmlformats.org/drawingml/2006/table">
            <a:tbl>
              <a:tblPr/>
              <a:tblGrid>
                <a:gridCol w="1295400"/>
                <a:gridCol w="3124200"/>
              </a:tblGrid>
              <a:tr h="533400">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rPr>
                        <a:t>Vertex</a:t>
                      </a:r>
                      <a:endPar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rPr>
                        <a:t>Adjacent Vertices</a:t>
                      </a:r>
                      <a:endParaRPr kumimoji="1" lang="en-US" altLang="zh-TW" sz="2800" b="0" i="0" u="none" strike="noStrike" cap="none" normalizeH="0" baseline="0" smtClean="0">
                        <a:ln>
                          <a:noFill/>
                        </a:ln>
                        <a:solidFill>
                          <a:schemeClr val="tx1"/>
                        </a:solidFill>
                        <a:effectLst/>
                        <a:latin typeface="Arial" panose="020B0604020202020204" pitchFamily="34" charset="0"/>
                        <a:ea typeface="PMingLiU" pitchFamily="18" charset="-12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3075">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a</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b,c,e</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3075">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b</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a</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3075">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c</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a,d,e</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3075">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d</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c,e</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3075">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e</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a,c,d</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748" name="Text Box 63"/>
          <p:cNvSpPr txBox="1"/>
          <p:nvPr/>
        </p:nvSpPr>
        <p:spPr>
          <a:xfrm>
            <a:off x="3276600" y="3429000"/>
            <a:ext cx="1017588"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 :</a:t>
            </a:r>
            <a:r>
              <a:rPr lang="en-US" altLang="zh-TW" sz="1800" dirty="0"/>
              <a:t> </a:t>
            </a:r>
            <a:endParaRPr lang="en-US" altLang="zh-TW" sz="1800" dirty="0"/>
          </a:p>
        </p:txBody>
      </p:sp>
      <p:sp>
        <p:nvSpPr>
          <p:cNvPr id="30749" name="Oval 4"/>
          <p:cNvSpPr/>
          <p:nvPr/>
        </p:nvSpPr>
        <p:spPr>
          <a:xfrm>
            <a:off x="1676400" y="4038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0750" name="Oval 4"/>
          <p:cNvSpPr/>
          <p:nvPr/>
        </p:nvSpPr>
        <p:spPr>
          <a:xfrm>
            <a:off x="609600" y="4724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0751" name="Oval 4"/>
          <p:cNvSpPr/>
          <p:nvPr/>
        </p:nvSpPr>
        <p:spPr>
          <a:xfrm>
            <a:off x="1143000" y="5638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0752" name="Oval 4"/>
          <p:cNvSpPr/>
          <p:nvPr/>
        </p:nvSpPr>
        <p:spPr>
          <a:xfrm>
            <a:off x="2362200" y="5638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0753" name="Oval 4"/>
          <p:cNvSpPr/>
          <p:nvPr/>
        </p:nvSpPr>
        <p:spPr>
          <a:xfrm>
            <a:off x="2895600" y="4724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0754" name="投影片編號版面配置區 2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478"/>
                                        </p:tgtEl>
                                        <p:attrNameLst>
                                          <p:attrName>style.visibility</p:attrName>
                                        </p:attrNameLst>
                                      </p:cBhvr>
                                      <p:to>
                                        <p:strVal val="visible"/>
                                      </p:to>
                                    </p:set>
                                    <p:anim calcmode="lin" valueType="num">
                                      <p:cBhvr additive="base">
                                        <p:cTn id="7" dur="500" fill="hold"/>
                                        <p:tgtEl>
                                          <p:spTgt spid="60478"/>
                                        </p:tgtEl>
                                        <p:attrNameLst>
                                          <p:attrName>ppt_x</p:attrName>
                                        </p:attrNameLst>
                                      </p:cBhvr>
                                      <p:tavLst>
                                        <p:tav tm="0">
                                          <p:val>
                                            <p:strVal val="#ppt_x"/>
                                          </p:val>
                                        </p:tav>
                                        <p:tav tm="100000">
                                          <p:val>
                                            <p:strVal val="#ppt_x"/>
                                          </p:val>
                                        </p:tav>
                                      </p:tavLst>
                                    </p:anim>
                                    <p:anim calcmode="lin" valueType="num">
                                      <p:cBhvr additive="base">
                                        <p:cTn id="8" dur="500" fill="hold"/>
                                        <p:tgtEl>
                                          <p:spTgt spid="604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3"/>
          <p:cNvSpPr>
            <a:spLocks noGrp="1"/>
          </p:cNvSpPr>
          <p:nvPr>
            <p:ph type="body" sz="half" idx="1"/>
          </p:nvPr>
        </p:nvSpPr>
        <p:spPr>
          <a:xfrm>
            <a:off x="228600" y="457200"/>
            <a:ext cx="4572000" cy="762000"/>
          </a:xfrm>
        </p:spPr>
        <p:txBody>
          <a:bodyPr vert="horz" wrap="square" lIns="91440" tIns="45720" rIns="91440" bIns="45720" anchor="t"/>
          <a:p>
            <a:pPr eaLnBrk="1" hangingPunct="1">
              <a:buNone/>
            </a:pPr>
            <a:r>
              <a:rPr lang="en-US" altLang="zh-TW" b="1" dirty="0">
                <a:solidFill>
                  <a:srgbClr val="008000"/>
                </a:solidFill>
              </a:rPr>
              <a:t>Example 2.</a:t>
            </a:r>
            <a:r>
              <a:rPr lang="en-US" altLang="zh-TW" dirty="0"/>
              <a:t> (digraph)</a:t>
            </a:r>
            <a:endParaRPr lang="en-US" altLang="zh-TW" dirty="0"/>
          </a:p>
        </p:txBody>
      </p:sp>
      <p:cxnSp>
        <p:nvCxnSpPr>
          <p:cNvPr id="31747" name="AutoShape 10"/>
          <p:cNvCxnSpPr>
            <a:endCxn id="31782" idx="3"/>
          </p:cNvCxnSpPr>
          <p:nvPr/>
        </p:nvCxnSpPr>
        <p:spPr>
          <a:xfrm flipV="1">
            <a:off x="685800" y="2187575"/>
            <a:ext cx="1470025" cy="917575"/>
          </a:xfrm>
          <a:prstGeom prst="straightConnector1">
            <a:avLst/>
          </a:prstGeom>
          <a:ln w="9525" cap="flat" cmpd="sng">
            <a:solidFill>
              <a:schemeClr val="tx1"/>
            </a:solidFill>
            <a:prstDash val="solid"/>
            <a:headEnd type="none" w="med" len="med"/>
            <a:tailEnd type="triangle" w="lg" len="lg"/>
          </a:ln>
        </p:spPr>
      </p:cxnSp>
      <p:cxnSp>
        <p:nvCxnSpPr>
          <p:cNvPr id="31748" name="AutoShape 11"/>
          <p:cNvCxnSpPr>
            <a:endCxn id="31787" idx="1"/>
          </p:cNvCxnSpPr>
          <p:nvPr/>
        </p:nvCxnSpPr>
        <p:spPr>
          <a:xfrm rot="-5400000" flipH="1">
            <a:off x="190500" y="3619500"/>
            <a:ext cx="1698625" cy="708025"/>
          </a:xfrm>
          <a:prstGeom prst="straightConnector1">
            <a:avLst/>
          </a:prstGeom>
          <a:ln w="9525" cap="flat" cmpd="sng">
            <a:solidFill>
              <a:schemeClr val="tx1"/>
            </a:solidFill>
            <a:prstDash val="solid"/>
            <a:headEnd type="none" w="med" len="med"/>
            <a:tailEnd type="triangle" w="lg" len="lg"/>
          </a:ln>
        </p:spPr>
      </p:cxnSp>
      <p:cxnSp>
        <p:nvCxnSpPr>
          <p:cNvPr id="31749" name="AutoShape 12"/>
          <p:cNvCxnSpPr>
            <a:endCxn id="31788" idx="2"/>
          </p:cNvCxnSpPr>
          <p:nvPr/>
        </p:nvCxnSpPr>
        <p:spPr>
          <a:xfrm>
            <a:off x="1524000" y="4876800"/>
            <a:ext cx="1600200" cy="0"/>
          </a:xfrm>
          <a:prstGeom prst="straightConnector1">
            <a:avLst/>
          </a:prstGeom>
          <a:ln w="9525" cap="flat" cmpd="sng">
            <a:solidFill>
              <a:schemeClr val="tx1"/>
            </a:solidFill>
            <a:prstDash val="solid"/>
            <a:headEnd type="none" w="med" len="med"/>
            <a:tailEnd type="triangle" w="lg" len="lg"/>
          </a:ln>
        </p:spPr>
      </p:cxnSp>
      <p:cxnSp>
        <p:nvCxnSpPr>
          <p:cNvPr id="31750" name="AutoShape 14"/>
          <p:cNvCxnSpPr>
            <a:endCxn id="31788" idx="1"/>
          </p:cNvCxnSpPr>
          <p:nvPr/>
        </p:nvCxnSpPr>
        <p:spPr>
          <a:xfrm>
            <a:off x="685800" y="3124200"/>
            <a:ext cx="2460625" cy="1698625"/>
          </a:xfrm>
          <a:prstGeom prst="straightConnector1">
            <a:avLst/>
          </a:prstGeom>
          <a:ln w="9525" cap="flat" cmpd="sng">
            <a:solidFill>
              <a:schemeClr val="tx1"/>
            </a:solidFill>
            <a:prstDash val="solid"/>
            <a:headEnd type="none" w="med" len="med"/>
            <a:tailEnd type="triangle" w="lg" len="lg"/>
          </a:ln>
        </p:spPr>
      </p:cxnSp>
      <p:cxnSp>
        <p:nvCxnSpPr>
          <p:cNvPr id="31751" name="AutoShape 15"/>
          <p:cNvCxnSpPr>
            <a:stCxn id="31787" idx="3"/>
          </p:cNvCxnSpPr>
          <p:nvPr/>
        </p:nvCxnSpPr>
        <p:spPr>
          <a:xfrm rot="5400000" flipH="1" flipV="1">
            <a:off x="441325" y="3162300"/>
            <a:ext cx="2720975" cy="815975"/>
          </a:xfrm>
          <a:prstGeom prst="straightConnector1">
            <a:avLst/>
          </a:prstGeom>
          <a:ln w="9525" cap="flat" cmpd="sng">
            <a:solidFill>
              <a:schemeClr val="tx1"/>
            </a:solidFill>
            <a:prstDash val="solid"/>
            <a:headEnd type="none" w="med" len="med"/>
            <a:tailEnd type="triangle" w="lg" len="lg"/>
          </a:ln>
        </p:spPr>
      </p:cxnSp>
      <p:cxnSp>
        <p:nvCxnSpPr>
          <p:cNvPr id="31752" name="AutoShape 16"/>
          <p:cNvCxnSpPr>
            <a:endCxn id="31788" idx="0"/>
          </p:cNvCxnSpPr>
          <p:nvPr/>
        </p:nvCxnSpPr>
        <p:spPr>
          <a:xfrm rot="-5400000" flipH="1">
            <a:off x="1371600" y="2971800"/>
            <a:ext cx="2667000" cy="990600"/>
          </a:xfrm>
          <a:prstGeom prst="straightConnector1">
            <a:avLst/>
          </a:prstGeom>
          <a:ln w="9525" cap="flat" cmpd="sng">
            <a:solidFill>
              <a:schemeClr val="tx1"/>
            </a:solidFill>
            <a:prstDash val="solid"/>
            <a:headEnd type="none" w="med" len="med"/>
            <a:tailEnd type="triangle" w="lg" len="lg"/>
          </a:ln>
        </p:spPr>
      </p:cxnSp>
      <p:cxnSp>
        <p:nvCxnSpPr>
          <p:cNvPr id="31753" name="AutoShape 21"/>
          <p:cNvCxnSpPr>
            <a:stCxn id="31786" idx="3"/>
            <a:endCxn id="31787" idx="7"/>
          </p:cNvCxnSpPr>
          <p:nvPr/>
        </p:nvCxnSpPr>
        <p:spPr>
          <a:xfrm rot="5400000">
            <a:off x="1692275" y="2987675"/>
            <a:ext cx="1644650" cy="2025650"/>
          </a:xfrm>
          <a:prstGeom prst="straightConnector1">
            <a:avLst/>
          </a:prstGeom>
          <a:ln w="9525" cap="flat" cmpd="sng">
            <a:solidFill>
              <a:schemeClr val="tx1"/>
            </a:solidFill>
            <a:prstDash val="solid"/>
            <a:headEnd type="none" w="med" len="med"/>
            <a:tailEnd type="triangle" w="lg" len="lg"/>
          </a:ln>
        </p:spPr>
      </p:cxnSp>
      <p:sp>
        <p:nvSpPr>
          <p:cNvPr id="31754" name="Text Box 25"/>
          <p:cNvSpPr txBox="1"/>
          <p:nvPr/>
        </p:nvSpPr>
        <p:spPr>
          <a:xfrm>
            <a:off x="304800" y="289560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31755" name="Text Box 26"/>
          <p:cNvSpPr txBox="1"/>
          <p:nvPr/>
        </p:nvSpPr>
        <p:spPr>
          <a:xfrm>
            <a:off x="1828800" y="1905000"/>
            <a:ext cx="3048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31756" name="Text Box 27"/>
          <p:cNvSpPr txBox="1"/>
          <p:nvPr/>
        </p:nvSpPr>
        <p:spPr>
          <a:xfrm>
            <a:off x="1219200" y="4876800"/>
            <a:ext cx="2190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31757" name="Text Box 28"/>
          <p:cNvSpPr txBox="1"/>
          <p:nvPr/>
        </p:nvSpPr>
        <p:spPr>
          <a:xfrm>
            <a:off x="3048000" y="495300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31758" name="Text Box 29"/>
          <p:cNvSpPr txBox="1"/>
          <p:nvPr/>
        </p:nvSpPr>
        <p:spPr>
          <a:xfrm>
            <a:off x="3352800" y="2590800"/>
            <a:ext cx="2984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graphicFrame>
        <p:nvGraphicFramePr>
          <p:cNvPr id="38966" name="Group 54"/>
          <p:cNvGraphicFramePr>
            <a:graphicFrameLocks noGrp="1"/>
          </p:cNvGraphicFramePr>
          <p:nvPr>
            <p:ph sz="half" idx="1"/>
          </p:nvPr>
        </p:nvGraphicFramePr>
        <p:xfrm>
          <a:off x="4419600" y="2209800"/>
          <a:ext cx="4114800" cy="2743200"/>
        </p:xfrm>
        <a:graphic>
          <a:graphicData uri="http://schemas.openxmlformats.org/drawingml/2006/table">
            <a:tbl>
              <a:tblPr/>
              <a:tblGrid>
                <a:gridCol w="1749425"/>
                <a:gridCol w="2365375"/>
              </a:tblGrid>
              <a:tr h="0">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0"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Initial vertex</a:t>
                      </a:r>
                      <a:endParaRPr kumimoji="1" lang="en-US" altLang="zh-TW" sz="2400" b="0" i="0"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0"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Terminal vertices</a:t>
                      </a:r>
                      <a:endParaRPr kumimoji="1" lang="en-US" altLang="zh-TW" sz="2400" b="0" i="0"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a</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b,c,d,e</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b</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b,d</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c</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a,c,e</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d</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1" lang="zh-TW"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e</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kumimoji="1" sz="2800">
                          <a:solidFill>
                            <a:schemeClr val="tx1"/>
                          </a:solidFill>
                          <a:latin typeface="Arial" panose="020B0604020202020204" pitchFamily="34" charset="0"/>
                          <a:ea typeface="PMingLiU" pitchFamily="18" charset="-120"/>
                        </a:defRPr>
                      </a:lvl1pPr>
                      <a:lvl2pPr marL="742950" indent="-285750" eaLnBrk="0" hangingPunct="0">
                        <a:spcBef>
                          <a:spcPct val="20000"/>
                        </a:spcBef>
                        <a:buClr>
                          <a:schemeClr val="accent2"/>
                        </a:buClr>
                        <a:buSzPct val="80000"/>
                        <a:buFont typeface="Wingdings" panose="05000000000000000000" pitchFamily="2" charset="2"/>
                        <a:defRPr kumimoji="1" sz="2400">
                          <a:solidFill>
                            <a:schemeClr val="tx1"/>
                          </a:solidFill>
                          <a:latin typeface="Arial" panose="020B0604020202020204" pitchFamily="34" charset="0"/>
                          <a:ea typeface="PMingLiU" pitchFamily="18" charset="-120"/>
                        </a:defRPr>
                      </a:lvl2pPr>
                      <a:lvl3pPr marL="1143000" indent="-228600" eaLnBrk="0" hangingPunct="0">
                        <a:spcBef>
                          <a:spcPct val="20000"/>
                        </a:spcBef>
                        <a:buClr>
                          <a:schemeClr val="bg2"/>
                        </a:buClr>
                        <a:buSzPct val="65000"/>
                        <a:buFont typeface="Wingdings" panose="05000000000000000000" pitchFamily="2" charset="2"/>
                        <a:defRPr kumimoji="1" sz="2000">
                          <a:solidFill>
                            <a:schemeClr val="tx1"/>
                          </a:solidFill>
                          <a:latin typeface="Arial" panose="020B0604020202020204" pitchFamily="34" charset="0"/>
                          <a:ea typeface="PMingLiU"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PMingLiU" pitchFamily="18" charset="-120"/>
                        </a:defRPr>
                      </a:lvl4pPr>
                      <a:lvl5pPr marL="2057400" indent="-228600" eaLnBrk="0" hangingPunct="0">
                        <a:spcBef>
                          <a:spcPct val="20000"/>
                        </a:spcBef>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20000"/>
                        </a:spcBef>
                        <a:spcAft>
                          <a:spcPct val="0"/>
                        </a:spcAft>
                        <a:buClr>
                          <a:schemeClr val="bg2"/>
                        </a:buClr>
                        <a:buFont typeface="Wingdings" panose="05000000000000000000" pitchFamily="2" charset="2"/>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b,c,d</a:t>
                      </a:r>
                      <a:endParaRPr kumimoji="1" lang="en-US" altLang="zh-TW" sz="2400" b="0" i="1" u="none" strike="noStrike" cap="none" normalizeH="0" baseline="0" smtClean="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1782" name="Oval 4"/>
          <p:cNvSpPr/>
          <p:nvPr/>
        </p:nvSpPr>
        <p:spPr>
          <a:xfrm>
            <a:off x="2133600" y="2057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61" name="橢圓 60"/>
          <p:cNvSpPr/>
          <p:nvPr/>
        </p:nvSpPr>
        <p:spPr>
          <a:xfrm>
            <a:off x="3581400" y="2819400"/>
            <a:ext cx="381000" cy="4572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2000" b="0" i="1" u="none" strike="noStrike" kern="1200" cap="none" spc="0" normalizeH="0" baseline="0" noProof="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cxnSp>
        <p:nvCxnSpPr>
          <p:cNvPr id="31784" name="AutoShape 10"/>
          <p:cNvCxnSpPr/>
          <p:nvPr/>
        </p:nvCxnSpPr>
        <p:spPr>
          <a:xfrm rot="5400000" flipH="1">
            <a:off x="3614738" y="3181350"/>
            <a:ext cx="76200" cy="114300"/>
          </a:xfrm>
          <a:prstGeom prst="straightConnector1">
            <a:avLst/>
          </a:prstGeom>
          <a:ln w="9525" cap="flat" cmpd="sng">
            <a:solidFill>
              <a:schemeClr val="tx1"/>
            </a:solidFill>
            <a:prstDash val="solid"/>
            <a:headEnd type="none" w="med" len="med"/>
            <a:tailEnd type="triangle" w="lg" len="lg"/>
          </a:ln>
        </p:spPr>
      </p:cxnSp>
      <p:sp>
        <p:nvSpPr>
          <p:cNvPr id="31785" name="Oval 4"/>
          <p:cNvSpPr/>
          <p:nvPr/>
        </p:nvSpPr>
        <p:spPr>
          <a:xfrm>
            <a:off x="609600" y="3048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1786" name="Oval 4"/>
          <p:cNvSpPr/>
          <p:nvPr/>
        </p:nvSpPr>
        <p:spPr>
          <a:xfrm>
            <a:off x="3505200" y="3048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1787" name="Oval 4"/>
          <p:cNvSpPr/>
          <p:nvPr/>
        </p:nvSpPr>
        <p:spPr>
          <a:xfrm>
            <a:off x="1371600" y="4800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1788" name="Oval 4"/>
          <p:cNvSpPr/>
          <p:nvPr/>
        </p:nvSpPr>
        <p:spPr>
          <a:xfrm>
            <a:off x="3124200" y="4800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cxnSp>
        <p:nvCxnSpPr>
          <p:cNvPr id="78" name="弧形接點 77"/>
          <p:cNvCxnSpPr>
            <a:stCxn id="31785" idx="0"/>
            <a:endCxn id="31786" idx="1"/>
          </p:cNvCxnSpPr>
          <p:nvPr/>
        </p:nvCxnSpPr>
        <p:spPr>
          <a:xfrm rot="16200000" flipH="1">
            <a:off x="2095500" y="1638300"/>
            <a:ext cx="22225" cy="2841625"/>
          </a:xfrm>
          <a:prstGeom prst="curvedConnector3">
            <a:avLst>
              <a:gd name="adj1" fmla="val -1023827"/>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4" name="弧形接點 83"/>
          <p:cNvCxnSpPr>
            <a:stCxn id="31785" idx="6"/>
            <a:endCxn id="31786" idx="2"/>
          </p:cNvCxnSpPr>
          <p:nvPr/>
        </p:nvCxnSpPr>
        <p:spPr>
          <a:xfrm>
            <a:off x="762000" y="3124200"/>
            <a:ext cx="2743200" cy="1588"/>
          </a:xfrm>
          <a:prstGeom prst="curvedConnector3">
            <a:avLst>
              <a:gd name="adj1" fmla="val 50000"/>
            </a:avLst>
          </a:prstGeom>
          <a:ln>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101" name="弧形接點 100"/>
          <p:cNvCxnSpPr>
            <a:stCxn id="31787" idx="6"/>
            <a:endCxn id="31786" idx="4"/>
          </p:cNvCxnSpPr>
          <p:nvPr/>
        </p:nvCxnSpPr>
        <p:spPr>
          <a:xfrm flipV="1">
            <a:off x="1524000" y="3200400"/>
            <a:ext cx="2057400" cy="1676400"/>
          </a:xfrm>
          <a:prstGeom prst="curvedConnector2">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6" name="橢圓 115"/>
          <p:cNvSpPr/>
          <p:nvPr/>
        </p:nvSpPr>
        <p:spPr>
          <a:xfrm>
            <a:off x="2057400" y="1676400"/>
            <a:ext cx="381000" cy="4572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2000" b="0" i="1" u="none" strike="noStrike" kern="1200" cap="none" spc="0" normalizeH="0" baseline="0" noProof="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cxnSp>
        <p:nvCxnSpPr>
          <p:cNvPr id="31793" name="AutoShape 10"/>
          <p:cNvCxnSpPr>
            <a:stCxn id="116" idx="5"/>
          </p:cNvCxnSpPr>
          <p:nvPr/>
        </p:nvCxnSpPr>
        <p:spPr>
          <a:xfrm rot="5400000">
            <a:off x="2295525" y="2055813"/>
            <a:ext cx="76200" cy="96837"/>
          </a:xfrm>
          <a:prstGeom prst="straightConnector1">
            <a:avLst/>
          </a:prstGeom>
          <a:ln w="9525" cap="flat" cmpd="sng">
            <a:solidFill>
              <a:schemeClr val="tx1"/>
            </a:solidFill>
            <a:prstDash val="solid"/>
            <a:headEnd type="none" w="med" len="med"/>
            <a:tailEnd type="triangle" w="lg" len="lg"/>
          </a:ln>
        </p:spPr>
      </p:cxnSp>
      <p:sp>
        <p:nvSpPr>
          <p:cNvPr id="29" name="矩形 28"/>
          <p:cNvSpPr/>
          <p:nvPr/>
        </p:nvSpPr>
        <p:spPr>
          <a:xfrm>
            <a:off x="381000" y="6172200"/>
            <a:ext cx="1897063"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3</a:t>
            </a:r>
            <a:endParaRPr lang="zh-TW" altLang="en-US" sz="2400" dirty="0">
              <a:solidFill>
                <a:srgbClr val="0000CC"/>
              </a:solidFill>
            </a:endParaRPr>
          </a:p>
        </p:txBody>
      </p:sp>
      <p:sp>
        <p:nvSpPr>
          <p:cNvPr id="31795" name="投影片編號版面配置區 29"/>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66"/>
                                        </p:tgtEl>
                                        <p:attrNameLst>
                                          <p:attrName>style.visibility</p:attrName>
                                        </p:attrNameLst>
                                      </p:cBhvr>
                                      <p:to>
                                        <p:strVal val="visible"/>
                                      </p:to>
                                    </p:set>
                                    <p:anim calcmode="lin" valueType="num">
                                      <p:cBhvr additive="base">
                                        <p:cTn id="7" dur="500" fill="hold"/>
                                        <p:tgtEl>
                                          <p:spTgt spid="38966"/>
                                        </p:tgtEl>
                                        <p:attrNameLst>
                                          <p:attrName>ppt_x</p:attrName>
                                        </p:attrNameLst>
                                      </p:cBhvr>
                                      <p:tavLst>
                                        <p:tav tm="0">
                                          <p:val>
                                            <p:strVal val="#ppt_x"/>
                                          </p:val>
                                        </p:tav>
                                        <p:tav tm="100000">
                                          <p:val>
                                            <p:strVal val="#ppt_x"/>
                                          </p:val>
                                        </p:tav>
                                      </p:tavLst>
                                    </p:anim>
                                    <p:anim calcmode="lin" valueType="num">
                                      <p:cBhvr additive="base">
                                        <p:cTn id="8" dur="500" fill="hold"/>
                                        <p:tgtEl>
                                          <p:spTgt spid="389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3"/>
          <p:cNvSpPr>
            <a:spLocks noGrp="1"/>
          </p:cNvSpPr>
          <p:nvPr>
            <p:ph type="body" sz="half" idx="1"/>
          </p:nvPr>
        </p:nvSpPr>
        <p:spPr>
          <a:xfrm>
            <a:off x="0" y="533400"/>
            <a:ext cx="8991600" cy="2514600"/>
          </a:xfrm>
        </p:spPr>
        <p:txBody>
          <a:bodyPr vert="horz" wrap="square" lIns="91440" tIns="45720" rIns="91440" bIns="45720" anchor="t"/>
          <a:p>
            <a:pPr eaLnBrk="1" hangingPunct="1">
              <a:buNone/>
            </a:pPr>
            <a:r>
              <a:rPr lang="en-US" altLang="zh-TW" sz="2800" b="1" u="sng" dirty="0">
                <a:solidFill>
                  <a:srgbClr val="008000"/>
                </a:solidFill>
              </a:rPr>
              <a:t>Adjacency Matrices</a:t>
            </a:r>
            <a:endParaRPr lang="en-US" altLang="zh-TW" sz="2800" b="1" u="sng" dirty="0">
              <a:solidFill>
                <a:srgbClr val="008000"/>
              </a:solidFill>
            </a:endParaRPr>
          </a:p>
          <a:p>
            <a:pPr eaLnBrk="1" hangingPunct="1">
              <a:buNone/>
            </a:pPr>
            <a:r>
              <a:rPr lang="en-US" altLang="zh-TW" sz="2800" b="1" dirty="0">
                <a:solidFill>
                  <a:srgbClr val="FF0000"/>
                </a:solidFill>
              </a:rPr>
              <a:t>Def.</a:t>
            </a:r>
            <a:r>
              <a:rPr lang="en-US" altLang="zh-TW" sz="2800" dirty="0"/>
              <a:t>  </a:t>
            </a:r>
            <a:r>
              <a:rPr lang="en-US" altLang="zh-TW" sz="2800" i="1" dirty="0">
                <a:latin typeface="Times New Roman" panose="02020603050405020304" pitchFamily="18" charset="0"/>
              </a:rPr>
              <a:t>G</a:t>
            </a:r>
            <a:r>
              <a:rPr lang="en-US" altLang="zh-TW" sz="2800" dirty="0">
                <a:latin typeface="Times New Roman" panose="02020603050405020304" pitchFamily="18" charset="0"/>
              </a:rPr>
              <a:t>=(</a:t>
            </a:r>
            <a:r>
              <a:rPr lang="en-US" altLang="zh-TW" sz="2800" i="1" dirty="0">
                <a:latin typeface="Times New Roman" panose="02020603050405020304" pitchFamily="18" charset="0"/>
              </a:rPr>
              <a:t>V</a:t>
            </a:r>
            <a:r>
              <a:rPr lang="en-US" altLang="zh-TW" sz="2800" dirty="0">
                <a:latin typeface="Times New Roman" panose="02020603050405020304" pitchFamily="18" charset="0"/>
              </a:rPr>
              <a:t>, </a:t>
            </a:r>
            <a:r>
              <a:rPr lang="en-US" altLang="zh-TW" sz="2800" i="1" dirty="0">
                <a:latin typeface="Times New Roman" panose="02020603050405020304" pitchFamily="18" charset="0"/>
              </a:rPr>
              <a:t>E</a:t>
            </a:r>
            <a:r>
              <a:rPr lang="en-US" altLang="zh-TW" sz="2800" dirty="0">
                <a:latin typeface="Times New Roman" panose="02020603050405020304" pitchFamily="18" charset="0"/>
              </a:rPr>
              <a:t>)</a:t>
            </a:r>
            <a:r>
              <a:rPr lang="en-US" altLang="zh-TW" sz="2800" dirty="0"/>
              <a:t> : simple graph, </a:t>
            </a:r>
            <a:r>
              <a:rPr lang="en-US" altLang="zh-TW" sz="2800" i="1" dirty="0">
                <a:latin typeface="Times New Roman" panose="02020603050405020304" pitchFamily="18" charset="0"/>
              </a:rPr>
              <a:t>V</a:t>
            </a:r>
            <a:r>
              <a:rPr lang="en-US" altLang="zh-TW" sz="2800" dirty="0">
                <a:latin typeface="Times New Roman" panose="02020603050405020304" pitchFamily="18" charset="0"/>
              </a:rPr>
              <a:t>={</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1</a:t>
            </a:r>
            <a:r>
              <a:rPr lang="en-US" altLang="zh-TW" sz="2800" dirty="0">
                <a:latin typeface="Times New Roman" panose="02020603050405020304" pitchFamily="18" charset="0"/>
              </a:rPr>
              <a:t>,</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2</a:t>
            </a:r>
            <a:r>
              <a:rPr lang="en-US" altLang="zh-TW" sz="2800" dirty="0">
                <a:latin typeface="Times New Roman" panose="02020603050405020304" pitchFamily="18" charset="0"/>
              </a:rPr>
              <a:t>,…,</a:t>
            </a:r>
            <a:r>
              <a:rPr lang="en-US" altLang="zh-TW" sz="2800" i="1" dirty="0">
                <a:latin typeface="Times New Roman" panose="02020603050405020304" pitchFamily="18" charset="0"/>
              </a:rPr>
              <a:t>v</a:t>
            </a:r>
            <a:r>
              <a:rPr lang="en-US" altLang="zh-TW" sz="2800" i="1" baseline="-25000" dirty="0">
                <a:latin typeface="Times New Roman" panose="02020603050405020304" pitchFamily="18" charset="0"/>
              </a:rPr>
              <a:t>n</a:t>
            </a:r>
            <a:r>
              <a:rPr lang="en-US" altLang="zh-TW" sz="2800" dirty="0">
                <a:latin typeface="Times New Roman" panose="02020603050405020304" pitchFamily="18" charset="0"/>
              </a:rPr>
              <a:t>}.</a:t>
            </a:r>
            <a:r>
              <a:rPr lang="en-US" altLang="zh-TW" sz="2800" dirty="0"/>
              <a:t> </a:t>
            </a:r>
            <a:endParaRPr lang="en-US" altLang="zh-TW" sz="2800" dirty="0"/>
          </a:p>
          <a:p>
            <a:pPr eaLnBrk="1" hangingPunct="1">
              <a:buNone/>
            </a:pPr>
            <a:r>
              <a:rPr lang="en-US" altLang="zh-TW" sz="2800" dirty="0"/>
              <a:t>   A matrix </a:t>
            </a:r>
            <a:r>
              <a:rPr lang="en-US" altLang="zh-TW" sz="2800" i="1" dirty="0">
                <a:latin typeface="Times New Roman" panose="02020603050405020304" pitchFamily="18" charset="0"/>
              </a:rPr>
              <a:t>A</a:t>
            </a:r>
            <a:r>
              <a:rPr lang="en-US" altLang="zh-TW" sz="2800" dirty="0"/>
              <a:t> is called the </a:t>
            </a:r>
            <a:r>
              <a:rPr lang="en-US" altLang="zh-TW" sz="2800" dirty="0">
                <a:solidFill>
                  <a:srgbClr val="0000CC"/>
                </a:solidFill>
              </a:rPr>
              <a:t>adjacency matrix </a:t>
            </a:r>
            <a:r>
              <a:rPr lang="en-US" altLang="zh-TW" sz="2800" dirty="0"/>
              <a:t>of </a:t>
            </a:r>
            <a:r>
              <a:rPr lang="en-US" altLang="zh-TW" sz="2800" i="1" dirty="0">
                <a:latin typeface="Times New Roman" panose="02020603050405020304" pitchFamily="18" charset="0"/>
              </a:rPr>
              <a:t>G</a:t>
            </a:r>
            <a:endParaRPr lang="en-US" altLang="zh-TW" sz="2800" dirty="0"/>
          </a:p>
          <a:p>
            <a:pPr eaLnBrk="1" hangingPunct="1">
              <a:buNone/>
            </a:pPr>
            <a:r>
              <a:rPr lang="en-US" altLang="zh-TW" sz="2800" dirty="0"/>
              <a:t>   if </a:t>
            </a:r>
            <a:r>
              <a:rPr lang="en-US" altLang="zh-TW" sz="2800" i="1" dirty="0">
                <a:latin typeface="Times New Roman" panose="02020603050405020304" pitchFamily="18" charset="0"/>
              </a:rPr>
              <a:t>A</a:t>
            </a:r>
            <a:r>
              <a:rPr lang="en-US" altLang="zh-TW" sz="2800" dirty="0">
                <a:latin typeface="Times New Roman" panose="02020603050405020304" pitchFamily="18" charset="0"/>
              </a:rPr>
              <a:t>=[</a:t>
            </a:r>
            <a:r>
              <a:rPr lang="en-US" altLang="zh-TW" sz="2800" i="1" dirty="0">
                <a:latin typeface="Times New Roman" panose="02020603050405020304" pitchFamily="18" charset="0"/>
              </a:rPr>
              <a:t>a</a:t>
            </a:r>
            <a:r>
              <a:rPr lang="en-US" altLang="zh-TW" sz="2800" i="1" baseline="-25000" dirty="0">
                <a:latin typeface="Times New Roman" panose="02020603050405020304" pitchFamily="18" charset="0"/>
              </a:rPr>
              <a:t>ij</a:t>
            </a:r>
            <a:r>
              <a:rPr lang="en-US" altLang="zh-TW" sz="2800" dirty="0">
                <a:latin typeface="Times New Roman" panose="02020603050405020304" pitchFamily="18" charset="0"/>
              </a:rPr>
              <a:t>]</a:t>
            </a:r>
            <a:r>
              <a:rPr lang="en-US" altLang="zh-TW" sz="2800" i="1" baseline="-25000" dirty="0">
                <a:latin typeface="Times New Roman" panose="02020603050405020304" pitchFamily="18" charset="0"/>
              </a:rPr>
              <a:t>n</a:t>
            </a:r>
            <a:r>
              <a:rPr lang="en-US" altLang="zh-TW" sz="2800" baseline="-25000" dirty="0">
                <a:latin typeface="Times New Roman" panose="02020603050405020304" pitchFamily="18" charset="0"/>
                <a:sym typeface="Symbol" panose="05050102010706020507" pitchFamily="18" charset="2"/>
              </a:rPr>
              <a:t></a:t>
            </a:r>
            <a:r>
              <a:rPr lang="en-US" altLang="zh-TW" sz="2800" i="1" baseline="-25000" dirty="0">
                <a:latin typeface="Times New Roman" panose="02020603050405020304" pitchFamily="18" charset="0"/>
              </a:rPr>
              <a:t>n</a:t>
            </a:r>
            <a:r>
              <a:rPr lang="en-US" altLang="zh-TW" sz="2800" dirty="0"/>
              <a:t> , where </a:t>
            </a:r>
            <a:r>
              <a:rPr lang="en-US" altLang="zh-TW" sz="2800" i="1" dirty="0">
                <a:latin typeface="Times New Roman" panose="02020603050405020304" pitchFamily="18" charset="0"/>
              </a:rPr>
              <a:t>a</a:t>
            </a:r>
            <a:r>
              <a:rPr lang="en-US" altLang="zh-TW" sz="2800" i="1" baseline="-25000" dirty="0">
                <a:latin typeface="Times New Roman" panose="02020603050405020304" pitchFamily="18" charset="0"/>
              </a:rPr>
              <a:t>ij </a:t>
            </a:r>
            <a:r>
              <a:rPr lang="en-US" altLang="zh-TW" sz="2800" dirty="0">
                <a:latin typeface="Times New Roman" panose="02020603050405020304" pitchFamily="18" charset="0"/>
              </a:rPr>
              <a:t>=    1,  if {</a:t>
            </a:r>
            <a:r>
              <a:rPr lang="en-US" altLang="zh-TW" sz="2800" i="1" dirty="0">
                <a:latin typeface="Times New Roman" panose="02020603050405020304" pitchFamily="18" charset="0"/>
              </a:rPr>
              <a:t>v</a:t>
            </a:r>
            <a:r>
              <a:rPr lang="en-US" altLang="zh-TW" sz="2800" i="1" baseline="-25000" dirty="0">
                <a:latin typeface="Times New Roman" panose="02020603050405020304" pitchFamily="18" charset="0"/>
              </a:rPr>
              <a:t>i</a:t>
            </a:r>
            <a:r>
              <a:rPr lang="en-US" altLang="zh-TW" sz="2800" dirty="0">
                <a:latin typeface="Times New Roman" panose="02020603050405020304" pitchFamily="18" charset="0"/>
              </a:rPr>
              <a:t>,</a:t>
            </a:r>
            <a:r>
              <a:rPr lang="en-US" altLang="zh-TW" sz="2800" i="1" dirty="0">
                <a:latin typeface="Times New Roman" panose="02020603050405020304" pitchFamily="18" charset="0"/>
              </a:rPr>
              <a:t>v</a:t>
            </a:r>
            <a:r>
              <a:rPr lang="en-US" altLang="zh-TW" sz="2800" i="1" baseline="-25000" dirty="0">
                <a:latin typeface="Times New Roman" panose="02020603050405020304" pitchFamily="18" charset="0"/>
              </a:rPr>
              <a:t>j</a:t>
            </a:r>
            <a:r>
              <a:rPr lang="en-US" altLang="zh-TW" sz="2800" dirty="0">
                <a:latin typeface="Times New Roman" panose="02020603050405020304" pitchFamily="18" charset="0"/>
              </a:rPr>
              <a:t>}</a:t>
            </a:r>
            <a:r>
              <a:rPr lang="en-US" altLang="zh-TW" sz="2800" dirty="0">
                <a:latin typeface="Times New Roman" panose="02020603050405020304" pitchFamily="18" charset="0"/>
                <a:sym typeface="Symbol" panose="05050102010706020507" pitchFamily="18" charset="2"/>
              </a:rPr>
              <a:t></a:t>
            </a:r>
            <a:r>
              <a:rPr lang="en-US" altLang="zh-TW" sz="2800" i="1" dirty="0">
                <a:latin typeface="Times New Roman" panose="02020603050405020304" pitchFamily="18" charset="0"/>
              </a:rPr>
              <a:t>E, </a:t>
            </a:r>
            <a:br>
              <a:rPr lang="en-US" altLang="zh-TW" sz="2800" i="1" dirty="0">
                <a:latin typeface="Times New Roman" panose="02020603050405020304" pitchFamily="18" charset="0"/>
              </a:rPr>
            </a:br>
            <a:r>
              <a:rPr lang="en-US" altLang="zh-TW" sz="2800" i="1" dirty="0">
                <a:latin typeface="Times New Roman" panose="02020603050405020304" pitchFamily="18" charset="0"/>
              </a:rPr>
              <a:t>                                           </a:t>
            </a:r>
            <a:r>
              <a:rPr lang="en-US" altLang="zh-TW" sz="2800" dirty="0">
                <a:latin typeface="Times New Roman" panose="02020603050405020304" pitchFamily="18" charset="0"/>
              </a:rPr>
              <a:t>0,  otherwise.</a:t>
            </a:r>
            <a:endParaRPr lang="en-US" altLang="zh-TW" sz="2800" dirty="0"/>
          </a:p>
        </p:txBody>
      </p:sp>
      <p:sp>
        <p:nvSpPr>
          <p:cNvPr id="6150" name="Text Box 4"/>
          <p:cNvSpPr txBox="1"/>
          <p:nvPr/>
        </p:nvSpPr>
        <p:spPr>
          <a:xfrm>
            <a:off x="228600" y="2971800"/>
            <a:ext cx="210661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Example 3.</a:t>
            </a:r>
            <a:r>
              <a:rPr lang="en-US" altLang="zh-TW" sz="1800" dirty="0"/>
              <a:t> </a:t>
            </a:r>
            <a:endParaRPr lang="en-US" altLang="zh-TW" sz="1800" dirty="0"/>
          </a:p>
        </p:txBody>
      </p:sp>
      <p:grpSp>
        <p:nvGrpSpPr>
          <p:cNvPr id="2" name="群組 58"/>
          <p:cNvGrpSpPr/>
          <p:nvPr/>
        </p:nvGrpSpPr>
        <p:grpSpPr>
          <a:xfrm>
            <a:off x="2819400" y="3240088"/>
            <a:ext cx="2716213" cy="2109787"/>
            <a:chOff x="2819400" y="3239999"/>
            <a:chExt cx="2716213" cy="2109936"/>
          </a:xfrm>
        </p:grpSpPr>
        <p:graphicFrame>
          <p:nvGraphicFramePr>
            <p:cNvPr id="32801" name="Object 20"/>
            <p:cNvGraphicFramePr>
              <a:graphicFrameLocks noChangeAspect="1"/>
            </p:cNvGraphicFramePr>
            <p:nvPr/>
          </p:nvGraphicFramePr>
          <p:xfrm>
            <a:off x="2819400" y="3505200"/>
            <a:ext cx="2716213" cy="1844675"/>
          </p:xfrm>
          <a:graphic>
            <a:graphicData uri="http://schemas.openxmlformats.org/presentationml/2006/ole">
              <mc:AlternateContent xmlns:mc="http://schemas.openxmlformats.org/markup-compatibility/2006">
                <mc:Choice xmlns:v="urn:schemas-microsoft-com:vml" Requires="v">
                  <p:oleObj spid="_x0000_s3078" name="" r:id="rId1" imgW="1346200" imgH="914400" progId="Equation.3">
                    <p:embed/>
                  </p:oleObj>
                </mc:Choice>
                <mc:Fallback>
                  <p:oleObj name="" r:id="rId1" imgW="1346200" imgH="914400" progId="Equation.3">
                    <p:embed/>
                    <p:pic>
                      <p:nvPicPr>
                        <p:cNvPr id="0" name="图片 3077"/>
                        <p:cNvPicPr/>
                        <p:nvPr/>
                      </p:nvPicPr>
                      <p:blipFill>
                        <a:blip r:embed="rId2"/>
                        <a:stretch>
                          <a:fillRect/>
                        </a:stretch>
                      </p:blipFill>
                      <p:spPr>
                        <a:xfrm>
                          <a:off x="2819400" y="3505200"/>
                          <a:ext cx="2716213" cy="1844675"/>
                        </a:xfrm>
                        <a:prstGeom prst="rect">
                          <a:avLst/>
                        </a:prstGeom>
                        <a:noFill/>
                        <a:ln w="38100">
                          <a:noFill/>
                          <a:miter/>
                        </a:ln>
                      </p:spPr>
                    </p:pic>
                  </p:oleObj>
                </mc:Fallback>
              </mc:AlternateContent>
            </a:graphicData>
          </a:graphic>
        </p:graphicFrame>
        <p:sp>
          <p:nvSpPr>
            <p:cNvPr id="32802" name="Text Box 30"/>
            <p:cNvSpPr txBox="1"/>
            <p:nvPr/>
          </p:nvSpPr>
          <p:spPr>
            <a:xfrm>
              <a:off x="3810000" y="3239999"/>
              <a:ext cx="311150" cy="3969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32803" name="Text Box 31"/>
            <p:cNvSpPr txBox="1"/>
            <p:nvPr/>
          </p:nvSpPr>
          <p:spPr>
            <a:xfrm>
              <a:off x="4191000" y="3239999"/>
              <a:ext cx="311150" cy="3969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32804" name="Text Box 32"/>
            <p:cNvSpPr txBox="1"/>
            <p:nvPr/>
          </p:nvSpPr>
          <p:spPr>
            <a:xfrm>
              <a:off x="4648200" y="3239999"/>
              <a:ext cx="296863" cy="3969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32805" name="Text Box 33"/>
            <p:cNvSpPr txBox="1"/>
            <p:nvPr/>
          </p:nvSpPr>
          <p:spPr>
            <a:xfrm>
              <a:off x="5105400" y="3239999"/>
              <a:ext cx="311150" cy="3969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32806" name="Text Box 34"/>
            <p:cNvSpPr txBox="1"/>
            <p:nvPr/>
          </p:nvSpPr>
          <p:spPr>
            <a:xfrm>
              <a:off x="3505200" y="3505130"/>
              <a:ext cx="311150" cy="3969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32807" name="Text Box 35"/>
            <p:cNvSpPr txBox="1"/>
            <p:nvPr/>
          </p:nvSpPr>
          <p:spPr>
            <a:xfrm>
              <a:off x="3505200" y="4038568"/>
              <a:ext cx="311150" cy="3969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32808" name="Text Box 36"/>
            <p:cNvSpPr txBox="1"/>
            <p:nvPr/>
          </p:nvSpPr>
          <p:spPr>
            <a:xfrm>
              <a:off x="3505200" y="4495800"/>
              <a:ext cx="296863" cy="3969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32809" name="Text Box 37"/>
            <p:cNvSpPr txBox="1"/>
            <p:nvPr/>
          </p:nvSpPr>
          <p:spPr>
            <a:xfrm>
              <a:off x="3505200" y="4953032"/>
              <a:ext cx="311150" cy="3969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grpSp>
      <p:grpSp>
        <p:nvGrpSpPr>
          <p:cNvPr id="3" name="群組 40"/>
          <p:cNvGrpSpPr/>
          <p:nvPr/>
        </p:nvGrpSpPr>
        <p:grpSpPr>
          <a:xfrm>
            <a:off x="5943600" y="3124200"/>
            <a:ext cx="2727325" cy="2209800"/>
            <a:chOff x="6096000" y="4021137"/>
            <a:chExt cx="2727325" cy="2209800"/>
          </a:xfrm>
        </p:grpSpPr>
        <p:graphicFrame>
          <p:nvGraphicFramePr>
            <p:cNvPr id="32792" name="Object 23"/>
            <p:cNvGraphicFramePr>
              <a:graphicFrameLocks noChangeAspect="1"/>
            </p:cNvGraphicFramePr>
            <p:nvPr/>
          </p:nvGraphicFramePr>
          <p:xfrm>
            <a:off x="6096000" y="4343400"/>
            <a:ext cx="2727325" cy="1887537"/>
          </p:xfrm>
          <a:graphic>
            <a:graphicData uri="http://schemas.openxmlformats.org/presentationml/2006/ole">
              <mc:AlternateContent xmlns:mc="http://schemas.openxmlformats.org/markup-compatibility/2006">
                <mc:Choice xmlns:v="urn:schemas-microsoft-com:vml" Requires="v">
                  <p:oleObj spid="_x0000_s3079" name="" r:id="rId3" imgW="1320800" imgH="914400" progId="Equation.3">
                    <p:embed/>
                  </p:oleObj>
                </mc:Choice>
                <mc:Fallback>
                  <p:oleObj name="" r:id="rId3" imgW="1320800" imgH="914400" progId="Equation.3">
                    <p:embed/>
                    <p:pic>
                      <p:nvPicPr>
                        <p:cNvPr id="0" name="图片 3078"/>
                        <p:cNvPicPr/>
                        <p:nvPr/>
                      </p:nvPicPr>
                      <p:blipFill>
                        <a:blip r:embed="rId4"/>
                        <a:stretch>
                          <a:fillRect/>
                        </a:stretch>
                      </p:blipFill>
                      <p:spPr>
                        <a:xfrm>
                          <a:off x="6096000" y="4343400"/>
                          <a:ext cx="2727325" cy="1887537"/>
                        </a:xfrm>
                        <a:prstGeom prst="rect">
                          <a:avLst/>
                        </a:prstGeom>
                        <a:noFill/>
                        <a:ln w="38100">
                          <a:noFill/>
                          <a:miter/>
                        </a:ln>
                      </p:spPr>
                    </p:pic>
                  </p:oleObj>
                </mc:Fallback>
              </mc:AlternateContent>
            </a:graphicData>
          </a:graphic>
        </p:graphicFrame>
        <p:sp>
          <p:nvSpPr>
            <p:cNvPr id="32793" name="Text Box 39"/>
            <p:cNvSpPr txBox="1"/>
            <p:nvPr/>
          </p:nvSpPr>
          <p:spPr>
            <a:xfrm>
              <a:off x="6765925" y="428625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32794" name="Text Box 40"/>
            <p:cNvSpPr txBox="1"/>
            <p:nvPr/>
          </p:nvSpPr>
          <p:spPr>
            <a:xfrm>
              <a:off x="6765925" y="474345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32795" name="Text Box 41"/>
            <p:cNvSpPr txBox="1"/>
            <p:nvPr/>
          </p:nvSpPr>
          <p:spPr>
            <a:xfrm>
              <a:off x="6765925" y="5200650"/>
              <a:ext cx="29686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32796" name="Text Box 42"/>
            <p:cNvSpPr txBox="1"/>
            <p:nvPr/>
          </p:nvSpPr>
          <p:spPr>
            <a:xfrm>
              <a:off x="6765925" y="565785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32797" name="Text Box 43"/>
            <p:cNvSpPr txBox="1"/>
            <p:nvPr/>
          </p:nvSpPr>
          <p:spPr>
            <a:xfrm>
              <a:off x="7010400" y="4021137"/>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32798" name="Text Box 44"/>
            <p:cNvSpPr txBox="1"/>
            <p:nvPr/>
          </p:nvSpPr>
          <p:spPr>
            <a:xfrm>
              <a:off x="7467600" y="4021137"/>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32799" name="Text Box 45"/>
            <p:cNvSpPr txBox="1"/>
            <p:nvPr/>
          </p:nvSpPr>
          <p:spPr>
            <a:xfrm>
              <a:off x="7924800" y="4021137"/>
              <a:ext cx="29686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32800" name="Text Box 46"/>
            <p:cNvSpPr txBox="1"/>
            <p:nvPr/>
          </p:nvSpPr>
          <p:spPr>
            <a:xfrm>
              <a:off x="8382000" y="4021137"/>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grpSp>
      <p:grpSp>
        <p:nvGrpSpPr>
          <p:cNvPr id="4" name="群組 57"/>
          <p:cNvGrpSpPr/>
          <p:nvPr/>
        </p:nvGrpSpPr>
        <p:grpSpPr>
          <a:xfrm>
            <a:off x="457200" y="3505200"/>
            <a:ext cx="1911350" cy="1768475"/>
            <a:chOff x="381000" y="4038601"/>
            <a:chExt cx="1911350" cy="1768476"/>
          </a:xfrm>
        </p:grpSpPr>
        <p:grpSp>
          <p:nvGrpSpPr>
            <p:cNvPr id="32778" name="Group 19"/>
            <p:cNvGrpSpPr/>
            <p:nvPr/>
          </p:nvGrpSpPr>
          <p:grpSpPr>
            <a:xfrm>
              <a:off x="381000" y="4038601"/>
              <a:ext cx="1911350" cy="1768476"/>
              <a:chOff x="182" y="2375"/>
              <a:chExt cx="1204" cy="1114"/>
            </a:xfrm>
          </p:grpSpPr>
          <p:cxnSp>
            <p:nvCxnSpPr>
              <p:cNvPr id="32783" name="AutoShape 9"/>
              <p:cNvCxnSpPr>
                <a:endCxn id="32781" idx="0"/>
              </p:cNvCxnSpPr>
              <p:nvPr/>
            </p:nvCxnSpPr>
            <p:spPr>
              <a:xfrm rot="5400000">
                <a:off x="37" y="2951"/>
                <a:ext cx="768" cy="1"/>
              </a:xfrm>
              <a:prstGeom prst="straightConnector1">
                <a:avLst/>
              </a:prstGeom>
              <a:ln w="9525" cap="flat" cmpd="sng">
                <a:solidFill>
                  <a:schemeClr val="tx1"/>
                </a:solidFill>
                <a:prstDash val="solid"/>
                <a:headEnd type="none" w="med" len="med"/>
                <a:tailEnd type="none" w="med" len="med"/>
              </a:ln>
            </p:spPr>
          </p:cxnSp>
          <p:cxnSp>
            <p:nvCxnSpPr>
              <p:cNvPr id="32784" name="AutoShape 10"/>
              <p:cNvCxnSpPr>
                <a:stCxn id="32780" idx="6"/>
                <a:endCxn id="32779" idx="2"/>
              </p:cNvCxnSpPr>
              <p:nvPr/>
            </p:nvCxnSpPr>
            <p:spPr>
              <a:xfrm>
                <a:off x="470" y="2567"/>
                <a:ext cx="576" cy="1"/>
              </a:xfrm>
              <a:prstGeom prst="straightConnector1">
                <a:avLst/>
              </a:prstGeom>
              <a:ln w="9525" cap="flat" cmpd="sng">
                <a:solidFill>
                  <a:schemeClr val="tx1"/>
                </a:solidFill>
                <a:prstDash val="solid"/>
                <a:headEnd type="none" w="med" len="med"/>
                <a:tailEnd type="none" w="med" len="med"/>
              </a:ln>
            </p:spPr>
          </p:cxnSp>
          <p:cxnSp>
            <p:nvCxnSpPr>
              <p:cNvPr id="32785" name="AutoShape 11"/>
              <p:cNvCxnSpPr>
                <a:endCxn id="32782" idx="0"/>
              </p:cNvCxnSpPr>
              <p:nvPr/>
            </p:nvCxnSpPr>
            <p:spPr>
              <a:xfrm rot="5400000">
                <a:off x="709" y="2951"/>
                <a:ext cx="768" cy="1"/>
              </a:xfrm>
              <a:prstGeom prst="straightConnector1">
                <a:avLst/>
              </a:prstGeom>
              <a:ln w="9525" cap="flat" cmpd="sng">
                <a:solidFill>
                  <a:schemeClr val="tx1"/>
                </a:solidFill>
                <a:prstDash val="solid"/>
                <a:headEnd type="none" w="med" len="med"/>
                <a:tailEnd type="none" w="med" len="med"/>
              </a:ln>
            </p:spPr>
          </p:cxnSp>
          <p:cxnSp>
            <p:nvCxnSpPr>
              <p:cNvPr id="32786" name="AutoShape 13"/>
              <p:cNvCxnSpPr>
                <a:stCxn id="32779" idx="3"/>
                <a:endCxn id="32781" idx="7"/>
              </p:cNvCxnSpPr>
              <p:nvPr/>
            </p:nvCxnSpPr>
            <p:spPr>
              <a:xfrm rot="5400000">
                <a:off x="384" y="2673"/>
                <a:ext cx="748" cy="604"/>
              </a:xfrm>
              <a:prstGeom prst="straightConnector1">
                <a:avLst/>
              </a:prstGeom>
              <a:ln w="9525" cap="flat" cmpd="sng">
                <a:solidFill>
                  <a:schemeClr val="tx1"/>
                </a:solidFill>
                <a:prstDash val="solid"/>
                <a:headEnd type="none" w="med" len="med"/>
                <a:tailEnd type="none" w="med" len="med"/>
              </a:ln>
            </p:spPr>
          </p:cxnSp>
          <p:cxnSp>
            <p:nvCxnSpPr>
              <p:cNvPr id="32787" name="AutoShape 14"/>
              <p:cNvCxnSpPr>
                <a:endCxn id="32782" idx="1"/>
              </p:cNvCxnSpPr>
              <p:nvPr/>
            </p:nvCxnSpPr>
            <p:spPr>
              <a:xfrm rot="-5400000" flipH="1">
                <a:off x="350" y="2639"/>
                <a:ext cx="782" cy="638"/>
              </a:xfrm>
              <a:prstGeom prst="straightConnector1">
                <a:avLst/>
              </a:prstGeom>
              <a:ln w="9525" cap="flat" cmpd="sng">
                <a:solidFill>
                  <a:schemeClr val="tx1"/>
                </a:solidFill>
                <a:prstDash val="solid"/>
                <a:headEnd type="none" w="med" len="med"/>
                <a:tailEnd type="none" w="med" len="med"/>
              </a:ln>
            </p:spPr>
          </p:cxnSp>
          <p:sp>
            <p:nvSpPr>
              <p:cNvPr id="32788" name="Text Box 15"/>
              <p:cNvSpPr txBox="1"/>
              <p:nvPr/>
            </p:nvSpPr>
            <p:spPr>
              <a:xfrm>
                <a:off x="182" y="2375"/>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32789" name="Text Box 16"/>
              <p:cNvSpPr txBox="1"/>
              <p:nvPr/>
            </p:nvSpPr>
            <p:spPr>
              <a:xfrm>
                <a:off x="182" y="3239"/>
                <a:ext cx="1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32790" name="Text Box 17"/>
              <p:cNvSpPr txBox="1"/>
              <p:nvPr/>
            </p:nvSpPr>
            <p:spPr>
              <a:xfrm>
                <a:off x="1190" y="2423"/>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32791" name="Text Box 18"/>
              <p:cNvSpPr txBox="1"/>
              <p:nvPr/>
            </p:nvSpPr>
            <p:spPr>
              <a:xfrm>
                <a:off x="1142" y="3239"/>
                <a:ext cx="197"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grpSp>
        <p:sp>
          <p:nvSpPr>
            <p:cNvPr id="32779" name="Oval 4"/>
            <p:cNvSpPr/>
            <p:nvPr/>
          </p:nvSpPr>
          <p:spPr>
            <a:xfrm>
              <a:off x="1752600" y="4267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2780" name="Oval 4"/>
            <p:cNvSpPr/>
            <p:nvPr/>
          </p:nvSpPr>
          <p:spPr>
            <a:xfrm>
              <a:off x="685800" y="42672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2781" name="Oval 4"/>
            <p:cNvSpPr/>
            <p:nvPr/>
          </p:nvSpPr>
          <p:spPr>
            <a:xfrm>
              <a:off x="685800" y="55626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2782" name="Oval 4"/>
            <p:cNvSpPr/>
            <p:nvPr/>
          </p:nvSpPr>
          <p:spPr>
            <a:xfrm>
              <a:off x="1752600" y="5562600"/>
              <a:ext cx="152400" cy="15246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grpSp>
      <p:sp>
        <p:nvSpPr>
          <p:cNvPr id="60" name="文字方塊 59"/>
          <p:cNvSpPr txBox="1"/>
          <p:nvPr/>
        </p:nvSpPr>
        <p:spPr>
          <a:xfrm>
            <a:off x="304800" y="5578475"/>
            <a:ext cx="88392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8000"/>
                </a:solidFill>
              </a:rPr>
              <a:t>Note: </a:t>
            </a:r>
            <a:r>
              <a:rPr lang="en-US" altLang="zh-TW" sz="2400" dirty="0"/>
              <a:t>The adjacency matrix of an undirected graph is </a:t>
            </a:r>
            <a:r>
              <a:rPr lang="en-US" altLang="zh-TW" sz="2400" dirty="0">
                <a:solidFill>
                  <a:srgbClr val="FF0000"/>
                </a:solidFill>
              </a:rPr>
              <a:t>symmetric</a:t>
            </a:r>
            <a:r>
              <a:rPr lang="en-US" altLang="zh-TW" sz="2400" dirty="0"/>
              <a:t>. </a:t>
            </a:r>
            <a:endParaRPr lang="zh-TW" altLang="en-US" sz="2400" dirty="0"/>
          </a:p>
        </p:txBody>
      </p:sp>
      <p:sp>
        <p:nvSpPr>
          <p:cNvPr id="61" name="左大括弧 60"/>
          <p:cNvSpPr/>
          <p:nvPr/>
        </p:nvSpPr>
        <p:spPr>
          <a:xfrm>
            <a:off x="4038600" y="2209800"/>
            <a:ext cx="152400" cy="685800"/>
          </a:xfrm>
          <a:prstGeom prst="leftBrace">
            <a:avLst/>
          </a:prstGeom>
          <a:ln>
            <a:solidFill>
              <a:srgbClr val="0000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32777" name="投影片編號版面配置區 41"/>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 calcmode="lin" valueType="num">
                                      <p:cBhvr additive="base">
                                        <p:cTn id="7" dur="500" fill="hold"/>
                                        <p:tgtEl>
                                          <p:spTgt spid="6150"/>
                                        </p:tgtEl>
                                        <p:attrNameLst>
                                          <p:attrName>ppt_x</p:attrName>
                                        </p:attrNameLst>
                                      </p:cBhvr>
                                      <p:tavLst>
                                        <p:tav tm="0">
                                          <p:val>
                                            <p:strVal val="#ppt_x"/>
                                          </p:val>
                                        </p:tav>
                                        <p:tav tm="100000">
                                          <p:val>
                                            <p:strVal val="#ppt_x"/>
                                          </p:val>
                                        </p:tav>
                                      </p:tavLst>
                                    </p:anim>
                                    <p:anim calcmode="lin" valueType="num">
                                      <p:cBhvr additive="base">
                                        <p:cTn id="8" dur="500" fill="hold"/>
                                        <p:tgtEl>
                                          <p:spTgt spid="615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anim calcmode="lin" valueType="num">
                                      <p:cBhvr additive="base">
                                        <p:cTn id="29" dur="500" fill="hold"/>
                                        <p:tgtEl>
                                          <p:spTgt spid="60"/>
                                        </p:tgtEl>
                                        <p:attrNameLst>
                                          <p:attrName>ppt_x</p:attrName>
                                        </p:attrNameLst>
                                      </p:cBhvr>
                                      <p:tavLst>
                                        <p:tav tm="0">
                                          <p:val>
                                            <p:strVal val="#ppt_x"/>
                                          </p:val>
                                        </p:tav>
                                        <p:tav tm="100000">
                                          <p:val>
                                            <p:strVal val="#ppt_x"/>
                                          </p:val>
                                        </p:tav>
                                      </p:tavLst>
                                    </p:anim>
                                    <p:anim calcmode="lin" valueType="num">
                                      <p:cBhvr additive="base">
                                        <p:cTn id="30"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p:bldP spid="6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3"/>
          <p:cNvSpPr>
            <a:spLocks noGrp="1"/>
          </p:cNvSpPr>
          <p:nvPr>
            <p:ph type="body" sz="half" idx="1"/>
          </p:nvPr>
        </p:nvSpPr>
        <p:spPr>
          <a:xfrm>
            <a:off x="0" y="533400"/>
            <a:ext cx="9144000" cy="609600"/>
          </a:xfrm>
        </p:spPr>
        <p:txBody>
          <a:bodyPr vert="horz" wrap="square" lIns="91440" tIns="45720" rIns="91440" bIns="45720" anchor="t"/>
          <a:p>
            <a:pPr eaLnBrk="1" hangingPunct="1">
              <a:buNone/>
            </a:pPr>
            <a:r>
              <a:rPr lang="en-US" altLang="zh-TW" sz="2800" b="1" dirty="0">
                <a:solidFill>
                  <a:srgbClr val="008000"/>
                </a:solidFill>
              </a:rPr>
              <a:t>Example 5.</a:t>
            </a:r>
            <a:r>
              <a:rPr lang="en-US" altLang="zh-TW" sz="2800" dirty="0"/>
              <a:t> (Pseudograph) </a:t>
            </a:r>
            <a:endParaRPr lang="en-US" altLang="zh-TW" sz="2800" dirty="0"/>
          </a:p>
        </p:txBody>
      </p:sp>
      <p:sp>
        <p:nvSpPr>
          <p:cNvPr id="7173" name="Text Box 4"/>
          <p:cNvSpPr txBox="1"/>
          <p:nvPr/>
        </p:nvSpPr>
        <p:spPr>
          <a:xfrm>
            <a:off x="0" y="3429000"/>
            <a:ext cx="8512175" cy="946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FF0000"/>
                </a:solidFill>
              </a:rPr>
              <a:t>Def.</a:t>
            </a:r>
            <a:r>
              <a:rPr lang="en-US" altLang="zh-TW" sz="2800" dirty="0"/>
              <a:t>  If </a:t>
            </a:r>
            <a:r>
              <a:rPr lang="en-US" altLang="zh-TW" sz="2800" i="1" dirty="0">
                <a:latin typeface="Times New Roman" panose="02020603050405020304" pitchFamily="18" charset="0"/>
              </a:rPr>
              <a:t>A</a:t>
            </a:r>
            <a:r>
              <a:rPr lang="en-US" altLang="zh-TW" sz="2800" dirty="0">
                <a:latin typeface="Times New Roman" panose="02020603050405020304" pitchFamily="18" charset="0"/>
              </a:rPr>
              <a:t>=[</a:t>
            </a:r>
            <a:r>
              <a:rPr lang="en-US" altLang="zh-TW" sz="2800" i="1" dirty="0">
                <a:latin typeface="Times New Roman" panose="02020603050405020304" pitchFamily="18" charset="0"/>
              </a:rPr>
              <a:t>a</a:t>
            </a:r>
            <a:r>
              <a:rPr lang="en-US" altLang="zh-TW" sz="2800" i="1" baseline="-25000" dirty="0">
                <a:latin typeface="Times New Roman" panose="02020603050405020304" pitchFamily="18" charset="0"/>
              </a:rPr>
              <a:t>ij</a:t>
            </a:r>
            <a:r>
              <a:rPr lang="en-US" altLang="zh-TW" sz="2800" dirty="0">
                <a:latin typeface="Times New Roman" panose="02020603050405020304" pitchFamily="18" charset="0"/>
              </a:rPr>
              <a:t>]</a:t>
            </a:r>
            <a:r>
              <a:rPr lang="en-US" altLang="zh-TW" sz="2800" dirty="0"/>
              <a:t> is the adjacency matrix for the directed</a:t>
            </a:r>
            <a:endParaRPr lang="en-US" altLang="zh-TW" sz="2800" dirty="0"/>
          </a:p>
          <a:p>
            <a:pPr marL="0" lvl="0" indent="0" eaLnBrk="1" hangingPunct="1">
              <a:spcBef>
                <a:spcPct val="0"/>
              </a:spcBef>
              <a:buClrTx/>
              <a:buSzPct val="100000"/>
              <a:buNone/>
            </a:pPr>
            <a:r>
              <a:rPr lang="en-US" altLang="zh-TW" sz="2800" dirty="0"/>
              <a:t>         graph, then </a:t>
            </a:r>
            <a:endParaRPr lang="en-US" altLang="zh-TW" sz="2800" dirty="0"/>
          </a:p>
        </p:txBody>
      </p:sp>
      <p:sp>
        <p:nvSpPr>
          <p:cNvPr id="33796" name="Oval 5"/>
          <p:cNvSpPr/>
          <p:nvPr/>
        </p:nvSpPr>
        <p:spPr>
          <a:xfrm>
            <a:off x="609600" y="1524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33797" name="AutoShape 12"/>
          <p:cNvCxnSpPr>
            <a:endCxn id="33813" idx="3"/>
          </p:cNvCxnSpPr>
          <p:nvPr/>
        </p:nvCxnSpPr>
        <p:spPr>
          <a:xfrm flipV="1">
            <a:off x="685800" y="1654175"/>
            <a:ext cx="1851025" cy="1057275"/>
          </a:xfrm>
          <a:prstGeom prst="straightConnector1">
            <a:avLst/>
          </a:prstGeom>
          <a:ln w="9525" cap="flat" cmpd="sng">
            <a:solidFill>
              <a:schemeClr val="tx1"/>
            </a:solidFill>
            <a:prstDash val="solid"/>
            <a:headEnd type="none" w="med" len="med"/>
            <a:tailEnd type="none" w="med" len="med"/>
          </a:ln>
        </p:spPr>
      </p:cxnSp>
      <p:cxnSp>
        <p:nvCxnSpPr>
          <p:cNvPr id="33798" name="AutoShape 13"/>
          <p:cNvCxnSpPr/>
          <p:nvPr/>
        </p:nvCxnSpPr>
        <p:spPr>
          <a:xfrm rot="-5400000" flipH="1">
            <a:off x="1636713" y="1790700"/>
            <a:ext cx="1587" cy="1905000"/>
          </a:xfrm>
          <a:prstGeom prst="curvedConnector3">
            <a:avLst>
              <a:gd name="adj1" fmla="val 14400005"/>
            </a:avLst>
          </a:prstGeom>
          <a:ln w="9525" cap="flat" cmpd="sng">
            <a:solidFill>
              <a:schemeClr val="tx1"/>
            </a:solidFill>
            <a:prstDash val="solid"/>
            <a:headEnd type="none" w="med" len="med"/>
            <a:tailEnd type="none" w="med" len="med"/>
          </a:ln>
        </p:spPr>
      </p:cxnSp>
      <p:cxnSp>
        <p:nvCxnSpPr>
          <p:cNvPr id="33799" name="AutoShape 16"/>
          <p:cNvCxnSpPr>
            <a:stCxn id="33814" idx="2"/>
          </p:cNvCxnSpPr>
          <p:nvPr/>
        </p:nvCxnSpPr>
        <p:spPr>
          <a:xfrm rot="-10800000" flipH="1">
            <a:off x="609600" y="2743200"/>
            <a:ext cx="1905000" cy="1588"/>
          </a:xfrm>
          <a:prstGeom prst="straightConnector1">
            <a:avLst/>
          </a:prstGeom>
          <a:ln w="9525" cap="flat" cmpd="sng">
            <a:solidFill>
              <a:schemeClr val="tx1"/>
            </a:solidFill>
            <a:prstDash val="solid"/>
            <a:headEnd type="none" w="med" len="med"/>
            <a:tailEnd type="none" w="med" len="med"/>
          </a:ln>
        </p:spPr>
      </p:cxnSp>
      <p:cxnSp>
        <p:nvCxnSpPr>
          <p:cNvPr id="33800" name="AutoShape 17"/>
          <p:cNvCxnSpPr/>
          <p:nvPr/>
        </p:nvCxnSpPr>
        <p:spPr>
          <a:xfrm rot="5400000" flipV="1">
            <a:off x="2505075" y="2752725"/>
            <a:ext cx="173038" cy="1588"/>
          </a:xfrm>
          <a:prstGeom prst="curvedConnector5">
            <a:avLst>
              <a:gd name="adj1" fmla="val -63727"/>
              <a:gd name="adj2" fmla="val 26534648"/>
              <a:gd name="adj3" fmla="val 184644"/>
            </a:avLst>
          </a:prstGeom>
          <a:ln w="9525" cap="flat" cmpd="sng">
            <a:solidFill>
              <a:schemeClr val="tx1"/>
            </a:solidFill>
            <a:prstDash val="solid"/>
            <a:headEnd type="none" w="med" len="med"/>
            <a:tailEnd type="none" w="med" len="med"/>
          </a:ln>
        </p:spPr>
      </p:cxnSp>
      <p:cxnSp>
        <p:nvCxnSpPr>
          <p:cNvPr id="33801" name="AutoShape 18"/>
          <p:cNvCxnSpPr>
            <a:stCxn id="33813" idx="4"/>
            <a:endCxn id="33815" idx="0"/>
          </p:cNvCxnSpPr>
          <p:nvPr/>
        </p:nvCxnSpPr>
        <p:spPr>
          <a:xfrm rot="5400000">
            <a:off x="2095500" y="2171700"/>
            <a:ext cx="990600" cy="3175"/>
          </a:xfrm>
          <a:prstGeom prst="straightConnector1">
            <a:avLst/>
          </a:prstGeom>
          <a:ln w="9525" cap="flat" cmpd="sng">
            <a:solidFill>
              <a:schemeClr val="tx1"/>
            </a:solidFill>
            <a:prstDash val="solid"/>
            <a:headEnd type="none" w="med" len="med"/>
            <a:tailEnd type="none" w="med" len="med"/>
          </a:ln>
        </p:spPr>
      </p:cxnSp>
      <p:cxnSp>
        <p:nvCxnSpPr>
          <p:cNvPr id="33802" name="AutoShape 20"/>
          <p:cNvCxnSpPr>
            <a:endCxn id="33813" idx="2"/>
          </p:cNvCxnSpPr>
          <p:nvPr/>
        </p:nvCxnSpPr>
        <p:spPr>
          <a:xfrm>
            <a:off x="762000" y="1600200"/>
            <a:ext cx="1752600" cy="1588"/>
          </a:xfrm>
          <a:prstGeom prst="straightConnector1">
            <a:avLst/>
          </a:prstGeom>
          <a:ln w="9525" cap="flat" cmpd="sng">
            <a:solidFill>
              <a:schemeClr val="tx1"/>
            </a:solidFill>
            <a:prstDash val="solid"/>
            <a:headEnd type="none" w="med" len="med"/>
            <a:tailEnd type="none" w="med" len="med"/>
          </a:ln>
        </p:spPr>
      </p:cxnSp>
      <p:cxnSp>
        <p:nvCxnSpPr>
          <p:cNvPr id="33803" name="AutoShape 21"/>
          <p:cNvCxnSpPr/>
          <p:nvPr/>
        </p:nvCxnSpPr>
        <p:spPr>
          <a:xfrm rot="5400000" flipH="1" flipV="1">
            <a:off x="1638300" y="647700"/>
            <a:ext cx="1588" cy="1905000"/>
          </a:xfrm>
          <a:prstGeom prst="curvedConnector3">
            <a:avLst>
              <a:gd name="adj1" fmla="val 14395468"/>
            </a:avLst>
          </a:prstGeom>
          <a:ln w="9525" cap="flat" cmpd="sng">
            <a:solidFill>
              <a:schemeClr val="tx1"/>
            </a:solidFill>
            <a:prstDash val="solid"/>
            <a:headEnd type="none" w="med" len="med"/>
            <a:tailEnd type="none" w="med" len="med"/>
          </a:ln>
        </p:spPr>
      </p:cxnSp>
      <p:cxnSp>
        <p:nvCxnSpPr>
          <p:cNvPr id="33804" name="AutoShape 22"/>
          <p:cNvCxnSpPr/>
          <p:nvPr/>
        </p:nvCxnSpPr>
        <p:spPr>
          <a:xfrm rot="-5400000" flipH="1">
            <a:off x="1638300" y="682625"/>
            <a:ext cx="1588" cy="1798638"/>
          </a:xfrm>
          <a:prstGeom prst="curvedConnector3">
            <a:avLst>
              <a:gd name="adj1" fmla="val 15800884"/>
            </a:avLst>
          </a:prstGeom>
          <a:ln w="9525" cap="flat" cmpd="sng">
            <a:solidFill>
              <a:schemeClr val="tx1"/>
            </a:solidFill>
            <a:prstDash val="solid"/>
            <a:headEnd type="none" w="med" len="med"/>
            <a:tailEnd type="none" w="med" len="med"/>
          </a:ln>
        </p:spPr>
      </p:cxnSp>
      <p:sp>
        <p:nvSpPr>
          <p:cNvPr id="33805" name="Line 26"/>
          <p:cNvSpPr/>
          <p:nvPr/>
        </p:nvSpPr>
        <p:spPr>
          <a:xfrm>
            <a:off x="3733800" y="2209800"/>
            <a:ext cx="990600" cy="0"/>
          </a:xfrm>
          <a:prstGeom prst="line">
            <a:avLst/>
          </a:prstGeom>
          <a:ln w="114300" cap="flat" cmpd="dbl">
            <a:solidFill>
              <a:schemeClr val="tx1"/>
            </a:solidFill>
            <a:prstDash val="solid"/>
            <a:headEnd type="none" w="med" len="med"/>
            <a:tailEnd type="triangle" w="med" len="med"/>
          </a:ln>
        </p:spPr>
      </p:sp>
      <p:grpSp>
        <p:nvGrpSpPr>
          <p:cNvPr id="2" name="群組 63"/>
          <p:cNvGrpSpPr/>
          <p:nvPr/>
        </p:nvGrpSpPr>
        <p:grpSpPr>
          <a:xfrm>
            <a:off x="5053013" y="1066800"/>
            <a:ext cx="2619375" cy="2071688"/>
            <a:chOff x="5053013" y="1066800"/>
            <a:chExt cx="2619375" cy="2071688"/>
          </a:xfrm>
        </p:grpSpPr>
        <p:graphicFrame>
          <p:nvGraphicFramePr>
            <p:cNvPr id="33830" name="Object 23"/>
            <p:cNvGraphicFramePr>
              <a:graphicFrameLocks noChangeAspect="1"/>
            </p:cNvGraphicFramePr>
            <p:nvPr/>
          </p:nvGraphicFramePr>
          <p:xfrm>
            <a:off x="5053013" y="1408113"/>
            <a:ext cx="2619375" cy="1730375"/>
          </p:xfrm>
          <a:graphic>
            <a:graphicData uri="http://schemas.openxmlformats.org/presentationml/2006/ole">
              <mc:AlternateContent xmlns:mc="http://schemas.openxmlformats.org/markup-compatibility/2006">
                <mc:Choice xmlns:v="urn:schemas-microsoft-com:vml" Requires="v">
                  <p:oleObj spid="_x0000_s3080" name="" r:id="rId1" imgW="1384300" imgH="914400" progId="Equation.3">
                    <p:embed/>
                  </p:oleObj>
                </mc:Choice>
                <mc:Fallback>
                  <p:oleObj name="" r:id="rId1" imgW="1384300" imgH="914400" progId="Equation.3">
                    <p:embed/>
                    <p:pic>
                      <p:nvPicPr>
                        <p:cNvPr id="0" name="图片 3079"/>
                        <p:cNvPicPr/>
                        <p:nvPr/>
                      </p:nvPicPr>
                      <p:blipFill>
                        <a:blip r:embed="rId2"/>
                        <a:stretch>
                          <a:fillRect/>
                        </a:stretch>
                      </p:blipFill>
                      <p:spPr>
                        <a:xfrm>
                          <a:off x="5053013" y="1408113"/>
                          <a:ext cx="2619375" cy="1730375"/>
                        </a:xfrm>
                        <a:prstGeom prst="rect">
                          <a:avLst/>
                        </a:prstGeom>
                        <a:noFill/>
                        <a:ln w="38100">
                          <a:noFill/>
                          <a:miter/>
                        </a:ln>
                      </p:spPr>
                    </p:pic>
                  </p:oleObj>
                </mc:Fallback>
              </mc:AlternateContent>
            </a:graphicData>
          </a:graphic>
        </p:graphicFrame>
        <p:sp>
          <p:nvSpPr>
            <p:cNvPr id="33831" name="Text Box 27"/>
            <p:cNvSpPr txBox="1"/>
            <p:nvPr/>
          </p:nvSpPr>
          <p:spPr>
            <a:xfrm>
              <a:off x="6019800" y="10668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a</a:t>
              </a:r>
              <a:endParaRPr lang="en-US" altLang="zh-TW" sz="1800" dirty="0"/>
            </a:p>
          </p:txBody>
        </p:sp>
        <p:sp>
          <p:nvSpPr>
            <p:cNvPr id="33832" name="Text Box 28"/>
            <p:cNvSpPr txBox="1"/>
            <p:nvPr/>
          </p:nvSpPr>
          <p:spPr>
            <a:xfrm>
              <a:off x="6477000" y="10668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b</a:t>
              </a:r>
              <a:endParaRPr lang="en-US" altLang="zh-TW" sz="1800" dirty="0"/>
            </a:p>
          </p:txBody>
        </p:sp>
        <p:sp>
          <p:nvSpPr>
            <p:cNvPr id="33833" name="Text Box 29"/>
            <p:cNvSpPr txBox="1"/>
            <p:nvPr/>
          </p:nvSpPr>
          <p:spPr>
            <a:xfrm>
              <a:off x="6858000" y="1066800"/>
              <a:ext cx="2984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c</a:t>
              </a:r>
              <a:endParaRPr lang="en-US" altLang="zh-TW" sz="1800" dirty="0"/>
            </a:p>
          </p:txBody>
        </p:sp>
        <p:sp>
          <p:nvSpPr>
            <p:cNvPr id="33834" name="Text Box 30"/>
            <p:cNvSpPr txBox="1"/>
            <p:nvPr/>
          </p:nvSpPr>
          <p:spPr>
            <a:xfrm>
              <a:off x="7315200" y="10668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d</a:t>
              </a:r>
              <a:endParaRPr lang="en-US" altLang="zh-TW" sz="1800" dirty="0"/>
            </a:p>
          </p:txBody>
        </p:sp>
        <p:sp>
          <p:nvSpPr>
            <p:cNvPr id="33835" name="Text Box 31"/>
            <p:cNvSpPr txBox="1"/>
            <p:nvPr/>
          </p:nvSpPr>
          <p:spPr>
            <a:xfrm>
              <a:off x="5638800" y="13716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a</a:t>
              </a:r>
              <a:endParaRPr lang="en-US" altLang="zh-TW" sz="1800" dirty="0"/>
            </a:p>
          </p:txBody>
        </p:sp>
        <p:sp>
          <p:nvSpPr>
            <p:cNvPr id="33836" name="Text Box 32"/>
            <p:cNvSpPr txBox="1"/>
            <p:nvPr/>
          </p:nvSpPr>
          <p:spPr>
            <a:xfrm>
              <a:off x="5638800" y="18288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b</a:t>
              </a:r>
              <a:endParaRPr lang="en-US" altLang="zh-TW" sz="1800" dirty="0"/>
            </a:p>
          </p:txBody>
        </p:sp>
        <p:sp>
          <p:nvSpPr>
            <p:cNvPr id="33837" name="Text Box 33"/>
            <p:cNvSpPr txBox="1"/>
            <p:nvPr/>
          </p:nvSpPr>
          <p:spPr>
            <a:xfrm>
              <a:off x="5638800" y="2286000"/>
              <a:ext cx="2984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c</a:t>
              </a:r>
              <a:endParaRPr lang="en-US" altLang="zh-TW" sz="1800" dirty="0"/>
            </a:p>
          </p:txBody>
        </p:sp>
        <p:sp>
          <p:nvSpPr>
            <p:cNvPr id="33838" name="Text Box 34"/>
            <p:cNvSpPr txBox="1"/>
            <p:nvPr/>
          </p:nvSpPr>
          <p:spPr>
            <a:xfrm>
              <a:off x="5638800" y="27432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d</a:t>
              </a:r>
              <a:endParaRPr lang="en-US" altLang="zh-TW" sz="1800" dirty="0"/>
            </a:p>
          </p:txBody>
        </p:sp>
      </p:grpSp>
      <p:grpSp>
        <p:nvGrpSpPr>
          <p:cNvPr id="3" name="群組 67"/>
          <p:cNvGrpSpPr/>
          <p:nvPr/>
        </p:nvGrpSpPr>
        <p:grpSpPr>
          <a:xfrm>
            <a:off x="2057400" y="4343400"/>
            <a:ext cx="3665538" cy="1514475"/>
            <a:chOff x="1600200" y="4572000"/>
            <a:chExt cx="3664844" cy="1513820"/>
          </a:xfrm>
        </p:grpSpPr>
        <p:sp>
          <p:nvSpPr>
            <p:cNvPr id="33826" name="Text Box 35"/>
            <p:cNvSpPr txBox="1"/>
            <p:nvPr/>
          </p:nvSpPr>
          <p:spPr>
            <a:xfrm>
              <a:off x="1600200" y="5105400"/>
              <a:ext cx="764953"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a</a:t>
              </a:r>
              <a:r>
                <a:rPr lang="en-US" altLang="zh-TW" sz="2800" i="1" baseline="-25000" dirty="0">
                  <a:latin typeface="Times New Roman" panose="02020603050405020304" pitchFamily="18" charset="0"/>
                </a:rPr>
                <a:t>ij </a:t>
              </a:r>
              <a:r>
                <a:rPr lang="en-US" altLang="zh-TW" sz="2800" dirty="0"/>
                <a:t>=</a:t>
              </a:r>
              <a:endParaRPr lang="en-US" altLang="zh-TW" sz="2800" baseline="-25000" dirty="0"/>
            </a:p>
          </p:txBody>
        </p:sp>
        <p:sp>
          <p:nvSpPr>
            <p:cNvPr id="33827" name="AutoShape 37"/>
            <p:cNvSpPr/>
            <p:nvPr/>
          </p:nvSpPr>
          <p:spPr>
            <a:xfrm>
              <a:off x="2362200" y="4800600"/>
              <a:ext cx="304800" cy="1066800"/>
            </a:xfrm>
            <a:prstGeom prst="leftBrace">
              <a:avLst>
                <a:gd name="adj1" fmla="val 45840"/>
                <a:gd name="adj2" fmla="val 50000"/>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800" dirty="0"/>
            </a:p>
          </p:txBody>
        </p:sp>
        <p:sp>
          <p:nvSpPr>
            <p:cNvPr id="33828" name="Text Box 38"/>
            <p:cNvSpPr txBox="1"/>
            <p:nvPr/>
          </p:nvSpPr>
          <p:spPr>
            <a:xfrm>
              <a:off x="2743200" y="4572000"/>
              <a:ext cx="1260281"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1    , if </a:t>
              </a:r>
              <a:endParaRPr lang="en-US" altLang="zh-TW" sz="2800" dirty="0"/>
            </a:p>
          </p:txBody>
        </p:sp>
        <p:sp>
          <p:nvSpPr>
            <p:cNvPr id="33829" name="Text Box 39"/>
            <p:cNvSpPr txBox="1"/>
            <p:nvPr/>
          </p:nvSpPr>
          <p:spPr>
            <a:xfrm>
              <a:off x="2743200" y="5562600"/>
              <a:ext cx="2521844"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0    , otherwise</a:t>
              </a:r>
              <a:endParaRPr lang="en-US" altLang="zh-TW" sz="2800" dirty="0"/>
            </a:p>
          </p:txBody>
        </p:sp>
      </p:grpSp>
      <p:sp>
        <p:nvSpPr>
          <p:cNvPr id="7212" name="Text Box 44"/>
          <p:cNvSpPr txBox="1"/>
          <p:nvPr/>
        </p:nvSpPr>
        <p:spPr>
          <a:xfrm>
            <a:off x="5943600" y="4968875"/>
            <a:ext cx="31242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CN" sz="2400" dirty="0"/>
              <a:t>Maybe not </a:t>
            </a:r>
            <a:r>
              <a:rPr lang="en-US" altLang="zh-TW" sz="2400" dirty="0">
                <a:solidFill>
                  <a:srgbClr val="FF0000"/>
                </a:solidFill>
              </a:rPr>
              <a:t>symmetric</a:t>
            </a:r>
            <a:r>
              <a:rPr lang="en-US" altLang="zh-TW" sz="2400" dirty="0"/>
              <a:t>. </a:t>
            </a:r>
            <a:endParaRPr lang="zh-TW" altLang="en-US" sz="2400" dirty="0"/>
          </a:p>
          <a:p>
            <a:pPr marL="0" lvl="0" indent="0" eaLnBrk="1" hangingPunct="1">
              <a:spcBef>
                <a:spcPct val="0"/>
              </a:spcBef>
              <a:buClrTx/>
              <a:buSzPct val="100000"/>
              <a:buNone/>
            </a:pPr>
            <a:endParaRPr lang="zh-TW" altLang="en-US" sz="2400" dirty="0"/>
          </a:p>
        </p:txBody>
      </p:sp>
      <p:sp>
        <p:nvSpPr>
          <p:cNvPr id="33809" name="Text Box 46"/>
          <p:cNvSpPr txBox="1"/>
          <p:nvPr/>
        </p:nvSpPr>
        <p:spPr>
          <a:xfrm>
            <a:off x="304800" y="14478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a</a:t>
            </a:r>
            <a:endParaRPr lang="en-US" altLang="zh-TW" sz="1800" dirty="0"/>
          </a:p>
        </p:txBody>
      </p:sp>
      <p:sp>
        <p:nvSpPr>
          <p:cNvPr id="33810" name="Text Box 47"/>
          <p:cNvSpPr txBox="1"/>
          <p:nvPr/>
        </p:nvSpPr>
        <p:spPr>
          <a:xfrm>
            <a:off x="2590800" y="13716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b</a:t>
            </a:r>
            <a:endParaRPr lang="en-US" altLang="zh-TW" sz="1800" dirty="0"/>
          </a:p>
        </p:txBody>
      </p:sp>
      <p:sp>
        <p:nvSpPr>
          <p:cNvPr id="33811" name="Text Box 48"/>
          <p:cNvSpPr txBox="1"/>
          <p:nvPr/>
        </p:nvSpPr>
        <p:spPr>
          <a:xfrm>
            <a:off x="2438400" y="2819400"/>
            <a:ext cx="2984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c</a:t>
            </a:r>
            <a:endParaRPr lang="en-US" altLang="zh-TW" sz="1800" dirty="0"/>
          </a:p>
        </p:txBody>
      </p:sp>
      <p:sp>
        <p:nvSpPr>
          <p:cNvPr id="33812" name="Text Box 49"/>
          <p:cNvSpPr txBox="1"/>
          <p:nvPr/>
        </p:nvSpPr>
        <p:spPr>
          <a:xfrm>
            <a:off x="304800" y="26670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d</a:t>
            </a:r>
            <a:endParaRPr lang="en-US" altLang="zh-TW" sz="1800" dirty="0"/>
          </a:p>
        </p:txBody>
      </p:sp>
      <p:sp>
        <p:nvSpPr>
          <p:cNvPr id="33813" name="Oval 5"/>
          <p:cNvSpPr/>
          <p:nvPr/>
        </p:nvSpPr>
        <p:spPr>
          <a:xfrm>
            <a:off x="2514600" y="1524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3814" name="Oval 5"/>
          <p:cNvSpPr/>
          <p:nvPr/>
        </p:nvSpPr>
        <p:spPr>
          <a:xfrm>
            <a:off x="609600" y="2667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3815" name="Oval 5"/>
          <p:cNvSpPr/>
          <p:nvPr/>
        </p:nvSpPr>
        <p:spPr>
          <a:xfrm>
            <a:off x="2514600" y="2667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7" name="弧形 56"/>
          <p:cNvSpPr/>
          <p:nvPr/>
        </p:nvSpPr>
        <p:spPr>
          <a:xfrm rot="2895916">
            <a:off x="-863600" y="1296988"/>
            <a:ext cx="1819275" cy="1622425"/>
          </a:xfrm>
          <a:prstGeom prst="arc">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8" name="弧形 57"/>
          <p:cNvSpPr/>
          <p:nvPr/>
        </p:nvSpPr>
        <p:spPr>
          <a:xfrm rot="13748139">
            <a:off x="441325" y="1476375"/>
            <a:ext cx="1765300" cy="1568450"/>
          </a:xfrm>
          <a:prstGeom prst="arc">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grpSp>
        <p:nvGrpSpPr>
          <p:cNvPr id="4" name="群組 66"/>
          <p:cNvGrpSpPr/>
          <p:nvPr/>
        </p:nvGrpSpPr>
        <p:grpSpPr>
          <a:xfrm>
            <a:off x="4343400" y="4495800"/>
            <a:ext cx="1400175" cy="600075"/>
            <a:chOff x="4114800" y="4800600"/>
            <a:chExt cx="1399686" cy="599420"/>
          </a:xfrm>
        </p:grpSpPr>
        <p:cxnSp>
          <p:nvCxnSpPr>
            <p:cNvPr id="33821" name="AutoShape 42"/>
            <p:cNvCxnSpPr/>
            <p:nvPr/>
          </p:nvCxnSpPr>
          <p:spPr>
            <a:xfrm>
              <a:off x="4343400" y="4876800"/>
              <a:ext cx="838200" cy="0"/>
            </a:xfrm>
            <a:prstGeom prst="straightConnector1">
              <a:avLst/>
            </a:prstGeom>
            <a:ln w="25400" cap="flat" cmpd="sng">
              <a:solidFill>
                <a:schemeClr val="tx1"/>
              </a:solidFill>
              <a:prstDash val="solid"/>
              <a:headEnd type="none" w="med" len="med"/>
              <a:tailEnd type="triangle" w="lg" len="lg"/>
            </a:ln>
          </p:spPr>
        </p:cxnSp>
        <p:sp>
          <p:nvSpPr>
            <p:cNvPr id="33822" name="Text Box 50"/>
            <p:cNvSpPr txBox="1"/>
            <p:nvPr/>
          </p:nvSpPr>
          <p:spPr>
            <a:xfrm>
              <a:off x="4114800" y="4876800"/>
              <a:ext cx="409086"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v</a:t>
              </a:r>
              <a:r>
                <a:rPr lang="en-US" altLang="zh-TW" sz="2800" i="1" baseline="-25000" dirty="0">
                  <a:latin typeface="Times New Roman" panose="02020603050405020304" pitchFamily="18" charset="0"/>
                </a:rPr>
                <a:t>i</a:t>
              </a:r>
              <a:endParaRPr lang="en-US" altLang="zh-TW" sz="2800" i="1" baseline="-25000" dirty="0">
                <a:latin typeface="Times New Roman" panose="02020603050405020304" pitchFamily="18" charset="0"/>
              </a:endParaRPr>
            </a:p>
          </p:txBody>
        </p:sp>
        <p:sp>
          <p:nvSpPr>
            <p:cNvPr id="33823" name="Text Box 51"/>
            <p:cNvSpPr txBox="1"/>
            <p:nvPr/>
          </p:nvSpPr>
          <p:spPr>
            <a:xfrm>
              <a:off x="5105400" y="4876800"/>
              <a:ext cx="409086"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v</a:t>
              </a:r>
              <a:r>
                <a:rPr lang="en-US" altLang="zh-TW" sz="2800" i="1" baseline="-25000" dirty="0">
                  <a:latin typeface="Times New Roman" panose="02020603050405020304" pitchFamily="18" charset="0"/>
                </a:rPr>
                <a:t>j</a:t>
              </a:r>
              <a:endParaRPr lang="en-US" altLang="zh-TW" sz="2800" i="1" baseline="-25000" dirty="0">
                <a:latin typeface="Times New Roman" panose="02020603050405020304" pitchFamily="18" charset="0"/>
              </a:endParaRPr>
            </a:p>
          </p:txBody>
        </p:sp>
        <p:sp>
          <p:nvSpPr>
            <p:cNvPr id="33824" name="Oval 5"/>
            <p:cNvSpPr/>
            <p:nvPr/>
          </p:nvSpPr>
          <p:spPr>
            <a:xfrm>
              <a:off x="5181600" y="4800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3825" name="Oval 5"/>
            <p:cNvSpPr/>
            <p:nvPr/>
          </p:nvSpPr>
          <p:spPr>
            <a:xfrm>
              <a:off x="4191000" y="4800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grpSp>
      <p:sp>
        <p:nvSpPr>
          <p:cNvPr id="69" name="矩形 68"/>
          <p:cNvSpPr/>
          <p:nvPr/>
        </p:nvSpPr>
        <p:spPr>
          <a:xfrm>
            <a:off x="381000" y="6172200"/>
            <a:ext cx="3435350"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7, 14, 17, 23</a:t>
            </a:r>
            <a:endParaRPr lang="zh-TW" altLang="en-US" sz="2400" dirty="0">
              <a:solidFill>
                <a:srgbClr val="0000CC"/>
              </a:solidFill>
            </a:endParaRPr>
          </a:p>
        </p:txBody>
      </p:sp>
      <p:sp>
        <p:nvSpPr>
          <p:cNvPr id="33820" name="投影片編號版面配置區 46"/>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3"/>
                                        </p:tgtEl>
                                        <p:attrNameLst>
                                          <p:attrName>style.visibility</p:attrName>
                                        </p:attrNameLst>
                                      </p:cBhvr>
                                      <p:to>
                                        <p:strVal val="visible"/>
                                      </p:to>
                                    </p:set>
                                    <p:anim calcmode="lin" valueType="num">
                                      <p:cBhvr additive="base">
                                        <p:cTn id="13" dur="500" fill="hold"/>
                                        <p:tgtEl>
                                          <p:spTgt spid="7173"/>
                                        </p:tgtEl>
                                        <p:attrNameLst>
                                          <p:attrName>ppt_x</p:attrName>
                                        </p:attrNameLst>
                                      </p:cBhvr>
                                      <p:tavLst>
                                        <p:tav tm="0">
                                          <p:val>
                                            <p:strVal val="#ppt_x"/>
                                          </p:val>
                                        </p:tav>
                                        <p:tav tm="100000">
                                          <p:val>
                                            <p:strVal val="#ppt_x"/>
                                          </p:val>
                                        </p:tav>
                                      </p:tavLst>
                                    </p:anim>
                                    <p:anim calcmode="lin" valueType="num">
                                      <p:cBhvr additive="base">
                                        <p:cTn id="14" dur="500" fill="hold"/>
                                        <p:tgtEl>
                                          <p:spTgt spid="717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212"/>
                                        </p:tgtEl>
                                        <p:attrNameLst>
                                          <p:attrName>style.visibility</p:attrName>
                                        </p:attrNameLst>
                                      </p:cBhvr>
                                      <p:to>
                                        <p:strVal val="visible"/>
                                      </p:to>
                                    </p:set>
                                    <p:anim calcmode="lin" valueType="num">
                                      <p:cBhvr additive="base">
                                        <p:cTn id="27" dur="500" fill="hold"/>
                                        <p:tgtEl>
                                          <p:spTgt spid="7212"/>
                                        </p:tgtEl>
                                        <p:attrNameLst>
                                          <p:attrName>ppt_x</p:attrName>
                                        </p:attrNameLst>
                                      </p:cBhvr>
                                      <p:tavLst>
                                        <p:tav tm="0">
                                          <p:val>
                                            <p:strVal val="#ppt_x"/>
                                          </p:val>
                                        </p:tav>
                                        <p:tav tm="100000">
                                          <p:val>
                                            <p:strVal val="#ppt_x"/>
                                          </p:val>
                                        </p:tav>
                                      </p:tavLst>
                                    </p:anim>
                                    <p:anim calcmode="lin" valueType="num">
                                      <p:cBhvr additive="base">
                                        <p:cTn id="28" dur="500" fill="hold"/>
                                        <p:tgtEl>
                                          <p:spTgt spid="721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9"/>
                                        </p:tgtEl>
                                        <p:attrNameLst>
                                          <p:attrName>style.visibility</p:attrName>
                                        </p:attrNameLst>
                                      </p:cBhvr>
                                      <p:to>
                                        <p:strVal val="visible"/>
                                      </p:to>
                                    </p:set>
                                    <p:anim calcmode="lin" valueType="num">
                                      <p:cBhvr additive="base">
                                        <p:cTn id="33" dur="500" fill="hold"/>
                                        <p:tgtEl>
                                          <p:spTgt spid="69"/>
                                        </p:tgtEl>
                                        <p:attrNameLst>
                                          <p:attrName>ppt_x</p:attrName>
                                        </p:attrNameLst>
                                      </p:cBhvr>
                                      <p:tavLst>
                                        <p:tav tm="0">
                                          <p:val>
                                            <p:strVal val="#ppt_x"/>
                                          </p:val>
                                        </p:tav>
                                        <p:tav tm="100000">
                                          <p:val>
                                            <p:strVal val="#ppt_x"/>
                                          </p:val>
                                        </p:tav>
                                      </p:tavLst>
                                    </p:anim>
                                    <p:anim calcmode="lin" valueType="num">
                                      <p:cBhvr additive="base">
                                        <p:cTn id="34"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p:bldP spid="7212" grpId="0"/>
      <p:bldP spid="6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3" name="Rectangle 3"/>
          <p:cNvSpPr>
            <a:spLocks noGrp="1"/>
          </p:cNvSpPr>
          <p:nvPr>
            <p:ph idx="1"/>
          </p:nvPr>
        </p:nvSpPr>
        <p:spPr>
          <a:xfrm>
            <a:off x="0" y="3124200"/>
            <a:ext cx="9144000" cy="3276600"/>
          </a:xfrm>
        </p:spPr>
        <p:txBody>
          <a:bodyPr vert="horz" wrap="square" lIns="91440" tIns="45720" rIns="91440" bIns="45720" anchor="t"/>
          <a:p>
            <a:pPr eaLnBrk="1" hangingPunct="1">
              <a:buNone/>
            </a:pPr>
            <a:r>
              <a:rPr lang="en-US" altLang="zh-TW" b="1" dirty="0">
                <a:solidFill>
                  <a:srgbClr val="FF0000"/>
                </a:solidFill>
              </a:rPr>
              <a:t>Def 1.</a:t>
            </a:r>
            <a:r>
              <a:rPr lang="en-US" altLang="zh-TW" dirty="0"/>
              <a:t>  </a:t>
            </a:r>
            <a:endParaRPr lang="en-US" altLang="zh-TW" dirty="0"/>
          </a:p>
          <a:p>
            <a:pPr eaLnBrk="1" hangingPunct="1">
              <a:buNone/>
            </a:pPr>
            <a:r>
              <a:rPr lang="en-US" altLang="zh-TW" dirty="0"/>
              <a:t>   The simple graphs </a:t>
            </a:r>
            <a:r>
              <a:rPr lang="en-US" altLang="zh-TW" i="1" dirty="0">
                <a:latin typeface="Times New Roman" panose="02020603050405020304" pitchFamily="18" charset="0"/>
              </a:rPr>
              <a:t>G</a:t>
            </a:r>
            <a:r>
              <a:rPr lang="en-US" altLang="zh-TW" baseline="-25000" dirty="0">
                <a:latin typeface="Times New Roman" panose="02020603050405020304" pitchFamily="18" charset="0"/>
              </a:rPr>
              <a:t>1</a:t>
            </a:r>
            <a:r>
              <a:rPr lang="en-US" altLang="zh-TW" dirty="0">
                <a:latin typeface="Times New Roman" panose="02020603050405020304" pitchFamily="18" charset="0"/>
              </a:rPr>
              <a:t>=(</a:t>
            </a:r>
            <a:r>
              <a:rPr lang="en-US" altLang="zh-TW" i="1" dirty="0">
                <a:latin typeface="Times New Roman" panose="02020603050405020304" pitchFamily="18" charset="0"/>
              </a:rPr>
              <a:t>V</a:t>
            </a:r>
            <a:r>
              <a:rPr lang="en-US" altLang="zh-TW" baseline="-25000" dirty="0">
                <a:latin typeface="Times New Roman" panose="02020603050405020304" pitchFamily="18" charset="0"/>
              </a:rPr>
              <a:t>1</a:t>
            </a:r>
            <a:r>
              <a:rPr lang="en-US" altLang="zh-TW" dirty="0">
                <a:latin typeface="Times New Roman" panose="02020603050405020304" pitchFamily="18" charset="0"/>
              </a:rPr>
              <a:t>,</a:t>
            </a:r>
            <a:r>
              <a:rPr lang="en-US" altLang="zh-TW" i="1" dirty="0">
                <a:latin typeface="Times New Roman" panose="02020603050405020304" pitchFamily="18" charset="0"/>
              </a:rPr>
              <a:t>E</a:t>
            </a:r>
            <a:r>
              <a:rPr lang="en-US" altLang="zh-TW" baseline="-25000" dirty="0">
                <a:latin typeface="Times New Roman" panose="02020603050405020304" pitchFamily="18" charset="0"/>
              </a:rPr>
              <a:t>1</a:t>
            </a:r>
            <a:r>
              <a:rPr lang="en-US" altLang="zh-TW" dirty="0">
                <a:latin typeface="Times New Roman" panose="02020603050405020304" pitchFamily="18" charset="0"/>
              </a:rPr>
              <a:t>)</a:t>
            </a:r>
            <a:r>
              <a:rPr lang="en-US" altLang="zh-TW" dirty="0"/>
              <a:t> and </a:t>
            </a:r>
            <a:r>
              <a:rPr lang="en-US" altLang="zh-TW" i="1" dirty="0">
                <a:latin typeface="Times New Roman" panose="02020603050405020304" pitchFamily="18" charset="0"/>
              </a:rPr>
              <a:t>G</a:t>
            </a:r>
            <a:r>
              <a:rPr lang="en-US" altLang="zh-TW" baseline="-25000" dirty="0">
                <a:latin typeface="Times New Roman" panose="02020603050405020304" pitchFamily="18" charset="0"/>
              </a:rPr>
              <a:t>2</a:t>
            </a:r>
            <a:r>
              <a:rPr lang="en-US" altLang="zh-TW" dirty="0">
                <a:latin typeface="Times New Roman" panose="02020603050405020304" pitchFamily="18" charset="0"/>
              </a:rPr>
              <a:t>=(</a:t>
            </a:r>
            <a:r>
              <a:rPr lang="en-US" altLang="zh-TW" i="1" dirty="0">
                <a:latin typeface="Times New Roman" panose="02020603050405020304" pitchFamily="18" charset="0"/>
              </a:rPr>
              <a:t>V</a:t>
            </a:r>
            <a:r>
              <a:rPr lang="en-US" altLang="zh-TW" baseline="-25000" dirty="0">
                <a:latin typeface="Times New Roman" panose="02020603050405020304" pitchFamily="18" charset="0"/>
              </a:rPr>
              <a:t>2</a:t>
            </a:r>
            <a:r>
              <a:rPr lang="en-US" altLang="zh-TW" dirty="0">
                <a:latin typeface="Times New Roman" panose="02020603050405020304" pitchFamily="18" charset="0"/>
              </a:rPr>
              <a:t>,</a:t>
            </a:r>
            <a:r>
              <a:rPr lang="en-US" altLang="zh-TW" i="1" dirty="0">
                <a:latin typeface="Times New Roman" panose="02020603050405020304" pitchFamily="18" charset="0"/>
              </a:rPr>
              <a:t>E</a:t>
            </a:r>
            <a:r>
              <a:rPr lang="en-US" altLang="zh-TW" baseline="-25000" dirty="0">
                <a:latin typeface="Times New Roman" panose="02020603050405020304" pitchFamily="18" charset="0"/>
              </a:rPr>
              <a:t>2</a:t>
            </a:r>
            <a:r>
              <a:rPr lang="en-US" altLang="zh-TW" dirty="0">
                <a:latin typeface="Times New Roman" panose="02020603050405020304" pitchFamily="18" charset="0"/>
              </a:rPr>
              <a:t>)</a:t>
            </a:r>
            <a:r>
              <a:rPr lang="en-US" altLang="zh-TW" dirty="0"/>
              <a:t> are </a:t>
            </a:r>
            <a:r>
              <a:rPr lang="en-US" altLang="zh-TW" dirty="0">
                <a:solidFill>
                  <a:srgbClr val="0000CC"/>
                </a:solidFill>
              </a:rPr>
              <a:t>isomorphic</a:t>
            </a:r>
            <a:r>
              <a:rPr lang="en-US" altLang="zh-TW" dirty="0"/>
              <a:t> if there is an one-to-one and onto function </a:t>
            </a:r>
            <a:r>
              <a:rPr lang="en-US" altLang="zh-TW" i="1" dirty="0">
                <a:latin typeface="Times New Roman" panose="02020603050405020304" pitchFamily="18" charset="0"/>
              </a:rPr>
              <a:t>f  </a:t>
            </a:r>
            <a:r>
              <a:rPr lang="en-US" altLang="zh-TW" dirty="0"/>
              <a:t>from </a:t>
            </a:r>
            <a:r>
              <a:rPr lang="en-US" altLang="zh-TW" i="1" dirty="0">
                <a:latin typeface="Times New Roman" panose="02020603050405020304" pitchFamily="18" charset="0"/>
              </a:rPr>
              <a:t>V</a:t>
            </a:r>
            <a:r>
              <a:rPr lang="en-US" altLang="zh-TW" baseline="-25000" dirty="0">
                <a:latin typeface="Times New Roman" panose="02020603050405020304" pitchFamily="18" charset="0"/>
              </a:rPr>
              <a:t>1</a:t>
            </a:r>
            <a:r>
              <a:rPr lang="en-US" altLang="zh-TW" dirty="0"/>
              <a:t> to</a:t>
            </a:r>
            <a:r>
              <a:rPr lang="en-US" altLang="zh-TW" i="1" dirty="0"/>
              <a:t> </a:t>
            </a:r>
            <a:r>
              <a:rPr lang="en-US" altLang="zh-TW" i="1" dirty="0">
                <a:latin typeface="Times New Roman" panose="02020603050405020304" pitchFamily="18" charset="0"/>
              </a:rPr>
              <a:t>V</a:t>
            </a:r>
            <a:r>
              <a:rPr lang="en-US" altLang="zh-TW" baseline="-25000" dirty="0">
                <a:latin typeface="Times New Roman" panose="02020603050405020304" pitchFamily="18" charset="0"/>
              </a:rPr>
              <a:t>2</a:t>
            </a:r>
            <a:r>
              <a:rPr lang="en-US" altLang="zh-TW" dirty="0"/>
              <a:t> with the property that </a:t>
            </a:r>
            <a:r>
              <a:rPr lang="en-US" altLang="zh-TW" i="1" u="sng" dirty="0">
                <a:solidFill>
                  <a:srgbClr val="FF0000"/>
                </a:solidFill>
                <a:latin typeface="Times New Roman" panose="02020603050405020304" pitchFamily="18" charset="0"/>
              </a:rPr>
              <a:t>a</a:t>
            </a:r>
            <a:r>
              <a:rPr lang="en-US" altLang="zh-TW" u="sng" dirty="0">
                <a:solidFill>
                  <a:srgbClr val="FF0000"/>
                </a:solidFill>
                <a:latin typeface="Times New Roman" panose="02020603050405020304" pitchFamily="18" charset="0"/>
              </a:rPr>
              <a:t>~</a:t>
            </a:r>
            <a:r>
              <a:rPr lang="en-US" altLang="zh-TW" i="1" u="sng" dirty="0">
                <a:solidFill>
                  <a:srgbClr val="FF0000"/>
                </a:solidFill>
                <a:latin typeface="Times New Roman" panose="02020603050405020304" pitchFamily="18" charset="0"/>
              </a:rPr>
              <a:t>b</a:t>
            </a:r>
            <a:r>
              <a:rPr lang="en-US" altLang="zh-TW" u="sng" dirty="0">
                <a:solidFill>
                  <a:srgbClr val="FF0000"/>
                </a:solidFill>
              </a:rPr>
              <a:t> in </a:t>
            </a:r>
            <a:r>
              <a:rPr lang="en-US" altLang="zh-TW" i="1" u="sng" dirty="0">
                <a:solidFill>
                  <a:srgbClr val="FF0000"/>
                </a:solidFill>
                <a:latin typeface="Times New Roman" panose="02020603050405020304" pitchFamily="18" charset="0"/>
              </a:rPr>
              <a:t>G</a:t>
            </a:r>
            <a:r>
              <a:rPr lang="en-US" altLang="zh-TW" baseline="-25000" dirty="0">
                <a:solidFill>
                  <a:srgbClr val="FF0000"/>
                </a:solidFill>
                <a:latin typeface="Times New Roman" panose="02020603050405020304" pitchFamily="18" charset="0"/>
              </a:rPr>
              <a:t>1</a:t>
            </a:r>
            <a:r>
              <a:rPr lang="en-US" altLang="zh-TW" u="sng" dirty="0">
                <a:solidFill>
                  <a:srgbClr val="FF0000"/>
                </a:solidFill>
              </a:rPr>
              <a:t> iff </a:t>
            </a:r>
            <a:r>
              <a:rPr lang="en-US" altLang="zh-TW" i="1" u="sng" dirty="0">
                <a:solidFill>
                  <a:srgbClr val="FF0000"/>
                </a:solidFill>
                <a:latin typeface="Times New Roman" panose="02020603050405020304" pitchFamily="18" charset="0"/>
              </a:rPr>
              <a:t>f</a:t>
            </a:r>
            <a:r>
              <a:rPr lang="en-US" altLang="zh-TW" u="sng" dirty="0">
                <a:solidFill>
                  <a:srgbClr val="FF0000"/>
                </a:solidFill>
                <a:latin typeface="Times New Roman" panose="02020603050405020304" pitchFamily="18" charset="0"/>
              </a:rPr>
              <a:t>(</a:t>
            </a:r>
            <a:r>
              <a:rPr lang="en-US" altLang="zh-TW" i="1" u="sng" dirty="0">
                <a:solidFill>
                  <a:srgbClr val="FF0000"/>
                </a:solidFill>
                <a:latin typeface="Times New Roman" panose="02020603050405020304" pitchFamily="18" charset="0"/>
              </a:rPr>
              <a:t>a</a:t>
            </a:r>
            <a:r>
              <a:rPr lang="en-US" altLang="zh-TW" u="sng" dirty="0">
                <a:solidFill>
                  <a:srgbClr val="FF0000"/>
                </a:solidFill>
                <a:latin typeface="Times New Roman" panose="02020603050405020304" pitchFamily="18" charset="0"/>
              </a:rPr>
              <a:t>)~</a:t>
            </a:r>
            <a:r>
              <a:rPr lang="en-US" altLang="zh-TW" i="1" u="sng" dirty="0">
                <a:solidFill>
                  <a:srgbClr val="FF0000"/>
                </a:solidFill>
                <a:latin typeface="Times New Roman" panose="02020603050405020304" pitchFamily="18" charset="0"/>
              </a:rPr>
              <a:t>f</a:t>
            </a:r>
            <a:r>
              <a:rPr lang="en-US" altLang="zh-TW" u="sng" dirty="0">
                <a:solidFill>
                  <a:srgbClr val="FF0000"/>
                </a:solidFill>
                <a:latin typeface="Times New Roman" panose="02020603050405020304" pitchFamily="18" charset="0"/>
              </a:rPr>
              <a:t>(</a:t>
            </a:r>
            <a:r>
              <a:rPr lang="en-US" altLang="zh-TW" i="1" u="sng" dirty="0">
                <a:solidFill>
                  <a:srgbClr val="FF0000"/>
                </a:solidFill>
                <a:latin typeface="Times New Roman" panose="02020603050405020304" pitchFamily="18" charset="0"/>
              </a:rPr>
              <a:t>b</a:t>
            </a:r>
            <a:r>
              <a:rPr lang="en-US" altLang="zh-TW" u="sng" dirty="0">
                <a:solidFill>
                  <a:srgbClr val="FF0000"/>
                </a:solidFill>
                <a:latin typeface="Times New Roman" panose="02020603050405020304" pitchFamily="18" charset="0"/>
              </a:rPr>
              <a:t>)</a:t>
            </a:r>
            <a:r>
              <a:rPr lang="en-US" altLang="zh-TW" u="sng" dirty="0">
                <a:solidFill>
                  <a:srgbClr val="FF0000"/>
                </a:solidFill>
              </a:rPr>
              <a:t> in </a:t>
            </a:r>
            <a:r>
              <a:rPr lang="en-US" altLang="zh-TW" i="1" u="sng" dirty="0">
                <a:solidFill>
                  <a:srgbClr val="FF0000"/>
                </a:solidFill>
                <a:latin typeface="Times New Roman" panose="02020603050405020304" pitchFamily="18" charset="0"/>
              </a:rPr>
              <a:t>G</a:t>
            </a:r>
            <a:r>
              <a:rPr lang="en-US" altLang="zh-TW" baseline="-25000" dirty="0">
                <a:solidFill>
                  <a:srgbClr val="FF0000"/>
                </a:solidFill>
                <a:latin typeface="Times New Roman" panose="02020603050405020304" pitchFamily="18" charset="0"/>
              </a:rPr>
              <a:t>2</a:t>
            </a:r>
            <a:r>
              <a:rPr lang="en-US" altLang="zh-TW" dirty="0"/>
              <a:t>, </a:t>
            </a:r>
            <a:r>
              <a:rPr lang="en-US" altLang="zh-TW" dirty="0">
                <a:sym typeface="Symbol" panose="05050102010706020507" pitchFamily="18" charset="2"/>
              </a:rPr>
              <a:t></a:t>
            </a:r>
            <a:r>
              <a:rPr lang="en-US" altLang="zh-TW" i="1" dirty="0">
                <a:latin typeface="Times New Roman" panose="02020603050405020304" pitchFamily="18" charset="0"/>
                <a:sym typeface="Symbol" panose="05050102010706020507" pitchFamily="18" charset="2"/>
              </a:rPr>
              <a:t>a</a:t>
            </a:r>
            <a:r>
              <a:rPr lang="en-US" altLang="zh-TW" dirty="0">
                <a:latin typeface="Times New Roman" panose="02020603050405020304" pitchFamily="18" charset="0"/>
                <a:sym typeface="Symbol" panose="05050102010706020507" pitchFamily="18" charset="2"/>
              </a:rPr>
              <a:t>,</a:t>
            </a:r>
            <a:r>
              <a:rPr lang="en-US" altLang="zh-TW" i="1" dirty="0">
                <a:latin typeface="Times New Roman" panose="02020603050405020304" pitchFamily="18" charset="0"/>
                <a:sym typeface="Symbol" panose="05050102010706020507" pitchFamily="18" charset="2"/>
              </a:rPr>
              <a:t>b</a:t>
            </a:r>
            <a:r>
              <a:rPr lang="en-US" altLang="zh-TW" dirty="0">
                <a:latin typeface="Times New Roman" panose="02020603050405020304" pitchFamily="18" charset="0"/>
                <a:sym typeface="Symbol" panose="05050102010706020507" pitchFamily="18" charset="2"/>
              </a:rPr>
              <a:t></a:t>
            </a:r>
            <a:r>
              <a:rPr lang="en-US" altLang="zh-TW" i="1" dirty="0">
                <a:latin typeface="Times New Roman" panose="02020603050405020304" pitchFamily="18" charset="0"/>
                <a:sym typeface="Symbol" panose="05050102010706020507" pitchFamily="18" charset="2"/>
              </a:rPr>
              <a:t>V</a:t>
            </a:r>
            <a:r>
              <a:rPr lang="en-US" altLang="zh-TW" baseline="-25000" dirty="0">
                <a:latin typeface="Times New Roman" panose="02020603050405020304" pitchFamily="18" charset="0"/>
                <a:sym typeface="Symbol" panose="05050102010706020507" pitchFamily="18" charset="2"/>
              </a:rPr>
              <a:t>1</a:t>
            </a:r>
            <a:endParaRPr lang="en-US" altLang="zh-TW" baseline="-25000" dirty="0">
              <a:latin typeface="Times New Roman" panose="02020603050405020304" pitchFamily="18" charset="0"/>
              <a:sym typeface="Symbol" panose="05050102010706020507" pitchFamily="18" charset="2"/>
            </a:endParaRPr>
          </a:p>
          <a:p>
            <a:pPr eaLnBrk="1" hangingPunct="1">
              <a:buNone/>
            </a:pPr>
            <a:r>
              <a:rPr lang="en-US" altLang="zh-TW" dirty="0">
                <a:sym typeface="Symbol" panose="05050102010706020507" pitchFamily="18" charset="2"/>
              </a:rPr>
              <a:t>   </a:t>
            </a:r>
            <a:r>
              <a:rPr lang="en-US" altLang="zh-TW" i="1" dirty="0">
                <a:latin typeface="Times New Roman" panose="02020603050405020304" pitchFamily="18" charset="0"/>
                <a:sym typeface="Symbol" panose="05050102010706020507" pitchFamily="18" charset="2"/>
              </a:rPr>
              <a:t>f</a:t>
            </a:r>
            <a:r>
              <a:rPr lang="en-US" altLang="zh-TW" dirty="0">
                <a:sym typeface="Symbol" panose="05050102010706020507" pitchFamily="18" charset="2"/>
              </a:rPr>
              <a:t> is called an </a:t>
            </a:r>
            <a:r>
              <a:rPr lang="en-US" altLang="zh-TW" u="sng" dirty="0">
                <a:solidFill>
                  <a:srgbClr val="FF0000"/>
                </a:solidFill>
                <a:sym typeface="Symbol" panose="05050102010706020507" pitchFamily="18" charset="2"/>
              </a:rPr>
              <a:t>isomorphism</a:t>
            </a:r>
            <a:r>
              <a:rPr lang="en-US" altLang="zh-TW" dirty="0">
                <a:sym typeface="Symbol" panose="05050102010706020507" pitchFamily="18" charset="2"/>
              </a:rPr>
              <a:t>.</a:t>
            </a:r>
            <a:endParaRPr lang="en-US" altLang="zh-TW" dirty="0">
              <a:sym typeface="Symbol" panose="05050102010706020507" pitchFamily="18" charset="2"/>
            </a:endParaRPr>
          </a:p>
        </p:txBody>
      </p:sp>
      <p:sp>
        <p:nvSpPr>
          <p:cNvPr id="34819" name="Rectangle 4"/>
          <p:cNvSpPr/>
          <p:nvPr/>
        </p:nvSpPr>
        <p:spPr>
          <a:xfrm>
            <a:off x="152400" y="381000"/>
            <a:ext cx="51689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b="1" dirty="0">
                <a:solidFill>
                  <a:srgbClr val="3366FF"/>
                </a:solidFill>
              </a:rPr>
              <a:t>※Isomorphism of Graphs</a:t>
            </a:r>
            <a:endParaRPr lang="en-US" altLang="zh-TW" b="1" dirty="0">
              <a:solidFill>
                <a:srgbClr val="3366FF"/>
              </a:solidFill>
            </a:endParaRPr>
          </a:p>
        </p:txBody>
      </p:sp>
      <p:sp>
        <p:nvSpPr>
          <p:cNvPr id="34820" name="Text Box 23"/>
          <p:cNvSpPr txBox="1"/>
          <p:nvPr/>
        </p:nvSpPr>
        <p:spPr>
          <a:xfrm>
            <a:off x="381000" y="1219200"/>
            <a:ext cx="3937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1</a:t>
            </a:r>
            <a:endParaRPr lang="en-US" altLang="zh-TW" sz="2000" baseline="-25000" dirty="0">
              <a:latin typeface="Times New Roman" panose="02020603050405020304" pitchFamily="18" charset="0"/>
              <a:ea typeface="Times New Roman" panose="02020603050405020304" pitchFamily="18" charset="0"/>
            </a:endParaRPr>
          </a:p>
        </p:txBody>
      </p:sp>
      <p:cxnSp>
        <p:nvCxnSpPr>
          <p:cNvPr id="34821" name="AutoShape 10"/>
          <p:cNvCxnSpPr>
            <a:endCxn id="34833" idx="0"/>
          </p:cNvCxnSpPr>
          <p:nvPr/>
        </p:nvCxnSpPr>
        <p:spPr>
          <a:xfrm rot="5400000">
            <a:off x="457200" y="1828800"/>
            <a:ext cx="762000" cy="3175"/>
          </a:xfrm>
          <a:prstGeom prst="straightConnector1">
            <a:avLst/>
          </a:prstGeom>
          <a:ln w="9525" cap="flat" cmpd="sng">
            <a:solidFill>
              <a:schemeClr val="tx1"/>
            </a:solidFill>
            <a:prstDash val="solid"/>
            <a:headEnd type="none" w="med" len="med"/>
            <a:tailEnd type="none" w="med" len="med"/>
          </a:ln>
        </p:spPr>
      </p:cxnSp>
      <p:cxnSp>
        <p:nvCxnSpPr>
          <p:cNvPr id="34822" name="AutoShape 11"/>
          <p:cNvCxnSpPr>
            <a:endCxn id="34832" idx="6"/>
          </p:cNvCxnSpPr>
          <p:nvPr/>
        </p:nvCxnSpPr>
        <p:spPr>
          <a:xfrm>
            <a:off x="914400" y="1447800"/>
            <a:ext cx="1295400" cy="1588"/>
          </a:xfrm>
          <a:prstGeom prst="straightConnector1">
            <a:avLst/>
          </a:prstGeom>
          <a:ln w="9525" cap="flat" cmpd="sng">
            <a:solidFill>
              <a:schemeClr val="tx1"/>
            </a:solidFill>
            <a:prstDash val="solid"/>
            <a:headEnd type="none" w="med" len="med"/>
            <a:tailEnd type="none" w="med" len="med"/>
          </a:ln>
        </p:spPr>
      </p:cxnSp>
      <p:cxnSp>
        <p:nvCxnSpPr>
          <p:cNvPr id="34823" name="AutoShape 12"/>
          <p:cNvCxnSpPr>
            <a:endCxn id="34831" idx="6"/>
          </p:cNvCxnSpPr>
          <p:nvPr/>
        </p:nvCxnSpPr>
        <p:spPr>
          <a:xfrm>
            <a:off x="914400" y="2286000"/>
            <a:ext cx="1295400" cy="1588"/>
          </a:xfrm>
          <a:prstGeom prst="straightConnector1">
            <a:avLst/>
          </a:prstGeom>
          <a:ln w="9525" cap="flat" cmpd="sng">
            <a:solidFill>
              <a:schemeClr val="tx1"/>
            </a:solidFill>
            <a:prstDash val="solid"/>
            <a:headEnd type="none" w="med" len="med"/>
            <a:tailEnd type="none" w="med" len="med"/>
          </a:ln>
        </p:spPr>
      </p:cxnSp>
      <p:cxnSp>
        <p:nvCxnSpPr>
          <p:cNvPr id="34824" name="AutoShape 13"/>
          <p:cNvCxnSpPr/>
          <p:nvPr/>
        </p:nvCxnSpPr>
        <p:spPr>
          <a:xfrm rot="5400000">
            <a:off x="1714500" y="1865313"/>
            <a:ext cx="838200" cy="1587"/>
          </a:xfrm>
          <a:prstGeom prst="straightConnector1">
            <a:avLst/>
          </a:prstGeom>
          <a:ln w="9525" cap="flat" cmpd="sng">
            <a:solidFill>
              <a:schemeClr val="tx1"/>
            </a:solidFill>
            <a:prstDash val="solid"/>
            <a:headEnd type="none" w="med" len="med"/>
            <a:tailEnd type="none" w="med" len="med"/>
          </a:ln>
        </p:spPr>
      </p:cxnSp>
      <p:sp>
        <p:nvSpPr>
          <p:cNvPr id="34825" name="Text Box 27"/>
          <p:cNvSpPr txBox="1"/>
          <p:nvPr/>
        </p:nvSpPr>
        <p:spPr>
          <a:xfrm>
            <a:off x="1295400" y="2438400"/>
            <a:ext cx="4413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G</a:t>
            </a:r>
            <a:endParaRPr lang="en-US" altLang="zh-TW" sz="2800" i="1" dirty="0">
              <a:latin typeface="Times New Roman" panose="02020603050405020304" pitchFamily="18" charset="0"/>
              <a:ea typeface="Times New Roman" panose="02020603050405020304" pitchFamily="18" charset="0"/>
            </a:endParaRPr>
          </a:p>
        </p:txBody>
      </p:sp>
      <p:cxnSp>
        <p:nvCxnSpPr>
          <p:cNvPr id="34826" name="AutoShape 19"/>
          <p:cNvCxnSpPr>
            <a:endCxn id="34840" idx="1"/>
          </p:cNvCxnSpPr>
          <p:nvPr/>
        </p:nvCxnSpPr>
        <p:spPr>
          <a:xfrm>
            <a:off x="3429000" y="1447800"/>
            <a:ext cx="1165225" cy="784225"/>
          </a:xfrm>
          <a:prstGeom prst="straightConnector1">
            <a:avLst/>
          </a:prstGeom>
          <a:ln w="9525" cap="flat" cmpd="sng">
            <a:solidFill>
              <a:schemeClr val="tx1"/>
            </a:solidFill>
            <a:prstDash val="solid"/>
            <a:headEnd type="none" w="med" len="med"/>
            <a:tailEnd type="none" w="med" len="med"/>
          </a:ln>
        </p:spPr>
      </p:cxnSp>
      <p:cxnSp>
        <p:nvCxnSpPr>
          <p:cNvPr id="34827" name="AutoShape 20"/>
          <p:cNvCxnSpPr>
            <a:stCxn id="34841" idx="3"/>
          </p:cNvCxnSpPr>
          <p:nvPr/>
        </p:nvCxnSpPr>
        <p:spPr>
          <a:xfrm rot="5400000">
            <a:off x="3614738" y="1316038"/>
            <a:ext cx="793750" cy="1165225"/>
          </a:xfrm>
          <a:prstGeom prst="straightConnector1">
            <a:avLst/>
          </a:prstGeom>
          <a:ln w="9525" cap="flat" cmpd="sng">
            <a:solidFill>
              <a:schemeClr val="tx1"/>
            </a:solidFill>
            <a:prstDash val="solid"/>
            <a:headEnd type="none" w="med" len="med"/>
            <a:tailEnd type="none" w="med" len="med"/>
          </a:ln>
        </p:spPr>
      </p:cxnSp>
      <p:cxnSp>
        <p:nvCxnSpPr>
          <p:cNvPr id="34828" name="AutoShape 21"/>
          <p:cNvCxnSpPr/>
          <p:nvPr/>
        </p:nvCxnSpPr>
        <p:spPr>
          <a:xfrm>
            <a:off x="3429000" y="1524000"/>
            <a:ext cx="0" cy="698500"/>
          </a:xfrm>
          <a:prstGeom prst="straightConnector1">
            <a:avLst/>
          </a:prstGeom>
          <a:ln w="9525" cap="flat" cmpd="sng">
            <a:solidFill>
              <a:schemeClr val="tx1"/>
            </a:solidFill>
            <a:prstDash val="solid"/>
            <a:headEnd type="none" w="med" len="med"/>
            <a:tailEnd type="none" w="med" len="med"/>
          </a:ln>
        </p:spPr>
      </p:cxnSp>
      <p:sp>
        <p:nvSpPr>
          <p:cNvPr id="34829" name="Text Box 32"/>
          <p:cNvSpPr txBox="1"/>
          <p:nvPr/>
        </p:nvSpPr>
        <p:spPr>
          <a:xfrm>
            <a:off x="3810000" y="2438400"/>
            <a:ext cx="4413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H</a:t>
            </a:r>
            <a:endParaRPr lang="en-US" altLang="zh-TW" sz="2800" i="1" dirty="0">
              <a:latin typeface="Times New Roman" panose="02020603050405020304" pitchFamily="18" charset="0"/>
              <a:ea typeface="Times New Roman" panose="02020603050405020304" pitchFamily="18" charset="0"/>
            </a:endParaRPr>
          </a:p>
        </p:txBody>
      </p:sp>
      <p:sp>
        <p:nvSpPr>
          <p:cNvPr id="34830" name="Oval 5"/>
          <p:cNvSpPr/>
          <p:nvPr/>
        </p:nvSpPr>
        <p:spPr>
          <a:xfrm>
            <a:off x="762000" y="1371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4831" name="Oval 5"/>
          <p:cNvSpPr/>
          <p:nvPr/>
        </p:nvSpPr>
        <p:spPr>
          <a:xfrm>
            <a:off x="2057400" y="2209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4832" name="Oval 5"/>
          <p:cNvSpPr/>
          <p:nvPr/>
        </p:nvSpPr>
        <p:spPr>
          <a:xfrm>
            <a:off x="2057400" y="1371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4833" name="Oval 5"/>
          <p:cNvSpPr/>
          <p:nvPr/>
        </p:nvSpPr>
        <p:spPr>
          <a:xfrm>
            <a:off x="762000" y="2209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4834" name="Text Box 23"/>
          <p:cNvSpPr txBox="1"/>
          <p:nvPr/>
        </p:nvSpPr>
        <p:spPr>
          <a:xfrm>
            <a:off x="381000" y="2057400"/>
            <a:ext cx="3937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3</a:t>
            </a:r>
            <a:endParaRPr lang="en-US" altLang="zh-TW" sz="2000" baseline="-25000" dirty="0">
              <a:latin typeface="Times New Roman" panose="02020603050405020304" pitchFamily="18" charset="0"/>
              <a:ea typeface="Times New Roman" panose="02020603050405020304" pitchFamily="18" charset="0"/>
            </a:endParaRPr>
          </a:p>
        </p:txBody>
      </p:sp>
      <p:sp>
        <p:nvSpPr>
          <p:cNvPr id="34835" name="Text Box 23"/>
          <p:cNvSpPr txBox="1"/>
          <p:nvPr/>
        </p:nvSpPr>
        <p:spPr>
          <a:xfrm>
            <a:off x="2209800" y="1219200"/>
            <a:ext cx="3937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2</a:t>
            </a:r>
            <a:endParaRPr lang="en-US" altLang="zh-TW" sz="2000" baseline="-25000" dirty="0">
              <a:latin typeface="Times New Roman" panose="02020603050405020304" pitchFamily="18" charset="0"/>
              <a:ea typeface="Times New Roman" panose="02020603050405020304" pitchFamily="18" charset="0"/>
            </a:endParaRPr>
          </a:p>
        </p:txBody>
      </p:sp>
      <p:sp>
        <p:nvSpPr>
          <p:cNvPr id="34836" name="Text Box 23"/>
          <p:cNvSpPr txBox="1"/>
          <p:nvPr/>
        </p:nvSpPr>
        <p:spPr>
          <a:xfrm>
            <a:off x="2209800" y="2133600"/>
            <a:ext cx="3937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4</a:t>
            </a:r>
            <a:endParaRPr lang="en-US" altLang="zh-TW" sz="2000" baseline="-25000" dirty="0">
              <a:latin typeface="Times New Roman" panose="02020603050405020304" pitchFamily="18" charset="0"/>
              <a:ea typeface="Times New Roman" panose="02020603050405020304" pitchFamily="18" charset="0"/>
            </a:endParaRPr>
          </a:p>
        </p:txBody>
      </p:sp>
      <p:sp>
        <p:nvSpPr>
          <p:cNvPr id="34837" name="Oval 5"/>
          <p:cNvSpPr/>
          <p:nvPr/>
        </p:nvSpPr>
        <p:spPr>
          <a:xfrm>
            <a:off x="3352800" y="2209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4838" name="Oval 5"/>
          <p:cNvSpPr/>
          <p:nvPr/>
        </p:nvSpPr>
        <p:spPr>
          <a:xfrm>
            <a:off x="3352800" y="1371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34839" name="AutoShape 21"/>
          <p:cNvCxnSpPr/>
          <p:nvPr/>
        </p:nvCxnSpPr>
        <p:spPr>
          <a:xfrm>
            <a:off x="4648200" y="1524000"/>
            <a:ext cx="0" cy="698500"/>
          </a:xfrm>
          <a:prstGeom prst="straightConnector1">
            <a:avLst/>
          </a:prstGeom>
          <a:ln w="9525" cap="flat" cmpd="sng">
            <a:solidFill>
              <a:schemeClr val="tx1"/>
            </a:solidFill>
            <a:prstDash val="solid"/>
            <a:headEnd type="none" w="med" len="med"/>
            <a:tailEnd type="none" w="med" len="med"/>
          </a:ln>
        </p:spPr>
      </p:cxnSp>
      <p:sp>
        <p:nvSpPr>
          <p:cNvPr id="34840" name="Oval 5"/>
          <p:cNvSpPr/>
          <p:nvPr/>
        </p:nvSpPr>
        <p:spPr>
          <a:xfrm>
            <a:off x="4572000" y="2209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4841" name="Oval 5"/>
          <p:cNvSpPr/>
          <p:nvPr/>
        </p:nvSpPr>
        <p:spPr>
          <a:xfrm>
            <a:off x="4572000" y="1371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4842" name="Text Box 23"/>
          <p:cNvSpPr txBox="1"/>
          <p:nvPr/>
        </p:nvSpPr>
        <p:spPr>
          <a:xfrm>
            <a:off x="4724400" y="1219200"/>
            <a:ext cx="3794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baseline="-25000" dirty="0">
                <a:latin typeface="Times New Roman" panose="02020603050405020304" pitchFamily="18" charset="0"/>
                <a:cs typeface="Times New Roman" panose="02020603050405020304" pitchFamily="18" charset="0"/>
              </a:rPr>
              <a:t>2</a:t>
            </a:r>
            <a:endParaRPr lang="en-US" altLang="zh-TW" sz="2000" baseline="-25000" dirty="0">
              <a:latin typeface="Times New Roman" panose="02020603050405020304" pitchFamily="18" charset="0"/>
              <a:ea typeface="Times New Roman" panose="02020603050405020304" pitchFamily="18" charset="0"/>
            </a:endParaRPr>
          </a:p>
        </p:txBody>
      </p:sp>
      <p:sp>
        <p:nvSpPr>
          <p:cNvPr id="34843" name="Text Box 23"/>
          <p:cNvSpPr txBox="1"/>
          <p:nvPr/>
        </p:nvSpPr>
        <p:spPr>
          <a:xfrm>
            <a:off x="4724400" y="2057400"/>
            <a:ext cx="3794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baseline="-25000" dirty="0">
                <a:latin typeface="Times New Roman" panose="02020603050405020304" pitchFamily="18" charset="0"/>
                <a:cs typeface="Times New Roman" panose="02020603050405020304" pitchFamily="18" charset="0"/>
              </a:rPr>
              <a:t>4</a:t>
            </a:r>
            <a:endParaRPr lang="en-US" altLang="zh-TW" sz="2000" baseline="-25000" dirty="0">
              <a:latin typeface="Times New Roman" panose="02020603050405020304" pitchFamily="18" charset="0"/>
              <a:ea typeface="Times New Roman" panose="02020603050405020304" pitchFamily="18" charset="0"/>
            </a:endParaRPr>
          </a:p>
        </p:txBody>
      </p:sp>
      <p:sp>
        <p:nvSpPr>
          <p:cNvPr id="34844" name="Text Box 23"/>
          <p:cNvSpPr txBox="1"/>
          <p:nvPr/>
        </p:nvSpPr>
        <p:spPr>
          <a:xfrm>
            <a:off x="3048000" y="1143000"/>
            <a:ext cx="3794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baseline="-25000" dirty="0">
                <a:latin typeface="Times New Roman" panose="02020603050405020304" pitchFamily="18" charset="0"/>
                <a:cs typeface="Times New Roman" panose="02020603050405020304" pitchFamily="18" charset="0"/>
              </a:rPr>
              <a:t>1</a:t>
            </a:r>
            <a:endParaRPr lang="en-US" altLang="zh-TW" sz="2000" baseline="-25000" dirty="0">
              <a:latin typeface="Times New Roman" panose="02020603050405020304" pitchFamily="18" charset="0"/>
              <a:ea typeface="Times New Roman" panose="02020603050405020304" pitchFamily="18" charset="0"/>
            </a:endParaRPr>
          </a:p>
        </p:txBody>
      </p:sp>
      <p:sp>
        <p:nvSpPr>
          <p:cNvPr id="34845" name="Text Box 23"/>
          <p:cNvSpPr txBox="1"/>
          <p:nvPr/>
        </p:nvSpPr>
        <p:spPr>
          <a:xfrm>
            <a:off x="3048000" y="2133600"/>
            <a:ext cx="3794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baseline="-25000" dirty="0">
                <a:latin typeface="Times New Roman" panose="02020603050405020304" pitchFamily="18" charset="0"/>
                <a:cs typeface="Times New Roman" panose="02020603050405020304" pitchFamily="18" charset="0"/>
              </a:rPr>
              <a:t>3</a:t>
            </a:r>
            <a:endParaRPr lang="en-US" altLang="zh-TW" sz="2000" baseline="-25000" dirty="0">
              <a:latin typeface="Times New Roman" panose="02020603050405020304" pitchFamily="18" charset="0"/>
              <a:ea typeface="Times New Roman" panose="02020603050405020304" pitchFamily="18" charset="0"/>
            </a:endParaRPr>
          </a:p>
        </p:txBody>
      </p:sp>
      <p:sp>
        <p:nvSpPr>
          <p:cNvPr id="60" name="文字方塊 59"/>
          <p:cNvSpPr txBox="1"/>
          <p:nvPr/>
        </p:nvSpPr>
        <p:spPr>
          <a:xfrm>
            <a:off x="5486400" y="1600200"/>
            <a:ext cx="337026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G</a:t>
            </a:r>
            <a:r>
              <a:rPr lang="en-US" altLang="zh-TW" sz="2800" dirty="0"/>
              <a:t> is isomorphic to </a:t>
            </a:r>
            <a:r>
              <a:rPr lang="en-US" altLang="zh-TW" sz="2800" i="1" dirty="0">
                <a:latin typeface="Times New Roman" panose="02020603050405020304" pitchFamily="18" charset="0"/>
                <a:cs typeface="Times New Roman" panose="02020603050405020304" pitchFamily="18" charset="0"/>
              </a:rPr>
              <a:t>H</a:t>
            </a:r>
            <a:endParaRPr lang="zh-TW" altLang="en-US" sz="2800" i="1" dirty="0">
              <a:latin typeface="Times New Roman" panose="02020603050405020304" pitchFamily="18" charset="0"/>
              <a:ea typeface="Times New Roman" panose="02020603050405020304" pitchFamily="18" charset="0"/>
            </a:endParaRPr>
          </a:p>
        </p:txBody>
      </p:sp>
      <p:sp>
        <p:nvSpPr>
          <p:cNvPr id="34847" name="投影片編號版面配置區 31"/>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ppt_x"/>
                                          </p:val>
                                        </p:tav>
                                        <p:tav tm="100000">
                                          <p:val>
                                            <p:strVal val="#ppt_x"/>
                                          </p:val>
                                        </p:tav>
                                      </p:tavLst>
                                    </p:anim>
                                    <p:anim calcmode="lin" valueType="num">
                                      <p:cBhvr additive="base">
                                        <p:cTn id="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843">
                                            <p:txEl>
                                              <p:charRg st="0" end="9"/>
                                            </p:txEl>
                                          </p:spTgt>
                                        </p:tgtEl>
                                        <p:attrNameLst>
                                          <p:attrName>style.visibility</p:attrName>
                                        </p:attrNameLst>
                                      </p:cBhvr>
                                      <p:to>
                                        <p:strVal val="visible"/>
                                      </p:to>
                                    </p:set>
                                    <p:anim calcmode="lin" valueType="num">
                                      <p:cBhvr additive="base">
                                        <p:cTn id="13" dur="500" fill="hold"/>
                                        <p:tgtEl>
                                          <p:spTgt spid="35843">
                                            <p:txEl>
                                              <p:charRg st="0"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3">
                                            <p:txEl>
                                              <p:charRg st="0" end="9"/>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5843">
                                            <p:txEl>
                                              <p:charRg st="9" end="194"/>
                                            </p:txEl>
                                          </p:spTgt>
                                        </p:tgtEl>
                                        <p:attrNameLst>
                                          <p:attrName>style.visibility</p:attrName>
                                        </p:attrNameLst>
                                      </p:cBhvr>
                                      <p:to>
                                        <p:strVal val="visible"/>
                                      </p:to>
                                    </p:set>
                                    <p:anim calcmode="lin" valueType="num">
                                      <p:cBhvr additive="base">
                                        <p:cTn id="17" dur="500" fill="hold"/>
                                        <p:tgtEl>
                                          <p:spTgt spid="35843">
                                            <p:txEl>
                                              <p:charRg st="9" end="19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5843">
                                            <p:txEl>
                                              <p:charRg st="9" end="194"/>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5843">
                                            <p:txEl>
                                              <p:charRg st="194" end="225"/>
                                            </p:txEl>
                                          </p:spTgt>
                                        </p:tgtEl>
                                        <p:attrNameLst>
                                          <p:attrName>style.visibility</p:attrName>
                                        </p:attrNameLst>
                                      </p:cBhvr>
                                      <p:to>
                                        <p:strVal val="visible"/>
                                      </p:to>
                                    </p:set>
                                    <p:anim calcmode="lin" valueType="num">
                                      <p:cBhvr additive="base">
                                        <p:cTn id="21" dur="500" fill="hold"/>
                                        <p:tgtEl>
                                          <p:spTgt spid="35843">
                                            <p:txEl>
                                              <p:charRg st="194" end="22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5843">
                                            <p:txEl>
                                              <p:charRg st="194" end="22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P spid="6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p:txBody>
          <a:bodyPr vert="horz" wrap="square" lIns="91440" tIns="45720" rIns="91440" bIns="45720" anchor="ctr"/>
          <a:p>
            <a:r>
              <a:rPr lang="en-US" altLang="zh-TW" sz="3200" b="1" dirty="0">
                <a:solidFill>
                  <a:srgbClr val="008000"/>
                </a:solidFill>
              </a:rPr>
              <a:t>Graph Invariants under Isomorphism</a:t>
            </a:r>
            <a:endParaRPr lang="en-US" altLang="zh-TW" sz="3200" b="1" dirty="0">
              <a:solidFill>
                <a:srgbClr val="008000"/>
              </a:solidFill>
            </a:endParaRPr>
          </a:p>
        </p:txBody>
      </p:sp>
      <p:sp>
        <p:nvSpPr>
          <p:cNvPr id="156675" name="Rectangle 3"/>
          <p:cNvSpPr>
            <a:spLocks noGrp="1"/>
          </p:cNvSpPr>
          <p:nvPr>
            <p:ph idx="1"/>
          </p:nvPr>
        </p:nvSpPr>
        <p:spPr>
          <a:xfrm>
            <a:off x="457200" y="1676400"/>
            <a:ext cx="8229600" cy="3886200"/>
          </a:xfrm>
        </p:spPr>
        <p:txBody>
          <a:bodyPr vert="horz" wrap="square" lIns="91440" tIns="45720" rIns="91440" bIns="45720" anchor="t"/>
          <a:p>
            <a:pPr marL="0" indent="0">
              <a:buNone/>
            </a:pPr>
            <a:r>
              <a:rPr lang="en-US" altLang="zh-TW" i="1" dirty="0"/>
              <a:t>Necessary</a:t>
            </a:r>
            <a:r>
              <a:rPr lang="en-US" altLang="zh-TW" dirty="0"/>
              <a:t> but not </a:t>
            </a:r>
            <a:r>
              <a:rPr lang="en-US" altLang="zh-TW" i="1" dirty="0"/>
              <a:t>sufficient</a:t>
            </a:r>
            <a:r>
              <a:rPr lang="en-US" altLang="zh-TW" dirty="0"/>
              <a:t> conditions for </a:t>
            </a:r>
            <a:r>
              <a:rPr lang="en-US" altLang="zh-TW" i="1" dirty="0"/>
              <a:t>G</a:t>
            </a:r>
            <a:r>
              <a:rPr lang="en-US" altLang="zh-TW" baseline="-25000" dirty="0"/>
              <a:t>1</a:t>
            </a:r>
            <a:r>
              <a:rPr lang="en-US" altLang="zh-TW" dirty="0"/>
              <a:t>=(</a:t>
            </a:r>
            <a:r>
              <a:rPr lang="en-US" altLang="zh-TW" i="1" dirty="0"/>
              <a:t>V</a:t>
            </a:r>
            <a:r>
              <a:rPr lang="en-US" altLang="zh-TW" baseline="-25000" dirty="0"/>
              <a:t>1</a:t>
            </a:r>
            <a:r>
              <a:rPr lang="en-US" altLang="zh-TW" dirty="0"/>
              <a:t>, </a:t>
            </a:r>
            <a:r>
              <a:rPr lang="en-US" altLang="zh-TW" i="1" dirty="0"/>
              <a:t>E</a:t>
            </a:r>
            <a:r>
              <a:rPr lang="en-US" altLang="zh-TW" baseline="-25000" dirty="0"/>
              <a:t>1</a:t>
            </a:r>
            <a:r>
              <a:rPr lang="en-US" altLang="zh-TW" dirty="0"/>
              <a:t>) to be isomorphic to </a:t>
            </a:r>
            <a:r>
              <a:rPr lang="en-US" altLang="zh-TW" i="1" dirty="0"/>
              <a:t>G</a:t>
            </a:r>
            <a:r>
              <a:rPr lang="en-US" altLang="zh-TW" baseline="-25000" dirty="0"/>
              <a:t>2</a:t>
            </a:r>
            <a:r>
              <a:rPr lang="en-US" altLang="zh-TW" dirty="0"/>
              <a:t>=(</a:t>
            </a:r>
            <a:r>
              <a:rPr lang="en-US" altLang="zh-TW" i="1" dirty="0"/>
              <a:t>V</a:t>
            </a:r>
            <a:r>
              <a:rPr lang="en-US" altLang="zh-TW" baseline="-25000" dirty="0"/>
              <a:t>2</a:t>
            </a:r>
            <a:r>
              <a:rPr lang="en-US" altLang="zh-TW" dirty="0"/>
              <a:t>, </a:t>
            </a:r>
            <a:r>
              <a:rPr lang="en-US" altLang="zh-TW" i="1" dirty="0"/>
              <a:t>E</a:t>
            </a:r>
            <a:r>
              <a:rPr lang="en-US" altLang="zh-TW" baseline="-25000" dirty="0"/>
              <a:t>2</a:t>
            </a:r>
            <a:r>
              <a:rPr lang="en-US" altLang="zh-TW" dirty="0"/>
              <a:t>):</a:t>
            </a:r>
            <a:endParaRPr lang="en-US" altLang="zh-TW" dirty="0"/>
          </a:p>
          <a:p>
            <a:pPr lvl="1"/>
            <a:r>
              <a:rPr lang="en-US" altLang="zh-TW" dirty="0"/>
              <a:t>|</a:t>
            </a:r>
            <a:r>
              <a:rPr lang="en-US" altLang="zh-TW" i="1" dirty="0"/>
              <a:t>V</a:t>
            </a:r>
            <a:r>
              <a:rPr lang="en-US" altLang="zh-TW" dirty="0"/>
              <a:t>1|=|</a:t>
            </a:r>
            <a:r>
              <a:rPr lang="en-US" altLang="zh-TW" i="1" dirty="0"/>
              <a:t>V</a:t>
            </a:r>
            <a:r>
              <a:rPr lang="en-US" altLang="zh-TW" dirty="0"/>
              <a:t>2|, |</a:t>
            </a:r>
            <a:r>
              <a:rPr lang="en-US" altLang="zh-TW" i="1" dirty="0"/>
              <a:t>E</a:t>
            </a:r>
            <a:r>
              <a:rPr lang="en-US" altLang="zh-TW" dirty="0"/>
              <a:t>1|=|</a:t>
            </a:r>
            <a:r>
              <a:rPr lang="en-US" altLang="zh-TW" i="1" dirty="0"/>
              <a:t>E</a:t>
            </a:r>
            <a:r>
              <a:rPr lang="en-US" altLang="zh-TW" dirty="0"/>
              <a:t>2|.</a:t>
            </a:r>
            <a:endParaRPr lang="en-US" altLang="zh-TW" dirty="0"/>
          </a:p>
          <a:p>
            <a:pPr lvl="1"/>
            <a:r>
              <a:rPr lang="en-US" altLang="zh-TW" dirty="0"/>
              <a:t>The number of vertices with degree </a:t>
            </a:r>
            <a:r>
              <a:rPr lang="en-US" altLang="zh-TW" i="1" dirty="0"/>
              <a:t>n</a:t>
            </a:r>
            <a:r>
              <a:rPr lang="en-US" altLang="zh-TW" dirty="0"/>
              <a:t> is the same in both graphs.</a:t>
            </a:r>
            <a:endParaRPr lang="en-US" altLang="zh-TW" dirty="0"/>
          </a:p>
          <a:p>
            <a:pPr lvl="1"/>
            <a:r>
              <a:rPr lang="en-US" altLang="zh-TW" dirty="0"/>
              <a:t>For every proper subgraph </a:t>
            </a:r>
            <a:r>
              <a:rPr lang="en-US" altLang="zh-TW" i="1" dirty="0"/>
              <a:t>g</a:t>
            </a:r>
            <a:r>
              <a:rPr lang="en-US" altLang="zh-TW" dirty="0"/>
              <a:t> of one graph, there is a proper subgraph of the other graph that is isomorphic to </a:t>
            </a:r>
            <a:r>
              <a:rPr lang="en-US" altLang="zh-TW" i="1" dirty="0"/>
              <a:t>g</a:t>
            </a:r>
            <a:r>
              <a:rPr lang="en-US" altLang="zh-TW" dirty="0"/>
              <a:t>.</a:t>
            </a:r>
            <a:endParaRPr lang="en-US" altLang="zh-TW"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6675">
                                            <p:txEl>
                                              <p:charRg st="89" end="111"/>
                                            </p:txEl>
                                          </p:spTgt>
                                        </p:tgtEl>
                                        <p:attrNameLst>
                                          <p:attrName>style.visibility</p:attrName>
                                        </p:attrNameLst>
                                      </p:cBhvr>
                                      <p:to>
                                        <p:strVal val="visible"/>
                                      </p:to>
                                    </p:set>
                                    <p:anim calcmode="lin" valueType="num">
                                      <p:cBhvr additive="base">
                                        <p:cTn id="7" dur="500" fill="hold"/>
                                        <p:tgtEl>
                                          <p:spTgt spid="156675">
                                            <p:txEl>
                                              <p:charRg st="89" end="1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675">
                                            <p:txEl>
                                              <p:charRg st="89" end="1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cashreg.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6675">
                                            <p:txEl>
                                              <p:charRg st="111" end="176"/>
                                            </p:txEl>
                                          </p:spTgt>
                                        </p:tgtEl>
                                        <p:attrNameLst>
                                          <p:attrName>style.visibility</p:attrName>
                                        </p:attrNameLst>
                                      </p:cBhvr>
                                      <p:to>
                                        <p:strVal val="visible"/>
                                      </p:to>
                                    </p:set>
                                    <p:anim calcmode="lin" valueType="num">
                                      <p:cBhvr additive="base">
                                        <p:cTn id="13" dur="500" fill="hold"/>
                                        <p:tgtEl>
                                          <p:spTgt spid="156675">
                                            <p:txEl>
                                              <p:charRg st="111" end="17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6675">
                                            <p:txEl>
                                              <p:charRg st="111" end="17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cashreg.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6675">
                                            <p:txEl>
                                              <p:charRg st="176" end="289"/>
                                            </p:txEl>
                                          </p:spTgt>
                                        </p:tgtEl>
                                        <p:attrNameLst>
                                          <p:attrName>style.visibility</p:attrName>
                                        </p:attrNameLst>
                                      </p:cBhvr>
                                      <p:to>
                                        <p:strVal val="visible"/>
                                      </p:to>
                                    </p:set>
                                    <p:anim calcmode="lin" valueType="num">
                                      <p:cBhvr additive="base">
                                        <p:cTn id="19" dur="500" fill="hold"/>
                                        <p:tgtEl>
                                          <p:spTgt spid="156675">
                                            <p:txEl>
                                              <p:charRg st="176" end="28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675">
                                            <p:txEl>
                                              <p:charRg st="176" end="28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3"/>
          <p:cNvSpPr>
            <a:spLocks noGrp="1"/>
          </p:cNvSpPr>
          <p:nvPr>
            <p:ph idx="1"/>
          </p:nvPr>
        </p:nvSpPr>
        <p:spPr>
          <a:xfrm>
            <a:off x="152400" y="533400"/>
            <a:ext cx="8763000" cy="609600"/>
          </a:xfrm>
        </p:spPr>
        <p:txBody>
          <a:bodyPr vert="horz" wrap="square" lIns="91440" tIns="45720" rIns="91440" bIns="45720" anchor="t"/>
          <a:p>
            <a:pPr eaLnBrk="1" hangingPunct="1">
              <a:buNone/>
            </a:pPr>
            <a:r>
              <a:rPr lang="en-US" altLang="zh-TW" b="1" dirty="0">
                <a:solidFill>
                  <a:srgbClr val="008000"/>
                </a:solidFill>
              </a:rPr>
              <a:t>Example 8. </a:t>
            </a:r>
            <a:r>
              <a:rPr lang="en-US" altLang="zh-TW" dirty="0">
                <a:solidFill>
                  <a:srgbClr val="000000"/>
                </a:solidFill>
              </a:rPr>
              <a:t>Show that </a:t>
            </a:r>
            <a:r>
              <a:rPr lang="en-US" altLang="zh-TW" i="1" dirty="0">
                <a:solidFill>
                  <a:srgbClr val="000000"/>
                </a:solidFill>
                <a:latin typeface="Times New Roman" panose="02020603050405020304" pitchFamily="18" charset="0"/>
                <a:cs typeface="Times New Roman" panose="02020603050405020304" pitchFamily="18" charset="0"/>
              </a:rPr>
              <a:t>G </a:t>
            </a:r>
            <a:r>
              <a:rPr lang="en-US" altLang="zh-TW" dirty="0">
                <a:solidFill>
                  <a:srgbClr val="000000"/>
                </a:solidFill>
              </a:rPr>
              <a:t>and </a:t>
            </a:r>
            <a:r>
              <a:rPr lang="en-US" altLang="zh-TW" i="1" dirty="0">
                <a:solidFill>
                  <a:srgbClr val="000000"/>
                </a:solidFill>
                <a:latin typeface="Times New Roman" panose="02020603050405020304" pitchFamily="18" charset="0"/>
                <a:cs typeface="Times New Roman" panose="02020603050405020304" pitchFamily="18" charset="0"/>
              </a:rPr>
              <a:t>H</a:t>
            </a:r>
            <a:r>
              <a:rPr lang="en-US" altLang="zh-TW" dirty="0">
                <a:solidFill>
                  <a:srgbClr val="000000"/>
                </a:solidFill>
              </a:rPr>
              <a:t> are  isomorphic.</a:t>
            </a:r>
            <a:endParaRPr lang="zh-TW" altLang="en-US" dirty="0"/>
          </a:p>
          <a:p>
            <a:pPr eaLnBrk="1" hangingPunct="1">
              <a:buNone/>
            </a:pPr>
            <a:endParaRPr lang="en-US" altLang="zh-TW" b="1" dirty="0">
              <a:solidFill>
                <a:srgbClr val="008000"/>
              </a:solidFill>
            </a:endParaRPr>
          </a:p>
        </p:txBody>
      </p:sp>
      <p:sp>
        <p:nvSpPr>
          <p:cNvPr id="36880" name="Text Box 38"/>
          <p:cNvSpPr txBox="1"/>
          <p:nvPr/>
        </p:nvSpPr>
        <p:spPr>
          <a:xfrm>
            <a:off x="685800" y="3657600"/>
            <a:ext cx="8001000" cy="13731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t>The function </a:t>
            </a:r>
            <a:r>
              <a:rPr lang="en-US" altLang="zh-TW" sz="2800" i="1" dirty="0">
                <a:latin typeface="Times New Roman" panose="02020603050405020304" pitchFamily="18" charset="0"/>
                <a:cs typeface="Times New Roman" panose="02020603050405020304" pitchFamily="18" charset="0"/>
              </a:rPr>
              <a:t>f </a:t>
            </a:r>
            <a:r>
              <a:rPr lang="en-US" altLang="zh-TW" sz="2800" dirty="0"/>
              <a:t>with</a:t>
            </a:r>
            <a:r>
              <a:rPr lang="en-US" altLang="zh-TW" sz="2800" i="1" dirty="0">
                <a:latin typeface="Times New Roman" panose="02020603050405020304" pitchFamily="18" charset="0"/>
                <a:cs typeface="Times New Roman" panose="02020603050405020304" pitchFamily="18" charset="0"/>
              </a:rPr>
              <a:t> 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baseline="-250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 =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 and </a:t>
            </a:r>
            <a:r>
              <a:rPr lang="en-US" altLang="zh-TW" sz="2800" i="1" dirty="0">
                <a:latin typeface="Times New Roman" panose="02020603050405020304" pitchFamily="18" charset="0"/>
                <a:cs typeface="Times New Roman" panose="02020603050405020304" pitchFamily="18" charset="0"/>
              </a:rPr>
              <a:t>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 = </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2 </a:t>
            </a:r>
            <a:r>
              <a:rPr lang="en-US" altLang="zh-TW" sz="2800" dirty="0"/>
              <a:t>is a one-to-one correspondence between </a:t>
            </a:r>
            <a:r>
              <a:rPr lang="en-US" altLang="zh-TW" sz="2800" i="1" dirty="0">
                <a:latin typeface="Times New Roman" panose="02020603050405020304" pitchFamily="18" charset="0"/>
                <a:cs typeface="Times New Roman" panose="02020603050405020304" pitchFamily="18" charset="0"/>
              </a:rPr>
              <a:t>V</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G</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 </a:t>
            </a:r>
            <a:r>
              <a:rPr lang="en-US" altLang="zh-TW" sz="2800" dirty="0"/>
              <a:t>and</a:t>
            </a:r>
            <a:r>
              <a:rPr lang="en-US" altLang="zh-TW" sz="2800" i="1" dirty="0">
                <a:latin typeface="Times New Roman" panose="02020603050405020304" pitchFamily="18" charset="0"/>
                <a:cs typeface="Times New Roman" panose="02020603050405020304" pitchFamily="18" charset="0"/>
              </a:rPr>
              <a:t> V</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H</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a:t>
            </a:r>
            <a:endParaRPr lang="en-US" altLang="zh-TW" sz="2800" dirty="0"/>
          </a:p>
        </p:txBody>
      </p:sp>
      <p:sp>
        <p:nvSpPr>
          <p:cNvPr id="36868" name="Text Box 23"/>
          <p:cNvSpPr txBox="1"/>
          <p:nvPr/>
        </p:nvSpPr>
        <p:spPr>
          <a:xfrm>
            <a:off x="1295400" y="1295400"/>
            <a:ext cx="3937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1</a:t>
            </a:r>
            <a:endParaRPr lang="en-US" altLang="zh-TW" sz="2000" baseline="-25000" dirty="0">
              <a:latin typeface="Times New Roman" panose="02020603050405020304" pitchFamily="18" charset="0"/>
              <a:ea typeface="Times New Roman" panose="02020603050405020304" pitchFamily="18" charset="0"/>
            </a:endParaRPr>
          </a:p>
        </p:txBody>
      </p:sp>
      <p:cxnSp>
        <p:nvCxnSpPr>
          <p:cNvPr id="36869" name="AutoShape 10"/>
          <p:cNvCxnSpPr>
            <a:endCxn id="36881" idx="0"/>
          </p:cNvCxnSpPr>
          <p:nvPr/>
        </p:nvCxnSpPr>
        <p:spPr>
          <a:xfrm rot="5400000">
            <a:off x="1371600" y="1905000"/>
            <a:ext cx="762000" cy="3175"/>
          </a:xfrm>
          <a:prstGeom prst="straightConnector1">
            <a:avLst/>
          </a:prstGeom>
          <a:ln w="9525" cap="flat" cmpd="sng">
            <a:solidFill>
              <a:schemeClr val="tx1"/>
            </a:solidFill>
            <a:prstDash val="solid"/>
            <a:headEnd type="none" w="med" len="med"/>
            <a:tailEnd type="none" w="med" len="med"/>
          </a:ln>
        </p:spPr>
      </p:cxnSp>
      <p:cxnSp>
        <p:nvCxnSpPr>
          <p:cNvPr id="36870" name="AutoShape 11"/>
          <p:cNvCxnSpPr/>
          <p:nvPr/>
        </p:nvCxnSpPr>
        <p:spPr>
          <a:xfrm>
            <a:off x="1828800" y="1524000"/>
            <a:ext cx="1295400" cy="1588"/>
          </a:xfrm>
          <a:prstGeom prst="straightConnector1">
            <a:avLst/>
          </a:prstGeom>
          <a:ln w="9525" cap="flat" cmpd="sng">
            <a:solidFill>
              <a:schemeClr val="tx1"/>
            </a:solidFill>
            <a:prstDash val="solid"/>
            <a:headEnd type="none" w="med" len="med"/>
            <a:tailEnd type="none" w="med" len="med"/>
          </a:ln>
        </p:spPr>
      </p:cxnSp>
      <p:cxnSp>
        <p:nvCxnSpPr>
          <p:cNvPr id="36871" name="AutoShape 12"/>
          <p:cNvCxnSpPr/>
          <p:nvPr/>
        </p:nvCxnSpPr>
        <p:spPr>
          <a:xfrm>
            <a:off x="1828800" y="2362200"/>
            <a:ext cx="1295400" cy="1588"/>
          </a:xfrm>
          <a:prstGeom prst="straightConnector1">
            <a:avLst/>
          </a:prstGeom>
          <a:ln w="9525" cap="flat" cmpd="sng">
            <a:solidFill>
              <a:schemeClr val="tx1"/>
            </a:solidFill>
            <a:prstDash val="solid"/>
            <a:headEnd type="none" w="med" len="med"/>
            <a:tailEnd type="none" w="med" len="med"/>
          </a:ln>
        </p:spPr>
      </p:cxnSp>
      <p:cxnSp>
        <p:nvCxnSpPr>
          <p:cNvPr id="36872" name="AutoShape 13"/>
          <p:cNvCxnSpPr/>
          <p:nvPr/>
        </p:nvCxnSpPr>
        <p:spPr>
          <a:xfrm rot="5400000">
            <a:off x="2628900" y="1941513"/>
            <a:ext cx="838200" cy="1587"/>
          </a:xfrm>
          <a:prstGeom prst="straightConnector1">
            <a:avLst/>
          </a:prstGeom>
          <a:ln w="9525" cap="flat" cmpd="sng">
            <a:solidFill>
              <a:schemeClr val="tx1"/>
            </a:solidFill>
            <a:prstDash val="solid"/>
            <a:headEnd type="none" w="med" len="med"/>
            <a:tailEnd type="none" w="med" len="med"/>
          </a:ln>
        </p:spPr>
      </p:cxnSp>
      <p:sp>
        <p:nvSpPr>
          <p:cNvPr id="36873" name="Text Box 27"/>
          <p:cNvSpPr txBox="1"/>
          <p:nvPr/>
        </p:nvSpPr>
        <p:spPr>
          <a:xfrm>
            <a:off x="2209800" y="2514600"/>
            <a:ext cx="4413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G</a:t>
            </a:r>
            <a:endParaRPr lang="en-US" altLang="zh-TW" sz="2800" i="1" dirty="0">
              <a:latin typeface="Times New Roman" panose="02020603050405020304" pitchFamily="18" charset="0"/>
              <a:ea typeface="Times New Roman" panose="02020603050405020304" pitchFamily="18" charset="0"/>
            </a:endParaRPr>
          </a:p>
        </p:txBody>
      </p:sp>
      <p:cxnSp>
        <p:nvCxnSpPr>
          <p:cNvPr id="36874" name="AutoShape 19"/>
          <p:cNvCxnSpPr>
            <a:endCxn id="36888" idx="1"/>
          </p:cNvCxnSpPr>
          <p:nvPr/>
        </p:nvCxnSpPr>
        <p:spPr>
          <a:xfrm>
            <a:off x="4343400" y="1524000"/>
            <a:ext cx="1165225" cy="784225"/>
          </a:xfrm>
          <a:prstGeom prst="straightConnector1">
            <a:avLst/>
          </a:prstGeom>
          <a:ln w="9525" cap="flat" cmpd="sng">
            <a:solidFill>
              <a:schemeClr val="tx1"/>
            </a:solidFill>
            <a:prstDash val="solid"/>
            <a:headEnd type="none" w="med" len="med"/>
            <a:tailEnd type="none" w="med" len="med"/>
          </a:ln>
        </p:spPr>
      </p:cxnSp>
      <p:cxnSp>
        <p:nvCxnSpPr>
          <p:cNvPr id="36875" name="AutoShape 20"/>
          <p:cNvCxnSpPr>
            <a:stCxn id="36889" idx="3"/>
          </p:cNvCxnSpPr>
          <p:nvPr/>
        </p:nvCxnSpPr>
        <p:spPr>
          <a:xfrm rot="5400000">
            <a:off x="4529138" y="1392238"/>
            <a:ext cx="793750" cy="1165225"/>
          </a:xfrm>
          <a:prstGeom prst="straightConnector1">
            <a:avLst/>
          </a:prstGeom>
          <a:ln w="9525" cap="flat" cmpd="sng">
            <a:solidFill>
              <a:schemeClr val="tx1"/>
            </a:solidFill>
            <a:prstDash val="solid"/>
            <a:headEnd type="none" w="med" len="med"/>
            <a:tailEnd type="none" w="med" len="med"/>
          </a:ln>
        </p:spPr>
      </p:cxnSp>
      <p:cxnSp>
        <p:nvCxnSpPr>
          <p:cNvPr id="36876" name="AutoShape 21"/>
          <p:cNvCxnSpPr/>
          <p:nvPr/>
        </p:nvCxnSpPr>
        <p:spPr>
          <a:xfrm>
            <a:off x="4343400" y="1600200"/>
            <a:ext cx="0" cy="698500"/>
          </a:xfrm>
          <a:prstGeom prst="straightConnector1">
            <a:avLst/>
          </a:prstGeom>
          <a:ln w="9525" cap="flat" cmpd="sng">
            <a:solidFill>
              <a:schemeClr val="tx1"/>
            </a:solidFill>
            <a:prstDash val="solid"/>
            <a:headEnd type="none" w="med" len="med"/>
            <a:tailEnd type="none" w="med" len="med"/>
          </a:ln>
        </p:spPr>
      </p:cxnSp>
      <p:sp>
        <p:nvSpPr>
          <p:cNvPr id="36877" name="Text Box 32"/>
          <p:cNvSpPr txBox="1"/>
          <p:nvPr/>
        </p:nvSpPr>
        <p:spPr>
          <a:xfrm>
            <a:off x="4724400" y="2514600"/>
            <a:ext cx="4413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H</a:t>
            </a:r>
            <a:endParaRPr lang="en-US" altLang="zh-TW" sz="2800" i="1" dirty="0">
              <a:latin typeface="Times New Roman" panose="02020603050405020304" pitchFamily="18" charset="0"/>
              <a:ea typeface="Times New Roman" panose="02020603050405020304" pitchFamily="18" charset="0"/>
            </a:endParaRPr>
          </a:p>
        </p:txBody>
      </p:sp>
      <p:sp>
        <p:nvSpPr>
          <p:cNvPr id="36878" name="Oval 5"/>
          <p:cNvSpPr/>
          <p:nvPr/>
        </p:nvSpPr>
        <p:spPr>
          <a:xfrm>
            <a:off x="16764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6879" name="Oval 5"/>
          <p:cNvSpPr/>
          <p:nvPr/>
        </p:nvSpPr>
        <p:spPr>
          <a:xfrm>
            <a:off x="2971800" y="2286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2" name="Oval 5"/>
          <p:cNvSpPr/>
          <p:nvPr/>
        </p:nvSpPr>
        <p:spPr>
          <a:xfrm>
            <a:off x="29718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6881" name="Oval 5"/>
          <p:cNvSpPr/>
          <p:nvPr/>
        </p:nvSpPr>
        <p:spPr>
          <a:xfrm>
            <a:off x="1676400" y="2286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6882" name="Text Box 23"/>
          <p:cNvSpPr txBox="1"/>
          <p:nvPr/>
        </p:nvSpPr>
        <p:spPr>
          <a:xfrm>
            <a:off x="1295400" y="2133600"/>
            <a:ext cx="3937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3</a:t>
            </a:r>
            <a:endParaRPr lang="en-US" altLang="zh-TW" sz="2000" baseline="-25000" dirty="0">
              <a:latin typeface="Times New Roman" panose="02020603050405020304" pitchFamily="18" charset="0"/>
              <a:ea typeface="Times New Roman" panose="02020603050405020304" pitchFamily="18" charset="0"/>
            </a:endParaRPr>
          </a:p>
        </p:txBody>
      </p:sp>
      <p:sp>
        <p:nvSpPr>
          <p:cNvPr id="36883" name="Text Box 23"/>
          <p:cNvSpPr txBox="1"/>
          <p:nvPr/>
        </p:nvSpPr>
        <p:spPr>
          <a:xfrm>
            <a:off x="3124200" y="1295400"/>
            <a:ext cx="3937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2</a:t>
            </a:r>
            <a:endParaRPr lang="en-US" altLang="zh-TW" sz="2000" baseline="-25000" dirty="0">
              <a:latin typeface="Times New Roman" panose="02020603050405020304" pitchFamily="18" charset="0"/>
              <a:ea typeface="Times New Roman" panose="02020603050405020304" pitchFamily="18" charset="0"/>
            </a:endParaRPr>
          </a:p>
        </p:txBody>
      </p:sp>
      <p:sp>
        <p:nvSpPr>
          <p:cNvPr id="36884" name="Text Box 23"/>
          <p:cNvSpPr txBox="1"/>
          <p:nvPr/>
        </p:nvSpPr>
        <p:spPr>
          <a:xfrm>
            <a:off x="3124200" y="2209800"/>
            <a:ext cx="3937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4</a:t>
            </a:r>
            <a:endParaRPr lang="en-US" altLang="zh-TW" sz="2000" baseline="-25000" dirty="0">
              <a:latin typeface="Times New Roman" panose="02020603050405020304" pitchFamily="18" charset="0"/>
              <a:ea typeface="Times New Roman" panose="02020603050405020304" pitchFamily="18" charset="0"/>
            </a:endParaRPr>
          </a:p>
        </p:txBody>
      </p:sp>
      <p:sp>
        <p:nvSpPr>
          <p:cNvPr id="36885" name="Oval 5"/>
          <p:cNvSpPr/>
          <p:nvPr/>
        </p:nvSpPr>
        <p:spPr>
          <a:xfrm>
            <a:off x="4267200" y="2286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6886" name="Oval 5"/>
          <p:cNvSpPr/>
          <p:nvPr/>
        </p:nvSpPr>
        <p:spPr>
          <a:xfrm>
            <a:off x="42672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cxnSp>
        <p:nvCxnSpPr>
          <p:cNvPr id="36887" name="AutoShape 21"/>
          <p:cNvCxnSpPr/>
          <p:nvPr/>
        </p:nvCxnSpPr>
        <p:spPr>
          <a:xfrm>
            <a:off x="5562600" y="1600200"/>
            <a:ext cx="0" cy="698500"/>
          </a:xfrm>
          <a:prstGeom prst="straightConnector1">
            <a:avLst/>
          </a:prstGeom>
          <a:ln w="9525" cap="flat" cmpd="sng">
            <a:solidFill>
              <a:schemeClr val="tx1"/>
            </a:solidFill>
            <a:prstDash val="solid"/>
            <a:headEnd type="none" w="med" len="med"/>
            <a:tailEnd type="none" w="med" len="med"/>
          </a:ln>
        </p:spPr>
      </p:cxnSp>
      <p:sp>
        <p:nvSpPr>
          <p:cNvPr id="36888" name="Oval 5"/>
          <p:cNvSpPr/>
          <p:nvPr/>
        </p:nvSpPr>
        <p:spPr>
          <a:xfrm>
            <a:off x="5486400" y="2286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6889" name="Oval 5"/>
          <p:cNvSpPr/>
          <p:nvPr/>
        </p:nvSpPr>
        <p:spPr>
          <a:xfrm>
            <a:off x="5486400" y="1447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36890" name="Text Box 23"/>
          <p:cNvSpPr txBox="1"/>
          <p:nvPr/>
        </p:nvSpPr>
        <p:spPr>
          <a:xfrm>
            <a:off x="5638800" y="1295400"/>
            <a:ext cx="3794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baseline="-25000" dirty="0">
                <a:latin typeface="Times New Roman" panose="02020603050405020304" pitchFamily="18" charset="0"/>
                <a:cs typeface="Times New Roman" panose="02020603050405020304" pitchFamily="18" charset="0"/>
              </a:rPr>
              <a:t>2</a:t>
            </a:r>
            <a:endParaRPr lang="en-US" altLang="zh-TW" sz="2000" baseline="-25000" dirty="0">
              <a:latin typeface="Times New Roman" panose="02020603050405020304" pitchFamily="18" charset="0"/>
              <a:ea typeface="Times New Roman" panose="02020603050405020304" pitchFamily="18" charset="0"/>
            </a:endParaRPr>
          </a:p>
        </p:txBody>
      </p:sp>
      <p:sp>
        <p:nvSpPr>
          <p:cNvPr id="36891" name="Text Box 23"/>
          <p:cNvSpPr txBox="1"/>
          <p:nvPr/>
        </p:nvSpPr>
        <p:spPr>
          <a:xfrm>
            <a:off x="5638800" y="2133600"/>
            <a:ext cx="3794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baseline="-25000" dirty="0">
                <a:latin typeface="Times New Roman" panose="02020603050405020304" pitchFamily="18" charset="0"/>
                <a:cs typeface="Times New Roman" panose="02020603050405020304" pitchFamily="18" charset="0"/>
              </a:rPr>
              <a:t>4</a:t>
            </a:r>
            <a:endParaRPr lang="en-US" altLang="zh-TW" sz="2000" baseline="-25000" dirty="0">
              <a:latin typeface="Times New Roman" panose="02020603050405020304" pitchFamily="18" charset="0"/>
              <a:ea typeface="Times New Roman" panose="02020603050405020304" pitchFamily="18" charset="0"/>
            </a:endParaRPr>
          </a:p>
        </p:txBody>
      </p:sp>
      <p:sp>
        <p:nvSpPr>
          <p:cNvPr id="36892" name="Text Box 23"/>
          <p:cNvSpPr txBox="1"/>
          <p:nvPr/>
        </p:nvSpPr>
        <p:spPr>
          <a:xfrm>
            <a:off x="3962400" y="1219200"/>
            <a:ext cx="3794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baseline="-25000" dirty="0">
                <a:latin typeface="Times New Roman" panose="02020603050405020304" pitchFamily="18" charset="0"/>
                <a:cs typeface="Times New Roman" panose="02020603050405020304" pitchFamily="18" charset="0"/>
              </a:rPr>
              <a:t>1</a:t>
            </a:r>
            <a:endParaRPr lang="en-US" altLang="zh-TW" sz="2000" baseline="-25000" dirty="0">
              <a:latin typeface="Times New Roman" panose="02020603050405020304" pitchFamily="18" charset="0"/>
              <a:ea typeface="Times New Roman" panose="02020603050405020304" pitchFamily="18" charset="0"/>
            </a:endParaRPr>
          </a:p>
        </p:txBody>
      </p:sp>
      <p:sp>
        <p:nvSpPr>
          <p:cNvPr id="36893" name="Text Box 23"/>
          <p:cNvSpPr txBox="1"/>
          <p:nvPr/>
        </p:nvSpPr>
        <p:spPr>
          <a:xfrm>
            <a:off x="3962400" y="2209800"/>
            <a:ext cx="3794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baseline="-25000" dirty="0">
                <a:latin typeface="Times New Roman" panose="02020603050405020304" pitchFamily="18" charset="0"/>
                <a:cs typeface="Times New Roman" panose="02020603050405020304" pitchFamily="18" charset="0"/>
              </a:rPr>
              <a:t>3</a:t>
            </a:r>
            <a:endParaRPr lang="en-US" altLang="zh-TW" sz="2000" baseline="-25000" dirty="0">
              <a:latin typeface="Times New Roman" panose="02020603050405020304" pitchFamily="18" charset="0"/>
              <a:ea typeface="Times New Roman" panose="02020603050405020304" pitchFamily="18" charset="0"/>
            </a:endParaRPr>
          </a:p>
        </p:txBody>
      </p:sp>
      <p:sp>
        <p:nvSpPr>
          <p:cNvPr id="36894" name="矩形 61"/>
          <p:cNvSpPr/>
          <p:nvPr/>
        </p:nvSpPr>
        <p:spPr>
          <a:xfrm>
            <a:off x="152400" y="2971800"/>
            <a:ext cx="94138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a:t>
            </a:r>
            <a:r>
              <a:rPr lang="en-US" altLang="zh-TW" sz="2800" dirty="0">
                <a:solidFill>
                  <a:srgbClr val="008000"/>
                </a:solidFill>
              </a:rPr>
              <a:t> </a:t>
            </a:r>
            <a:endParaRPr lang="zh-TW" altLang="en-US" sz="1800" dirty="0">
              <a:solidFill>
                <a:srgbClr val="008000"/>
              </a:solidFill>
            </a:endParaRPr>
          </a:p>
        </p:txBody>
      </p:sp>
      <p:sp>
        <p:nvSpPr>
          <p:cNvPr id="36895" name="投影片編號版面配置區 32"/>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80"/>
                                        </p:tgtEl>
                                        <p:attrNameLst>
                                          <p:attrName>style.visibility</p:attrName>
                                        </p:attrNameLst>
                                      </p:cBhvr>
                                      <p:to>
                                        <p:strVal val="visible"/>
                                      </p:to>
                                    </p:set>
                                    <p:anim calcmode="lin" valueType="num">
                                      <p:cBhvr additive="base">
                                        <p:cTn id="7" dur="500" fill="hold"/>
                                        <p:tgtEl>
                                          <p:spTgt spid="36880"/>
                                        </p:tgtEl>
                                        <p:attrNameLst>
                                          <p:attrName>ppt_x</p:attrName>
                                        </p:attrNameLst>
                                      </p:cBhvr>
                                      <p:tavLst>
                                        <p:tav tm="0">
                                          <p:val>
                                            <p:strVal val="#ppt_x"/>
                                          </p:val>
                                        </p:tav>
                                        <p:tav tm="100000">
                                          <p:val>
                                            <p:strVal val="#ppt_x"/>
                                          </p:val>
                                        </p:tav>
                                      </p:tavLst>
                                    </p:anim>
                                    <p:anim calcmode="lin" valueType="num">
                                      <p:cBhvr additive="base">
                                        <p:cTn id="8" dur="500" fill="hold"/>
                                        <p:tgtEl>
                                          <p:spTgt spid="368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8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3"/>
          <p:cNvSpPr>
            <a:spLocks noGrp="1"/>
          </p:cNvSpPr>
          <p:nvPr>
            <p:ph idx="1"/>
          </p:nvPr>
        </p:nvSpPr>
        <p:spPr>
          <a:xfrm>
            <a:off x="0" y="533400"/>
            <a:ext cx="9144000" cy="1905000"/>
          </a:xfrm>
        </p:spPr>
        <p:txBody>
          <a:bodyPr vert="horz" wrap="square" lIns="91440" tIns="45720" rIns="91440" bIns="45720" anchor="t"/>
          <a:p>
            <a:pPr eaLnBrk="1" hangingPunct="1">
              <a:buNone/>
            </a:pPr>
            <a:endParaRPr lang="en-US" altLang="zh-TW" sz="2800" dirty="0"/>
          </a:p>
          <a:p>
            <a:pPr eaLnBrk="1" hangingPunct="1">
              <a:buNone/>
            </a:pPr>
            <a:endParaRPr lang="zh-TW" altLang="en-US" sz="2800" dirty="0"/>
          </a:p>
          <a:p>
            <a:pPr eaLnBrk="1" hangingPunct="1">
              <a:buNone/>
            </a:pPr>
            <a:r>
              <a:rPr lang="en-US" altLang="zh-TW" sz="2800" b="1" dirty="0">
                <a:solidFill>
                  <a:srgbClr val="008000"/>
                </a:solidFill>
              </a:rPr>
              <a:t>Example 9.</a:t>
            </a:r>
            <a:r>
              <a:rPr lang="en-US" altLang="zh-TW" sz="2800" dirty="0"/>
              <a:t>  Show that </a:t>
            </a:r>
            <a:r>
              <a:rPr lang="en-US" altLang="zh-TW" sz="2800" i="1" dirty="0">
                <a:latin typeface="Times New Roman" panose="02020603050405020304" pitchFamily="18" charset="0"/>
                <a:cs typeface="Times New Roman" panose="02020603050405020304" pitchFamily="18" charset="0"/>
              </a:rPr>
              <a:t>G</a:t>
            </a:r>
            <a:r>
              <a:rPr lang="en-US" altLang="zh-TW" sz="2800" dirty="0"/>
              <a:t> and </a:t>
            </a:r>
            <a:r>
              <a:rPr lang="en-US" altLang="zh-TW" sz="2800" i="1" dirty="0">
                <a:latin typeface="Times New Roman" panose="02020603050405020304" pitchFamily="18" charset="0"/>
                <a:cs typeface="Times New Roman" panose="02020603050405020304" pitchFamily="18" charset="0"/>
              </a:rPr>
              <a:t>H</a:t>
            </a:r>
            <a:r>
              <a:rPr lang="en-US" altLang="zh-TW" sz="2800" dirty="0"/>
              <a:t> are not isomorphic.</a:t>
            </a:r>
            <a:endParaRPr lang="en-US" altLang="zh-TW" sz="2800" dirty="0"/>
          </a:p>
        </p:txBody>
      </p:sp>
      <p:sp>
        <p:nvSpPr>
          <p:cNvPr id="37894" name="Text Box 52"/>
          <p:cNvSpPr txBox="1"/>
          <p:nvPr/>
        </p:nvSpPr>
        <p:spPr>
          <a:xfrm>
            <a:off x="0" y="4724400"/>
            <a:ext cx="954088"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 :</a:t>
            </a:r>
            <a:endParaRPr lang="en-US" altLang="zh-TW" sz="2800" b="1" dirty="0">
              <a:solidFill>
                <a:srgbClr val="008000"/>
              </a:solidFill>
            </a:endParaRPr>
          </a:p>
        </p:txBody>
      </p:sp>
      <p:sp>
        <p:nvSpPr>
          <p:cNvPr id="4" name="Text Box 55"/>
          <p:cNvSpPr txBox="1"/>
          <p:nvPr/>
        </p:nvSpPr>
        <p:spPr>
          <a:xfrm>
            <a:off x="990600" y="5257800"/>
            <a:ext cx="6326188"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solidFill>
                  <a:srgbClr val="000000"/>
                </a:solidFill>
                <a:latin typeface="Times New Roman" panose="02020603050405020304" pitchFamily="18" charset="0"/>
                <a:cs typeface="Times New Roman" panose="02020603050405020304" pitchFamily="18" charset="0"/>
              </a:rPr>
              <a:t>G</a:t>
            </a:r>
            <a:r>
              <a:rPr lang="en-US" altLang="zh-TW" sz="2800" dirty="0"/>
              <a:t> </a:t>
            </a:r>
            <a:r>
              <a:rPr lang="en-US" altLang="zh-CN" sz="2800" dirty="0"/>
              <a:t>gets a vertex of</a:t>
            </a:r>
            <a:r>
              <a:rPr lang="zh-TW" altLang="en-US" sz="2800" dirty="0"/>
              <a:t> </a:t>
            </a:r>
            <a:r>
              <a:rPr lang="en-US" altLang="zh-TW" sz="2800" dirty="0">
                <a:solidFill>
                  <a:srgbClr val="800000"/>
                </a:solidFill>
              </a:rPr>
              <a:t>degree</a:t>
            </a:r>
            <a:r>
              <a:rPr lang="en-US" altLang="zh-CN" sz="2800" dirty="0">
                <a:solidFill>
                  <a:srgbClr val="800000"/>
                </a:solidFill>
              </a:rPr>
              <a:t> </a:t>
            </a:r>
            <a:r>
              <a:rPr lang="en-US" altLang="zh-TW" sz="2800" dirty="0">
                <a:solidFill>
                  <a:srgbClr val="800000"/>
                </a:solidFill>
              </a:rPr>
              <a:t>1</a:t>
            </a:r>
            <a:r>
              <a:rPr lang="en-US" altLang="zh-CN" sz="2800" dirty="0"/>
              <a:t>, while </a:t>
            </a:r>
            <a:r>
              <a:rPr lang="en-US" altLang="zh-TW" sz="2800" i="1" dirty="0">
                <a:solidFill>
                  <a:srgbClr val="000000"/>
                </a:solidFill>
                <a:latin typeface="Times New Roman" panose="02020603050405020304" pitchFamily="18" charset="0"/>
                <a:cs typeface="Times New Roman" panose="02020603050405020304" pitchFamily="18" charset="0"/>
              </a:rPr>
              <a:t>H</a:t>
            </a:r>
            <a:r>
              <a:rPr lang="en-US" altLang="zh-TW" sz="2800" dirty="0"/>
              <a:t> </a:t>
            </a:r>
            <a:r>
              <a:rPr lang="en-US" altLang="zh-CN" sz="2800" dirty="0"/>
              <a:t>doesn’t.</a:t>
            </a:r>
            <a:endParaRPr lang="zh-TW" altLang="en-US" sz="2800" dirty="0"/>
          </a:p>
        </p:txBody>
      </p:sp>
      <p:grpSp>
        <p:nvGrpSpPr>
          <p:cNvPr id="2" name="群組 78"/>
          <p:cNvGrpSpPr/>
          <p:nvPr/>
        </p:nvGrpSpPr>
        <p:grpSpPr>
          <a:xfrm>
            <a:off x="1143000" y="2590800"/>
            <a:ext cx="5791200" cy="1830388"/>
            <a:chOff x="1143000" y="2590800"/>
            <a:chExt cx="5791200" cy="1829594"/>
          </a:xfrm>
        </p:grpSpPr>
        <p:cxnSp>
          <p:nvCxnSpPr>
            <p:cNvPr id="37895" name="AutoShape 23"/>
            <p:cNvCxnSpPr>
              <a:stCxn id="37906" idx="3"/>
              <a:endCxn id="37907" idx="7"/>
            </p:cNvCxnSpPr>
            <p:nvPr/>
          </p:nvCxnSpPr>
          <p:spPr>
            <a:xfrm rot="5400000">
              <a:off x="1844582" y="2758982"/>
              <a:ext cx="501836" cy="578036"/>
            </a:xfrm>
            <a:prstGeom prst="straightConnector1">
              <a:avLst/>
            </a:prstGeom>
            <a:ln w="9525" cap="flat" cmpd="sng">
              <a:solidFill>
                <a:schemeClr val="tx1"/>
              </a:solidFill>
              <a:prstDash val="solid"/>
              <a:headEnd type="none" w="med" len="med"/>
              <a:tailEnd type="none" w="med" len="med"/>
            </a:ln>
          </p:spPr>
        </p:cxnSp>
        <p:cxnSp>
          <p:nvCxnSpPr>
            <p:cNvPr id="37896" name="AutoShape 24"/>
            <p:cNvCxnSpPr>
              <a:stCxn id="37907" idx="4"/>
              <a:endCxn id="37909" idx="0"/>
            </p:cNvCxnSpPr>
            <p:nvPr/>
          </p:nvCxnSpPr>
          <p:spPr>
            <a:xfrm rot="5400000">
              <a:off x="1333500" y="3848100"/>
              <a:ext cx="838200" cy="1588"/>
            </a:xfrm>
            <a:prstGeom prst="straightConnector1">
              <a:avLst/>
            </a:prstGeom>
            <a:ln w="9525" cap="flat" cmpd="sng">
              <a:solidFill>
                <a:schemeClr val="tx1"/>
              </a:solidFill>
              <a:prstDash val="solid"/>
              <a:headEnd type="none" w="med" len="med"/>
              <a:tailEnd type="none" w="med" len="med"/>
            </a:ln>
          </p:spPr>
        </p:cxnSp>
        <p:cxnSp>
          <p:nvCxnSpPr>
            <p:cNvPr id="37897" name="AutoShape 26"/>
            <p:cNvCxnSpPr>
              <a:stCxn id="37908" idx="4"/>
              <a:endCxn id="37910" idx="4"/>
            </p:cNvCxnSpPr>
            <p:nvPr/>
          </p:nvCxnSpPr>
          <p:spPr>
            <a:xfrm rot="5400000">
              <a:off x="2628900" y="3924300"/>
              <a:ext cx="990600" cy="1588"/>
            </a:xfrm>
            <a:prstGeom prst="straightConnector1">
              <a:avLst/>
            </a:prstGeom>
            <a:ln w="9525" cap="flat" cmpd="sng">
              <a:solidFill>
                <a:schemeClr val="tx1"/>
              </a:solidFill>
              <a:prstDash val="solid"/>
              <a:headEnd type="none" w="med" len="med"/>
              <a:tailEnd type="none" w="med" len="med"/>
            </a:ln>
          </p:spPr>
        </p:cxnSp>
        <p:cxnSp>
          <p:nvCxnSpPr>
            <p:cNvPr id="37898" name="AutoShape 27"/>
            <p:cNvCxnSpPr>
              <a:stCxn id="37906" idx="5"/>
              <a:endCxn id="37908" idx="1"/>
            </p:cNvCxnSpPr>
            <p:nvPr/>
          </p:nvCxnSpPr>
          <p:spPr>
            <a:xfrm rot="-5400000" flipH="1">
              <a:off x="2530382" y="2758982"/>
              <a:ext cx="501836" cy="578036"/>
            </a:xfrm>
            <a:prstGeom prst="straightConnector1">
              <a:avLst/>
            </a:prstGeom>
            <a:ln w="9525" cap="flat" cmpd="sng">
              <a:solidFill>
                <a:schemeClr val="tx1"/>
              </a:solidFill>
              <a:prstDash val="solid"/>
              <a:headEnd type="none" w="med" len="med"/>
              <a:tailEnd type="none" w="med" len="med"/>
            </a:ln>
          </p:spPr>
        </p:cxnSp>
        <p:cxnSp>
          <p:nvCxnSpPr>
            <p:cNvPr id="37899" name="AutoShape 40"/>
            <p:cNvCxnSpPr>
              <a:stCxn id="37907" idx="5"/>
              <a:endCxn id="37910" idx="1"/>
            </p:cNvCxnSpPr>
            <p:nvPr/>
          </p:nvCxnSpPr>
          <p:spPr>
            <a:xfrm rot="-5400000" flipH="1">
              <a:off x="1996982" y="3216182"/>
              <a:ext cx="882836" cy="1263836"/>
            </a:xfrm>
            <a:prstGeom prst="straightConnector1">
              <a:avLst/>
            </a:prstGeom>
            <a:ln w="9525" cap="flat" cmpd="sng">
              <a:solidFill>
                <a:schemeClr val="tx1"/>
              </a:solidFill>
              <a:prstDash val="solid"/>
              <a:headEnd type="none" w="med" len="med"/>
              <a:tailEnd type="none" w="med" len="med"/>
            </a:ln>
          </p:spPr>
        </p:cxnSp>
        <p:cxnSp>
          <p:nvCxnSpPr>
            <p:cNvPr id="37900" name="AutoShape 34"/>
            <p:cNvCxnSpPr>
              <a:endCxn id="37914" idx="3"/>
            </p:cNvCxnSpPr>
            <p:nvPr/>
          </p:nvCxnSpPr>
          <p:spPr>
            <a:xfrm rot="-10800000" flipV="1">
              <a:off x="5432518" y="2667000"/>
              <a:ext cx="752382" cy="663482"/>
            </a:xfrm>
            <a:prstGeom prst="straightConnector1">
              <a:avLst/>
            </a:prstGeom>
            <a:ln w="9525" cap="flat" cmpd="sng">
              <a:solidFill>
                <a:schemeClr val="tx1"/>
              </a:solidFill>
              <a:prstDash val="solid"/>
              <a:headEnd type="none" w="med" len="med"/>
              <a:tailEnd type="none" w="med" len="med"/>
            </a:ln>
          </p:spPr>
        </p:cxnSp>
        <p:cxnSp>
          <p:nvCxnSpPr>
            <p:cNvPr id="37901" name="AutoShape 35"/>
            <p:cNvCxnSpPr>
              <a:stCxn id="37914" idx="0"/>
              <a:endCxn id="37917" idx="0"/>
            </p:cNvCxnSpPr>
            <p:nvPr/>
          </p:nvCxnSpPr>
          <p:spPr>
            <a:xfrm rot="-5400000" flipH="1">
              <a:off x="4953000" y="3733800"/>
              <a:ext cx="1066800" cy="1588"/>
            </a:xfrm>
            <a:prstGeom prst="straightConnector1">
              <a:avLst/>
            </a:prstGeom>
            <a:ln w="9525" cap="flat" cmpd="sng">
              <a:solidFill>
                <a:schemeClr val="tx1"/>
              </a:solidFill>
              <a:prstDash val="solid"/>
              <a:headEnd type="none" w="med" len="med"/>
              <a:tailEnd type="none" w="med" len="med"/>
            </a:ln>
          </p:spPr>
        </p:cxnSp>
        <p:cxnSp>
          <p:nvCxnSpPr>
            <p:cNvPr id="37902" name="AutoShape 36"/>
            <p:cNvCxnSpPr>
              <a:stCxn id="37917" idx="5"/>
              <a:endCxn id="37916" idx="3"/>
            </p:cNvCxnSpPr>
            <p:nvPr/>
          </p:nvCxnSpPr>
          <p:spPr>
            <a:xfrm rot="-5400000" flipH="1">
              <a:off x="6172200" y="3765364"/>
              <a:ext cx="1588" cy="1263836"/>
            </a:xfrm>
            <a:prstGeom prst="straightConnector1">
              <a:avLst/>
            </a:prstGeom>
            <a:ln w="9525" cap="flat" cmpd="sng">
              <a:solidFill>
                <a:schemeClr val="tx1"/>
              </a:solidFill>
              <a:prstDash val="solid"/>
              <a:headEnd type="none" w="med" len="med"/>
              <a:tailEnd type="none" w="med" len="med"/>
            </a:ln>
          </p:spPr>
        </p:cxnSp>
        <p:cxnSp>
          <p:nvCxnSpPr>
            <p:cNvPr id="37903" name="AutoShape 37"/>
            <p:cNvCxnSpPr>
              <a:stCxn id="37915" idx="4"/>
              <a:endCxn id="37916" idx="4"/>
            </p:cNvCxnSpPr>
            <p:nvPr/>
          </p:nvCxnSpPr>
          <p:spPr>
            <a:xfrm rot="5400000">
              <a:off x="6324600" y="3886200"/>
              <a:ext cx="1066800" cy="1588"/>
            </a:xfrm>
            <a:prstGeom prst="straightConnector1">
              <a:avLst/>
            </a:prstGeom>
            <a:ln w="9525" cap="flat" cmpd="sng">
              <a:solidFill>
                <a:schemeClr val="tx1"/>
              </a:solidFill>
              <a:prstDash val="solid"/>
              <a:headEnd type="none" w="med" len="med"/>
              <a:tailEnd type="none" w="med" len="med"/>
            </a:ln>
          </p:spPr>
        </p:cxnSp>
        <p:cxnSp>
          <p:nvCxnSpPr>
            <p:cNvPr id="37904" name="AutoShape 38"/>
            <p:cNvCxnSpPr>
              <a:stCxn id="37912" idx="5"/>
              <a:endCxn id="37915" idx="5"/>
            </p:cNvCxnSpPr>
            <p:nvPr/>
          </p:nvCxnSpPr>
          <p:spPr>
            <a:xfrm rot="-5400000" flipH="1">
              <a:off x="6264182" y="2682782"/>
              <a:ext cx="609600" cy="685800"/>
            </a:xfrm>
            <a:prstGeom prst="straightConnector1">
              <a:avLst/>
            </a:prstGeom>
            <a:ln w="9525" cap="flat" cmpd="sng">
              <a:solidFill>
                <a:schemeClr val="tx1"/>
              </a:solidFill>
              <a:prstDash val="solid"/>
              <a:headEnd type="none" w="med" len="med"/>
              <a:tailEnd type="none" w="med" len="med"/>
            </a:ln>
          </p:spPr>
        </p:cxnSp>
        <p:cxnSp>
          <p:nvCxnSpPr>
            <p:cNvPr id="37905" name="AutoShape 41"/>
            <p:cNvCxnSpPr>
              <a:stCxn id="37915" idx="3"/>
              <a:endCxn id="37917" idx="7"/>
            </p:cNvCxnSpPr>
            <p:nvPr/>
          </p:nvCxnSpPr>
          <p:spPr>
            <a:xfrm rot="5400000">
              <a:off x="5692682" y="3178082"/>
              <a:ext cx="959036" cy="1263836"/>
            </a:xfrm>
            <a:prstGeom prst="straightConnector1">
              <a:avLst/>
            </a:prstGeom>
            <a:ln w="9525" cap="flat" cmpd="sng">
              <a:solidFill>
                <a:schemeClr val="tx1"/>
              </a:solidFill>
              <a:prstDash val="solid"/>
              <a:headEnd type="none" w="med" len="med"/>
              <a:tailEnd type="none" w="med" len="med"/>
            </a:ln>
          </p:spPr>
        </p:cxnSp>
        <p:sp>
          <p:nvSpPr>
            <p:cNvPr id="37906" name="Oval 5"/>
            <p:cNvSpPr/>
            <p:nvPr/>
          </p:nvSpPr>
          <p:spPr>
            <a:xfrm>
              <a:off x="2362200" y="2667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7907" name="Oval 5"/>
            <p:cNvSpPr/>
            <p:nvPr/>
          </p:nvSpPr>
          <p:spPr>
            <a:xfrm>
              <a:off x="1676400" y="3276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7908" name="Oval 5"/>
            <p:cNvSpPr/>
            <p:nvPr/>
          </p:nvSpPr>
          <p:spPr>
            <a:xfrm>
              <a:off x="3048000" y="3276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7909" name="Oval 5"/>
            <p:cNvSpPr/>
            <p:nvPr/>
          </p:nvSpPr>
          <p:spPr>
            <a:xfrm>
              <a:off x="1676400" y="4267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7910" name="Oval 5"/>
            <p:cNvSpPr/>
            <p:nvPr/>
          </p:nvSpPr>
          <p:spPr>
            <a:xfrm>
              <a:off x="3048000" y="4267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59" name="矩形 58"/>
            <p:cNvSpPr/>
            <p:nvPr/>
          </p:nvSpPr>
          <p:spPr>
            <a:xfrm>
              <a:off x="1143000" y="3352469"/>
              <a:ext cx="441325" cy="5188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7912" name="Oval 5"/>
            <p:cNvSpPr/>
            <p:nvPr/>
          </p:nvSpPr>
          <p:spPr>
            <a:xfrm>
              <a:off x="6096000" y="2590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63" name="矩形 62"/>
            <p:cNvSpPr/>
            <p:nvPr/>
          </p:nvSpPr>
          <p:spPr>
            <a:xfrm>
              <a:off x="4495800" y="3352469"/>
              <a:ext cx="441325" cy="5188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H</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7914" name="Oval 5"/>
            <p:cNvSpPr/>
            <p:nvPr/>
          </p:nvSpPr>
          <p:spPr>
            <a:xfrm>
              <a:off x="5410200" y="3200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7915" name="Oval 5"/>
            <p:cNvSpPr/>
            <p:nvPr/>
          </p:nvSpPr>
          <p:spPr>
            <a:xfrm>
              <a:off x="6781800" y="3200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7916" name="Oval 5"/>
            <p:cNvSpPr/>
            <p:nvPr/>
          </p:nvSpPr>
          <p:spPr>
            <a:xfrm>
              <a:off x="6781800" y="4267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7917" name="Oval 5"/>
            <p:cNvSpPr/>
            <p:nvPr/>
          </p:nvSpPr>
          <p:spPr>
            <a:xfrm>
              <a:off x="5410200" y="4267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grpSp>
      <p:sp>
        <p:nvSpPr>
          <p:cNvPr id="3" name="投影片編號版面配置區 31"/>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4"/>
                                        </p:tgtEl>
                                        <p:attrNameLst>
                                          <p:attrName>style.visibility</p:attrName>
                                        </p:attrNameLst>
                                      </p:cBhvr>
                                      <p:to>
                                        <p:strVal val="visible"/>
                                      </p:to>
                                    </p:set>
                                    <p:anim calcmode="lin" valueType="num">
                                      <p:cBhvr additive="base">
                                        <p:cTn id="13" dur="500" fill="hold"/>
                                        <p:tgtEl>
                                          <p:spTgt spid="37894"/>
                                        </p:tgtEl>
                                        <p:attrNameLst>
                                          <p:attrName>ppt_x</p:attrName>
                                        </p:attrNameLst>
                                      </p:cBhvr>
                                      <p:tavLst>
                                        <p:tav tm="0">
                                          <p:val>
                                            <p:strVal val="#ppt_x"/>
                                          </p:val>
                                        </p:tav>
                                        <p:tav tm="100000">
                                          <p:val>
                                            <p:strVal val="#ppt_x"/>
                                          </p:val>
                                        </p:tav>
                                      </p:tavLst>
                                    </p:anim>
                                    <p:anim calcmode="lin" valueType="num">
                                      <p:cBhvr additive="base">
                                        <p:cTn id="14" dur="500" fill="hold"/>
                                        <p:tgtEl>
                                          <p:spTgt spid="3789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3"/>
          <p:cNvSpPr>
            <a:spLocks noGrp="1"/>
          </p:cNvSpPr>
          <p:nvPr>
            <p:ph idx="1"/>
          </p:nvPr>
        </p:nvSpPr>
        <p:spPr>
          <a:xfrm>
            <a:off x="0" y="457200"/>
            <a:ext cx="9144000" cy="1066800"/>
          </a:xfrm>
        </p:spPr>
        <p:txBody>
          <a:bodyPr vert="horz" wrap="square" lIns="91440" tIns="45720" rIns="91440" bIns="45720" anchor="t"/>
          <a:p>
            <a:pPr eaLnBrk="1" hangingPunct="1">
              <a:buNone/>
            </a:pPr>
            <a:r>
              <a:rPr lang="en-US" altLang="zh-TW" sz="2800" b="1" dirty="0">
                <a:solidFill>
                  <a:srgbClr val="008000"/>
                </a:solidFill>
              </a:rPr>
              <a:t>Example 10.</a:t>
            </a:r>
            <a:r>
              <a:rPr lang="en-US" altLang="zh-TW" sz="2800" dirty="0"/>
              <a:t>  </a:t>
            </a:r>
            <a:endParaRPr lang="en-US" altLang="zh-TW" sz="2800" dirty="0"/>
          </a:p>
          <a:p>
            <a:pPr eaLnBrk="1" hangingPunct="1">
              <a:buNone/>
            </a:pPr>
            <a:r>
              <a:rPr lang="en-US" altLang="zh-TW" sz="2800" dirty="0"/>
              <a:t>     Determine whether </a:t>
            </a:r>
            <a:r>
              <a:rPr lang="en-US" altLang="zh-TW" sz="2800" i="1" dirty="0">
                <a:latin typeface="Times New Roman" panose="02020603050405020304" pitchFamily="18" charset="0"/>
                <a:cs typeface="Times New Roman" panose="02020603050405020304" pitchFamily="18" charset="0"/>
              </a:rPr>
              <a:t>G</a:t>
            </a:r>
            <a:r>
              <a:rPr lang="en-US" altLang="zh-TW" sz="2800" dirty="0"/>
              <a:t> and </a:t>
            </a:r>
            <a:r>
              <a:rPr lang="en-US" altLang="zh-TW" sz="2800" i="1" dirty="0">
                <a:latin typeface="Times New Roman" panose="02020603050405020304" pitchFamily="18" charset="0"/>
                <a:cs typeface="Times New Roman" panose="02020603050405020304" pitchFamily="18" charset="0"/>
              </a:rPr>
              <a:t>H</a:t>
            </a:r>
            <a:r>
              <a:rPr lang="en-US" altLang="zh-TW" sz="2800" dirty="0"/>
              <a:t> are isomorphic.</a:t>
            </a:r>
            <a:endParaRPr lang="en-US" altLang="zh-TW" sz="2800" dirty="0"/>
          </a:p>
        </p:txBody>
      </p:sp>
      <p:sp>
        <p:nvSpPr>
          <p:cNvPr id="38915" name="Text Box 43"/>
          <p:cNvSpPr txBox="1"/>
          <p:nvPr/>
        </p:nvSpPr>
        <p:spPr>
          <a:xfrm>
            <a:off x="6705600" y="3124200"/>
            <a:ext cx="4413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H</a:t>
            </a:r>
            <a:endParaRPr lang="en-US" altLang="zh-TW" sz="2800" i="1" dirty="0">
              <a:latin typeface="Times New Roman" panose="02020603050405020304" pitchFamily="18" charset="0"/>
              <a:ea typeface="Times New Roman" panose="02020603050405020304" pitchFamily="18" charset="0"/>
            </a:endParaRPr>
          </a:p>
        </p:txBody>
      </p:sp>
      <p:sp>
        <p:nvSpPr>
          <p:cNvPr id="38916" name="Text Box 42"/>
          <p:cNvSpPr txBox="1"/>
          <p:nvPr/>
        </p:nvSpPr>
        <p:spPr>
          <a:xfrm>
            <a:off x="1905000" y="3124200"/>
            <a:ext cx="4413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ea typeface="新宋体" panose="02010609030101010101" pitchFamily="49" charset="-122"/>
              </a:rPr>
              <a:t>G</a:t>
            </a:r>
            <a:endParaRPr lang="en-US" altLang="zh-TW" sz="2800" i="1" dirty="0">
              <a:latin typeface="Times New Roman" panose="02020603050405020304" pitchFamily="18" charset="0"/>
              <a:ea typeface="新宋体" panose="02010609030101010101" pitchFamily="49" charset="-122"/>
            </a:endParaRPr>
          </a:p>
        </p:txBody>
      </p:sp>
      <p:sp>
        <p:nvSpPr>
          <p:cNvPr id="38917" name="Text Box 44"/>
          <p:cNvSpPr txBox="1"/>
          <p:nvPr/>
        </p:nvSpPr>
        <p:spPr>
          <a:xfrm>
            <a:off x="457200" y="144780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grpSp>
        <p:nvGrpSpPr>
          <p:cNvPr id="38918" name="Group 64"/>
          <p:cNvGrpSpPr/>
          <p:nvPr/>
        </p:nvGrpSpPr>
        <p:grpSpPr>
          <a:xfrm>
            <a:off x="457200" y="1431925"/>
            <a:ext cx="3282950" cy="1844675"/>
            <a:chOff x="288" y="960"/>
            <a:chExt cx="2068" cy="1162"/>
          </a:xfrm>
        </p:grpSpPr>
        <p:sp>
          <p:nvSpPr>
            <p:cNvPr id="38949" name="Text Box 45"/>
            <p:cNvSpPr txBox="1"/>
            <p:nvPr/>
          </p:nvSpPr>
          <p:spPr>
            <a:xfrm>
              <a:off x="2160" y="960"/>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grpSp>
          <p:nvGrpSpPr>
            <p:cNvPr id="38950" name="Group 4"/>
            <p:cNvGrpSpPr/>
            <p:nvPr/>
          </p:nvGrpSpPr>
          <p:grpSpPr>
            <a:xfrm>
              <a:off x="480" y="1008"/>
              <a:ext cx="1680" cy="1056"/>
              <a:chOff x="384" y="960"/>
              <a:chExt cx="1680" cy="1056"/>
            </a:xfrm>
          </p:grpSpPr>
          <p:sp>
            <p:nvSpPr>
              <p:cNvPr id="38957" name="Oval 5"/>
              <p:cNvSpPr/>
              <p:nvPr/>
            </p:nvSpPr>
            <p:spPr>
              <a:xfrm>
                <a:off x="384" y="96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58" name="Oval 6"/>
              <p:cNvSpPr/>
              <p:nvPr/>
            </p:nvSpPr>
            <p:spPr>
              <a:xfrm>
                <a:off x="384" y="192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59" name="Oval 7"/>
              <p:cNvSpPr/>
              <p:nvPr/>
            </p:nvSpPr>
            <p:spPr>
              <a:xfrm>
                <a:off x="864" y="124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60" name="Oval 8"/>
              <p:cNvSpPr/>
              <p:nvPr/>
            </p:nvSpPr>
            <p:spPr>
              <a:xfrm>
                <a:off x="864" y="1632"/>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61" name="Oval 9"/>
              <p:cNvSpPr/>
              <p:nvPr/>
            </p:nvSpPr>
            <p:spPr>
              <a:xfrm>
                <a:off x="1392" y="124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62" name="Oval 10"/>
              <p:cNvSpPr/>
              <p:nvPr/>
            </p:nvSpPr>
            <p:spPr>
              <a:xfrm>
                <a:off x="1392" y="1632"/>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63" name="Oval 11"/>
              <p:cNvSpPr/>
              <p:nvPr/>
            </p:nvSpPr>
            <p:spPr>
              <a:xfrm>
                <a:off x="1968" y="96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64" name="Oval 12"/>
              <p:cNvSpPr/>
              <p:nvPr/>
            </p:nvSpPr>
            <p:spPr>
              <a:xfrm>
                <a:off x="1968" y="192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cxnSp>
            <p:nvCxnSpPr>
              <p:cNvPr id="38965" name="AutoShape 13"/>
              <p:cNvCxnSpPr>
                <a:stCxn id="38957" idx="4"/>
                <a:endCxn id="38958" idx="0"/>
              </p:cNvCxnSpPr>
              <p:nvPr/>
            </p:nvCxnSpPr>
            <p:spPr>
              <a:xfrm>
                <a:off x="432" y="1056"/>
                <a:ext cx="0" cy="864"/>
              </a:xfrm>
              <a:prstGeom prst="straightConnector1">
                <a:avLst/>
              </a:prstGeom>
              <a:ln w="9525" cap="flat" cmpd="sng">
                <a:solidFill>
                  <a:schemeClr val="tx1"/>
                </a:solidFill>
                <a:prstDash val="solid"/>
                <a:headEnd type="none" w="med" len="med"/>
                <a:tailEnd type="none" w="med" len="med"/>
              </a:ln>
            </p:spPr>
          </p:cxnSp>
          <p:cxnSp>
            <p:nvCxnSpPr>
              <p:cNvPr id="38966" name="AutoShape 14"/>
              <p:cNvCxnSpPr>
                <a:stCxn id="38957" idx="6"/>
                <a:endCxn id="38963" idx="2"/>
              </p:cNvCxnSpPr>
              <p:nvPr/>
            </p:nvCxnSpPr>
            <p:spPr>
              <a:xfrm>
                <a:off x="480" y="1008"/>
                <a:ext cx="1488" cy="0"/>
              </a:xfrm>
              <a:prstGeom prst="straightConnector1">
                <a:avLst/>
              </a:prstGeom>
              <a:ln w="9525" cap="flat" cmpd="sng">
                <a:solidFill>
                  <a:schemeClr val="tx1"/>
                </a:solidFill>
                <a:prstDash val="solid"/>
                <a:headEnd type="none" w="med" len="med"/>
                <a:tailEnd type="none" w="med" len="med"/>
              </a:ln>
            </p:spPr>
          </p:cxnSp>
          <p:cxnSp>
            <p:nvCxnSpPr>
              <p:cNvPr id="38967" name="AutoShape 15"/>
              <p:cNvCxnSpPr>
                <a:stCxn id="38963" idx="4"/>
                <a:endCxn id="38964" idx="0"/>
              </p:cNvCxnSpPr>
              <p:nvPr/>
            </p:nvCxnSpPr>
            <p:spPr>
              <a:xfrm>
                <a:off x="2016" y="1056"/>
                <a:ext cx="0" cy="864"/>
              </a:xfrm>
              <a:prstGeom prst="straightConnector1">
                <a:avLst/>
              </a:prstGeom>
              <a:ln w="9525" cap="flat" cmpd="sng">
                <a:solidFill>
                  <a:schemeClr val="tx1"/>
                </a:solidFill>
                <a:prstDash val="solid"/>
                <a:headEnd type="none" w="med" len="med"/>
                <a:tailEnd type="none" w="med" len="med"/>
              </a:ln>
            </p:spPr>
          </p:cxnSp>
          <p:cxnSp>
            <p:nvCxnSpPr>
              <p:cNvPr id="38968" name="AutoShape 16"/>
              <p:cNvCxnSpPr>
                <a:stCxn id="38958" idx="6"/>
                <a:endCxn id="38964" idx="2"/>
              </p:cNvCxnSpPr>
              <p:nvPr/>
            </p:nvCxnSpPr>
            <p:spPr>
              <a:xfrm>
                <a:off x="480" y="1968"/>
                <a:ext cx="1488" cy="0"/>
              </a:xfrm>
              <a:prstGeom prst="straightConnector1">
                <a:avLst/>
              </a:prstGeom>
              <a:ln w="9525" cap="flat" cmpd="sng">
                <a:solidFill>
                  <a:schemeClr val="tx1"/>
                </a:solidFill>
                <a:prstDash val="solid"/>
                <a:headEnd type="none" w="med" len="med"/>
                <a:tailEnd type="none" w="med" len="med"/>
              </a:ln>
            </p:spPr>
          </p:cxnSp>
          <p:cxnSp>
            <p:nvCxnSpPr>
              <p:cNvPr id="38969" name="AutoShape 17"/>
              <p:cNvCxnSpPr>
                <a:stCxn id="38960" idx="3"/>
                <a:endCxn id="38958" idx="7"/>
              </p:cNvCxnSpPr>
              <p:nvPr/>
            </p:nvCxnSpPr>
            <p:spPr>
              <a:xfrm flipH="1">
                <a:off x="466" y="1714"/>
                <a:ext cx="412" cy="220"/>
              </a:xfrm>
              <a:prstGeom prst="straightConnector1">
                <a:avLst/>
              </a:prstGeom>
              <a:ln w="9525" cap="flat" cmpd="sng">
                <a:solidFill>
                  <a:srgbClr val="FF0000"/>
                </a:solidFill>
                <a:prstDash val="solid"/>
                <a:headEnd type="none" w="med" len="med"/>
                <a:tailEnd type="none" w="med" len="med"/>
              </a:ln>
            </p:spPr>
          </p:cxnSp>
          <p:cxnSp>
            <p:nvCxnSpPr>
              <p:cNvPr id="38970" name="AutoShape 18"/>
              <p:cNvCxnSpPr>
                <a:stCxn id="38959" idx="4"/>
                <a:endCxn id="38960" idx="0"/>
              </p:cNvCxnSpPr>
              <p:nvPr/>
            </p:nvCxnSpPr>
            <p:spPr>
              <a:xfrm>
                <a:off x="912" y="1344"/>
                <a:ext cx="0" cy="288"/>
              </a:xfrm>
              <a:prstGeom prst="straightConnector1">
                <a:avLst/>
              </a:prstGeom>
              <a:ln w="9525" cap="flat" cmpd="sng">
                <a:solidFill>
                  <a:schemeClr val="tx1"/>
                </a:solidFill>
                <a:prstDash val="solid"/>
                <a:headEnd type="none" w="med" len="med"/>
                <a:tailEnd type="none" w="med" len="med"/>
              </a:ln>
            </p:spPr>
          </p:cxnSp>
          <p:cxnSp>
            <p:nvCxnSpPr>
              <p:cNvPr id="38971" name="AutoShape 19"/>
              <p:cNvCxnSpPr>
                <a:stCxn id="38959" idx="6"/>
                <a:endCxn id="38961" idx="2"/>
              </p:cNvCxnSpPr>
              <p:nvPr/>
            </p:nvCxnSpPr>
            <p:spPr>
              <a:xfrm>
                <a:off x="960" y="1296"/>
                <a:ext cx="432" cy="0"/>
              </a:xfrm>
              <a:prstGeom prst="straightConnector1">
                <a:avLst/>
              </a:prstGeom>
              <a:ln w="9525" cap="flat" cmpd="sng">
                <a:solidFill>
                  <a:schemeClr val="tx1"/>
                </a:solidFill>
                <a:prstDash val="solid"/>
                <a:headEnd type="none" w="med" len="med"/>
                <a:tailEnd type="none" w="med" len="med"/>
              </a:ln>
            </p:spPr>
          </p:cxnSp>
          <p:cxnSp>
            <p:nvCxnSpPr>
              <p:cNvPr id="38972" name="AutoShape 20"/>
              <p:cNvCxnSpPr>
                <a:stCxn id="38961" idx="4"/>
                <a:endCxn id="38962" idx="0"/>
              </p:cNvCxnSpPr>
              <p:nvPr/>
            </p:nvCxnSpPr>
            <p:spPr>
              <a:xfrm>
                <a:off x="1440" y="1344"/>
                <a:ext cx="0" cy="288"/>
              </a:xfrm>
              <a:prstGeom prst="straightConnector1">
                <a:avLst/>
              </a:prstGeom>
              <a:ln w="9525" cap="flat" cmpd="sng">
                <a:solidFill>
                  <a:schemeClr val="tx1"/>
                </a:solidFill>
                <a:prstDash val="solid"/>
                <a:headEnd type="none" w="med" len="med"/>
                <a:tailEnd type="none" w="med" len="med"/>
              </a:ln>
            </p:spPr>
          </p:cxnSp>
          <p:cxnSp>
            <p:nvCxnSpPr>
              <p:cNvPr id="38973" name="AutoShape 21"/>
              <p:cNvCxnSpPr>
                <a:stCxn id="38962" idx="2"/>
                <a:endCxn id="38960" idx="6"/>
              </p:cNvCxnSpPr>
              <p:nvPr/>
            </p:nvCxnSpPr>
            <p:spPr>
              <a:xfrm flipH="1">
                <a:off x="960" y="1680"/>
                <a:ext cx="432" cy="0"/>
              </a:xfrm>
              <a:prstGeom prst="straightConnector1">
                <a:avLst/>
              </a:prstGeom>
              <a:ln w="9525" cap="flat" cmpd="sng">
                <a:solidFill>
                  <a:schemeClr val="tx1"/>
                </a:solidFill>
                <a:prstDash val="solid"/>
                <a:headEnd type="none" w="med" len="med"/>
                <a:tailEnd type="none" w="med" len="med"/>
              </a:ln>
            </p:spPr>
          </p:cxnSp>
          <p:cxnSp>
            <p:nvCxnSpPr>
              <p:cNvPr id="38974" name="AutoShape 22"/>
              <p:cNvCxnSpPr>
                <a:stCxn id="38961" idx="6"/>
                <a:endCxn id="38963" idx="3"/>
              </p:cNvCxnSpPr>
              <p:nvPr/>
            </p:nvCxnSpPr>
            <p:spPr>
              <a:xfrm flipV="1">
                <a:off x="1488" y="1042"/>
                <a:ext cx="494" cy="254"/>
              </a:xfrm>
              <a:prstGeom prst="straightConnector1">
                <a:avLst/>
              </a:prstGeom>
              <a:ln w="9525" cap="flat" cmpd="sng">
                <a:solidFill>
                  <a:srgbClr val="FF0000"/>
                </a:solidFill>
                <a:prstDash val="solid"/>
                <a:headEnd type="none" w="med" len="med"/>
                <a:tailEnd type="none" w="med" len="med"/>
              </a:ln>
            </p:spPr>
          </p:cxnSp>
        </p:grpSp>
        <p:sp>
          <p:nvSpPr>
            <p:cNvPr id="38951" name="Text Box 46"/>
            <p:cNvSpPr txBox="1"/>
            <p:nvPr/>
          </p:nvSpPr>
          <p:spPr>
            <a:xfrm>
              <a:off x="288" y="1872"/>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38952" name="Text Box 47"/>
            <p:cNvSpPr txBox="1"/>
            <p:nvPr/>
          </p:nvSpPr>
          <p:spPr>
            <a:xfrm>
              <a:off x="2160" y="1872"/>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38953" name="Text Box 48"/>
            <p:cNvSpPr txBox="1"/>
            <p:nvPr/>
          </p:nvSpPr>
          <p:spPr>
            <a:xfrm>
              <a:off x="720" y="1200"/>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38954" name="Text Box 49"/>
            <p:cNvSpPr txBox="1"/>
            <p:nvPr/>
          </p:nvSpPr>
          <p:spPr>
            <a:xfrm>
              <a:off x="960" y="1728"/>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h</a:t>
              </a:r>
              <a:endParaRPr lang="en-US" altLang="zh-TW" sz="2000" i="1" dirty="0">
                <a:latin typeface="Times New Roman" panose="02020603050405020304" pitchFamily="18" charset="0"/>
                <a:ea typeface="Times New Roman" panose="02020603050405020304" pitchFamily="18" charset="0"/>
              </a:endParaRPr>
            </a:p>
          </p:txBody>
        </p:sp>
        <p:sp>
          <p:nvSpPr>
            <p:cNvPr id="38955" name="Text Box 50"/>
            <p:cNvSpPr txBox="1"/>
            <p:nvPr/>
          </p:nvSpPr>
          <p:spPr>
            <a:xfrm>
              <a:off x="1584" y="1344"/>
              <a:ext cx="1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f</a:t>
              </a:r>
              <a:endParaRPr lang="en-US" altLang="zh-TW" sz="2000" i="1" dirty="0">
                <a:latin typeface="Times New Roman" panose="02020603050405020304" pitchFamily="18" charset="0"/>
                <a:ea typeface="Times New Roman" panose="02020603050405020304" pitchFamily="18" charset="0"/>
              </a:endParaRPr>
            </a:p>
          </p:txBody>
        </p:sp>
        <p:sp>
          <p:nvSpPr>
            <p:cNvPr id="38956" name="Text Box 51"/>
            <p:cNvSpPr txBox="1"/>
            <p:nvPr/>
          </p:nvSpPr>
          <p:spPr>
            <a:xfrm>
              <a:off x="1584" y="1632"/>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g</a:t>
              </a:r>
              <a:endParaRPr lang="en-US" altLang="zh-TW" sz="2000" i="1" dirty="0">
                <a:latin typeface="Times New Roman" panose="02020603050405020304" pitchFamily="18" charset="0"/>
                <a:ea typeface="Times New Roman" panose="02020603050405020304" pitchFamily="18" charset="0"/>
              </a:endParaRPr>
            </a:p>
          </p:txBody>
        </p:sp>
      </p:grpSp>
      <p:grpSp>
        <p:nvGrpSpPr>
          <p:cNvPr id="38919" name="Group 62"/>
          <p:cNvGrpSpPr/>
          <p:nvPr/>
        </p:nvGrpSpPr>
        <p:grpSpPr>
          <a:xfrm>
            <a:off x="5334000" y="1355725"/>
            <a:ext cx="3054350" cy="1997075"/>
            <a:chOff x="3264" y="1248"/>
            <a:chExt cx="1924" cy="1258"/>
          </a:xfrm>
        </p:grpSpPr>
        <p:grpSp>
          <p:nvGrpSpPr>
            <p:cNvPr id="38922" name="Group 23"/>
            <p:cNvGrpSpPr/>
            <p:nvPr/>
          </p:nvGrpSpPr>
          <p:grpSpPr>
            <a:xfrm>
              <a:off x="3408" y="1344"/>
              <a:ext cx="1584" cy="1056"/>
              <a:chOff x="3360" y="960"/>
              <a:chExt cx="1584" cy="1056"/>
            </a:xfrm>
          </p:grpSpPr>
          <p:sp>
            <p:nvSpPr>
              <p:cNvPr id="38931" name="Oval 24"/>
              <p:cNvSpPr/>
              <p:nvPr/>
            </p:nvSpPr>
            <p:spPr>
              <a:xfrm>
                <a:off x="3360" y="96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32" name="Oval 25"/>
              <p:cNvSpPr/>
              <p:nvPr/>
            </p:nvSpPr>
            <p:spPr>
              <a:xfrm>
                <a:off x="3360" y="192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33" name="Oval 26"/>
              <p:cNvSpPr/>
              <p:nvPr/>
            </p:nvSpPr>
            <p:spPr>
              <a:xfrm>
                <a:off x="3840" y="124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34" name="Oval 27"/>
              <p:cNvSpPr/>
              <p:nvPr/>
            </p:nvSpPr>
            <p:spPr>
              <a:xfrm>
                <a:off x="3840" y="1632"/>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35" name="Oval 28"/>
              <p:cNvSpPr/>
              <p:nvPr/>
            </p:nvSpPr>
            <p:spPr>
              <a:xfrm>
                <a:off x="4368" y="124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36" name="Oval 29"/>
              <p:cNvSpPr/>
              <p:nvPr/>
            </p:nvSpPr>
            <p:spPr>
              <a:xfrm>
                <a:off x="4368" y="1632"/>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37" name="Oval 30"/>
              <p:cNvSpPr/>
              <p:nvPr/>
            </p:nvSpPr>
            <p:spPr>
              <a:xfrm>
                <a:off x="4848" y="96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sp>
            <p:nvSpPr>
              <p:cNvPr id="38938" name="Oval 31"/>
              <p:cNvSpPr/>
              <p:nvPr/>
            </p:nvSpPr>
            <p:spPr>
              <a:xfrm>
                <a:off x="4848" y="192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i="1" dirty="0">
                  <a:latin typeface="Times New Roman" panose="02020603050405020304" pitchFamily="18" charset="0"/>
                  <a:ea typeface="Times New Roman" panose="02020603050405020304" pitchFamily="18" charset="0"/>
                </a:endParaRPr>
              </a:p>
            </p:txBody>
          </p:sp>
          <p:cxnSp>
            <p:nvCxnSpPr>
              <p:cNvPr id="38939" name="AutoShape 32"/>
              <p:cNvCxnSpPr>
                <a:stCxn id="38931" idx="4"/>
                <a:endCxn id="38932" idx="0"/>
              </p:cNvCxnSpPr>
              <p:nvPr/>
            </p:nvCxnSpPr>
            <p:spPr>
              <a:xfrm>
                <a:off x="3408" y="1056"/>
                <a:ext cx="0" cy="864"/>
              </a:xfrm>
              <a:prstGeom prst="straightConnector1">
                <a:avLst/>
              </a:prstGeom>
              <a:ln w="9525" cap="flat" cmpd="sng">
                <a:solidFill>
                  <a:srgbClr val="FF0000"/>
                </a:solidFill>
                <a:prstDash val="solid"/>
                <a:headEnd type="none" w="med" len="med"/>
                <a:tailEnd type="none" w="med" len="med"/>
              </a:ln>
            </p:spPr>
          </p:cxnSp>
          <p:cxnSp>
            <p:nvCxnSpPr>
              <p:cNvPr id="38940" name="AutoShape 33"/>
              <p:cNvCxnSpPr>
                <a:stCxn id="38931" idx="6"/>
                <a:endCxn id="38937" idx="2"/>
              </p:cNvCxnSpPr>
              <p:nvPr/>
            </p:nvCxnSpPr>
            <p:spPr>
              <a:xfrm>
                <a:off x="3456" y="1008"/>
                <a:ext cx="1392" cy="1"/>
              </a:xfrm>
              <a:prstGeom prst="straightConnector1">
                <a:avLst/>
              </a:prstGeom>
              <a:ln w="9525" cap="flat" cmpd="sng">
                <a:solidFill>
                  <a:schemeClr val="tx1"/>
                </a:solidFill>
                <a:prstDash val="solid"/>
                <a:headEnd type="none" w="med" len="med"/>
                <a:tailEnd type="none" w="med" len="med"/>
              </a:ln>
            </p:spPr>
          </p:cxnSp>
          <p:cxnSp>
            <p:nvCxnSpPr>
              <p:cNvPr id="38941" name="AutoShape 34"/>
              <p:cNvCxnSpPr>
                <a:stCxn id="38937" idx="4"/>
                <a:endCxn id="38938" idx="0"/>
              </p:cNvCxnSpPr>
              <p:nvPr/>
            </p:nvCxnSpPr>
            <p:spPr>
              <a:xfrm rot="5400000">
                <a:off x="4463" y="1488"/>
                <a:ext cx="864" cy="1"/>
              </a:xfrm>
              <a:prstGeom prst="straightConnector1">
                <a:avLst/>
              </a:prstGeom>
              <a:ln w="9525" cap="flat" cmpd="sng">
                <a:solidFill>
                  <a:schemeClr val="tx1"/>
                </a:solidFill>
                <a:prstDash val="solid"/>
                <a:headEnd type="none" w="med" len="med"/>
                <a:tailEnd type="none" w="med" len="med"/>
              </a:ln>
            </p:spPr>
          </p:cxnSp>
          <p:cxnSp>
            <p:nvCxnSpPr>
              <p:cNvPr id="38942" name="AutoShape 35"/>
              <p:cNvCxnSpPr>
                <a:stCxn id="38932" idx="6"/>
                <a:endCxn id="38938" idx="2"/>
              </p:cNvCxnSpPr>
              <p:nvPr/>
            </p:nvCxnSpPr>
            <p:spPr>
              <a:xfrm>
                <a:off x="3456" y="1968"/>
                <a:ext cx="1392" cy="1"/>
              </a:xfrm>
              <a:prstGeom prst="straightConnector1">
                <a:avLst/>
              </a:prstGeom>
              <a:ln w="9525" cap="flat" cmpd="sng">
                <a:solidFill>
                  <a:schemeClr val="tx1"/>
                </a:solidFill>
                <a:prstDash val="solid"/>
                <a:headEnd type="none" w="med" len="med"/>
                <a:tailEnd type="none" w="med" len="med"/>
              </a:ln>
            </p:spPr>
          </p:cxnSp>
          <p:cxnSp>
            <p:nvCxnSpPr>
              <p:cNvPr id="38943" name="AutoShape 36"/>
              <p:cNvCxnSpPr>
                <a:stCxn id="38934" idx="3"/>
                <a:endCxn id="38932" idx="7"/>
              </p:cNvCxnSpPr>
              <p:nvPr/>
            </p:nvCxnSpPr>
            <p:spPr>
              <a:xfrm flipH="1">
                <a:off x="3442" y="1714"/>
                <a:ext cx="412" cy="220"/>
              </a:xfrm>
              <a:prstGeom prst="straightConnector1">
                <a:avLst/>
              </a:prstGeom>
              <a:ln w="9525" cap="flat" cmpd="sng">
                <a:solidFill>
                  <a:srgbClr val="FF0000"/>
                </a:solidFill>
                <a:prstDash val="solid"/>
                <a:headEnd type="none" w="med" len="med"/>
                <a:tailEnd type="none" w="med" len="med"/>
              </a:ln>
            </p:spPr>
          </p:cxnSp>
          <p:cxnSp>
            <p:nvCxnSpPr>
              <p:cNvPr id="38944" name="AutoShape 37"/>
              <p:cNvCxnSpPr>
                <a:stCxn id="38933" idx="4"/>
                <a:endCxn id="38934" idx="0"/>
              </p:cNvCxnSpPr>
              <p:nvPr/>
            </p:nvCxnSpPr>
            <p:spPr>
              <a:xfrm>
                <a:off x="3888" y="1344"/>
                <a:ext cx="0" cy="288"/>
              </a:xfrm>
              <a:prstGeom prst="straightConnector1">
                <a:avLst/>
              </a:prstGeom>
              <a:ln w="9525" cap="flat" cmpd="sng">
                <a:solidFill>
                  <a:srgbClr val="FF0000"/>
                </a:solidFill>
                <a:prstDash val="solid"/>
                <a:headEnd type="none" w="med" len="med"/>
                <a:tailEnd type="none" w="med" len="med"/>
              </a:ln>
            </p:spPr>
          </p:cxnSp>
          <p:cxnSp>
            <p:nvCxnSpPr>
              <p:cNvPr id="38945" name="AutoShape 38"/>
              <p:cNvCxnSpPr>
                <a:stCxn id="38933" idx="6"/>
                <a:endCxn id="38935" idx="2"/>
              </p:cNvCxnSpPr>
              <p:nvPr/>
            </p:nvCxnSpPr>
            <p:spPr>
              <a:xfrm>
                <a:off x="3936" y="1296"/>
                <a:ext cx="432" cy="0"/>
              </a:xfrm>
              <a:prstGeom prst="straightConnector1">
                <a:avLst/>
              </a:prstGeom>
              <a:ln w="9525" cap="flat" cmpd="sng">
                <a:solidFill>
                  <a:schemeClr val="tx1"/>
                </a:solidFill>
                <a:prstDash val="solid"/>
                <a:headEnd type="none" w="med" len="med"/>
                <a:tailEnd type="none" w="med" len="med"/>
              </a:ln>
            </p:spPr>
          </p:cxnSp>
          <p:cxnSp>
            <p:nvCxnSpPr>
              <p:cNvPr id="38946" name="AutoShape 39"/>
              <p:cNvCxnSpPr>
                <a:stCxn id="38935" idx="4"/>
                <a:endCxn id="38936" idx="0"/>
              </p:cNvCxnSpPr>
              <p:nvPr/>
            </p:nvCxnSpPr>
            <p:spPr>
              <a:xfrm>
                <a:off x="4416" y="1344"/>
                <a:ext cx="0" cy="288"/>
              </a:xfrm>
              <a:prstGeom prst="straightConnector1">
                <a:avLst/>
              </a:prstGeom>
              <a:ln w="9525" cap="flat" cmpd="sng">
                <a:solidFill>
                  <a:schemeClr val="tx1"/>
                </a:solidFill>
                <a:prstDash val="solid"/>
                <a:headEnd type="none" w="med" len="med"/>
                <a:tailEnd type="none" w="med" len="med"/>
              </a:ln>
            </p:spPr>
          </p:cxnSp>
          <p:cxnSp>
            <p:nvCxnSpPr>
              <p:cNvPr id="38947" name="AutoShape 40"/>
              <p:cNvCxnSpPr>
                <a:stCxn id="38936" idx="2"/>
                <a:endCxn id="38934" idx="6"/>
              </p:cNvCxnSpPr>
              <p:nvPr/>
            </p:nvCxnSpPr>
            <p:spPr>
              <a:xfrm flipH="1">
                <a:off x="3936" y="1680"/>
                <a:ext cx="432" cy="0"/>
              </a:xfrm>
              <a:prstGeom prst="straightConnector1">
                <a:avLst/>
              </a:prstGeom>
              <a:ln w="9525" cap="flat" cmpd="sng">
                <a:solidFill>
                  <a:schemeClr val="tx1"/>
                </a:solidFill>
                <a:prstDash val="solid"/>
                <a:headEnd type="none" w="med" len="med"/>
                <a:tailEnd type="none" w="med" len="med"/>
              </a:ln>
            </p:spPr>
          </p:cxnSp>
          <p:cxnSp>
            <p:nvCxnSpPr>
              <p:cNvPr id="38948" name="AutoShape 41"/>
              <p:cNvCxnSpPr>
                <a:stCxn id="38931" idx="5"/>
                <a:endCxn id="38933" idx="1"/>
              </p:cNvCxnSpPr>
              <p:nvPr/>
            </p:nvCxnSpPr>
            <p:spPr>
              <a:xfrm>
                <a:off x="3442" y="1042"/>
                <a:ext cx="412" cy="220"/>
              </a:xfrm>
              <a:prstGeom prst="straightConnector1">
                <a:avLst/>
              </a:prstGeom>
              <a:ln w="9525" cap="flat" cmpd="sng">
                <a:solidFill>
                  <a:srgbClr val="FF0000"/>
                </a:solidFill>
                <a:prstDash val="solid"/>
                <a:headEnd type="none" w="med" len="med"/>
                <a:tailEnd type="none" w="med" len="med"/>
              </a:ln>
            </p:spPr>
          </p:cxnSp>
        </p:grpSp>
        <p:sp>
          <p:nvSpPr>
            <p:cNvPr id="38923" name="Text Box 52"/>
            <p:cNvSpPr txBox="1"/>
            <p:nvPr/>
          </p:nvSpPr>
          <p:spPr>
            <a:xfrm>
              <a:off x="3264" y="1248"/>
              <a:ext cx="17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s</a:t>
              </a:r>
              <a:endParaRPr lang="en-US" altLang="zh-TW" sz="2000" i="1" dirty="0">
                <a:latin typeface="Times New Roman" panose="02020603050405020304" pitchFamily="18" charset="0"/>
                <a:ea typeface="Times New Roman" panose="02020603050405020304" pitchFamily="18" charset="0"/>
              </a:endParaRPr>
            </a:p>
          </p:txBody>
        </p:sp>
        <p:sp>
          <p:nvSpPr>
            <p:cNvPr id="38924" name="Text Box 53"/>
            <p:cNvSpPr txBox="1"/>
            <p:nvPr/>
          </p:nvSpPr>
          <p:spPr>
            <a:xfrm>
              <a:off x="3264" y="2256"/>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endParaRPr lang="en-US" altLang="zh-TW" sz="2000" i="1" dirty="0">
                <a:latin typeface="Times New Roman" panose="02020603050405020304" pitchFamily="18" charset="0"/>
                <a:ea typeface="Times New Roman" panose="02020603050405020304" pitchFamily="18" charset="0"/>
              </a:endParaRPr>
            </a:p>
          </p:txBody>
        </p:sp>
        <p:sp>
          <p:nvSpPr>
            <p:cNvPr id="38925" name="Text Box 54"/>
            <p:cNvSpPr txBox="1"/>
            <p:nvPr/>
          </p:nvSpPr>
          <p:spPr>
            <a:xfrm>
              <a:off x="4992" y="1248"/>
              <a:ext cx="1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t</a:t>
              </a:r>
              <a:endParaRPr lang="en-US" altLang="zh-TW" sz="2000" i="1" dirty="0">
                <a:latin typeface="Times New Roman" panose="02020603050405020304" pitchFamily="18" charset="0"/>
                <a:ea typeface="Times New Roman" panose="02020603050405020304" pitchFamily="18" charset="0"/>
              </a:endParaRPr>
            </a:p>
          </p:txBody>
        </p:sp>
        <p:sp>
          <p:nvSpPr>
            <p:cNvPr id="38926" name="Text Box 55"/>
            <p:cNvSpPr txBox="1"/>
            <p:nvPr/>
          </p:nvSpPr>
          <p:spPr>
            <a:xfrm>
              <a:off x="4992" y="2256"/>
              <a:ext cx="1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u</a:t>
              </a:r>
              <a:endParaRPr lang="en-US" altLang="zh-TW" sz="2000" i="1" dirty="0">
                <a:latin typeface="Times New Roman" panose="02020603050405020304" pitchFamily="18" charset="0"/>
                <a:ea typeface="Times New Roman" panose="02020603050405020304" pitchFamily="18" charset="0"/>
              </a:endParaRPr>
            </a:p>
          </p:txBody>
        </p:sp>
        <p:sp>
          <p:nvSpPr>
            <p:cNvPr id="38927" name="Text Box 56"/>
            <p:cNvSpPr txBox="1"/>
            <p:nvPr/>
          </p:nvSpPr>
          <p:spPr>
            <a:xfrm>
              <a:off x="3936" y="1440"/>
              <a:ext cx="223"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w</a:t>
              </a:r>
              <a:endParaRPr lang="en-US" altLang="zh-TW" sz="2000" i="1" dirty="0">
                <a:latin typeface="Times New Roman" panose="02020603050405020304" pitchFamily="18" charset="0"/>
                <a:ea typeface="Times New Roman" panose="02020603050405020304" pitchFamily="18" charset="0"/>
              </a:endParaRPr>
            </a:p>
          </p:txBody>
        </p:sp>
        <p:sp>
          <p:nvSpPr>
            <p:cNvPr id="38928" name="Text Box 57"/>
            <p:cNvSpPr txBox="1"/>
            <p:nvPr/>
          </p:nvSpPr>
          <p:spPr>
            <a:xfrm>
              <a:off x="4464" y="1440"/>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x</a:t>
              </a:r>
              <a:endParaRPr lang="en-US" altLang="zh-TW" sz="2000" i="1" dirty="0">
                <a:latin typeface="Times New Roman" panose="02020603050405020304" pitchFamily="18" charset="0"/>
                <a:ea typeface="Times New Roman" panose="02020603050405020304" pitchFamily="18" charset="0"/>
              </a:endParaRPr>
            </a:p>
          </p:txBody>
        </p:sp>
        <p:sp>
          <p:nvSpPr>
            <p:cNvPr id="38929" name="Text Box 58"/>
            <p:cNvSpPr txBox="1"/>
            <p:nvPr/>
          </p:nvSpPr>
          <p:spPr>
            <a:xfrm>
              <a:off x="3936" y="2064"/>
              <a:ext cx="17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38930" name="Text Box 59"/>
            <p:cNvSpPr txBox="1"/>
            <p:nvPr/>
          </p:nvSpPr>
          <p:spPr>
            <a:xfrm>
              <a:off x="4464" y="2064"/>
              <a:ext cx="18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y</a:t>
              </a:r>
              <a:endParaRPr lang="en-US" altLang="zh-TW" sz="2000" i="1" dirty="0">
                <a:latin typeface="Times New Roman" panose="02020603050405020304" pitchFamily="18" charset="0"/>
                <a:ea typeface="Times New Roman" panose="02020603050405020304" pitchFamily="18" charset="0"/>
              </a:endParaRPr>
            </a:p>
          </p:txBody>
        </p:sp>
      </p:grpSp>
      <p:sp>
        <p:nvSpPr>
          <p:cNvPr id="38921" name="Text Box 60"/>
          <p:cNvSpPr txBox="1"/>
          <p:nvPr/>
        </p:nvSpPr>
        <p:spPr>
          <a:xfrm>
            <a:off x="76200" y="3581400"/>
            <a:ext cx="9067800" cy="3473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Sol1:  </a:t>
            </a:r>
            <a:r>
              <a:rPr lang="en-US" altLang="zh-TW" sz="2400" dirty="0"/>
              <a:t>Are the subgraphs of G and H made up of vertices of degreee 3 and the edges connecting them isomorphic?</a:t>
            </a:r>
            <a:endParaRPr lang="en-US" altLang="zh-TW" sz="2400" dirty="0"/>
          </a:p>
          <a:p>
            <a:pPr marL="0" lvl="0" indent="0" eaLnBrk="1" hangingPunct="1">
              <a:spcBef>
                <a:spcPct val="0"/>
              </a:spcBef>
              <a:buClrTx/>
              <a:buSzPct val="100000"/>
              <a:buNone/>
            </a:pPr>
            <a:endParaRPr lang="en-US" altLang="zh-TW" sz="1000" dirty="0"/>
          </a:p>
          <a:p>
            <a:pPr marL="0" lvl="0" indent="0" eaLnBrk="1" hangingPunct="1">
              <a:spcBef>
                <a:spcPct val="0"/>
              </a:spcBef>
              <a:buClrTx/>
              <a:buSzPct val="100000"/>
              <a:buNone/>
            </a:pPr>
            <a:r>
              <a:rPr lang="en-US" altLang="zh-TW" sz="2800" b="1" dirty="0">
                <a:solidFill>
                  <a:srgbClr val="008000"/>
                </a:solidFill>
              </a:rPr>
              <a:t>Sol2: </a:t>
            </a:r>
            <a:r>
              <a:rPr lang="en-US" altLang="zh-TW" sz="2400" dirty="0"/>
              <a:t>∵</a:t>
            </a:r>
            <a:r>
              <a:rPr lang="en-US" altLang="zh-CN" sz="2400" dirty="0"/>
              <a:t> in </a:t>
            </a:r>
            <a:r>
              <a:rPr lang="en-US" altLang="zh-CN" sz="2400" i="1" dirty="0">
                <a:solidFill>
                  <a:srgbClr val="800000"/>
                </a:solidFill>
              </a:rPr>
              <a:t>G</a:t>
            </a:r>
            <a:r>
              <a:rPr lang="en-US" altLang="zh-CN" sz="2400" dirty="0"/>
              <a:t>, deg(</a:t>
            </a:r>
            <a:r>
              <a:rPr lang="en-US" altLang="zh-CN" sz="2400" dirty="0">
                <a:solidFill>
                  <a:srgbClr val="800000"/>
                </a:solidFill>
              </a:rPr>
              <a:t>a</a:t>
            </a:r>
            <a:r>
              <a:rPr lang="en-US" altLang="zh-CN" sz="2400" dirty="0"/>
              <a:t>)=</a:t>
            </a:r>
            <a:r>
              <a:rPr lang="en-US" altLang="zh-CN" sz="2400" dirty="0">
                <a:solidFill>
                  <a:srgbClr val="800000"/>
                </a:solidFill>
              </a:rPr>
              <a:t>2</a:t>
            </a:r>
            <a:endParaRPr lang="en-US" altLang="zh-CN" sz="2400" dirty="0">
              <a:solidFill>
                <a:srgbClr val="800000"/>
              </a:solidFill>
            </a:endParaRPr>
          </a:p>
          <a:p>
            <a:pPr marL="0" lvl="0" indent="0" eaLnBrk="1" hangingPunct="1">
              <a:spcBef>
                <a:spcPct val="0"/>
              </a:spcBef>
              <a:buClrTx/>
              <a:buSzPct val="100000"/>
              <a:buNone/>
            </a:pPr>
            <a:r>
              <a:rPr lang="en-US" altLang="zh-CN" sz="2400" dirty="0"/>
              <a:t>           </a:t>
            </a:r>
            <a:r>
              <a:rPr lang="en-US" altLang="zh-TW" sz="2400" dirty="0"/>
              <a:t> ∴  </a:t>
            </a:r>
            <a:r>
              <a:rPr lang="en-US" altLang="zh-CN" sz="2400" dirty="0">
                <a:solidFill>
                  <a:srgbClr val="800000"/>
                </a:solidFill>
              </a:rPr>
              <a:t>a</a:t>
            </a:r>
            <a:r>
              <a:rPr lang="en-US" altLang="zh-CN" sz="2400" dirty="0"/>
              <a:t> must corresponds to </a:t>
            </a:r>
            <a:r>
              <a:rPr lang="en-US" altLang="zh-CN" sz="2400" dirty="0">
                <a:solidFill>
                  <a:srgbClr val="800000"/>
                </a:solidFill>
              </a:rPr>
              <a:t>x,y,t,u</a:t>
            </a:r>
            <a:r>
              <a:rPr lang="en-US" altLang="zh-TW" sz="2400" dirty="0">
                <a:solidFill>
                  <a:srgbClr val="800000"/>
                </a:solidFill>
              </a:rPr>
              <a:t> </a:t>
            </a:r>
            <a:r>
              <a:rPr lang="en-US" altLang="zh-CN" sz="2400" dirty="0"/>
              <a:t>in</a:t>
            </a:r>
            <a:r>
              <a:rPr lang="en-US" altLang="zh-CN" sz="2400" dirty="0">
                <a:solidFill>
                  <a:srgbClr val="800000"/>
                </a:solidFill>
              </a:rPr>
              <a:t> </a:t>
            </a:r>
            <a:r>
              <a:rPr lang="en-US" altLang="zh-CN" sz="2400" i="1" dirty="0">
                <a:solidFill>
                  <a:srgbClr val="800000"/>
                </a:solidFill>
              </a:rPr>
              <a:t>H</a:t>
            </a:r>
            <a:r>
              <a:rPr lang="en-US" altLang="zh-TW" sz="2400" dirty="0">
                <a:solidFill>
                  <a:srgbClr val="800000"/>
                </a:solidFill>
              </a:rPr>
              <a:t> </a:t>
            </a:r>
            <a:endParaRPr lang="en-US" altLang="zh-CN" sz="2400" dirty="0"/>
          </a:p>
          <a:p>
            <a:pPr marL="0" lvl="0" indent="0" eaLnBrk="1" hangingPunct="1">
              <a:spcBef>
                <a:spcPct val="0"/>
              </a:spcBef>
              <a:buClrTx/>
              <a:buSzPct val="100000"/>
              <a:buNone/>
            </a:pPr>
            <a:r>
              <a:rPr lang="en-US" altLang="zh-CN" sz="2400" dirty="0"/>
              <a:t>           </a:t>
            </a:r>
            <a:r>
              <a:rPr lang="en-US" altLang="zh-TW" sz="2400" dirty="0"/>
              <a:t> ∵</a:t>
            </a:r>
            <a:r>
              <a:rPr lang="en-US" altLang="zh-CN" sz="2400" dirty="0"/>
              <a:t>  </a:t>
            </a:r>
            <a:r>
              <a:rPr lang="en-US" altLang="zh-CN" sz="2400" dirty="0">
                <a:solidFill>
                  <a:srgbClr val="800000"/>
                </a:solidFill>
              </a:rPr>
              <a:t>a </a:t>
            </a:r>
            <a:r>
              <a:rPr lang="en-US" altLang="zh-CN" sz="2400" dirty="0"/>
              <a:t>is not adjacent to a vertex of degree </a:t>
            </a:r>
            <a:r>
              <a:rPr lang="en-US" altLang="zh-CN" sz="2400" dirty="0">
                <a:solidFill>
                  <a:srgbClr val="800000"/>
                </a:solidFill>
              </a:rPr>
              <a:t>2 </a:t>
            </a:r>
            <a:r>
              <a:rPr lang="en-US" altLang="zh-CN" sz="2400" dirty="0"/>
              <a:t>(in</a:t>
            </a:r>
            <a:r>
              <a:rPr lang="en-US" altLang="zh-CN" sz="2400" dirty="0">
                <a:solidFill>
                  <a:srgbClr val="800000"/>
                </a:solidFill>
              </a:rPr>
              <a:t> </a:t>
            </a:r>
            <a:r>
              <a:rPr lang="en-US" altLang="zh-CN" sz="2400" i="1" dirty="0">
                <a:solidFill>
                  <a:srgbClr val="800000"/>
                </a:solidFill>
              </a:rPr>
              <a:t>G</a:t>
            </a:r>
            <a:r>
              <a:rPr lang="en-US" altLang="zh-CN" sz="2400" dirty="0"/>
              <a:t>), </a:t>
            </a:r>
            <a:br>
              <a:rPr lang="en-US" altLang="zh-TW" sz="2400" dirty="0"/>
            </a:br>
            <a:r>
              <a:rPr lang="en-US" altLang="zh-CN" sz="2400" dirty="0"/>
              <a:t>while all </a:t>
            </a:r>
            <a:r>
              <a:rPr lang="en-US" altLang="zh-CN" sz="2400" dirty="0">
                <a:solidFill>
                  <a:srgbClr val="800000"/>
                </a:solidFill>
              </a:rPr>
              <a:t>x,y,t,u</a:t>
            </a:r>
            <a:r>
              <a:rPr lang="en-US" altLang="zh-CN" sz="2400" dirty="0"/>
              <a:t> are adjacent to a vertex of degree </a:t>
            </a:r>
            <a:r>
              <a:rPr lang="en-US" altLang="zh-CN" sz="2400" dirty="0">
                <a:solidFill>
                  <a:srgbClr val="800000"/>
                </a:solidFill>
              </a:rPr>
              <a:t>2 </a:t>
            </a:r>
            <a:r>
              <a:rPr lang="en-US" altLang="zh-CN" sz="2400" dirty="0"/>
              <a:t>(in</a:t>
            </a:r>
            <a:r>
              <a:rPr lang="en-US" altLang="zh-CN" sz="2400" dirty="0">
                <a:solidFill>
                  <a:srgbClr val="800000"/>
                </a:solidFill>
              </a:rPr>
              <a:t> </a:t>
            </a:r>
            <a:r>
              <a:rPr lang="en-US" altLang="zh-CN" sz="2400" i="1" dirty="0">
                <a:solidFill>
                  <a:srgbClr val="800000"/>
                </a:solidFill>
              </a:rPr>
              <a:t>H</a:t>
            </a:r>
            <a:r>
              <a:rPr lang="en-US" altLang="zh-CN" sz="2400" dirty="0"/>
              <a:t>).</a:t>
            </a:r>
            <a:endParaRPr lang="zh-CN" altLang="en-US" sz="2400" dirty="0"/>
          </a:p>
          <a:p>
            <a:pPr marL="0" lvl="0" indent="0" eaLnBrk="1" hangingPunct="1">
              <a:spcBef>
                <a:spcPct val="0"/>
              </a:spcBef>
              <a:buClrTx/>
              <a:buSzPct val="100000"/>
              <a:buNone/>
            </a:pPr>
            <a:r>
              <a:rPr lang="en-US" altLang="zh-CN" sz="2400" dirty="0"/>
              <a:t>           </a:t>
            </a:r>
            <a:r>
              <a:rPr lang="en-US" altLang="zh-TW" sz="2400" dirty="0"/>
              <a:t>∴ </a:t>
            </a:r>
            <a:r>
              <a:rPr lang="en-US" altLang="zh-CN" sz="2400" dirty="0"/>
              <a:t>not</a:t>
            </a:r>
            <a:r>
              <a:rPr lang="zh-TW" altLang="en-US" sz="2400" dirty="0"/>
              <a:t> </a:t>
            </a:r>
            <a:r>
              <a:rPr lang="en-US" altLang="zh-TW" sz="2400" dirty="0"/>
              <a:t>isomorphic.</a:t>
            </a:r>
            <a:endParaRPr lang="en-US" altLang="zh-TW" sz="2400" dirty="0"/>
          </a:p>
          <a:p>
            <a:pPr marL="0" lvl="0" indent="0" eaLnBrk="1" hangingPunct="1">
              <a:spcBef>
                <a:spcPct val="0"/>
              </a:spcBef>
              <a:buClrTx/>
              <a:buSzPct val="100000"/>
              <a:buNone/>
            </a:pPr>
            <a:endParaRPr lang="en-US" altLang="zh-TW" sz="3600" b="1" dirty="0">
              <a:solidFill>
                <a:srgbClr val="008000"/>
              </a:solidFill>
            </a:endParaRPr>
          </a:p>
        </p:txBody>
      </p:sp>
      <p:sp>
        <p:nvSpPr>
          <p:cNvPr id="2" name="投影片編號版面配置區 6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21">
                                            <p:txEl>
                                              <p:charRg st="0" end="111"/>
                                            </p:txEl>
                                          </p:spTgt>
                                        </p:tgtEl>
                                        <p:attrNameLst>
                                          <p:attrName>style.visibility</p:attrName>
                                        </p:attrNameLst>
                                      </p:cBhvr>
                                      <p:to>
                                        <p:strVal val="visible"/>
                                      </p:to>
                                    </p:set>
                                    <p:anim calcmode="lin" valueType="num">
                                      <p:cBhvr additive="base">
                                        <p:cTn id="7" dur="500" fill="hold"/>
                                        <p:tgtEl>
                                          <p:spTgt spid="38921">
                                            <p:txEl>
                                              <p:charRg st="0" end="1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21">
                                            <p:txEl>
                                              <p:charRg st="0" end="1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921">
                                            <p:txEl>
                                              <p:charRg st="112" end="135"/>
                                            </p:txEl>
                                          </p:spTgt>
                                        </p:tgtEl>
                                        <p:attrNameLst>
                                          <p:attrName>style.visibility</p:attrName>
                                        </p:attrNameLst>
                                      </p:cBhvr>
                                      <p:to>
                                        <p:strVal val="visible"/>
                                      </p:to>
                                    </p:set>
                                    <p:anim calcmode="lin" valueType="num">
                                      <p:cBhvr additive="base">
                                        <p:cTn id="13" dur="500" fill="hold"/>
                                        <p:tgtEl>
                                          <p:spTgt spid="38921">
                                            <p:txEl>
                                              <p:charRg st="112" end="13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21">
                                            <p:txEl>
                                              <p:charRg st="112" end="13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921">
                                            <p:txEl>
                                              <p:charRg st="135" end="186"/>
                                            </p:txEl>
                                          </p:spTgt>
                                        </p:tgtEl>
                                        <p:attrNameLst>
                                          <p:attrName>style.visibility</p:attrName>
                                        </p:attrNameLst>
                                      </p:cBhvr>
                                      <p:to>
                                        <p:strVal val="visible"/>
                                      </p:to>
                                    </p:set>
                                    <p:anim calcmode="lin" valueType="num">
                                      <p:cBhvr additive="base">
                                        <p:cTn id="19" dur="500" fill="hold"/>
                                        <p:tgtEl>
                                          <p:spTgt spid="38921">
                                            <p:txEl>
                                              <p:charRg st="135" end="18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21">
                                            <p:txEl>
                                              <p:charRg st="135" end="18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921">
                                            <p:txEl>
                                              <p:charRg st="186" end="315"/>
                                            </p:txEl>
                                          </p:spTgt>
                                        </p:tgtEl>
                                        <p:attrNameLst>
                                          <p:attrName>style.visibility</p:attrName>
                                        </p:attrNameLst>
                                      </p:cBhvr>
                                      <p:to>
                                        <p:strVal val="visible"/>
                                      </p:to>
                                    </p:set>
                                    <p:anim calcmode="lin" valueType="num">
                                      <p:cBhvr additive="base">
                                        <p:cTn id="25" dur="500" fill="hold"/>
                                        <p:tgtEl>
                                          <p:spTgt spid="38921">
                                            <p:txEl>
                                              <p:charRg st="186" end="31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21">
                                            <p:txEl>
                                              <p:charRg st="186" end="31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8921">
                                            <p:txEl>
                                              <p:charRg st="315" end="344"/>
                                            </p:txEl>
                                          </p:spTgt>
                                        </p:tgtEl>
                                        <p:attrNameLst>
                                          <p:attrName>style.visibility</p:attrName>
                                        </p:attrNameLst>
                                      </p:cBhvr>
                                      <p:to>
                                        <p:strVal val="visible"/>
                                      </p:to>
                                    </p:set>
                                    <p:anim calcmode="lin" valueType="num">
                                      <p:cBhvr additive="base">
                                        <p:cTn id="31" dur="500" fill="hold"/>
                                        <p:tgtEl>
                                          <p:spTgt spid="38921">
                                            <p:txEl>
                                              <p:charRg st="315" end="34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921">
                                            <p:txEl>
                                              <p:charRg st="315" end="34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1" grpId="0"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3"/>
          <p:cNvSpPr>
            <a:spLocks noGrp="1"/>
          </p:cNvSpPr>
          <p:nvPr>
            <p:ph type="body" sz="half" idx="1"/>
          </p:nvPr>
        </p:nvSpPr>
        <p:spPr>
          <a:xfrm>
            <a:off x="152400" y="533400"/>
            <a:ext cx="8839200" cy="1066800"/>
          </a:xfrm>
        </p:spPr>
        <p:txBody>
          <a:bodyPr vert="horz" wrap="square" lIns="91440" tIns="45720" rIns="91440" bIns="45720" anchor="t"/>
          <a:p>
            <a:pPr eaLnBrk="1" hangingPunct="1">
              <a:buNone/>
            </a:pPr>
            <a:r>
              <a:rPr lang="en-US" altLang="zh-TW" sz="2800" b="1" dirty="0">
                <a:solidFill>
                  <a:srgbClr val="008000"/>
                </a:solidFill>
              </a:rPr>
              <a:t>Example 11.</a:t>
            </a:r>
            <a:r>
              <a:rPr lang="en-US" altLang="zh-TW" sz="2800" dirty="0"/>
              <a:t>  Determine whether the graphs </a:t>
            </a:r>
            <a:r>
              <a:rPr lang="en-US" altLang="zh-TW" sz="2800" i="1" dirty="0">
                <a:latin typeface="Times New Roman" panose="02020603050405020304" pitchFamily="18" charset="0"/>
                <a:cs typeface="Times New Roman" panose="02020603050405020304" pitchFamily="18" charset="0"/>
              </a:rPr>
              <a:t>G</a:t>
            </a:r>
            <a:r>
              <a:rPr lang="en-US" altLang="zh-TW" sz="2800" dirty="0"/>
              <a:t> and </a:t>
            </a:r>
            <a:r>
              <a:rPr lang="en-US" altLang="zh-TW" sz="2800" i="1" dirty="0">
                <a:latin typeface="Times New Roman" panose="02020603050405020304" pitchFamily="18" charset="0"/>
                <a:cs typeface="Times New Roman" panose="02020603050405020304" pitchFamily="18" charset="0"/>
              </a:rPr>
              <a:t>H</a:t>
            </a:r>
            <a:r>
              <a:rPr lang="en-US" altLang="zh-TW" sz="2800" dirty="0"/>
              <a:t> are isomorphic.</a:t>
            </a:r>
            <a:endParaRPr lang="en-US" altLang="zh-TW" sz="2800" dirty="0"/>
          </a:p>
        </p:txBody>
      </p:sp>
      <p:sp>
        <p:nvSpPr>
          <p:cNvPr id="39939" name="Oval 7"/>
          <p:cNvSpPr/>
          <p:nvPr/>
        </p:nvSpPr>
        <p:spPr>
          <a:xfrm>
            <a:off x="914400" y="2286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40964" name="AutoShape 23"/>
          <p:cNvCxnSpPr>
            <a:stCxn id="39939" idx="4"/>
          </p:cNvCxnSpPr>
          <p:nvPr/>
        </p:nvCxnSpPr>
        <p:spPr>
          <a:xfrm>
            <a:off x="990600" y="2438400"/>
            <a:ext cx="0" cy="1371600"/>
          </a:xfrm>
          <a:prstGeom prst="straightConnector1">
            <a:avLst/>
          </a:prstGeom>
          <a:ln w="19050" cap="flat" cmpd="sng">
            <a:solidFill>
              <a:schemeClr val="tx1"/>
            </a:solidFill>
            <a:prstDash val="solid"/>
            <a:headEnd type="none" w="med" len="med"/>
            <a:tailEnd type="none" w="med" len="med"/>
          </a:ln>
        </p:spPr>
      </p:cxnSp>
      <p:cxnSp>
        <p:nvCxnSpPr>
          <p:cNvPr id="40965" name="AutoShape 24"/>
          <p:cNvCxnSpPr>
            <a:stCxn id="39939" idx="6"/>
          </p:cNvCxnSpPr>
          <p:nvPr/>
        </p:nvCxnSpPr>
        <p:spPr>
          <a:xfrm>
            <a:off x="1066800" y="2362200"/>
            <a:ext cx="2362200" cy="0"/>
          </a:xfrm>
          <a:prstGeom prst="straightConnector1">
            <a:avLst/>
          </a:prstGeom>
          <a:ln w="19050" cap="flat" cmpd="sng">
            <a:solidFill>
              <a:schemeClr val="tx1"/>
            </a:solidFill>
            <a:prstDash val="solid"/>
            <a:headEnd type="none" w="med" len="med"/>
            <a:tailEnd type="none" w="med" len="med"/>
          </a:ln>
        </p:spPr>
      </p:cxnSp>
      <p:cxnSp>
        <p:nvCxnSpPr>
          <p:cNvPr id="39942" name="AutoShape 25"/>
          <p:cNvCxnSpPr/>
          <p:nvPr/>
        </p:nvCxnSpPr>
        <p:spPr>
          <a:xfrm>
            <a:off x="3505200" y="2438400"/>
            <a:ext cx="0" cy="1371600"/>
          </a:xfrm>
          <a:prstGeom prst="straightConnector1">
            <a:avLst/>
          </a:prstGeom>
          <a:ln w="19050" cap="flat" cmpd="sng">
            <a:solidFill>
              <a:schemeClr val="tx1"/>
            </a:solidFill>
            <a:prstDash val="solid"/>
            <a:headEnd type="none" w="med" len="med"/>
            <a:tailEnd type="none" w="med" len="med"/>
          </a:ln>
        </p:spPr>
      </p:cxnSp>
      <p:cxnSp>
        <p:nvCxnSpPr>
          <p:cNvPr id="39943" name="AutoShape 27"/>
          <p:cNvCxnSpPr/>
          <p:nvPr/>
        </p:nvCxnSpPr>
        <p:spPr>
          <a:xfrm>
            <a:off x="1066800" y="3886200"/>
            <a:ext cx="2362200" cy="0"/>
          </a:xfrm>
          <a:prstGeom prst="straightConnector1">
            <a:avLst/>
          </a:prstGeom>
          <a:ln w="19050" cap="flat" cmpd="sng">
            <a:solidFill>
              <a:schemeClr val="tx1"/>
            </a:solidFill>
            <a:prstDash val="solid"/>
            <a:headEnd type="none" w="med" len="med"/>
            <a:tailEnd type="none" w="med" len="med"/>
          </a:ln>
        </p:spPr>
      </p:cxnSp>
      <p:sp>
        <p:nvSpPr>
          <p:cNvPr id="39944" name="Text Box 56"/>
          <p:cNvSpPr txBox="1"/>
          <p:nvPr/>
        </p:nvSpPr>
        <p:spPr>
          <a:xfrm>
            <a:off x="2057400" y="17526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endParaRPr lang="en-US" altLang="zh-TW" sz="2400" i="1" dirty="0">
              <a:latin typeface="Times New Roman" panose="02020603050405020304" pitchFamily="18" charset="0"/>
              <a:ea typeface="Times New Roman" panose="02020603050405020304" pitchFamily="18" charset="0"/>
            </a:endParaRPr>
          </a:p>
        </p:txBody>
      </p:sp>
      <p:cxnSp>
        <p:nvCxnSpPr>
          <p:cNvPr id="39945" name="AutoShape 46"/>
          <p:cNvCxnSpPr/>
          <p:nvPr/>
        </p:nvCxnSpPr>
        <p:spPr>
          <a:xfrm>
            <a:off x="7772400" y="2514600"/>
            <a:ext cx="0" cy="1371600"/>
          </a:xfrm>
          <a:prstGeom prst="straightConnector1">
            <a:avLst/>
          </a:prstGeom>
          <a:ln w="19050" cap="flat" cmpd="sng">
            <a:solidFill>
              <a:schemeClr val="tx1"/>
            </a:solidFill>
            <a:prstDash val="solid"/>
            <a:headEnd type="none" w="med" len="med"/>
            <a:tailEnd type="none" w="med" len="med"/>
          </a:ln>
        </p:spPr>
      </p:cxnSp>
      <p:cxnSp>
        <p:nvCxnSpPr>
          <p:cNvPr id="39946" name="AutoShape 47"/>
          <p:cNvCxnSpPr/>
          <p:nvPr/>
        </p:nvCxnSpPr>
        <p:spPr>
          <a:xfrm>
            <a:off x="5334000" y="3962400"/>
            <a:ext cx="2362200" cy="0"/>
          </a:xfrm>
          <a:prstGeom prst="straightConnector1">
            <a:avLst/>
          </a:prstGeom>
          <a:ln w="19050" cap="flat" cmpd="sng">
            <a:solidFill>
              <a:schemeClr val="tx1"/>
            </a:solidFill>
            <a:prstDash val="solid"/>
            <a:headEnd type="none" w="med" len="med"/>
            <a:tailEnd type="none" w="med" len="med"/>
          </a:ln>
        </p:spPr>
      </p:cxnSp>
      <p:cxnSp>
        <p:nvCxnSpPr>
          <p:cNvPr id="40971" name="AutoShape 48"/>
          <p:cNvCxnSpPr/>
          <p:nvPr/>
        </p:nvCxnSpPr>
        <p:spPr>
          <a:xfrm flipH="1">
            <a:off x="5311775" y="3406775"/>
            <a:ext cx="1416050" cy="501650"/>
          </a:xfrm>
          <a:prstGeom prst="straightConnector1">
            <a:avLst/>
          </a:prstGeom>
          <a:ln w="19050" cap="flat" cmpd="sng">
            <a:solidFill>
              <a:schemeClr val="tx1"/>
            </a:solidFill>
            <a:prstDash val="solid"/>
            <a:headEnd type="none" w="med" len="med"/>
            <a:tailEnd type="none" w="med" len="med"/>
          </a:ln>
        </p:spPr>
      </p:cxnSp>
      <p:sp>
        <p:nvSpPr>
          <p:cNvPr id="39948" name="Text Box 57"/>
          <p:cNvSpPr txBox="1"/>
          <p:nvPr/>
        </p:nvSpPr>
        <p:spPr>
          <a:xfrm>
            <a:off x="6400800" y="17526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H</a:t>
            </a:r>
            <a:endParaRPr lang="en-US" altLang="zh-TW" sz="2400" i="1" dirty="0">
              <a:latin typeface="Times New Roman" panose="02020603050405020304" pitchFamily="18" charset="0"/>
              <a:ea typeface="Times New Roman" panose="02020603050405020304" pitchFamily="18" charset="0"/>
            </a:endParaRPr>
          </a:p>
        </p:txBody>
      </p:sp>
      <p:cxnSp>
        <p:nvCxnSpPr>
          <p:cNvPr id="40973" name="AutoShape 60"/>
          <p:cNvCxnSpPr/>
          <p:nvPr/>
        </p:nvCxnSpPr>
        <p:spPr>
          <a:xfrm flipV="1">
            <a:off x="6858000" y="2492375"/>
            <a:ext cx="860425" cy="860425"/>
          </a:xfrm>
          <a:prstGeom prst="straightConnector1">
            <a:avLst/>
          </a:prstGeom>
          <a:ln w="19050" cap="flat" cmpd="sng">
            <a:solidFill>
              <a:schemeClr val="tx1"/>
            </a:solidFill>
            <a:prstDash val="solid"/>
            <a:headEnd type="none" w="med" len="med"/>
            <a:tailEnd type="none" w="med" len="med"/>
          </a:ln>
        </p:spPr>
      </p:cxnSp>
      <p:sp>
        <p:nvSpPr>
          <p:cNvPr id="39950" name="Text Box 65"/>
          <p:cNvSpPr txBox="1"/>
          <p:nvPr/>
        </p:nvSpPr>
        <p:spPr>
          <a:xfrm>
            <a:off x="609600" y="18288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39951" name="Text Box 66"/>
          <p:cNvSpPr txBox="1"/>
          <p:nvPr/>
        </p:nvSpPr>
        <p:spPr>
          <a:xfrm>
            <a:off x="3429000" y="18288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39952" name="Text Box 67"/>
          <p:cNvSpPr txBox="1"/>
          <p:nvPr/>
        </p:nvSpPr>
        <p:spPr>
          <a:xfrm>
            <a:off x="533400" y="36576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39953" name="Text Box 68"/>
          <p:cNvSpPr txBox="1"/>
          <p:nvPr/>
        </p:nvSpPr>
        <p:spPr>
          <a:xfrm>
            <a:off x="3581400" y="37338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39954" name="Text Box 69"/>
          <p:cNvSpPr txBox="1"/>
          <p:nvPr/>
        </p:nvSpPr>
        <p:spPr>
          <a:xfrm>
            <a:off x="1524000" y="25908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39955" name="Text Box 70"/>
          <p:cNvSpPr txBox="1"/>
          <p:nvPr/>
        </p:nvSpPr>
        <p:spPr>
          <a:xfrm>
            <a:off x="2362200" y="31242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sp>
        <p:nvSpPr>
          <p:cNvPr id="39956" name="Text Box 71"/>
          <p:cNvSpPr txBox="1"/>
          <p:nvPr/>
        </p:nvSpPr>
        <p:spPr>
          <a:xfrm>
            <a:off x="4953000" y="16764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39957" name="Text Box 72"/>
          <p:cNvSpPr txBox="1"/>
          <p:nvPr/>
        </p:nvSpPr>
        <p:spPr>
          <a:xfrm>
            <a:off x="5867400" y="25908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39958" name="Text Box 73"/>
          <p:cNvSpPr txBox="1"/>
          <p:nvPr/>
        </p:nvSpPr>
        <p:spPr>
          <a:xfrm>
            <a:off x="7696200" y="19050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39959" name="Text Box 74"/>
          <p:cNvSpPr txBox="1"/>
          <p:nvPr/>
        </p:nvSpPr>
        <p:spPr>
          <a:xfrm>
            <a:off x="7848600" y="36576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39960" name="Text Box 75"/>
          <p:cNvSpPr txBox="1"/>
          <p:nvPr/>
        </p:nvSpPr>
        <p:spPr>
          <a:xfrm>
            <a:off x="4876800" y="34290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39961" name="Text Box 76"/>
          <p:cNvSpPr txBox="1"/>
          <p:nvPr/>
        </p:nvSpPr>
        <p:spPr>
          <a:xfrm>
            <a:off x="6781800" y="32766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sp>
        <p:nvSpPr>
          <p:cNvPr id="39962" name="Oval 7"/>
          <p:cNvSpPr/>
          <p:nvPr/>
        </p:nvSpPr>
        <p:spPr>
          <a:xfrm>
            <a:off x="914400" y="3810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41003" name="AutoShape 28"/>
          <p:cNvCxnSpPr/>
          <p:nvPr/>
        </p:nvCxnSpPr>
        <p:spPr>
          <a:xfrm flipH="1">
            <a:off x="1044575" y="3178175"/>
            <a:ext cx="654050" cy="654050"/>
          </a:xfrm>
          <a:prstGeom prst="straightConnector1">
            <a:avLst/>
          </a:prstGeom>
          <a:ln w="19050" cap="flat" cmpd="sng">
            <a:solidFill>
              <a:schemeClr val="tx1"/>
            </a:solidFill>
            <a:prstDash val="solid"/>
            <a:headEnd type="none" w="med" len="med"/>
            <a:tailEnd type="none" w="med" len="med"/>
          </a:ln>
        </p:spPr>
      </p:cxnSp>
      <p:cxnSp>
        <p:nvCxnSpPr>
          <p:cNvPr id="41004" name="AutoShape 33"/>
          <p:cNvCxnSpPr/>
          <p:nvPr/>
        </p:nvCxnSpPr>
        <p:spPr>
          <a:xfrm flipH="1">
            <a:off x="1828800" y="3124200"/>
            <a:ext cx="609600" cy="0"/>
          </a:xfrm>
          <a:prstGeom prst="straightConnector1">
            <a:avLst/>
          </a:prstGeom>
          <a:ln w="19050" cap="flat" cmpd="sng">
            <a:solidFill>
              <a:schemeClr val="tx1"/>
            </a:solidFill>
            <a:prstDash val="solid"/>
            <a:headEnd type="none" w="med" len="med"/>
            <a:tailEnd type="none" w="med" len="med"/>
          </a:ln>
        </p:spPr>
      </p:cxnSp>
      <p:cxnSp>
        <p:nvCxnSpPr>
          <p:cNvPr id="41005" name="AutoShape 35"/>
          <p:cNvCxnSpPr/>
          <p:nvPr/>
        </p:nvCxnSpPr>
        <p:spPr>
          <a:xfrm flipV="1">
            <a:off x="2568575" y="2416175"/>
            <a:ext cx="882650" cy="654050"/>
          </a:xfrm>
          <a:prstGeom prst="straightConnector1">
            <a:avLst/>
          </a:prstGeom>
          <a:ln w="19050" cap="flat" cmpd="sng">
            <a:solidFill>
              <a:schemeClr val="tx1"/>
            </a:solidFill>
            <a:prstDash val="solid"/>
            <a:headEnd type="none" w="med" len="med"/>
            <a:tailEnd type="none" w="med" len="med"/>
          </a:ln>
        </p:spPr>
      </p:cxnSp>
      <p:sp>
        <p:nvSpPr>
          <p:cNvPr id="39966" name="Oval 7"/>
          <p:cNvSpPr/>
          <p:nvPr/>
        </p:nvSpPr>
        <p:spPr>
          <a:xfrm>
            <a:off x="1676400" y="3048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39967" name="Oval 7"/>
          <p:cNvSpPr/>
          <p:nvPr/>
        </p:nvSpPr>
        <p:spPr>
          <a:xfrm>
            <a:off x="2438400" y="3048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39968" name="Oval 7"/>
          <p:cNvSpPr/>
          <p:nvPr/>
        </p:nvSpPr>
        <p:spPr>
          <a:xfrm>
            <a:off x="3429000" y="2286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39969" name="Oval 7"/>
          <p:cNvSpPr/>
          <p:nvPr/>
        </p:nvSpPr>
        <p:spPr>
          <a:xfrm>
            <a:off x="3429000" y="3810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40998" name="AutoShape 44"/>
          <p:cNvCxnSpPr/>
          <p:nvPr/>
        </p:nvCxnSpPr>
        <p:spPr>
          <a:xfrm>
            <a:off x="5257800" y="2286000"/>
            <a:ext cx="0" cy="1600200"/>
          </a:xfrm>
          <a:prstGeom prst="straightConnector1">
            <a:avLst/>
          </a:prstGeom>
          <a:ln w="19050" cap="flat" cmpd="sng">
            <a:solidFill>
              <a:schemeClr val="tx1"/>
            </a:solidFill>
            <a:prstDash val="solid"/>
            <a:headEnd type="none" w="med" len="med"/>
            <a:tailEnd type="none" w="med" len="med"/>
          </a:ln>
        </p:spPr>
      </p:cxnSp>
      <p:cxnSp>
        <p:nvCxnSpPr>
          <p:cNvPr id="40999" name="AutoShape 61"/>
          <p:cNvCxnSpPr/>
          <p:nvPr/>
        </p:nvCxnSpPr>
        <p:spPr>
          <a:xfrm>
            <a:off x="5311775" y="2263775"/>
            <a:ext cx="654050" cy="273050"/>
          </a:xfrm>
          <a:prstGeom prst="straightConnector1">
            <a:avLst/>
          </a:prstGeom>
          <a:ln w="19050" cap="flat" cmpd="sng">
            <a:solidFill>
              <a:schemeClr val="tx1"/>
            </a:solidFill>
            <a:prstDash val="solid"/>
            <a:headEnd type="none" w="med" len="med"/>
            <a:tailEnd type="none" w="med" len="med"/>
          </a:ln>
        </p:spPr>
      </p:cxnSp>
      <p:cxnSp>
        <p:nvCxnSpPr>
          <p:cNvPr id="41000" name="AutoShape 62"/>
          <p:cNvCxnSpPr/>
          <p:nvPr/>
        </p:nvCxnSpPr>
        <p:spPr>
          <a:xfrm flipV="1">
            <a:off x="6096000" y="2438400"/>
            <a:ext cx="1600200" cy="152400"/>
          </a:xfrm>
          <a:prstGeom prst="straightConnector1">
            <a:avLst/>
          </a:prstGeom>
          <a:ln w="19050" cap="flat" cmpd="sng">
            <a:solidFill>
              <a:schemeClr val="tx1"/>
            </a:solidFill>
            <a:prstDash val="solid"/>
            <a:headEnd type="none" w="med" len="med"/>
            <a:tailEnd type="none" w="med" len="med"/>
          </a:ln>
        </p:spPr>
      </p:cxnSp>
      <p:sp>
        <p:nvSpPr>
          <p:cNvPr id="39973" name="Oval 7"/>
          <p:cNvSpPr/>
          <p:nvPr/>
        </p:nvSpPr>
        <p:spPr>
          <a:xfrm>
            <a:off x="5181600" y="2133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39974" name="Oval 7"/>
          <p:cNvSpPr/>
          <p:nvPr/>
        </p:nvSpPr>
        <p:spPr>
          <a:xfrm>
            <a:off x="5943600" y="2514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39975" name="Oval 7"/>
          <p:cNvSpPr/>
          <p:nvPr/>
        </p:nvSpPr>
        <p:spPr>
          <a:xfrm>
            <a:off x="7696200" y="2362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39976" name="Oval 7"/>
          <p:cNvSpPr/>
          <p:nvPr/>
        </p:nvSpPr>
        <p:spPr>
          <a:xfrm>
            <a:off x="7696200" y="3886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39977" name="Oval 7"/>
          <p:cNvSpPr/>
          <p:nvPr/>
        </p:nvSpPr>
        <p:spPr>
          <a:xfrm>
            <a:off x="6705600" y="3276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39978" name="Oval 7"/>
          <p:cNvSpPr/>
          <p:nvPr/>
        </p:nvSpPr>
        <p:spPr>
          <a:xfrm>
            <a:off x="5181600" y="3886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58" name="文字方塊 57"/>
          <p:cNvSpPr txBox="1"/>
          <p:nvPr/>
        </p:nvSpPr>
        <p:spPr>
          <a:xfrm>
            <a:off x="292100" y="4343400"/>
            <a:ext cx="8321675" cy="13731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 </a:t>
            </a:r>
            <a:br>
              <a:rPr lang="en-US" altLang="zh-TW" sz="2800" b="1" dirty="0">
                <a:solidFill>
                  <a:srgbClr val="008000"/>
                </a:solidFill>
              </a:rPr>
            </a:br>
            <a:r>
              <a:rPr lang="en-US" altLang="zh-TW" sz="2800" b="1" dirty="0">
                <a:solidFill>
                  <a:srgbClr val="008000"/>
                </a:solidFill>
              </a:rPr>
              <a:t>    </a:t>
            </a:r>
            <a:r>
              <a:rPr lang="en-US" altLang="zh-TW" sz="2800" i="1" dirty="0">
                <a:latin typeface="Times New Roman" panose="02020603050405020304" pitchFamily="18" charset="0"/>
                <a:cs typeface="Times New Roman" panose="02020603050405020304" pitchFamily="18" charset="0"/>
              </a:rPr>
              <a:t>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6</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 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5</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5</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 f</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u</a:t>
            </a:r>
            <a:r>
              <a:rPr lang="en-US" altLang="zh-TW" sz="2800" baseline="-25000" dirty="0">
                <a:latin typeface="Times New Roman" panose="02020603050405020304" pitchFamily="18" charset="0"/>
                <a:cs typeface="Times New Roman" panose="02020603050405020304" pitchFamily="18" charset="0"/>
              </a:rPr>
              <a:t>6</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a:t>
            </a:r>
            <a:br>
              <a:rPr lang="en-US" altLang="zh-TW" sz="2800" b="1" dirty="0">
                <a:solidFill>
                  <a:srgbClr val="008000"/>
                </a:solidFill>
              </a:rPr>
            </a:br>
            <a:r>
              <a:rPr lang="en-US" altLang="zh-TW" sz="2800" b="1" dirty="0">
                <a:solidFill>
                  <a:srgbClr val="008000"/>
                </a:solidFill>
              </a:rPr>
              <a:t>   </a:t>
            </a:r>
            <a:r>
              <a:rPr lang="en-US" altLang="zh-TW" sz="2800" b="1" dirty="0">
                <a:solidFill>
                  <a:srgbClr val="008000"/>
                </a:solidFill>
                <a:sym typeface="Symbol" panose="05050102010706020507" pitchFamily="18" charset="2"/>
              </a:rPr>
              <a:t></a:t>
            </a:r>
            <a:r>
              <a:rPr lang="en-US" altLang="zh-TW" sz="2800" dirty="0"/>
              <a:t>Yes</a:t>
            </a:r>
            <a:endParaRPr lang="zh-TW" altLang="en-US" sz="2800" dirty="0"/>
          </a:p>
        </p:txBody>
      </p:sp>
      <p:sp>
        <p:nvSpPr>
          <p:cNvPr id="61" name="矩形 60"/>
          <p:cNvSpPr/>
          <p:nvPr/>
        </p:nvSpPr>
        <p:spPr>
          <a:xfrm>
            <a:off x="381000" y="6172200"/>
            <a:ext cx="3094038"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37, 39, 40</a:t>
            </a:r>
            <a:endParaRPr lang="zh-TW" altLang="en-US" sz="2400" dirty="0">
              <a:solidFill>
                <a:srgbClr val="0000CC"/>
              </a:solidFill>
            </a:endParaRPr>
          </a:p>
        </p:txBody>
      </p:sp>
      <p:sp>
        <p:nvSpPr>
          <p:cNvPr id="39981" name="投影片編號版面配置區 47"/>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41005"/>
                                        </p:tgtEl>
                                        <p:attrNameLst>
                                          <p:attrName>stroke.color</p:attrName>
                                        </p:attrNameLst>
                                      </p:cBhvr>
                                      <p:to>
                                        <a:srgbClr val="FF0000"/>
                                      </p:to>
                                    </p:animClr>
                                    <p:set>
                                      <p:cBhvr>
                                        <p:cTn id="7" dur="2000" fill="hold"/>
                                        <p:tgtEl>
                                          <p:spTgt spid="41005"/>
                                        </p:tgtEl>
                                        <p:attrNameLst>
                                          <p:attrName>stroke.on</p:attrName>
                                        </p:attrNameLst>
                                      </p:cBhvr>
                                      <p:to>
                                        <p:strVal val="true"/>
                                      </p:to>
                                    </p:set>
                                  </p:childTnLst>
                                </p:cTn>
                              </p:par>
                              <p:par>
                                <p:cTn id="8" presetID="7" presetClass="emph" presetSubtype="2" fill="hold" nodeType="withEffect">
                                  <p:stCondLst>
                                    <p:cond delay="0"/>
                                  </p:stCondLst>
                                  <p:childTnLst>
                                    <p:animClr clrSpc="rgb" dir="cw">
                                      <p:cBhvr>
                                        <p:cTn id="9" dur="2000" fill="hold"/>
                                        <p:tgtEl>
                                          <p:spTgt spid="41004"/>
                                        </p:tgtEl>
                                        <p:attrNameLst>
                                          <p:attrName>stroke.color</p:attrName>
                                        </p:attrNameLst>
                                      </p:cBhvr>
                                      <p:to>
                                        <a:srgbClr val="FF0000"/>
                                      </p:to>
                                    </p:animClr>
                                    <p:set>
                                      <p:cBhvr>
                                        <p:cTn id="10" dur="2000" fill="hold"/>
                                        <p:tgtEl>
                                          <p:spTgt spid="41004"/>
                                        </p:tgtEl>
                                        <p:attrNameLst>
                                          <p:attrName>stroke.on</p:attrName>
                                        </p:attrNameLst>
                                      </p:cBhvr>
                                      <p:to>
                                        <p:strVal val="true"/>
                                      </p:to>
                                    </p:set>
                                  </p:childTnLst>
                                </p:cTn>
                              </p:par>
                              <p:par>
                                <p:cTn id="11" presetID="7" presetClass="emph" presetSubtype="2" fill="hold" nodeType="withEffect">
                                  <p:stCondLst>
                                    <p:cond delay="0"/>
                                  </p:stCondLst>
                                  <p:childTnLst>
                                    <p:animClr clrSpc="rgb" dir="cw">
                                      <p:cBhvr>
                                        <p:cTn id="12" dur="2000" fill="hold"/>
                                        <p:tgtEl>
                                          <p:spTgt spid="41003"/>
                                        </p:tgtEl>
                                        <p:attrNameLst>
                                          <p:attrName>stroke.color</p:attrName>
                                        </p:attrNameLst>
                                      </p:cBhvr>
                                      <p:to>
                                        <a:srgbClr val="FF0000"/>
                                      </p:to>
                                    </p:animClr>
                                    <p:set>
                                      <p:cBhvr>
                                        <p:cTn id="13" dur="2000" fill="hold"/>
                                        <p:tgtEl>
                                          <p:spTgt spid="41003"/>
                                        </p:tgtEl>
                                        <p:attrNameLst>
                                          <p:attrName>stroke.on</p:attrName>
                                        </p:attrNameLst>
                                      </p:cBhvr>
                                      <p:to>
                                        <p:strVal val="true"/>
                                      </p:to>
                                    </p:set>
                                  </p:childTnLst>
                                </p:cTn>
                              </p:par>
                              <p:par>
                                <p:cTn id="14" presetID="7" presetClass="emph" presetSubtype="2" fill="hold" nodeType="withEffect">
                                  <p:stCondLst>
                                    <p:cond delay="0"/>
                                  </p:stCondLst>
                                  <p:childTnLst>
                                    <p:animClr clrSpc="rgb" dir="cw">
                                      <p:cBhvr>
                                        <p:cTn id="15" dur="2000" fill="hold"/>
                                        <p:tgtEl>
                                          <p:spTgt spid="41000"/>
                                        </p:tgtEl>
                                        <p:attrNameLst>
                                          <p:attrName>stroke.color</p:attrName>
                                        </p:attrNameLst>
                                      </p:cBhvr>
                                      <p:to>
                                        <a:srgbClr val="FF0000"/>
                                      </p:to>
                                    </p:animClr>
                                    <p:set>
                                      <p:cBhvr>
                                        <p:cTn id="16" dur="2000" fill="hold"/>
                                        <p:tgtEl>
                                          <p:spTgt spid="41000"/>
                                        </p:tgtEl>
                                        <p:attrNameLst>
                                          <p:attrName>stroke.on</p:attrName>
                                        </p:attrNameLst>
                                      </p:cBhvr>
                                      <p:to>
                                        <p:strVal val="true"/>
                                      </p:to>
                                    </p:set>
                                  </p:childTnLst>
                                </p:cTn>
                              </p:par>
                              <p:par>
                                <p:cTn id="17" presetID="7" presetClass="emph" presetSubtype="2" fill="hold" nodeType="withEffect">
                                  <p:stCondLst>
                                    <p:cond delay="0"/>
                                  </p:stCondLst>
                                  <p:childTnLst>
                                    <p:animClr clrSpc="rgb" dir="cw">
                                      <p:cBhvr>
                                        <p:cTn id="18" dur="2000" fill="hold"/>
                                        <p:tgtEl>
                                          <p:spTgt spid="40999"/>
                                        </p:tgtEl>
                                        <p:attrNameLst>
                                          <p:attrName>stroke.color</p:attrName>
                                        </p:attrNameLst>
                                      </p:cBhvr>
                                      <p:to>
                                        <a:srgbClr val="FF0000"/>
                                      </p:to>
                                    </p:animClr>
                                    <p:set>
                                      <p:cBhvr>
                                        <p:cTn id="19" dur="2000" fill="hold"/>
                                        <p:tgtEl>
                                          <p:spTgt spid="40999"/>
                                        </p:tgtEl>
                                        <p:attrNameLst>
                                          <p:attrName>stroke.on</p:attrName>
                                        </p:attrNameLst>
                                      </p:cBhvr>
                                      <p:to>
                                        <p:strVal val="true"/>
                                      </p:to>
                                    </p:set>
                                  </p:childTnLst>
                                </p:cTn>
                              </p:par>
                              <p:par>
                                <p:cTn id="20" presetID="7" presetClass="emph" presetSubtype="2" fill="hold" nodeType="withEffect">
                                  <p:stCondLst>
                                    <p:cond delay="0"/>
                                  </p:stCondLst>
                                  <p:childTnLst>
                                    <p:animClr clrSpc="rgb" dir="cw">
                                      <p:cBhvr>
                                        <p:cTn id="21" dur="2000" fill="hold"/>
                                        <p:tgtEl>
                                          <p:spTgt spid="40998"/>
                                        </p:tgtEl>
                                        <p:attrNameLst>
                                          <p:attrName>stroke.color</p:attrName>
                                        </p:attrNameLst>
                                      </p:cBhvr>
                                      <p:to>
                                        <a:srgbClr val="FF0000"/>
                                      </p:to>
                                    </p:animClr>
                                    <p:set>
                                      <p:cBhvr>
                                        <p:cTn id="22" dur="2000" fill="hold"/>
                                        <p:tgtEl>
                                          <p:spTgt spid="40998"/>
                                        </p:tgtEl>
                                        <p:attrNameLst>
                                          <p:attrName>stroke.on</p:attrName>
                                        </p:attrNameLst>
                                      </p:cBhvr>
                                      <p:to>
                                        <p:strVal val="true"/>
                                      </p:to>
                                    </p:set>
                                  </p:childTnLst>
                                </p:cTn>
                              </p:par>
                              <p:par>
                                <p:cTn id="23" presetID="7" presetClass="emph" presetSubtype="2" fill="hold" nodeType="withEffect">
                                  <p:stCondLst>
                                    <p:cond delay="0"/>
                                  </p:stCondLst>
                                  <p:childTnLst>
                                    <p:animClr clrSpc="rgb" dir="cw">
                                      <p:cBhvr>
                                        <p:cTn id="24" dur="2000" fill="hold"/>
                                        <p:tgtEl>
                                          <p:spTgt spid="40965"/>
                                        </p:tgtEl>
                                        <p:attrNameLst>
                                          <p:attrName>stroke.color</p:attrName>
                                        </p:attrNameLst>
                                      </p:cBhvr>
                                      <p:to>
                                        <a:srgbClr val="0000CC"/>
                                      </p:to>
                                    </p:animClr>
                                    <p:set>
                                      <p:cBhvr>
                                        <p:cTn id="25" dur="2000" fill="hold"/>
                                        <p:tgtEl>
                                          <p:spTgt spid="40965"/>
                                        </p:tgtEl>
                                        <p:attrNameLst>
                                          <p:attrName>stroke.on</p:attrName>
                                        </p:attrNameLst>
                                      </p:cBhvr>
                                      <p:to>
                                        <p:strVal val="true"/>
                                      </p:to>
                                    </p:set>
                                  </p:childTnLst>
                                </p:cTn>
                              </p:par>
                              <p:par>
                                <p:cTn id="26" presetID="7" presetClass="emph" presetSubtype="2" fill="hold" nodeType="withEffect">
                                  <p:stCondLst>
                                    <p:cond delay="0"/>
                                  </p:stCondLst>
                                  <p:childTnLst>
                                    <p:animClr clrSpc="rgb" dir="cw">
                                      <p:cBhvr>
                                        <p:cTn id="27" dur="2000" fill="hold"/>
                                        <p:tgtEl>
                                          <p:spTgt spid="40964"/>
                                        </p:tgtEl>
                                        <p:attrNameLst>
                                          <p:attrName>stroke.color</p:attrName>
                                        </p:attrNameLst>
                                      </p:cBhvr>
                                      <p:to>
                                        <a:srgbClr val="0000CC"/>
                                      </p:to>
                                    </p:animClr>
                                    <p:set>
                                      <p:cBhvr>
                                        <p:cTn id="28" dur="2000" fill="hold"/>
                                        <p:tgtEl>
                                          <p:spTgt spid="40964"/>
                                        </p:tgtEl>
                                        <p:attrNameLst>
                                          <p:attrName>stroke.on</p:attrName>
                                        </p:attrNameLst>
                                      </p:cBhvr>
                                      <p:to>
                                        <p:strVal val="true"/>
                                      </p:to>
                                    </p:set>
                                  </p:childTnLst>
                                </p:cTn>
                              </p:par>
                              <p:par>
                                <p:cTn id="29" presetID="7" presetClass="emph" presetSubtype="2" fill="hold" nodeType="withEffect">
                                  <p:stCondLst>
                                    <p:cond delay="0"/>
                                  </p:stCondLst>
                                  <p:childTnLst>
                                    <p:animClr clrSpc="rgb" dir="cw">
                                      <p:cBhvr>
                                        <p:cTn id="30" dur="2000" fill="hold"/>
                                        <p:tgtEl>
                                          <p:spTgt spid="40973"/>
                                        </p:tgtEl>
                                        <p:attrNameLst>
                                          <p:attrName>stroke.color</p:attrName>
                                        </p:attrNameLst>
                                      </p:cBhvr>
                                      <p:to>
                                        <a:srgbClr val="0000CC"/>
                                      </p:to>
                                    </p:animClr>
                                    <p:set>
                                      <p:cBhvr>
                                        <p:cTn id="31" dur="2000" fill="hold"/>
                                        <p:tgtEl>
                                          <p:spTgt spid="40973"/>
                                        </p:tgtEl>
                                        <p:attrNameLst>
                                          <p:attrName>stroke.on</p:attrName>
                                        </p:attrNameLst>
                                      </p:cBhvr>
                                      <p:to>
                                        <p:strVal val="true"/>
                                      </p:to>
                                    </p:set>
                                  </p:childTnLst>
                                </p:cTn>
                              </p:par>
                              <p:par>
                                <p:cTn id="32" presetID="7" presetClass="emph" presetSubtype="2" fill="hold" nodeType="withEffect">
                                  <p:stCondLst>
                                    <p:cond delay="0"/>
                                  </p:stCondLst>
                                  <p:childTnLst>
                                    <p:animClr clrSpc="rgb" dir="cw">
                                      <p:cBhvr>
                                        <p:cTn id="33" dur="2000" fill="hold"/>
                                        <p:tgtEl>
                                          <p:spTgt spid="40971"/>
                                        </p:tgtEl>
                                        <p:attrNameLst>
                                          <p:attrName>stroke.color</p:attrName>
                                        </p:attrNameLst>
                                      </p:cBhvr>
                                      <p:to>
                                        <a:srgbClr val="0000CC"/>
                                      </p:to>
                                    </p:animClr>
                                    <p:set>
                                      <p:cBhvr>
                                        <p:cTn id="34" dur="2000" fill="hold"/>
                                        <p:tgtEl>
                                          <p:spTgt spid="40971"/>
                                        </p:tgtEl>
                                        <p:attrNameLst>
                                          <p:attrName>stroke.on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8"/>
                                        </p:tgtEl>
                                        <p:attrNameLst>
                                          <p:attrName>style.visibility</p:attrName>
                                        </p:attrNameLst>
                                      </p:cBhvr>
                                      <p:to>
                                        <p:strVal val="visible"/>
                                      </p:to>
                                    </p:set>
                                    <p:anim calcmode="lin" valueType="num">
                                      <p:cBhvr additive="base">
                                        <p:cTn id="39" dur="500" fill="hold"/>
                                        <p:tgtEl>
                                          <p:spTgt spid="58"/>
                                        </p:tgtEl>
                                        <p:attrNameLst>
                                          <p:attrName>ppt_x</p:attrName>
                                        </p:attrNameLst>
                                      </p:cBhvr>
                                      <p:tavLst>
                                        <p:tav tm="0">
                                          <p:val>
                                            <p:strVal val="#ppt_x"/>
                                          </p:val>
                                        </p:tav>
                                        <p:tav tm="100000">
                                          <p:val>
                                            <p:strVal val="#ppt_x"/>
                                          </p:val>
                                        </p:tav>
                                      </p:tavLst>
                                    </p:anim>
                                    <p:anim calcmode="lin" valueType="num">
                                      <p:cBhvr additive="base">
                                        <p:cTn id="40"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61"/>
                                        </p:tgtEl>
                                        <p:attrNameLst>
                                          <p:attrName>style.visibility</p:attrName>
                                        </p:attrNameLst>
                                      </p:cBhvr>
                                      <p:to>
                                        <p:strVal val="visible"/>
                                      </p:to>
                                    </p:set>
                                    <p:anim calcmode="lin" valueType="num">
                                      <p:cBhvr additive="base">
                                        <p:cTn id="45" dur="500" fill="hold"/>
                                        <p:tgtEl>
                                          <p:spTgt spid="61"/>
                                        </p:tgtEl>
                                        <p:attrNameLst>
                                          <p:attrName>ppt_x</p:attrName>
                                        </p:attrNameLst>
                                      </p:cBhvr>
                                      <p:tavLst>
                                        <p:tav tm="0">
                                          <p:val>
                                            <p:strVal val="#ppt_x"/>
                                          </p:val>
                                        </p:tav>
                                        <p:tav tm="100000">
                                          <p:val>
                                            <p:strVal val="#ppt_x"/>
                                          </p:val>
                                        </p:tav>
                                      </p:tavLst>
                                    </p:anim>
                                    <p:anim calcmode="lin" valueType="num">
                                      <p:cBhvr additive="base">
                                        <p:cTn id="46"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0962" name="AutoShape 25"/>
          <p:cNvCxnSpPr>
            <a:stCxn id="41018" idx="5"/>
            <a:endCxn id="152" idx="2"/>
          </p:cNvCxnSpPr>
          <p:nvPr/>
        </p:nvCxnSpPr>
        <p:spPr>
          <a:xfrm rot="-5400000" flipH="1">
            <a:off x="5845175" y="4321175"/>
            <a:ext cx="403225" cy="860425"/>
          </a:xfrm>
          <a:prstGeom prst="straightConnector1">
            <a:avLst/>
          </a:prstGeom>
          <a:ln w="15875" cap="flat" cmpd="sng">
            <a:solidFill>
              <a:schemeClr val="tx1"/>
            </a:solidFill>
            <a:prstDash val="solid"/>
            <a:headEnd type="none" w="med" len="med"/>
            <a:tailEnd type="none" w="med" len="med"/>
          </a:ln>
        </p:spPr>
      </p:cxnSp>
      <p:cxnSp>
        <p:nvCxnSpPr>
          <p:cNvPr id="40963" name="AutoShape 25"/>
          <p:cNvCxnSpPr/>
          <p:nvPr/>
        </p:nvCxnSpPr>
        <p:spPr>
          <a:xfrm rot="-5400000" flipH="1">
            <a:off x="4838700" y="3771900"/>
            <a:ext cx="990600" cy="457200"/>
          </a:xfrm>
          <a:prstGeom prst="straightConnector1">
            <a:avLst/>
          </a:prstGeom>
          <a:ln w="15875" cap="flat" cmpd="sng">
            <a:solidFill>
              <a:schemeClr val="tx1"/>
            </a:solidFill>
            <a:prstDash val="solid"/>
            <a:headEnd type="none" w="med" len="med"/>
            <a:tailEnd type="none" w="med" len="med"/>
          </a:ln>
        </p:spPr>
      </p:cxnSp>
      <p:cxnSp>
        <p:nvCxnSpPr>
          <p:cNvPr id="197" name="AutoShape 25"/>
          <p:cNvCxnSpPr>
            <a:endCxn id="152" idx="1"/>
          </p:cNvCxnSpPr>
          <p:nvPr/>
        </p:nvCxnSpPr>
        <p:spPr>
          <a:xfrm rot="-5400000" flipH="1">
            <a:off x="5105400" y="3505200"/>
            <a:ext cx="1393825" cy="1393825"/>
          </a:xfrm>
          <a:prstGeom prst="straightConnector1">
            <a:avLst/>
          </a:prstGeom>
          <a:ln w="15875" cap="flat" cmpd="sng">
            <a:solidFill>
              <a:schemeClr val="tx1"/>
            </a:solidFill>
            <a:prstDash val="solid"/>
            <a:headEnd type="none" w="med" len="med"/>
            <a:tailEnd type="none" w="med" len="med"/>
          </a:ln>
        </p:spPr>
      </p:cxnSp>
      <p:cxnSp>
        <p:nvCxnSpPr>
          <p:cNvPr id="40965" name="AutoShape 25"/>
          <p:cNvCxnSpPr>
            <a:endCxn id="41019" idx="3"/>
          </p:cNvCxnSpPr>
          <p:nvPr/>
        </p:nvCxnSpPr>
        <p:spPr>
          <a:xfrm flipV="1">
            <a:off x="6553200" y="4549775"/>
            <a:ext cx="1012825" cy="403225"/>
          </a:xfrm>
          <a:prstGeom prst="straightConnector1">
            <a:avLst/>
          </a:prstGeom>
          <a:ln w="15875" cap="flat" cmpd="sng">
            <a:solidFill>
              <a:schemeClr val="tx1"/>
            </a:solidFill>
            <a:prstDash val="solid"/>
            <a:headEnd type="none" w="med" len="med"/>
            <a:tailEnd type="none" w="med" len="med"/>
          </a:ln>
        </p:spPr>
      </p:cxnSp>
      <p:cxnSp>
        <p:nvCxnSpPr>
          <p:cNvPr id="40966" name="AutoShape 25"/>
          <p:cNvCxnSpPr>
            <a:stCxn id="40990" idx="7"/>
            <a:endCxn id="64" idx="7"/>
          </p:cNvCxnSpPr>
          <p:nvPr/>
        </p:nvCxnSpPr>
        <p:spPr>
          <a:xfrm rot="5400000" flipH="1" flipV="1">
            <a:off x="1616075" y="1812925"/>
            <a:ext cx="990600" cy="2438400"/>
          </a:xfrm>
          <a:prstGeom prst="straightConnector1">
            <a:avLst/>
          </a:prstGeom>
          <a:ln w="15875" cap="flat" cmpd="sng">
            <a:solidFill>
              <a:schemeClr val="tx1"/>
            </a:solidFill>
            <a:prstDash val="solid"/>
            <a:headEnd type="none" w="med" len="med"/>
            <a:tailEnd type="none" w="med" len="med"/>
          </a:ln>
        </p:spPr>
      </p:cxnSp>
      <p:cxnSp>
        <p:nvCxnSpPr>
          <p:cNvPr id="40967" name="AutoShape 23"/>
          <p:cNvCxnSpPr>
            <a:stCxn id="40980" idx="3"/>
            <a:endCxn id="62" idx="0"/>
          </p:cNvCxnSpPr>
          <p:nvPr/>
        </p:nvCxnSpPr>
        <p:spPr>
          <a:xfrm rot="5400000">
            <a:off x="685800" y="2949575"/>
            <a:ext cx="2155825" cy="936625"/>
          </a:xfrm>
          <a:prstGeom prst="straightConnector1">
            <a:avLst/>
          </a:prstGeom>
          <a:ln w="15875" cap="flat" cmpd="sng">
            <a:solidFill>
              <a:schemeClr val="tx1"/>
            </a:solidFill>
            <a:prstDash val="solid"/>
            <a:headEnd type="none" w="med" len="med"/>
            <a:tailEnd type="none" w="med" len="med"/>
          </a:ln>
        </p:spPr>
      </p:cxnSp>
      <p:cxnSp>
        <p:nvCxnSpPr>
          <p:cNvPr id="127" name="AutoShape 23"/>
          <p:cNvCxnSpPr>
            <a:endCxn id="63" idx="5"/>
          </p:cNvCxnSpPr>
          <p:nvPr/>
        </p:nvCxnSpPr>
        <p:spPr>
          <a:xfrm>
            <a:off x="1295400" y="2667000"/>
            <a:ext cx="2111375" cy="1958975"/>
          </a:xfrm>
          <a:prstGeom prst="straightConnector1">
            <a:avLst/>
          </a:prstGeom>
          <a:ln w="15875" cap="flat" cmpd="sng">
            <a:solidFill>
              <a:schemeClr val="tx1"/>
            </a:solidFill>
            <a:prstDash val="solid"/>
            <a:headEnd type="none" w="med" len="med"/>
            <a:tailEnd type="none" w="med" len="med"/>
          </a:ln>
        </p:spPr>
      </p:cxnSp>
      <p:cxnSp>
        <p:nvCxnSpPr>
          <p:cNvPr id="40969" name="AutoShape 23"/>
          <p:cNvCxnSpPr>
            <a:endCxn id="40991" idx="1"/>
          </p:cNvCxnSpPr>
          <p:nvPr/>
        </p:nvCxnSpPr>
        <p:spPr>
          <a:xfrm>
            <a:off x="1371600" y="2667000"/>
            <a:ext cx="2384425" cy="784225"/>
          </a:xfrm>
          <a:prstGeom prst="straightConnector1">
            <a:avLst/>
          </a:prstGeom>
          <a:ln w="15875" cap="flat" cmpd="sng">
            <a:solidFill>
              <a:schemeClr val="tx1"/>
            </a:solidFill>
            <a:prstDash val="solid"/>
            <a:headEnd type="none" w="med" len="med"/>
            <a:tailEnd type="none" w="med" len="med"/>
          </a:ln>
        </p:spPr>
      </p:cxnSp>
      <p:cxnSp>
        <p:nvCxnSpPr>
          <p:cNvPr id="40970" name="AutoShape 25"/>
          <p:cNvCxnSpPr>
            <a:stCxn id="60" idx="7"/>
            <a:endCxn id="40990" idx="7"/>
          </p:cNvCxnSpPr>
          <p:nvPr/>
        </p:nvCxnSpPr>
        <p:spPr>
          <a:xfrm rot="-5400000" flipH="1" flipV="1">
            <a:off x="663575" y="2841625"/>
            <a:ext cx="914400" cy="457200"/>
          </a:xfrm>
          <a:prstGeom prst="straightConnector1">
            <a:avLst/>
          </a:prstGeom>
          <a:ln w="15875" cap="flat" cmpd="sng">
            <a:solidFill>
              <a:schemeClr val="tx1"/>
            </a:solidFill>
            <a:prstDash val="solid"/>
            <a:headEnd type="none" w="med" len="med"/>
            <a:tailEnd type="none" w="med" len="med"/>
          </a:ln>
        </p:spPr>
      </p:cxnSp>
      <p:sp>
        <p:nvSpPr>
          <p:cNvPr id="40971" name="Text Box 70"/>
          <p:cNvSpPr txBox="1"/>
          <p:nvPr/>
        </p:nvSpPr>
        <p:spPr>
          <a:xfrm>
            <a:off x="914400" y="44196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cxnSp>
        <p:nvCxnSpPr>
          <p:cNvPr id="131" name="AutoShape 23"/>
          <p:cNvCxnSpPr>
            <a:stCxn id="64" idx="3"/>
            <a:endCxn id="62" idx="3"/>
          </p:cNvCxnSpPr>
          <p:nvPr/>
        </p:nvCxnSpPr>
        <p:spPr>
          <a:xfrm rot="5400000">
            <a:off x="1241425" y="2644775"/>
            <a:ext cx="1981200" cy="1981200"/>
          </a:xfrm>
          <a:prstGeom prst="straightConnector1">
            <a:avLst/>
          </a:prstGeom>
          <a:ln w="15875" cap="flat" cmpd="sng">
            <a:solidFill>
              <a:schemeClr val="tx1"/>
            </a:solidFill>
            <a:prstDash val="solid"/>
            <a:headEnd type="none" w="med" len="med"/>
            <a:tailEnd type="none" w="med" len="med"/>
          </a:ln>
        </p:spPr>
      </p:cxnSp>
      <p:sp>
        <p:nvSpPr>
          <p:cNvPr id="40973" name="Text Box 69"/>
          <p:cNvSpPr txBox="1"/>
          <p:nvPr/>
        </p:nvSpPr>
        <p:spPr>
          <a:xfrm>
            <a:off x="2057400" y="49530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cxnSp>
        <p:nvCxnSpPr>
          <p:cNvPr id="80" name="AutoShape 25"/>
          <p:cNvCxnSpPr>
            <a:stCxn id="62" idx="5"/>
            <a:endCxn id="47" idx="1"/>
          </p:cNvCxnSpPr>
          <p:nvPr/>
        </p:nvCxnSpPr>
        <p:spPr>
          <a:xfrm rot="-5400000" flipH="1">
            <a:off x="1616075" y="4359275"/>
            <a:ext cx="349250" cy="882650"/>
          </a:xfrm>
          <a:prstGeom prst="straightConnector1">
            <a:avLst/>
          </a:prstGeom>
          <a:ln w="15875" cap="flat" cmpd="sng">
            <a:solidFill>
              <a:schemeClr val="tx1"/>
            </a:solidFill>
            <a:prstDash val="solid"/>
            <a:headEnd type="none" w="med" len="med"/>
            <a:tailEnd type="none" w="med" len="med"/>
          </a:ln>
        </p:spPr>
      </p:cxnSp>
      <p:cxnSp>
        <p:nvCxnSpPr>
          <p:cNvPr id="123" name="AutoShape 23"/>
          <p:cNvCxnSpPr>
            <a:endCxn id="47" idx="4"/>
          </p:cNvCxnSpPr>
          <p:nvPr/>
        </p:nvCxnSpPr>
        <p:spPr>
          <a:xfrm rot="5400000">
            <a:off x="1562100" y="3390900"/>
            <a:ext cx="2438400" cy="990600"/>
          </a:xfrm>
          <a:prstGeom prst="straightConnector1">
            <a:avLst/>
          </a:prstGeom>
          <a:ln w="15875" cap="flat" cmpd="sng">
            <a:solidFill>
              <a:schemeClr val="tx1"/>
            </a:solidFill>
            <a:prstDash val="solid"/>
            <a:headEnd type="none" w="med" len="med"/>
            <a:tailEnd type="none" w="med" len="med"/>
          </a:ln>
        </p:spPr>
      </p:cxnSp>
      <p:cxnSp>
        <p:nvCxnSpPr>
          <p:cNvPr id="85" name="AutoShape 25"/>
          <p:cNvCxnSpPr>
            <a:endCxn id="63" idx="3"/>
          </p:cNvCxnSpPr>
          <p:nvPr/>
        </p:nvCxnSpPr>
        <p:spPr>
          <a:xfrm flipV="1">
            <a:off x="2286000" y="4625975"/>
            <a:ext cx="1012825" cy="403225"/>
          </a:xfrm>
          <a:prstGeom prst="straightConnector1">
            <a:avLst/>
          </a:prstGeom>
          <a:ln w="15875" cap="flat" cmpd="sng">
            <a:solidFill>
              <a:schemeClr val="tx1"/>
            </a:solidFill>
            <a:prstDash val="solid"/>
            <a:headEnd type="none" w="med" len="med"/>
            <a:tailEnd type="none" w="med" len="med"/>
          </a:ln>
        </p:spPr>
      </p:cxnSp>
      <p:cxnSp>
        <p:nvCxnSpPr>
          <p:cNvPr id="40977" name="AutoShape 25"/>
          <p:cNvCxnSpPr>
            <a:stCxn id="63" idx="7"/>
            <a:endCxn id="40991" idx="4"/>
          </p:cNvCxnSpPr>
          <p:nvPr/>
        </p:nvCxnSpPr>
        <p:spPr>
          <a:xfrm rot="5400000" flipH="1" flipV="1">
            <a:off x="3140075" y="3848100"/>
            <a:ext cx="936625" cy="403225"/>
          </a:xfrm>
          <a:prstGeom prst="straightConnector1">
            <a:avLst/>
          </a:prstGeom>
          <a:ln w="15875" cap="flat" cmpd="sng">
            <a:solidFill>
              <a:schemeClr val="tx1"/>
            </a:solidFill>
            <a:prstDash val="solid"/>
            <a:headEnd type="none" w="med" len="med"/>
            <a:tailEnd type="none" w="med" len="med"/>
          </a:ln>
        </p:spPr>
      </p:cxnSp>
      <p:sp>
        <p:nvSpPr>
          <p:cNvPr id="40978" name="Text Box 67"/>
          <p:cNvSpPr txBox="1"/>
          <p:nvPr/>
        </p:nvSpPr>
        <p:spPr>
          <a:xfrm>
            <a:off x="838200" y="22860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8</a:t>
            </a:r>
            <a:endParaRPr lang="en-US" altLang="zh-TW" sz="2400" baseline="-25000" dirty="0">
              <a:latin typeface="Times New Roman" panose="02020603050405020304" pitchFamily="18" charset="0"/>
              <a:ea typeface="Times New Roman" panose="02020603050405020304" pitchFamily="18" charset="0"/>
            </a:endParaRPr>
          </a:p>
        </p:txBody>
      </p:sp>
      <p:sp>
        <p:nvSpPr>
          <p:cNvPr id="40979" name="Rectangle 3"/>
          <p:cNvSpPr>
            <a:spLocks noGrp="1"/>
          </p:cNvSpPr>
          <p:nvPr>
            <p:ph type="body" sz="half" idx="1"/>
          </p:nvPr>
        </p:nvSpPr>
        <p:spPr>
          <a:xfrm>
            <a:off x="152400" y="533400"/>
            <a:ext cx="8839200" cy="1066800"/>
          </a:xfrm>
        </p:spPr>
        <p:txBody>
          <a:bodyPr vert="horz" wrap="square" lIns="91440" tIns="45720" rIns="91440" bIns="45720" anchor="t"/>
          <a:p>
            <a:pPr eaLnBrk="1" hangingPunct="1">
              <a:buNone/>
            </a:pPr>
            <a:r>
              <a:rPr lang="en-US" altLang="zh-TW" sz="2800" b="1" dirty="0">
                <a:solidFill>
                  <a:srgbClr val="008000"/>
                </a:solidFill>
              </a:rPr>
              <a:t>Ex44.</a:t>
            </a:r>
            <a:r>
              <a:rPr lang="en-US" altLang="zh-TW" sz="2800" dirty="0"/>
              <a:t>  Determine whether the graphs </a:t>
            </a:r>
            <a:r>
              <a:rPr lang="en-US" altLang="zh-TW" sz="2800" i="1" dirty="0">
                <a:latin typeface="Times New Roman" panose="02020603050405020304" pitchFamily="18" charset="0"/>
                <a:cs typeface="Times New Roman" panose="02020603050405020304" pitchFamily="18" charset="0"/>
              </a:rPr>
              <a:t>G</a:t>
            </a:r>
            <a:r>
              <a:rPr lang="en-US" altLang="zh-TW" sz="2800" dirty="0"/>
              <a:t> and </a:t>
            </a:r>
            <a:r>
              <a:rPr lang="en-US" altLang="zh-TW" sz="2800" i="1" dirty="0">
                <a:latin typeface="Times New Roman" panose="02020603050405020304" pitchFamily="18" charset="0"/>
                <a:cs typeface="Times New Roman" panose="02020603050405020304" pitchFamily="18" charset="0"/>
              </a:rPr>
              <a:t>H</a:t>
            </a:r>
            <a:r>
              <a:rPr lang="en-US" altLang="zh-TW" sz="2800" dirty="0"/>
              <a:t> are isomorphic.</a:t>
            </a:r>
            <a:endParaRPr lang="en-US" altLang="zh-TW" sz="2800" dirty="0"/>
          </a:p>
        </p:txBody>
      </p:sp>
      <p:sp>
        <p:nvSpPr>
          <p:cNvPr id="40980" name="Oval 7"/>
          <p:cNvSpPr/>
          <p:nvPr/>
        </p:nvSpPr>
        <p:spPr>
          <a:xfrm>
            <a:off x="2209800" y="2209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40981" name="AutoShape 23"/>
          <p:cNvCxnSpPr>
            <a:stCxn id="40980" idx="4"/>
            <a:endCxn id="47" idx="0"/>
          </p:cNvCxnSpPr>
          <p:nvPr/>
        </p:nvCxnSpPr>
        <p:spPr>
          <a:xfrm rot="5400000">
            <a:off x="990600" y="3657600"/>
            <a:ext cx="2590800" cy="3175"/>
          </a:xfrm>
          <a:prstGeom prst="straightConnector1">
            <a:avLst/>
          </a:prstGeom>
          <a:ln w="15875" cap="flat" cmpd="sng">
            <a:solidFill>
              <a:schemeClr val="tx1"/>
            </a:solidFill>
            <a:prstDash val="solid"/>
            <a:headEnd type="none" w="med" len="med"/>
            <a:tailEnd type="none" w="med" len="med"/>
          </a:ln>
        </p:spPr>
      </p:cxnSp>
      <p:cxnSp>
        <p:nvCxnSpPr>
          <p:cNvPr id="40982" name="AutoShape 25"/>
          <p:cNvCxnSpPr>
            <a:stCxn id="40980" idx="6"/>
            <a:endCxn id="64" idx="1"/>
          </p:cNvCxnSpPr>
          <p:nvPr/>
        </p:nvCxnSpPr>
        <p:spPr>
          <a:xfrm>
            <a:off x="2362200" y="2286000"/>
            <a:ext cx="860425" cy="250825"/>
          </a:xfrm>
          <a:prstGeom prst="straightConnector1">
            <a:avLst/>
          </a:prstGeom>
          <a:ln w="15875" cap="flat" cmpd="sng">
            <a:solidFill>
              <a:schemeClr val="tx1"/>
            </a:solidFill>
            <a:prstDash val="solid"/>
            <a:headEnd type="none" w="med" len="med"/>
            <a:tailEnd type="none" w="med" len="med"/>
          </a:ln>
        </p:spPr>
      </p:cxnSp>
      <p:sp>
        <p:nvSpPr>
          <p:cNvPr id="40983" name="Text Box 56"/>
          <p:cNvSpPr txBox="1"/>
          <p:nvPr/>
        </p:nvSpPr>
        <p:spPr>
          <a:xfrm>
            <a:off x="1143000" y="15240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endParaRPr lang="en-US" altLang="zh-TW" sz="2400" i="1" dirty="0">
              <a:latin typeface="Times New Roman" panose="02020603050405020304" pitchFamily="18" charset="0"/>
              <a:ea typeface="Times New Roman" panose="02020603050405020304" pitchFamily="18" charset="0"/>
            </a:endParaRPr>
          </a:p>
        </p:txBody>
      </p:sp>
      <p:sp>
        <p:nvSpPr>
          <p:cNvPr id="40984" name="Text Box 57"/>
          <p:cNvSpPr txBox="1"/>
          <p:nvPr/>
        </p:nvSpPr>
        <p:spPr>
          <a:xfrm>
            <a:off x="7391400" y="16002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H</a:t>
            </a:r>
            <a:endParaRPr lang="en-US" altLang="zh-TW" sz="2400" i="1" dirty="0">
              <a:latin typeface="Times New Roman" panose="02020603050405020304" pitchFamily="18" charset="0"/>
              <a:ea typeface="Times New Roman" panose="02020603050405020304" pitchFamily="18" charset="0"/>
            </a:endParaRPr>
          </a:p>
        </p:txBody>
      </p:sp>
      <p:sp>
        <p:nvSpPr>
          <p:cNvPr id="40985" name="Text Box 65"/>
          <p:cNvSpPr txBox="1"/>
          <p:nvPr/>
        </p:nvSpPr>
        <p:spPr>
          <a:xfrm>
            <a:off x="2057400" y="17526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40986" name="Text Box 66"/>
          <p:cNvSpPr txBox="1"/>
          <p:nvPr/>
        </p:nvSpPr>
        <p:spPr>
          <a:xfrm>
            <a:off x="3276600" y="21336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40987" name="Text Box 67"/>
          <p:cNvSpPr txBox="1"/>
          <p:nvPr/>
        </p:nvSpPr>
        <p:spPr>
          <a:xfrm>
            <a:off x="457200" y="34290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7</a:t>
            </a:r>
            <a:endParaRPr lang="en-US" altLang="zh-TW" sz="2400" baseline="-25000" dirty="0">
              <a:latin typeface="Times New Roman" panose="02020603050405020304" pitchFamily="18" charset="0"/>
              <a:ea typeface="Times New Roman" panose="02020603050405020304" pitchFamily="18" charset="0"/>
            </a:endParaRPr>
          </a:p>
        </p:txBody>
      </p:sp>
      <p:sp>
        <p:nvSpPr>
          <p:cNvPr id="40988" name="Text Box 68"/>
          <p:cNvSpPr txBox="1"/>
          <p:nvPr/>
        </p:nvSpPr>
        <p:spPr>
          <a:xfrm>
            <a:off x="3352800" y="44958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47" name="Oval 7"/>
          <p:cNvSpPr/>
          <p:nvPr/>
        </p:nvSpPr>
        <p:spPr>
          <a:xfrm>
            <a:off x="2209800" y="4953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0990" name="Oval 7"/>
          <p:cNvSpPr/>
          <p:nvPr/>
        </p:nvSpPr>
        <p:spPr>
          <a:xfrm>
            <a:off x="762000" y="3505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0991" name="Oval 7"/>
          <p:cNvSpPr/>
          <p:nvPr/>
        </p:nvSpPr>
        <p:spPr>
          <a:xfrm>
            <a:off x="3733800" y="3429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60" name="Oval 7"/>
          <p:cNvSpPr/>
          <p:nvPr/>
        </p:nvSpPr>
        <p:spPr>
          <a:xfrm>
            <a:off x="1219200" y="2590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62" name="Oval 7"/>
          <p:cNvSpPr/>
          <p:nvPr/>
        </p:nvSpPr>
        <p:spPr>
          <a:xfrm>
            <a:off x="1219200" y="4495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63" name="Oval 7"/>
          <p:cNvSpPr/>
          <p:nvPr/>
        </p:nvSpPr>
        <p:spPr>
          <a:xfrm>
            <a:off x="3276600" y="4495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64" name="Oval 7"/>
          <p:cNvSpPr/>
          <p:nvPr/>
        </p:nvSpPr>
        <p:spPr>
          <a:xfrm>
            <a:off x="3200400" y="2514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40996" name="AutoShape 25"/>
          <p:cNvCxnSpPr>
            <a:stCxn id="64" idx="5"/>
            <a:endCxn id="40991" idx="0"/>
          </p:cNvCxnSpPr>
          <p:nvPr/>
        </p:nvCxnSpPr>
        <p:spPr>
          <a:xfrm rot="-5400000" flipH="1">
            <a:off x="3178175" y="2797175"/>
            <a:ext cx="784225" cy="479425"/>
          </a:xfrm>
          <a:prstGeom prst="straightConnector1">
            <a:avLst/>
          </a:prstGeom>
          <a:ln w="15875" cap="flat" cmpd="sng">
            <a:solidFill>
              <a:schemeClr val="tx1"/>
            </a:solidFill>
            <a:prstDash val="solid"/>
            <a:headEnd type="none" w="med" len="med"/>
            <a:tailEnd type="none" w="med" len="med"/>
          </a:ln>
        </p:spPr>
      </p:cxnSp>
      <p:cxnSp>
        <p:nvCxnSpPr>
          <p:cNvPr id="40997" name="AutoShape 25"/>
          <p:cNvCxnSpPr>
            <a:stCxn id="40990" idx="5"/>
            <a:endCxn id="62" idx="1"/>
          </p:cNvCxnSpPr>
          <p:nvPr/>
        </p:nvCxnSpPr>
        <p:spPr>
          <a:xfrm rot="-5400000" flipH="1">
            <a:off x="625475" y="3902075"/>
            <a:ext cx="882650" cy="349250"/>
          </a:xfrm>
          <a:prstGeom prst="straightConnector1">
            <a:avLst/>
          </a:prstGeom>
          <a:ln w="15875" cap="flat" cmpd="sng">
            <a:solidFill>
              <a:schemeClr val="tx1"/>
            </a:solidFill>
            <a:prstDash val="solid"/>
            <a:headEnd type="none" w="med" len="med"/>
            <a:tailEnd type="none" w="med" len="med"/>
          </a:ln>
        </p:spPr>
      </p:cxnSp>
      <p:cxnSp>
        <p:nvCxnSpPr>
          <p:cNvPr id="40998" name="AutoShape 25"/>
          <p:cNvCxnSpPr>
            <a:stCxn id="60" idx="7"/>
            <a:endCxn id="40980" idx="2"/>
          </p:cNvCxnSpPr>
          <p:nvPr/>
        </p:nvCxnSpPr>
        <p:spPr>
          <a:xfrm rot="5400000" flipH="1" flipV="1">
            <a:off x="1616075" y="2019300"/>
            <a:ext cx="327025" cy="860425"/>
          </a:xfrm>
          <a:prstGeom prst="straightConnector1">
            <a:avLst/>
          </a:prstGeom>
          <a:ln w="15875" cap="flat" cmpd="sng">
            <a:solidFill>
              <a:schemeClr val="tx1"/>
            </a:solidFill>
            <a:prstDash val="solid"/>
            <a:headEnd type="none" w="med" len="med"/>
            <a:tailEnd type="none" w="med" len="med"/>
          </a:ln>
        </p:spPr>
      </p:cxnSp>
      <p:cxnSp>
        <p:nvCxnSpPr>
          <p:cNvPr id="40999" name="AutoShape 25"/>
          <p:cNvCxnSpPr>
            <a:stCxn id="62" idx="6"/>
            <a:endCxn id="40991" idx="3"/>
          </p:cNvCxnSpPr>
          <p:nvPr/>
        </p:nvCxnSpPr>
        <p:spPr>
          <a:xfrm flipV="1">
            <a:off x="1371600" y="3559175"/>
            <a:ext cx="2384425" cy="1012825"/>
          </a:xfrm>
          <a:prstGeom prst="straightConnector1">
            <a:avLst/>
          </a:prstGeom>
          <a:ln w="15875" cap="flat" cmpd="sng">
            <a:solidFill>
              <a:schemeClr val="tx1"/>
            </a:solidFill>
            <a:prstDash val="solid"/>
            <a:headEnd type="none" w="med" len="med"/>
            <a:tailEnd type="none" w="med" len="med"/>
          </a:ln>
        </p:spPr>
      </p:cxnSp>
      <p:cxnSp>
        <p:nvCxnSpPr>
          <p:cNvPr id="97" name="AutoShape 23"/>
          <p:cNvCxnSpPr>
            <a:endCxn id="47" idx="1"/>
          </p:cNvCxnSpPr>
          <p:nvPr/>
        </p:nvCxnSpPr>
        <p:spPr>
          <a:xfrm rot="-5400000" flipH="1">
            <a:off x="647700" y="3390900"/>
            <a:ext cx="2232025" cy="935038"/>
          </a:xfrm>
          <a:prstGeom prst="straightConnector1">
            <a:avLst/>
          </a:prstGeom>
          <a:ln w="15875" cap="flat" cmpd="sng">
            <a:solidFill>
              <a:schemeClr val="tx1"/>
            </a:solidFill>
            <a:prstDash val="solid"/>
            <a:headEnd type="none" w="med" len="med"/>
            <a:tailEnd type="none" w="med" len="med"/>
          </a:ln>
        </p:spPr>
      </p:cxnSp>
      <p:cxnSp>
        <p:nvCxnSpPr>
          <p:cNvPr id="41001" name="AutoShape 23"/>
          <p:cNvCxnSpPr>
            <a:stCxn id="40980" idx="5"/>
            <a:endCxn id="63" idx="1"/>
          </p:cNvCxnSpPr>
          <p:nvPr/>
        </p:nvCxnSpPr>
        <p:spPr>
          <a:xfrm rot="-5400000" flipH="1">
            <a:off x="1730375" y="2949575"/>
            <a:ext cx="2178050" cy="958850"/>
          </a:xfrm>
          <a:prstGeom prst="straightConnector1">
            <a:avLst/>
          </a:prstGeom>
          <a:ln w="15875" cap="flat" cmpd="sng">
            <a:solidFill>
              <a:schemeClr val="tx1"/>
            </a:solidFill>
            <a:prstDash val="solid"/>
            <a:headEnd type="none" w="med" len="med"/>
            <a:tailEnd type="none" w="med" len="med"/>
          </a:ln>
        </p:spPr>
      </p:cxnSp>
      <p:cxnSp>
        <p:nvCxnSpPr>
          <p:cNvPr id="41002" name="AutoShape 25"/>
          <p:cNvCxnSpPr>
            <a:endCxn id="40991" idx="2"/>
          </p:cNvCxnSpPr>
          <p:nvPr/>
        </p:nvCxnSpPr>
        <p:spPr>
          <a:xfrm flipV="1">
            <a:off x="914400" y="3505200"/>
            <a:ext cx="2819400" cy="53975"/>
          </a:xfrm>
          <a:prstGeom prst="straightConnector1">
            <a:avLst/>
          </a:prstGeom>
          <a:ln w="15875" cap="flat" cmpd="sng">
            <a:solidFill>
              <a:schemeClr val="tx1"/>
            </a:solidFill>
            <a:prstDash val="solid"/>
            <a:headEnd type="none" w="med" len="med"/>
            <a:tailEnd type="none" w="med" len="med"/>
          </a:ln>
        </p:spPr>
      </p:cxnSp>
      <p:cxnSp>
        <p:nvCxnSpPr>
          <p:cNvPr id="41003" name="AutoShape 25"/>
          <p:cNvCxnSpPr>
            <a:stCxn id="40990" idx="5"/>
            <a:endCxn id="63" idx="2"/>
          </p:cNvCxnSpPr>
          <p:nvPr/>
        </p:nvCxnSpPr>
        <p:spPr>
          <a:xfrm rot="-5400000" flipH="1">
            <a:off x="1616075" y="2911475"/>
            <a:ext cx="936625" cy="2384425"/>
          </a:xfrm>
          <a:prstGeom prst="straightConnector1">
            <a:avLst/>
          </a:prstGeom>
          <a:ln w="15875" cap="flat" cmpd="sng">
            <a:solidFill>
              <a:schemeClr val="tx1"/>
            </a:solidFill>
            <a:prstDash val="solid"/>
            <a:headEnd type="none" w="med" len="med"/>
            <a:tailEnd type="none" w="med" len="med"/>
          </a:ln>
        </p:spPr>
      </p:cxnSp>
      <p:sp>
        <p:nvSpPr>
          <p:cNvPr id="41004" name="Text Box 66"/>
          <p:cNvSpPr txBox="1"/>
          <p:nvPr/>
        </p:nvSpPr>
        <p:spPr>
          <a:xfrm>
            <a:off x="3810000" y="32004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41005" name="Oval 7"/>
          <p:cNvSpPr/>
          <p:nvPr/>
        </p:nvSpPr>
        <p:spPr>
          <a:xfrm>
            <a:off x="6477000" y="2133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41006" name="AutoShape 23"/>
          <p:cNvCxnSpPr>
            <a:stCxn id="41005" idx="4"/>
            <a:endCxn id="152" idx="0"/>
          </p:cNvCxnSpPr>
          <p:nvPr/>
        </p:nvCxnSpPr>
        <p:spPr>
          <a:xfrm rot="5400000">
            <a:off x="5257800" y="3581400"/>
            <a:ext cx="2590800" cy="3175"/>
          </a:xfrm>
          <a:prstGeom prst="straightConnector1">
            <a:avLst/>
          </a:prstGeom>
          <a:ln w="15875" cap="flat" cmpd="sng">
            <a:solidFill>
              <a:schemeClr val="tx1"/>
            </a:solidFill>
            <a:prstDash val="solid"/>
            <a:headEnd type="none" w="med" len="med"/>
            <a:tailEnd type="none" w="med" len="med"/>
          </a:ln>
        </p:spPr>
      </p:cxnSp>
      <p:cxnSp>
        <p:nvCxnSpPr>
          <p:cNvPr id="41007" name="AutoShape 25"/>
          <p:cNvCxnSpPr>
            <a:stCxn id="41005" idx="6"/>
            <a:endCxn id="158" idx="1"/>
          </p:cNvCxnSpPr>
          <p:nvPr/>
        </p:nvCxnSpPr>
        <p:spPr>
          <a:xfrm>
            <a:off x="6629400" y="2209800"/>
            <a:ext cx="860425" cy="250825"/>
          </a:xfrm>
          <a:prstGeom prst="straightConnector1">
            <a:avLst/>
          </a:prstGeom>
          <a:ln w="15875" cap="flat" cmpd="sng">
            <a:solidFill>
              <a:schemeClr val="tx1"/>
            </a:solidFill>
            <a:prstDash val="solid"/>
            <a:headEnd type="none" w="med" len="med"/>
            <a:tailEnd type="none" w="med" len="med"/>
          </a:ln>
        </p:spPr>
      </p:cxnSp>
      <p:sp>
        <p:nvSpPr>
          <p:cNvPr id="41008" name="Text Box 65"/>
          <p:cNvSpPr txBox="1"/>
          <p:nvPr/>
        </p:nvSpPr>
        <p:spPr>
          <a:xfrm>
            <a:off x="6324600" y="16764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41009" name="Text Box 66"/>
          <p:cNvSpPr txBox="1"/>
          <p:nvPr/>
        </p:nvSpPr>
        <p:spPr>
          <a:xfrm>
            <a:off x="7543800" y="20574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41010" name="Text Box 67"/>
          <p:cNvSpPr txBox="1"/>
          <p:nvPr/>
        </p:nvSpPr>
        <p:spPr>
          <a:xfrm>
            <a:off x="4724400" y="33528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7</a:t>
            </a:r>
            <a:endParaRPr lang="en-US" altLang="zh-TW" sz="2400" baseline="-25000" dirty="0">
              <a:latin typeface="Times New Roman" panose="02020603050405020304" pitchFamily="18" charset="0"/>
              <a:ea typeface="Times New Roman" panose="02020603050405020304" pitchFamily="18" charset="0"/>
            </a:endParaRPr>
          </a:p>
        </p:txBody>
      </p:sp>
      <p:sp>
        <p:nvSpPr>
          <p:cNvPr id="41011" name="Text Box 68"/>
          <p:cNvSpPr txBox="1"/>
          <p:nvPr/>
        </p:nvSpPr>
        <p:spPr>
          <a:xfrm>
            <a:off x="7620000" y="44196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41012" name="Text Box 69"/>
          <p:cNvSpPr txBox="1"/>
          <p:nvPr/>
        </p:nvSpPr>
        <p:spPr>
          <a:xfrm>
            <a:off x="6324600" y="48768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41013" name="Text Box 70"/>
          <p:cNvSpPr txBox="1"/>
          <p:nvPr/>
        </p:nvSpPr>
        <p:spPr>
          <a:xfrm>
            <a:off x="5181600" y="43434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sp>
        <p:nvSpPr>
          <p:cNvPr id="152" name="Oval 7"/>
          <p:cNvSpPr/>
          <p:nvPr/>
        </p:nvSpPr>
        <p:spPr>
          <a:xfrm>
            <a:off x="6477000" y="4876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153" name="Oval 7"/>
          <p:cNvSpPr/>
          <p:nvPr/>
        </p:nvSpPr>
        <p:spPr>
          <a:xfrm>
            <a:off x="5029200" y="3429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154" name="Oval 7"/>
          <p:cNvSpPr/>
          <p:nvPr/>
        </p:nvSpPr>
        <p:spPr>
          <a:xfrm>
            <a:off x="8001000" y="3352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155" name="Oval 7"/>
          <p:cNvSpPr/>
          <p:nvPr/>
        </p:nvSpPr>
        <p:spPr>
          <a:xfrm>
            <a:off x="5486400" y="2514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1018" name="Oval 7"/>
          <p:cNvSpPr/>
          <p:nvPr/>
        </p:nvSpPr>
        <p:spPr>
          <a:xfrm>
            <a:off x="5486400" y="4419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1019" name="Oval 7"/>
          <p:cNvSpPr/>
          <p:nvPr/>
        </p:nvSpPr>
        <p:spPr>
          <a:xfrm>
            <a:off x="7543800" y="4419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158" name="Oval 7"/>
          <p:cNvSpPr/>
          <p:nvPr/>
        </p:nvSpPr>
        <p:spPr>
          <a:xfrm>
            <a:off x="7467600" y="2438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159" name="AutoShape 25"/>
          <p:cNvCxnSpPr>
            <a:stCxn id="158" idx="5"/>
            <a:endCxn id="154" idx="0"/>
          </p:cNvCxnSpPr>
          <p:nvPr/>
        </p:nvCxnSpPr>
        <p:spPr>
          <a:xfrm rot="-5400000" flipH="1">
            <a:off x="7445375" y="2720975"/>
            <a:ext cx="784225" cy="479425"/>
          </a:xfrm>
          <a:prstGeom prst="straightConnector1">
            <a:avLst/>
          </a:prstGeom>
          <a:ln w="15875" cap="flat" cmpd="sng">
            <a:solidFill>
              <a:schemeClr val="tx1"/>
            </a:solidFill>
            <a:prstDash val="solid"/>
            <a:headEnd type="none" w="med" len="med"/>
            <a:tailEnd type="none" w="med" len="med"/>
          </a:ln>
        </p:spPr>
      </p:cxnSp>
      <p:cxnSp>
        <p:nvCxnSpPr>
          <p:cNvPr id="160" name="AutoShape 25"/>
          <p:cNvCxnSpPr>
            <a:endCxn id="153" idx="0"/>
          </p:cNvCxnSpPr>
          <p:nvPr/>
        </p:nvCxnSpPr>
        <p:spPr>
          <a:xfrm rot="5400000">
            <a:off x="4953000" y="2819400"/>
            <a:ext cx="762000" cy="457200"/>
          </a:xfrm>
          <a:prstGeom prst="straightConnector1">
            <a:avLst/>
          </a:prstGeom>
          <a:ln w="15875" cap="flat" cmpd="sng">
            <a:solidFill>
              <a:schemeClr val="tx1"/>
            </a:solidFill>
            <a:prstDash val="solid"/>
            <a:headEnd type="none" w="med" len="med"/>
            <a:tailEnd type="none" w="med" len="med"/>
          </a:ln>
        </p:spPr>
      </p:cxnSp>
      <p:cxnSp>
        <p:nvCxnSpPr>
          <p:cNvPr id="41023" name="AutoShape 25"/>
          <p:cNvCxnSpPr>
            <a:stCxn id="41019" idx="7"/>
            <a:endCxn id="154" idx="4"/>
          </p:cNvCxnSpPr>
          <p:nvPr/>
        </p:nvCxnSpPr>
        <p:spPr>
          <a:xfrm rot="5400000" flipH="1" flipV="1">
            <a:off x="7407275" y="3771900"/>
            <a:ext cx="936625" cy="403225"/>
          </a:xfrm>
          <a:prstGeom prst="straightConnector1">
            <a:avLst/>
          </a:prstGeom>
          <a:ln w="15875" cap="flat" cmpd="sng">
            <a:solidFill>
              <a:schemeClr val="tx1"/>
            </a:solidFill>
            <a:prstDash val="solid"/>
            <a:headEnd type="none" w="med" len="med"/>
            <a:tailEnd type="none" w="med" len="med"/>
          </a:ln>
        </p:spPr>
      </p:cxnSp>
      <p:cxnSp>
        <p:nvCxnSpPr>
          <p:cNvPr id="41024" name="AutoShape 25"/>
          <p:cNvCxnSpPr>
            <a:stCxn id="155" idx="7"/>
            <a:endCxn id="41005" idx="2"/>
          </p:cNvCxnSpPr>
          <p:nvPr/>
        </p:nvCxnSpPr>
        <p:spPr>
          <a:xfrm rot="5400000" flipH="1" flipV="1">
            <a:off x="5883275" y="1943100"/>
            <a:ext cx="327025" cy="860425"/>
          </a:xfrm>
          <a:prstGeom prst="straightConnector1">
            <a:avLst/>
          </a:prstGeom>
          <a:ln w="15875" cap="flat" cmpd="sng">
            <a:solidFill>
              <a:schemeClr val="tx1"/>
            </a:solidFill>
            <a:prstDash val="solid"/>
            <a:headEnd type="none" w="med" len="med"/>
            <a:tailEnd type="none" w="med" len="med"/>
          </a:ln>
        </p:spPr>
      </p:cxnSp>
      <p:cxnSp>
        <p:nvCxnSpPr>
          <p:cNvPr id="166" name="AutoShape 25"/>
          <p:cNvCxnSpPr>
            <a:stCxn id="155" idx="6"/>
            <a:endCxn id="158" idx="2"/>
          </p:cNvCxnSpPr>
          <p:nvPr/>
        </p:nvCxnSpPr>
        <p:spPr>
          <a:xfrm flipV="1">
            <a:off x="5638800" y="2514600"/>
            <a:ext cx="1828800" cy="76200"/>
          </a:xfrm>
          <a:prstGeom prst="straightConnector1">
            <a:avLst/>
          </a:prstGeom>
          <a:ln w="15875" cap="flat" cmpd="sng">
            <a:solidFill>
              <a:schemeClr val="tx1"/>
            </a:solidFill>
            <a:prstDash val="solid"/>
            <a:headEnd type="none" w="med" len="med"/>
            <a:tailEnd type="none" w="med" len="med"/>
          </a:ln>
        </p:spPr>
      </p:cxnSp>
      <p:cxnSp>
        <p:nvCxnSpPr>
          <p:cNvPr id="41026" name="AutoShape 25"/>
          <p:cNvCxnSpPr>
            <a:stCxn id="41005" idx="5"/>
            <a:endCxn id="154" idx="1"/>
          </p:cNvCxnSpPr>
          <p:nvPr/>
        </p:nvCxnSpPr>
        <p:spPr>
          <a:xfrm rot="-5400000" flipH="1">
            <a:off x="6759575" y="2111375"/>
            <a:ext cx="1111250" cy="1416050"/>
          </a:xfrm>
          <a:prstGeom prst="straightConnector1">
            <a:avLst/>
          </a:prstGeom>
          <a:ln w="15875" cap="flat" cmpd="sng">
            <a:solidFill>
              <a:schemeClr val="tx1"/>
            </a:solidFill>
            <a:prstDash val="solid"/>
            <a:headEnd type="none" w="med" len="med"/>
            <a:tailEnd type="none" w="med" len="med"/>
          </a:ln>
        </p:spPr>
      </p:cxnSp>
      <p:cxnSp>
        <p:nvCxnSpPr>
          <p:cNvPr id="41027" name="AutoShape 23"/>
          <p:cNvCxnSpPr>
            <a:endCxn id="41018" idx="0"/>
          </p:cNvCxnSpPr>
          <p:nvPr/>
        </p:nvCxnSpPr>
        <p:spPr>
          <a:xfrm rot="5400000">
            <a:off x="4686300" y="3541713"/>
            <a:ext cx="1752600" cy="1587"/>
          </a:xfrm>
          <a:prstGeom prst="straightConnector1">
            <a:avLst/>
          </a:prstGeom>
          <a:ln w="15875" cap="flat" cmpd="sng">
            <a:solidFill>
              <a:schemeClr val="tx1"/>
            </a:solidFill>
            <a:prstDash val="solid"/>
            <a:headEnd type="none" w="med" len="med"/>
            <a:tailEnd type="none" w="med" len="med"/>
          </a:ln>
        </p:spPr>
      </p:cxnSp>
      <p:cxnSp>
        <p:nvCxnSpPr>
          <p:cNvPr id="41028" name="AutoShape 23"/>
          <p:cNvCxnSpPr>
            <a:stCxn id="158" idx="4"/>
            <a:endCxn id="41019" idx="0"/>
          </p:cNvCxnSpPr>
          <p:nvPr/>
        </p:nvCxnSpPr>
        <p:spPr>
          <a:xfrm rot="-5400000" flipH="1">
            <a:off x="6667500" y="3467100"/>
            <a:ext cx="1828800" cy="76200"/>
          </a:xfrm>
          <a:prstGeom prst="straightConnector1">
            <a:avLst/>
          </a:prstGeom>
          <a:ln w="15875" cap="flat" cmpd="sng">
            <a:solidFill>
              <a:schemeClr val="tx1"/>
            </a:solidFill>
            <a:prstDash val="solid"/>
            <a:headEnd type="none" w="med" len="med"/>
            <a:tailEnd type="none" w="med" len="med"/>
          </a:ln>
        </p:spPr>
      </p:cxnSp>
      <p:cxnSp>
        <p:nvCxnSpPr>
          <p:cNvPr id="170" name="AutoShape 23"/>
          <p:cNvCxnSpPr>
            <a:stCxn id="154" idx="3"/>
            <a:endCxn id="152" idx="7"/>
          </p:cNvCxnSpPr>
          <p:nvPr/>
        </p:nvCxnSpPr>
        <p:spPr>
          <a:xfrm rot="5400000">
            <a:off x="6607175" y="3482975"/>
            <a:ext cx="1416050" cy="1416050"/>
          </a:xfrm>
          <a:prstGeom prst="straightConnector1">
            <a:avLst/>
          </a:prstGeom>
          <a:ln w="15875" cap="flat" cmpd="sng">
            <a:solidFill>
              <a:schemeClr val="tx1"/>
            </a:solidFill>
            <a:prstDash val="solid"/>
            <a:headEnd type="none" w="med" len="med"/>
            <a:tailEnd type="none" w="med" len="med"/>
          </a:ln>
        </p:spPr>
      </p:cxnSp>
      <p:cxnSp>
        <p:nvCxnSpPr>
          <p:cNvPr id="41030" name="AutoShape 23"/>
          <p:cNvCxnSpPr>
            <a:stCxn id="41019" idx="2"/>
            <a:endCxn id="41018" idx="3"/>
          </p:cNvCxnSpPr>
          <p:nvPr/>
        </p:nvCxnSpPr>
        <p:spPr>
          <a:xfrm rot="-10800000" flipV="1">
            <a:off x="5508625" y="4495800"/>
            <a:ext cx="2035175" cy="53975"/>
          </a:xfrm>
          <a:prstGeom prst="straightConnector1">
            <a:avLst/>
          </a:prstGeom>
          <a:ln w="15875" cap="flat" cmpd="sng">
            <a:solidFill>
              <a:schemeClr val="tx1"/>
            </a:solidFill>
            <a:prstDash val="solid"/>
            <a:headEnd type="none" w="med" len="med"/>
            <a:tailEnd type="none" w="med" len="med"/>
          </a:ln>
        </p:spPr>
      </p:cxnSp>
      <p:cxnSp>
        <p:nvCxnSpPr>
          <p:cNvPr id="41031" name="AutoShape 23"/>
          <p:cNvCxnSpPr>
            <a:stCxn id="155" idx="5"/>
            <a:endCxn id="41019" idx="5"/>
          </p:cNvCxnSpPr>
          <p:nvPr/>
        </p:nvCxnSpPr>
        <p:spPr>
          <a:xfrm rot="-5400000" flipH="1">
            <a:off x="5692775" y="2568575"/>
            <a:ext cx="1905000" cy="2057400"/>
          </a:xfrm>
          <a:prstGeom prst="straightConnector1">
            <a:avLst/>
          </a:prstGeom>
          <a:ln w="15875" cap="flat" cmpd="sng">
            <a:solidFill>
              <a:schemeClr val="tx1"/>
            </a:solidFill>
            <a:prstDash val="solid"/>
            <a:headEnd type="none" w="med" len="med"/>
            <a:tailEnd type="none" w="med" len="med"/>
          </a:ln>
        </p:spPr>
      </p:cxnSp>
      <p:cxnSp>
        <p:nvCxnSpPr>
          <p:cNvPr id="41032" name="AutoShape 23"/>
          <p:cNvCxnSpPr>
            <a:stCxn id="158" idx="3"/>
            <a:endCxn id="41018" idx="3"/>
          </p:cNvCxnSpPr>
          <p:nvPr/>
        </p:nvCxnSpPr>
        <p:spPr>
          <a:xfrm rot="5400000">
            <a:off x="5508625" y="2568575"/>
            <a:ext cx="1981200" cy="1981200"/>
          </a:xfrm>
          <a:prstGeom prst="straightConnector1">
            <a:avLst/>
          </a:prstGeom>
          <a:ln w="15875" cap="flat" cmpd="sng">
            <a:solidFill>
              <a:schemeClr val="tx1"/>
            </a:solidFill>
            <a:prstDash val="solid"/>
            <a:headEnd type="none" w="med" len="med"/>
            <a:tailEnd type="none" w="med" len="med"/>
          </a:ln>
        </p:spPr>
      </p:cxnSp>
      <p:cxnSp>
        <p:nvCxnSpPr>
          <p:cNvPr id="175" name="AutoShape 25"/>
          <p:cNvCxnSpPr>
            <a:endCxn id="154" idx="2"/>
          </p:cNvCxnSpPr>
          <p:nvPr/>
        </p:nvCxnSpPr>
        <p:spPr>
          <a:xfrm flipV="1">
            <a:off x="5181600" y="3429000"/>
            <a:ext cx="2819400" cy="53975"/>
          </a:xfrm>
          <a:prstGeom prst="straightConnector1">
            <a:avLst/>
          </a:prstGeom>
          <a:ln w="15875" cap="flat" cmpd="sng">
            <a:solidFill>
              <a:schemeClr val="tx1"/>
            </a:solidFill>
            <a:prstDash val="solid"/>
            <a:headEnd type="none" w="med" len="med"/>
            <a:tailEnd type="none" w="med" len="med"/>
          </a:ln>
        </p:spPr>
      </p:cxnSp>
      <p:cxnSp>
        <p:nvCxnSpPr>
          <p:cNvPr id="41034" name="AutoShape 25"/>
          <p:cNvCxnSpPr>
            <a:stCxn id="153" idx="7"/>
            <a:endCxn id="41005" idx="3"/>
          </p:cNvCxnSpPr>
          <p:nvPr/>
        </p:nvCxnSpPr>
        <p:spPr>
          <a:xfrm rot="5400000" flipH="1" flipV="1">
            <a:off x="5235575" y="2187575"/>
            <a:ext cx="1187450" cy="1339850"/>
          </a:xfrm>
          <a:prstGeom prst="straightConnector1">
            <a:avLst/>
          </a:prstGeom>
          <a:ln w="15875" cap="flat" cmpd="sng">
            <a:solidFill>
              <a:schemeClr val="tx1"/>
            </a:solidFill>
            <a:prstDash val="solid"/>
            <a:headEnd type="none" w="med" len="med"/>
            <a:tailEnd type="none" w="med" len="med"/>
          </a:ln>
        </p:spPr>
      </p:cxnSp>
      <p:sp>
        <p:nvSpPr>
          <p:cNvPr id="41035" name="Text Box 66"/>
          <p:cNvSpPr txBox="1"/>
          <p:nvPr/>
        </p:nvSpPr>
        <p:spPr>
          <a:xfrm>
            <a:off x="8077200" y="31242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41036" name="Text Box 67"/>
          <p:cNvSpPr txBox="1"/>
          <p:nvPr/>
        </p:nvSpPr>
        <p:spPr>
          <a:xfrm>
            <a:off x="5105400" y="22098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8</a:t>
            </a:r>
            <a:endParaRPr lang="en-US" altLang="zh-TW" sz="2400" baseline="-25000" dirty="0">
              <a:latin typeface="Times New Roman" panose="02020603050405020304" pitchFamily="18" charset="0"/>
              <a:ea typeface="Times New Roman" panose="02020603050405020304" pitchFamily="18" charset="0"/>
            </a:endParaRPr>
          </a:p>
        </p:txBody>
      </p:sp>
      <p:sp>
        <p:nvSpPr>
          <p:cNvPr id="41037" name="投影片編號版面配置區 77"/>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78" name="文字方塊 77"/>
          <p:cNvSpPr txBox="1"/>
          <p:nvPr/>
        </p:nvSpPr>
        <p:spPr>
          <a:xfrm>
            <a:off x="457200" y="5486400"/>
            <a:ext cx="6402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CN" sz="1800" i="1" dirty="0"/>
              <a:t>v</a:t>
            </a:r>
            <a:r>
              <a:rPr lang="en-US" altLang="zh-TW" sz="1800" baseline="-25000" dirty="0"/>
              <a:t>1</a:t>
            </a:r>
            <a:r>
              <a:rPr lang="en-US" altLang="zh-TW" sz="1800" dirty="0"/>
              <a:t> has 5   neighbors, and the 5 neighbors can form a 5-cycle; </a:t>
            </a:r>
            <a:endParaRPr lang="zh-TW" altLang="en-US" sz="1800" dirty="0"/>
          </a:p>
        </p:txBody>
      </p:sp>
      <p:sp>
        <p:nvSpPr>
          <p:cNvPr id="79" name="文字方塊 78"/>
          <p:cNvSpPr txBox="1"/>
          <p:nvPr/>
        </p:nvSpPr>
        <p:spPr>
          <a:xfrm>
            <a:off x="457200" y="5791200"/>
            <a:ext cx="7154863" cy="7937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CN" sz="2000" i="1" dirty="0">
                <a:latin typeface="Times New Roman" panose="02020603050405020304" pitchFamily="18" charset="0"/>
                <a:cs typeface="Times New Roman" panose="02020603050405020304" pitchFamily="18" charset="0"/>
              </a:rPr>
              <a:t>u</a:t>
            </a:r>
            <a:r>
              <a:rPr lang="en-US" altLang="zh-TW" sz="2000" baseline="-25000" dirty="0">
                <a:latin typeface="Times New Roman" panose="02020603050405020304" pitchFamily="18" charset="0"/>
                <a:cs typeface="Times New Roman" panose="02020603050405020304" pitchFamily="18" charset="0"/>
              </a:rPr>
              <a:t>1 </a:t>
            </a:r>
            <a:r>
              <a:rPr lang="en-US" altLang="zh-TW" sz="2000" dirty="0">
                <a:latin typeface="Times New Roman" panose="02020603050405020304" pitchFamily="18" charset="0"/>
                <a:cs typeface="Times New Roman" panose="02020603050405020304" pitchFamily="18" charset="0"/>
              </a:rPr>
              <a:t>also </a:t>
            </a:r>
            <a:r>
              <a:rPr lang="en-US" altLang="zh-TW" sz="1800" dirty="0"/>
              <a:t>has 5  neighbors, but the 5 neighbors couldn’t form a 5-cycle; </a:t>
            </a:r>
            <a:endParaRPr lang="en-US" altLang="zh-TW" sz="1800" dirty="0"/>
          </a:p>
          <a:p>
            <a:pPr marL="0" lvl="0" indent="0" eaLnBrk="1" hangingPunct="1">
              <a:spcBef>
                <a:spcPct val="0"/>
              </a:spcBef>
              <a:buClrTx/>
              <a:buSzPct val="100000"/>
              <a:buNone/>
            </a:pPr>
            <a:endParaRPr lang="en-US" altLang="zh-TW" sz="800" dirty="0"/>
          </a:p>
          <a:p>
            <a:pPr marL="0" lvl="0" indent="0" eaLnBrk="1" hangingPunct="1">
              <a:spcBef>
                <a:spcPct val="0"/>
              </a:spcBef>
              <a:buClrTx/>
              <a:buSzPct val="100000"/>
              <a:buNone/>
            </a:pPr>
            <a:r>
              <a:rPr lang="en-US" altLang="zh-TW" sz="1800" dirty="0"/>
              <a:t>Therefore G and H are not isomorphic.</a:t>
            </a:r>
            <a:endParaRPr lang="en-US" altLang="zh-TW"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1000" fill="hold"/>
                                        <p:tgtEl>
                                          <p:spTgt spid="78"/>
                                        </p:tgtEl>
                                        <p:attrNameLst>
                                          <p:attrName>ppt_x</p:attrName>
                                        </p:attrNameLst>
                                      </p:cBhvr>
                                      <p:tavLst>
                                        <p:tav tm="0">
                                          <p:val>
                                            <p:strVal val="#ppt_x"/>
                                          </p:val>
                                        </p:tav>
                                        <p:tav tm="100000">
                                          <p:val>
                                            <p:strVal val="#ppt_x"/>
                                          </p:val>
                                        </p:tav>
                                      </p:tavLst>
                                    </p:anim>
                                    <p:anim calcmode="lin" valueType="num">
                                      <p:cBhvr additive="base">
                                        <p:cTn id="8" dur="10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1000" fill="hold"/>
                                        <p:tgtEl>
                                          <p:spTgt spid="152"/>
                                        </p:tgtEl>
                                        <p:attrNameLst>
                                          <p:attrName>fillcolor</p:attrName>
                                        </p:attrNameLst>
                                      </p:cBhvr>
                                      <p:to>
                                        <a:srgbClr val="FF0000"/>
                                      </p:to>
                                    </p:animClr>
                                    <p:set>
                                      <p:cBhvr>
                                        <p:cTn id="13" dur="1000" fill="hold"/>
                                        <p:tgtEl>
                                          <p:spTgt spid="152"/>
                                        </p:tgtEl>
                                        <p:attrNameLst>
                                          <p:attrName>fill.type</p:attrName>
                                        </p:attrNameLst>
                                      </p:cBhvr>
                                      <p:to>
                                        <p:strVal val="solid"/>
                                      </p:to>
                                    </p:set>
                                    <p:set>
                                      <p:cBhvr>
                                        <p:cTn id="14" dur="1000" fill="hold"/>
                                        <p:tgtEl>
                                          <p:spTgt spid="152"/>
                                        </p:tgtEl>
                                        <p:attrNameLst>
                                          <p:attrName>fill.on</p:attrName>
                                        </p:attrNameLst>
                                      </p:cBhvr>
                                      <p:to>
                                        <p:strVal val="true"/>
                                      </p:to>
                                    </p:set>
                                  </p:childTnLst>
                                </p:cTn>
                              </p:par>
                              <p:par>
                                <p:cTn id="15" presetID="1" presetClass="emph" presetSubtype="2" fill="hold" nodeType="withEffect">
                                  <p:stCondLst>
                                    <p:cond delay="0"/>
                                  </p:stCondLst>
                                  <p:childTnLst>
                                    <p:animClr clrSpc="rgb" dir="cw">
                                      <p:cBhvr>
                                        <p:cTn id="16" dur="1000" fill="hold"/>
                                        <p:tgtEl>
                                          <p:spTgt spid="158"/>
                                        </p:tgtEl>
                                        <p:attrNameLst>
                                          <p:attrName>fillcolor</p:attrName>
                                        </p:attrNameLst>
                                      </p:cBhvr>
                                      <p:to>
                                        <a:srgbClr val="FF0000"/>
                                      </p:to>
                                    </p:animClr>
                                    <p:set>
                                      <p:cBhvr>
                                        <p:cTn id="17" dur="1000" fill="hold"/>
                                        <p:tgtEl>
                                          <p:spTgt spid="158"/>
                                        </p:tgtEl>
                                        <p:attrNameLst>
                                          <p:attrName>fill.type</p:attrName>
                                        </p:attrNameLst>
                                      </p:cBhvr>
                                      <p:to>
                                        <p:strVal val="solid"/>
                                      </p:to>
                                    </p:set>
                                    <p:set>
                                      <p:cBhvr>
                                        <p:cTn id="18" dur="1000" fill="hold"/>
                                        <p:tgtEl>
                                          <p:spTgt spid="158"/>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1000" fill="hold"/>
                                        <p:tgtEl>
                                          <p:spTgt spid="155"/>
                                        </p:tgtEl>
                                        <p:attrNameLst>
                                          <p:attrName>fillcolor</p:attrName>
                                        </p:attrNameLst>
                                      </p:cBhvr>
                                      <p:to>
                                        <a:srgbClr val="FF0000"/>
                                      </p:to>
                                    </p:animClr>
                                    <p:set>
                                      <p:cBhvr>
                                        <p:cTn id="21" dur="1000" fill="hold"/>
                                        <p:tgtEl>
                                          <p:spTgt spid="155"/>
                                        </p:tgtEl>
                                        <p:attrNameLst>
                                          <p:attrName>fill.type</p:attrName>
                                        </p:attrNameLst>
                                      </p:cBhvr>
                                      <p:to>
                                        <p:strVal val="solid"/>
                                      </p:to>
                                    </p:set>
                                    <p:set>
                                      <p:cBhvr>
                                        <p:cTn id="22" dur="1000" fill="hold"/>
                                        <p:tgtEl>
                                          <p:spTgt spid="155"/>
                                        </p:tgtEl>
                                        <p:attrNameLst>
                                          <p:attrName>fill.on</p:attrName>
                                        </p:attrNameLst>
                                      </p:cBhvr>
                                      <p:to>
                                        <p:strVal val="true"/>
                                      </p:to>
                                    </p:set>
                                  </p:childTnLst>
                                </p:cTn>
                              </p:par>
                              <p:par>
                                <p:cTn id="23" presetID="7" presetClass="emph" presetSubtype="2" fill="hold" nodeType="withEffect">
                                  <p:stCondLst>
                                    <p:cond delay="0"/>
                                  </p:stCondLst>
                                  <p:childTnLst>
                                    <p:animClr clrSpc="rgb" dir="cw">
                                      <p:cBhvr>
                                        <p:cTn id="24" dur="1000" fill="hold"/>
                                        <p:tgtEl>
                                          <p:spTgt spid="166"/>
                                        </p:tgtEl>
                                        <p:attrNameLst>
                                          <p:attrName>stroke.color</p:attrName>
                                        </p:attrNameLst>
                                      </p:cBhvr>
                                      <p:to>
                                        <a:srgbClr val="FF0000"/>
                                      </p:to>
                                    </p:animClr>
                                    <p:set>
                                      <p:cBhvr>
                                        <p:cTn id="25" dur="1000" fill="hold"/>
                                        <p:tgtEl>
                                          <p:spTgt spid="166"/>
                                        </p:tgtEl>
                                        <p:attrNameLst>
                                          <p:attrName>stroke.on</p:attrName>
                                        </p:attrNameLst>
                                      </p:cBhvr>
                                      <p:to>
                                        <p:strVal val="true"/>
                                      </p:to>
                                    </p:set>
                                  </p:childTnLst>
                                </p:cTn>
                              </p:par>
                              <p:par>
                                <p:cTn id="26" presetID="1" presetClass="emph" presetSubtype="2" fill="hold" nodeType="withEffect">
                                  <p:stCondLst>
                                    <p:cond delay="0"/>
                                  </p:stCondLst>
                                  <p:childTnLst>
                                    <p:animClr clrSpc="rgb" dir="cw">
                                      <p:cBhvr>
                                        <p:cTn id="27" dur="1000" fill="hold"/>
                                        <p:tgtEl>
                                          <p:spTgt spid="153"/>
                                        </p:tgtEl>
                                        <p:attrNameLst>
                                          <p:attrName>fillcolor</p:attrName>
                                        </p:attrNameLst>
                                      </p:cBhvr>
                                      <p:to>
                                        <a:srgbClr val="FF0000"/>
                                      </p:to>
                                    </p:animClr>
                                    <p:set>
                                      <p:cBhvr>
                                        <p:cTn id="28" dur="1000" fill="hold"/>
                                        <p:tgtEl>
                                          <p:spTgt spid="153"/>
                                        </p:tgtEl>
                                        <p:attrNameLst>
                                          <p:attrName>fill.type</p:attrName>
                                        </p:attrNameLst>
                                      </p:cBhvr>
                                      <p:to>
                                        <p:strVal val="solid"/>
                                      </p:to>
                                    </p:set>
                                    <p:set>
                                      <p:cBhvr>
                                        <p:cTn id="29" dur="1000" fill="hold"/>
                                        <p:tgtEl>
                                          <p:spTgt spid="153"/>
                                        </p:tgtEl>
                                        <p:attrNameLst>
                                          <p:attrName>fill.on</p:attrName>
                                        </p:attrNameLst>
                                      </p:cBhvr>
                                      <p:to>
                                        <p:strVal val="true"/>
                                      </p:to>
                                    </p:set>
                                  </p:childTnLst>
                                </p:cTn>
                              </p:par>
                              <p:par>
                                <p:cTn id="30" presetID="1" presetClass="emph" presetSubtype="2" fill="hold" nodeType="withEffect">
                                  <p:stCondLst>
                                    <p:cond delay="0"/>
                                  </p:stCondLst>
                                  <p:childTnLst>
                                    <p:animClr clrSpc="rgb" dir="cw">
                                      <p:cBhvr>
                                        <p:cTn id="31" dur="1000" fill="hold"/>
                                        <p:tgtEl>
                                          <p:spTgt spid="154"/>
                                        </p:tgtEl>
                                        <p:attrNameLst>
                                          <p:attrName>fillcolor</p:attrName>
                                        </p:attrNameLst>
                                      </p:cBhvr>
                                      <p:to>
                                        <a:srgbClr val="FF0000"/>
                                      </p:to>
                                    </p:animClr>
                                    <p:set>
                                      <p:cBhvr>
                                        <p:cTn id="32" dur="1000" fill="hold"/>
                                        <p:tgtEl>
                                          <p:spTgt spid="154"/>
                                        </p:tgtEl>
                                        <p:attrNameLst>
                                          <p:attrName>fill.type</p:attrName>
                                        </p:attrNameLst>
                                      </p:cBhvr>
                                      <p:to>
                                        <p:strVal val="solid"/>
                                      </p:to>
                                    </p:set>
                                    <p:set>
                                      <p:cBhvr>
                                        <p:cTn id="33" dur="1000" fill="hold"/>
                                        <p:tgtEl>
                                          <p:spTgt spid="154"/>
                                        </p:tgtEl>
                                        <p:attrNameLst>
                                          <p:attrName>fill.on</p:attrName>
                                        </p:attrNameLst>
                                      </p:cBhvr>
                                      <p:to>
                                        <p:strVal val="true"/>
                                      </p:to>
                                    </p:set>
                                  </p:childTnLst>
                                </p:cTn>
                              </p:par>
                              <p:par>
                                <p:cTn id="34" presetID="7" presetClass="emph" presetSubtype="2" fill="hold" nodeType="withEffect">
                                  <p:stCondLst>
                                    <p:cond delay="0"/>
                                  </p:stCondLst>
                                  <p:childTnLst>
                                    <p:animClr clrSpc="rgb" dir="cw">
                                      <p:cBhvr>
                                        <p:cTn id="35" dur="1000" fill="hold"/>
                                        <p:tgtEl>
                                          <p:spTgt spid="175"/>
                                        </p:tgtEl>
                                        <p:attrNameLst>
                                          <p:attrName>stroke.color</p:attrName>
                                        </p:attrNameLst>
                                      </p:cBhvr>
                                      <p:to>
                                        <a:srgbClr val="FF0000"/>
                                      </p:to>
                                    </p:animClr>
                                    <p:set>
                                      <p:cBhvr>
                                        <p:cTn id="36" dur="1000" fill="hold"/>
                                        <p:tgtEl>
                                          <p:spTgt spid="175"/>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0" fill="hold"/>
                                        <p:tgtEl>
                                          <p:spTgt spid="160"/>
                                        </p:tgtEl>
                                        <p:attrNameLst>
                                          <p:attrName>stroke.color</p:attrName>
                                        </p:attrNameLst>
                                      </p:cBhvr>
                                      <p:to>
                                        <a:srgbClr val="FF0000"/>
                                      </p:to>
                                    </p:animClr>
                                    <p:set>
                                      <p:cBhvr>
                                        <p:cTn id="39" dur="1000" fill="hold"/>
                                        <p:tgtEl>
                                          <p:spTgt spid="160"/>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0" fill="hold"/>
                                        <p:tgtEl>
                                          <p:spTgt spid="159"/>
                                        </p:tgtEl>
                                        <p:attrNameLst>
                                          <p:attrName>stroke.color</p:attrName>
                                        </p:attrNameLst>
                                      </p:cBhvr>
                                      <p:to>
                                        <a:srgbClr val="FF0000"/>
                                      </p:to>
                                    </p:animClr>
                                    <p:set>
                                      <p:cBhvr>
                                        <p:cTn id="42" dur="1000" fill="hold"/>
                                        <p:tgtEl>
                                          <p:spTgt spid="159"/>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0" fill="hold"/>
                                        <p:tgtEl>
                                          <p:spTgt spid="197"/>
                                        </p:tgtEl>
                                        <p:attrNameLst>
                                          <p:attrName>stroke.color</p:attrName>
                                        </p:attrNameLst>
                                      </p:cBhvr>
                                      <p:to>
                                        <a:srgbClr val="FF0000"/>
                                      </p:to>
                                    </p:animClr>
                                    <p:set>
                                      <p:cBhvr>
                                        <p:cTn id="45" dur="1000" fill="hold"/>
                                        <p:tgtEl>
                                          <p:spTgt spid="197"/>
                                        </p:tgtEl>
                                        <p:attrNameLst>
                                          <p:attrName>stroke.on</p:attrName>
                                        </p:attrNameLst>
                                      </p:cBhvr>
                                      <p:to>
                                        <p:strVal val="true"/>
                                      </p:to>
                                    </p:set>
                                  </p:childTnLst>
                                </p:cTn>
                              </p:par>
                              <p:par>
                                <p:cTn id="46" presetID="7" presetClass="emph" presetSubtype="2" fill="hold" nodeType="withEffect">
                                  <p:stCondLst>
                                    <p:cond delay="0"/>
                                  </p:stCondLst>
                                  <p:childTnLst>
                                    <p:animClr clrSpc="rgb" dir="cw">
                                      <p:cBhvr>
                                        <p:cTn id="47" dur="1000" fill="hold"/>
                                        <p:tgtEl>
                                          <p:spTgt spid="170"/>
                                        </p:tgtEl>
                                        <p:attrNameLst>
                                          <p:attrName>stroke.color</p:attrName>
                                        </p:attrNameLst>
                                      </p:cBhvr>
                                      <p:to>
                                        <a:srgbClr val="FF0000"/>
                                      </p:to>
                                    </p:animClr>
                                    <p:set>
                                      <p:cBhvr>
                                        <p:cTn id="48" dur="1000" fill="hold"/>
                                        <p:tgtEl>
                                          <p:spTgt spid="170"/>
                                        </p:tgtEl>
                                        <p:attrNameLst>
                                          <p:attrName>stroke.on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79">
                                            <p:txEl>
                                              <p:charRg st="0" end="72"/>
                                            </p:txEl>
                                          </p:spTgt>
                                        </p:tgtEl>
                                        <p:attrNameLst>
                                          <p:attrName>style.visibility</p:attrName>
                                        </p:attrNameLst>
                                      </p:cBhvr>
                                      <p:to>
                                        <p:strVal val="visible"/>
                                      </p:to>
                                    </p:set>
                                    <p:anim calcmode="lin" valueType="num">
                                      <p:cBhvr additive="base">
                                        <p:cTn id="53" dur="1000" fill="hold"/>
                                        <p:tgtEl>
                                          <p:spTgt spid="79">
                                            <p:txEl>
                                              <p:charRg st="0" end="72"/>
                                            </p:txEl>
                                          </p:spTgt>
                                        </p:tgtEl>
                                        <p:attrNameLst>
                                          <p:attrName>ppt_x</p:attrName>
                                        </p:attrNameLst>
                                      </p:cBhvr>
                                      <p:tavLst>
                                        <p:tav tm="0">
                                          <p:val>
                                            <p:strVal val="#ppt_x"/>
                                          </p:val>
                                        </p:tav>
                                        <p:tav tm="100000">
                                          <p:val>
                                            <p:strVal val="#ppt_x"/>
                                          </p:val>
                                        </p:tav>
                                      </p:tavLst>
                                    </p:anim>
                                    <p:anim calcmode="lin" valueType="num">
                                      <p:cBhvr additive="base">
                                        <p:cTn id="54" dur="1000" fill="hold"/>
                                        <p:tgtEl>
                                          <p:spTgt spid="79">
                                            <p:txEl>
                                              <p:charRg st="0" end="72"/>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mph" presetSubtype="2" fill="hold" nodeType="clickEffect">
                                  <p:stCondLst>
                                    <p:cond delay="0"/>
                                  </p:stCondLst>
                                  <p:childTnLst>
                                    <p:animClr clrSpc="rgb" dir="cw">
                                      <p:cBhvr>
                                        <p:cTn id="58" dur="1000" fill="hold"/>
                                        <p:tgtEl>
                                          <p:spTgt spid="60"/>
                                        </p:tgtEl>
                                        <p:attrNameLst>
                                          <p:attrName>fillcolor</p:attrName>
                                        </p:attrNameLst>
                                      </p:cBhvr>
                                      <p:to>
                                        <a:srgbClr val="3333CC"/>
                                      </p:to>
                                    </p:animClr>
                                    <p:set>
                                      <p:cBhvr>
                                        <p:cTn id="59" dur="1000" fill="hold"/>
                                        <p:tgtEl>
                                          <p:spTgt spid="60"/>
                                        </p:tgtEl>
                                        <p:attrNameLst>
                                          <p:attrName>fill.type</p:attrName>
                                        </p:attrNameLst>
                                      </p:cBhvr>
                                      <p:to>
                                        <p:strVal val="solid"/>
                                      </p:to>
                                    </p:set>
                                    <p:set>
                                      <p:cBhvr>
                                        <p:cTn id="60" dur="1000" fill="hold"/>
                                        <p:tgtEl>
                                          <p:spTgt spid="60"/>
                                        </p:tgtEl>
                                        <p:attrNameLst>
                                          <p:attrName>fill.on</p:attrName>
                                        </p:attrNameLst>
                                      </p:cBhvr>
                                      <p:to>
                                        <p:strVal val="true"/>
                                      </p:to>
                                    </p:set>
                                  </p:childTnLst>
                                </p:cTn>
                              </p:par>
                              <p:par>
                                <p:cTn id="61" presetID="1" presetClass="emph" presetSubtype="2" fill="hold" nodeType="withEffect">
                                  <p:stCondLst>
                                    <p:cond delay="0"/>
                                  </p:stCondLst>
                                  <p:childTnLst>
                                    <p:animClr clrSpc="rgb" dir="cw">
                                      <p:cBhvr>
                                        <p:cTn id="62" dur="1000" fill="hold"/>
                                        <p:tgtEl>
                                          <p:spTgt spid="63"/>
                                        </p:tgtEl>
                                        <p:attrNameLst>
                                          <p:attrName>fillcolor</p:attrName>
                                        </p:attrNameLst>
                                      </p:cBhvr>
                                      <p:to>
                                        <a:srgbClr val="3333CC"/>
                                      </p:to>
                                    </p:animClr>
                                    <p:set>
                                      <p:cBhvr>
                                        <p:cTn id="63" dur="1000" fill="hold"/>
                                        <p:tgtEl>
                                          <p:spTgt spid="63"/>
                                        </p:tgtEl>
                                        <p:attrNameLst>
                                          <p:attrName>fill.type</p:attrName>
                                        </p:attrNameLst>
                                      </p:cBhvr>
                                      <p:to>
                                        <p:strVal val="solid"/>
                                      </p:to>
                                    </p:set>
                                    <p:set>
                                      <p:cBhvr>
                                        <p:cTn id="64" dur="1000" fill="hold"/>
                                        <p:tgtEl>
                                          <p:spTgt spid="63"/>
                                        </p:tgtEl>
                                        <p:attrNameLst>
                                          <p:attrName>fill.on</p:attrName>
                                        </p:attrNameLst>
                                      </p:cBhvr>
                                      <p:to>
                                        <p:strVal val="true"/>
                                      </p:to>
                                    </p:set>
                                  </p:childTnLst>
                                </p:cTn>
                              </p:par>
                              <p:par>
                                <p:cTn id="65" presetID="7" presetClass="emph" presetSubtype="2" fill="hold" nodeType="withEffect">
                                  <p:stCondLst>
                                    <p:cond delay="0"/>
                                  </p:stCondLst>
                                  <p:childTnLst>
                                    <p:animClr clrSpc="rgb" dir="cw">
                                      <p:cBhvr>
                                        <p:cTn id="66" dur="1000" fill="hold"/>
                                        <p:tgtEl>
                                          <p:spTgt spid="127"/>
                                        </p:tgtEl>
                                        <p:attrNameLst>
                                          <p:attrName>stroke.color</p:attrName>
                                        </p:attrNameLst>
                                      </p:cBhvr>
                                      <p:to>
                                        <a:srgbClr val="3333CC"/>
                                      </p:to>
                                    </p:animClr>
                                    <p:set>
                                      <p:cBhvr>
                                        <p:cTn id="67" dur="1000" fill="hold"/>
                                        <p:tgtEl>
                                          <p:spTgt spid="127"/>
                                        </p:tgtEl>
                                        <p:attrNameLst>
                                          <p:attrName>stroke.on</p:attrName>
                                        </p:attrNameLst>
                                      </p:cBhvr>
                                      <p:to>
                                        <p:strVal val="true"/>
                                      </p:to>
                                    </p:set>
                                  </p:childTnLst>
                                </p:cTn>
                              </p:par>
                              <p:par>
                                <p:cTn id="68" presetID="1" presetClass="emph" presetSubtype="2" fill="hold" nodeType="withEffect">
                                  <p:stCondLst>
                                    <p:cond delay="0"/>
                                  </p:stCondLst>
                                  <p:childTnLst>
                                    <p:animClr clrSpc="rgb" dir="cw">
                                      <p:cBhvr>
                                        <p:cTn id="69" dur="1000" fill="hold"/>
                                        <p:tgtEl>
                                          <p:spTgt spid="64"/>
                                        </p:tgtEl>
                                        <p:attrNameLst>
                                          <p:attrName>fillcolor</p:attrName>
                                        </p:attrNameLst>
                                      </p:cBhvr>
                                      <p:to>
                                        <a:srgbClr val="3333CC"/>
                                      </p:to>
                                    </p:animClr>
                                    <p:set>
                                      <p:cBhvr>
                                        <p:cTn id="70" dur="1000" fill="hold"/>
                                        <p:tgtEl>
                                          <p:spTgt spid="64"/>
                                        </p:tgtEl>
                                        <p:attrNameLst>
                                          <p:attrName>fill.type</p:attrName>
                                        </p:attrNameLst>
                                      </p:cBhvr>
                                      <p:to>
                                        <p:strVal val="solid"/>
                                      </p:to>
                                    </p:set>
                                    <p:set>
                                      <p:cBhvr>
                                        <p:cTn id="71" dur="1000" fill="hold"/>
                                        <p:tgtEl>
                                          <p:spTgt spid="64"/>
                                        </p:tgtEl>
                                        <p:attrNameLst>
                                          <p:attrName>fill.on</p:attrName>
                                        </p:attrNameLst>
                                      </p:cBhvr>
                                      <p:to>
                                        <p:strVal val="true"/>
                                      </p:to>
                                    </p:set>
                                  </p:childTnLst>
                                </p:cTn>
                              </p:par>
                              <p:par>
                                <p:cTn id="72" presetID="1" presetClass="emph" presetSubtype="2" fill="hold" nodeType="withEffect">
                                  <p:stCondLst>
                                    <p:cond delay="0"/>
                                  </p:stCondLst>
                                  <p:childTnLst>
                                    <p:animClr clrSpc="rgb" dir="cw">
                                      <p:cBhvr>
                                        <p:cTn id="73" dur="1000" fill="hold"/>
                                        <p:tgtEl>
                                          <p:spTgt spid="62"/>
                                        </p:tgtEl>
                                        <p:attrNameLst>
                                          <p:attrName>fillcolor</p:attrName>
                                        </p:attrNameLst>
                                      </p:cBhvr>
                                      <p:to>
                                        <a:srgbClr val="3333CC"/>
                                      </p:to>
                                    </p:animClr>
                                    <p:set>
                                      <p:cBhvr>
                                        <p:cTn id="74" dur="1000" fill="hold"/>
                                        <p:tgtEl>
                                          <p:spTgt spid="62"/>
                                        </p:tgtEl>
                                        <p:attrNameLst>
                                          <p:attrName>fill.type</p:attrName>
                                        </p:attrNameLst>
                                      </p:cBhvr>
                                      <p:to>
                                        <p:strVal val="solid"/>
                                      </p:to>
                                    </p:set>
                                    <p:set>
                                      <p:cBhvr>
                                        <p:cTn id="75" dur="1000" fill="hold"/>
                                        <p:tgtEl>
                                          <p:spTgt spid="62"/>
                                        </p:tgtEl>
                                        <p:attrNameLst>
                                          <p:attrName>fill.on</p:attrName>
                                        </p:attrNameLst>
                                      </p:cBhvr>
                                      <p:to>
                                        <p:strVal val="true"/>
                                      </p:to>
                                    </p:set>
                                  </p:childTnLst>
                                </p:cTn>
                              </p:par>
                              <p:par>
                                <p:cTn id="76" presetID="7" presetClass="emph" presetSubtype="2" fill="hold" nodeType="withEffect">
                                  <p:stCondLst>
                                    <p:cond delay="0"/>
                                  </p:stCondLst>
                                  <p:childTnLst>
                                    <p:animClr clrSpc="rgb" dir="cw">
                                      <p:cBhvr>
                                        <p:cTn id="77" dur="1000" fill="hold"/>
                                        <p:tgtEl>
                                          <p:spTgt spid="131"/>
                                        </p:tgtEl>
                                        <p:attrNameLst>
                                          <p:attrName>stroke.color</p:attrName>
                                        </p:attrNameLst>
                                      </p:cBhvr>
                                      <p:to>
                                        <a:srgbClr val="3333CC"/>
                                      </p:to>
                                    </p:animClr>
                                    <p:set>
                                      <p:cBhvr>
                                        <p:cTn id="78" dur="1000" fill="hold"/>
                                        <p:tgtEl>
                                          <p:spTgt spid="131"/>
                                        </p:tgtEl>
                                        <p:attrNameLst>
                                          <p:attrName>stroke.on</p:attrName>
                                        </p:attrNameLst>
                                      </p:cBhvr>
                                      <p:to>
                                        <p:strVal val="true"/>
                                      </p:to>
                                    </p:set>
                                  </p:childTnLst>
                                </p:cTn>
                              </p:par>
                              <p:par>
                                <p:cTn id="79" presetID="1" presetClass="emph" presetSubtype="2" fill="hold" nodeType="withEffect">
                                  <p:stCondLst>
                                    <p:cond delay="0"/>
                                  </p:stCondLst>
                                  <p:childTnLst>
                                    <p:animClr clrSpc="rgb" dir="cw">
                                      <p:cBhvr>
                                        <p:cTn id="80" dur="1000" fill="hold"/>
                                        <p:tgtEl>
                                          <p:spTgt spid="47"/>
                                        </p:tgtEl>
                                        <p:attrNameLst>
                                          <p:attrName>fillcolor</p:attrName>
                                        </p:attrNameLst>
                                      </p:cBhvr>
                                      <p:to>
                                        <a:srgbClr val="3333CC"/>
                                      </p:to>
                                    </p:animClr>
                                    <p:set>
                                      <p:cBhvr>
                                        <p:cTn id="81" dur="1000" fill="hold"/>
                                        <p:tgtEl>
                                          <p:spTgt spid="47"/>
                                        </p:tgtEl>
                                        <p:attrNameLst>
                                          <p:attrName>fill.type</p:attrName>
                                        </p:attrNameLst>
                                      </p:cBhvr>
                                      <p:to>
                                        <p:strVal val="solid"/>
                                      </p:to>
                                    </p:set>
                                    <p:set>
                                      <p:cBhvr>
                                        <p:cTn id="82" dur="1000" fill="hold"/>
                                        <p:tgtEl>
                                          <p:spTgt spid="47"/>
                                        </p:tgtEl>
                                        <p:attrNameLst>
                                          <p:attrName>fill.on</p:attrName>
                                        </p:attrNameLst>
                                      </p:cBhvr>
                                      <p:to>
                                        <p:strVal val="true"/>
                                      </p:to>
                                    </p:set>
                                  </p:childTnLst>
                                </p:cTn>
                              </p:par>
                              <p:par>
                                <p:cTn id="83" presetID="7" presetClass="emph" presetSubtype="2" fill="hold" nodeType="withEffect">
                                  <p:stCondLst>
                                    <p:cond delay="0"/>
                                  </p:stCondLst>
                                  <p:childTnLst>
                                    <p:animClr clrSpc="rgb" dir="cw">
                                      <p:cBhvr>
                                        <p:cTn id="84" dur="1000" fill="hold"/>
                                        <p:tgtEl>
                                          <p:spTgt spid="123"/>
                                        </p:tgtEl>
                                        <p:attrNameLst>
                                          <p:attrName>stroke.color</p:attrName>
                                        </p:attrNameLst>
                                      </p:cBhvr>
                                      <p:to>
                                        <a:srgbClr val="3333CC"/>
                                      </p:to>
                                    </p:animClr>
                                    <p:set>
                                      <p:cBhvr>
                                        <p:cTn id="85" dur="1000" fill="hold"/>
                                        <p:tgtEl>
                                          <p:spTgt spid="123"/>
                                        </p:tgtEl>
                                        <p:attrNameLst>
                                          <p:attrName>stroke.on</p:attrName>
                                        </p:attrNameLst>
                                      </p:cBhvr>
                                      <p:to>
                                        <p:strVal val="true"/>
                                      </p:to>
                                    </p:set>
                                  </p:childTnLst>
                                </p:cTn>
                              </p:par>
                              <p:par>
                                <p:cTn id="86" presetID="7" presetClass="emph" presetSubtype="2" fill="hold" nodeType="withEffect">
                                  <p:stCondLst>
                                    <p:cond delay="0"/>
                                  </p:stCondLst>
                                  <p:childTnLst>
                                    <p:animClr clrSpc="rgb" dir="cw">
                                      <p:cBhvr>
                                        <p:cTn id="87" dur="1000" fill="hold"/>
                                        <p:tgtEl>
                                          <p:spTgt spid="97"/>
                                        </p:tgtEl>
                                        <p:attrNameLst>
                                          <p:attrName>stroke.color</p:attrName>
                                        </p:attrNameLst>
                                      </p:cBhvr>
                                      <p:to>
                                        <a:srgbClr val="3333CC"/>
                                      </p:to>
                                    </p:animClr>
                                    <p:set>
                                      <p:cBhvr>
                                        <p:cTn id="88" dur="1000" fill="hold"/>
                                        <p:tgtEl>
                                          <p:spTgt spid="97"/>
                                        </p:tgtEl>
                                        <p:attrNameLst>
                                          <p:attrName>stroke.on</p:attrName>
                                        </p:attrNameLst>
                                      </p:cBhvr>
                                      <p:to>
                                        <p:strVal val="true"/>
                                      </p:to>
                                    </p:set>
                                  </p:childTnLst>
                                </p:cTn>
                              </p:par>
                              <p:par>
                                <p:cTn id="89" presetID="7" presetClass="emph" presetSubtype="2" fill="hold" nodeType="withEffect">
                                  <p:stCondLst>
                                    <p:cond delay="0"/>
                                  </p:stCondLst>
                                  <p:childTnLst>
                                    <p:animClr clrSpc="rgb" dir="cw">
                                      <p:cBhvr>
                                        <p:cTn id="90" dur="1000" fill="hold"/>
                                        <p:tgtEl>
                                          <p:spTgt spid="80"/>
                                        </p:tgtEl>
                                        <p:attrNameLst>
                                          <p:attrName>stroke.color</p:attrName>
                                        </p:attrNameLst>
                                      </p:cBhvr>
                                      <p:to>
                                        <a:srgbClr val="3333CC"/>
                                      </p:to>
                                    </p:animClr>
                                    <p:set>
                                      <p:cBhvr>
                                        <p:cTn id="91" dur="1000" fill="hold"/>
                                        <p:tgtEl>
                                          <p:spTgt spid="80"/>
                                        </p:tgtEl>
                                        <p:attrNameLst>
                                          <p:attrName>stroke.on</p:attrName>
                                        </p:attrNameLst>
                                      </p:cBhvr>
                                      <p:to>
                                        <p:strVal val="true"/>
                                      </p:to>
                                    </p:set>
                                  </p:childTnLst>
                                </p:cTn>
                              </p:par>
                              <p:par>
                                <p:cTn id="92" presetID="7" presetClass="emph" presetSubtype="2" fill="hold" nodeType="withEffect">
                                  <p:stCondLst>
                                    <p:cond delay="0"/>
                                  </p:stCondLst>
                                  <p:childTnLst>
                                    <p:animClr clrSpc="rgb" dir="cw">
                                      <p:cBhvr>
                                        <p:cTn id="93" dur="1000" fill="hold"/>
                                        <p:tgtEl>
                                          <p:spTgt spid="85"/>
                                        </p:tgtEl>
                                        <p:attrNameLst>
                                          <p:attrName>stroke.color</p:attrName>
                                        </p:attrNameLst>
                                      </p:cBhvr>
                                      <p:to>
                                        <a:srgbClr val="3333CC"/>
                                      </p:to>
                                    </p:animClr>
                                    <p:set>
                                      <p:cBhvr>
                                        <p:cTn id="94" dur="1000" fill="hold"/>
                                        <p:tgtEl>
                                          <p:spTgt spid="85"/>
                                        </p:tgtEl>
                                        <p:attrNameLst>
                                          <p:attrName>stroke.on</p:attrName>
                                        </p:attrNameLst>
                                      </p:cBhvr>
                                      <p:to>
                                        <p:strVal val="tru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79">
                                            <p:txEl>
                                              <p:charRg st="73" end="111"/>
                                            </p:txEl>
                                          </p:spTgt>
                                        </p:tgtEl>
                                        <p:attrNameLst>
                                          <p:attrName>style.visibility</p:attrName>
                                        </p:attrNameLst>
                                      </p:cBhvr>
                                      <p:to>
                                        <p:strVal val="visible"/>
                                      </p:to>
                                    </p:set>
                                    <p:anim calcmode="lin" valueType="num">
                                      <p:cBhvr additive="base">
                                        <p:cTn id="99" dur="1000" fill="hold"/>
                                        <p:tgtEl>
                                          <p:spTgt spid="79">
                                            <p:txEl>
                                              <p:charRg st="73" end="111"/>
                                            </p:txEl>
                                          </p:spTgt>
                                        </p:tgtEl>
                                        <p:attrNameLst>
                                          <p:attrName>ppt_x</p:attrName>
                                        </p:attrNameLst>
                                      </p:cBhvr>
                                      <p:tavLst>
                                        <p:tav tm="0">
                                          <p:val>
                                            <p:strVal val="#ppt_x"/>
                                          </p:val>
                                        </p:tav>
                                        <p:tav tm="100000">
                                          <p:val>
                                            <p:strVal val="#ppt_x"/>
                                          </p:val>
                                        </p:tav>
                                      </p:tavLst>
                                    </p:anim>
                                    <p:anim calcmode="lin" valueType="num">
                                      <p:cBhvr additive="base">
                                        <p:cTn id="100" dur="1000" fill="hold"/>
                                        <p:tgtEl>
                                          <p:spTgt spid="79">
                                            <p:txEl>
                                              <p:charRg st="73" end="1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build="allAtOnce"/>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0" name="Rectangle 4"/>
          <p:cNvSpPr>
            <a:spLocks noGrp="1"/>
          </p:cNvSpPr>
          <p:nvPr>
            <p:ph type="body"/>
          </p:nvPr>
        </p:nvSpPr>
        <p:spPr>
          <a:xfrm>
            <a:off x="152400" y="1066800"/>
            <a:ext cx="8534400" cy="4953000"/>
          </a:xfrm>
        </p:spPr>
        <p:txBody>
          <a:bodyPr vert="horz" wrap="square" lIns="91440" tIns="45720" rIns="91440" bIns="45720" anchor="t"/>
          <a:p>
            <a:pPr eaLnBrk="1" hangingPunct="1">
              <a:lnSpc>
                <a:spcPct val="90000"/>
              </a:lnSpc>
              <a:buNone/>
            </a:pPr>
            <a:r>
              <a:rPr lang="en-US" altLang="zh-TW" sz="2800" b="1" dirty="0">
                <a:solidFill>
                  <a:srgbClr val="FF0000"/>
                </a:solidFill>
              </a:rPr>
              <a:t>Def. 1,2 :</a:t>
            </a:r>
            <a:endParaRPr lang="en-US" altLang="zh-TW" sz="2800" b="1" dirty="0">
              <a:solidFill>
                <a:srgbClr val="FF0000"/>
              </a:solidFill>
            </a:endParaRPr>
          </a:p>
          <a:p>
            <a:pPr eaLnBrk="1" hangingPunct="1">
              <a:lnSpc>
                <a:spcPct val="90000"/>
              </a:lnSpc>
              <a:buNone/>
            </a:pPr>
            <a:r>
              <a:rPr lang="en-US" altLang="zh-TW" sz="2800" dirty="0"/>
              <a:t>   In an undirected graph, a </a:t>
            </a:r>
            <a:r>
              <a:rPr lang="en-US" altLang="zh-TW" sz="2800" dirty="0">
                <a:solidFill>
                  <a:srgbClr val="0000CC"/>
                </a:solidFill>
              </a:rPr>
              <a:t>path of length </a:t>
            </a:r>
            <a:r>
              <a:rPr lang="en-US" altLang="zh-TW" sz="2800" i="1" dirty="0">
                <a:solidFill>
                  <a:srgbClr val="0000CC"/>
                </a:solidFill>
                <a:latin typeface="Times New Roman" panose="02020603050405020304" pitchFamily="18" charset="0"/>
                <a:cs typeface="Times New Roman" panose="02020603050405020304" pitchFamily="18" charset="0"/>
              </a:rPr>
              <a:t>n</a:t>
            </a:r>
            <a:r>
              <a:rPr lang="en-US" altLang="zh-TW" sz="2800" i="1" dirty="0"/>
              <a:t> </a:t>
            </a:r>
            <a:r>
              <a:rPr lang="en-US" altLang="zh-TW" sz="2800" dirty="0"/>
              <a:t>from </a:t>
            </a:r>
            <a:r>
              <a:rPr lang="en-US" altLang="zh-TW" sz="2800" i="1" dirty="0">
                <a:latin typeface="Times New Roman" panose="02020603050405020304" pitchFamily="18" charset="0"/>
                <a:cs typeface="Times New Roman" panose="02020603050405020304" pitchFamily="18" charset="0"/>
              </a:rPr>
              <a:t>u</a:t>
            </a:r>
            <a:r>
              <a:rPr lang="en-US" altLang="zh-TW" sz="2800" i="1" dirty="0"/>
              <a:t> </a:t>
            </a:r>
            <a:r>
              <a:rPr lang="en-US" altLang="zh-TW" sz="2800" dirty="0"/>
              <a:t>to</a:t>
            </a:r>
            <a:r>
              <a:rPr lang="en-US" altLang="zh-TW" sz="2800" i="1" dirty="0"/>
              <a:t> </a:t>
            </a:r>
            <a:r>
              <a:rPr lang="en-US" altLang="zh-TW" sz="2800" i="1" dirty="0">
                <a:latin typeface="Times New Roman" panose="02020603050405020304" pitchFamily="18" charset="0"/>
                <a:cs typeface="Times New Roman" panose="02020603050405020304" pitchFamily="18" charset="0"/>
              </a:rPr>
              <a:t>v </a:t>
            </a:r>
            <a:r>
              <a:rPr lang="en-US" altLang="zh-TW" sz="2800" dirty="0"/>
              <a:t>is a sequence of </a:t>
            </a:r>
            <a:r>
              <a:rPr lang="en-US" altLang="zh-TW" sz="2800" i="1" dirty="0">
                <a:solidFill>
                  <a:srgbClr val="008000"/>
                </a:solidFill>
                <a:latin typeface="Times New Roman" panose="02020603050405020304" pitchFamily="18" charset="0"/>
                <a:cs typeface="Times New Roman" panose="02020603050405020304" pitchFamily="18" charset="0"/>
              </a:rPr>
              <a:t>n</a:t>
            </a:r>
            <a:r>
              <a:rPr lang="en-US" altLang="zh-TW" sz="2800" dirty="0">
                <a:solidFill>
                  <a:srgbClr val="008000"/>
                </a:solidFill>
                <a:latin typeface="Times New Roman" panose="02020603050405020304" pitchFamily="18" charset="0"/>
                <a:cs typeface="Times New Roman" panose="02020603050405020304" pitchFamily="18" charset="0"/>
              </a:rPr>
              <a:t>+1</a:t>
            </a:r>
            <a:r>
              <a:rPr lang="en-US" altLang="zh-TW" sz="2800" dirty="0">
                <a:solidFill>
                  <a:srgbClr val="008000"/>
                </a:solidFill>
              </a:rPr>
              <a:t> </a:t>
            </a:r>
            <a:r>
              <a:rPr lang="en-US" altLang="zh-TW" sz="2800" dirty="0"/>
              <a:t>adjacent vertices going from vertex </a:t>
            </a:r>
            <a:r>
              <a:rPr lang="en-US" altLang="zh-TW" sz="2800" i="1" dirty="0">
                <a:latin typeface="Times New Roman" panose="02020603050405020304" pitchFamily="18" charset="0"/>
                <a:cs typeface="Times New Roman" panose="02020603050405020304" pitchFamily="18" charset="0"/>
              </a:rPr>
              <a:t>u</a:t>
            </a:r>
            <a:r>
              <a:rPr lang="en-US" altLang="zh-TW" sz="2800" dirty="0"/>
              <a:t> to vertex </a:t>
            </a:r>
            <a:r>
              <a:rPr lang="en-US" altLang="zh-TW" sz="2800" i="1" dirty="0">
                <a:latin typeface="Times New Roman" panose="02020603050405020304" pitchFamily="18" charset="0"/>
                <a:cs typeface="Times New Roman" panose="02020603050405020304" pitchFamily="18" charset="0"/>
              </a:rPr>
              <a:t>v</a:t>
            </a:r>
            <a:r>
              <a:rPr lang="en-US" altLang="zh-TW" sz="2800" dirty="0"/>
              <a:t>. </a:t>
            </a:r>
            <a:br>
              <a:rPr lang="en-US" altLang="zh-TW" sz="2800" dirty="0"/>
            </a:br>
            <a:r>
              <a:rPr lang="en-US" altLang="zh-TW" sz="2800" dirty="0"/>
              <a:t>(e.g., </a:t>
            </a:r>
            <a:r>
              <a:rPr lang="en-US" altLang="zh-TW" sz="2800" i="1" dirty="0">
                <a:latin typeface="Times New Roman" panose="02020603050405020304" pitchFamily="18" charset="0"/>
                <a:cs typeface="Times New Roman" panose="02020603050405020304" pitchFamily="18" charset="0"/>
              </a:rPr>
              <a:t>P</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u=x</a:t>
            </a:r>
            <a:r>
              <a:rPr lang="en-US" altLang="zh-TW" sz="2800" baseline="-25000" dirty="0">
                <a:latin typeface="Times New Roman" panose="02020603050405020304" pitchFamily="18" charset="0"/>
                <a:cs typeface="Times New Roman" panose="02020603050405020304" pitchFamily="18" charset="0"/>
              </a:rPr>
              <a:t>0</a:t>
            </a:r>
            <a:r>
              <a:rPr lang="en-US" altLang="zh-TW" sz="2800" i="1" dirty="0">
                <a:latin typeface="Times New Roman" panose="02020603050405020304" pitchFamily="18" charset="0"/>
                <a:cs typeface="Times New Roman" panose="02020603050405020304" pitchFamily="18" charset="0"/>
              </a:rPr>
              <a:t>, x</a:t>
            </a:r>
            <a:r>
              <a:rPr lang="en-US" altLang="zh-TW" sz="2800" baseline="-25000" dirty="0">
                <a:latin typeface="Times New Roman" panose="02020603050405020304" pitchFamily="18" charset="0"/>
                <a:cs typeface="Times New Roman" panose="02020603050405020304" pitchFamily="18" charset="0"/>
              </a:rPr>
              <a:t>1</a:t>
            </a:r>
            <a:r>
              <a:rPr lang="en-US" altLang="zh-TW" sz="2800" i="1" dirty="0">
                <a:latin typeface="Times New Roman" panose="02020603050405020304" pitchFamily="18" charset="0"/>
                <a:cs typeface="Times New Roman" panose="02020603050405020304" pitchFamily="18" charset="0"/>
              </a:rPr>
              <a:t>, x</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t>, …, </a:t>
            </a:r>
            <a:r>
              <a:rPr lang="en-US" altLang="zh-TW" sz="2800" i="1" dirty="0">
                <a:latin typeface="Times New Roman" panose="02020603050405020304" pitchFamily="18" charset="0"/>
                <a:cs typeface="Times New Roman" panose="02020603050405020304" pitchFamily="18" charset="0"/>
              </a:rPr>
              <a:t>x</a:t>
            </a:r>
            <a:r>
              <a:rPr lang="en-US" altLang="zh-TW" sz="2800" i="1" baseline="-25000" dirty="0">
                <a:latin typeface="Times New Roman" panose="02020603050405020304" pitchFamily="18" charset="0"/>
                <a:cs typeface="Times New Roman" panose="02020603050405020304" pitchFamily="18" charset="0"/>
              </a:rPr>
              <a:t>n</a:t>
            </a:r>
            <a:r>
              <a:rPr lang="en-US" altLang="zh-TW" sz="2800" i="1" dirty="0">
                <a:latin typeface="Times New Roman" panose="02020603050405020304" pitchFamily="18" charset="0"/>
                <a:cs typeface="Times New Roman" panose="02020603050405020304" pitchFamily="18" charset="0"/>
              </a:rPr>
              <a:t>=v.</a:t>
            </a:r>
            <a:r>
              <a:rPr lang="en-US" altLang="zh-TW" sz="2800" dirty="0"/>
              <a:t>)</a:t>
            </a:r>
            <a:r>
              <a:rPr lang="en-US" altLang="zh-TW" sz="2800" i="1" dirty="0">
                <a:latin typeface="Times New Roman" panose="02020603050405020304" pitchFamily="18" charset="0"/>
                <a:cs typeface="Times New Roman" panose="02020603050405020304" pitchFamily="18" charset="0"/>
              </a:rPr>
              <a:t> </a:t>
            </a:r>
            <a:r>
              <a:rPr lang="en-US" altLang="zh-TW" sz="2800" dirty="0"/>
              <a:t>( </a:t>
            </a:r>
            <a:r>
              <a:rPr lang="en-US" altLang="zh-TW" sz="2800" i="1" dirty="0">
                <a:latin typeface="Times New Roman" panose="02020603050405020304" pitchFamily="18" charset="0"/>
                <a:cs typeface="Times New Roman" panose="02020603050405020304" pitchFamily="18" charset="0"/>
              </a:rPr>
              <a:t>P</a:t>
            </a:r>
            <a:r>
              <a:rPr lang="en-US" altLang="zh-TW" sz="2800" dirty="0"/>
              <a:t> has </a:t>
            </a:r>
            <a:r>
              <a:rPr lang="en-US" altLang="zh-TW" sz="2800" i="1" dirty="0">
                <a:latin typeface="Times New Roman" panose="02020603050405020304" pitchFamily="18" charset="0"/>
                <a:cs typeface="Times New Roman" panose="02020603050405020304" pitchFamily="18" charset="0"/>
              </a:rPr>
              <a:t>n</a:t>
            </a:r>
            <a:r>
              <a:rPr lang="en-US" altLang="zh-TW" sz="2800" i="1" dirty="0"/>
              <a:t> </a:t>
            </a:r>
            <a:r>
              <a:rPr lang="en-US" altLang="zh-TW" sz="2800" dirty="0"/>
              <a:t>edges.)</a:t>
            </a:r>
            <a:r>
              <a:rPr lang="zh-TW" altLang="en-US" sz="2800" i="1" dirty="0"/>
              <a:t> </a:t>
            </a:r>
            <a:endParaRPr lang="en-US" altLang="zh-TW" sz="2800" u="sng" dirty="0"/>
          </a:p>
          <a:p>
            <a:pPr eaLnBrk="1" hangingPunct="1">
              <a:lnSpc>
                <a:spcPct val="90000"/>
              </a:lnSpc>
              <a:buNone/>
            </a:pPr>
            <a:r>
              <a:rPr lang="en-US" altLang="zh-TW" sz="2800" b="1" dirty="0">
                <a:solidFill>
                  <a:srgbClr val="FF0000"/>
                </a:solidFill>
              </a:rPr>
              <a:t>Def:    </a:t>
            </a:r>
            <a:endParaRPr lang="en-US" altLang="zh-TW" sz="2800" b="1" dirty="0">
              <a:solidFill>
                <a:srgbClr val="FF0000"/>
              </a:solidFill>
            </a:endParaRPr>
          </a:p>
          <a:p>
            <a:pPr eaLnBrk="1" hangingPunct="1">
              <a:lnSpc>
                <a:spcPct val="90000"/>
              </a:lnSpc>
              <a:buNone/>
            </a:pPr>
            <a:r>
              <a:rPr lang="en-US" altLang="zh-TW" sz="2800" dirty="0"/>
              <a:t>   </a:t>
            </a:r>
            <a:r>
              <a:rPr lang="en-US" altLang="zh-TW" sz="2800" dirty="0">
                <a:solidFill>
                  <a:srgbClr val="0000CC"/>
                </a:solidFill>
              </a:rPr>
              <a:t>path</a:t>
            </a:r>
            <a:r>
              <a:rPr lang="en-US" altLang="zh-CN" sz="2800" dirty="0">
                <a:solidFill>
                  <a:srgbClr val="0000CC"/>
                </a:solidFill>
              </a:rPr>
              <a:t>:</a:t>
            </a:r>
            <a:r>
              <a:rPr lang="en-US" altLang="zh-CN" sz="2800" dirty="0"/>
              <a:t> n</a:t>
            </a:r>
            <a:r>
              <a:rPr lang="en-US" altLang="zh-CN" dirty="0"/>
              <a:t>o </a:t>
            </a:r>
            <a:r>
              <a:rPr lang="en-US" altLang="zh-CN" i="1" dirty="0"/>
              <a:t>repetition</a:t>
            </a:r>
            <a:r>
              <a:rPr lang="en-US" altLang="zh-CN" dirty="0"/>
              <a:t> </a:t>
            </a:r>
            <a:r>
              <a:rPr lang="en-US" altLang="zh-CN" dirty="0">
                <a:solidFill>
                  <a:srgbClr val="800000"/>
                </a:solidFill>
              </a:rPr>
              <a:t>vertices</a:t>
            </a:r>
            <a:r>
              <a:rPr lang="en-US" altLang="zh-CN" dirty="0"/>
              <a:t> or</a:t>
            </a:r>
            <a:r>
              <a:rPr lang="en-US" altLang="zh-CN" i="1" dirty="0"/>
              <a:t> </a:t>
            </a:r>
            <a:r>
              <a:rPr lang="en-US" altLang="zh-CN" dirty="0">
                <a:solidFill>
                  <a:srgbClr val="800000"/>
                </a:solidFill>
              </a:rPr>
              <a:t>edges</a:t>
            </a:r>
            <a:r>
              <a:rPr lang="en-US" altLang="zh-CN" dirty="0"/>
              <a:t>. </a:t>
            </a:r>
            <a:br>
              <a:rPr lang="en-US" altLang="zh-TW" sz="2800" dirty="0"/>
            </a:br>
            <a:r>
              <a:rPr lang="en-US" altLang="zh-TW" sz="2800" dirty="0">
                <a:solidFill>
                  <a:srgbClr val="0000CC"/>
                </a:solidFill>
              </a:rPr>
              <a:t>trail</a:t>
            </a:r>
            <a:r>
              <a:rPr lang="en-US" altLang="zh-TW" sz="2800" dirty="0"/>
              <a:t>:  path + </a:t>
            </a:r>
            <a:r>
              <a:rPr lang="en-US" altLang="zh-CN" i="1" dirty="0"/>
              <a:t>repetition</a:t>
            </a:r>
            <a:r>
              <a:rPr lang="en-US" altLang="zh-CN" dirty="0"/>
              <a:t> </a:t>
            </a:r>
            <a:r>
              <a:rPr lang="en-US" altLang="zh-CN" dirty="0">
                <a:solidFill>
                  <a:srgbClr val="800000"/>
                </a:solidFill>
              </a:rPr>
              <a:t>vertices</a:t>
            </a:r>
            <a:br>
              <a:rPr lang="en-US" altLang="zh-TW" sz="2800" dirty="0"/>
            </a:br>
            <a:r>
              <a:rPr lang="en-US" altLang="zh-TW" sz="2800" dirty="0">
                <a:solidFill>
                  <a:srgbClr val="0000CC"/>
                </a:solidFill>
              </a:rPr>
              <a:t>walk</a:t>
            </a:r>
            <a:r>
              <a:rPr lang="en-US" altLang="zh-TW" sz="2800" dirty="0"/>
              <a:t>: path + </a:t>
            </a:r>
            <a:r>
              <a:rPr lang="en-US" altLang="zh-CN" i="1" dirty="0"/>
              <a:t>repetition</a:t>
            </a:r>
            <a:r>
              <a:rPr lang="en-US" altLang="zh-CN" dirty="0"/>
              <a:t> </a:t>
            </a:r>
            <a:r>
              <a:rPr lang="en-US" altLang="zh-CN" dirty="0">
                <a:solidFill>
                  <a:srgbClr val="800000"/>
                </a:solidFill>
              </a:rPr>
              <a:t>vertices</a:t>
            </a:r>
            <a:r>
              <a:rPr lang="en-US" altLang="zh-CN" dirty="0"/>
              <a:t> and </a:t>
            </a:r>
            <a:r>
              <a:rPr lang="en-US" altLang="zh-CN" dirty="0">
                <a:solidFill>
                  <a:srgbClr val="800000"/>
                </a:solidFill>
              </a:rPr>
              <a:t>edges</a:t>
            </a:r>
            <a:br>
              <a:rPr lang="en-US" altLang="zh-TW" sz="2800" dirty="0"/>
            </a:br>
            <a:br>
              <a:rPr lang="en-US" altLang="zh-TW" sz="2800" i="1" dirty="0">
                <a:latin typeface="Times New Roman" panose="02020603050405020304" pitchFamily="18" charset="0"/>
                <a:cs typeface="Times New Roman" panose="02020603050405020304" pitchFamily="18" charset="0"/>
              </a:rPr>
            </a:br>
            <a:endParaRPr lang="en-US" altLang="zh-TW" sz="2800" i="1" dirty="0">
              <a:latin typeface="Times New Roman" panose="02020603050405020304" pitchFamily="18" charset="0"/>
              <a:ea typeface="Times New Roman" panose="02020603050405020304" pitchFamily="18" charset="0"/>
            </a:endParaRPr>
          </a:p>
        </p:txBody>
      </p:sp>
      <p:sp>
        <p:nvSpPr>
          <p:cNvPr id="25" name="矩形 24"/>
          <p:cNvSpPr/>
          <p:nvPr/>
        </p:nvSpPr>
        <p:spPr>
          <a:xfrm>
            <a:off x="152400" y="5043488"/>
            <a:ext cx="1647825" cy="5191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a:t>
            </a:r>
            <a:endParaRPr kumimoji="1" lang="zh-TW" altLang="en-US" sz="2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1988" name="Rectangle 2"/>
          <p:cNvSpPr>
            <a:spLocks noGrp="1"/>
          </p:cNvSpPr>
          <p:nvPr>
            <p:ph type="title"/>
          </p:nvPr>
        </p:nvSpPr>
        <p:spPr>
          <a:xfrm>
            <a:off x="457200" y="457200"/>
            <a:ext cx="8229600" cy="609600"/>
          </a:xfrm>
        </p:spPr>
        <p:txBody>
          <a:bodyPr vert="horz" wrap="square" lIns="91440" tIns="45720" rIns="91440" bIns="45720" anchor="ctr"/>
          <a:p>
            <a:pPr eaLnBrk="1" hangingPunct="1"/>
            <a:r>
              <a:rPr lang="en-US" altLang="zh-TW" sz="4000" dirty="0"/>
              <a:t>§10.4: Connectivity</a:t>
            </a:r>
            <a:endParaRPr lang="en-US" altLang="zh-TW" sz="4000" dirty="0"/>
          </a:p>
        </p:txBody>
      </p:sp>
      <p:sp>
        <p:nvSpPr>
          <p:cNvPr id="41989"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grpSp>
        <p:nvGrpSpPr>
          <p:cNvPr id="2" name="Group 32"/>
          <p:cNvGrpSpPr/>
          <p:nvPr/>
        </p:nvGrpSpPr>
        <p:grpSpPr>
          <a:xfrm>
            <a:off x="1360488" y="5102225"/>
            <a:ext cx="2400300" cy="1604963"/>
            <a:chOff x="656" y="2977"/>
            <a:chExt cx="1512" cy="1011"/>
          </a:xfrm>
        </p:grpSpPr>
        <p:sp>
          <p:nvSpPr>
            <p:cNvPr id="41992" name="Oval 34"/>
            <p:cNvSpPr/>
            <p:nvPr/>
          </p:nvSpPr>
          <p:spPr>
            <a:xfrm rot="10800000">
              <a:off x="1863" y="3657"/>
              <a:ext cx="91" cy="91"/>
            </a:xfrm>
            <a:prstGeom prst="ellipse">
              <a:avLst/>
            </a:prstGeom>
            <a:solidFill>
              <a:schemeClr val="tx1"/>
            </a:solidFill>
            <a:ln w="254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1993" name="Oval 35"/>
            <p:cNvSpPr/>
            <p:nvPr/>
          </p:nvSpPr>
          <p:spPr>
            <a:xfrm rot="10800000">
              <a:off x="1868" y="3158"/>
              <a:ext cx="91" cy="91"/>
            </a:xfrm>
            <a:prstGeom prst="ellipse">
              <a:avLst/>
            </a:prstGeom>
            <a:solidFill>
              <a:schemeClr val="tx1"/>
            </a:solidFill>
            <a:ln w="254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1994" name="Oval 36"/>
            <p:cNvSpPr/>
            <p:nvPr/>
          </p:nvSpPr>
          <p:spPr>
            <a:xfrm rot="10800000">
              <a:off x="1246" y="3158"/>
              <a:ext cx="91" cy="91"/>
            </a:xfrm>
            <a:prstGeom prst="ellipse">
              <a:avLst/>
            </a:prstGeom>
            <a:solidFill>
              <a:schemeClr val="tx1"/>
            </a:solidFill>
            <a:ln w="254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1995" name="Oval 37"/>
            <p:cNvSpPr/>
            <p:nvPr/>
          </p:nvSpPr>
          <p:spPr>
            <a:xfrm rot="10800000">
              <a:off x="1246" y="3657"/>
              <a:ext cx="91" cy="91"/>
            </a:xfrm>
            <a:prstGeom prst="ellipse">
              <a:avLst/>
            </a:prstGeom>
            <a:solidFill>
              <a:schemeClr val="tx1"/>
            </a:solidFill>
            <a:ln w="254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1996" name="Line 38"/>
            <p:cNvSpPr/>
            <p:nvPr/>
          </p:nvSpPr>
          <p:spPr>
            <a:xfrm flipH="1">
              <a:off x="1335" y="3702"/>
              <a:ext cx="590" cy="2"/>
            </a:xfrm>
            <a:prstGeom prst="line">
              <a:avLst/>
            </a:prstGeom>
            <a:ln w="25400" cap="flat" cmpd="sng">
              <a:solidFill>
                <a:schemeClr val="tx1"/>
              </a:solidFill>
              <a:prstDash val="solid"/>
              <a:headEnd type="none" w="med" len="med"/>
              <a:tailEnd type="none" w="med" len="med"/>
            </a:ln>
          </p:spPr>
        </p:sp>
        <p:sp>
          <p:nvSpPr>
            <p:cNvPr id="41997" name="Oval 39"/>
            <p:cNvSpPr/>
            <p:nvPr/>
          </p:nvSpPr>
          <p:spPr>
            <a:xfrm rot="10800000">
              <a:off x="836" y="3430"/>
              <a:ext cx="91" cy="91"/>
            </a:xfrm>
            <a:prstGeom prst="ellipse">
              <a:avLst/>
            </a:prstGeom>
            <a:solidFill>
              <a:schemeClr val="tx1"/>
            </a:solidFill>
            <a:ln w="254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1998" name="Line 40"/>
            <p:cNvSpPr/>
            <p:nvPr/>
          </p:nvSpPr>
          <p:spPr>
            <a:xfrm flipH="1">
              <a:off x="1291" y="3203"/>
              <a:ext cx="634" cy="2"/>
            </a:xfrm>
            <a:prstGeom prst="line">
              <a:avLst/>
            </a:prstGeom>
            <a:ln w="25400" cap="flat" cmpd="sng">
              <a:solidFill>
                <a:schemeClr val="tx1"/>
              </a:solidFill>
              <a:prstDash val="solid"/>
              <a:headEnd type="none" w="med" len="med"/>
              <a:tailEnd type="none" w="med" len="med"/>
            </a:ln>
          </p:spPr>
        </p:sp>
        <p:sp>
          <p:nvSpPr>
            <p:cNvPr id="41999" name="Line 41"/>
            <p:cNvSpPr/>
            <p:nvPr/>
          </p:nvSpPr>
          <p:spPr>
            <a:xfrm rot="-10800000" flipH="1">
              <a:off x="883" y="3203"/>
              <a:ext cx="408" cy="272"/>
            </a:xfrm>
            <a:prstGeom prst="line">
              <a:avLst/>
            </a:prstGeom>
            <a:ln w="25400" cap="flat" cmpd="sng">
              <a:solidFill>
                <a:schemeClr val="tx1"/>
              </a:solidFill>
              <a:prstDash val="solid"/>
              <a:headEnd type="none" w="med" len="med"/>
              <a:tailEnd type="none" w="med" len="med"/>
            </a:ln>
          </p:spPr>
        </p:sp>
        <p:sp>
          <p:nvSpPr>
            <p:cNvPr id="42000" name="Line 42"/>
            <p:cNvSpPr/>
            <p:nvPr/>
          </p:nvSpPr>
          <p:spPr>
            <a:xfrm rot="10800000">
              <a:off x="1291" y="3203"/>
              <a:ext cx="0" cy="499"/>
            </a:xfrm>
            <a:prstGeom prst="line">
              <a:avLst/>
            </a:prstGeom>
            <a:ln w="25400" cap="flat" cmpd="sng">
              <a:solidFill>
                <a:schemeClr val="tx1"/>
              </a:solidFill>
              <a:prstDash val="solid"/>
              <a:headEnd type="none" w="med" len="med"/>
              <a:tailEnd type="none" w="med" len="med"/>
            </a:ln>
          </p:spPr>
        </p:sp>
        <p:sp>
          <p:nvSpPr>
            <p:cNvPr id="42001" name="Line 43"/>
            <p:cNvSpPr/>
            <p:nvPr/>
          </p:nvSpPr>
          <p:spPr>
            <a:xfrm flipH="1">
              <a:off x="1291" y="3203"/>
              <a:ext cx="590" cy="499"/>
            </a:xfrm>
            <a:prstGeom prst="line">
              <a:avLst/>
            </a:prstGeom>
            <a:ln w="25400" cap="flat" cmpd="sng">
              <a:solidFill>
                <a:schemeClr val="tx1"/>
              </a:solidFill>
              <a:prstDash val="solid"/>
              <a:headEnd type="none" w="med" len="med"/>
              <a:tailEnd type="none" w="med" len="med"/>
            </a:ln>
          </p:spPr>
        </p:sp>
        <p:sp>
          <p:nvSpPr>
            <p:cNvPr id="42002" name="Text Box 44"/>
            <p:cNvSpPr txBox="1"/>
            <p:nvPr/>
          </p:nvSpPr>
          <p:spPr>
            <a:xfrm>
              <a:off x="656" y="3430"/>
              <a:ext cx="206"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u</a:t>
              </a:r>
              <a:endParaRPr lang="en-US" altLang="zh-TW" sz="1800" dirty="0"/>
            </a:p>
          </p:txBody>
        </p:sp>
        <p:sp>
          <p:nvSpPr>
            <p:cNvPr id="42003" name="Text Box 45"/>
            <p:cNvSpPr txBox="1"/>
            <p:nvPr/>
          </p:nvSpPr>
          <p:spPr>
            <a:xfrm>
              <a:off x="1110" y="2977"/>
              <a:ext cx="197"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v</a:t>
              </a:r>
              <a:endParaRPr lang="en-US" altLang="zh-TW" sz="1800" dirty="0"/>
            </a:p>
          </p:txBody>
        </p:sp>
        <p:sp>
          <p:nvSpPr>
            <p:cNvPr id="42004" name="Text Box 46"/>
            <p:cNvSpPr txBox="1"/>
            <p:nvPr/>
          </p:nvSpPr>
          <p:spPr>
            <a:xfrm>
              <a:off x="1926" y="2977"/>
              <a:ext cx="242"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w</a:t>
              </a:r>
              <a:endParaRPr lang="en-US" altLang="zh-TW" sz="1800" dirty="0"/>
            </a:p>
          </p:txBody>
        </p:sp>
        <p:sp>
          <p:nvSpPr>
            <p:cNvPr id="42005" name="Text Box 47"/>
            <p:cNvSpPr txBox="1"/>
            <p:nvPr/>
          </p:nvSpPr>
          <p:spPr>
            <a:xfrm>
              <a:off x="1143" y="3757"/>
              <a:ext cx="201"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x</a:t>
              </a:r>
              <a:endParaRPr lang="en-US" altLang="zh-TW" sz="1800" dirty="0"/>
            </a:p>
          </p:txBody>
        </p:sp>
        <p:sp>
          <p:nvSpPr>
            <p:cNvPr id="42006" name="Text Box 48"/>
            <p:cNvSpPr txBox="1"/>
            <p:nvPr/>
          </p:nvSpPr>
          <p:spPr>
            <a:xfrm>
              <a:off x="1881" y="3748"/>
              <a:ext cx="197"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y</a:t>
              </a:r>
              <a:endParaRPr lang="en-US" altLang="zh-TW" sz="1800" dirty="0"/>
            </a:p>
          </p:txBody>
        </p:sp>
        <p:sp>
          <p:nvSpPr>
            <p:cNvPr id="42007" name="Line 42"/>
            <p:cNvSpPr/>
            <p:nvPr/>
          </p:nvSpPr>
          <p:spPr>
            <a:xfrm rot="10800000">
              <a:off x="1911" y="3219"/>
              <a:ext cx="0" cy="499"/>
            </a:xfrm>
            <a:prstGeom prst="line">
              <a:avLst/>
            </a:prstGeom>
            <a:ln w="25400" cap="flat" cmpd="sng">
              <a:solidFill>
                <a:schemeClr val="tx1"/>
              </a:solidFill>
              <a:prstDash val="solid"/>
              <a:headEnd type="none" w="med" len="med"/>
              <a:tailEnd type="none" w="med" len="med"/>
            </a:ln>
          </p:spPr>
        </p:sp>
        <p:sp>
          <p:nvSpPr>
            <p:cNvPr id="42008" name="Line 43"/>
            <p:cNvSpPr/>
            <p:nvPr/>
          </p:nvSpPr>
          <p:spPr>
            <a:xfrm flipH="1" flipV="1">
              <a:off x="1287" y="3219"/>
              <a:ext cx="624" cy="480"/>
            </a:xfrm>
            <a:prstGeom prst="line">
              <a:avLst/>
            </a:prstGeom>
            <a:ln w="25400" cap="flat" cmpd="sng">
              <a:solidFill>
                <a:schemeClr val="tx1"/>
              </a:solidFill>
              <a:prstDash val="solid"/>
              <a:headEnd type="none" w="med" len="med"/>
              <a:tailEnd type="none" w="med" len="med"/>
            </a:ln>
          </p:spPr>
        </p:sp>
        <p:sp>
          <p:nvSpPr>
            <p:cNvPr id="42009" name="Line 43"/>
            <p:cNvSpPr/>
            <p:nvPr/>
          </p:nvSpPr>
          <p:spPr>
            <a:xfrm flipH="1" flipV="1">
              <a:off x="903" y="3459"/>
              <a:ext cx="384" cy="240"/>
            </a:xfrm>
            <a:prstGeom prst="line">
              <a:avLst/>
            </a:prstGeom>
            <a:ln w="25400" cap="flat" cmpd="sng">
              <a:solidFill>
                <a:schemeClr val="tx1"/>
              </a:solidFill>
              <a:prstDash val="solid"/>
              <a:headEnd type="none" w="med" len="med"/>
              <a:tailEnd type="none" w="med" len="med"/>
            </a:ln>
          </p:spPr>
        </p:sp>
      </p:grpSp>
      <p:sp>
        <p:nvSpPr>
          <p:cNvPr id="22" name="Text Box 49"/>
          <p:cNvSpPr txBox="1"/>
          <p:nvPr/>
        </p:nvSpPr>
        <p:spPr>
          <a:xfrm>
            <a:off x="4171950" y="5222875"/>
            <a:ext cx="3143250" cy="1201738"/>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path: u, v, y</a:t>
            </a:r>
            <a:endParaRPr lang="en-US" altLang="zh-TW" sz="2400" dirty="0"/>
          </a:p>
          <a:p>
            <a:pPr marL="0" lvl="0" indent="0" eaLnBrk="1" hangingPunct="1">
              <a:spcBef>
                <a:spcPct val="0"/>
              </a:spcBef>
              <a:buClrTx/>
              <a:buSzPct val="100000"/>
              <a:buNone/>
            </a:pPr>
            <a:r>
              <a:rPr lang="en-US" altLang="zh-TW" sz="2400" dirty="0"/>
              <a:t>trail: u, </a:t>
            </a:r>
            <a:r>
              <a:rPr lang="en-US" altLang="zh-TW" sz="2400" dirty="0">
                <a:solidFill>
                  <a:srgbClr val="008000"/>
                </a:solidFill>
              </a:rPr>
              <a:t>v</a:t>
            </a:r>
            <a:r>
              <a:rPr lang="en-US" altLang="zh-TW" sz="2400" dirty="0"/>
              <a:t>, w, y, </a:t>
            </a:r>
            <a:r>
              <a:rPr lang="en-US" altLang="zh-TW" sz="2400" dirty="0">
                <a:solidFill>
                  <a:srgbClr val="008000"/>
                </a:solidFill>
              </a:rPr>
              <a:t>v</a:t>
            </a:r>
            <a:r>
              <a:rPr lang="en-US" altLang="zh-TW" sz="2400" dirty="0"/>
              <a:t>, x, y</a:t>
            </a:r>
            <a:endParaRPr lang="en-US" altLang="zh-TW" sz="2400" dirty="0"/>
          </a:p>
          <a:p>
            <a:pPr marL="0" lvl="0" indent="0" eaLnBrk="1" hangingPunct="1">
              <a:spcBef>
                <a:spcPct val="0"/>
              </a:spcBef>
              <a:buClrTx/>
              <a:buSzPct val="100000"/>
              <a:buNone/>
            </a:pPr>
            <a:r>
              <a:rPr lang="en-US" altLang="zh-TW" sz="2400" dirty="0"/>
              <a:t>walk: u, v, w, v, x, v, y</a:t>
            </a:r>
            <a:endParaRPr lang="en-US" alt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40">
                                            <p:txEl>
                                              <p:charRg st="195" end="204"/>
                                            </p:txEl>
                                          </p:spTgt>
                                        </p:tgtEl>
                                        <p:attrNameLst>
                                          <p:attrName>style.visibility</p:attrName>
                                        </p:attrNameLst>
                                      </p:cBhvr>
                                      <p:to>
                                        <p:strVal val="visible"/>
                                      </p:to>
                                    </p:set>
                                    <p:anim calcmode="lin" valueType="num">
                                      <p:cBhvr additive="base">
                                        <p:cTn id="7" dur="500" fill="hold"/>
                                        <p:tgtEl>
                                          <p:spTgt spid="39940">
                                            <p:txEl>
                                              <p:charRg st="195" end="20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40">
                                            <p:txEl>
                                              <p:charRg st="195" end="20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940">
                                            <p:txEl>
                                              <p:charRg st="204" end="327"/>
                                            </p:txEl>
                                          </p:spTgt>
                                        </p:tgtEl>
                                        <p:attrNameLst>
                                          <p:attrName>style.visibility</p:attrName>
                                        </p:attrNameLst>
                                      </p:cBhvr>
                                      <p:to>
                                        <p:strVal val="visible"/>
                                      </p:to>
                                    </p:set>
                                    <p:anim calcmode="lin" valueType="num">
                                      <p:cBhvr additive="base">
                                        <p:cTn id="11" dur="500" fill="hold"/>
                                        <p:tgtEl>
                                          <p:spTgt spid="39940">
                                            <p:txEl>
                                              <p:charRg st="204" end="32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940">
                                            <p:txEl>
                                              <p:charRg st="204" end="327"/>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投影片編號版面配置區 3"/>
          <p:cNvSpPr txBox="1">
            <a:spLocks noGrp="1"/>
          </p:cNvSpPr>
          <p:nvPr>
            <p:ph type="sldNum" sz="quarter" idx="11"/>
          </p:nvPr>
        </p:nvSpPr>
        <p:spPr/>
        <p:txBody>
          <a:bodyPr anchor="b"/>
          <a:p>
            <a:pPr mar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43011" name="矩形 22"/>
          <p:cNvSpPr/>
          <p:nvPr/>
        </p:nvSpPr>
        <p:spPr>
          <a:xfrm>
            <a:off x="381000" y="533400"/>
            <a:ext cx="4572000" cy="1800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FF0000"/>
                </a:solidFill>
              </a:rPr>
              <a:t>Def: </a:t>
            </a:r>
            <a:endParaRPr lang="en-US" altLang="zh-TW" sz="2800" b="1" dirty="0">
              <a:solidFill>
                <a:srgbClr val="FF0000"/>
              </a:solidFill>
            </a:endParaRPr>
          </a:p>
          <a:p>
            <a:pPr marL="0" lvl="0" indent="0" eaLnBrk="1" hangingPunct="1">
              <a:spcBef>
                <a:spcPct val="0"/>
              </a:spcBef>
              <a:buClrTx/>
              <a:buSzPct val="100000"/>
              <a:buNone/>
            </a:pPr>
            <a:r>
              <a:rPr lang="en-US" altLang="zh-TW" sz="2800" dirty="0">
                <a:solidFill>
                  <a:srgbClr val="0000CC"/>
                </a:solidFill>
              </a:rPr>
              <a:t>cycle</a:t>
            </a:r>
            <a:r>
              <a:rPr lang="en-US" altLang="zh-TW" sz="2800" dirty="0"/>
              <a:t>: path with </a:t>
            </a:r>
            <a:r>
              <a:rPr lang="en-US" altLang="zh-TW" sz="2800" i="1" dirty="0">
                <a:latin typeface="Times New Roman" panose="02020603050405020304" pitchFamily="18" charset="0"/>
                <a:cs typeface="Times New Roman" panose="02020603050405020304" pitchFamily="18" charset="0"/>
              </a:rPr>
              <a:t>u=v</a:t>
            </a:r>
            <a:br>
              <a:rPr lang="en-US" altLang="zh-TW" sz="2800" dirty="0"/>
            </a:br>
            <a:r>
              <a:rPr lang="en-US" altLang="zh-TW" sz="2800" dirty="0">
                <a:solidFill>
                  <a:srgbClr val="0000CC"/>
                </a:solidFill>
              </a:rPr>
              <a:t>circuit</a:t>
            </a:r>
            <a:r>
              <a:rPr lang="en-US" altLang="zh-TW" sz="2800" dirty="0"/>
              <a:t>: trail with </a:t>
            </a:r>
            <a:r>
              <a:rPr lang="en-US" altLang="zh-TW" sz="2800" i="1" dirty="0">
                <a:latin typeface="Times New Roman" panose="02020603050405020304" pitchFamily="18" charset="0"/>
                <a:cs typeface="Times New Roman" panose="02020603050405020304" pitchFamily="18" charset="0"/>
              </a:rPr>
              <a:t>u=v</a:t>
            </a:r>
            <a:br>
              <a:rPr lang="en-US" altLang="zh-TW" sz="2800" i="1" dirty="0">
                <a:latin typeface="Times New Roman" panose="02020603050405020304" pitchFamily="18" charset="0"/>
                <a:cs typeface="Times New Roman" panose="02020603050405020304" pitchFamily="18" charset="0"/>
              </a:rPr>
            </a:br>
            <a:r>
              <a:rPr lang="en-US" altLang="zh-TW" sz="2800" dirty="0">
                <a:solidFill>
                  <a:srgbClr val="0000CC"/>
                </a:solidFill>
              </a:rPr>
              <a:t>closed walk</a:t>
            </a:r>
            <a:r>
              <a:rPr lang="en-US" altLang="zh-TW" sz="2800" dirty="0"/>
              <a:t>: walk with </a:t>
            </a:r>
            <a:r>
              <a:rPr lang="en-US" altLang="zh-TW" sz="2800" i="1" dirty="0">
                <a:latin typeface="Times New Roman" panose="02020603050405020304" pitchFamily="18" charset="0"/>
                <a:cs typeface="Times New Roman" panose="02020603050405020304" pitchFamily="18" charset="0"/>
              </a:rPr>
              <a:t>u=v</a:t>
            </a:r>
            <a:endParaRPr lang="zh-TW" altLang="en-US" sz="2800" dirty="0"/>
          </a:p>
        </p:txBody>
      </p:sp>
      <p:grpSp>
        <p:nvGrpSpPr>
          <p:cNvPr id="43012" name="Group 32"/>
          <p:cNvGrpSpPr/>
          <p:nvPr/>
        </p:nvGrpSpPr>
        <p:grpSpPr>
          <a:xfrm>
            <a:off x="685800" y="3352800"/>
            <a:ext cx="2503488" cy="1677988"/>
            <a:chOff x="567" y="2931"/>
            <a:chExt cx="1577" cy="1057"/>
          </a:xfrm>
        </p:grpSpPr>
        <p:sp>
          <p:nvSpPr>
            <p:cNvPr id="43015" name="Text Box 33"/>
            <p:cNvSpPr txBox="1"/>
            <p:nvPr/>
          </p:nvSpPr>
          <p:spPr>
            <a:xfrm>
              <a:off x="567" y="2931"/>
              <a:ext cx="265" cy="288"/>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G</a:t>
              </a:r>
              <a:endParaRPr lang="en-US" altLang="zh-TW" sz="2400" baseline="-25000" dirty="0"/>
            </a:p>
          </p:txBody>
        </p:sp>
        <p:sp>
          <p:nvSpPr>
            <p:cNvPr id="43016" name="Oval 34"/>
            <p:cNvSpPr/>
            <p:nvPr/>
          </p:nvSpPr>
          <p:spPr>
            <a:xfrm rot="10800000">
              <a:off x="1863" y="3657"/>
              <a:ext cx="91" cy="91"/>
            </a:xfrm>
            <a:prstGeom prst="ellipse">
              <a:avLst/>
            </a:prstGeom>
            <a:solidFill>
              <a:schemeClr val="tx1"/>
            </a:solidFill>
            <a:ln w="25400" cap="flat" cmpd="sng">
              <a:solidFill>
                <a:schemeClr val="tx1"/>
              </a:solidFill>
              <a:prstDash val="solid"/>
              <a:headEnd type="none" w="med" len="med"/>
              <a:tailEnd type="none" w="med" len="med"/>
            </a:ln>
          </p:spPr>
          <p:txBody>
            <a:bodyPr rot="10800000"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3017" name="Oval 35"/>
            <p:cNvSpPr/>
            <p:nvPr/>
          </p:nvSpPr>
          <p:spPr>
            <a:xfrm rot="10800000">
              <a:off x="1868" y="3158"/>
              <a:ext cx="91" cy="91"/>
            </a:xfrm>
            <a:prstGeom prst="ellipse">
              <a:avLst/>
            </a:prstGeom>
            <a:solidFill>
              <a:schemeClr val="tx1"/>
            </a:solidFill>
            <a:ln w="25400" cap="flat" cmpd="sng">
              <a:solidFill>
                <a:schemeClr val="tx1"/>
              </a:solidFill>
              <a:prstDash val="solid"/>
              <a:headEnd type="none" w="med" len="med"/>
              <a:tailEnd type="none" w="med" len="med"/>
            </a:ln>
          </p:spPr>
          <p:txBody>
            <a:bodyPr rot="10800000"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3018" name="Oval 36"/>
            <p:cNvSpPr/>
            <p:nvPr/>
          </p:nvSpPr>
          <p:spPr>
            <a:xfrm rot="10800000">
              <a:off x="1246" y="3158"/>
              <a:ext cx="91" cy="91"/>
            </a:xfrm>
            <a:prstGeom prst="ellipse">
              <a:avLst/>
            </a:prstGeom>
            <a:solidFill>
              <a:schemeClr val="tx1"/>
            </a:solidFill>
            <a:ln w="25400" cap="flat" cmpd="sng">
              <a:solidFill>
                <a:schemeClr val="tx1"/>
              </a:solidFill>
              <a:prstDash val="solid"/>
              <a:headEnd type="none" w="med" len="med"/>
              <a:tailEnd type="none" w="med" len="med"/>
            </a:ln>
          </p:spPr>
          <p:txBody>
            <a:bodyPr rot="10800000"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3019" name="Oval 37"/>
            <p:cNvSpPr/>
            <p:nvPr/>
          </p:nvSpPr>
          <p:spPr>
            <a:xfrm rot="10800000">
              <a:off x="1246" y="3657"/>
              <a:ext cx="91" cy="91"/>
            </a:xfrm>
            <a:prstGeom prst="ellipse">
              <a:avLst/>
            </a:prstGeom>
            <a:solidFill>
              <a:schemeClr val="tx1"/>
            </a:solidFill>
            <a:ln w="25400" cap="flat" cmpd="sng">
              <a:solidFill>
                <a:schemeClr val="tx1"/>
              </a:solidFill>
              <a:prstDash val="solid"/>
              <a:headEnd type="none" w="med" len="med"/>
              <a:tailEnd type="none" w="med" len="med"/>
            </a:ln>
          </p:spPr>
          <p:txBody>
            <a:bodyPr rot="10800000"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3020" name="Line 38"/>
            <p:cNvSpPr/>
            <p:nvPr/>
          </p:nvSpPr>
          <p:spPr>
            <a:xfrm flipH="1">
              <a:off x="1335" y="3702"/>
              <a:ext cx="590" cy="2"/>
            </a:xfrm>
            <a:prstGeom prst="line">
              <a:avLst/>
            </a:prstGeom>
            <a:ln w="25400" cap="flat" cmpd="sng">
              <a:solidFill>
                <a:schemeClr val="tx1"/>
              </a:solidFill>
              <a:prstDash val="solid"/>
              <a:headEnd type="none" w="med" len="med"/>
              <a:tailEnd type="none" w="med" len="med"/>
            </a:ln>
          </p:spPr>
        </p:sp>
        <p:sp>
          <p:nvSpPr>
            <p:cNvPr id="43021" name="Oval 39"/>
            <p:cNvSpPr/>
            <p:nvPr/>
          </p:nvSpPr>
          <p:spPr>
            <a:xfrm rot="10800000">
              <a:off x="836" y="3430"/>
              <a:ext cx="91" cy="91"/>
            </a:xfrm>
            <a:prstGeom prst="ellipse">
              <a:avLst/>
            </a:prstGeom>
            <a:solidFill>
              <a:schemeClr val="tx1"/>
            </a:solidFill>
            <a:ln w="25400" cap="flat" cmpd="sng">
              <a:solidFill>
                <a:schemeClr val="tx1"/>
              </a:solidFill>
              <a:prstDash val="solid"/>
              <a:headEnd type="none" w="med" len="med"/>
              <a:tailEnd type="none" w="med" len="med"/>
            </a:ln>
          </p:spPr>
          <p:txBody>
            <a:bodyPr rot="10800000"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43022" name="Line 40"/>
            <p:cNvSpPr/>
            <p:nvPr/>
          </p:nvSpPr>
          <p:spPr>
            <a:xfrm flipH="1">
              <a:off x="1291" y="3203"/>
              <a:ext cx="634" cy="2"/>
            </a:xfrm>
            <a:prstGeom prst="line">
              <a:avLst/>
            </a:prstGeom>
            <a:ln w="25400" cap="flat" cmpd="sng">
              <a:solidFill>
                <a:schemeClr val="tx1"/>
              </a:solidFill>
              <a:prstDash val="solid"/>
              <a:headEnd type="none" w="med" len="med"/>
              <a:tailEnd type="none" w="med" len="med"/>
            </a:ln>
          </p:spPr>
        </p:sp>
        <p:sp>
          <p:nvSpPr>
            <p:cNvPr id="43023" name="Line 41"/>
            <p:cNvSpPr/>
            <p:nvPr/>
          </p:nvSpPr>
          <p:spPr>
            <a:xfrm rot="-10800000" flipH="1">
              <a:off x="883" y="3203"/>
              <a:ext cx="408" cy="272"/>
            </a:xfrm>
            <a:prstGeom prst="line">
              <a:avLst/>
            </a:prstGeom>
            <a:ln w="25400" cap="flat" cmpd="sng">
              <a:solidFill>
                <a:schemeClr val="tx1"/>
              </a:solidFill>
              <a:prstDash val="solid"/>
              <a:headEnd type="none" w="med" len="med"/>
              <a:tailEnd type="none" w="med" len="med"/>
            </a:ln>
          </p:spPr>
        </p:sp>
        <p:sp>
          <p:nvSpPr>
            <p:cNvPr id="43024" name="Line 42"/>
            <p:cNvSpPr/>
            <p:nvPr/>
          </p:nvSpPr>
          <p:spPr>
            <a:xfrm rot="10800000">
              <a:off x="1291" y="3203"/>
              <a:ext cx="0" cy="499"/>
            </a:xfrm>
            <a:prstGeom prst="line">
              <a:avLst/>
            </a:prstGeom>
            <a:ln w="25400" cap="flat" cmpd="sng">
              <a:solidFill>
                <a:schemeClr val="tx1"/>
              </a:solidFill>
              <a:prstDash val="solid"/>
              <a:headEnd type="none" w="med" len="med"/>
              <a:tailEnd type="none" w="med" len="med"/>
            </a:ln>
          </p:spPr>
        </p:sp>
        <p:sp>
          <p:nvSpPr>
            <p:cNvPr id="43025" name="Line 43"/>
            <p:cNvSpPr/>
            <p:nvPr/>
          </p:nvSpPr>
          <p:spPr>
            <a:xfrm flipH="1">
              <a:off x="1291" y="3203"/>
              <a:ext cx="590" cy="499"/>
            </a:xfrm>
            <a:prstGeom prst="line">
              <a:avLst/>
            </a:prstGeom>
            <a:ln w="25400" cap="flat" cmpd="sng">
              <a:solidFill>
                <a:schemeClr val="tx1"/>
              </a:solidFill>
              <a:prstDash val="solid"/>
              <a:headEnd type="none" w="med" len="med"/>
              <a:tailEnd type="none" w="med" len="med"/>
            </a:ln>
          </p:spPr>
        </p:sp>
        <p:sp>
          <p:nvSpPr>
            <p:cNvPr id="43026" name="Text Box 44"/>
            <p:cNvSpPr txBox="1"/>
            <p:nvPr/>
          </p:nvSpPr>
          <p:spPr>
            <a:xfrm>
              <a:off x="656" y="3430"/>
              <a:ext cx="194"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u</a:t>
              </a:r>
              <a:endParaRPr lang="en-US" altLang="zh-TW" sz="1800" dirty="0"/>
            </a:p>
          </p:txBody>
        </p:sp>
        <p:sp>
          <p:nvSpPr>
            <p:cNvPr id="43027" name="Text Box 45"/>
            <p:cNvSpPr txBox="1"/>
            <p:nvPr/>
          </p:nvSpPr>
          <p:spPr>
            <a:xfrm>
              <a:off x="1110" y="2977"/>
              <a:ext cx="186"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v</a:t>
              </a:r>
              <a:endParaRPr lang="en-US" altLang="zh-TW" sz="1800" dirty="0"/>
            </a:p>
          </p:txBody>
        </p:sp>
        <p:sp>
          <p:nvSpPr>
            <p:cNvPr id="43028" name="Text Box 46"/>
            <p:cNvSpPr txBox="1"/>
            <p:nvPr/>
          </p:nvSpPr>
          <p:spPr>
            <a:xfrm>
              <a:off x="1926" y="2977"/>
              <a:ext cx="218"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w</a:t>
              </a:r>
              <a:endParaRPr lang="en-US" altLang="zh-TW" sz="1800" dirty="0"/>
            </a:p>
          </p:txBody>
        </p:sp>
        <p:sp>
          <p:nvSpPr>
            <p:cNvPr id="43029" name="Text Box 47"/>
            <p:cNvSpPr txBox="1"/>
            <p:nvPr/>
          </p:nvSpPr>
          <p:spPr>
            <a:xfrm>
              <a:off x="1143" y="3757"/>
              <a:ext cx="186"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x</a:t>
              </a:r>
              <a:endParaRPr lang="en-US" altLang="zh-TW" sz="1800" dirty="0"/>
            </a:p>
          </p:txBody>
        </p:sp>
        <p:sp>
          <p:nvSpPr>
            <p:cNvPr id="43030" name="Text Box 48"/>
            <p:cNvSpPr txBox="1"/>
            <p:nvPr/>
          </p:nvSpPr>
          <p:spPr>
            <a:xfrm>
              <a:off x="1881" y="3748"/>
              <a:ext cx="186" cy="231"/>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y</a:t>
              </a:r>
              <a:endParaRPr lang="en-US" altLang="zh-TW" sz="1800" dirty="0"/>
            </a:p>
          </p:txBody>
        </p:sp>
        <p:sp>
          <p:nvSpPr>
            <p:cNvPr id="43031" name="Line 42"/>
            <p:cNvSpPr/>
            <p:nvPr/>
          </p:nvSpPr>
          <p:spPr>
            <a:xfrm rot="10800000">
              <a:off x="1911" y="3219"/>
              <a:ext cx="0" cy="499"/>
            </a:xfrm>
            <a:prstGeom prst="line">
              <a:avLst/>
            </a:prstGeom>
            <a:ln w="25400" cap="flat" cmpd="sng">
              <a:solidFill>
                <a:schemeClr val="tx1"/>
              </a:solidFill>
              <a:prstDash val="solid"/>
              <a:headEnd type="none" w="med" len="med"/>
              <a:tailEnd type="none" w="med" len="med"/>
            </a:ln>
          </p:spPr>
        </p:sp>
        <p:sp>
          <p:nvSpPr>
            <p:cNvPr id="43032" name="Line 43"/>
            <p:cNvSpPr/>
            <p:nvPr/>
          </p:nvSpPr>
          <p:spPr>
            <a:xfrm flipH="1" flipV="1">
              <a:off x="1287" y="3219"/>
              <a:ext cx="624" cy="480"/>
            </a:xfrm>
            <a:prstGeom prst="line">
              <a:avLst/>
            </a:prstGeom>
            <a:ln w="25400" cap="flat" cmpd="sng">
              <a:solidFill>
                <a:schemeClr val="tx1"/>
              </a:solidFill>
              <a:prstDash val="solid"/>
              <a:headEnd type="none" w="med" len="med"/>
              <a:tailEnd type="none" w="med" len="med"/>
            </a:ln>
          </p:spPr>
        </p:sp>
        <p:sp>
          <p:nvSpPr>
            <p:cNvPr id="43033" name="Line 43"/>
            <p:cNvSpPr/>
            <p:nvPr/>
          </p:nvSpPr>
          <p:spPr>
            <a:xfrm flipH="1" flipV="1">
              <a:off x="903" y="3507"/>
              <a:ext cx="384" cy="192"/>
            </a:xfrm>
            <a:prstGeom prst="line">
              <a:avLst/>
            </a:prstGeom>
            <a:ln w="25400" cap="flat" cmpd="sng">
              <a:solidFill>
                <a:schemeClr val="tx1"/>
              </a:solidFill>
              <a:prstDash val="solid"/>
              <a:headEnd type="none" w="med" len="med"/>
              <a:tailEnd type="none" w="med" len="med"/>
            </a:ln>
          </p:spPr>
        </p:sp>
      </p:grpSp>
      <p:sp>
        <p:nvSpPr>
          <p:cNvPr id="43013" name="Text Box 49"/>
          <p:cNvSpPr txBox="1"/>
          <p:nvPr/>
        </p:nvSpPr>
        <p:spPr>
          <a:xfrm>
            <a:off x="3638550" y="3546475"/>
            <a:ext cx="5353050" cy="1282700"/>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600" dirty="0"/>
              <a:t>cycle: u, v, y, x, u</a:t>
            </a:r>
            <a:endParaRPr lang="en-US" altLang="zh-TW" sz="2600" dirty="0"/>
          </a:p>
          <a:p>
            <a:pPr marL="0" lvl="0" indent="0" eaLnBrk="1" hangingPunct="1">
              <a:spcBef>
                <a:spcPct val="0"/>
              </a:spcBef>
              <a:buClrTx/>
              <a:buSzPct val="100000"/>
              <a:buNone/>
            </a:pPr>
            <a:r>
              <a:rPr lang="en-US" altLang="zh-TW" sz="2600" dirty="0"/>
              <a:t>circuit: u, </a:t>
            </a:r>
            <a:r>
              <a:rPr lang="en-US" altLang="zh-TW" sz="2600" dirty="0">
                <a:solidFill>
                  <a:srgbClr val="008000"/>
                </a:solidFill>
              </a:rPr>
              <a:t>v</a:t>
            </a:r>
            <a:r>
              <a:rPr lang="en-US" altLang="zh-TW" sz="2600" dirty="0"/>
              <a:t>, w, y, </a:t>
            </a:r>
            <a:r>
              <a:rPr lang="en-US" altLang="zh-TW" sz="2600" dirty="0">
                <a:solidFill>
                  <a:srgbClr val="008000"/>
                </a:solidFill>
              </a:rPr>
              <a:t>v</a:t>
            </a:r>
            <a:r>
              <a:rPr lang="en-US" altLang="zh-TW" sz="2600" dirty="0"/>
              <a:t>, x, u</a:t>
            </a:r>
            <a:endParaRPr lang="en-US" altLang="zh-TW" sz="2600" dirty="0"/>
          </a:p>
          <a:p>
            <a:pPr marL="0" lvl="0" indent="0" eaLnBrk="1" hangingPunct="1">
              <a:spcBef>
                <a:spcPct val="0"/>
              </a:spcBef>
              <a:buClrTx/>
              <a:buSzPct val="100000"/>
              <a:buNone/>
            </a:pPr>
            <a:r>
              <a:rPr lang="en-US" altLang="zh-TW" sz="2600" dirty="0"/>
              <a:t>closed walk: u, v, w, v, x, v, y, x, u</a:t>
            </a:r>
            <a:endParaRPr lang="en-US" altLang="zh-TW" sz="2600" dirty="0"/>
          </a:p>
        </p:txBody>
      </p:sp>
      <p:sp>
        <p:nvSpPr>
          <p:cNvPr id="44" name="矩形 43"/>
          <p:cNvSpPr/>
          <p:nvPr/>
        </p:nvSpPr>
        <p:spPr>
          <a:xfrm>
            <a:off x="457200" y="2667000"/>
            <a:ext cx="1647825" cy="5191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a:t>
            </a:r>
            <a:endParaRPr kumimoji="1" lang="zh-TW" altLang="en-US" sz="2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457200" y="457200"/>
            <a:ext cx="8229600" cy="762000"/>
          </a:xfrm>
        </p:spPr>
        <p:txBody>
          <a:bodyPr vert="horz" wrap="square" lIns="91440" tIns="45720" rIns="91440" bIns="45720" anchor="ctr"/>
          <a:p>
            <a:pPr eaLnBrk="1" hangingPunct="1"/>
            <a:r>
              <a:rPr lang="en-US" altLang="zh-TW" sz="3200" b="1" u="sng" dirty="0">
                <a:solidFill>
                  <a:srgbClr val="008000"/>
                </a:solidFill>
              </a:rPr>
              <a:t>Paths in Directed Graphs</a:t>
            </a:r>
            <a:endParaRPr lang="en-US" altLang="zh-TW" sz="3200" b="1" u="sng" dirty="0">
              <a:solidFill>
                <a:srgbClr val="008000"/>
              </a:solidFill>
            </a:endParaRPr>
          </a:p>
        </p:txBody>
      </p:sp>
      <p:sp>
        <p:nvSpPr>
          <p:cNvPr id="41988" name="Rectangle 3"/>
          <p:cNvSpPr>
            <a:spLocks noGrp="1"/>
          </p:cNvSpPr>
          <p:nvPr>
            <p:ph type="body"/>
          </p:nvPr>
        </p:nvSpPr>
        <p:spPr>
          <a:xfrm>
            <a:off x="457200" y="1219200"/>
            <a:ext cx="8229600" cy="1066800"/>
          </a:xfrm>
        </p:spPr>
        <p:txBody>
          <a:bodyPr vert="horz" wrap="square" lIns="91440" tIns="45720" rIns="91440" bIns="45720" anchor="t"/>
          <a:p>
            <a:pPr eaLnBrk="1" hangingPunct="1">
              <a:buNone/>
            </a:pPr>
            <a:r>
              <a:rPr lang="en-US" altLang="zh-TW" sz="2800" dirty="0"/>
              <a:t>   The same as in undirected graphs, but the path must go in the direction of the arrows.</a:t>
            </a:r>
            <a:endParaRPr lang="en-US" altLang="zh-TW" sz="2800" dirty="0"/>
          </a:p>
        </p:txBody>
      </p:sp>
      <p:sp>
        <p:nvSpPr>
          <p:cNvPr id="5" name="Rectangle 2"/>
          <p:cNvSpPr txBox="1">
            <a:spLocks noChangeArrowheads="1"/>
          </p:cNvSpPr>
          <p:nvPr/>
        </p:nvSpPr>
        <p:spPr bwMode="auto">
          <a:xfrm>
            <a:off x="457200" y="2362200"/>
            <a:ext cx="8229600" cy="762000"/>
          </a:xfrm>
          <a:prstGeom prst="rect">
            <a:avLst/>
          </a:prstGeom>
          <a:noFill/>
          <a:ln w="9525">
            <a:noFill/>
            <a:miter lim="800000"/>
          </a:ln>
        </p:spPr>
        <p:txBody>
          <a:bodyPr anchor="ctr"/>
          <a:lstStyle/>
          <a:p>
            <a:pPr marR="0" defTabSz="914400">
              <a:buClrTx/>
              <a:buSzTx/>
              <a:buFontTx/>
              <a:buNone/>
              <a:defRPr/>
            </a:pPr>
            <a:r>
              <a:rPr kumimoji="1" lang="en-US" altLang="zh-TW" sz="3200" b="1" u="sng" kern="0" cap="none" spc="0" normalizeH="0" baseline="0" noProof="0" dirty="0">
                <a:solidFill>
                  <a:srgbClr val="008000"/>
                </a:solidFill>
                <a:latin typeface="+mj-lt"/>
                <a:ea typeface="+mj-ea"/>
                <a:cs typeface="+mj-cs"/>
              </a:rPr>
              <a:t>Connectedness in Undirected </a:t>
            </a:r>
            <a:r>
              <a:rPr kumimoji="1" lang="en-US" altLang="zh-TW" sz="3200" b="1" u="sng" kern="0" cap="none" spc="0" normalizeH="0" baseline="0" noProof="0" dirty="0" err="1">
                <a:solidFill>
                  <a:srgbClr val="008000"/>
                </a:solidFill>
                <a:latin typeface="+mj-lt"/>
                <a:ea typeface="+mj-ea"/>
                <a:cs typeface="+mj-cs"/>
              </a:rPr>
              <a:t>Graphs</a:t>
            </a:r>
            <a:endParaRPr kumimoji="1" lang="en-US" altLang="zh-TW" sz="3200" b="1" u="sng" kern="0" cap="none" spc="0" normalizeH="0" baseline="0" noProof="0" dirty="0">
              <a:solidFill>
                <a:srgbClr val="008000"/>
              </a:solidFill>
              <a:latin typeface="+mj-lt"/>
              <a:ea typeface="+mj-ea"/>
              <a:cs typeface="+mj-cs"/>
            </a:endParaRPr>
          </a:p>
        </p:txBody>
      </p:sp>
      <p:sp>
        <p:nvSpPr>
          <p:cNvPr id="6" name="矩形 5"/>
          <p:cNvSpPr/>
          <p:nvPr/>
        </p:nvSpPr>
        <p:spPr>
          <a:xfrm>
            <a:off x="304800" y="3124200"/>
            <a:ext cx="8534400" cy="1800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Def. 3:</a:t>
            </a:r>
            <a:r>
              <a:rPr lang="en-US" altLang="zh-TW" sz="2800" dirty="0">
                <a:solidFill>
                  <a:srgbClr val="008000"/>
                </a:solidFill>
              </a:rPr>
              <a:t> </a:t>
            </a:r>
            <a:endParaRPr lang="en-US" altLang="zh-TW" sz="2800" dirty="0">
              <a:solidFill>
                <a:srgbClr val="008000"/>
              </a:solidFill>
            </a:endParaRPr>
          </a:p>
          <a:p>
            <a:pPr marL="457200" lvl="1" indent="0" eaLnBrk="1" hangingPunct="1">
              <a:spcBef>
                <a:spcPct val="0"/>
              </a:spcBef>
              <a:buClrTx/>
              <a:buSzPct val="100000"/>
              <a:buNone/>
            </a:pPr>
            <a:r>
              <a:rPr lang="en-US" altLang="zh-TW" dirty="0"/>
              <a:t>An undirected graph is </a:t>
            </a:r>
            <a:r>
              <a:rPr lang="en-US" altLang="zh-TW" i="1" dirty="0">
                <a:solidFill>
                  <a:srgbClr val="0000CC"/>
                </a:solidFill>
              </a:rPr>
              <a:t>connected</a:t>
            </a:r>
            <a:r>
              <a:rPr lang="en-US" altLang="zh-TW" dirty="0"/>
              <a:t>  if there is a path between every pair of distinct vertices in the graph.</a:t>
            </a:r>
            <a:endParaRPr lang="en-US" altLang="zh-TW" dirty="0"/>
          </a:p>
        </p:txBody>
      </p:sp>
      <p:sp>
        <p:nvSpPr>
          <p:cNvPr id="7" name="矩形 6"/>
          <p:cNvSpPr/>
          <p:nvPr/>
        </p:nvSpPr>
        <p:spPr>
          <a:xfrm>
            <a:off x="304800" y="5029200"/>
            <a:ext cx="8534400" cy="13731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Def:</a:t>
            </a:r>
            <a:endParaRPr lang="en-US" altLang="zh-TW" sz="2800" dirty="0">
              <a:solidFill>
                <a:srgbClr val="008000"/>
              </a:solidFill>
            </a:endParaRPr>
          </a:p>
          <a:p>
            <a:pPr marL="457200" lvl="1" indent="0" eaLnBrk="1" hangingPunct="1">
              <a:spcBef>
                <a:spcPct val="0"/>
              </a:spcBef>
              <a:buClrTx/>
              <a:buSzPct val="100000"/>
              <a:buNone/>
            </a:pPr>
            <a:r>
              <a:rPr lang="en-US" altLang="zh-TW" i="1" dirty="0">
                <a:solidFill>
                  <a:srgbClr val="0000CC"/>
                </a:solidFill>
              </a:rPr>
              <a:t>Connected component</a:t>
            </a:r>
            <a:r>
              <a:rPr lang="en-US" altLang="zh-TW" dirty="0"/>
              <a:t>: maximal connected subgraph. </a:t>
            </a:r>
            <a:endParaRPr lang="en-US" altLang="zh-TW" dirty="0"/>
          </a:p>
        </p:txBody>
      </p:sp>
      <p:sp>
        <p:nvSpPr>
          <p:cNvPr id="44039" name="投影片編號版面配置區 7"/>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988">
                                            <p:txEl>
                                              <p:charRg st="0" end="90"/>
                                            </p:txEl>
                                          </p:spTgt>
                                        </p:tgtEl>
                                        <p:attrNameLst>
                                          <p:attrName>style.visibility</p:attrName>
                                        </p:attrNameLst>
                                      </p:cBhvr>
                                      <p:to>
                                        <p:strVal val="visible"/>
                                      </p:to>
                                    </p:set>
                                    <p:anim calcmode="lin" valueType="num">
                                      <p:cBhvr additive="base">
                                        <p:cTn id="7" dur="500" fill="hold"/>
                                        <p:tgtEl>
                                          <p:spTgt spid="41988">
                                            <p:txEl>
                                              <p:charRg st="0" end="9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8">
                                            <p:txEl>
                                              <p:charRg st="0" end="9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uild="p"/>
      <p:bldP spid="5" grpId="0"/>
      <p:bldP spid="6" grpId="0"/>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4"/>
          <p:cNvSpPr/>
          <p:nvPr/>
        </p:nvSpPr>
        <p:spPr>
          <a:xfrm>
            <a:off x="457200" y="609600"/>
            <a:ext cx="7924800" cy="1066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dirty="0">
                <a:solidFill>
                  <a:srgbClr val="008000"/>
                </a:solidFill>
              </a:rPr>
              <a:t>Example 6 </a:t>
            </a:r>
            <a:r>
              <a:rPr lang="en-US" altLang="zh-TW" dirty="0"/>
              <a:t>What are the connected components of the graph </a:t>
            </a:r>
            <a:r>
              <a:rPr lang="en-US" altLang="zh-TW" i="1" dirty="0">
                <a:latin typeface="Times New Roman" panose="02020603050405020304" pitchFamily="18" charset="0"/>
                <a:cs typeface="Times New Roman" panose="02020603050405020304" pitchFamily="18" charset="0"/>
              </a:rPr>
              <a:t>H</a:t>
            </a:r>
            <a:r>
              <a:rPr lang="en-US" altLang="zh-TW" dirty="0"/>
              <a:t>?</a:t>
            </a:r>
            <a:endParaRPr lang="en-US" altLang="zh-TW" dirty="0"/>
          </a:p>
        </p:txBody>
      </p:sp>
      <p:sp>
        <p:nvSpPr>
          <p:cNvPr id="45059" name="Oval 7"/>
          <p:cNvSpPr/>
          <p:nvPr/>
        </p:nvSpPr>
        <p:spPr>
          <a:xfrm>
            <a:off x="1295400" y="2530475"/>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5060" name="Oval 7"/>
          <p:cNvSpPr/>
          <p:nvPr/>
        </p:nvSpPr>
        <p:spPr>
          <a:xfrm>
            <a:off x="1295400" y="3368675"/>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5061" name="Oval 7"/>
          <p:cNvSpPr/>
          <p:nvPr/>
        </p:nvSpPr>
        <p:spPr>
          <a:xfrm>
            <a:off x="2286000" y="3368675"/>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5062" name="Oval 7"/>
          <p:cNvSpPr/>
          <p:nvPr/>
        </p:nvSpPr>
        <p:spPr>
          <a:xfrm>
            <a:off x="3200400" y="2759075"/>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5063" name="Oval 7"/>
          <p:cNvSpPr/>
          <p:nvPr/>
        </p:nvSpPr>
        <p:spPr>
          <a:xfrm>
            <a:off x="4343400" y="2759075"/>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5064" name="Oval 7"/>
          <p:cNvSpPr/>
          <p:nvPr/>
        </p:nvSpPr>
        <p:spPr>
          <a:xfrm>
            <a:off x="5943600" y="2454275"/>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5065" name="Oval 7"/>
          <p:cNvSpPr/>
          <p:nvPr/>
        </p:nvSpPr>
        <p:spPr>
          <a:xfrm>
            <a:off x="5943600" y="3368675"/>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5066" name="Oval 7"/>
          <p:cNvSpPr/>
          <p:nvPr/>
        </p:nvSpPr>
        <p:spPr>
          <a:xfrm>
            <a:off x="4876800" y="3368675"/>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15" name="直線接點 14"/>
          <p:cNvCxnSpPr>
            <a:stCxn id="45059" idx="0"/>
            <a:endCxn id="45060" idx="0"/>
          </p:cNvCxnSpPr>
          <p:nvPr/>
        </p:nvCxnSpPr>
        <p:spPr>
          <a:xfrm rot="16200000" flipH="1">
            <a:off x="952500" y="2949575"/>
            <a:ext cx="838200" cy="31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a:stCxn id="45060" idx="6"/>
            <a:endCxn id="45061" idx="6"/>
          </p:cNvCxnSpPr>
          <p:nvPr/>
        </p:nvCxnSpPr>
        <p:spPr>
          <a:xfrm>
            <a:off x="1447800" y="3444875"/>
            <a:ext cx="9906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352800" y="2835275"/>
            <a:ext cx="9906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953000" y="3444875"/>
            <a:ext cx="9906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接點 20"/>
          <p:cNvCxnSpPr>
            <a:endCxn id="45065" idx="0"/>
          </p:cNvCxnSpPr>
          <p:nvPr/>
        </p:nvCxnSpPr>
        <p:spPr>
          <a:xfrm rot="5400000">
            <a:off x="5600700" y="2949575"/>
            <a:ext cx="838200" cy="31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 22"/>
          <p:cNvCxnSpPr>
            <a:stCxn id="45059" idx="5"/>
          </p:cNvCxnSpPr>
          <p:nvPr/>
        </p:nvCxnSpPr>
        <p:spPr>
          <a:xfrm rot="16200000" flipH="1">
            <a:off x="1501775" y="2584450"/>
            <a:ext cx="784225" cy="93662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5073" name="Text Box 65"/>
          <p:cNvSpPr txBox="1"/>
          <p:nvPr/>
        </p:nvSpPr>
        <p:spPr>
          <a:xfrm>
            <a:off x="1066800" y="3368675"/>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baseline="-25000" dirty="0">
              <a:latin typeface="Times New Roman" panose="02020603050405020304" pitchFamily="18" charset="0"/>
              <a:ea typeface="Times New Roman" panose="02020603050405020304" pitchFamily="18" charset="0"/>
            </a:endParaRPr>
          </a:p>
        </p:txBody>
      </p:sp>
      <p:sp>
        <p:nvSpPr>
          <p:cNvPr id="45074" name="Text Box 65"/>
          <p:cNvSpPr txBox="1"/>
          <p:nvPr/>
        </p:nvSpPr>
        <p:spPr>
          <a:xfrm>
            <a:off x="1066800" y="2225675"/>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baseline="-25000" dirty="0">
              <a:latin typeface="Times New Roman" panose="02020603050405020304" pitchFamily="18" charset="0"/>
              <a:ea typeface="Times New Roman" panose="02020603050405020304" pitchFamily="18" charset="0"/>
            </a:endParaRPr>
          </a:p>
        </p:txBody>
      </p:sp>
      <p:sp>
        <p:nvSpPr>
          <p:cNvPr id="45075" name="Text Box 65"/>
          <p:cNvSpPr txBox="1"/>
          <p:nvPr/>
        </p:nvSpPr>
        <p:spPr>
          <a:xfrm>
            <a:off x="2438400" y="3292475"/>
            <a:ext cx="3190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baseline="-25000" dirty="0">
              <a:latin typeface="Times New Roman" panose="02020603050405020304" pitchFamily="18" charset="0"/>
              <a:ea typeface="Times New Roman" panose="02020603050405020304" pitchFamily="18" charset="0"/>
            </a:endParaRPr>
          </a:p>
        </p:txBody>
      </p:sp>
      <p:sp>
        <p:nvSpPr>
          <p:cNvPr id="45076" name="Text Box 65"/>
          <p:cNvSpPr txBox="1"/>
          <p:nvPr/>
        </p:nvSpPr>
        <p:spPr>
          <a:xfrm>
            <a:off x="3124200" y="2835275"/>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baseline="-25000" dirty="0">
              <a:latin typeface="Times New Roman" panose="02020603050405020304" pitchFamily="18" charset="0"/>
              <a:ea typeface="Times New Roman" panose="02020603050405020304" pitchFamily="18" charset="0"/>
            </a:endParaRPr>
          </a:p>
        </p:txBody>
      </p:sp>
      <p:sp>
        <p:nvSpPr>
          <p:cNvPr id="45077" name="Text Box 65"/>
          <p:cNvSpPr txBox="1"/>
          <p:nvPr/>
        </p:nvSpPr>
        <p:spPr>
          <a:xfrm>
            <a:off x="4267200" y="2835275"/>
            <a:ext cx="3190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baseline="-25000" dirty="0">
              <a:latin typeface="Times New Roman" panose="02020603050405020304" pitchFamily="18" charset="0"/>
              <a:ea typeface="Times New Roman" panose="02020603050405020304" pitchFamily="18" charset="0"/>
            </a:endParaRPr>
          </a:p>
        </p:txBody>
      </p:sp>
      <p:sp>
        <p:nvSpPr>
          <p:cNvPr id="45078" name="Text Box 65"/>
          <p:cNvSpPr txBox="1"/>
          <p:nvPr/>
        </p:nvSpPr>
        <p:spPr>
          <a:xfrm>
            <a:off x="4800600" y="3444875"/>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h</a:t>
            </a:r>
            <a:endParaRPr lang="en-US" altLang="zh-TW" sz="2400" baseline="-25000" dirty="0">
              <a:latin typeface="Times New Roman" panose="02020603050405020304" pitchFamily="18" charset="0"/>
              <a:ea typeface="Times New Roman" panose="02020603050405020304" pitchFamily="18" charset="0"/>
            </a:endParaRPr>
          </a:p>
        </p:txBody>
      </p:sp>
      <p:sp>
        <p:nvSpPr>
          <p:cNvPr id="45079" name="Text Box 65"/>
          <p:cNvSpPr txBox="1"/>
          <p:nvPr/>
        </p:nvSpPr>
        <p:spPr>
          <a:xfrm>
            <a:off x="5867400" y="3444875"/>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endParaRPr lang="en-US" altLang="zh-TW" sz="2400" baseline="-25000" dirty="0">
              <a:latin typeface="Times New Roman" panose="02020603050405020304" pitchFamily="18" charset="0"/>
              <a:ea typeface="Times New Roman" panose="02020603050405020304" pitchFamily="18" charset="0"/>
            </a:endParaRPr>
          </a:p>
        </p:txBody>
      </p:sp>
      <p:sp>
        <p:nvSpPr>
          <p:cNvPr id="45080" name="Text Box 65"/>
          <p:cNvSpPr txBox="1"/>
          <p:nvPr/>
        </p:nvSpPr>
        <p:spPr>
          <a:xfrm>
            <a:off x="5638800" y="2225675"/>
            <a:ext cx="2682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f</a:t>
            </a:r>
            <a:endParaRPr lang="en-US" altLang="zh-TW" sz="2400" baseline="-25000" dirty="0">
              <a:latin typeface="Times New Roman" panose="02020603050405020304" pitchFamily="18" charset="0"/>
              <a:ea typeface="Times New Roman" panose="02020603050405020304" pitchFamily="18" charset="0"/>
            </a:endParaRPr>
          </a:p>
        </p:txBody>
      </p:sp>
      <p:sp>
        <p:nvSpPr>
          <p:cNvPr id="45081" name="矩形 33"/>
          <p:cNvSpPr/>
          <p:nvPr/>
        </p:nvSpPr>
        <p:spPr>
          <a:xfrm>
            <a:off x="3657600" y="3825875"/>
            <a:ext cx="47783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H</a:t>
            </a:r>
            <a:endParaRPr lang="zh-TW" altLang="en-US" sz="1800" dirty="0"/>
          </a:p>
        </p:txBody>
      </p:sp>
      <p:grpSp>
        <p:nvGrpSpPr>
          <p:cNvPr id="2" name="群組 37"/>
          <p:cNvGrpSpPr/>
          <p:nvPr/>
        </p:nvGrpSpPr>
        <p:grpSpPr>
          <a:xfrm>
            <a:off x="685800" y="2133600"/>
            <a:ext cx="6019800" cy="2071688"/>
            <a:chOff x="685800" y="1736608"/>
            <a:chExt cx="6019800" cy="2072451"/>
          </a:xfrm>
        </p:grpSpPr>
        <p:sp>
          <p:nvSpPr>
            <p:cNvPr id="35" name="手繪多邊形 34"/>
            <p:cNvSpPr/>
            <p:nvPr/>
          </p:nvSpPr>
          <p:spPr>
            <a:xfrm>
              <a:off x="685800" y="1752489"/>
              <a:ext cx="2166938" cy="2056570"/>
            </a:xfrm>
            <a:custGeom>
              <a:avLst/>
              <a:gdLst>
                <a:gd name="connsiteX0" fmla="*/ 303919 w 2166585"/>
                <a:gd name="connsiteY0" fmla="*/ 1881 h 2056459"/>
                <a:gd name="connsiteX1" fmla="*/ 744185 w 2166585"/>
                <a:gd name="connsiteY1" fmla="*/ 24459 h 2056459"/>
                <a:gd name="connsiteX2" fmla="*/ 811919 w 2166585"/>
                <a:gd name="connsiteY2" fmla="*/ 47037 h 2056459"/>
                <a:gd name="connsiteX3" fmla="*/ 924808 w 2166585"/>
                <a:gd name="connsiteY3" fmla="*/ 80904 h 2056459"/>
                <a:gd name="connsiteX4" fmla="*/ 1060274 w 2166585"/>
                <a:gd name="connsiteY4" fmla="*/ 148637 h 2056459"/>
                <a:gd name="connsiteX5" fmla="*/ 1128008 w 2166585"/>
                <a:gd name="connsiteY5" fmla="*/ 182504 h 2056459"/>
                <a:gd name="connsiteX6" fmla="*/ 1252185 w 2166585"/>
                <a:gd name="connsiteY6" fmla="*/ 261526 h 2056459"/>
                <a:gd name="connsiteX7" fmla="*/ 1319919 w 2166585"/>
                <a:gd name="connsiteY7" fmla="*/ 306681 h 2056459"/>
                <a:gd name="connsiteX8" fmla="*/ 1387652 w 2166585"/>
                <a:gd name="connsiteY8" fmla="*/ 340548 h 2056459"/>
                <a:gd name="connsiteX9" fmla="*/ 1444097 w 2166585"/>
                <a:gd name="connsiteY9" fmla="*/ 363126 h 2056459"/>
                <a:gd name="connsiteX10" fmla="*/ 1534408 w 2166585"/>
                <a:gd name="connsiteY10" fmla="*/ 442148 h 2056459"/>
                <a:gd name="connsiteX11" fmla="*/ 1579563 w 2166585"/>
                <a:gd name="connsiteY11" fmla="*/ 476015 h 2056459"/>
                <a:gd name="connsiteX12" fmla="*/ 1658585 w 2166585"/>
                <a:gd name="connsiteY12" fmla="*/ 543748 h 2056459"/>
                <a:gd name="connsiteX13" fmla="*/ 1760185 w 2166585"/>
                <a:gd name="connsiteY13" fmla="*/ 690504 h 2056459"/>
                <a:gd name="connsiteX14" fmla="*/ 1805341 w 2166585"/>
                <a:gd name="connsiteY14" fmla="*/ 746948 h 2056459"/>
                <a:gd name="connsiteX15" fmla="*/ 1850497 w 2166585"/>
                <a:gd name="connsiteY15" fmla="*/ 814681 h 2056459"/>
                <a:gd name="connsiteX16" fmla="*/ 1884363 w 2166585"/>
                <a:gd name="connsiteY16" fmla="*/ 871126 h 2056459"/>
                <a:gd name="connsiteX17" fmla="*/ 1940808 w 2166585"/>
                <a:gd name="connsiteY17" fmla="*/ 938859 h 2056459"/>
                <a:gd name="connsiteX18" fmla="*/ 1974674 w 2166585"/>
                <a:gd name="connsiteY18" fmla="*/ 984015 h 2056459"/>
                <a:gd name="connsiteX19" fmla="*/ 2019830 w 2166585"/>
                <a:gd name="connsiteY19" fmla="*/ 1029170 h 2056459"/>
                <a:gd name="connsiteX20" fmla="*/ 2076274 w 2166585"/>
                <a:gd name="connsiteY20" fmla="*/ 1096904 h 2056459"/>
                <a:gd name="connsiteX21" fmla="*/ 2110141 w 2166585"/>
                <a:gd name="connsiteY21" fmla="*/ 1164637 h 2056459"/>
                <a:gd name="connsiteX22" fmla="*/ 2121430 w 2166585"/>
                <a:gd name="connsiteY22" fmla="*/ 1209792 h 2056459"/>
                <a:gd name="connsiteX23" fmla="*/ 2132719 w 2166585"/>
                <a:gd name="connsiteY23" fmla="*/ 1243659 h 2056459"/>
                <a:gd name="connsiteX24" fmla="*/ 2155297 w 2166585"/>
                <a:gd name="connsiteY24" fmla="*/ 1390415 h 2056459"/>
                <a:gd name="connsiteX25" fmla="*/ 2166585 w 2166585"/>
                <a:gd name="connsiteY25" fmla="*/ 1525881 h 2056459"/>
                <a:gd name="connsiteX26" fmla="*/ 2155297 w 2166585"/>
                <a:gd name="connsiteY26" fmla="*/ 1785526 h 2056459"/>
                <a:gd name="connsiteX27" fmla="*/ 2144008 w 2166585"/>
                <a:gd name="connsiteY27" fmla="*/ 1841970 h 2056459"/>
                <a:gd name="connsiteX28" fmla="*/ 2121430 w 2166585"/>
                <a:gd name="connsiteY28" fmla="*/ 1887126 h 2056459"/>
                <a:gd name="connsiteX29" fmla="*/ 2087563 w 2166585"/>
                <a:gd name="connsiteY29" fmla="*/ 1909704 h 2056459"/>
                <a:gd name="connsiteX30" fmla="*/ 1985963 w 2166585"/>
                <a:gd name="connsiteY30" fmla="*/ 1954859 h 2056459"/>
                <a:gd name="connsiteX31" fmla="*/ 1929519 w 2166585"/>
                <a:gd name="connsiteY31" fmla="*/ 1988726 h 2056459"/>
                <a:gd name="connsiteX32" fmla="*/ 1895652 w 2166585"/>
                <a:gd name="connsiteY32" fmla="*/ 2011304 h 2056459"/>
                <a:gd name="connsiteX33" fmla="*/ 1805341 w 2166585"/>
                <a:gd name="connsiteY33" fmla="*/ 2033881 h 2056459"/>
                <a:gd name="connsiteX34" fmla="*/ 1771474 w 2166585"/>
                <a:gd name="connsiteY34" fmla="*/ 2045170 h 2056459"/>
                <a:gd name="connsiteX35" fmla="*/ 1421519 w 2166585"/>
                <a:gd name="connsiteY35" fmla="*/ 2056459 h 2056459"/>
                <a:gd name="connsiteX36" fmla="*/ 924808 w 2166585"/>
                <a:gd name="connsiteY36" fmla="*/ 2045170 h 2056459"/>
                <a:gd name="connsiteX37" fmla="*/ 868363 w 2166585"/>
                <a:gd name="connsiteY37" fmla="*/ 2033881 h 2056459"/>
                <a:gd name="connsiteX38" fmla="*/ 789341 w 2166585"/>
                <a:gd name="connsiteY38" fmla="*/ 1988726 h 2056459"/>
                <a:gd name="connsiteX39" fmla="*/ 732897 w 2166585"/>
                <a:gd name="connsiteY39" fmla="*/ 1943570 h 2056459"/>
                <a:gd name="connsiteX40" fmla="*/ 687741 w 2166585"/>
                <a:gd name="connsiteY40" fmla="*/ 1920992 h 2056459"/>
                <a:gd name="connsiteX41" fmla="*/ 665163 w 2166585"/>
                <a:gd name="connsiteY41" fmla="*/ 1887126 h 2056459"/>
                <a:gd name="connsiteX42" fmla="*/ 631297 w 2166585"/>
                <a:gd name="connsiteY42" fmla="*/ 1864548 h 2056459"/>
                <a:gd name="connsiteX43" fmla="*/ 552274 w 2166585"/>
                <a:gd name="connsiteY43" fmla="*/ 1808104 h 2056459"/>
                <a:gd name="connsiteX44" fmla="*/ 461963 w 2166585"/>
                <a:gd name="connsiteY44" fmla="*/ 1774237 h 2056459"/>
                <a:gd name="connsiteX45" fmla="*/ 416808 w 2166585"/>
                <a:gd name="connsiteY45" fmla="*/ 1740370 h 2056459"/>
                <a:gd name="connsiteX46" fmla="*/ 371652 w 2166585"/>
                <a:gd name="connsiteY46" fmla="*/ 1729081 h 2056459"/>
                <a:gd name="connsiteX47" fmla="*/ 337785 w 2166585"/>
                <a:gd name="connsiteY47" fmla="*/ 1695215 h 2056459"/>
                <a:gd name="connsiteX48" fmla="*/ 292630 w 2166585"/>
                <a:gd name="connsiteY48" fmla="*/ 1672637 h 2056459"/>
                <a:gd name="connsiteX49" fmla="*/ 247474 w 2166585"/>
                <a:gd name="connsiteY49" fmla="*/ 1627481 h 2056459"/>
                <a:gd name="connsiteX50" fmla="*/ 202319 w 2166585"/>
                <a:gd name="connsiteY50" fmla="*/ 1593615 h 2056459"/>
                <a:gd name="connsiteX51" fmla="*/ 145874 w 2166585"/>
                <a:gd name="connsiteY51" fmla="*/ 1503304 h 2056459"/>
                <a:gd name="connsiteX52" fmla="*/ 123297 w 2166585"/>
                <a:gd name="connsiteY52" fmla="*/ 1446859 h 2056459"/>
                <a:gd name="connsiteX53" fmla="*/ 100719 w 2166585"/>
                <a:gd name="connsiteY53" fmla="*/ 1412992 h 2056459"/>
                <a:gd name="connsiteX54" fmla="*/ 55563 w 2166585"/>
                <a:gd name="connsiteY54" fmla="*/ 1322681 h 2056459"/>
                <a:gd name="connsiteX55" fmla="*/ 44274 w 2166585"/>
                <a:gd name="connsiteY55" fmla="*/ 1277526 h 2056459"/>
                <a:gd name="connsiteX56" fmla="*/ 10408 w 2166585"/>
                <a:gd name="connsiteY56" fmla="*/ 1187215 h 2056459"/>
                <a:gd name="connsiteX57" fmla="*/ 21697 w 2166585"/>
                <a:gd name="connsiteY57" fmla="*/ 859837 h 2056459"/>
                <a:gd name="connsiteX58" fmla="*/ 32985 w 2166585"/>
                <a:gd name="connsiteY58" fmla="*/ 814681 h 2056459"/>
                <a:gd name="connsiteX59" fmla="*/ 55563 w 2166585"/>
                <a:gd name="connsiteY59" fmla="*/ 769526 h 2056459"/>
                <a:gd name="connsiteX60" fmla="*/ 66852 w 2166585"/>
                <a:gd name="connsiteY60" fmla="*/ 724370 h 2056459"/>
                <a:gd name="connsiteX61" fmla="*/ 89430 w 2166585"/>
                <a:gd name="connsiteY61" fmla="*/ 667926 h 2056459"/>
                <a:gd name="connsiteX62" fmla="*/ 100719 w 2166585"/>
                <a:gd name="connsiteY62" fmla="*/ 634059 h 2056459"/>
                <a:gd name="connsiteX63" fmla="*/ 134585 w 2166585"/>
                <a:gd name="connsiteY63" fmla="*/ 543748 h 2056459"/>
                <a:gd name="connsiteX64" fmla="*/ 157163 w 2166585"/>
                <a:gd name="connsiteY64" fmla="*/ 261526 h 2056459"/>
                <a:gd name="connsiteX65" fmla="*/ 179741 w 2166585"/>
                <a:gd name="connsiteY65" fmla="*/ 216370 h 2056459"/>
                <a:gd name="connsiteX66" fmla="*/ 213608 w 2166585"/>
                <a:gd name="connsiteY66" fmla="*/ 171215 h 2056459"/>
                <a:gd name="connsiteX67" fmla="*/ 236185 w 2166585"/>
                <a:gd name="connsiteY67" fmla="*/ 126059 h 2056459"/>
                <a:gd name="connsiteX68" fmla="*/ 258763 w 2166585"/>
                <a:gd name="connsiteY68" fmla="*/ 47037 h 2056459"/>
                <a:gd name="connsiteX69" fmla="*/ 281341 w 2166585"/>
                <a:gd name="connsiteY69" fmla="*/ 13170 h 2056459"/>
                <a:gd name="connsiteX70" fmla="*/ 303919 w 2166585"/>
                <a:gd name="connsiteY70" fmla="*/ 1881 h 20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166585" h="2056459">
                  <a:moveTo>
                    <a:pt x="303919" y="1881"/>
                  </a:moveTo>
                  <a:cubicBezTo>
                    <a:pt x="381060" y="3762"/>
                    <a:pt x="597814" y="11448"/>
                    <a:pt x="744185" y="24459"/>
                  </a:cubicBezTo>
                  <a:cubicBezTo>
                    <a:pt x="767891" y="26566"/>
                    <a:pt x="789123" y="40198"/>
                    <a:pt x="811919" y="47037"/>
                  </a:cubicBezTo>
                  <a:cubicBezTo>
                    <a:pt x="862437" y="62192"/>
                    <a:pt x="869546" y="56343"/>
                    <a:pt x="924808" y="80904"/>
                  </a:cubicBezTo>
                  <a:cubicBezTo>
                    <a:pt x="970942" y="101408"/>
                    <a:pt x="1015119" y="126059"/>
                    <a:pt x="1060274" y="148637"/>
                  </a:cubicBezTo>
                  <a:cubicBezTo>
                    <a:pt x="1082852" y="159926"/>
                    <a:pt x="1106711" y="168952"/>
                    <a:pt x="1128008" y="182504"/>
                  </a:cubicBezTo>
                  <a:cubicBezTo>
                    <a:pt x="1169400" y="208845"/>
                    <a:pt x="1211362" y="234311"/>
                    <a:pt x="1252185" y="261526"/>
                  </a:cubicBezTo>
                  <a:cubicBezTo>
                    <a:pt x="1274763" y="276578"/>
                    <a:pt x="1296480" y="293008"/>
                    <a:pt x="1319919" y="306681"/>
                  </a:cubicBezTo>
                  <a:cubicBezTo>
                    <a:pt x="1341723" y="319400"/>
                    <a:pt x="1364672" y="330102"/>
                    <a:pt x="1387652" y="340548"/>
                  </a:cubicBezTo>
                  <a:cubicBezTo>
                    <a:pt x="1406100" y="348934"/>
                    <a:pt x="1426720" y="352700"/>
                    <a:pt x="1444097" y="363126"/>
                  </a:cubicBezTo>
                  <a:cubicBezTo>
                    <a:pt x="1502088" y="397921"/>
                    <a:pt x="1490739" y="404717"/>
                    <a:pt x="1534408" y="442148"/>
                  </a:cubicBezTo>
                  <a:cubicBezTo>
                    <a:pt x="1548693" y="454393"/>
                    <a:pt x="1565403" y="463625"/>
                    <a:pt x="1579563" y="476015"/>
                  </a:cubicBezTo>
                  <a:cubicBezTo>
                    <a:pt x="1667160" y="552663"/>
                    <a:pt x="1586072" y="495404"/>
                    <a:pt x="1658585" y="543748"/>
                  </a:cubicBezTo>
                  <a:cubicBezTo>
                    <a:pt x="1707522" y="625308"/>
                    <a:pt x="1686646" y="594903"/>
                    <a:pt x="1760185" y="690504"/>
                  </a:cubicBezTo>
                  <a:cubicBezTo>
                    <a:pt x="1774876" y="709602"/>
                    <a:pt x="1791976" y="726900"/>
                    <a:pt x="1805341" y="746948"/>
                  </a:cubicBezTo>
                  <a:cubicBezTo>
                    <a:pt x="1820393" y="769526"/>
                    <a:pt x="1835929" y="791788"/>
                    <a:pt x="1850497" y="814681"/>
                  </a:cubicBezTo>
                  <a:cubicBezTo>
                    <a:pt x="1862277" y="833192"/>
                    <a:pt x="1871458" y="853381"/>
                    <a:pt x="1884363" y="871126"/>
                  </a:cubicBezTo>
                  <a:cubicBezTo>
                    <a:pt x="1901649" y="894895"/>
                    <a:pt x="1922448" y="915909"/>
                    <a:pt x="1940808" y="938859"/>
                  </a:cubicBezTo>
                  <a:cubicBezTo>
                    <a:pt x="1952561" y="953551"/>
                    <a:pt x="1962284" y="969855"/>
                    <a:pt x="1974674" y="984015"/>
                  </a:cubicBezTo>
                  <a:cubicBezTo>
                    <a:pt x="1988691" y="1000035"/>
                    <a:pt x="2005977" y="1013008"/>
                    <a:pt x="2019830" y="1029170"/>
                  </a:cubicBezTo>
                  <a:cubicBezTo>
                    <a:pt x="2114151" y="1139209"/>
                    <a:pt x="1958817" y="979443"/>
                    <a:pt x="2076274" y="1096904"/>
                  </a:cubicBezTo>
                  <a:cubicBezTo>
                    <a:pt x="2123844" y="1239608"/>
                    <a:pt x="2044487" y="1011447"/>
                    <a:pt x="2110141" y="1164637"/>
                  </a:cubicBezTo>
                  <a:cubicBezTo>
                    <a:pt x="2116253" y="1178897"/>
                    <a:pt x="2117168" y="1194874"/>
                    <a:pt x="2121430" y="1209792"/>
                  </a:cubicBezTo>
                  <a:cubicBezTo>
                    <a:pt x="2124699" y="1221234"/>
                    <a:pt x="2129833" y="1232115"/>
                    <a:pt x="2132719" y="1243659"/>
                  </a:cubicBezTo>
                  <a:cubicBezTo>
                    <a:pt x="2144203" y="1289594"/>
                    <a:pt x="2150728" y="1344719"/>
                    <a:pt x="2155297" y="1390415"/>
                  </a:cubicBezTo>
                  <a:cubicBezTo>
                    <a:pt x="2159806" y="1435502"/>
                    <a:pt x="2162822" y="1480726"/>
                    <a:pt x="2166585" y="1525881"/>
                  </a:cubicBezTo>
                  <a:cubicBezTo>
                    <a:pt x="2162822" y="1612429"/>
                    <a:pt x="2161469" y="1699116"/>
                    <a:pt x="2155297" y="1785526"/>
                  </a:cubicBezTo>
                  <a:cubicBezTo>
                    <a:pt x="2153930" y="1804665"/>
                    <a:pt x="2150076" y="1823767"/>
                    <a:pt x="2144008" y="1841970"/>
                  </a:cubicBezTo>
                  <a:cubicBezTo>
                    <a:pt x="2138686" y="1857935"/>
                    <a:pt x="2132203" y="1874198"/>
                    <a:pt x="2121430" y="1887126"/>
                  </a:cubicBezTo>
                  <a:cubicBezTo>
                    <a:pt x="2112744" y="1897549"/>
                    <a:pt x="2099343" y="1902973"/>
                    <a:pt x="2087563" y="1909704"/>
                  </a:cubicBezTo>
                  <a:cubicBezTo>
                    <a:pt x="2003773" y="1957584"/>
                    <a:pt x="2082731" y="1906475"/>
                    <a:pt x="1985963" y="1954859"/>
                  </a:cubicBezTo>
                  <a:cubicBezTo>
                    <a:pt x="1966338" y="1964672"/>
                    <a:pt x="1948125" y="1977097"/>
                    <a:pt x="1929519" y="1988726"/>
                  </a:cubicBezTo>
                  <a:cubicBezTo>
                    <a:pt x="1918014" y="1995917"/>
                    <a:pt x="1908403" y="2006667"/>
                    <a:pt x="1895652" y="2011304"/>
                  </a:cubicBezTo>
                  <a:cubicBezTo>
                    <a:pt x="1866490" y="2021908"/>
                    <a:pt x="1834779" y="2024068"/>
                    <a:pt x="1805341" y="2033881"/>
                  </a:cubicBezTo>
                  <a:cubicBezTo>
                    <a:pt x="1794052" y="2037644"/>
                    <a:pt x="1783353" y="2044471"/>
                    <a:pt x="1771474" y="2045170"/>
                  </a:cubicBezTo>
                  <a:cubicBezTo>
                    <a:pt x="1654963" y="2052024"/>
                    <a:pt x="1538171" y="2052696"/>
                    <a:pt x="1421519" y="2056459"/>
                  </a:cubicBezTo>
                  <a:lnTo>
                    <a:pt x="924808" y="2045170"/>
                  </a:lnTo>
                  <a:cubicBezTo>
                    <a:pt x="905636" y="2044387"/>
                    <a:pt x="885897" y="2041674"/>
                    <a:pt x="868363" y="2033881"/>
                  </a:cubicBezTo>
                  <a:cubicBezTo>
                    <a:pt x="663325" y="1942754"/>
                    <a:pt x="936157" y="2037665"/>
                    <a:pt x="789341" y="1988726"/>
                  </a:cubicBezTo>
                  <a:cubicBezTo>
                    <a:pt x="770526" y="1973674"/>
                    <a:pt x="752945" y="1956935"/>
                    <a:pt x="732897" y="1943570"/>
                  </a:cubicBezTo>
                  <a:cubicBezTo>
                    <a:pt x="718895" y="1934235"/>
                    <a:pt x="700669" y="1931765"/>
                    <a:pt x="687741" y="1920992"/>
                  </a:cubicBezTo>
                  <a:cubicBezTo>
                    <a:pt x="677318" y="1912306"/>
                    <a:pt x="674757" y="1896720"/>
                    <a:pt x="665163" y="1887126"/>
                  </a:cubicBezTo>
                  <a:cubicBezTo>
                    <a:pt x="655569" y="1877532"/>
                    <a:pt x="642337" y="1872434"/>
                    <a:pt x="631297" y="1864548"/>
                  </a:cubicBezTo>
                  <a:cubicBezTo>
                    <a:pt x="619358" y="1856020"/>
                    <a:pt x="570016" y="1816975"/>
                    <a:pt x="552274" y="1808104"/>
                  </a:cubicBezTo>
                  <a:cubicBezTo>
                    <a:pt x="525273" y="1794604"/>
                    <a:pt x="491276" y="1784008"/>
                    <a:pt x="461963" y="1774237"/>
                  </a:cubicBezTo>
                  <a:cubicBezTo>
                    <a:pt x="446911" y="1762948"/>
                    <a:pt x="433636" y="1748784"/>
                    <a:pt x="416808" y="1740370"/>
                  </a:cubicBezTo>
                  <a:cubicBezTo>
                    <a:pt x="402931" y="1733431"/>
                    <a:pt x="385123" y="1736779"/>
                    <a:pt x="371652" y="1729081"/>
                  </a:cubicBezTo>
                  <a:cubicBezTo>
                    <a:pt x="357791" y="1721160"/>
                    <a:pt x="350776" y="1704494"/>
                    <a:pt x="337785" y="1695215"/>
                  </a:cubicBezTo>
                  <a:cubicBezTo>
                    <a:pt x="324091" y="1685434"/>
                    <a:pt x="306093" y="1682734"/>
                    <a:pt x="292630" y="1672637"/>
                  </a:cubicBezTo>
                  <a:cubicBezTo>
                    <a:pt x="275601" y="1659865"/>
                    <a:pt x="263494" y="1641498"/>
                    <a:pt x="247474" y="1627481"/>
                  </a:cubicBezTo>
                  <a:cubicBezTo>
                    <a:pt x="233315" y="1615092"/>
                    <a:pt x="215623" y="1606919"/>
                    <a:pt x="202319" y="1593615"/>
                  </a:cubicBezTo>
                  <a:cubicBezTo>
                    <a:pt x="177011" y="1568307"/>
                    <a:pt x="160181" y="1535495"/>
                    <a:pt x="145874" y="1503304"/>
                  </a:cubicBezTo>
                  <a:cubicBezTo>
                    <a:pt x="137644" y="1484786"/>
                    <a:pt x="132359" y="1464984"/>
                    <a:pt x="123297" y="1446859"/>
                  </a:cubicBezTo>
                  <a:cubicBezTo>
                    <a:pt x="117229" y="1434724"/>
                    <a:pt x="108245" y="1424281"/>
                    <a:pt x="100719" y="1412992"/>
                  </a:cubicBezTo>
                  <a:cubicBezTo>
                    <a:pt x="72999" y="1302114"/>
                    <a:pt x="113131" y="1437816"/>
                    <a:pt x="55563" y="1322681"/>
                  </a:cubicBezTo>
                  <a:cubicBezTo>
                    <a:pt x="48624" y="1308804"/>
                    <a:pt x="49722" y="1292053"/>
                    <a:pt x="44274" y="1277526"/>
                  </a:cubicBezTo>
                  <a:cubicBezTo>
                    <a:pt x="0" y="1159461"/>
                    <a:pt x="39385" y="1303120"/>
                    <a:pt x="10408" y="1187215"/>
                  </a:cubicBezTo>
                  <a:cubicBezTo>
                    <a:pt x="14171" y="1078089"/>
                    <a:pt x="15092" y="968828"/>
                    <a:pt x="21697" y="859837"/>
                  </a:cubicBezTo>
                  <a:cubicBezTo>
                    <a:pt x="22636" y="844350"/>
                    <a:pt x="27537" y="829208"/>
                    <a:pt x="32985" y="814681"/>
                  </a:cubicBezTo>
                  <a:cubicBezTo>
                    <a:pt x="38894" y="798924"/>
                    <a:pt x="48037" y="784578"/>
                    <a:pt x="55563" y="769526"/>
                  </a:cubicBezTo>
                  <a:cubicBezTo>
                    <a:pt x="59326" y="754474"/>
                    <a:pt x="61946" y="739089"/>
                    <a:pt x="66852" y="724370"/>
                  </a:cubicBezTo>
                  <a:cubicBezTo>
                    <a:pt x="73260" y="705146"/>
                    <a:pt x="82315" y="686900"/>
                    <a:pt x="89430" y="667926"/>
                  </a:cubicBezTo>
                  <a:cubicBezTo>
                    <a:pt x="93608" y="656784"/>
                    <a:pt x="96541" y="645201"/>
                    <a:pt x="100719" y="634059"/>
                  </a:cubicBezTo>
                  <a:cubicBezTo>
                    <a:pt x="141204" y="526099"/>
                    <a:pt x="108969" y="620603"/>
                    <a:pt x="134585" y="543748"/>
                  </a:cubicBezTo>
                  <a:cubicBezTo>
                    <a:pt x="137563" y="478230"/>
                    <a:pt x="120938" y="346049"/>
                    <a:pt x="157163" y="261526"/>
                  </a:cubicBezTo>
                  <a:cubicBezTo>
                    <a:pt x="163792" y="246058"/>
                    <a:pt x="170822" y="230641"/>
                    <a:pt x="179741" y="216370"/>
                  </a:cubicBezTo>
                  <a:cubicBezTo>
                    <a:pt x="189713" y="200415"/>
                    <a:pt x="203636" y="187170"/>
                    <a:pt x="213608" y="171215"/>
                  </a:cubicBezTo>
                  <a:cubicBezTo>
                    <a:pt x="222527" y="156944"/>
                    <a:pt x="230276" y="141816"/>
                    <a:pt x="236185" y="126059"/>
                  </a:cubicBezTo>
                  <a:cubicBezTo>
                    <a:pt x="247034" y="97127"/>
                    <a:pt x="245119" y="74326"/>
                    <a:pt x="258763" y="47037"/>
                  </a:cubicBezTo>
                  <a:cubicBezTo>
                    <a:pt x="264831" y="34902"/>
                    <a:pt x="272655" y="23593"/>
                    <a:pt x="281341" y="13170"/>
                  </a:cubicBezTo>
                  <a:cubicBezTo>
                    <a:pt x="291562" y="906"/>
                    <a:pt x="226778" y="0"/>
                    <a:pt x="303919" y="1881"/>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6" name="手繪多邊形 35"/>
            <p:cNvSpPr/>
            <p:nvPr/>
          </p:nvSpPr>
          <p:spPr>
            <a:xfrm>
              <a:off x="2819400" y="1904945"/>
              <a:ext cx="1938338" cy="1106896"/>
            </a:xfrm>
            <a:custGeom>
              <a:avLst/>
              <a:gdLst>
                <a:gd name="connsiteX0" fmla="*/ 146756 w 1938383"/>
                <a:gd name="connsiteY0" fmla="*/ 146756 h 1106311"/>
                <a:gd name="connsiteX1" fmla="*/ 191911 w 1938383"/>
                <a:gd name="connsiteY1" fmla="*/ 135467 h 1106311"/>
                <a:gd name="connsiteX2" fmla="*/ 248356 w 1938383"/>
                <a:gd name="connsiteY2" fmla="*/ 112889 h 1106311"/>
                <a:gd name="connsiteX3" fmla="*/ 462845 w 1938383"/>
                <a:gd name="connsiteY3" fmla="*/ 67734 h 1106311"/>
                <a:gd name="connsiteX4" fmla="*/ 688622 w 1938383"/>
                <a:gd name="connsiteY4" fmla="*/ 45156 h 1106311"/>
                <a:gd name="connsiteX5" fmla="*/ 790222 w 1938383"/>
                <a:gd name="connsiteY5" fmla="*/ 22578 h 1106311"/>
                <a:gd name="connsiteX6" fmla="*/ 1072445 w 1938383"/>
                <a:gd name="connsiteY6" fmla="*/ 0 h 1106311"/>
                <a:gd name="connsiteX7" fmla="*/ 1253067 w 1938383"/>
                <a:gd name="connsiteY7" fmla="*/ 22578 h 1106311"/>
                <a:gd name="connsiteX8" fmla="*/ 1377245 w 1938383"/>
                <a:gd name="connsiteY8" fmla="*/ 79022 h 1106311"/>
                <a:gd name="connsiteX9" fmla="*/ 1490134 w 1938383"/>
                <a:gd name="connsiteY9" fmla="*/ 124178 h 1106311"/>
                <a:gd name="connsiteX10" fmla="*/ 1524000 w 1938383"/>
                <a:gd name="connsiteY10" fmla="*/ 146756 h 1106311"/>
                <a:gd name="connsiteX11" fmla="*/ 1614311 w 1938383"/>
                <a:gd name="connsiteY11" fmla="*/ 180622 h 1106311"/>
                <a:gd name="connsiteX12" fmla="*/ 1693334 w 1938383"/>
                <a:gd name="connsiteY12" fmla="*/ 225778 h 1106311"/>
                <a:gd name="connsiteX13" fmla="*/ 1817511 w 1938383"/>
                <a:gd name="connsiteY13" fmla="*/ 282222 h 1106311"/>
                <a:gd name="connsiteX14" fmla="*/ 1885245 w 1938383"/>
                <a:gd name="connsiteY14" fmla="*/ 327378 h 1106311"/>
                <a:gd name="connsiteX15" fmla="*/ 1896534 w 1938383"/>
                <a:gd name="connsiteY15" fmla="*/ 361245 h 1106311"/>
                <a:gd name="connsiteX16" fmla="*/ 1930400 w 1938383"/>
                <a:gd name="connsiteY16" fmla="*/ 440267 h 1106311"/>
                <a:gd name="connsiteX17" fmla="*/ 1919111 w 1938383"/>
                <a:gd name="connsiteY17" fmla="*/ 643467 h 1106311"/>
                <a:gd name="connsiteX18" fmla="*/ 1907822 w 1938383"/>
                <a:gd name="connsiteY18" fmla="*/ 677334 h 1106311"/>
                <a:gd name="connsiteX19" fmla="*/ 1885245 w 1938383"/>
                <a:gd name="connsiteY19" fmla="*/ 733778 h 1106311"/>
                <a:gd name="connsiteX20" fmla="*/ 1862667 w 1938383"/>
                <a:gd name="connsiteY20" fmla="*/ 801511 h 1106311"/>
                <a:gd name="connsiteX21" fmla="*/ 1851378 w 1938383"/>
                <a:gd name="connsiteY21" fmla="*/ 835378 h 1106311"/>
                <a:gd name="connsiteX22" fmla="*/ 1828800 w 1938383"/>
                <a:gd name="connsiteY22" fmla="*/ 869245 h 1106311"/>
                <a:gd name="connsiteX23" fmla="*/ 1794934 w 1938383"/>
                <a:gd name="connsiteY23" fmla="*/ 936978 h 1106311"/>
                <a:gd name="connsiteX24" fmla="*/ 1727200 w 1938383"/>
                <a:gd name="connsiteY24" fmla="*/ 982134 h 1106311"/>
                <a:gd name="connsiteX25" fmla="*/ 1693334 w 1938383"/>
                <a:gd name="connsiteY25" fmla="*/ 1016000 h 1106311"/>
                <a:gd name="connsiteX26" fmla="*/ 1659467 w 1938383"/>
                <a:gd name="connsiteY26" fmla="*/ 1027289 h 1106311"/>
                <a:gd name="connsiteX27" fmla="*/ 1591734 w 1938383"/>
                <a:gd name="connsiteY27" fmla="*/ 1083734 h 1106311"/>
                <a:gd name="connsiteX28" fmla="*/ 1557867 w 1938383"/>
                <a:gd name="connsiteY28" fmla="*/ 1095022 h 1106311"/>
                <a:gd name="connsiteX29" fmla="*/ 1535289 w 1938383"/>
                <a:gd name="connsiteY29" fmla="*/ 1061156 h 1106311"/>
                <a:gd name="connsiteX30" fmla="*/ 1422400 w 1938383"/>
                <a:gd name="connsiteY30" fmla="*/ 1106311 h 1106311"/>
                <a:gd name="connsiteX31" fmla="*/ 936978 w 1938383"/>
                <a:gd name="connsiteY31" fmla="*/ 1095022 h 1106311"/>
                <a:gd name="connsiteX32" fmla="*/ 891822 w 1938383"/>
                <a:gd name="connsiteY32" fmla="*/ 1083734 h 1106311"/>
                <a:gd name="connsiteX33" fmla="*/ 824089 w 1938383"/>
                <a:gd name="connsiteY33" fmla="*/ 1072445 h 1106311"/>
                <a:gd name="connsiteX34" fmla="*/ 745067 w 1938383"/>
                <a:gd name="connsiteY34" fmla="*/ 1061156 h 1106311"/>
                <a:gd name="connsiteX35" fmla="*/ 587022 w 1938383"/>
                <a:gd name="connsiteY35" fmla="*/ 1027289 h 1106311"/>
                <a:gd name="connsiteX36" fmla="*/ 485422 w 1938383"/>
                <a:gd name="connsiteY36" fmla="*/ 993422 h 1106311"/>
                <a:gd name="connsiteX37" fmla="*/ 406400 w 1938383"/>
                <a:gd name="connsiteY37" fmla="*/ 970845 h 1106311"/>
                <a:gd name="connsiteX38" fmla="*/ 191911 w 1938383"/>
                <a:gd name="connsiteY38" fmla="*/ 959556 h 1106311"/>
                <a:gd name="connsiteX39" fmla="*/ 158045 w 1938383"/>
                <a:gd name="connsiteY39" fmla="*/ 948267 h 1106311"/>
                <a:gd name="connsiteX40" fmla="*/ 56445 w 1938383"/>
                <a:gd name="connsiteY40" fmla="*/ 835378 h 1106311"/>
                <a:gd name="connsiteX41" fmla="*/ 11289 w 1938383"/>
                <a:gd name="connsiteY41" fmla="*/ 733778 h 1106311"/>
                <a:gd name="connsiteX42" fmla="*/ 0 w 1938383"/>
                <a:gd name="connsiteY42" fmla="*/ 688622 h 1106311"/>
                <a:gd name="connsiteX43" fmla="*/ 11289 w 1938383"/>
                <a:gd name="connsiteY43" fmla="*/ 361245 h 1106311"/>
                <a:gd name="connsiteX44" fmla="*/ 22578 w 1938383"/>
                <a:gd name="connsiteY44" fmla="*/ 327378 h 1106311"/>
                <a:gd name="connsiteX45" fmla="*/ 33867 w 1938383"/>
                <a:gd name="connsiteY45" fmla="*/ 237067 h 1106311"/>
                <a:gd name="connsiteX46" fmla="*/ 101600 w 1938383"/>
                <a:gd name="connsiteY46" fmla="*/ 191911 h 1106311"/>
                <a:gd name="connsiteX47" fmla="*/ 146756 w 1938383"/>
                <a:gd name="connsiteY47" fmla="*/ 146756 h 110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38383" h="1106311">
                  <a:moveTo>
                    <a:pt x="146756" y="146756"/>
                  </a:moveTo>
                  <a:cubicBezTo>
                    <a:pt x="161808" y="137349"/>
                    <a:pt x="177192" y="140373"/>
                    <a:pt x="191911" y="135467"/>
                  </a:cubicBezTo>
                  <a:cubicBezTo>
                    <a:pt x="211135" y="129059"/>
                    <a:pt x="228697" y="117804"/>
                    <a:pt x="248356" y="112889"/>
                  </a:cubicBezTo>
                  <a:cubicBezTo>
                    <a:pt x="319238" y="95169"/>
                    <a:pt x="390228" y="75803"/>
                    <a:pt x="462845" y="67734"/>
                  </a:cubicBezTo>
                  <a:cubicBezTo>
                    <a:pt x="605754" y="51855"/>
                    <a:pt x="530510" y="59530"/>
                    <a:pt x="688622" y="45156"/>
                  </a:cubicBezTo>
                  <a:cubicBezTo>
                    <a:pt x="722489" y="37630"/>
                    <a:pt x="755913" y="27724"/>
                    <a:pt x="790222" y="22578"/>
                  </a:cubicBezTo>
                  <a:cubicBezTo>
                    <a:pt x="834051" y="16004"/>
                    <a:pt x="1041883" y="2183"/>
                    <a:pt x="1072445" y="0"/>
                  </a:cubicBezTo>
                  <a:cubicBezTo>
                    <a:pt x="1083232" y="899"/>
                    <a:pt x="1211938" y="4298"/>
                    <a:pt x="1253067" y="22578"/>
                  </a:cubicBezTo>
                  <a:cubicBezTo>
                    <a:pt x="1437497" y="104547"/>
                    <a:pt x="1172010" y="10613"/>
                    <a:pt x="1377245" y="79022"/>
                  </a:cubicBezTo>
                  <a:cubicBezTo>
                    <a:pt x="1453446" y="129824"/>
                    <a:pt x="1358609" y="71567"/>
                    <a:pt x="1490134" y="124178"/>
                  </a:cubicBezTo>
                  <a:cubicBezTo>
                    <a:pt x="1502731" y="129217"/>
                    <a:pt x="1512220" y="140025"/>
                    <a:pt x="1524000" y="146756"/>
                  </a:cubicBezTo>
                  <a:cubicBezTo>
                    <a:pt x="1569914" y="172993"/>
                    <a:pt x="1564924" y="168276"/>
                    <a:pt x="1614311" y="180622"/>
                  </a:cubicBezTo>
                  <a:cubicBezTo>
                    <a:pt x="1648324" y="203297"/>
                    <a:pt x="1653229" y="208590"/>
                    <a:pt x="1693334" y="225778"/>
                  </a:cubicBezTo>
                  <a:cubicBezTo>
                    <a:pt x="1760461" y="254547"/>
                    <a:pt x="1712790" y="212408"/>
                    <a:pt x="1817511" y="282222"/>
                  </a:cubicBezTo>
                  <a:lnTo>
                    <a:pt x="1885245" y="327378"/>
                  </a:lnTo>
                  <a:cubicBezTo>
                    <a:pt x="1889008" y="338667"/>
                    <a:pt x="1891847" y="350307"/>
                    <a:pt x="1896534" y="361245"/>
                  </a:cubicBezTo>
                  <a:cubicBezTo>
                    <a:pt x="1938383" y="458893"/>
                    <a:pt x="1903925" y="360842"/>
                    <a:pt x="1930400" y="440267"/>
                  </a:cubicBezTo>
                  <a:cubicBezTo>
                    <a:pt x="1926637" y="508000"/>
                    <a:pt x="1925543" y="575935"/>
                    <a:pt x="1919111" y="643467"/>
                  </a:cubicBezTo>
                  <a:cubicBezTo>
                    <a:pt x="1917983" y="655313"/>
                    <a:pt x="1912000" y="666192"/>
                    <a:pt x="1907822" y="677334"/>
                  </a:cubicBezTo>
                  <a:cubicBezTo>
                    <a:pt x="1900707" y="696308"/>
                    <a:pt x="1892170" y="714734"/>
                    <a:pt x="1885245" y="733778"/>
                  </a:cubicBezTo>
                  <a:cubicBezTo>
                    <a:pt x="1877112" y="756144"/>
                    <a:pt x="1870193" y="778933"/>
                    <a:pt x="1862667" y="801511"/>
                  </a:cubicBezTo>
                  <a:cubicBezTo>
                    <a:pt x="1858904" y="812800"/>
                    <a:pt x="1857979" y="825477"/>
                    <a:pt x="1851378" y="835378"/>
                  </a:cubicBezTo>
                  <a:cubicBezTo>
                    <a:pt x="1843852" y="846667"/>
                    <a:pt x="1834868" y="857110"/>
                    <a:pt x="1828800" y="869245"/>
                  </a:cubicBezTo>
                  <a:cubicBezTo>
                    <a:pt x="1813591" y="899663"/>
                    <a:pt x="1823689" y="911817"/>
                    <a:pt x="1794934" y="936978"/>
                  </a:cubicBezTo>
                  <a:cubicBezTo>
                    <a:pt x="1774513" y="954847"/>
                    <a:pt x="1746388" y="962946"/>
                    <a:pt x="1727200" y="982134"/>
                  </a:cubicBezTo>
                  <a:cubicBezTo>
                    <a:pt x="1715911" y="993423"/>
                    <a:pt x="1706617" y="1007144"/>
                    <a:pt x="1693334" y="1016000"/>
                  </a:cubicBezTo>
                  <a:cubicBezTo>
                    <a:pt x="1683433" y="1022601"/>
                    <a:pt x="1670110" y="1021967"/>
                    <a:pt x="1659467" y="1027289"/>
                  </a:cubicBezTo>
                  <a:cubicBezTo>
                    <a:pt x="1585590" y="1064227"/>
                    <a:pt x="1666642" y="1033796"/>
                    <a:pt x="1591734" y="1083734"/>
                  </a:cubicBezTo>
                  <a:cubicBezTo>
                    <a:pt x="1581833" y="1090335"/>
                    <a:pt x="1569156" y="1091259"/>
                    <a:pt x="1557867" y="1095022"/>
                  </a:cubicBezTo>
                  <a:cubicBezTo>
                    <a:pt x="1550341" y="1083733"/>
                    <a:pt x="1548752" y="1062839"/>
                    <a:pt x="1535289" y="1061156"/>
                  </a:cubicBezTo>
                  <a:cubicBezTo>
                    <a:pt x="1512972" y="1058367"/>
                    <a:pt x="1445440" y="1094792"/>
                    <a:pt x="1422400" y="1106311"/>
                  </a:cubicBezTo>
                  <a:lnTo>
                    <a:pt x="936978" y="1095022"/>
                  </a:lnTo>
                  <a:cubicBezTo>
                    <a:pt x="921477" y="1094362"/>
                    <a:pt x="907036" y="1086777"/>
                    <a:pt x="891822" y="1083734"/>
                  </a:cubicBezTo>
                  <a:cubicBezTo>
                    <a:pt x="869377" y="1079245"/>
                    <a:pt x="846712" y="1075925"/>
                    <a:pt x="824089" y="1072445"/>
                  </a:cubicBezTo>
                  <a:cubicBezTo>
                    <a:pt x="797790" y="1068399"/>
                    <a:pt x="771158" y="1066374"/>
                    <a:pt x="745067" y="1061156"/>
                  </a:cubicBezTo>
                  <a:cubicBezTo>
                    <a:pt x="463785" y="1004899"/>
                    <a:pt x="809854" y="1064428"/>
                    <a:pt x="587022" y="1027289"/>
                  </a:cubicBezTo>
                  <a:lnTo>
                    <a:pt x="485422" y="993422"/>
                  </a:lnTo>
                  <a:cubicBezTo>
                    <a:pt x="465617" y="986821"/>
                    <a:pt x="425574" y="972512"/>
                    <a:pt x="406400" y="970845"/>
                  </a:cubicBezTo>
                  <a:cubicBezTo>
                    <a:pt x="335074" y="964643"/>
                    <a:pt x="263407" y="963319"/>
                    <a:pt x="191911" y="959556"/>
                  </a:cubicBezTo>
                  <a:cubicBezTo>
                    <a:pt x="180622" y="955793"/>
                    <a:pt x="167438" y="955572"/>
                    <a:pt x="158045" y="948267"/>
                  </a:cubicBezTo>
                  <a:cubicBezTo>
                    <a:pt x="128089" y="924968"/>
                    <a:pt x="79368" y="872056"/>
                    <a:pt x="56445" y="835378"/>
                  </a:cubicBezTo>
                  <a:cubicBezTo>
                    <a:pt x="42395" y="812898"/>
                    <a:pt x="18935" y="756717"/>
                    <a:pt x="11289" y="733778"/>
                  </a:cubicBezTo>
                  <a:cubicBezTo>
                    <a:pt x="6383" y="719059"/>
                    <a:pt x="3763" y="703674"/>
                    <a:pt x="0" y="688622"/>
                  </a:cubicBezTo>
                  <a:cubicBezTo>
                    <a:pt x="3763" y="579496"/>
                    <a:pt x="4478" y="470223"/>
                    <a:pt x="11289" y="361245"/>
                  </a:cubicBezTo>
                  <a:cubicBezTo>
                    <a:pt x="12031" y="349369"/>
                    <a:pt x="20449" y="339086"/>
                    <a:pt x="22578" y="327378"/>
                  </a:cubicBezTo>
                  <a:cubicBezTo>
                    <a:pt x="28005" y="297529"/>
                    <a:pt x="18581" y="263272"/>
                    <a:pt x="33867" y="237067"/>
                  </a:cubicBezTo>
                  <a:cubicBezTo>
                    <a:pt x="47540" y="213628"/>
                    <a:pt x="79022" y="206963"/>
                    <a:pt x="101600" y="191911"/>
                  </a:cubicBezTo>
                  <a:cubicBezTo>
                    <a:pt x="147989" y="160985"/>
                    <a:pt x="131704" y="156163"/>
                    <a:pt x="146756" y="146756"/>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7" name="手繪多邊形 36"/>
            <p:cNvSpPr/>
            <p:nvPr/>
          </p:nvSpPr>
          <p:spPr>
            <a:xfrm>
              <a:off x="4492625" y="1736608"/>
              <a:ext cx="2212975" cy="1870764"/>
            </a:xfrm>
            <a:custGeom>
              <a:avLst/>
              <a:gdLst>
                <a:gd name="connsiteX0" fmla="*/ 1715911 w 2212622"/>
                <a:gd name="connsiteY0" fmla="*/ 1881 h 1870749"/>
                <a:gd name="connsiteX1" fmla="*/ 1320800 w 2212622"/>
                <a:gd name="connsiteY1" fmla="*/ 13170 h 1870749"/>
                <a:gd name="connsiteX2" fmla="*/ 1264355 w 2212622"/>
                <a:gd name="connsiteY2" fmla="*/ 24459 h 1870749"/>
                <a:gd name="connsiteX3" fmla="*/ 1196622 w 2212622"/>
                <a:gd name="connsiteY3" fmla="*/ 35748 h 1870749"/>
                <a:gd name="connsiteX4" fmla="*/ 1151466 w 2212622"/>
                <a:gd name="connsiteY4" fmla="*/ 47036 h 1870749"/>
                <a:gd name="connsiteX5" fmla="*/ 1083733 w 2212622"/>
                <a:gd name="connsiteY5" fmla="*/ 69614 h 1870749"/>
                <a:gd name="connsiteX6" fmla="*/ 948266 w 2212622"/>
                <a:gd name="connsiteY6" fmla="*/ 92192 h 1870749"/>
                <a:gd name="connsiteX7" fmla="*/ 835378 w 2212622"/>
                <a:gd name="connsiteY7" fmla="*/ 159925 h 1870749"/>
                <a:gd name="connsiteX8" fmla="*/ 756355 w 2212622"/>
                <a:gd name="connsiteY8" fmla="*/ 205081 h 1870749"/>
                <a:gd name="connsiteX9" fmla="*/ 699911 w 2212622"/>
                <a:gd name="connsiteY9" fmla="*/ 250236 h 1870749"/>
                <a:gd name="connsiteX10" fmla="*/ 666044 w 2212622"/>
                <a:gd name="connsiteY10" fmla="*/ 284103 h 1870749"/>
                <a:gd name="connsiteX11" fmla="*/ 620889 w 2212622"/>
                <a:gd name="connsiteY11" fmla="*/ 306681 h 1870749"/>
                <a:gd name="connsiteX12" fmla="*/ 553155 w 2212622"/>
                <a:gd name="connsiteY12" fmla="*/ 363125 h 1870749"/>
                <a:gd name="connsiteX13" fmla="*/ 508000 w 2212622"/>
                <a:gd name="connsiteY13" fmla="*/ 430859 h 1870749"/>
                <a:gd name="connsiteX14" fmla="*/ 428978 w 2212622"/>
                <a:gd name="connsiteY14" fmla="*/ 532459 h 1870749"/>
                <a:gd name="connsiteX15" fmla="*/ 383822 w 2212622"/>
                <a:gd name="connsiteY15" fmla="*/ 588903 h 1870749"/>
                <a:gd name="connsiteX16" fmla="*/ 316089 w 2212622"/>
                <a:gd name="connsiteY16" fmla="*/ 713081 h 1870749"/>
                <a:gd name="connsiteX17" fmla="*/ 282222 w 2212622"/>
                <a:gd name="connsiteY17" fmla="*/ 758236 h 1870749"/>
                <a:gd name="connsiteX18" fmla="*/ 203200 w 2212622"/>
                <a:gd name="connsiteY18" fmla="*/ 961436 h 1870749"/>
                <a:gd name="connsiteX19" fmla="*/ 180622 w 2212622"/>
                <a:gd name="connsiteY19" fmla="*/ 1017881 h 1870749"/>
                <a:gd name="connsiteX20" fmla="*/ 146755 w 2212622"/>
                <a:gd name="connsiteY20" fmla="*/ 1074325 h 1870749"/>
                <a:gd name="connsiteX21" fmla="*/ 124178 w 2212622"/>
                <a:gd name="connsiteY21" fmla="*/ 1130770 h 1870749"/>
                <a:gd name="connsiteX22" fmla="*/ 79022 w 2212622"/>
                <a:gd name="connsiteY22" fmla="*/ 1232370 h 1870749"/>
                <a:gd name="connsiteX23" fmla="*/ 33866 w 2212622"/>
                <a:gd name="connsiteY23" fmla="*/ 1401703 h 1870749"/>
                <a:gd name="connsiteX24" fmla="*/ 11289 w 2212622"/>
                <a:gd name="connsiteY24" fmla="*/ 1469436 h 1870749"/>
                <a:gd name="connsiteX25" fmla="*/ 0 w 2212622"/>
                <a:gd name="connsiteY25" fmla="*/ 1503303 h 1870749"/>
                <a:gd name="connsiteX26" fmla="*/ 11289 w 2212622"/>
                <a:gd name="connsiteY26" fmla="*/ 1661348 h 1870749"/>
                <a:gd name="connsiteX27" fmla="*/ 22578 w 2212622"/>
                <a:gd name="connsiteY27" fmla="*/ 1695214 h 1870749"/>
                <a:gd name="connsiteX28" fmla="*/ 124178 w 2212622"/>
                <a:gd name="connsiteY28" fmla="*/ 1740370 h 1870749"/>
                <a:gd name="connsiteX29" fmla="*/ 1286933 w 2212622"/>
                <a:gd name="connsiteY29" fmla="*/ 1751659 h 1870749"/>
                <a:gd name="connsiteX30" fmla="*/ 1377244 w 2212622"/>
                <a:gd name="connsiteY30" fmla="*/ 1774236 h 1870749"/>
                <a:gd name="connsiteX31" fmla="*/ 1422400 w 2212622"/>
                <a:gd name="connsiteY31" fmla="*/ 1796814 h 1870749"/>
                <a:gd name="connsiteX32" fmla="*/ 1512711 w 2212622"/>
                <a:gd name="connsiteY32" fmla="*/ 1808103 h 1870749"/>
                <a:gd name="connsiteX33" fmla="*/ 1580444 w 2212622"/>
                <a:gd name="connsiteY33" fmla="*/ 1819392 h 1870749"/>
                <a:gd name="connsiteX34" fmla="*/ 1659466 w 2212622"/>
                <a:gd name="connsiteY34" fmla="*/ 1830681 h 1870749"/>
                <a:gd name="connsiteX35" fmla="*/ 2020711 w 2212622"/>
                <a:gd name="connsiteY35" fmla="*/ 1774236 h 1870749"/>
                <a:gd name="connsiteX36" fmla="*/ 2054578 w 2212622"/>
                <a:gd name="connsiteY36" fmla="*/ 1729081 h 1870749"/>
                <a:gd name="connsiteX37" fmla="*/ 2065866 w 2212622"/>
                <a:gd name="connsiteY37" fmla="*/ 1695214 h 1870749"/>
                <a:gd name="connsiteX38" fmla="*/ 2099733 w 2212622"/>
                <a:gd name="connsiteY38" fmla="*/ 1650059 h 1870749"/>
                <a:gd name="connsiteX39" fmla="*/ 2122311 w 2212622"/>
                <a:gd name="connsiteY39" fmla="*/ 1616192 h 1870749"/>
                <a:gd name="connsiteX40" fmla="*/ 2156178 w 2212622"/>
                <a:gd name="connsiteY40" fmla="*/ 1525881 h 1870749"/>
                <a:gd name="connsiteX41" fmla="*/ 2178755 w 2212622"/>
                <a:gd name="connsiteY41" fmla="*/ 1480725 h 1870749"/>
                <a:gd name="connsiteX42" fmla="*/ 2212622 w 2212622"/>
                <a:gd name="connsiteY42" fmla="*/ 1379125 h 1870749"/>
                <a:gd name="connsiteX43" fmla="*/ 2201333 w 2212622"/>
                <a:gd name="connsiteY43" fmla="*/ 1175925 h 1870749"/>
                <a:gd name="connsiteX44" fmla="*/ 2190044 w 2212622"/>
                <a:gd name="connsiteY44" fmla="*/ 1108192 h 1870749"/>
                <a:gd name="connsiteX45" fmla="*/ 2178755 w 2212622"/>
                <a:gd name="connsiteY45" fmla="*/ 1006592 h 1870749"/>
                <a:gd name="connsiteX46" fmla="*/ 2156178 w 2212622"/>
                <a:gd name="connsiteY46" fmla="*/ 950148 h 1870749"/>
                <a:gd name="connsiteX47" fmla="*/ 2133600 w 2212622"/>
                <a:gd name="connsiteY47" fmla="*/ 837259 h 1870749"/>
                <a:gd name="connsiteX48" fmla="*/ 2099733 w 2212622"/>
                <a:gd name="connsiteY48" fmla="*/ 735659 h 1870749"/>
                <a:gd name="connsiteX49" fmla="*/ 2054578 w 2212622"/>
                <a:gd name="connsiteY49" fmla="*/ 622770 h 1870749"/>
                <a:gd name="connsiteX50" fmla="*/ 2009422 w 2212622"/>
                <a:gd name="connsiteY50" fmla="*/ 464725 h 1870749"/>
                <a:gd name="connsiteX51" fmla="*/ 1986844 w 2212622"/>
                <a:gd name="connsiteY51" fmla="*/ 408281 h 1870749"/>
                <a:gd name="connsiteX52" fmla="*/ 1975555 w 2212622"/>
                <a:gd name="connsiteY52" fmla="*/ 374414 h 1870749"/>
                <a:gd name="connsiteX53" fmla="*/ 1952978 w 2212622"/>
                <a:gd name="connsiteY53" fmla="*/ 317970 h 1870749"/>
                <a:gd name="connsiteX54" fmla="*/ 1930400 w 2212622"/>
                <a:gd name="connsiteY54" fmla="*/ 250236 h 1870749"/>
                <a:gd name="connsiteX55" fmla="*/ 1919111 w 2212622"/>
                <a:gd name="connsiteY55" fmla="*/ 216370 h 1870749"/>
                <a:gd name="connsiteX56" fmla="*/ 1896533 w 2212622"/>
                <a:gd name="connsiteY56" fmla="*/ 137348 h 1870749"/>
                <a:gd name="connsiteX57" fmla="*/ 1873955 w 2212622"/>
                <a:gd name="connsiteY57" fmla="*/ 103481 h 1870749"/>
                <a:gd name="connsiteX58" fmla="*/ 1817511 w 2212622"/>
                <a:gd name="connsiteY58" fmla="*/ 13170 h 1870749"/>
                <a:gd name="connsiteX59" fmla="*/ 1772355 w 2212622"/>
                <a:gd name="connsiteY59" fmla="*/ 1881 h 1870749"/>
                <a:gd name="connsiteX60" fmla="*/ 1715911 w 2212622"/>
                <a:gd name="connsiteY60" fmla="*/ 1881 h 187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212622" h="1870749">
                  <a:moveTo>
                    <a:pt x="1715911" y="1881"/>
                  </a:moveTo>
                  <a:cubicBezTo>
                    <a:pt x="1640652" y="3762"/>
                    <a:pt x="1452393" y="6590"/>
                    <a:pt x="1320800" y="13170"/>
                  </a:cubicBezTo>
                  <a:cubicBezTo>
                    <a:pt x="1301636" y="14128"/>
                    <a:pt x="1283233" y="21027"/>
                    <a:pt x="1264355" y="24459"/>
                  </a:cubicBezTo>
                  <a:cubicBezTo>
                    <a:pt x="1241835" y="28554"/>
                    <a:pt x="1219067" y="31259"/>
                    <a:pt x="1196622" y="35748"/>
                  </a:cubicBezTo>
                  <a:cubicBezTo>
                    <a:pt x="1181408" y="38791"/>
                    <a:pt x="1166327" y="42578"/>
                    <a:pt x="1151466" y="47036"/>
                  </a:cubicBezTo>
                  <a:cubicBezTo>
                    <a:pt x="1128671" y="53874"/>
                    <a:pt x="1107208" y="65701"/>
                    <a:pt x="1083733" y="69614"/>
                  </a:cubicBezTo>
                  <a:lnTo>
                    <a:pt x="948266" y="92192"/>
                  </a:lnTo>
                  <a:cubicBezTo>
                    <a:pt x="776021" y="178316"/>
                    <a:pt x="966082" y="78236"/>
                    <a:pt x="835378" y="159925"/>
                  </a:cubicBezTo>
                  <a:cubicBezTo>
                    <a:pt x="760379" y="206799"/>
                    <a:pt x="818501" y="158472"/>
                    <a:pt x="756355" y="205081"/>
                  </a:cubicBezTo>
                  <a:cubicBezTo>
                    <a:pt x="737079" y="219538"/>
                    <a:pt x="718044" y="234370"/>
                    <a:pt x="699911" y="250236"/>
                  </a:cubicBezTo>
                  <a:cubicBezTo>
                    <a:pt x="687896" y="260749"/>
                    <a:pt x="679035" y="274823"/>
                    <a:pt x="666044" y="284103"/>
                  </a:cubicBezTo>
                  <a:cubicBezTo>
                    <a:pt x="652350" y="293884"/>
                    <a:pt x="635941" y="299155"/>
                    <a:pt x="620889" y="306681"/>
                  </a:cubicBezTo>
                  <a:cubicBezTo>
                    <a:pt x="542784" y="423839"/>
                    <a:pt x="667740" y="248540"/>
                    <a:pt x="553155" y="363125"/>
                  </a:cubicBezTo>
                  <a:cubicBezTo>
                    <a:pt x="533968" y="382312"/>
                    <a:pt x="524047" y="408977"/>
                    <a:pt x="508000" y="430859"/>
                  </a:cubicBezTo>
                  <a:cubicBezTo>
                    <a:pt x="482628" y="465457"/>
                    <a:pt x="455485" y="498723"/>
                    <a:pt x="428978" y="532459"/>
                  </a:cubicBezTo>
                  <a:cubicBezTo>
                    <a:pt x="414092" y="551405"/>
                    <a:pt x="394598" y="567352"/>
                    <a:pt x="383822" y="588903"/>
                  </a:cubicBezTo>
                  <a:cubicBezTo>
                    <a:pt x="358115" y="640316"/>
                    <a:pt x="347319" y="666235"/>
                    <a:pt x="316089" y="713081"/>
                  </a:cubicBezTo>
                  <a:cubicBezTo>
                    <a:pt x="305652" y="728736"/>
                    <a:pt x="293511" y="743184"/>
                    <a:pt x="282222" y="758236"/>
                  </a:cubicBezTo>
                  <a:cubicBezTo>
                    <a:pt x="203084" y="995649"/>
                    <a:pt x="272141" y="809765"/>
                    <a:pt x="203200" y="961436"/>
                  </a:cubicBezTo>
                  <a:cubicBezTo>
                    <a:pt x="194815" y="979884"/>
                    <a:pt x="189685" y="999756"/>
                    <a:pt x="180622" y="1017881"/>
                  </a:cubicBezTo>
                  <a:cubicBezTo>
                    <a:pt x="170809" y="1037506"/>
                    <a:pt x="156568" y="1054700"/>
                    <a:pt x="146755" y="1074325"/>
                  </a:cubicBezTo>
                  <a:cubicBezTo>
                    <a:pt x="137693" y="1092450"/>
                    <a:pt x="132408" y="1112252"/>
                    <a:pt x="124178" y="1130770"/>
                  </a:cubicBezTo>
                  <a:cubicBezTo>
                    <a:pt x="91208" y="1204953"/>
                    <a:pt x="109450" y="1147171"/>
                    <a:pt x="79022" y="1232370"/>
                  </a:cubicBezTo>
                  <a:cubicBezTo>
                    <a:pt x="173" y="1453146"/>
                    <a:pt x="75224" y="1236267"/>
                    <a:pt x="33866" y="1401703"/>
                  </a:cubicBezTo>
                  <a:cubicBezTo>
                    <a:pt x="28094" y="1424791"/>
                    <a:pt x="18815" y="1446858"/>
                    <a:pt x="11289" y="1469436"/>
                  </a:cubicBezTo>
                  <a:lnTo>
                    <a:pt x="0" y="1503303"/>
                  </a:lnTo>
                  <a:cubicBezTo>
                    <a:pt x="3763" y="1555985"/>
                    <a:pt x="5118" y="1608894"/>
                    <a:pt x="11289" y="1661348"/>
                  </a:cubicBezTo>
                  <a:cubicBezTo>
                    <a:pt x="12679" y="1673166"/>
                    <a:pt x="15145" y="1685922"/>
                    <a:pt x="22578" y="1695214"/>
                  </a:cubicBezTo>
                  <a:cubicBezTo>
                    <a:pt x="39016" y="1715761"/>
                    <a:pt x="108880" y="1740221"/>
                    <a:pt x="124178" y="1740370"/>
                  </a:cubicBezTo>
                  <a:lnTo>
                    <a:pt x="1286933" y="1751659"/>
                  </a:lnTo>
                  <a:cubicBezTo>
                    <a:pt x="1317037" y="1759185"/>
                    <a:pt x="1349490" y="1760359"/>
                    <a:pt x="1377244" y="1774236"/>
                  </a:cubicBezTo>
                  <a:cubicBezTo>
                    <a:pt x="1392296" y="1781762"/>
                    <a:pt x="1406074" y="1792732"/>
                    <a:pt x="1422400" y="1796814"/>
                  </a:cubicBezTo>
                  <a:cubicBezTo>
                    <a:pt x="1451832" y="1804172"/>
                    <a:pt x="1482678" y="1803813"/>
                    <a:pt x="1512711" y="1808103"/>
                  </a:cubicBezTo>
                  <a:cubicBezTo>
                    <a:pt x="1535370" y="1811340"/>
                    <a:pt x="1557821" y="1815912"/>
                    <a:pt x="1580444" y="1819392"/>
                  </a:cubicBezTo>
                  <a:cubicBezTo>
                    <a:pt x="1606743" y="1823438"/>
                    <a:pt x="1633125" y="1826918"/>
                    <a:pt x="1659466" y="1830681"/>
                  </a:cubicBezTo>
                  <a:cubicBezTo>
                    <a:pt x="1702937" y="1829009"/>
                    <a:pt x="1948325" y="1870749"/>
                    <a:pt x="2020711" y="1774236"/>
                  </a:cubicBezTo>
                  <a:lnTo>
                    <a:pt x="2054578" y="1729081"/>
                  </a:lnTo>
                  <a:cubicBezTo>
                    <a:pt x="2058341" y="1717792"/>
                    <a:pt x="2059962" y="1705546"/>
                    <a:pt x="2065866" y="1695214"/>
                  </a:cubicBezTo>
                  <a:cubicBezTo>
                    <a:pt x="2075201" y="1678878"/>
                    <a:pt x="2088797" y="1665369"/>
                    <a:pt x="2099733" y="1650059"/>
                  </a:cubicBezTo>
                  <a:cubicBezTo>
                    <a:pt x="2107619" y="1639019"/>
                    <a:pt x="2115580" y="1627972"/>
                    <a:pt x="2122311" y="1616192"/>
                  </a:cubicBezTo>
                  <a:cubicBezTo>
                    <a:pt x="2168025" y="1536193"/>
                    <a:pt x="2125875" y="1606691"/>
                    <a:pt x="2156178" y="1525881"/>
                  </a:cubicBezTo>
                  <a:cubicBezTo>
                    <a:pt x="2162087" y="1510124"/>
                    <a:pt x="2172714" y="1496432"/>
                    <a:pt x="2178755" y="1480725"/>
                  </a:cubicBezTo>
                  <a:cubicBezTo>
                    <a:pt x="2191570" y="1447406"/>
                    <a:pt x="2212622" y="1379125"/>
                    <a:pt x="2212622" y="1379125"/>
                  </a:cubicBezTo>
                  <a:cubicBezTo>
                    <a:pt x="2208859" y="1311392"/>
                    <a:pt x="2206967" y="1243528"/>
                    <a:pt x="2201333" y="1175925"/>
                  </a:cubicBezTo>
                  <a:cubicBezTo>
                    <a:pt x="2199432" y="1153115"/>
                    <a:pt x="2193069" y="1130880"/>
                    <a:pt x="2190044" y="1108192"/>
                  </a:cubicBezTo>
                  <a:cubicBezTo>
                    <a:pt x="2185540" y="1074416"/>
                    <a:pt x="2185895" y="1039911"/>
                    <a:pt x="2178755" y="1006592"/>
                  </a:cubicBezTo>
                  <a:cubicBezTo>
                    <a:pt x="2174509" y="986778"/>
                    <a:pt x="2162586" y="969372"/>
                    <a:pt x="2156178" y="950148"/>
                  </a:cubicBezTo>
                  <a:cubicBezTo>
                    <a:pt x="2133646" y="882552"/>
                    <a:pt x="2155836" y="920642"/>
                    <a:pt x="2133600" y="837259"/>
                  </a:cubicBezTo>
                  <a:cubicBezTo>
                    <a:pt x="2124402" y="802766"/>
                    <a:pt x="2112991" y="768804"/>
                    <a:pt x="2099733" y="735659"/>
                  </a:cubicBezTo>
                  <a:cubicBezTo>
                    <a:pt x="2084681" y="698029"/>
                    <a:pt x="2065712" y="661739"/>
                    <a:pt x="2054578" y="622770"/>
                  </a:cubicBezTo>
                  <a:cubicBezTo>
                    <a:pt x="2039526" y="570088"/>
                    <a:pt x="2029771" y="515596"/>
                    <a:pt x="2009422" y="464725"/>
                  </a:cubicBezTo>
                  <a:cubicBezTo>
                    <a:pt x="2001896" y="445910"/>
                    <a:pt x="1993959" y="427255"/>
                    <a:pt x="1986844" y="408281"/>
                  </a:cubicBezTo>
                  <a:cubicBezTo>
                    <a:pt x="1982666" y="397139"/>
                    <a:pt x="1979733" y="385556"/>
                    <a:pt x="1975555" y="374414"/>
                  </a:cubicBezTo>
                  <a:cubicBezTo>
                    <a:pt x="1968440" y="355440"/>
                    <a:pt x="1959903" y="337014"/>
                    <a:pt x="1952978" y="317970"/>
                  </a:cubicBezTo>
                  <a:cubicBezTo>
                    <a:pt x="1944845" y="295604"/>
                    <a:pt x="1937926" y="272814"/>
                    <a:pt x="1930400" y="250236"/>
                  </a:cubicBezTo>
                  <a:cubicBezTo>
                    <a:pt x="1926637" y="238947"/>
                    <a:pt x="1921997" y="227914"/>
                    <a:pt x="1919111" y="216370"/>
                  </a:cubicBezTo>
                  <a:cubicBezTo>
                    <a:pt x="1915494" y="201901"/>
                    <a:pt x="1904631" y="153544"/>
                    <a:pt x="1896533" y="137348"/>
                  </a:cubicBezTo>
                  <a:cubicBezTo>
                    <a:pt x="1890465" y="125213"/>
                    <a:pt x="1879465" y="115879"/>
                    <a:pt x="1873955" y="103481"/>
                  </a:cubicBezTo>
                  <a:cubicBezTo>
                    <a:pt x="1848330" y="45823"/>
                    <a:pt x="1870472" y="35868"/>
                    <a:pt x="1817511" y="13170"/>
                  </a:cubicBezTo>
                  <a:cubicBezTo>
                    <a:pt x="1803250" y="7058"/>
                    <a:pt x="1787659" y="4432"/>
                    <a:pt x="1772355" y="1881"/>
                  </a:cubicBezTo>
                  <a:cubicBezTo>
                    <a:pt x="1764932" y="644"/>
                    <a:pt x="1791170" y="0"/>
                    <a:pt x="1715911" y="1881"/>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45083" name="投影片編號版面配置區 30"/>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4"/>
          <p:cNvSpPr>
            <a:spLocks noGrp="1"/>
          </p:cNvSpPr>
          <p:nvPr>
            <p:ph type="body"/>
          </p:nvPr>
        </p:nvSpPr>
        <p:spPr>
          <a:xfrm>
            <a:off x="304800" y="609600"/>
            <a:ext cx="8458200" cy="2057400"/>
          </a:xfrm>
        </p:spPr>
        <p:txBody>
          <a:bodyPr vert="horz" wrap="square" lIns="91440" tIns="45720" rIns="91440" bIns="45720" anchor="t"/>
          <a:p>
            <a:pPr eaLnBrk="1" hangingPunct="1">
              <a:lnSpc>
                <a:spcPct val="90000"/>
              </a:lnSpc>
              <a:buNone/>
            </a:pPr>
            <a:r>
              <a:rPr lang="en-US" altLang="zh-TW" sz="2800" b="1" dirty="0">
                <a:solidFill>
                  <a:srgbClr val="FF0000"/>
                </a:solidFill>
              </a:rPr>
              <a:t>Def:</a:t>
            </a:r>
            <a:br>
              <a:rPr lang="en-US" altLang="zh-TW" sz="2800" b="1" dirty="0">
                <a:solidFill>
                  <a:srgbClr val="FF0000"/>
                </a:solidFill>
              </a:rPr>
            </a:br>
            <a:r>
              <a:rPr lang="en-US" altLang="zh-TW" sz="2800" dirty="0"/>
              <a:t>A </a:t>
            </a:r>
            <a:r>
              <a:rPr lang="en-US" altLang="zh-TW" sz="2800" i="1" dirty="0">
                <a:solidFill>
                  <a:srgbClr val="0000CC"/>
                </a:solidFill>
              </a:rPr>
              <a:t>cut vertex</a:t>
            </a:r>
            <a:r>
              <a:rPr lang="en-US" altLang="zh-TW" sz="2800" dirty="0"/>
              <a:t> separates one connected component into several components if it is removed.</a:t>
            </a:r>
            <a:br>
              <a:rPr lang="en-US" altLang="zh-TW" sz="2800" b="1" dirty="0">
                <a:solidFill>
                  <a:srgbClr val="FF0000"/>
                </a:solidFill>
              </a:rPr>
            </a:br>
            <a:r>
              <a:rPr lang="en-US" altLang="zh-TW" sz="2800" dirty="0"/>
              <a:t>A </a:t>
            </a:r>
            <a:r>
              <a:rPr lang="en-US" altLang="zh-TW" sz="2800" i="1" dirty="0">
                <a:solidFill>
                  <a:srgbClr val="0000CC"/>
                </a:solidFill>
              </a:rPr>
              <a:t>cut edge</a:t>
            </a:r>
            <a:r>
              <a:rPr lang="en-US" altLang="zh-TW" sz="2800" dirty="0"/>
              <a:t> separates one connected component into two components if it is removed.</a:t>
            </a:r>
            <a:endParaRPr lang="en-US" altLang="zh-TW" sz="2800" dirty="0"/>
          </a:p>
        </p:txBody>
      </p:sp>
      <p:sp>
        <p:nvSpPr>
          <p:cNvPr id="6" name="矩形 5"/>
          <p:cNvSpPr/>
          <p:nvPr/>
        </p:nvSpPr>
        <p:spPr>
          <a:xfrm>
            <a:off x="304800" y="2819400"/>
            <a:ext cx="8634413" cy="860425"/>
          </a:xfrm>
          <a:prstGeom prst="rect">
            <a:avLst/>
          </a:prstGeom>
        </p:spPr>
        <p:txBody>
          <a:bodyPr wrap="none">
            <a:spAutoFit/>
          </a:bodyPr>
          <a:lstStyle/>
          <a:p>
            <a:pPr marL="342900" marR="0" lvl="0" indent="-342900" algn="l" defTabSz="914400" rtl="0" eaLnBrk="1" fontAlgn="base" latinLnBrk="0" hangingPunct="1">
              <a:lnSpc>
                <a:spcPct val="9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8.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Find the cut vertices and cut edges in the</a:t>
            </a:r>
            <a:b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graph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t>
            </a:r>
            <a:endPar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endParaRPr>
          </a:p>
        </p:txBody>
      </p:sp>
      <p:grpSp>
        <p:nvGrpSpPr>
          <p:cNvPr id="2" name="群組 38"/>
          <p:cNvGrpSpPr/>
          <p:nvPr/>
        </p:nvGrpSpPr>
        <p:grpSpPr>
          <a:xfrm>
            <a:off x="685800" y="4191000"/>
            <a:ext cx="4146550" cy="1752600"/>
            <a:chOff x="685800" y="4191000"/>
            <a:chExt cx="4146966" cy="1752303"/>
          </a:xfrm>
        </p:grpSpPr>
        <p:sp>
          <p:nvSpPr>
            <p:cNvPr id="46090" name="Oval 7"/>
            <p:cNvSpPr/>
            <p:nvPr/>
          </p:nvSpPr>
          <p:spPr>
            <a:xfrm>
              <a:off x="1371600" y="4572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6091" name="Oval 7"/>
            <p:cNvSpPr/>
            <p:nvPr/>
          </p:nvSpPr>
          <p:spPr>
            <a:xfrm>
              <a:off x="1371600" y="5410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6092" name="Oval 7"/>
            <p:cNvSpPr/>
            <p:nvPr/>
          </p:nvSpPr>
          <p:spPr>
            <a:xfrm>
              <a:off x="2362200" y="5410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6093" name="Oval 7"/>
            <p:cNvSpPr/>
            <p:nvPr/>
          </p:nvSpPr>
          <p:spPr>
            <a:xfrm>
              <a:off x="2362200" y="4572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6094" name="Oval 7"/>
            <p:cNvSpPr/>
            <p:nvPr/>
          </p:nvSpPr>
          <p:spPr>
            <a:xfrm>
              <a:off x="3352800" y="5410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6095" name="Oval 7"/>
            <p:cNvSpPr/>
            <p:nvPr/>
          </p:nvSpPr>
          <p:spPr>
            <a:xfrm>
              <a:off x="3352800" y="4572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6096" name="Oval 7"/>
            <p:cNvSpPr/>
            <p:nvPr/>
          </p:nvSpPr>
          <p:spPr>
            <a:xfrm>
              <a:off x="4343400" y="4572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6097" name="Oval 7"/>
            <p:cNvSpPr/>
            <p:nvPr/>
          </p:nvSpPr>
          <p:spPr>
            <a:xfrm>
              <a:off x="4343400" y="54102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15" name="直線接點 14"/>
            <p:cNvCxnSpPr>
              <a:stCxn id="46090" idx="0"/>
              <a:endCxn id="46091" idx="0"/>
            </p:cNvCxnSpPr>
            <p:nvPr/>
          </p:nvCxnSpPr>
          <p:spPr>
            <a:xfrm rot="16200000" flipH="1">
              <a:off x="1028054" y="4991759"/>
              <a:ext cx="838058" cy="15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a:stCxn id="46091" idx="6"/>
              <a:endCxn id="46092" idx="6"/>
            </p:cNvCxnSpPr>
            <p:nvPr/>
          </p:nvCxnSpPr>
          <p:spPr>
            <a:xfrm>
              <a:off x="1524084" y="5486180"/>
              <a:ext cx="990699"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p:nvPr/>
          </p:nvCxnSpPr>
          <p:spPr>
            <a:xfrm>
              <a:off x="2438576" y="5486180"/>
              <a:ext cx="990699"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3429275" y="5486180"/>
              <a:ext cx="990699"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rot="5400000">
              <a:off x="2020341" y="5066357"/>
              <a:ext cx="838058"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flipV="1">
              <a:off x="1447876" y="4648123"/>
              <a:ext cx="990699" cy="83805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6104" name="Text Box 65"/>
            <p:cNvSpPr txBox="1"/>
            <p:nvPr/>
          </p:nvSpPr>
          <p:spPr>
            <a:xfrm>
              <a:off x="1143046" y="5409994"/>
              <a:ext cx="336584"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baseline="-25000" dirty="0">
                <a:latin typeface="Times New Roman" panose="02020603050405020304" pitchFamily="18" charset="0"/>
                <a:ea typeface="Times New Roman" panose="02020603050405020304" pitchFamily="18" charset="0"/>
              </a:endParaRPr>
            </a:p>
          </p:txBody>
        </p:sp>
        <p:sp>
          <p:nvSpPr>
            <p:cNvPr id="46105" name="Text Box 65"/>
            <p:cNvSpPr txBox="1"/>
            <p:nvPr/>
          </p:nvSpPr>
          <p:spPr>
            <a:xfrm>
              <a:off x="1143046" y="4267187"/>
              <a:ext cx="336584" cy="4571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baseline="-25000" dirty="0">
                <a:latin typeface="Times New Roman" panose="02020603050405020304" pitchFamily="18" charset="0"/>
                <a:ea typeface="Times New Roman" panose="02020603050405020304" pitchFamily="18" charset="0"/>
              </a:endParaRPr>
            </a:p>
          </p:txBody>
        </p:sp>
        <p:sp>
          <p:nvSpPr>
            <p:cNvPr id="46106" name="Text Box 65"/>
            <p:cNvSpPr txBox="1"/>
            <p:nvPr/>
          </p:nvSpPr>
          <p:spPr>
            <a:xfrm>
              <a:off x="2286161" y="5486181"/>
              <a:ext cx="319119"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baseline="-25000" dirty="0">
                <a:latin typeface="Times New Roman" panose="02020603050405020304" pitchFamily="18" charset="0"/>
                <a:ea typeface="Times New Roman" panose="02020603050405020304" pitchFamily="18" charset="0"/>
              </a:endParaRPr>
            </a:p>
          </p:txBody>
        </p:sp>
        <p:sp>
          <p:nvSpPr>
            <p:cNvPr id="46107" name="Text Box 65"/>
            <p:cNvSpPr txBox="1"/>
            <p:nvPr/>
          </p:nvSpPr>
          <p:spPr>
            <a:xfrm>
              <a:off x="2133745" y="4267187"/>
              <a:ext cx="336584" cy="4571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baseline="-25000" dirty="0">
                <a:latin typeface="Times New Roman" panose="02020603050405020304" pitchFamily="18" charset="0"/>
                <a:ea typeface="Times New Roman" panose="02020603050405020304" pitchFamily="18" charset="0"/>
              </a:endParaRPr>
            </a:p>
          </p:txBody>
        </p:sp>
        <p:sp>
          <p:nvSpPr>
            <p:cNvPr id="46108" name="Text Box 65"/>
            <p:cNvSpPr txBox="1"/>
            <p:nvPr/>
          </p:nvSpPr>
          <p:spPr>
            <a:xfrm>
              <a:off x="3276860" y="5486181"/>
              <a:ext cx="319120"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baseline="-25000" dirty="0">
                <a:latin typeface="Times New Roman" panose="02020603050405020304" pitchFamily="18" charset="0"/>
                <a:ea typeface="Times New Roman" panose="02020603050405020304" pitchFamily="18" charset="0"/>
              </a:endParaRPr>
            </a:p>
          </p:txBody>
        </p:sp>
        <p:sp>
          <p:nvSpPr>
            <p:cNvPr id="46109" name="Text Box 65"/>
            <p:cNvSpPr txBox="1"/>
            <p:nvPr/>
          </p:nvSpPr>
          <p:spPr>
            <a:xfrm>
              <a:off x="4267560" y="5486181"/>
              <a:ext cx="336583"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h</a:t>
              </a:r>
              <a:endParaRPr lang="en-US" altLang="zh-TW" sz="2400" baseline="-25000" dirty="0">
                <a:latin typeface="Times New Roman" panose="02020603050405020304" pitchFamily="18" charset="0"/>
                <a:ea typeface="Times New Roman" panose="02020603050405020304" pitchFamily="18" charset="0"/>
              </a:endParaRPr>
            </a:p>
          </p:txBody>
        </p:sp>
        <p:sp>
          <p:nvSpPr>
            <p:cNvPr id="46110" name="Text Box 65"/>
            <p:cNvSpPr txBox="1"/>
            <p:nvPr/>
          </p:nvSpPr>
          <p:spPr>
            <a:xfrm>
              <a:off x="4496183" y="4267187"/>
              <a:ext cx="336583" cy="4571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endParaRPr lang="en-US" altLang="zh-TW" sz="2400" baseline="-25000" dirty="0">
                <a:latin typeface="Times New Roman" panose="02020603050405020304" pitchFamily="18" charset="0"/>
                <a:ea typeface="Times New Roman" panose="02020603050405020304" pitchFamily="18" charset="0"/>
              </a:endParaRPr>
            </a:p>
          </p:txBody>
        </p:sp>
        <p:sp>
          <p:nvSpPr>
            <p:cNvPr id="46111" name="Text Box 65"/>
            <p:cNvSpPr txBox="1"/>
            <p:nvPr/>
          </p:nvSpPr>
          <p:spPr>
            <a:xfrm>
              <a:off x="3124445" y="4191000"/>
              <a:ext cx="268314" cy="4571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f</a:t>
              </a:r>
              <a:endParaRPr lang="en-US" altLang="zh-TW" sz="2400" baseline="-25000" dirty="0">
                <a:latin typeface="Times New Roman" panose="02020603050405020304" pitchFamily="18" charset="0"/>
                <a:ea typeface="Times New Roman" panose="02020603050405020304" pitchFamily="18" charset="0"/>
              </a:endParaRPr>
            </a:p>
          </p:txBody>
        </p:sp>
        <p:sp>
          <p:nvSpPr>
            <p:cNvPr id="46112" name="矩形 28"/>
            <p:cNvSpPr/>
            <p:nvPr/>
          </p:nvSpPr>
          <p:spPr>
            <a:xfrm>
              <a:off x="685800" y="4724310"/>
              <a:ext cx="477885" cy="579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G</a:t>
              </a:r>
              <a:endParaRPr lang="zh-TW" altLang="en-US" sz="1800" dirty="0"/>
            </a:p>
          </p:txBody>
        </p:sp>
        <p:cxnSp>
          <p:nvCxnSpPr>
            <p:cNvPr id="35" name="直線接點 34"/>
            <p:cNvCxnSpPr/>
            <p:nvPr/>
          </p:nvCxnSpPr>
          <p:spPr>
            <a:xfrm rot="5400000">
              <a:off x="3011040" y="5066357"/>
              <a:ext cx="838058"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接點 35"/>
            <p:cNvCxnSpPr/>
            <p:nvPr/>
          </p:nvCxnSpPr>
          <p:spPr>
            <a:xfrm flipV="1">
              <a:off x="3429275" y="4648123"/>
              <a:ext cx="990699" cy="83805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p:cNvCxnSpPr/>
            <p:nvPr/>
          </p:nvCxnSpPr>
          <p:spPr>
            <a:xfrm>
              <a:off x="3429275" y="4648123"/>
              <a:ext cx="990699"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rot="5400000">
              <a:off x="4001740" y="5066357"/>
              <a:ext cx="838058"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矩形 39"/>
          <p:cNvSpPr/>
          <p:nvPr/>
        </p:nvSpPr>
        <p:spPr>
          <a:xfrm>
            <a:off x="5334000" y="4343400"/>
            <a:ext cx="3276600" cy="519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cut vertices: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 c, e</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1" name="矩形 40"/>
          <p:cNvSpPr/>
          <p:nvPr/>
        </p:nvSpPr>
        <p:spPr>
          <a:xfrm>
            <a:off x="5334000" y="4800600"/>
            <a:ext cx="2555875" cy="94615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cut edges: </a:t>
            </a:r>
            <a:b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c</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e</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endParaRPr kumimoji="1" lang="zh-TW"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sp>
        <p:nvSpPr>
          <p:cNvPr id="42" name="矩形 41"/>
          <p:cNvSpPr/>
          <p:nvPr/>
        </p:nvSpPr>
        <p:spPr>
          <a:xfrm>
            <a:off x="5105400" y="3810000"/>
            <a:ext cx="862013"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9" name="矩形 38"/>
          <p:cNvSpPr/>
          <p:nvPr/>
        </p:nvSpPr>
        <p:spPr>
          <a:xfrm>
            <a:off x="381000" y="6172200"/>
            <a:ext cx="3009900"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29,31, 32</a:t>
            </a:r>
            <a:endParaRPr lang="zh-TW" altLang="en-US" sz="2400" dirty="0">
              <a:solidFill>
                <a:srgbClr val="0000CC"/>
              </a:solidFill>
            </a:endParaRPr>
          </a:p>
        </p:txBody>
      </p:sp>
      <p:sp>
        <p:nvSpPr>
          <p:cNvPr id="46089" name="投影片編號版面配置區 42"/>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ppt_x"/>
                                          </p:val>
                                        </p:tav>
                                        <p:tav tm="100000">
                                          <p:val>
                                            <p:strVal val="#ppt_x"/>
                                          </p:val>
                                        </p:tav>
                                      </p:tavLst>
                                    </p:anim>
                                    <p:anim calcmode="lin" valueType="num">
                                      <p:cBhvr additive="base">
                                        <p:cTn id="1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anim calcmode="lin" valueType="num">
                                      <p:cBhvr additive="base">
                                        <p:cTn id="23" dur="500" fill="hold"/>
                                        <p:tgtEl>
                                          <p:spTgt spid="40"/>
                                        </p:tgtEl>
                                        <p:attrNameLst>
                                          <p:attrName>ppt_x</p:attrName>
                                        </p:attrNameLst>
                                      </p:cBhvr>
                                      <p:tavLst>
                                        <p:tav tm="0">
                                          <p:val>
                                            <p:strVal val="#ppt_x"/>
                                          </p:val>
                                        </p:tav>
                                        <p:tav tm="100000">
                                          <p:val>
                                            <p:strVal val="#ppt_x"/>
                                          </p:val>
                                        </p:tav>
                                      </p:tavLst>
                                    </p:anim>
                                    <p:anim calcmode="lin" valueType="num">
                                      <p:cBhvr additive="base">
                                        <p:cTn id="2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anim calcmode="lin" valueType="num">
                                      <p:cBhvr additive="base">
                                        <p:cTn id="29" dur="500" fill="hold"/>
                                        <p:tgtEl>
                                          <p:spTgt spid="41"/>
                                        </p:tgtEl>
                                        <p:attrNameLst>
                                          <p:attrName>ppt_x</p:attrName>
                                        </p:attrNameLst>
                                      </p:cBhvr>
                                      <p:tavLst>
                                        <p:tav tm="0">
                                          <p:val>
                                            <p:strVal val="#ppt_x"/>
                                          </p:val>
                                        </p:tav>
                                        <p:tav tm="100000">
                                          <p:val>
                                            <p:strVal val="#ppt_x"/>
                                          </p:val>
                                        </p:tav>
                                      </p:tavLst>
                                    </p:anim>
                                    <p:anim calcmode="lin" valueType="num">
                                      <p:cBhvr additive="base">
                                        <p:cTn id="3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additive="base">
                                        <p:cTn id="35" dur="500" fill="hold"/>
                                        <p:tgtEl>
                                          <p:spTgt spid="39"/>
                                        </p:tgtEl>
                                        <p:attrNameLst>
                                          <p:attrName>ppt_x</p:attrName>
                                        </p:attrNameLst>
                                      </p:cBhvr>
                                      <p:tavLst>
                                        <p:tav tm="0">
                                          <p:val>
                                            <p:strVal val="#ppt_x"/>
                                          </p:val>
                                        </p:tav>
                                        <p:tav tm="100000">
                                          <p:val>
                                            <p:strVal val="#ppt_x"/>
                                          </p:val>
                                        </p:tav>
                                      </p:tavLst>
                                    </p:anim>
                                    <p:anim calcmode="lin" valueType="num">
                                      <p:cBhvr additive="base">
                                        <p:cTn id="36"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0" grpId="0"/>
      <p:bldP spid="41" grpId="0"/>
      <p:bldP spid="42" grpId="0"/>
      <p:bldP spid="3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4"/>
          <p:cNvSpPr>
            <a:spLocks noGrp="1"/>
          </p:cNvSpPr>
          <p:nvPr>
            <p:ph type="body"/>
          </p:nvPr>
        </p:nvSpPr>
        <p:spPr>
          <a:xfrm>
            <a:off x="304800" y="1066800"/>
            <a:ext cx="8610600" cy="2286000"/>
          </a:xfrm>
        </p:spPr>
        <p:txBody>
          <a:bodyPr vert="horz" wrap="square" lIns="91440" tIns="45720" rIns="91440" bIns="45720" anchor="t"/>
          <a:p>
            <a:pPr eaLnBrk="1" hangingPunct="1">
              <a:buNone/>
            </a:pPr>
            <a:r>
              <a:rPr lang="en-US" altLang="zh-TW" b="1" dirty="0">
                <a:solidFill>
                  <a:srgbClr val="FF0000"/>
                </a:solidFill>
              </a:rPr>
              <a:t>Def. 4: </a:t>
            </a:r>
            <a:r>
              <a:rPr lang="en-US" altLang="zh-TW" sz="2800" dirty="0"/>
              <a:t>A directed graph is </a:t>
            </a:r>
            <a:r>
              <a:rPr lang="en-US" altLang="zh-TW" sz="2800" i="1" dirty="0">
                <a:solidFill>
                  <a:srgbClr val="0000CC"/>
                </a:solidFill>
              </a:rPr>
              <a:t>strongly connected</a:t>
            </a:r>
            <a:r>
              <a:rPr lang="en-US" altLang="zh-TW" sz="2800" dirty="0"/>
              <a:t> if there is a path from </a:t>
            </a:r>
            <a:r>
              <a:rPr lang="en-US" altLang="zh-TW" sz="2800" i="1" dirty="0">
                <a:latin typeface="Times New Roman" panose="02020603050405020304" pitchFamily="18" charset="0"/>
                <a:cs typeface="Times New Roman" panose="02020603050405020304" pitchFamily="18" charset="0"/>
              </a:rPr>
              <a:t>a</a:t>
            </a:r>
            <a:r>
              <a:rPr lang="en-US" altLang="zh-TW" sz="2800" dirty="0"/>
              <a:t> to </a:t>
            </a:r>
            <a:r>
              <a:rPr lang="en-US" altLang="zh-TW" sz="2800" i="1" dirty="0">
                <a:latin typeface="Times New Roman" panose="02020603050405020304" pitchFamily="18" charset="0"/>
                <a:cs typeface="Times New Roman" panose="02020603050405020304" pitchFamily="18" charset="0"/>
              </a:rPr>
              <a:t>b</a:t>
            </a:r>
            <a:r>
              <a:rPr lang="en-US" altLang="zh-TW" sz="2800" dirty="0"/>
              <a:t> for any two vertices </a:t>
            </a:r>
            <a:r>
              <a:rPr lang="en-US" altLang="zh-TW" sz="2800" i="1" dirty="0">
                <a:latin typeface="Times New Roman" panose="02020603050405020304" pitchFamily="18" charset="0"/>
                <a:cs typeface="Times New Roman" panose="02020603050405020304" pitchFamily="18" charset="0"/>
              </a:rPr>
              <a:t>a,</a:t>
            </a:r>
            <a:r>
              <a:rPr lang="en-US" altLang="zh-TW" sz="2800" dirty="0"/>
              <a:t> </a:t>
            </a:r>
            <a:r>
              <a:rPr lang="en-US" altLang="zh-TW" sz="2800" i="1" dirty="0">
                <a:latin typeface="Times New Roman" panose="02020603050405020304" pitchFamily="18" charset="0"/>
                <a:cs typeface="Times New Roman" panose="02020603050405020304" pitchFamily="18" charset="0"/>
              </a:rPr>
              <a:t>b</a:t>
            </a:r>
            <a:r>
              <a:rPr lang="en-US" altLang="zh-TW" sz="2800" dirty="0"/>
              <a:t>. </a:t>
            </a:r>
            <a:br>
              <a:rPr lang="en-US" altLang="zh-TW" sz="2800" dirty="0"/>
            </a:br>
            <a:r>
              <a:rPr lang="en-US" altLang="zh-TW" sz="2800" dirty="0"/>
              <a:t>A directed graph is </a:t>
            </a:r>
            <a:r>
              <a:rPr lang="en-US" altLang="zh-TW" sz="2800" i="1" dirty="0">
                <a:solidFill>
                  <a:srgbClr val="0000CC"/>
                </a:solidFill>
              </a:rPr>
              <a:t>weakly connected</a:t>
            </a:r>
            <a:r>
              <a:rPr lang="en-US" altLang="zh-TW" sz="2800" dirty="0"/>
              <a:t> if there is a path between every two vertices in the underlying undirected graphs. </a:t>
            </a:r>
            <a:endParaRPr lang="en-US" altLang="zh-TW" sz="2800" dirty="0"/>
          </a:p>
        </p:txBody>
      </p:sp>
      <p:sp>
        <p:nvSpPr>
          <p:cNvPr id="47107" name="Rectangle 2"/>
          <p:cNvSpPr>
            <a:spLocks noGrp="1"/>
          </p:cNvSpPr>
          <p:nvPr>
            <p:ph type="title"/>
          </p:nvPr>
        </p:nvSpPr>
        <p:spPr>
          <a:xfrm>
            <a:off x="457200" y="304800"/>
            <a:ext cx="8229600" cy="838200"/>
          </a:xfrm>
        </p:spPr>
        <p:txBody>
          <a:bodyPr vert="horz" wrap="square" lIns="91440" tIns="45720" rIns="91440" bIns="45720" anchor="ctr"/>
          <a:p>
            <a:pPr eaLnBrk="1" hangingPunct="1"/>
            <a:r>
              <a:rPr lang="en-US" altLang="zh-TW" sz="3200" b="1" u="sng" dirty="0">
                <a:solidFill>
                  <a:srgbClr val="008000"/>
                </a:solidFill>
              </a:rPr>
              <a:t>Connectedness in Directed Graphs</a:t>
            </a:r>
            <a:endParaRPr lang="en-US" altLang="zh-TW" sz="3200" b="1" u="sng" dirty="0">
              <a:solidFill>
                <a:srgbClr val="008000"/>
              </a:solidFill>
            </a:endParaRPr>
          </a:p>
        </p:txBody>
      </p:sp>
      <p:sp>
        <p:nvSpPr>
          <p:cNvPr id="7" name="矩形 6"/>
          <p:cNvSpPr/>
          <p:nvPr/>
        </p:nvSpPr>
        <p:spPr>
          <a:xfrm>
            <a:off x="152400" y="3657600"/>
            <a:ext cx="8839200" cy="1006475"/>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3200" b="1" i="0" u="none" strike="noStrike" kern="0" cap="none" spc="0" normalizeH="0" baseline="0" noProof="0" dirty="0">
                <a:ln>
                  <a:noFill/>
                </a:ln>
                <a:solidFill>
                  <a:srgbClr val="008000"/>
                </a:solidFill>
                <a:effectLst/>
                <a:uLnTx/>
                <a:uFillTx/>
                <a:latin typeface="Arial" panose="020B0604020202020204"/>
                <a:ea typeface="PMingLiU"/>
                <a:cs typeface="+mn-cs"/>
              </a:rPr>
              <a:t>Example 9</a:t>
            </a:r>
            <a:r>
              <a:rPr kumimoji="1" lang="en-US" altLang="zh-TW" sz="3200" b="1" i="0" u="none" strike="noStrike" kern="0" cap="none" spc="0" normalizeH="0" baseline="0" noProof="0" dirty="0">
                <a:ln>
                  <a:noFill/>
                </a:ln>
                <a:solidFill>
                  <a:schemeClr val="tx1"/>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Are the directed graphs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and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H</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strongly</a:t>
            </a:r>
            <a:b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connected or weakly connected?</a:t>
            </a:r>
            <a:endPar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endParaRPr>
          </a:p>
        </p:txBody>
      </p:sp>
      <p:grpSp>
        <p:nvGrpSpPr>
          <p:cNvPr id="2" name="群組 66"/>
          <p:cNvGrpSpPr/>
          <p:nvPr/>
        </p:nvGrpSpPr>
        <p:grpSpPr>
          <a:xfrm>
            <a:off x="381000" y="4724400"/>
            <a:ext cx="2605088" cy="1752600"/>
            <a:chOff x="381000" y="4724400"/>
            <a:chExt cx="2605334" cy="1752303"/>
          </a:xfrm>
        </p:grpSpPr>
        <p:sp>
          <p:nvSpPr>
            <p:cNvPr id="47131" name="Oval 7"/>
            <p:cNvSpPr/>
            <p:nvPr/>
          </p:nvSpPr>
          <p:spPr>
            <a:xfrm>
              <a:off x="1066800" y="5105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7132" name="Oval 7"/>
            <p:cNvSpPr/>
            <p:nvPr/>
          </p:nvSpPr>
          <p:spPr>
            <a:xfrm>
              <a:off x="1066800" y="5943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7133" name="Oval 7"/>
            <p:cNvSpPr/>
            <p:nvPr/>
          </p:nvSpPr>
          <p:spPr>
            <a:xfrm>
              <a:off x="2057400" y="5943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7134" name="Oval 7"/>
            <p:cNvSpPr/>
            <p:nvPr/>
          </p:nvSpPr>
          <p:spPr>
            <a:xfrm>
              <a:off x="2057400" y="5105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17" name="直線接點 16"/>
            <p:cNvCxnSpPr>
              <a:stCxn id="47131" idx="4"/>
              <a:endCxn id="47132" idx="0"/>
            </p:cNvCxnSpPr>
            <p:nvPr/>
          </p:nvCxnSpPr>
          <p:spPr>
            <a:xfrm rot="5400000">
              <a:off x="799437" y="5601346"/>
              <a:ext cx="685684" cy="1587"/>
            </a:xfrm>
            <a:prstGeom prst="line">
              <a:avLst/>
            </a:prstGeom>
            <a:ln w="15875">
              <a:solidFill>
                <a:schemeClr val="tx1"/>
              </a:solidFill>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18" name="直線接點 17"/>
            <p:cNvCxnSpPr>
              <a:stCxn id="47132" idx="6"/>
              <a:endCxn id="47142" idx="0"/>
            </p:cNvCxnSpPr>
            <p:nvPr/>
          </p:nvCxnSpPr>
          <p:spPr>
            <a:xfrm>
              <a:off x="1219279" y="6019580"/>
              <a:ext cx="931951" cy="1588"/>
            </a:xfrm>
            <a:prstGeom prst="line">
              <a:avLst/>
            </a:prstGeom>
            <a:ln w="15875">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19" name="直線接點 18"/>
            <p:cNvCxnSpPr>
              <a:stCxn id="47133" idx="7"/>
            </p:cNvCxnSpPr>
            <p:nvPr/>
          </p:nvCxnSpPr>
          <p:spPr>
            <a:xfrm rot="5400000" flipH="1" flipV="1">
              <a:off x="2225892" y="5600499"/>
              <a:ext cx="326970" cy="403263"/>
            </a:xfrm>
            <a:prstGeom prst="line">
              <a:avLst/>
            </a:prstGeom>
            <a:ln w="15875">
              <a:solidFill>
                <a:schemeClr val="tx1"/>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21" name="直線接點 20"/>
            <p:cNvCxnSpPr>
              <a:stCxn id="47134" idx="4"/>
              <a:endCxn id="47133" idx="0"/>
            </p:cNvCxnSpPr>
            <p:nvPr/>
          </p:nvCxnSpPr>
          <p:spPr>
            <a:xfrm rot="5400000">
              <a:off x="1790131" y="5601346"/>
              <a:ext cx="685684" cy="1587"/>
            </a:xfrm>
            <a:prstGeom prst="line">
              <a:avLst/>
            </a:prstGeom>
            <a:ln w="1587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線接點 21"/>
            <p:cNvCxnSpPr>
              <a:stCxn id="47131" idx="6"/>
            </p:cNvCxnSpPr>
            <p:nvPr/>
          </p:nvCxnSpPr>
          <p:spPr>
            <a:xfrm>
              <a:off x="1219279" y="5181523"/>
              <a:ext cx="838279" cy="1588"/>
            </a:xfrm>
            <a:prstGeom prst="line">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140" name="Text Box 65"/>
            <p:cNvSpPr txBox="1"/>
            <p:nvPr/>
          </p:nvSpPr>
          <p:spPr>
            <a:xfrm>
              <a:off x="838243" y="5943394"/>
              <a:ext cx="319118"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baseline="-25000" dirty="0">
                <a:latin typeface="Times New Roman" panose="02020603050405020304" pitchFamily="18" charset="0"/>
                <a:ea typeface="Times New Roman" panose="02020603050405020304" pitchFamily="18" charset="0"/>
              </a:endParaRPr>
            </a:p>
          </p:txBody>
        </p:sp>
        <p:sp>
          <p:nvSpPr>
            <p:cNvPr id="47141" name="Text Box 65"/>
            <p:cNvSpPr txBox="1"/>
            <p:nvPr/>
          </p:nvSpPr>
          <p:spPr>
            <a:xfrm>
              <a:off x="838243" y="4724400"/>
              <a:ext cx="336582" cy="4571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baseline="-25000" dirty="0">
                <a:latin typeface="Times New Roman" panose="02020603050405020304" pitchFamily="18" charset="0"/>
                <a:ea typeface="Times New Roman" panose="02020603050405020304" pitchFamily="18" charset="0"/>
              </a:endParaRPr>
            </a:p>
          </p:txBody>
        </p:sp>
        <p:sp>
          <p:nvSpPr>
            <p:cNvPr id="47142" name="Text Box 65"/>
            <p:cNvSpPr txBox="1"/>
            <p:nvPr/>
          </p:nvSpPr>
          <p:spPr>
            <a:xfrm>
              <a:off x="1981352" y="6019581"/>
              <a:ext cx="336582"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baseline="-25000" dirty="0">
                <a:latin typeface="Times New Roman" panose="02020603050405020304" pitchFamily="18" charset="0"/>
                <a:ea typeface="Times New Roman" panose="02020603050405020304" pitchFamily="18" charset="0"/>
              </a:endParaRPr>
            </a:p>
          </p:txBody>
        </p:sp>
        <p:sp>
          <p:nvSpPr>
            <p:cNvPr id="47143" name="Text Box 65"/>
            <p:cNvSpPr txBox="1"/>
            <p:nvPr/>
          </p:nvSpPr>
          <p:spPr>
            <a:xfrm>
              <a:off x="1981352" y="4724400"/>
              <a:ext cx="336582" cy="4571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baseline="-25000" dirty="0">
                <a:latin typeface="Times New Roman" panose="02020603050405020304" pitchFamily="18" charset="0"/>
                <a:ea typeface="Times New Roman" panose="02020603050405020304" pitchFamily="18" charset="0"/>
              </a:endParaRPr>
            </a:p>
          </p:txBody>
        </p:sp>
        <p:sp>
          <p:nvSpPr>
            <p:cNvPr id="47144" name="矩形 30"/>
            <p:cNvSpPr/>
            <p:nvPr/>
          </p:nvSpPr>
          <p:spPr>
            <a:xfrm>
              <a:off x="381000" y="5257710"/>
              <a:ext cx="477883" cy="579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G</a:t>
              </a:r>
              <a:endParaRPr lang="zh-TW" altLang="en-US" sz="1800" dirty="0"/>
            </a:p>
          </p:txBody>
        </p:sp>
        <p:cxnSp>
          <p:nvCxnSpPr>
            <p:cNvPr id="38" name="直線接點 37"/>
            <p:cNvCxnSpPr>
              <a:endCxn id="47146" idx="1"/>
            </p:cNvCxnSpPr>
            <p:nvPr/>
          </p:nvCxnSpPr>
          <p:spPr>
            <a:xfrm rot="16200000" flipH="1">
              <a:off x="2133819" y="5181469"/>
              <a:ext cx="403157" cy="403263"/>
            </a:xfrm>
            <a:prstGeom prst="line">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146" name="Oval 7"/>
            <p:cNvSpPr/>
            <p:nvPr/>
          </p:nvSpPr>
          <p:spPr>
            <a:xfrm>
              <a:off x="2514600" y="5562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7147" name="Text Box 65"/>
            <p:cNvSpPr txBox="1"/>
            <p:nvPr/>
          </p:nvSpPr>
          <p:spPr>
            <a:xfrm>
              <a:off x="2667217" y="5410084"/>
              <a:ext cx="319117"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baseline="-25000" dirty="0">
                <a:latin typeface="Times New Roman" panose="02020603050405020304" pitchFamily="18" charset="0"/>
                <a:ea typeface="Times New Roman" panose="02020603050405020304" pitchFamily="18" charset="0"/>
              </a:endParaRPr>
            </a:p>
          </p:txBody>
        </p:sp>
      </p:grpSp>
      <p:grpSp>
        <p:nvGrpSpPr>
          <p:cNvPr id="3" name="群組 68"/>
          <p:cNvGrpSpPr/>
          <p:nvPr/>
        </p:nvGrpSpPr>
        <p:grpSpPr>
          <a:xfrm>
            <a:off x="4572000" y="4724400"/>
            <a:ext cx="2681288" cy="1752600"/>
            <a:chOff x="4572000" y="4724400"/>
            <a:chExt cx="2681534" cy="1752303"/>
          </a:xfrm>
        </p:grpSpPr>
        <p:sp>
          <p:nvSpPr>
            <p:cNvPr id="47114" name="矩形 49"/>
            <p:cNvSpPr/>
            <p:nvPr/>
          </p:nvSpPr>
          <p:spPr>
            <a:xfrm>
              <a:off x="4572000" y="5257710"/>
              <a:ext cx="477881" cy="579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H</a:t>
              </a:r>
              <a:endParaRPr lang="zh-TW" altLang="en-US" sz="1800" dirty="0"/>
            </a:p>
          </p:txBody>
        </p:sp>
        <p:sp>
          <p:nvSpPr>
            <p:cNvPr id="47115" name="Oval 7"/>
            <p:cNvSpPr/>
            <p:nvPr/>
          </p:nvSpPr>
          <p:spPr>
            <a:xfrm>
              <a:off x="5334000" y="5105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7116" name="Oval 7"/>
            <p:cNvSpPr/>
            <p:nvPr/>
          </p:nvSpPr>
          <p:spPr>
            <a:xfrm>
              <a:off x="5334000" y="5943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7117" name="Oval 7"/>
            <p:cNvSpPr/>
            <p:nvPr/>
          </p:nvSpPr>
          <p:spPr>
            <a:xfrm>
              <a:off x="6324600" y="5943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7118" name="Oval 7"/>
            <p:cNvSpPr/>
            <p:nvPr/>
          </p:nvSpPr>
          <p:spPr>
            <a:xfrm>
              <a:off x="6324600" y="51054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55" name="直線接點 54"/>
            <p:cNvCxnSpPr>
              <a:stCxn id="47115" idx="4"/>
              <a:endCxn id="47116" idx="0"/>
            </p:cNvCxnSpPr>
            <p:nvPr/>
          </p:nvCxnSpPr>
          <p:spPr>
            <a:xfrm rot="5400000">
              <a:off x="5066642" y="5601346"/>
              <a:ext cx="685684" cy="1587"/>
            </a:xfrm>
            <a:prstGeom prst="line">
              <a:avLst/>
            </a:prstGeom>
            <a:ln w="15875">
              <a:solidFill>
                <a:schemeClr val="tx1"/>
              </a:solidFill>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6" name="直線接點 55"/>
            <p:cNvCxnSpPr>
              <a:stCxn id="47116" idx="6"/>
              <a:endCxn id="47126" idx="0"/>
            </p:cNvCxnSpPr>
            <p:nvPr/>
          </p:nvCxnSpPr>
          <p:spPr>
            <a:xfrm>
              <a:off x="5486484" y="6019580"/>
              <a:ext cx="931948" cy="1588"/>
            </a:xfrm>
            <a:prstGeom prst="line">
              <a:avLst/>
            </a:prstGeom>
            <a:ln w="15875">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直線接點 56"/>
            <p:cNvCxnSpPr>
              <a:stCxn id="47117" idx="7"/>
            </p:cNvCxnSpPr>
            <p:nvPr/>
          </p:nvCxnSpPr>
          <p:spPr>
            <a:xfrm rot="5400000" flipH="1" flipV="1">
              <a:off x="6493094" y="5600499"/>
              <a:ext cx="326970" cy="403262"/>
            </a:xfrm>
            <a:prstGeom prst="line">
              <a:avLst/>
            </a:prstGeom>
            <a:ln w="15875">
              <a:solidFill>
                <a:schemeClr val="tx1"/>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58" name="直線接點 57"/>
            <p:cNvCxnSpPr>
              <a:stCxn id="47118" idx="4"/>
              <a:endCxn id="47117" idx="0"/>
            </p:cNvCxnSpPr>
            <p:nvPr/>
          </p:nvCxnSpPr>
          <p:spPr>
            <a:xfrm rot="5400000">
              <a:off x="6057333" y="5601346"/>
              <a:ext cx="685684" cy="1587"/>
            </a:xfrm>
            <a:prstGeom prst="line">
              <a:avLst/>
            </a:prstGeom>
            <a:ln w="15875">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9" name="直線接點 58"/>
            <p:cNvCxnSpPr>
              <a:stCxn id="47115" idx="6"/>
            </p:cNvCxnSpPr>
            <p:nvPr/>
          </p:nvCxnSpPr>
          <p:spPr>
            <a:xfrm>
              <a:off x="5486484" y="5181523"/>
              <a:ext cx="838277" cy="1588"/>
            </a:xfrm>
            <a:prstGeom prst="line">
              <a:avLst/>
            </a:prstGeom>
            <a:ln w="15875">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47124" name="Text Box 65"/>
            <p:cNvSpPr txBox="1"/>
            <p:nvPr/>
          </p:nvSpPr>
          <p:spPr>
            <a:xfrm>
              <a:off x="5105449" y="5943394"/>
              <a:ext cx="319117"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baseline="-25000" dirty="0">
                <a:latin typeface="Times New Roman" panose="02020603050405020304" pitchFamily="18" charset="0"/>
                <a:ea typeface="Times New Roman" panose="02020603050405020304" pitchFamily="18" charset="0"/>
              </a:endParaRPr>
            </a:p>
          </p:txBody>
        </p:sp>
        <p:sp>
          <p:nvSpPr>
            <p:cNvPr id="47125" name="Text Box 65"/>
            <p:cNvSpPr txBox="1"/>
            <p:nvPr/>
          </p:nvSpPr>
          <p:spPr>
            <a:xfrm>
              <a:off x="5105449" y="4724400"/>
              <a:ext cx="336581" cy="4571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baseline="-25000" dirty="0">
                <a:latin typeface="Times New Roman" panose="02020603050405020304" pitchFamily="18" charset="0"/>
                <a:ea typeface="Times New Roman" panose="02020603050405020304" pitchFamily="18" charset="0"/>
              </a:endParaRPr>
            </a:p>
          </p:txBody>
        </p:sp>
        <p:sp>
          <p:nvSpPr>
            <p:cNvPr id="47126" name="Text Box 65"/>
            <p:cNvSpPr txBox="1"/>
            <p:nvPr/>
          </p:nvSpPr>
          <p:spPr>
            <a:xfrm>
              <a:off x="6248554" y="6019581"/>
              <a:ext cx="336581"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baseline="-25000" dirty="0">
                <a:latin typeface="Times New Roman" panose="02020603050405020304" pitchFamily="18" charset="0"/>
                <a:ea typeface="Times New Roman" panose="02020603050405020304" pitchFamily="18" charset="0"/>
              </a:endParaRPr>
            </a:p>
          </p:txBody>
        </p:sp>
        <p:sp>
          <p:nvSpPr>
            <p:cNvPr id="47127" name="Text Box 65"/>
            <p:cNvSpPr txBox="1"/>
            <p:nvPr/>
          </p:nvSpPr>
          <p:spPr>
            <a:xfrm>
              <a:off x="6248554" y="4724400"/>
              <a:ext cx="336581" cy="4571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baseline="-25000" dirty="0">
                <a:latin typeface="Times New Roman" panose="02020603050405020304" pitchFamily="18" charset="0"/>
                <a:ea typeface="Times New Roman" panose="02020603050405020304" pitchFamily="18" charset="0"/>
              </a:endParaRPr>
            </a:p>
          </p:txBody>
        </p:sp>
        <p:cxnSp>
          <p:nvCxnSpPr>
            <p:cNvPr id="64" name="直線接點 63"/>
            <p:cNvCxnSpPr>
              <a:endCxn id="47129" idx="1"/>
            </p:cNvCxnSpPr>
            <p:nvPr/>
          </p:nvCxnSpPr>
          <p:spPr>
            <a:xfrm rot="16200000" flipH="1">
              <a:off x="6401021" y="5181470"/>
              <a:ext cx="403157" cy="403262"/>
            </a:xfrm>
            <a:prstGeom prst="line">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129" name="Oval 7"/>
            <p:cNvSpPr/>
            <p:nvPr/>
          </p:nvSpPr>
          <p:spPr>
            <a:xfrm>
              <a:off x="6781800" y="5562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7130" name="Text Box 65"/>
            <p:cNvSpPr txBox="1"/>
            <p:nvPr/>
          </p:nvSpPr>
          <p:spPr>
            <a:xfrm>
              <a:off x="6934417" y="5410084"/>
              <a:ext cx="319117" cy="45712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baseline="-25000" dirty="0">
                <a:latin typeface="Times New Roman" panose="02020603050405020304" pitchFamily="18" charset="0"/>
                <a:ea typeface="Times New Roman" panose="02020603050405020304" pitchFamily="18" charset="0"/>
              </a:endParaRPr>
            </a:p>
          </p:txBody>
        </p:sp>
      </p:grpSp>
      <p:sp>
        <p:nvSpPr>
          <p:cNvPr id="70" name="矩形 69"/>
          <p:cNvSpPr/>
          <p:nvPr/>
        </p:nvSpPr>
        <p:spPr>
          <a:xfrm>
            <a:off x="457200" y="6457950"/>
            <a:ext cx="2362200" cy="40005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Arial" panose="020B0604020202020204"/>
                <a:ea typeface="PMingLiU"/>
                <a:cs typeface="+mn-cs"/>
              </a:rPr>
              <a:t>strongly connected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1" name="矩形 70"/>
          <p:cNvSpPr/>
          <p:nvPr/>
        </p:nvSpPr>
        <p:spPr>
          <a:xfrm>
            <a:off x="4876800" y="6457950"/>
            <a:ext cx="2362200" cy="40005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Arial" panose="020B0604020202020204"/>
                <a:ea typeface="PMingLiU"/>
                <a:cs typeface="+mn-cs"/>
              </a:rPr>
              <a:t>weakly connected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7113" name="投影片編號版面配置區 43"/>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500" fill="hold"/>
                                        <p:tgtEl>
                                          <p:spTgt spid="70"/>
                                        </p:tgtEl>
                                        <p:attrNameLst>
                                          <p:attrName>ppt_x</p:attrName>
                                        </p:attrNameLst>
                                      </p:cBhvr>
                                      <p:tavLst>
                                        <p:tav tm="0">
                                          <p:val>
                                            <p:strVal val="#ppt_x"/>
                                          </p:val>
                                        </p:tav>
                                        <p:tav tm="100000">
                                          <p:val>
                                            <p:strVal val="#ppt_x"/>
                                          </p:val>
                                        </p:tav>
                                      </p:tavLst>
                                    </p:anim>
                                    <p:anim calcmode="lin" valueType="num">
                                      <p:cBhvr additive="base">
                                        <p:cTn id="2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anim calcmode="lin" valueType="num">
                                      <p:cBhvr additive="base">
                                        <p:cTn id="27" dur="500" fill="hold"/>
                                        <p:tgtEl>
                                          <p:spTgt spid="71"/>
                                        </p:tgtEl>
                                        <p:attrNameLst>
                                          <p:attrName>ppt_x</p:attrName>
                                        </p:attrNameLst>
                                      </p:cBhvr>
                                      <p:tavLst>
                                        <p:tav tm="0">
                                          <p:val>
                                            <p:strVal val="#ppt_x"/>
                                          </p:val>
                                        </p:tav>
                                        <p:tav tm="100000">
                                          <p:val>
                                            <p:strVal val="#ppt_x"/>
                                          </p:val>
                                        </p:tav>
                                      </p:tavLst>
                                    </p:anim>
                                    <p:anim calcmode="lin" valueType="num">
                                      <p:cBhvr additive="base">
                                        <p:cTn id="28"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0" grpId="0"/>
      <p:bldP spid="7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xfrm>
            <a:off x="381000" y="457200"/>
            <a:ext cx="8229600" cy="762000"/>
          </a:xfrm>
        </p:spPr>
        <p:txBody>
          <a:bodyPr vert="horz" wrap="square" lIns="91440" tIns="45720" rIns="91440" bIns="45720" anchor="ctr"/>
          <a:p>
            <a:pPr eaLnBrk="1" hangingPunct="1"/>
            <a:r>
              <a:rPr lang="en-US" altLang="zh-TW" sz="3200" b="1" u="sng" dirty="0">
                <a:solidFill>
                  <a:srgbClr val="008000"/>
                </a:solidFill>
              </a:rPr>
              <a:t>Paths and Isomorphism</a:t>
            </a:r>
            <a:endParaRPr lang="en-US" altLang="zh-TW" sz="3200" b="1" u="sng" dirty="0">
              <a:solidFill>
                <a:srgbClr val="008000"/>
              </a:solidFill>
            </a:endParaRPr>
          </a:p>
        </p:txBody>
      </p:sp>
      <p:sp>
        <p:nvSpPr>
          <p:cNvPr id="5" name="矩形 4"/>
          <p:cNvSpPr/>
          <p:nvPr/>
        </p:nvSpPr>
        <p:spPr>
          <a:xfrm>
            <a:off x="228600" y="2667000"/>
            <a:ext cx="8585200" cy="1006475"/>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3200" b="1" i="0" u="none" strike="noStrike" kern="0" cap="none" spc="0" normalizeH="0" baseline="0" noProof="0" dirty="0">
                <a:ln>
                  <a:noFill/>
                </a:ln>
                <a:solidFill>
                  <a:srgbClr val="008000"/>
                </a:solidFill>
                <a:effectLst/>
                <a:uLnTx/>
                <a:uFillTx/>
                <a:latin typeface="Arial" panose="020B0604020202020204"/>
                <a:ea typeface="PMingLiU"/>
                <a:cs typeface="+mn-cs"/>
              </a:rPr>
              <a:t>Example 12.</a:t>
            </a:r>
            <a:r>
              <a:rPr kumimoji="1" lang="en-US" altLang="zh-TW" sz="3200" b="0" i="0" u="none" strike="noStrike" kern="0" cap="none" spc="0" normalizeH="0" baseline="0" noProof="0" dirty="0">
                <a:ln>
                  <a:noFill/>
                </a:ln>
                <a:solidFill>
                  <a:schemeClr val="tx1"/>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Determine whether the graphs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and </a:t>
            </a:r>
            <a:b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b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H</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are isomorphic.</a:t>
            </a:r>
            <a:endPar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endParaRPr>
          </a:p>
        </p:txBody>
      </p:sp>
      <p:grpSp>
        <p:nvGrpSpPr>
          <p:cNvPr id="2" name="群組 104"/>
          <p:cNvGrpSpPr/>
          <p:nvPr/>
        </p:nvGrpSpPr>
        <p:grpSpPr>
          <a:xfrm>
            <a:off x="990600" y="3503613"/>
            <a:ext cx="2308225" cy="2668587"/>
            <a:chOff x="914400" y="2209800"/>
            <a:chExt cx="2446077" cy="2823125"/>
          </a:xfrm>
        </p:grpSpPr>
        <p:sp>
          <p:nvSpPr>
            <p:cNvPr id="48157" name="Oval 7"/>
            <p:cNvSpPr/>
            <p:nvPr/>
          </p:nvSpPr>
          <p:spPr>
            <a:xfrm>
              <a:off x="1981200" y="2590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8158" name="Oval 7"/>
            <p:cNvSpPr/>
            <p:nvPr/>
          </p:nvSpPr>
          <p:spPr>
            <a:xfrm>
              <a:off x="1295400" y="3048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8159" name="Oval 7"/>
            <p:cNvSpPr/>
            <p:nvPr/>
          </p:nvSpPr>
          <p:spPr>
            <a:xfrm>
              <a:off x="1295400" y="3733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8160" name="Oval 7"/>
            <p:cNvSpPr/>
            <p:nvPr/>
          </p:nvSpPr>
          <p:spPr>
            <a:xfrm>
              <a:off x="2743200" y="2971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12" name="直線接點 11"/>
            <p:cNvCxnSpPr>
              <a:stCxn id="48157" idx="3"/>
              <a:endCxn id="48158" idx="7"/>
            </p:cNvCxnSpPr>
            <p:nvPr/>
          </p:nvCxnSpPr>
          <p:spPr>
            <a:xfrm rot="5400000">
              <a:off x="1539678" y="2606492"/>
              <a:ext cx="349322" cy="577032"/>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8162" name="矩形 20"/>
            <p:cNvSpPr/>
            <p:nvPr/>
          </p:nvSpPr>
          <p:spPr>
            <a:xfrm>
              <a:off x="1294602" y="4419933"/>
              <a:ext cx="506375" cy="6129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G</a:t>
              </a:r>
              <a:endParaRPr lang="zh-TW" altLang="en-US" sz="1800" dirty="0"/>
            </a:p>
          </p:txBody>
        </p:sp>
        <p:sp>
          <p:nvSpPr>
            <p:cNvPr id="48163" name="Oval 7"/>
            <p:cNvSpPr/>
            <p:nvPr/>
          </p:nvSpPr>
          <p:spPr>
            <a:xfrm>
              <a:off x="2057400" y="41910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49" name="直線接點 48"/>
            <p:cNvCxnSpPr/>
            <p:nvPr/>
          </p:nvCxnSpPr>
          <p:spPr>
            <a:xfrm rot="5400000" flipH="1" flipV="1">
              <a:off x="2536630" y="3405555"/>
              <a:ext cx="565968" cy="1683"/>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51" name="直線接點 50"/>
            <p:cNvCxnSpPr>
              <a:stCxn id="48163" idx="1"/>
            </p:cNvCxnSpPr>
            <p:nvPr/>
          </p:nvCxnSpPr>
          <p:spPr>
            <a:xfrm rot="16200000" flipV="1">
              <a:off x="1525424" y="3658545"/>
              <a:ext cx="403064" cy="706570"/>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53" name="直線接點 52"/>
            <p:cNvCxnSpPr>
              <a:stCxn id="48167" idx="3"/>
              <a:endCxn id="48163" idx="7"/>
            </p:cNvCxnSpPr>
            <p:nvPr/>
          </p:nvCxnSpPr>
          <p:spPr>
            <a:xfrm rot="5400000">
              <a:off x="2263976" y="3712400"/>
              <a:ext cx="424896" cy="577031"/>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8167" name="Oval 7"/>
            <p:cNvSpPr/>
            <p:nvPr/>
          </p:nvSpPr>
          <p:spPr>
            <a:xfrm>
              <a:off x="2743200" y="36576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59" name="直線接點 58"/>
            <p:cNvCxnSpPr/>
            <p:nvPr/>
          </p:nvCxnSpPr>
          <p:spPr>
            <a:xfrm rot="5400000" flipH="1" flipV="1">
              <a:off x="1090685" y="3481968"/>
              <a:ext cx="564289" cy="1683"/>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60" name="直線接點 59"/>
            <p:cNvCxnSpPr>
              <a:endCxn id="48157" idx="5"/>
            </p:cNvCxnSpPr>
            <p:nvPr/>
          </p:nvCxnSpPr>
          <p:spPr>
            <a:xfrm rot="10800000">
              <a:off x="2110522" y="2720347"/>
              <a:ext cx="730122" cy="349322"/>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63" name="直線接點 62"/>
            <p:cNvCxnSpPr>
              <a:endCxn id="48159" idx="7"/>
            </p:cNvCxnSpPr>
            <p:nvPr/>
          </p:nvCxnSpPr>
          <p:spPr>
            <a:xfrm rot="10800000" flipV="1">
              <a:off x="1425822" y="3123411"/>
              <a:ext cx="1362670" cy="633145"/>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65" name="直線接點 64"/>
            <p:cNvCxnSpPr>
              <a:stCxn id="48167" idx="1"/>
            </p:cNvCxnSpPr>
            <p:nvPr/>
          </p:nvCxnSpPr>
          <p:spPr>
            <a:xfrm rot="16200000" flipV="1">
              <a:off x="1802275" y="2716638"/>
              <a:ext cx="532379" cy="1392952"/>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8172" name="Text Box 65"/>
            <p:cNvSpPr txBox="1"/>
            <p:nvPr/>
          </p:nvSpPr>
          <p:spPr>
            <a:xfrm>
              <a:off x="1560407" y="2209800"/>
              <a:ext cx="464317" cy="4836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48173" name="Text Box 65"/>
            <p:cNvSpPr txBox="1"/>
            <p:nvPr/>
          </p:nvSpPr>
          <p:spPr>
            <a:xfrm>
              <a:off x="914400" y="2819434"/>
              <a:ext cx="464317" cy="4836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48174" name="Text Box 65"/>
            <p:cNvSpPr txBox="1"/>
            <p:nvPr/>
          </p:nvSpPr>
          <p:spPr>
            <a:xfrm>
              <a:off x="914400" y="3581896"/>
              <a:ext cx="464317" cy="4836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48175" name="Text Box 65"/>
            <p:cNvSpPr txBox="1"/>
            <p:nvPr/>
          </p:nvSpPr>
          <p:spPr>
            <a:xfrm>
              <a:off x="1905280" y="4267104"/>
              <a:ext cx="464317" cy="4836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48176" name="Text Box 65"/>
            <p:cNvSpPr txBox="1"/>
            <p:nvPr/>
          </p:nvSpPr>
          <p:spPr>
            <a:xfrm>
              <a:off x="2896160" y="3581896"/>
              <a:ext cx="464317" cy="4836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48177" name="Text Box 65"/>
            <p:cNvSpPr txBox="1"/>
            <p:nvPr/>
          </p:nvSpPr>
          <p:spPr>
            <a:xfrm>
              <a:off x="2896160" y="2819434"/>
              <a:ext cx="464317" cy="4836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grpSp>
      <p:grpSp>
        <p:nvGrpSpPr>
          <p:cNvPr id="3" name="群組 105"/>
          <p:cNvGrpSpPr/>
          <p:nvPr/>
        </p:nvGrpSpPr>
        <p:grpSpPr>
          <a:xfrm>
            <a:off x="3886200" y="3581400"/>
            <a:ext cx="2108200" cy="2543175"/>
            <a:chOff x="4800600" y="2232118"/>
            <a:chExt cx="2408877" cy="2832370"/>
          </a:xfrm>
        </p:grpSpPr>
        <p:sp>
          <p:nvSpPr>
            <p:cNvPr id="48136" name="矩形 25"/>
            <p:cNvSpPr/>
            <p:nvPr/>
          </p:nvSpPr>
          <p:spPr>
            <a:xfrm>
              <a:off x="5105337" y="4419160"/>
              <a:ext cx="545988" cy="6453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H</a:t>
              </a:r>
              <a:endParaRPr lang="zh-TW" altLang="en-US" sz="1800" dirty="0"/>
            </a:p>
          </p:txBody>
        </p:sp>
        <p:sp>
          <p:nvSpPr>
            <p:cNvPr id="48137" name="Oval 7"/>
            <p:cNvSpPr/>
            <p:nvPr/>
          </p:nvSpPr>
          <p:spPr>
            <a:xfrm>
              <a:off x="5813518" y="261311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8138" name="Oval 7"/>
            <p:cNvSpPr/>
            <p:nvPr/>
          </p:nvSpPr>
          <p:spPr>
            <a:xfrm>
              <a:off x="5181600" y="2971800"/>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8139" name="Oval 7"/>
            <p:cNvSpPr/>
            <p:nvPr/>
          </p:nvSpPr>
          <p:spPr>
            <a:xfrm>
              <a:off x="5203918" y="367991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8140" name="Oval 7"/>
            <p:cNvSpPr/>
            <p:nvPr/>
          </p:nvSpPr>
          <p:spPr>
            <a:xfrm>
              <a:off x="6575518" y="299411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77" name="直線接點 76"/>
            <p:cNvCxnSpPr>
              <a:stCxn id="48137" idx="3"/>
              <a:endCxn id="48138" idx="7"/>
            </p:cNvCxnSpPr>
            <p:nvPr/>
          </p:nvCxnSpPr>
          <p:spPr>
            <a:xfrm rot="5400000">
              <a:off x="5448705" y="2606496"/>
              <a:ext cx="251059" cy="524222"/>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8142" name="Oval 7"/>
            <p:cNvSpPr/>
            <p:nvPr/>
          </p:nvSpPr>
          <p:spPr>
            <a:xfrm>
              <a:off x="5889718" y="421331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79" name="直線接點 78"/>
            <p:cNvCxnSpPr/>
            <p:nvPr/>
          </p:nvCxnSpPr>
          <p:spPr>
            <a:xfrm rot="5400000" flipH="1" flipV="1">
              <a:off x="6369724" y="3429069"/>
              <a:ext cx="565767" cy="0"/>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80" name="直線接點 79"/>
            <p:cNvCxnSpPr>
              <a:stCxn id="48142" idx="1"/>
              <a:endCxn id="48139" idx="4"/>
            </p:cNvCxnSpPr>
            <p:nvPr/>
          </p:nvCxnSpPr>
          <p:spPr>
            <a:xfrm rot="16200000" flipV="1">
              <a:off x="5394448" y="3717204"/>
              <a:ext cx="403109" cy="633056"/>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81" name="直線接點 80"/>
            <p:cNvCxnSpPr>
              <a:stCxn id="48146" idx="3"/>
              <a:endCxn id="48142" idx="7"/>
            </p:cNvCxnSpPr>
            <p:nvPr/>
          </p:nvCxnSpPr>
          <p:spPr>
            <a:xfrm rot="5400000">
              <a:off x="6095823" y="3732921"/>
              <a:ext cx="426094" cy="578639"/>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8146" name="Oval 7"/>
            <p:cNvSpPr/>
            <p:nvPr/>
          </p:nvSpPr>
          <p:spPr>
            <a:xfrm>
              <a:off x="6575518" y="3679918"/>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83" name="直線接點 82"/>
            <p:cNvCxnSpPr/>
            <p:nvPr/>
          </p:nvCxnSpPr>
          <p:spPr>
            <a:xfrm rot="5400000" flipH="1" flipV="1">
              <a:off x="4997498" y="3428162"/>
              <a:ext cx="565767" cy="1814"/>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84" name="直線接點 83"/>
            <p:cNvCxnSpPr>
              <a:endCxn id="48137" idx="5"/>
            </p:cNvCxnSpPr>
            <p:nvPr/>
          </p:nvCxnSpPr>
          <p:spPr>
            <a:xfrm rot="10800000">
              <a:off x="5943365" y="2743077"/>
              <a:ext cx="729193" cy="350068"/>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85" name="直線接點 84"/>
            <p:cNvCxnSpPr>
              <a:stCxn id="48146" idx="2"/>
              <a:endCxn id="48139" idx="6"/>
            </p:cNvCxnSpPr>
            <p:nvPr/>
          </p:nvCxnSpPr>
          <p:spPr>
            <a:xfrm rot="10800000">
              <a:off x="5355658" y="3756152"/>
              <a:ext cx="1220764" cy="1769"/>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86" name="直線接點 85"/>
            <p:cNvCxnSpPr>
              <a:stCxn id="48140" idx="2"/>
              <a:endCxn id="48138" idx="6"/>
            </p:cNvCxnSpPr>
            <p:nvPr/>
          </p:nvCxnSpPr>
          <p:spPr>
            <a:xfrm rot="10800000">
              <a:off x="5333891" y="3047176"/>
              <a:ext cx="1242531" cy="22984"/>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8151" name="Text Box 65"/>
            <p:cNvSpPr txBox="1"/>
            <p:nvPr/>
          </p:nvSpPr>
          <p:spPr>
            <a:xfrm>
              <a:off x="5410075" y="2232118"/>
              <a:ext cx="480687" cy="5091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48152" name="Text Box 65"/>
            <p:cNvSpPr txBox="1"/>
            <p:nvPr/>
          </p:nvSpPr>
          <p:spPr>
            <a:xfrm>
              <a:off x="4800600" y="2743076"/>
              <a:ext cx="480687" cy="5091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48153" name="Text Box 65"/>
            <p:cNvSpPr txBox="1"/>
            <p:nvPr/>
          </p:nvSpPr>
          <p:spPr>
            <a:xfrm>
              <a:off x="4800600" y="3505093"/>
              <a:ext cx="480687" cy="5091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48154" name="Text Box 65"/>
            <p:cNvSpPr txBox="1"/>
            <p:nvPr/>
          </p:nvSpPr>
          <p:spPr>
            <a:xfrm>
              <a:off x="5736579" y="4290095"/>
              <a:ext cx="480688" cy="5091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48155" name="Text Box 65"/>
            <p:cNvSpPr txBox="1"/>
            <p:nvPr/>
          </p:nvSpPr>
          <p:spPr>
            <a:xfrm>
              <a:off x="6728790" y="3604102"/>
              <a:ext cx="480687" cy="5091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48156" name="Text Box 65"/>
            <p:cNvSpPr txBox="1"/>
            <p:nvPr/>
          </p:nvSpPr>
          <p:spPr>
            <a:xfrm>
              <a:off x="6728790" y="2842085"/>
              <a:ext cx="480687" cy="5091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6</a:t>
              </a:r>
              <a:endParaRPr lang="en-US" altLang="zh-TW" sz="2400" baseline="-25000" dirty="0">
                <a:latin typeface="Times New Roman" panose="02020603050405020304" pitchFamily="18" charset="0"/>
                <a:ea typeface="Times New Roman" panose="02020603050405020304" pitchFamily="18" charset="0"/>
              </a:endParaRPr>
            </a:p>
          </p:txBody>
        </p:sp>
      </p:grpSp>
      <p:sp>
        <p:nvSpPr>
          <p:cNvPr id="104" name="矩形 103"/>
          <p:cNvSpPr/>
          <p:nvPr/>
        </p:nvSpPr>
        <p:spPr>
          <a:xfrm>
            <a:off x="244475" y="6110288"/>
            <a:ext cx="8670925"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 </a:t>
            </a:r>
            <a:r>
              <a:rPr lang="en-US" altLang="zh-TW" sz="2800" dirty="0"/>
              <a:t>No. </a:t>
            </a:r>
            <a:r>
              <a:rPr lang="en-US" altLang="zh-TW" sz="2800" i="1" dirty="0">
                <a:latin typeface="Times New Roman" panose="02020603050405020304" pitchFamily="18" charset="0"/>
                <a:cs typeface="Times New Roman" panose="02020603050405020304" pitchFamily="18" charset="0"/>
              </a:rPr>
              <a:t>G </a:t>
            </a:r>
            <a:r>
              <a:rPr lang="en-US" altLang="zh-TW" sz="2800" dirty="0">
                <a:latin typeface="Times New Roman" panose="02020603050405020304" pitchFamily="18" charset="0"/>
                <a:cs typeface="Times New Roman" panose="02020603050405020304" pitchFamily="18" charset="0"/>
              </a:rPr>
              <a:t>has no simple circuit of length 3, while H does.</a:t>
            </a:r>
            <a:endParaRPr lang="zh-TW" altLang="en-US" sz="2800" dirty="0"/>
          </a:p>
        </p:txBody>
      </p:sp>
      <p:sp>
        <p:nvSpPr>
          <p:cNvPr id="107" name="Rectangle 3"/>
          <p:cNvSpPr txBox="1">
            <a:spLocks noChangeArrowheads="1"/>
          </p:cNvSpPr>
          <p:nvPr/>
        </p:nvSpPr>
        <p:spPr bwMode="auto">
          <a:xfrm>
            <a:off x="228600" y="1143000"/>
            <a:ext cx="8686800" cy="1447800"/>
          </a:xfrm>
          <a:prstGeom prst="rect">
            <a:avLst/>
          </a:prstGeom>
          <a:noFill/>
          <a:ln w="9525">
            <a:noFill/>
            <a:miter lim="800000"/>
          </a:ln>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2800" kern="0" cap="none" spc="0" normalizeH="0" baseline="0" noProof="0" dirty="0">
                <a:latin typeface="+mn-lt"/>
                <a:ea typeface="+mn-ea"/>
                <a:cs typeface="+mn-cs"/>
              </a:rPr>
              <a:t>Note that </a:t>
            </a:r>
            <a:r>
              <a:rPr kumimoji="1" lang="en-US" altLang="zh-TW" sz="2800" u="sng" kern="0" cap="none" spc="0" normalizeH="0" baseline="0" noProof="0" dirty="0">
                <a:latin typeface="+mn-lt"/>
                <a:ea typeface="+mn-ea"/>
                <a:cs typeface="+mn-cs"/>
              </a:rPr>
              <a:t>connectedness</a:t>
            </a:r>
            <a:r>
              <a:rPr kumimoji="1" lang="en-US" altLang="zh-TW" sz="2800" kern="0" cap="none" spc="0" normalizeH="0" baseline="0" noProof="0" dirty="0">
                <a:latin typeface="+mn-lt"/>
                <a:ea typeface="+mn-ea"/>
                <a:cs typeface="+mn-cs"/>
              </a:rPr>
              <a:t>, and </a:t>
            </a:r>
            <a:r>
              <a:rPr kumimoji="1" lang="en-US" altLang="zh-TW" sz="2800" u="sng" kern="0" cap="none" spc="0" normalizeH="0" baseline="0" noProof="0" dirty="0">
                <a:latin typeface="+mn-lt"/>
                <a:ea typeface="+mn-ea"/>
                <a:cs typeface="+mn-cs"/>
              </a:rPr>
              <a:t>the existence of a circuit or simple circuit of length </a:t>
            </a:r>
            <a:r>
              <a:rPr kumimoji="1" lang="en-US" altLang="zh-TW" sz="2800" i="1" u="sng" kern="0" cap="none" spc="0" normalizeH="0" baseline="0" noProof="0" dirty="0">
                <a:latin typeface="+mn-lt"/>
                <a:ea typeface="+mn-ea"/>
                <a:cs typeface="+mn-cs"/>
              </a:rPr>
              <a:t>k</a:t>
            </a:r>
            <a:r>
              <a:rPr kumimoji="1" lang="en-US" altLang="zh-TW" sz="2800" kern="0" cap="none" spc="0" normalizeH="0" baseline="0" noProof="0" dirty="0">
                <a:latin typeface="+mn-lt"/>
                <a:ea typeface="+mn-ea"/>
                <a:cs typeface="+mn-cs"/>
              </a:rPr>
              <a:t> are graph invariants with respect to isomorphism.</a:t>
            </a:r>
            <a:endParaRPr kumimoji="1" lang="en-US" altLang="zh-TW" sz="2800" kern="0" cap="none" spc="0" normalizeH="0" baseline="0" noProof="0" dirty="0">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4"/>
                                        </p:tgtEl>
                                        <p:attrNameLst>
                                          <p:attrName>style.visibility</p:attrName>
                                        </p:attrNameLst>
                                      </p:cBhvr>
                                      <p:to>
                                        <p:strVal val="visible"/>
                                      </p:to>
                                    </p:set>
                                    <p:anim calcmode="lin" valueType="num">
                                      <p:cBhvr additive="base">
                                        <p:cTn id="21" dur="500" fill="hold"/>
                                        <p:tgtEl>
                                          <p:spTgt spid="104"/>
                                        </p:tgtEl>
                                        <p:attrNameLst>
                                          <p:attrName>ppt_x</p:attrName>
                                        </p:attrNameLst>
                                      </p:cBhvr>
                                      <p:tavLst>
                                        <p:tav tm="0">
                                          <p:val>
                                            <p:strVal val="#ppt_x"/>
                                          </p:val>
                                        </p:tav>
                                        <p:tav tm="100000">
                                          <p:val>
                                            <p:strVal val="#ppt_x"/>
                                          </p:val>
                                        </p:tav>
                                      </p:tavLst>
                                    </p:anim>
                                    <p:anim calcmode="lin" valueType="num">
                                      <p:cBhvr additive="base">
                                        <p:cTn id="22"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304800" y="457200"/>
            <a:ext cx="8585200" cy="1006475"/>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3200" b="1" i="0" u="none" strike="noStrike" kern="0" cap="none" spc="0" normalizeH="0" baseline="0" noProof="0" dirty="0">
                <a:ln>
                  <a:noFill/>
                </a:ln>
                <a:solidFill>
                  <a:srgbClr val="008000"/>
                </a:solidFill>
                <a:effectLst/>
                <a:uLnTx/>
                <a:uFillTx/>
                <a:latin typeface="Arial" panose="020B0604020202020204"/>
                <a:ea typeface="PMingLiU"/>
                <a:cs typeface="+mn-cs"/>
              </a:rPr>
              <a:t>Example 13.</a:t>
            </a:r>
            <a:r>
              <a:rPr kumimoji="1" lang="en-US" altLang="zh-TW" sz="3200" b="0" i="0" u="none" strike="noStrike" kern="0" cap="none" spc="0" normalizeH="0" baseline="0" noProof="0" dirty="0">
                <a:ln>
                  <a:noFill/>
                </a:ln>
                <a:solidFill>
                  <a:schemeClr val="tx1"/>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Determine whether the graphs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and </a:t>
            </a:r>
            <a:b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b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H</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are isomorphic.</a:t>
            </a:r>
            <a:endPar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endParaRPr>
          </a:p>
        </p:txBody>
      </p:sp>
      <p:sp>
        <p:nvSpPr>
          <p:cNvPr id="49155" name="Oval 7"/>
          <p:cNvSpPr/>
          <p:nvPr/>
        </p:nvSpPr>
        <p:spPr>
          <a:xfrm>
            <a:off x="2759075" y="1808163"/>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9156" name="Oval 7"/>
          <p:cNvSpPr/>
          <p:nvPr/>
        </p:nvSpPr>
        <p:spPr>
          <a:xfrm>
            <a:off x="2111375" y="2239963"/>
            <a:ext cx="144463" cy="14446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9157" name="Oval 7"/>
          <p:cNvSpPr/>
          <p:nvPr/>
        </p:nvSpPr>
        <p:spPr>
          <a:xfrm>
            <a:off x="2286000" y="2819400"/>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9158" name="Oval 7"/>
          <p:cNvSpPr/>
          <p:nvPr/>
        </p:nvSpPr>
        <p:spPr>
          <a:xfrm>
            <a:off x="3478213" y="2166938"/>
            <a:ext cx="142875" cy="14446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13" name="直線接點 12"/>
          <p:cNvCxnSpPr>
            <a:stCxn id="49155" idx="3"/>
            <a:endCxn id="49157" idx="7"/>
          </p:cNvCxnSpPr>
          <p:nvPr/>
        </p:nvCxnSpPr>
        <p:spPr>
          <a:xfrm rot="5400000">
            <a:off x="2139156" y="2199481"/>
            <a:ext cx="909638" cy="371475"/>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9160" name="矩形 13"/>
          <p:cNvSpPr/>
          <p:nvPr/>
        </p:nvSpPr>
        <p:spPr>
          <a:xfrm>
            <a:off x="1447800" y="1524000"/>
            <a:ext cx="47783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G</a:t>
            </a:r>
            <a:endParaRPr lang="zh-TW" altLang="en-US" sz="1800" dirty="0"/>
          </a:p>
        </p:txBody>
      </p:sp>
      <p:cxnSp>
        <p:nvCxnSpPr>
          <p:cNvPr id="16" name="直線接點 15"/>
          <p:cNvCxnSpPr>
            <a:stCxn id="49162" idx="7"/>
            <a:endCxn id="49158" idx="3"/>
          </p:cNvCxnSpPr>
          <p:nvPr/>
        </p:nvCxnSpPr>
        <p:spPr>
          <a:xfrm rot="5400000" flipH="1" flipV="1">
            <a:off x="3136106" y="2477294"/>
            <a:ext cx="549275" cy="176213"/>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9162" name="Oval 7"/>
          <p:cNvSpPr/>
          <p:nvPr/>
        </p:nvSpPr>
        <p:spPr>
          <a:xfrm>
            <a:off x="3200400" y="2819400"/>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20" name="直線接點 19"/>
          <p:cNvCxnSpPr>
            <a:stCxn id="49157" idx="0"/>
          </p:cNvCxnSpPr>
          <p:nvPr/>
        </p:nvCxnSpPr>
        <p:spPr>
          <a:xfrm rot="16200000" flipV="1">
            <a:off x="2053431" y="2515394"/>
            <a:ext cx="434975" cy="173038"/>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21" name="直線接點 20"/>
          <p:cNvCxnSpPr>
            <a:endCxn id="49155" idx="5"/>
          </p:cNvCxnSpPr>
          <p:nvPr/>
        </p:nvCxnSpPr>
        <p:spPr>
          <a:xfrm rot="10800000">
            <a:off x="2881313" y="1930400"/>
            <a:ext cx="687388" cy="330200"/>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22" name="直線接點 21"/>
          <p:cNvCxnSpPr>
            <a:stCxn id="49158" idx="3"/>
            <a:endCxn id="49156" idx="6"/>
          </p:cNvCxnSpPr>
          <p:nvPr/>
        </p:nvCxnSpPr>
        <p:spPr>
          <a:xfrm rot="5400000">
            <a:off x="2867025" y="1679575"/>
            <a:ext cx="20638" cy="1243013"/>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23" name="直線接點 22"/>
          <p:cNvCxnSpPr>
            <a:stCxn id="49162" idx="1"/>
            <a:endCxn id="49156" idx="5"/>
          </p:cNvCxnSpPr>
          <p:nvPr/>
        </p:nvCxnSpPr>
        <p:spPr>
          <a:xfrm rot="16200000" flipV="1">
            <a:off x="2488406" y="2107406"/>
            <a:ext cx="477838" cy="987425"/>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9167" name="Text Box 65"/>
          <p:cNvSpPr txBox="1"/>
          <p:nvPr/>
        </p:nvSpPr>
        <p:spPr>
          <a:xfrm>
            <a:off x="2438400" y="13716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49168" name="Text Box 65"/>
          <p:cNvSpPr txBox="1"/>
          <p:nvPr/>
        </p:nvSpPr>
        <p:spPr>
          <a:xfrm>
            <a:off x="1752600" y="2024063"/>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49169" name="Text Box 65"/>
          <p:cNvSpPr txBox="1"/>
          <p:nvPr/>
        </p:nvSpPr>
        <p:spPr>
          <a:xfrm>
            <a:off x="3581400" y="20574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49170" name="Text Box 65"/>
          <p:cNvSpPr txBox="1"/>
          <p:nvPr/>
        </p:nvSpPr>
        <p:spPr>
          <a:xfrm>
            <a:off x="3200400" y="28194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49171" name="Text Box 65"/>
          <p:cNvSpPr txBox="1"/>
          <p:nvPr/>
        </p:nvSpPr>
        <p:spPr>
          <a:xfrm>
            <a:off x="1905000" y="2743200"/>
            <a:ext cx="43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u</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49172" name="矩形 30"/>
          <p:cNvSpPr/>
          <p:nvPr/>
        </p:nvSpPr>
        <p:spPr>
          <a:xfrm>
            <a:off x="5334000" y="1600200"/>
            <a:ext cx="47783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H</a:t>
            </a:r>
            <a:endParaRPr lang="zh-TW" altLang="en-US" sz="1800" dirty="0"/>
          </a:p>
        </p:txBody>
      </p:sp>
      <p:sp>
        <p:nvSpPr>
          <p:cNvPr id="49173" name="Oval 7"/>
          <p:cNvSpPr/>
          <p:nvPr/>
        </p:nvSpPr>
        <p:spPr>
          <a:xfrm>
            <a:off x="6188075" y="1884363"/>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9174" name="Oval 7"/>
          <p:cNvSpPr/>
          <p:nvPr/>
        </p:nvSpPr>
        <p:spPr>
          <a:xfrm>
            <a:off x="5540375" y="2316163"/>
            <a:ext cx="144463" cy="14446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9175" name="Oval 7"/>
          <p:cNvSpPr/>
          <p:nvPr/>
        </p:nvSpPr>
        <p:spPr>
          <a:xfrm>
            <a:off x="5715000" y="2895600"/>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49176" name="Oval 7"/>
          <p:cNvSpPr/>
          <p:nvPr/>
        </p:nvSpPr>
        <p:spPr>
          <a:xfrm>
            <a:off x="6907213" y="2243138"/>
            <a:ext cx="142875" cy="14446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64" name="直線接點 63"/>
          <p:cNvCxnSpPr>
            <a:stCxn id="49173" idx="3"/>
            <a:endCxn id="49174" idx="7"/>
          </p:cNvCxnSpPr>
          <p:nvPr/>
        </p:nvCxnSpPr>
        <p:spPr>
          <a:xfrm rot="5400000">
            <a:off x="5770563" y="1898650"/>
            <a:ext cx="330200" cy="546100"/>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65" name="直線接點 64"/>
          <p:cNvCxnSpPr>
            <a:stCxn id="49179" idx="7"/>
            <a:endCxn id="49176" idx="3"/>
          </p:cNvCxnSpPr>
          <p:nvPr/>
        </p:nvCxnSpPr>
        <p:spPr>
          <a:xfrm rot="5400000" flipH="1" flipV="1">
            <a:off x="6565106" y="2553494"/>
            <a:ext cx="549275" cy="176213"/>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9179" name="Oval 7"/>
          <p:cNvSpPr/>
          <p:nvPr/>
        </p:nvSpPr>
        <p:spPr>
          <a:xfrm>
            <a:off x="6629400" y="2895600"/>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67" name="直線接點 66"/>
          <p:cNvCxnSpPr>
            <a:stCxn id="49175" idx="0"/>
          </p:cNvCxnSpPr>
          <p:nvPr/>
        </p:nvCxnSpPr>
        <p:spPr>
          <a:xfrm rot="16200000" flipV="1">
            <a:off x="5482431" y="2591594"/>
            <a:ext cx="434975" cy="173038"/>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68" name="直線接點 67"/>
          <p:cNvCxnSpPr>
            <a:endCxn id="49173" idx="5"/>
          </p:cNvCxnSpPr>
          <p:nvPr/>
        </p:nvCxnSpPr>
        <p:spPr>
          <a:xfrm rot="10800000">
            <a:off x="6310313" y="2006600"/>
            <a:ext cx="687388" cy="330200"/>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69" name="直線接點 68"/>
          <p:cNvCxnSpPr>
            <a:stCxn id="49179" idx="2"/>
            <a:endCxn id="49175" idx="6"/>
          </p:cNvCxnSpPr>
          <p:nvPr/>
        </p:nvCxnSpPr>
        <p:spPr>
          <a:xfrm rot="10800000">
            <a:off x="5857875" y="2967038"/>
            <a:ext cx="771525" cy="1588"/>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70" name="直線接點 69"/>
          <p:cNvCxnSpPr>
            <a:stCxn id="49179" idx="1"/>
            <a:endCxn id="49173" idx="4"/>
          </p:cNvCxnSpPr>
          <p:nvPr/>
        </p:nvCxnSpPr>
        <p:spPr>
          <a:xfrm rot="16200000" flipV="1">
            <a:off x="6010275" y="2276475"/>
            <a:ext cx="889000" cy="390525"/>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9184" name="Text Box 65"/>
          <p:cNvSpPr txBox="1"/>
          <p:nvPr/>
        </p:nvSpPr>
        <p:spPr>
          <a:xfrm>
            <a:off x="5867400" y="14478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1</a:t>
            </a:r>
            <a:endParaRPr lang="en-US" altLang="zh-TW" sz="2400" baseline="-25000" dirty="0">
              <a:latin typeface="Times New Roman" panose="02020603050405020304" pitchFamily="18" charset="0"/>
              <a:ea typeface="Times New Roman" panose="02020603050405020304" pitchFamily="18" charset="0"/>
            </a:endParaRPr>
          </a:p>
        </p:txBody>
      </p:sp>
      <p:sp>
        <p:nvSpPr>
          <p:cNvPr id="49185" name="Text Box 65"/>
          <p:cNvSpPr txBox="1"/>
          <p:nvPr/>
        </p:nvSpPr>
        <p:spPr>
          <a:xfrm>
            <a:off x="5181600" y="2100263"/>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5</a:t>
            </a:r>
            <a:endParaRPr lang="en-US" altLang="zh-TW" sz="2400" baseline="-25000" dirty="0">
              <a:latin typeface="Times New Roman" panose="02020603050405020304" pitchFamily="18" charset="0"/>
              <a:ea typeface="Times New Roman" panose="02020603050405020304" pitchFamily="18" charset="0"/>
            </a:endParaRPr>
          </a:p>
        </p:txBody>
      </p:sp>
      <p:sp>
        <p:nvSpPr>
          <p:cNvPr id="49186" name="Text Box 65"/>
          <p:cNvSpPr txBox="1"/>
          <p:nvPr/>
        </p:nvSpPr>
        <p:spPr>
          <a:xfrm>
            <a:off x="7010400" y="21336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2</a:t>
            </a:r>
            <a:endParaRPr lang="en-US" altLang="zh-TW" sz="2400" baseline="-25000" dirty="0">
              <a:latin typeface="Times New Roman" panose="02020603050405020304" pitchFamily="18" charset="0"/>
              <a:ea typeface="Times New Roman" panose="02020603050405020304" pitchFamily="18" charset="0"/>
            </a:endParaRPr>
          </a:p>
        </p:txBody>
      </p:sp>
      <p:sp>
        <p:nvSpPr>
          <p:cNvPr id="49187" name="Text Box 65"/>
          <p:cNvSpPr txBox="1"/>
          <p:nvPr/>
        </p:nvSpPr>
        <p:spPr>
          <a:xfrm>
            <a:off x="6629400" y="28956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3</a:t>
            </a:r>
            <a:endParaRPr lang="en-US" altLang="zh-TW" sz="2400" baseline="-25000" dirty="0">
              <a:latin typeface="Times New Roman" panose="02020603050405020304" pitchFamily="18" charset="0"/>
              <a:ea typeface="Times New Roman" panose="02020603050405020304" pitchFamily="18" charset="0"/>
            </a:endParaRPr>
          </a:p>
        </p:txBody>
      </p:sp>
      <p:sp>
        <p:nvSpPr>
          <p:cNvPr id="49188" name="Text Box 65"/>
          <p:cNvSpPr txBox="1"/>
          <p:nvPr/>
        </p:nvSpPr>
        <p:spPr>
          <a:xfrm>
            <a:off x="5334000" y="2819400"/>
            <a:ext cx="420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4</a:t>
            </a:r>
            <a:endParaRPr lang="en-US" altLang="zh-TW" sz="2400" baseline="-25000" dirty="0">
              <a:latin typeface="Times New Roman" panose="02020603050405020304" pitchFamily="18" charset="0"/>
              <a:ea typeface="Times New Roman" panose="02020603050405020304" pitchFamily="18" charset="0"/>
            </a:endParaRPr>
          </a:p>
        </p:txBody>
      </p:sp>
      <p:sp>
        <p:nvSpPr>
          <p:cNvPr id="38" name="Text Box 38"/>
          <p:cNvSpPr txBox="1">
            <a:spLocks noChangeArrowheads="1"/>
          </p:cNvSpPr>
          <p:nvPr/>
        </p:nvSpPr>
        <p:spPr bwMode="auto">
          <a:xfrm>
            <a:off x="381000" y="3505200"/>
            <a:ext cx="8305800" cy="2473325"/>
          </a:xfrm>
          <a:prstGeom prst="rect">
            <a:avLst/>
          </a:prstGeom>
          <a:noFill/>
          <a:ln w="9525">
            <a:noFill/>
            <a:miter lim="800000"/>
          </a:ln>
        </p:spPr>
        <p:txBody>
          <a:bodyPr>
            <a:spAutoFit/>
          </a:bodyPr>
          <a:lstStyle/>
          <a:p>
            <a:pPr marR="0" defTabSz="914400">
              <a:buClrTx/>
              <a:buSzTx/>
              <a:buFontTx/>
              <a:buNone/>
              <a:defRPr/>
            </a:pPr>
            <a:r>
              <a:rPr kumimoji="1" lang="en-US" altLang="zh-TW" sz="2600" kern="1200" cap="none" spc="0" normalizeH="0" baseline="0" noProof="0" dirty="0">
                <a:latin typeface="Arial" panose="020B0604020202020204" pitchFamily="34" charset="0"/>
                <a:ea typeface="PMingLiU" pitchFamily="18" charset="-120"/>
                <a:cs typeface="+mn-cs"/>
              </a:rPr>
              <a:t>Both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G</a:t>
            </a:r>
            <a:r>
              <a:rPr kumimoji="1" lang="en-US" altLang="zh-TW" sz="2600" kern="1200" cap="none" spc="0" normalizeH="0" baseline="0" noProof="0" dirty="0">
                <a:latin typeface="Arial" panose="020B0604020202020204" pitchFamily="34" charset="0"/>
                <a:ea typeface="PMingLiU" pitchFamily="18" charset="-120"/>
                <a:cs typeface="+mn-cs"/>
              </a:rPr>
              <a:t> and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H</a:t>
            </a:r>
            <a:r>
              <a:rPr kumimoji="1" lang="en-US" altLang="zh-TW" sz="2600" kern="1200" cap="none" spc="0" normalizeH="0" baseline="0" noProof="0" dirty="0">
                <a:latin typeface="Arial" panose="020B0604020202020204" pitchFamily="34" charset="0"/>
                <a:ea typeface="PMingLiU" pitchFamily="18" charset="-120"/>
                <a:cs typeface="+mn-cs"/>
              </a:rPr>
              <a:t> have 5 vertices, 6 edges, two vertices of deg 3, three vertices of deg 2, a 3-cycle, a 4-cycle, and a 5-cycle. </a:t>
            </a:r>
            <a:r>
              <a:rPr kumimoji="1" lang="en-US" altLang="zh-TW" sz="2600" kern="1200" cap="none" spc="0" normalizeH="0" baseline="0" noProof="0" dirty="0">
                <a:latin typeface="Arial" panose="020B0604020202020204" pitchFamily="34" charset="0"/>
                <a:ea typeface="PMingLiU" pitchFamily="18" charset="-120"/>
                <a:cs typeface="+mn-cs"/>
                <a:sym typeface="Symbol" panose="05050102010706020507"/>
              </a:rPr>
              <a:t>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G</a:t>
            </a:r>
            <a:r>
              <a:rPr kumimoji="1" lang="en-US" altLang="zh-TW" sz="2600" kern="1200" cap="none" spc="0" normalizeH="0" baseline="0" noProof="0" dirty="0">
                <a:latin typeface="Arial" panose="020B0604020202020204" pitchFamily="34" charset="0"/>
                <a:ea typeface="PMingLiU" pitchFamily="18" charset="-120"/>
                <a:cs typeface="+mn-cs"/>
              </a:rPr>
              <a:t> and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H</a:t>
            </a:r>
            <a:r>
              <a:rPr kumimoji="1" lang="en-US" altLang="zh-TW" sz="2600" kern="1200" cap="none" spc="0" normalizeH="0" baseline="0" noProof="0" dirty="0">
                <a:latin typeface="Arial" panose="020B0604020202020204" pitchFamily="34" charset="0"/>
                <a:ea typeface="PMingLiU" pitchFamily="18" charset="-120"/>
                <a:cs typeface="+mn-cs"/>
              </a:rPr>
              <a:t> </a:t>
            </a:r>
            <a:r>
              <a:rPr kumimoji="1" lang="en-US" altLang="zh-TW" sz="2600" kern="0" cap="none" spc="0" normalizeH="0" baseline="0" noProof="0" dirty="0">
                <a:latin typeface="Arial" panose="020B0604020202020204"/>
                <a:ea typeface="PMingLiU"/>
                <a:cs typeface="+mn-cs"/>
              </a:rPr>
              <a:t>may be isomorphic.</a:t>
            </a:r>
            <a:endParaRPr kumimoji="1" lang="en-US" altLang="zh-TW" sz="2600" kern="0" cap="none" spc="0" normalizeH="0" baseline="0" noProof="0" dirty="0">
              <a:latin typeface="Arial" panose="020B0604020202020204"/>
              <a:ea typeface="PMingLiU"/>
              <a:cs typeface="+mn-cs"/>
            </a:endParaRPr>
          </a:p>
          <a:p>
            <a:pPr marR="0" defTabSz="914400">
              <a:buClrTx/>
              <a:buSzTx/>
              <a:buFontTx/>
              <a:buNone/>
              <a:defRPr/>
            </a:pPr>
            <a:r>
              <a:rPr kumimoji="1" lang="en-US" altLang="zh-TW" sz="2600" kern="1200" cap="none" spc="0" normalizeH="0" baseline="0" noProof="0" dirty="0">
                <a:latin typeface="Arial" panose="020B0604020202020204" pitchFamily="34" charset="0"/>
                <a:ea typeface="PMingLiU" pitchFamily="18" charset="-120"/>
                <a:cs typeface="+mn-cs"/>
              </a:rPr>
              <a:t>The function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f </a:t>
            </a:r>
            <a:r>
              <a:rPr kumimoji="1" lang="en-US" altLang="zh-TW" sz="2600" kern="1200" cap="none" spc="0" normalizeH="0" baseline="0" noProof="0" dirty="0">
                <a:latin typeface="Arial" panose="020B0604020202020204" pitchFamily="34" charset="0"/>
                <a:ea typeface="PMingLiU" pitchFamily="18" charset="-120"/>
                <a:cs typeface="+mn-cs"/>
              </a:rPr>
              <a:t>with</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 f</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u</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1</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1</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f</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u</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2</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4</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f</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u</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3</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3</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b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b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f</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u</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4</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2</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and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f</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u</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5</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 =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2600" kern="1200" cap="none" spc="0" normalizeH="0" baseline="-25000" noProof="0" dirty="0">
                <a:latin typeface="Times New Roman" panose="02020603050405020304" pitchFamily="18" charset="0"/>
                <a:ea typeface="PMingLiU" pitchFamily="18" charset="-120"/>
                <a:cs typeface="Times New Roman" panose="02020603050405020304" pitchFamily="18" charset="0"/>
              </a:rPr>
              <a:t>5 </a:t>
            </a:r>
            <a:r>
              <a:rPr kumimoji="1" lang="en-US" altLang="zh-TW" sz="2600" kern="1200" cap="none" spc="0" normalizeH="0" baseline="0" noProof="0" dirty="0">
                <a:latin typeface="Arial" panose="020B0604020202020204" pitchFamily="34" charset="0"/>
                <a:ea typeface="PMingLiU" pitchFamily="18" charset="-120"/>
                <a:cs typeface="+mn-cs"/>
              </a:rPr>
              <a:t>is a one-to-one correspondence between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V</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G</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2600" kern="1200" cap="none" spc="0" normalizeH="0" baseline="0" noProof="0" dirty="0">
                <a:latin typeface="Arial" panose="020B0604020202020204" pitchFamily="34" charset="0"/>
                <a:ea typeface="PMingLiU" pitchFamily="18" charset="-120"/>
                <a:cs typeface="+mn-cs"/>
              </a:rPr>
              <a:t>and</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 V</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H</a:t>
            </a:r>
            <a:r>
              <a:rPr kumimoji="1" lang="en-US" altLang="zh-TW" sz="2600"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a:t>
            </a:r>
            <a:r>
              <a:rPr kumimoji="1" lang="en-US" altLang="zh-TW" sz="2600" kern="1200" cap="none" spc="0" normalizeH="0" baseline="0" noProof="0" dirty="0">
                <a:latin typeface="Arial" panose="020B0604020202020204" pitchFamily="34" charset="0"/>
                <a:ea typeface="PMingLiU" pitchFamily="18" charset="-120"/>
                <a:cs typeface="+mn-cs"/>
                <a:sym typeface="Symbol" panose="05050102010706020507"/>
              </a:rPr>
              <a:t> 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G</a:t>
            </a:r>
            <a:r>
              <a:rPr kumimoji="1" lang="en-US" altLang="zh-TW" sz="2600" kern="1200" cap="none" spc="0" normalizeH="0" baseline="0" noProof="0" dirty="0">
                <a:latin typeface="Arial" panose="020B0604020202020204" pitchFamily="34" charset="0"/>
                <a:ea typeface="PMingLiU" pitchFamily="18" charset="-120"/>
                <a:cs typeface="+mn-cs"/>
              </a:rPr>
              <a:t> and </a:t>
            </a:r>
            <a:r>
              <a:rPr kumimoji="1" lang="en-US" altLang="zh-TW" sz="2600" i="1" kern="1200" cap="none" spc="0" normalizeH="0" baseline="0" noProof="0" dirty="0">
                <a:latin typeface="Times New Roman" panose="02020603050405020304" pitchFamily="18" charset="0"/>
                <a:ea typeface="PMingLiU" pitchFamily="18" charset="-120"/>
                <a:cs typeface="Times New Roman" panose="02020603050405020304" pitchFamily="18" charset="0"/>
              </a:rPr>
              <a:t>H</a:t>
            </a:r>
            <a:r>
              <a:rPr kumimoji="1" lang="en-US" altLang="zh-TW" sz="2600" kern="1200" cap="none" spc="0" normalizeH="0" baseline="0" noProof="0" dirty="0">
                <a:latin typeface="Arial" panose="020B0604020202020204" pitchFamily="34" charset="0"/>
                <a:ea typeface="PMingLiU" pitchFamily="18" charset="-120"/>
                <a:cs typeface="+mn-cs"/>
              </a:rPr>
              <a:t> </a:t>
            </a:r>
            <a:r>
              <a:rPr kumimoji="1" lang="en-US" altLang="zh-TW" sz="2600" kern="0" cap="none" spc="0" normalizeH="0" baseline="0" noProof="0" dirty="0">
                <a:latin typeface="Arial" panose="020B0604020202020204"/>
                <a:ea typeface="PMingLiU"/>
                <a:cs typeface="+mn-cs"/>
              </a:rPr>
              <a:t>are isomorphic.</a:t>
            </a:r>
            <a:endParaRPr kumimoji="1" lang="en-US" altLang="zh-TW" sz="2600" kern="1200" cap="none" spc="0" normalizeH="0" baseline="0" noProof="0" dirty="0">
              <a:latin typeface="Arial" panose="020B0604020202020204" pitchFamily="34" charset="0"/>
              <a:ea typeface="PMingLiU" pitchFamily="18" charset="-120"/>
              <a:cs typeface="+mn-cs"/>
            </a:endParaRPr>
          </a:p>
        </p:txBody>
      </p:sp>
      <p:sp>
        <p:nvSpPr>
          <p:cNvPr id="49190" name="矩形 61"/>
          <p:cNvSpPr/>
          <p:nvPr/>
        </p:nvSpPr>
        <p:spPr>
          <a:xfrm>
            <a:off x="304800" y="2971800"/>
            <a:ext cx="94138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a:t>
            </a:r>
            <a:r>
              <a:rPr lang="en-US" altLang="zh-TW" sz="2800" dirty="0">
                <a:solidFill>
                  <a:srgbClr val="008000"/>
                </a:solidFill>
              </a:rPr>
              <a:t> </a:t>
            </a:r>
            <a:endParaRPr lang="zh-TW" altLang="en-US" sz="1800" dirty="0">
              <a:solidFill>
                <a:srgbClr val="008000"/>
              </a:solidFill>
            </a:endParaRPr>
          </a:p>
        </p:txBody>
      </p:sp>
      <p:sp>
        <p:nvSpPr>
          <p:cNvPr id="40" name="矩形 39"/>
          <p:cNvSpPr/>
          <p:nvPr/>
        </p:nvSpPr>
        <p:spPr>
          <a:xfrm>
            <a:off x="381000" y="6172200"/>
            <a:ext cx="2581275"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19, 20</a:t>
            </a:r>
            <a:endParaRPr lang="zh-TW" altLang="en-US" sz="2400" dirty="0">
              <a:solidFill>
                <a:srgbClr val="0000CC"/>
              </a:solidFill>
            </a:endParaRPr>
          </a:p>
        </p:txBody>
      </p:sp>
      <p:sp>
        <p:nvSpPr>
          <p:cNvPr id="49192" name="投影片編號版面配置區 40"/>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xEl>
                                              <p:charRg st="0" end="153"/>
                                            </p:txEl>
                                          </p:spTgt>
                                        </p:tgtEl>
                                        <p:attrNameLst>
                                          <p:attrName>style.visibility</p:attrName>
                                        </p:attrNameLst>
                                      </p:cBhvr>
                                      <p:to>
                                        <p:strVal val="visible"/>
                                      </p:to>
                                    </p:set>
                                    <p:anim calcmode="lin" valueType="num">
                                      <p:cBhvr additive="base">
                                        <p:cTn id="7" dur="500" fill="hold"/>
                                        <p:tgtEl>
                                          <p:spTgt spid="38">
                                            <p:txEl>
                                              <p:charRg st="0" end="15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
                                            <p:txEl>
                                              <p:charRg st="0" end="15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
                                            <p:txEl>
                                              <p:charRg st="153" end="318"/>
                                            </p:txEl>
                                          </p:spTgt>
                                        </p:tgtEl>
                                        <p:attrNameLst>
                                          <p:attrName>style.visibility</p:attrName>
                                        </p:attrNameLst>
                                      </p:cBhvr>
                                      <p:to>
                                        <p:strVal val="visible"/>
                                      </p:to>
                                    </p:set>
                                    <p:anim calcmode="lin" valueType="num">
                                      <p:cBhvr additive="base">
                                        <p:cTn id="13" dur="500" fill="hold"/>
                                        <p:tgtEl>
                                          <p:spTgt spid="38">
                                            <p:txEl>
                                              <p:charRg st="153" end="31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
                                            <p:txEl>
                                              <p:charRg st="153" end="31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500" fill="hold"/>
                                        <p:tgtEl>
                                          <p:spTgt spid="40"/>
                                        </p:tgtEl>
                                        <p:attrNameLst>
                                          <p:attrName>ppt_x</p:attrName>
                                        </p:attrNameLst>
                                      </p:cBhvr>
                                      <p:tavLst>
                                        <p:tav tm="0">
                                          <p:val>
                                            <p:strVal val="#ppt_x"/>
                                          </p:val>
                                        </p:tav>
                                        <p:tav tm="100000">
                                          <p:val>
                                            <p:strVal val="#ppt_x"/>
                                          </p:val>
                                        </p:tav>
                                      </p:tavLst>
                                    </p:anim>
                                    <p:anim calcmode="lin" valueType="num">
                                      <p:cBhvr additive="base">
                                        <p:cTn id="2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457200" y="457200"/>
            <a:ext cx="8229600" cy="685800"/>
          </a:xfrm>
        </p:spPr>
        <p:txBody>
          <a:bodyPr vert="horz" wrap="square" lIns="91440" tIns="45720" rIns="91440" bIns="45720" anchor="ctr"/>
          <a:p>
            <a:pPr eaLnBrk="1" hangingPunct="1"/>
            <a:r>
              <a:rPr lang="en-US" altLang="zh-TW" sz="3200" b="1" u="sng" dirty="0">
                <a:solidFill>
                  <a:srgbClr val="008000"/>
                </a:solidFill>
              </a:rPr>
              <a:t>Counting Paths between Vertices</a:t>
            </a:r>
            <a:endParaRPr lang="en-US" altLang="zh-TW" sz="3200" b="1" u="sng" dirty="0">
              <a:solidFill>
                <a:srgbClr val="008000"/>
              </a:solidFill>
            </a:endParaRPr>
          </a:p>
        </p:txBody>
      </p:sp>
      <p:sp>
        <p:nvSpPr>
          <p:cNvPr id="50179" name="Rectangle 3"/>
          <p:cNvSpPr>
            <a:spLocks noGrp="1"/>
          </p:cNvSpPr>
          <p:nvPr>
            <p:ph type="body"/>
          </p:nvPr>
        </p:nvSpPr>
        <p:spPr>
          <a:xfrm>
            <a:off x="381000" y="1219200"/>
            <a:ext cx="8229600" cy="1676400"/>
          </a:xfrm>
          <a:ln>
            <a:solidFill>
              <a:schemeClr val="tx1">
                <a:alpha val="100000"/>
              </a:schemeClr>
            </a:solidFill>
            <a:miter lim="800000"/>
          </a:ln>
        </p:spPr>
        <p:txBody>
          <a:bodyPr vert="horz" wrap="square" lIns="91440" tIns="45720" rIns="91440" bIns="45720" anchor="t"/>
          <a:p>
            <a:pPr eaLnBrk="1" hangingPunct="1">
              <a:buNone/>
            </a:pPr>
            <a:r>
              <a:rPr lang="en-US" altLang="zh-TW" sz="2400" b="1" dirty="0">
                <a:solidFill>
                  <a:srgbClr val="FF0000"/>
                </a:solidFill>
              </a:rPr>
              <a:t>Theorem 2: </a:t>
            </a:r>
            <a:br>
              <a:rPr lang="en-US" altLang="zh-TW" sz="2400" b="1" dirty="0">
                <a:solidFill>
                  <a:srgbClr val="FF0000"/>
                </a:solidFill>
              </a:rPr>
            </a:br>
            <a:r>
              <a:rPr lang="en-US" altLang="zh-TW" sz="2400" dirty="0"/>
              <a:t>Let </a:t>
            </a:r>
            <a:r>
              <a:rPr lang="en-US" altLang="zh-TW" sz="2400" i="1" dirty="0">
                <a:latin typeface="Times New Roman" panose="02020603050405020304" pitchFamily="18" charset="0"/>
                <a:cs typeface="Times New Roman" panose="02020603050405020304" pitchFamily="18" charset="0"/>
              </a:rPr>
              <a:t>G </a:t>
            </a:r>
            <a:r>
              <a:rPr lang="en-US" altLang="zh-TW" sz="2400" dirty="0"/>
              <a:t>be a graph with adjacency matrix </a:t>
            </a:r>
            <a:r>
              <a:rPr lang="en-US" altLang="zh-TW" sz="2400" i="1" dirty="0">
                <a:latin typeface="Times New Roman" panose="02020603050405020304" pitchFamily="18" charset="0"/>
                <a:cs typeface="Times New Roman" panose="02020603050405020304" pitchFamily="18" charset="0"/>
              </a:rPr>
              <a:t>A </a:t>
            </a:r>
            <a:r>
              <a:rPr lang="en-US" altLang="zh-TW" sz="2400" dirty="0"/>
              <a:t>with respect to the ordering </a:t>
            </a: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ea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v</a:t>
            </a:r>
            <a:r>
              <a:rPr lang="en-US" altLang="zh-TW" sz="2400" i="1" baseline="-25000" dirty="0">
                <a:latin typeface="Times New Roman" panose="02020603050405020304" pitchFamily="18" charset="0"/>
                <a:cs typeface="Times New Roman" panose="02020603050405020304" pitchFamily="18" charset="0"/>
              </a:rPr>
              <a:t>n</a:t>
            </a:r>
            <a:r>
              <a:rPr lang="en-US" altLang="zh-TW" sz="2400" dirty="0"/>
              <a:t>. The number of paths (</a:t>
            </a:r>
            <a:r>
              <a:rPr lang="en-US" altLang="zh-TW" sz="2400" dirty="0">
                <a:solidFill>
                  <a:srgbClr val="0000CC"/>
                </a:solidFill>
              </a:rPr>
              <a:t>walks</a:t>
            </a:r>
            <a:r>
              <a:rPr lang="en-US" altLang="zh-TW" sz="2400" dirty="0"/>
              <a:t>) of length </a:t>
            </a:r>
            <a:r>
              <a:rPr lang="en-US" altLang="zh-TW" sz="2400" i="1" dirty="0">
                <a:solidFill>
                  <a:srgbClr val="FF0000"/>
                </a:solidFill>
                <a:latin typeface="Times New Roman" panose="02020603050405020304" pitchFamily="18" charset="0"/>
                <a:cs typeface="Times New Roman" panose="02020603050405020304" pitchFamily="18" charset="0"/>
              </a:rPr>
              <a:t>r</a:t>
            </a:r>
            <a:r>
              <a:rPr lang="en-US" altLang="zh-TW" sz="2400" dirty="0">
                <a:solidFill>
                  <a:srgbClr val="FF0000"/>
                </a:solidFill>
              </a:rPr>
              <a:t> </a:t>
            </a:r>
            <a:r>
              <a:rPr lang="en-US" altLang="zh-TW" sz="2400" dirty="0"/>
              <a:t>from </a:t>
            </a:r>
            <a:r>
              <a:rPr lang="en-US" altLang="zh-TW" sz="2400" i="1" dirty="0">
                <a:latin typeface="Times New Roman" panose="02020603050405020304" pitchFamily="18" charset="0"/>
                <a:cs typeface="Times New Roman" panose="02020603050405020304" pitchFamily="18" charset="0"/>
              </a:rPr>
              <a:t>v</a:t>
            </a:r>
            <a:r>
              <a:rPr lang="en-US" altLang="zh-TW" sz="2400" i="1" baseline="-25000" dirty="0">
                <a:latin typeface="Times New Roman" panose="02020603050405020304" pitchFamily="18" charset="0"/>
                <a:cs typeface="Times New Roman" panose="02020603050405020304" pitchFamily="18" charset="0"/>
              </a:rPr>
              <a:t>i</a:t>
            </a:r>
            <a:r>
              <a:rPr lang="en-US" altLang="zh-TW" sz="2400" i="1" dirty="0">
                <a:latin typeface="Times New Roman" panose="02020603050405020304" pitchFamily="18" charset="0"/>
                <a:cs typeface="Times New Roman" panose="02020603050405020304" pitchFamily="18" charset="0"/>
              </a:rPr>
              <a:t> </a:t>
            </a:r>
            <a:r>
              <a:rPr lang="en-US" altLang="zh-TW" sz="2400" dirty="0"/>
              <a:t>to </a:t>
            </a:r>
            <a:r>
              <a:rPr lang="en-US" altLang="zh-TW" sz="2400" i="1" dirty="0">
                <a:latin typeface="Times New Roman" panose="02020603050405020304" pitchFamily="18" charset="0"/>
                <a:cs typeface="Times New Roman" panose="02020603050405020304" pitchFamily="18" charset="0"/>
              </a:rPr>
              <a:t>v</a:t>
            </a:r>
            <a:r>
              <a:rPr lang="en-US" altLang="zh-TW" sz="2400" i="1" baseline="-25000" dirty="0">
                <a:latin typeface="Times New Roman" panose="02020603050405020304" pitchFamily="18" charset="0"/>
                <a:cs typeface="Times New Roman" panose="02020603050405020304" pitchFamily="18" charset="0"/>
              </a:rPr>
              <a:t>j</a:t>
            </a:r>
            <a:r>
              <a:rPr lang="en-US" altLang="zh-TW" sz="2400" dirty="0"/>
              <a:t> is equal to </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A</a:t>
            </a:r>
            <a:r>
              <a:rPr lang="en-US" altLang="zh-TW" sz="2400" i="1" baseline="30000" dirty="0">
                <a:solidFill>
                  <a:srgbClr val="FF0000"/>
                </a:solidFill>
                <a:latin typeface="Times New Roman" panose="02020603050405020304" pitchFamily="18" charset="0"/>
                <a:cs typeface="Times New Roman" panose="02020603050405020304" pitchFamily="18" charset="0"/>
              </a:rPr>
              <a:t>r</a:t>
            </a:r>
            <a:r>
              <a:rPr lang="en-US" altLang="zh-TW" sz="2400" dirty="0">
                <a:latin typeface="Times New Roman" panose="02020603050405020304" pitchFamily="18" charset="0"/>
                <a:cs typeface="Times New Roman" panose="02020603050405020304" pitchFamily="18" charset="0"/>
              </a:rPr>
              <a:t>)</a:t>
            </a:r>
            <a:r>
              <a:rPr lang="en-US" altLang="zh-TW" sz="2400" i="1" baseline="-25000" dirty="0">
                <a:latin typeface="Times New Roman" panose="02020603050405020304" pitchFamily="18" charset="0"/>
                <a:cs typeface="Times New Roman" panose="02020603050405020304" pitchFamily="18" charset="0"/>
              </a:rPr>
              <a:t>i,j</a:t>
            </a:r>
            <a:r>
              <a:rPr lang="en-US" altLang="zh-TW" sz="2400" dirty="0"/>
              <a:t>.</a:t>
            </a:r>
            <a:endParaRPr lang="en-US" altLang="zh-TW" sz="2400" dirty="0"/>
          </a:p>
        </p:txBody>
      </p:sp>
      <p:sp>
        <p:nvSpPr>
          <p:cNvPr id="50180" name="投影片編號版面配置區 6"/>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矩形 4"/>
          <p:cNvSpPr/>
          <p:nvPr/>
        </p:nvSpPr>
        <p:spPr>
          <a:xfrm>
            <a:off x="381000" y="2971800"/>
            <a:ext cx="11477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8000"/>
                </a:solidFill>
              </a:rPr>
              <a:t>Proof  </a:t>
            </a:r>
            <a:endParaRPr lang="zh-TW" altLang="en-US" sz="2400" dirty="0">
              <a:solidFill>
                <a:srgbClr val="008000"/>
              </a:solidFill>
            </a:endParaRPr>
          </a:p>
        </p:txBody>
      </p:sp>
      <p:grpSp>
        <p:nvGrpSpPr>
          <p:cNvPr id="2" name="群組 63"/>
          <p:cNvGrpSpPr/>
          <p:nvPr/>
        </p:nvGrpSpPr>
        <p:grpSpPr>
          <a:xfrm>
            <a:off x="1600200" y="5410200"/>
            <a:ext cx="1212850" cy="900113"/>
            <a:chOff x="1600200" y="5257800"/>
            <a:chExt cx="1212894" cy="899559"/>
          </a:xfrm>
        </p:grpSpPr>
        <p:sp>
          <p:nvSpPr>
            <p:cNvPr id="50211" name="Oval 7"/>
            <p:cNvSpPr/>
            <p:nvPr/>
          </p:nvSpPr>
          <p:spPr>
            <a:xfrm>
              <a:off x="1884077" y="5897850"/>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16" name="直線接點 15"/>
            <p:cNvCxnSpPr/>
            <p:nvPr/>
          </p:nvCxnSpPr>
          <p:spPr>
            <a:xfrm flipV="1">
              <a:off x="1981214" y="5714719"/>
              <a:ext cx="706464" cy="258604"/>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50213" name="Oval 7"/>
            <p:cNvSpPr/>
            <p:nvPr/>
          </p:nvSpPr>
          <p:spPr>
            <a:xfrm>
              <a:off x="2590800" y="5638800"/>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50214" name="文字方塊 40"/>
            <p:cNvSpPr txBox="1"/>
            <p:nvPr/>
          </p:nvSpPr>
          <p:spPr>
            <a:xfrm>
              <a:off x="1600200" y="5790872"/>
              <a:ext cx="247659" cy="3664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i</a:t>
              </a:r>
              <a:endParaRPr lang="zh-TW" altLang="en-US" sz="1800" dirty="0">
                <a:latin typeface="Times New Roman" panose="02020603050405020304" pitchFamily="18" charset="0"/>
                <a:ea typeface="Times New Roman" panose="02020603050405020304" pitchFamily="18" charset="0"/>
              </a:endParaRPr>
            </a:p>
          </p:txBody>
        </p:sp>
        <p:sp>
          <p:nvSpPr>
            <p:cNvPr id="50215" name="文字方塊 41"/>
            <p:cNvSpPr txBox="1"/>
            <p:nvPr/>
          </p:nvSpPr>
          <p:spPr>
            <a:xfrm>
              <a:off x="2514634" y="5257800"/>
              <a:ext cx="298460" cy="3664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a</a:t>
              </a:r>
              <a:endParaRPr lang="zh-TW" altLang="en-US" sz="1800" dirty="0">
                <a:latin typeface="Times New Roman" panose="02020603050405020304" pitchFamily="18" charset="0"/>
                <a:ea typeface="Times New Roman" panose="02020603050405020304" pitchFamily="18" charset="0"/>
              </a:endParaRPr>
            </a:p>
          </p:txBody>
        </p:sp>
      </p:grpSp>
      <p:cxnSp>
        <p:nvCxnSpPr>
          <p:cNvPr id="48" name="直線單箭頭接點 47"/>
          <p:cNvCxnSpPr/>
          <p:nvPr/>
        </p:nvCxnSpPr>
        <p:spPr>
          <a:xfrm rot="16200000" flipH="1">
            <a:off x="1372394" y="5258594"/>
            <a:ext cx="1143000" cy="379413"/>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3" name="群組 64"/>
          <p:cNvGrpSpPr/>
          <p:nvPr/>
        </p:nvGrpSpPr>
        <p:grpSpPr>
          <a:xfrm>
            <a:off x="2713038" y="4419600"/>
            <a:ext cx="1096962" cy="1890713"/>
            <a:chOff x="2712750" y="4267200"/>
            <a:chExt cx="1097250" cy="1890158"/>
          </a:xfrm>
        </p:grpSpPr>
        <p:sp>
          <p:nvSpPr>
            <p:cNvPr id="50207" name="文字方塊 7"/>
            <p:cNvSpPr txBox="1"/>
            <p:nvPr/>
          </p:nvSpPr>
          <p:spPr>
            <a:xfrm>
              <a:off x="3428900" y="5790753"/>
              <a:ext cx="247715" cy="3666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j</a:t>
              </a:r>
              <a:endParaRPr lang="zh-TW" altLang="en-US" sz="1800" dirty="0">
                <a:latin typeface="Times New Roman" panose="02020603050405020304" pitchFamily="18" charset="0"/>
                <a:ea typeface="Times New Roman" panose="02020603050405020304" pitchFamily="18" charset="0"/>
              </a:endParaRPr>
            </a:p>
          </p:txBody>
        </p:sp>
        <p:cxnSp>
          <p:nvCxnSpPr>
            <p:cNvPr id="21" name="直線接點 20"/>
            <p:cNvCxnSpPr>
              <a:stCxn id="50213" idx="5"/>
              <a:endCxn id="50209" idx="1"/>
            </p:cNvCxnSpPr>
            <p:nvPr/>
          </p:nvCxnSpPr>
          <p:spPr>
            <a:xfrm rot="16200000" flipH="1">
              <a:off x="2903357" y="5569994"/>
              <a:ext cx="203140" cy="584353"/>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50209" name="Oval 7"/>
            <p:cNvSpPr/>
            <p:nvPr/>
          </p:nvSpPr>
          <p:spPr>
            <a:xfrm>
              <a:off x="3276600" y="5943600"/>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54" name="直線單箭頭接點 53"/>
            <p:cNvCxnSpPr/>
            <p:nvPr/>
          </p:nvCxnSpPr>
          <p:spPr>
            <a:xfrm rot="5400000">
              <a:off x="2629015" y="4609766"/>
              <a:ext cx="1523553" cy="838420"/>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 name="群組 65"/>
          <p:cNvGrpSpPr/>
          <p:nvPr/>
        </p:nvGrpSpPr>
        <p:grpSpPr>
          <a:xfrm>
            <a:off x="2006600" y="4876800"/>
            <a:ext cx="730250" cy="1978025"/>
            <a:chOff x="2006027" y="4724400"/>
            <a:chExt cx="730866" cy="1978025"/>
          </a:xfrm>
        </p:grpSpPr>
        <p:sp>
          <p:nvSpPr>
            <p:cNvPr id="50203" name="Oval 7"/>
            <p:cNvSpPr/>
            <p:nvPr/>
          </p:nvSpPr>
          <p:spPr>
            <a:xfrm>
              <a:off x="2590800" y="6248400"/>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30" name="直線接點 29"/>
            <p:cNvCxnSpPr>
              <a:stCxn id="50211" idx="5"/>
              <a:endCxn id="50203" idx="5"/>
            </p:cNvCxnSpPr>
            <p:nvPr/>
          </p:nvCxnSpPr>
          <p:spPr>
            <a:xfrm rot="16200000" flipH="1">
              <a:off x="2184125" y="5841702"/>
              <a:ext cx="350838" cy="707034"/>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50205" name="文字方塊 9"/>
            <p:cNvSpPr txBox="1"/>
            <p:nvPr/>
          </p:nvSpPr>
          <p:spPr>
            <a:xfrm>
              <a:off x="2438191" y="6335713"/>
              <a:ext cx="29870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b</a:t>
              </a:r>
              <a:endParaRPr lang="zh-TW" altLang="en-US" sz="1800" dirty="0">
                <a:latin typeface="Times New Roman" panose="02020603050405020304" pitchFamily="18" charset="0"/>
                <a:ea typeface="Times New Roman" panose="02020603050405020304" pitchFamily="18" charset="0"/>
              </a:endParaRPr>
            </a:p>
          </p:txBody>
        </p:sp>
        <p:cxnSp>
          <p:nvCxnSpPr>
            <p:cNvPr id="51" name="直線單箭頭接點 50"/>
            <p:cNvCxnSpPr/>
            <p:nvPr/>
          </p:nvCxnSpPr>
          <p:spPr>
            <a:xfrm rot="5400000">
              <a:off x="1637995" y="5372068"/>
              <a:ext cx="1371600" cy="76264"/>
            </a:xfrm>
            <a:prstGeom prst="straightConnector1">
              <a:avLst/>
            </a:prstGeom>
            <a:ln>
              <a:solidFill>
                <a:srgbClr val="0000CC"/>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6" name="群組 66"/>
          <p:cNvGrpSpPr/>
          <p:nvPr/>
        </p:nvGrpSpPr>
        <p:grpSpPr>
          <a:xfrm>
            <a:off x="2743200" y="5257800"/>
            <a:ext cx="1066800" cy="1219200"/>
            <a:chOff x="2743200" y="5105400"/>
            <a:chExt cx="1066800" cy="1219200"/>
          </a:xfrm>
        </p:grpSpPr>
        <p:cxnSp>
          <p:nvCxnSpPr>
            <p:cNvPr id="34" name="直線接點 33"/>
            <p:cNvCxnSpPr>
              <a:endCxn id="50209" idx="3"/>
            </p:cNvCxnSpPr>
            <p:nvPr/>
          </p:nvCxnSpPr>
          <p:spPr>
            <a:xfrm flipV="1">
              <a:off x="2743200" y="6065838"/>
              <a:ext cx="554038" cy="258762"/>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p:nvPr/>
          </p:nvCxnSpPr>
          <p:spPr>
            <a:xfrm rot="5400000">
              <a:off x="2857500" y="5219700"/>
              <a:ext cx="1066800" cy="838200"/>
            </a:xfrm>
            <a:prstGeom prst="straightConnector1">
              <a:avLst/>
            </a:prstGeom>
            <a:ln>
              <a:solidFill>
                <a:srgbClr val="0000CC"/>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62" name="橢圓 61"/>
          <p:cNvSpPr/>
          <p:nvPr/>
        </p:nvSpPr>
        <p:spPr>
          <a:xfrm>
            <a:off x="5638800" y="4648200"/>
            <a:ext cx="304800" cy="304800"/>
          </a:xfrm>
          <a:prstGeom prst="ellipse">
            <a:avLst/>
          </a:prstGeom>
          <a:ln>
            <a:solidFill>
              <a:srgbClr val="FF0000"/>
            </a:solidFill>
          </a:ln>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2800" b="1" i="0" u="none" strike="noStrike" kern="0" cap="none" spc="0" normalizeH="0" baseline="0" noProof="0" dirty="0" err="1">
              <a:ln>
                <a:noFill/>
              </a:ln>
              <a:solidFill>
                <a:srgbClr val="008000"/>
              </a:solidFill>
              <a:effectLst/>
              <a:uLnTx/>
              <a:uFillTx/>
              <a:latin typeface="Arial" panose="020B0604020202020204"/>
              <a:ea typeface="PMingLiU"/>
              <a:cs typeface="+mn-cs"/>
            </a:endParaRPr>
          </a:p>
        </p:txBody>
      </p:sp>
      <p:grpSp>
        <p:nvGrpSpPr>
          <p:cNvPr id="7" name="群組 70"/>
          <p:cNvGrpSpPr/>
          <p:nvPr/>
        </p:nvGrpSpPr>
        <p:grpSpPr>
          <a:xfrm>
            <a:off x="762000" y="3276600"/>
            <a:ext cx="5715000" cy="2532063"/>
            <a:chOff x="762000" y="3124200"/>
            <a:chExt cx="5715000" cy="2532493"/>
          </a:xfrm>
        </p:grpSpPr>
        <p:graphicFrame>
          <p:nvGraphicFramePr>
            <p:cNvPr id="50189" name="Object 5"/>
            <p:cNvGraphicFramePr>
              <a:graphicFrameLocks noChangeAspect="1"/>
            </p:cNvGraphicFramePr>
            <p:nvPr/>
          </p:nvGraphicFramePr>
          <p:xfrm>
            <a:off x="990600" y="3657600"/>
            <a:ext cx="5486400" cy="1999093"/>
          </p:xfrm>
          <a:graphic>
            <a:graphicData uri="http://schemas.openxmlformats.org/presentationml/2006/ole">
              <mc:AlternateContent xmlns:mc="http://schemas.openxmlformats.org/markup-compatibility/2006">
                <mc:Choice xmlns:v="urn:schemas-microsoft-com:vml" Requires="v">
                  <p:oleObj spid="_x0000_s3086" name="" r:id="rId1" imgW="3136900" imgH="1143000" progId="Equation.3">
                    <p:embed/>
                  </p:oleObj>
                </mc:Choice>
                <mc:Fallback>
                  <p:oleObj name="" r:id="rId1" imgW="3136900" imgH="1143000" progId="Equation.3">
                    <p:embed/>
                    <p:pic>
                      <p:nvPicPr>
                        <p:cNvPr id="0" name="图片 3085"/>
                        <p:cNvPicPr/>
                        <p:nvPr/>
                      </p:nvPicPr>
                      <p:blipFill>
                        <a:blip r:embed="rId2"/>
                        <a:stretch>
                          <a:fillRect/>
                        </a:stretch>
                      </p:blipFill>
                      <p:spPr>
                        <a:xfrm>
                          <a:off x="990600" y="3657600"/>
                          <a:ext cx="5486400" cy="1999093"/>
                        </a:xfrm>
                        <a:prstGeom prst="rect">
                          <a:avLst/>
                        </a:prstGeom>
                        <a:noFill/>
                        <a:ln w="38100">
                          <a:noFill/>
                          <a:miter/>
                        </a:ln>
                      </p:spPr>
                    </p:pic>
                  </p:oleObj>
                </mc:Fallback>
              </mc:AlternateContent>
            </a:graphicData>
          </a:graphic>
        </p:graphicFrame>
        <p:sp>
          <p:nvSpPr>
            <p:cNvPr id="50190" name="文字方塊 6"/>
            <p:cNvSpPr txBox="1"/>
            <p:nvPr/>
          </p:nvSpPr>
          <p:spPr>
            <a:xfrm>
              <a:off x="762000" y="4419600"/>
              <a:ext cx="248786"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i</a:t>
              </a:r>
              <a:endParaRPr lang="zh-TW" altLang="en-US" sz="1800" dirty="0">
                <a:latin typeface="Times New Roman" panose="02020603050405020304" pitchFamily="18" charset="0"/>
                <a:ea typeface="Times New Roman" panose="02020603050405020304" pitchFamily="18" charset="0"/>
              </a:endParaRPr>
            </a:p>
          </p:txBody>
        </p:sp>
        <p:sp>
          <p:nvSpPr>
            <p:cNvPr id="50191" name="文字方塊 8"/>
            <p:cNvSpPr txBox="1"/>
            <p:nvPr/>
          </p:nvSpPr>
          <p:spPr>
            <a:xfrm>
              <a:off x="1447800" y="3657691"/>
              <a:ext cx="298450" cy="3667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a</a:t>
              </a:r>
              <a:endParaRPr lang="zh-TW" altLang="en-US" sz="1800" dirty="0">
                <a:latin typeface="Times New Roman" panose="02020603050405020304" pitchFamily="18" charset="0"/>
                <a:ea typeface="Times New Roman" panose="02020603050405020304" pitchFamily="18" charset="0"/>
              </a:endParaRPr>
            </a:p>
          </p:txBody>
        </p:sp>
        <p:sp>
          <p:nvSpPr>
            <p:cNvPr id="50192" name="文字方塊 10"/>
            <p:cNvSpPr txBox="1"/>
            <p:nvPr/>
          </p:nvSpPr>
          <p:spPr>
            <a:xfrm>
              <a:off x="3048000" y="4038755"/>
              <a:ext cx="298450" cy="3667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a</a:t>
              </a:r>
              <a:endParaRPr lang="zh-TW" altLang="en-US" sz="1800" dirty="0">
                <a:latin typeface="Times New Roman" panose="02020603050405020304" pitchFamily="18" charset="0"/>
                <a:ea typeface="Times New Roman" panose="02020603050405020304" pitchFamily="18" charset="0"/>
              </a:endParaRPr>
            </a:p>
          </p:txBody>
        </p:sp>
        <p:sp>
          <p:nvSpPr>
            <p:cNvPr id="50193" name="文字方塊 11"/>
            <p:cNvSpPr txBox="1"/>
            <p:nvPr/>
          </p:nvSpPr>
          <p:spPr>
            <a:xfrm>
              <a:off x="3048000" y="4888212"/>
              <a:ext cx="298450" cy="3667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b</a:t>
              </a:r>
              <a:endParaRPr lang="zh-TW" altLang="en-US" sz="1800" dirty="0">
                <a:latin typeface="Times New Roman" panose="02020603050405020304" pitchFamily="18" charset="0"/>
                <a:ea typeface="Times New Roman" panose="02020603050405020304" pitchFamily="18" charset="0"/>
              </a:endParaRPr>
            </a:p>
          </p:txBody>
        </p:sp>
        <p:sp>
          <p:nvSpPr>
            <p:cNvPr id="50194" name="文字方塊 12"/>
            <p:cNvSpPr txBox="1"/>
            <p:nvPr/>
          </p:nvSpPr>
          <p:spPr>
            <a:xfrm>
              <a:off x="5638800" y="3657691"/>
              <a:ext cx="247650" cy="3667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j</a:t>
              </a:r>
              <a:endParaRPr lang="zh-TW" altLang="en-US" sz="1800" dirty="0">
                <a:latin typeface="Times New Roman" panose="02020603050405020304" pitchFamily="18" charset="0"/>
                <a:ea typeface="Times New Roman" panose="02020603050405020304" pitchFamily="18" charset="0"/>
              </a:endParaRPr>
            </a:p>
          </p:txBody>
        </p:sp>
        <p:sp>
          <p:nvSpPr>
            <p:cNvPr id="50195" name="文字方塊 13"/>
            <p:cNvSpPr txBox="1"/>
            <p:nvPr/>
          </p:nvSpPr>
          <p:spPr>
            <a:xfrm>
              <a:off x="4876800" y="4495800"/>
              <a:ext cx="248786"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i</a:t>
              </a:r>
              <a:endParaRPr lang="zh-TW" altLang="en-US" sz="1800" dirty="0">
                <a:latin typeface="Times New Roman" panose="02020603050405020304" pitchFamily="18" charset="0"/>
                <a:ea typeface="Times New Roman" panose="02020603050405020304" pitchFamily="18" charset="0"/>
              </a:endParaRPr>
            </a:p>
          </p:txBody>
        </p:sp>
        <p:sp>
          <p:nvSpPr>
            <p:cNvPr id="50196" name="文字方塊 42"/>
            <p:cNvSpPr txBox="1"/>
            <p:nvPr/>
          </p:nvSpPr>
          <p:spPr>
            <a:xfrm>
              <a:off x="3810000" y="3352839"/>
              <a:ext cx="247650" cy="3667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j</a:t>
              </a:r>
              <a:endParaRPr lang="zh-TW" altLang="en-US" sz="1800" dirty="0">
                <a:latin typeface="Times New Roman" panose="02020603050405020304" pitchFamily="18" charset="0"/>
                <a:ea typeface="Times New Roman" panose="02020603050405020304" pitchFamily="18" charset="0"/>
              </a:endParaRPr>
            </a:p>
          </p:txBody>
        </p:sp>
        <p:sp>
          <p:nvSpPr>
            <p:cNvPr id="50197" name="文字方塊 43"/>
            <p:cNvSpPr txBox="1"/>
            <p:nvPr/>
          </p:nvSpPr>
          <p:spPr>
            <a:xfrm>
              <a:off x="2286000" y="3657691"/>
              <a:ext cx="298450" cy="3667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cs typeface="Times New Roman" panose="02020603050405020304" pitchFamily="18" charset="0"/>
                </a:rPr>
                <a:t>b</a:t>
              </a:r>
              <a:endParaRPr lang="zh-TW" altLang="en-US" sz="1800" dirty="0">
                <a:latin typeface="Times New Roman" panose="02020603050405020304" pitchFamily="18" charset="0"/>
                <a:ea typeface="Times New Roman" panose="02020603050405020304" pitchFamily="18" charset="0"/>
              </a:endParaRPr>
            </a:p>
          </p:txBody>
        </p:sp>
        <p:sp>
          <p:nvSpPr>
            <p:cNvPr id="50198" name="文字方塊 67"/>
            <p:cNvSpPr txBox="1"/>
            <p:nvPr/>
          </p:nvSpPr>
          <p:spPr>
            <a:xfrm>
              <a:off x="1905000" y="3276626"/>
              <a:ext cx="339725" cy="3969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solidFill>
                    <a:srgbClr val="0000CC"/>
                  </a:solidFill>
                  <a:latin typeface="Times New Roman" panose="02020603050405020304" pitchFamily="18" charset="0"/>
                  <a:cs typeface="Times New Roman" panose="02020603050405020304" pitchFamily="18" charset="0"/>
                </a:rPr>
                <a:t>A</a:t>
              </a:r>
              <a:endParaRPr lang="zh-TW" altLang="en-US" sz="2000" dirty="0">
                <a:solidFill>
                  <a:srgbClr val="0000CC"/>
                </a:solidFill>
                <a:latin typeface="Times New Roman" panose="02020603050405020304" pitchFamily="18" charset="0"/>
                <a:ea typeface="Times New Roman" panose="02020603050405020304" pitchFamily="18" charset="0"/>
              </a:endParaRPr>
            </a:p>
          </p:txBody>
        </p:sp>
        <p:sp>
          <p:nvSpPr>
            <p:cNvPr id="50199" name="文字方塊 68"/>
            <p:cNvSpPr txBox="1"/>
            <p:nvPr/>
          </p:nvSpPr>
          <p:spPr>
            <a:xfrm>
              <a:off x="3581400" y="3124200"/>
              <a:ext cx="339725" cy="3969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solidFill>
                    <a:srgbClr val="0000CC"/>
                  </a:solidFill>
                  <a:latin typeface="Times New Roman" panose="02020603050405020304" pitchFamily="18" charset="0"/>
                  <a:cs typeface="Times New Roman" panose="02020603050405020304" pitchFamily="18" charset="0"/>
                </a:rPr>
                <a:t>A</a:t>
              </a:r>
              <a:endParaRPr lang="zh-TW" altLang="en-US" sz="2000" dirty="0">
                <a:solidFill>
                  <a:srgbClr val="0000CC"/>
                </a:solidFill>
                <a:latin typeface="Times New Roman" panose="02020603050405020304" pitchFamily="18" charset="0"/>
                <a:ea typeface="Times New Roman" panose="02020603050405020304" pitchFamily="18" charset="0"/>
              </a:endParaRPr>
            </a:p>
          </p:txBody>
        </p:sp>
        <p:sp>
          <p:nvSpPr>
            <p:cNvPr id="50200" name="文字方塊 69"/>
            <p:cNvSpPr txBox="1"/>
            <p:nvPr/>
          </p:nvSpPr>
          <p:spPr>
            <a:xfrm>
              <a:off x="5562600" y="3276626"/>
              <a:ext cx="422275" cy="3969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solidFill>
                    <a:srgbClr val="0000CC"/>
                  </a:solidFill>
                  <a:latin typeface="Times New Roman" panose="02020603050405020304" pitchFamily="18" charset="0"/>
                  <a:cs typeface="Times New Roman" panose="02020603050405020304" pitchFamily="18" charset="0"/>
                </a:rPr>
                <a:t>A</a:t>
              </a:r>
              <a:r>
                <a:rPr lang="en-US" altLang="zh-TW" sz="2000" baseline="30000" dirty="0">
                  <a:solidFill>
                    <a:srgbClr val="0000CC"/>
                  </a:solidFill>
                  <a:latin typeface="Times New Roman" panose="02020603050405020304" pitchFamily="18" charset="0"/>
                  <a:cs typeface="Times New Roman" panose="02020603050405020304" pitchFamily="18" charset="0"/>
                </a:rPr>
                <a:t>2</a:t>
              </a:r>
              <a:endParaRPr lang="zh-TW" altLang="en-US" sz="2000" baseline="30000" dirty="0">
                <a:solidFill>
                  <a:srgbClr val="0000CC"/>
                </a:solidFill>
                <a:latin typeface="Times New Roman" panose="02020603050405020304" pitchFamily="18" charset="0"/>
                <a:ea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fill="hold"/>
                                        <p:tgtEl>
                                          <p:spTgt spid="48"/>
                                        </p:tgtEl>
                                        <p:attrNameLst>
                                          <p:attrName>ppt_x</p:attrName>
                                        </p:attrNameLst>
                                      </p:cBhvr>
                                      <p:tavLst>
                                        <p:tav tm="0">
                                          <p:val>
                                            <p:strVal val="#ppt_x"/>
                                          </p:val>
                                        </p:tav>
                                        <p:tav tm="100000">
                                          <p:val>
                                            <p:strVal val="#ppt_x"/>
                                          </p:val>
                                        </p:tav>
                                      </p:tavLst>
                                    </p:anim>
                                    <p:anim calcmode="lin" valueType="num">
                                      <p:cBhvr additive="base">
                                        <p:cTn id="24"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ppt_x"/>
                                          </p:val>
                                        </p:tav>
                                        <p:tav tm="100000">
                                          <p:val>
                                            <p:strVal val="#ppt_x"/>
                                          </p:val>
                                        </p:tav>
                                      </p:tavLst>
                                    </p:anim>
                                    <p:anim calcmode="lin" valueType="num">
                                      <p:cBhvr additive="base">
                                        <p:cTn id="4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2"/>
                                        </p:tgtEl>
                                        <p:attrNameLst>
                                          <p:attrName>style.visibility</p:attrName>
                                        </p:attrNameLst>
                                      </p:cBhvr>
                                      <p:to>
                                        <p:strVal val="visible"/>
                                      </p:to>
                                    </p:set>
                                    <p:anim calcmode="lin" valueType="num">
                                      <p:cBhvr additive="base">
                                        <p:cTn id="47" dur="500" fill="hold"/>
                                        <p:tgtEl>
                                          <p:spTgt spid="62"/>
                                        </p:tgtEl>
                                        <p:attrNameLst>
                                          <p:attrName>ppt_x</p:attrName>
                                        </p:attrNameLst>
                                      </p:cBhvr>
                                      <p:tavLst>
                                        <p:tav tm="0">
                                          <p:val>
                                            <p:strVal val="#ppt_x"/>
                                          </p:val>
                                        </p:tav>
                                        <p:tav tm="100000">
                                          <p:val>
                                            <p:strVal val="#ppt_x"/>
                                          </p:val>
                                        </p:tav>
                                      </p:tavLst>
                                    </p:anim>
                                    <p:anim calcmode="lin" valueType="num">
                                      <p:cBhvr additive="base">
                                        <p:cTn id="4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6858000" y="5943600"/>
            <a:ext cx="2068513"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17</a:t>
            </a:r>
            <a:endParaRPr lang="zh-TW" altLang="en-US" sz="2400" dirty="0">
              <a:solidFill>
                <a:srgbClr val="0000CC"/>
              </a:solidFill>
            </a:endParaRPr>
          </a:p>
        </p:txBody>
      </p:sp>
      <p:sp>
        <p:nvSpPr>
          <p:cNvPr id="51203" name="矩形 5"/>
          <p:cNvSpPr/>
          <p:nvPr/>
        </p:nvSpPr>
        <p:spPr>
          <a:xfrm>
            <a:off x="304800" y="609600"/>
            <a:ext cx="8839200" cy="1066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Clr>
                <a:srgbClr val="00007D"/>
              </a:buClr>
              <a:buNone/>
            </a:pPr>
            <a:r>
              <a:rPr lang="en-US" altLang="zh-TW" b="1" dirty="0">
                <a:solidFill>
                  <a:srgbClr val="008000"/>
                </a:solidFill>
              </a:rPr>
              <a:t>Example 14. </a:t>
            </a:r>
            <a:r>
              <a:rPr lang="en-US" altLang="zh-TW" dirty="0"/>
              <a:t>How many paths (</a:t>
            </a:r>
            <a:r>
              <a:rPr lang="en-US" altLang="zh-TW" dirty="0">
                <a:solidFill>
                  <a:srgbClr val="0000CC"/>
                </a:solidFill>
              </a:rPr>
              <a:t>walks</a:t>
            </a:r>
            <a:r>
              <a:rPr lang="en-US" altLang="zh-TW" dirty="0"/>
              <a:t>) of length 4 are there from </a:t>
            </a:r>
            <a:r>
              <a:rPr lang="en-US" altLang="zh-TW" i="1" dirty="0">
                <a:latin typeface="Times New Roman" panose="02020603050405020304" pitchFamily="18" charset="0"/>
                <a:cs typeface="Times New Roman" panose="02020603050405020304" pitchFamily="18" charset="0"/>
              </a:rPr>
              <a:t>a</a:t>
            </a:r>
            <a:r>
              <a:rPr lang="en-US" altLang="zh-TW" dirty="0"/>
              <a:t> to </a:t>
            </a:r>
            <a:r>
              <a:rPr lang="en-US" altLang="zh-TW" i="1" dirty="0">
                <a:latin typeface="Times New Roman" panose="02020603050405020304" pitchFamily="18" charset="0"/>
                <a:cs typeface="Times New Roman" panose="02020603050405020304" pitchFamily="18" charset="0"/>
              </a:rPr>
              <a:t>d</a:t>
            </a:r>
            <a:r>
              <a:rPr lang="en-US" altLang="zh-TW" dirty="0"/>
              <a:t> in the graph </a:t>
            </a:r>
            <a:r>
              <a:rPr lang="en-US" altLang="zh-TW" i="1" dirty="0">
                <a:latin typeface="Times New Roman" panose="02020603050405020304" pitchFamily="18" charset="0"/>
                <a:cs typeface="Times New Roman" panose="02020603050405020304" pitchFamily="18" charset="0"/>
              </a:rPr>
              <a:t>G</a:t>
            </a:r>
            <a:r>
              <a:rPr lang="en-US" altLang="zh-TW" dirty="0"/>
              <a:t>?</a:t>
            </a:r>
            <a:endParaRPr lang="en-US" altLang="zh-TW" dirty="0"/>
          </a:p>
        </p:txBody>
      </p:sp>
      <p:sp>
        <p:nvSpPr>
          <p:cNvPr id="51204" name="矩形 30"/>
          <p:cNvSpPr/>
          <p:nvPr/>
        </p:nvSpPr>
        <p:spPr>
          <a:xfrm>
            <a:off x="6105525" y="2366963"/>
            <a:ext cx="477838"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i="1" dirty="0">
                <a:solidFill>
                  <a:srgbClr val="000000"/>
                </a:solidFill>
                <a:latin typeface="Times New Roman" panose="02020603050405020304" pitchFamily="18" charset="0"/>
                <a:cs typeface="Times New Roman" panose="02020603050405020304" pitchFamily="18" charset="0"/>
              </a:rPr>
              <a:t>G</a:t>
            </a:r>
            <a:endParaRPr lang="zh-TW" altLang="en-US" sz="1800" dirty="0"/>
          </a:p>
        </p:txBody>
      </p:sp>
      <p:sp>
        <p:nvSpPr>
          <p:cNvPr id="51205" name="Oval 7"/>
          <p:cNvSpPr/>
          <p:nvPr/>
        </p:nvSpPr>
        <p:spPr>
          <a:xfrm>
            <a:off x="6867525" y="2214563"/>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51206" name="Oval 7"/>
          <p:cNvSpPr/>
          <p:nvPr/>
        </p:nvSpPr>
        <p:spPr>
          <a:xfrm>
            <a:off x="6867525" y="3128963"/>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51207" name="Oval 7"/>
          <p:cNvSpPr/>
          <p:nvPr/>
        </p:nvSpPr>
        <p:spPr>
          <a:xfrm>
            <a:off x="7934325" y="2214563"/>
            <a:ext cx="142875" cy="14446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sp>
        <p:nvSpPr>
          <p:cNvPr id="51208" name="Oval 7"/>
          <p:cNvSpPr/>
          <p:nvPr/>
        </p:nvSpPr>
        <p:spPr>
          <a:xfrm>
            <a:off x="8010525" y="3128963"/>
            <a:ext cx="142875" cy="142875"/>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400" i="1" dirty="0">
              <a:latin typeface="Times New Roman" panose="02020603050405020304" pitchFamily="18" charset="0"/>
              <a:ea typeface="Times New Roman" panose="02020603050405020304" pitchFamily="18" charset="0"/>
            </a:endParaRPr>
          </a:p>
        </p:txBody>
      </p:sp>
      <p:cxnSp>
        <p:nvCxnSpPr>
          <p:cNvPr id="15" name="直線接點 14"/>
          <p:cNvCxnSpPr>
            <a:stCxn id="51206" idx="7"/>
            <a:endCxn id="51207" idx="3"/>
          </p:cNvCxnSpPr>
          <p:nvPr/>
        </p:nvCxnSpPr>
        <p:spPr>
          <a:xfrm rot="5400000" flipH="1" flipV="1">
            <a:off x="7066756" y="2261394"/>
            <a:ext cx="811213" cy="965200"/>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6" name="直線接點 15"/>
          <p:cNvCxnSpPr>
            <a:stCxn id="51207" idx="2"/>
            <a:endCxn id="51205" idx="6"/>
          </p:cNvCxnSpPr>
          <p:nvPr/>
        </p:nvCxnSpPr>
        <p:spPr>
          <a:xfrm rot="10800000">
            <a:off x="7010400" y="2286000"/>
            <a:ext cx="923925" cy="0"/>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7" name="直線接點 16"/>
          <p:cNvCxnSpPr>
            <a:stCxn id="51208" idx="2"/>
            <a:endCxn id="51206" idx="6"/>
          </p:cNvCxnSpPr>
          <p:nvPr/>
        </p:nvCxnSpPr>
        <p:spPr>
          <a:xfrm rot="10800000">
            <a:off x="7010400" y="3200400"/>
            <a:ext cx="1000125" cy="1588"/>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8" name="直線接點 17"/>
          <p:cNvCxnSpPr>
            <a:stCxn id="51208" idx="1"/>
            <a:endCxn id="51205" idx="5"/>
          </p:cNvCxnSpPr>
          <p:nvPr/>
        </p:nvCxnSpPr>
        <p:spPr>
          <a:xfrm rot="16200000" flipV="1">
            <a:off x="7104063" y="2222500"/>
            <a:ext cx="812800" cy="1041400"/>
          </a:xfrm>
          <a:prstGeom prst="line">
            <a:avLst/>
          </a:prstGeom>
          <a:ln w="15875">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51213" name="Text Box 65"/>
          <p:cNvSpPr txBox="1"/>
          <p:nvPr/>
        </p:nvSpPr>
        <p:spPr>
          <a:xfrm>
            <a:off x="6638925" y="1833563"/>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baseline="-25000" dirty="0">
              <a:latin typeface="Times New Roman" panose="02020603050405020304" pitchFamily="18" charset="0"/>
              <a:ea typeface="Times New Roman" panose="02020603050405020304" pitchFamily="18" charset="0"/>
            </a:endParaRPr>
          </a:p>
        </p:txBody>
      </p:sp>
      <p:sp>
        <p:nvSpPr>
          <p:cNvPr id="51214" name="Text Box 65"/>
          <p:cNvSpPr txBox="1"/>
          <p:nvPr/>
        </p:nvSpPr>
        <p:spPr>
          <a:xfrm>
            <a:off x="8010525" y="1833563"/>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baseline="-25000" dirty="0">
              <a:latin typeface="Times New Roman" panose="02020603050405020304" pitchFamily="18" charset="0"/>
              <a:ea typeface="Times New Roman" panose="02020603050405020304" pitchFamily="18" charset="0"/>
            </a:endParaRPr>
          </a:p>
        </p:txBody>
      </p:sp>
      <p:sp>
        <p:nvSpPr>
          <p:cNvPr id="51215" name="Text Box 65"/>
          <p:cNvSpPr txBox="1"/>
          <p:nvPr/>
        </p:nvSpPr>
        <p:spPr>
          <a:xfrm>
            <a:off x="8010525" y="3128963"/>
            <a:ext cx="3190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baseline="-25000" dirty="0">
              <a:latin typeface="Times New Roman" panose="02020603050405020304" pitchFamily="18" charset="0"/>
              <a:ea typeface="Times New Roman" panose="02020603050405020304" pitchFamily="18" charset="0"/>
            </a:endParaRPr>
          </a:p>
        </p:txBody>
      </p:sp>
      <p:sp>
        <p:nvSpPr>
          <p:cNvPr id="51216" name="Text Box 65"/>
          <p:cNvSpPr txBox="1"/>
          <p:nvPr/>
        </p:nvSpPr>
        <p:spPr>
          <a:xfrm>
            <a:off x="6562725" y="3128963"/>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baseline="-25000" dirty="0">
              <a:latin typeface="Times New Roman" panose="02020603050405020304" pitchFamily="18" charset="0"/>
              <a:ea typeface="Times New Roman" panose="02020603050405020304" pitchFamily="18" charset="0"/>
            </a:endParaRPr>
          </a:p>
        </p:txBody>
      </p:sp>
      <p:sp>
        <p:nvSpPr>
          <p:cNvPr id="38" name="矩形 61"/>
          <p:cNvSpPr/>
          <p:nvPr/>
        </p:nvSpPr>
        <p:spPr>
          <a:xfrm>
            <a:off x="381000" y="2057400"/>
            <a:ext cx="4419600" cy="13731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a:t>
            </a:r>
            <a:r>
              <a:rPr lang="en-US" altLang="zh-TW" sz="2800" dirty="0">
                <a:solidFill>
                  <a:srgbClr val="008000"/>
                </a:solidFill>
              </a:rPr>
              <a:t> </a:t>
            </a:r>
            <a:br>
              <a:rPr lang="en-US" altLang="zh-TW" sz="2800" dirty="0">
                <a:solidFill>
                  <a:srgbClr val="008000"/>
                </a:solidFill>
              </a:rPr>
            </a:br>
            <a:r>
              <a:rPr lang="en-US" altLang="zh-TW" sz="2800" dirty="0"/>
              <a:t>The adjacency matrix of </a:t>
            </a:r>
            <a:r>
              <a:rPr lang="en-US" altLang="zh-TW" sz="2800" i="1" dirty="0">
                <a:latin typeface="Times New Roman" panose="02020603050405020304" pitchFamily="18" charset="0"/>
                <a:cs typeface="Times New Roman" panose="02020603050405020304" pitchFamily="18" charset="0"/>
              </a:rPr>
              <a:t>G</a:t>
            </a:r>
            <a:r>
              <a:rPr lang="en-US" altLang="zh-TW" sz="2800" dirty="0"/>
              <a:t> </a:t>
            </a:r>
            <a:br>
              <a:rPr lang="en-US" altLang="zh-TW" sz="2800" dirty="0"/>
            </a:br>
            <a:r>
              <a:rPr lang="en-US" altLang="zh-TW" sz="2800" dirty="0"/>
              <a:t>(ordering as </a:t>
            </a:r>
            <a:r>
              <a:rPr lang="en-US" altLang="zh-TW" sz="2800" i="1" dirty="0">
                <a:latin typeface="Times New Roman" panose="02020603050405020304" pitchFamily="18" charset="0"/>
                <a:cs typeface="Times New Roman" panose="02020603050405020304" pitchFamily="18" charset="0"/>
              </a:rPr>
              <a:t>a, b, c, d</a:t>
            </a:r>
            <a:r>
              <a:rPr lang="en-US" altLang="zh-TW" sz="2800" dirty="0"/>
              <a:t>) is</a:t>
            </a:r>
            <a:endParaRPr lang="zh-TW" altLang="en-US" sz="1800" dirty="0"/>
          </a:p>
        </p:txBody>
      </p:sp>
      <p:graphicFrame>
        <p:nvGraphicFramePr>
          <p:cNvPr id="39" name="Object 20"/>
          <p:cNvGraphicFramePr>
            <a:graphicFrameLocks noChangeAspect="1"/>
          </p:cNvGraphicFramePr>
          <p:nvPr/>
        </p:nvGraphicFramePr>
        <p:xfrm>
          <a:off x="609600" y="3733800"/>
          <a:ext cx="2438400" cy="1703388"/>
        </p:xfrm>
        <a:graphic>
          <a:graphicData uri="http://schemas.openxmlformats.org/presentationml/2006/ole">
            <mc:AlternateContent xmlns:mc="http://schemas.openxmlformats.org/markup-compatibility/2006">
              <mc:Choice xmlns:v="urn:schemas-microsoft-com:vml" Requires="v">
                <p:oleObj spid="_x0000_s3087" name="" r:id="rId1" imgW="1308100" imgH="914400" progId="Equation.3">
                  <p:embed/>
                </p:oleObj>
              </mc:Choice>
              <mc:Fallback>
                <p:oleObj name="" r:id="rId1" imgW="1308100" imgH="914400" progId="Equation.3">
                  <p:embed/>
                  <p:pic>
                    <p:nvPicPr>
                      <p:cNvPr id="0" name="图片 3086"/>
                      <p:cNvPicPr/>
                      <p:nvPr/>
                    </p:nvPicPr>
                    <p:blipFill>
                      <a:blip r:embed="rId2"/>
                      <a:stretch>
                        <a:fillRect/>
                      </a:stretch>
                    </p:blipFill>
                    <p:spPr>
                      <a:xfrm>
                        <a:off x="609600" y="3733800"/>
                        <a:ext cx="2438400" cy="1703388"/>
                      </a:xfrm>
                      <a:prstGeom prst="rect">
                        <a:avLst/>
                      </a:prstGeom>
                      <a:noFill/>
                      <a:ln w="38100">
                        <a:noFill/>
                        <a:miter/>
                      </a:ln>
                    </p:spPr>
                  </p:pic>
                </p:oleObj>
              </mc:Fallback>
            </mc:AlternateContent>
          </a:graphicData>
        </a:graphic>
      </p:graphicFrame>
      <p:sp>
        <p:nvSpPr>
          <p:cNvPr id="40" name="文字方塊 39"/>
          <p:cNvSpPr txBox="1"/>
          <p:nvPr/>
        </p:nvSpPr>
        <p:spPr>
          <a:xfrm>
            <a:off x="3505200" y="4267200"/>
            <a:ext cx="590550" cy="584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zh-TW" altLang="en-US" dirty="0">
                <a:sym typeface="Symbol" panose="05050102010706020507" pitchFamily="18" charset="2"/>
              </a:rPr>
              <a:t></a:t>
            </a:r>
            <a:endParaRPr lang="zh-TW" altLang="en-US" dirty="0"/>
          </a:p>
        </p:txBody>
      </p:sp>
      <p:graphicFrame>
        <p:nvGraphicFramePr>
          <p:cNvPr id="41" name="Object 3"/>
          <p:cNvGraphicFramePr>
            <a:graphicFrameLocks noChangeAspect="1"/>
          </p:cNvGraphicFramePr>
          <p:nvPr/>
        </p:nvGraphicFramePr>
        <p:xfrm>
          <a:off x="4343400" y="3733800"/>
          <a:ext cx="2514600" cy="1674813"/>
        </p:xfrm>
        <a:graphic>
          <a:graphicData uri="http://schemas.openxmlformats.org/presentationml/2006/ole">
            <mc:AlternateContent xmlns:mc="http://schemas.openxmlformats.org/markup-compatibility/2006">
              <mc:Choice xmlns:v="urn:schemas-microsoft-com:vml" Requires="v">
                <p:oleObj spid="_x0000_s3088" name="" r:id="rId3" imgW="1371600" imgH="914400" progId="Equation.3">
                  <p:embed/>
                </p:oleObj>
              </mc:Choice>
              <mc:Fallback>
                <p:oleObj name="" r:id="rId3" imgW="1371600" imgH="914400" progId="Equation.3">
                  <p:embed/>
                  <p:pic>
                    <p:nvPicPr>
                      <p:cNvPr id="0" name="图片 3087"/>
                      <p:cNvPicPr/>
                      <p:nvPr/>
                    </p:nvPicPr>
                    <p:blipFill>
                      <a:blip r:embed="rId4"/>
                      <a:stretch>
                        <a:fillRect/>
                      </a:stretch>
                    </p:blipFill>
                    <p:spPr>
                      <a:xfrm>
                        <a:off x="4343400" y="3733800"/>
                        <a:ext cx="2514600" cy="1674813"/>
                      </a:xfrm>
                      <a:prstGeom prst="rect">
                        <a:avLst/>
                      </a:prstGeom>
                      <a:noFill/>
                      <a:ln w="38100">
                        <a:noFill/>
                        <a:miter/>
                      </a:ln>
                    </p:spPr>
                  </p:pic>
                </p:oleObj>
              </mc:Fallback>
            </mc:AlternateContent>
          </a:graphicData>
        </a:graphic>
      </p:graphicFrame>
      <p:sp>
        <p:nvSpPr>
          <p:cNvPr id="42" name="文字方塊 41"/>
          <p:cNvSpPr txBox="1"/>
          <p:nvPr/>
        </p:nvSpPr>
        <p:spPr>
          <a:xfrm>
            <a:off x="7315200" y="4191000"/>
            <a:ext cx="931863" cy="584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zh-TW" altLang="en-US" dirty="0">
                <a:sym typeface="Symbol" panose="05050102010706020507" pitchFamily="18" charset="2"/>
              </a:rPr>
              <a:t> </a:t>
            </a:r>
            <a:r>
              <a:rPr lang="en-US" altLang="zh-TW" dirty="0">
                <a:sym typeface="Symbol" panose="05050102010706020507" pitchFamily="18" charset="2"/>
              </a:rPr>
              <a:t>8</a:t>
            </a:r>
            <a:endParaRPr lang="zh-TW" altLang="en-US" dirty="0"/>
          </a:p>
        </p:txBody>
      </p:sp>
      <p:sp>
        <p:nvSpPr>
          <p:cNvPr id="51222" name="投影片編號版面配置區 42"/>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23" name="文字方塊 22"/>
          <p:cNvSpPr txBox="1"/>
          <p:nvPr/>
        </p:nvSpPr>
        <p:spPr>
          <a:xfrm>
            <a:off x="152400" y="5410200"/>
            <a:ext cx="5889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ym typeface="Symbol" panose="05050102010706020507" pitchFamily="18" charset="2"/>
              </a:rPr>
              <a:t>Q: </a:t>
            </a:r>
            <a:endParaRPr lang="zh-TW" altLang="en-US" sz="2400" dirty="0"/>
          </a:p>
        </p:txBody>
      </p:sp>
      <p:sp>
        <p:nvSpPr>
          <p:cNvPr id="24" name="文字方塊 23"/>
          <p:cNvSpPr txBox="1"/>
          <p:nvPr/>
        </p:nvSpPr>
        <p:spPr>
          <a:xfrm>
            <a:off x="228600" y="5867400"/>
            <a:ext cx="5780088" cy="8302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sym typeface="Symbol" panose="05050102010706020507" pitchFamily="18" charset="2"/>
              </a:rPr>
              <a:t>a-b-a-b-d, a-b-a-c-d, a-c-a-b-d, a-c-a-c-d,</a:t>
            </a:r>
            <a:endParaRPr lang="en-US" altLang="zh-TW" sz="2400" dirty="0">
              <a:sym typeface="Symbol" panose="05050102010706020507" pitchFamily="18" charset="2"/>
            </a:endParaRPr>
          </a:p>
          <a:p>
            <a:pPr marL="0" lvl="0" indent="0" eaLnBrk="1" hangingPunct="1">
              <a:spcBef>
                <a:spcPct val="0"/>
              </a:spcBef>
              <a:buClrTx/>
              <a:buSzPct val="100000"/>
              <a:buNone/>
            </a:pPr>
            <a:r>
              <a:rPr lang="en-US" altLang="zh-TW" sz="2400" dirty="0">
                <a:sym typeface="Symbol" panose="05050102010706020507" pitchFamily="18" charset="2"/>
              </a:rPr>
              <a:t>a-b-d-b-d, a-b-d-c-d, a-c-d-b-d, a-c-d-c-d</a:t>
            </a:r>
            <a:endParaRPr lang="zh-TW"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500" fill="hold"/>
                                        <p:tgtEl>
                                          <p:spTgt spid="39"/>
                                        </p:tgtEl>
                                        <p:attrNameLst>
                                          <p:attrName>ppt_x</p:attrName>
                                        </p:attrNameLst>
                                      </p:cBhvr>
                                      <p:tavLst>
                                        <p:tav tm="0">
                                          <p:val>
                                            <p:strVal val="#ppt_x"/>
                                          </p:val>
                                        </p:tav>
                                        <p:tav tm="100000">
                                          <p:val>
                                            <p:strVal val="#ppt_x"/>
                                          </p:val>
                                        </p:tav>
                                      </p:tavLst>
                                    </p:anim>
                                    <p:anim calcmode="lin" valueType="num">
                                      <p:cBhvr additive="base">
                                        <p:cTn id="1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500" fill="hold"/>
                                        <p:tgtEl>
                                          <p:spTgt spid="40"/>
                                        </p:tgtEl>
                                        <p:attrNameLst>
                                          <p:attrName>ppt_x</p:attrName>
                                        </p:attrNameLst>
                                      </p:cBhvr>
                                      <p:tavLst>
                                        <p:tav tm="0">
                                          <p:val>
                                            <p:strVal val="#ppt_x"/>
                                          </p:val>
                                        </p:tav>
                                        <p:tav tm="100000">
                                          <p:val>
                                            <p:strVal val="#ppt_x"/>
                                          </p:val>
                                        </p:tav>
                                      </p:tavLst>
                                    </p:anim>
                                    <p:anim calcmode="lin" valueType="num">
                                      <p:cBhvr additive="base">
                                        <p:cTn id="20" dur="500" fill="hold"/>
                                        <p:tgtEl>
                                          <p:spTgt spid="4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ppt_x"/>
                                          </p:val>
                                        </p:tav>
                                        <p:tav tm="100000">
                                          <p:val>
                                            <p:strVal val="#ppt_x"/>
                                          </p:val>
                                        </p:tav>
                                      </p:tavLst>
                                    </p:anim>
                                    <p:anim calcmode="lin" valueType="num">
                                      <p:cBhvr additive="base">
                                        <p:cTn id="2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anim calcmode="lin" valueType="num">
                                      <p:cBhvr additive="base">
                                        <p:cTn id="29" dur="500" fill="hold"/>
                                        <p:tgtEl>
                                          <p:spTgt spid="42"/>
                                        </p:tgtEl>
                                        <p:attrNameLst>
                                          <p:attrName>ppt_x</p:attrName>
                                        </p:attrNameLst>
                                      </p:cBhvr>
                                      <p:tavLst>
                                        <p:tav tm="0">
                                          <p:val>
                                            <p:strVal val="#ppt_x"/>
                                          </p:val>
                                        </p:tav>
                                        <p:tav tm="100000">
                                          <p:val>
                                            <p:strVal val="#ppt_x"/>
                                          </p:val>
                                        </p:tav>
                                      </p:tavLst>
                                    </p:anim>
                                    <p:anim calcmode="lin" valueType="num">
                                      <p:cBhvr additive="base">
                                        <p:cTn id="3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ppt_x"/>
                                          </p:val>
                                        </p:tav>
                                        <p:tav tm="100000">
                                          <p:val>
                                            <p:strVal val="#ppt_x"/>
                                          </p:val>
                                        </p:tav>
                                      </p:tavLst>
                                    </p:anim>
                                    <p:anim calcmode="lin" valueType="num">
                                      <p:cBhvr additive="base">
                                        <p:cTn id="4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8" grpId="0"/>
      <p:bldP spid="40" grpId="0"/>
      <p:bldP spid="42" grpId="0"/>
      <p:bldP spid="23" grpId="0"/>
      <p:bldP spid="2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4"/>
          <p:cNvSpPr>
            <a:spLocks noGrp="1"/>
          </p:cNvSpPr>
          <p:nvPr>
            <p:ph type="title"/>
          </p:nvPr>
        </p:nvSpPr>
        <p:spPr>
          <a:xfrm>
            <a:off x="304800" y="1295400"/>
            <a:ext cx="8229600" cy="609600"/>
          </a:xfrm>
        </p:spPr>
        <p:txBody>
          <a:bodyPr vert="horz" wrap="square" lIns="91440" tIns="45720" rIns="91440" bIns="45720" anchor="ctr"/>
          <a:p>
            <a:r>
              <a:rPr lang="en-US" altLang="zh-TW" sz="3200" dirty="0">
                <a:solidFill>
                  <a:srgbClr val="008000"/>
                </a:solidFill>
              </a:rPr>
              <a:t>The origin</a:t>
            </a:r>
            <a:r>
              <a:rPr lang="en-US" altLang="zh-CN" sz="3200" dirty="0">
                <a:solidFill>
                  <a:srgbClr val="008000"/>
                </a:solidFill>
              </a:rPr>
              <a:t> of </a:t>
            </a:r>
            <a:r>
              <a:rPr lang="en-US" altLang="zh-TW" sz="3200" dirty="0">
                <a:solidFill>
                  <a:srgbClr val="008000"/>
                </a:solidFill>
              </a:rPr>
              <a:t>Graph Theory</a:t>
            </a:r>
            <a:r>
              <a:rPr lang="en-US" altLang="zh-TW" sz="3200" u="sng" dirty="0">
                <a:solidFill>
                  <a:srgbClr val="008000"/>
                </a:solidFill>
              </a:rPr>
              <a:t> </a:t>
            </a:r>
            <a:endParaRPr lang="en-US" altLang="zh-TW" sz="3200" u="sng" dirty="0">
              <a:solidFill>
                <a:srgbClr val="008000"/>
              </a:solidFill>
            </a:endParaRPr>
          </a:p>
        </p:txBody>
      </p:sp>
      <p:sp>
        <p:nvSpPr>
          <p:cNvPr id="52227" name="Rectangle 5"/>
          <p:cNvSpPr>
            <a:spLocks noGrp="1"/>
          </p:cNvSpPr>
          <p:nvPr>
            <p:ph type="body" sz="half"/>
          </p:nvPr>
        </p:nvSpPr>
        <p:spPr>
          <a:xfrm>
            <a:off x="381000" y="1828800"/>
            <a:ext cx="7537450" cy="1066800"/>
          </a:xfrm>
        </p:spPr>
        <p:txBody>
          <a:bodyPr vert="horz" wrap="square" lIns="91440" tIns="45720" rIns="91440" bIns="45720" anchor="t"/>
          <a:lstStyle>
            <a:lvl1pPr lvl="0">
              <a:defRPr sz="2800"/>
            </a:lvl1pPr>
            <a:lvl2pPr lvl="1">
              <a:defRPr sz="2400"/>
            </a:lvl2pPr>
            <a:lvl3pPr lvl="2">
              <a:defRPr sz="2000"/>
            </a:lvl3pPr>
            <a:lvl4pPr lvl="3">
              <a:defRPr sz="1800"/>
            </a:lvl4pPr>
            <a:lvl5pPr lvl="4">
              <a:defRPr sz="1800"/>
            </a:lvl5pPr>
          </a:lstStyle>
          <a:p>
            <a:pPr lvl="0"/>
            <a:r>
              <a:rPr lang="en-US" altLang="zh-TW" dirty="0"/>
              <a:t>1736, Euler solved the Königsberg Bridge Problem </a:t>
            </a:r>
            <a:endParaRPr lang="en-US" altLang="zh-TW" dirty="0"/>
          </a:p>
        </p:txBody>
      </p:sp>
      <p:sp>
        <p:nvSpPr>
          <p:cNvPr id="52228" name="Text Box 9"/>
          <p:cNvSpPr txBox="1"/>
          <p:nvPr/>
        </p:nvSpPr>
        <p:spPr>
          <a:xfrm>
            <a:off x="533400" y="5302250"/>
            <a:ext cx="73152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buClr>
                <a:schemeClr val="hlink"/>
              </a:buClr>
              <a:buSzPct val="70000"/>
              <a:buNone/>
            </a:pPr>
            <a:r>
              <a:rPr lang="en-US" altLang="zh-TW" sz="2800" dirty="0"/>
              <a:t>Q: </a:t>
            </a:r>
            <a:r>
              <a:rPr lang="en-US" altLang="zh-CN" sz="2800" dirty="0"/>
              <a:t>Is there a simple circuit in this multigraph that contains every edge?</a:t>
            </a:r>
            <a:endParaRPr lang="en-US" altLang="zh-CN" sz="2800" dirty="0"/>
          </a:p>
        </p:txBody>
      </p:sp>
      <p:sp>
        <p:nvSpPr>
          <p:cNvPr id="8" name="Rectangle 2"/>
          <p:cNvSpPr txBox="1">
            <a:spLocks noChangeArrowheads="1"/>
          </p:cNvSpPr>
          <p:nvPr/>
        </p:nvSpPr>
        <p:spPr bwMode="auto">
          <a:xfrm>
            <a:off x="457200" y="457200"/>
            <a:ext cx="8229600" cy="838200"/>
          </a:xfrm>
          <a:prstGeom prst="rect">
            <a:avLst/>
          </a:prstGeom>
          <a:noFill/>
          <a:ln w="9525">
            <a:noFill/>
            <a:miter lim="800000"/>
          </a:ln>
        </p:spPr>
        <p:txBody>
          <a:bodyPr anchor="ctr"/>
          <a:lstStyle/>
          <a:p>
            <a:pPr marR="0" defTabSz="914400">
              <a:buClrTx/>
              <a:buSzTx/>
              <a:buFontTx/>
              <a:buNone/>
              <a:defRPr/>
            </a:pPr>
            <a:r>
              <a:rPr kumimoji="1" lang="en-US" altLang="zh-TW" sz="4400" kern="0" cap="none" spc="0" normalizeH="0" baseline="0" noProof="0" dirty="0" smtClean="0">
                <a:latin typeface="+mj-lt"/>
                <a:ea typeface="+mj-ea"/>
                <a:cs typeface="+mj-cs"/>
              </a:rPr>
              <a:t>§10.5</a:t>
            </a:r>
            <a:r>
              <a:rPr kumimoji="1" lang="en-US" altLang="zh-TW" sz="4400" kern="0" cap="none" spc="0" normalizeH="0" baseline="0" noProof="0" dirty="0">
                <a:latin typeface="+mj-lt"/>
                <a:ea typeface="+mj-ea"/>
                <a:cs typeface="+mj-cs"/>
              </a:rPr>
              <a:t>: Euler &amp; Hamilton Paths</a:t>
            </a:r>
            <a:endParaRPr kumimoji="1" lang="en-US" altLang="zh-TW" sz="4400" kern="0" cap="none" spc="0" normalizeH="0" baseline="0" noProof="0" dirty="0">
              <a:latin typeface="+mj-lt"/>
              <a:ea typeface="+mj-ea"/>
              <a:cs typeface="+mj-cs"/>
            </a:endParaRPr>
          </a:p>
        </p:txBody>
      </p:sp>
      <p:sp>
        <p:nvSpPr>
          <p:cNvPr id="52230" name="投影片編號版面配置區 8"/>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pic>
        <p:nvPicPr>
          <p:cNvPr id="52231" name="Picture 4" descr="未命名 - 1"/>
          <p:cNvPicPr>
            <a:picLocks noChangeAspect="1"/>
          </p:cNvPicPr>
          <p:nvPr/>
        </p:nvPicPr>
        <p:blipFill>
          <a:blip r:embed="rId1"/>
          <a:srcRect l="6448" r="15031" b="18819"/>
          <a:stretch>
            <a:fillRect/>
          </a:stretch>
        </p:blipFill>
        <p:spPr>
          <a:xfrm>
            <a:off x="457200" y="2751138"/>
            <a:ext cx="4103688" cy="1876425"/>
          </a:xfrm>
          <a:prstGeom prst="rect">
            <a:avLst/>
          </a:prstGeom>
          <a:noFill/>
          <a:ln w="9525">
            <a:noFill/>
          </a:ln>
        </p:spPr>
      </p:pic>
      <p:grpSp>
        <p:nvGrpSpPr>
          <p:cNvPr id="237607" name="Group 39"/>
          <p:cNvGrpSpPr/>
          <p:nvPr/>
        </p:nvGrpSpPr>
        <p:grpSpPr>
          <a:xfrm>
            <a:off x="4800600" y="2674938"/>
            <a:ext cx="3700463" cy="2354262"/>
            <a:chOff x="3024" y="1685"/>
            <a:chExt cx="2331" cy="1483"/>
          </a:xfrm>
        </p:grpSpPr>
        <p:sp>
          <p:nvSpPr>
            <p:cNvPr id="52233" name="Text Box 9"/>
            <p:cNvSpPr txBox="1"/>
            <p:nvPr/>
          </p:nvSpPr>
          <p:spPr>
            <a:xfrm>
              <a:off x="3024" y="2213"/>
              <a:ext cx="305" cy="288"/>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zh-TW" altLang="en-US" sz="2400" dirty="0">
                  <a:sym typeface="Symbol" panose="05050102010706020507" pitchFamily="18" charset="2"/>
                </a:rPr>
                <a:t></a:t>
              </a:r>
              <a:endParaRPr lang="zh-TW" altLang="en-US" sz="2400" dirty="0">
                <a:sym typeface="Symbol" panose="05050102010706020507" pitchFamily="18" charset="2"/>
              </a:endParaRPr>
            </a:p>
          </p:txBody>
        </p:sp>
        <p:grpSp>
          <p:nvGrpSpPr>
            <p:cNvPr id="52234" name="Group 39"/>
            <p:cNvGrpSpPr/>
            <p:nvPr/>
          </p:nvGrpSpPr>
          <p:grpSpPr>
            <a:xfrm>
              <a:off x="3504" y="1685"/>
              <a:ext cx="1851" cy="1483"/>
              <a:chOff x="3424" y="1026"/>
              <a:chExt cx="1999" cy="1745"/>
            </a:xfrm>
          </p:grpSpPr>
          <p:sp>
            <p:nvSpPr>
              <p:cNvPr id="52235" name="AutoShape 11"/>
              <p:cNvSpPr/>
              <p:nvPr/>
            </p:nvSpPr>
            <p:spPr>
              <a:xfrm>
                <a:off x="4150" y="1207"/>
                <a:ext cx="113" cy="11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2236" name="Text Box 12"/>
              <p:cNvSpPr txBox="1"/>
              <p:nvPr/>
            </p:nvSpPr>
            <p:spPr>
              <a:xfrm>
                <a:off x="3424" y="1706"/>
                <a:ext cx="264" cy="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A</a:t>
                </a:r>
                <a:endParaRPr lang="en-US" altLang="zh-TW" sz="2400" dirty="0"/>
              </a:p>
            </p:txBody>
          </p:sp>
          <p:sp>
            <p:nvSpPr>
              <p:cNvPr id="52237" name="Text Box 13"/>
              <p:cNvSpPr txBox="1"/>
              <p:nvPr/>
            </p:nvSpPr>
            <p:spPr>
              <a:xfrm>
                <a:off x="3969" y="2432"/>
                <a:ext cx="264" cy="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B</a:t>
                </a:r>
                <a:endParaRPr lang="en-US" altLang="zh-TW" sz="2400" dirty="0"/>
              </a:p>
            </p:txBody>
          </p:sp>
          <p:sp>
            <p:nvSpPr>
              <p:cNvPr id="52238" name="Text Box 14"/>
              <p:cNvSpPr txBox="1"/>
              <p:nvPr/>
            </p:nvSpPr>
            <p:spPr>
              <a:xfrm>
                <a:off x="3923" y="1026"/>
                <a:ext cx="275" cy="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C</a:t>
                </a:r>
                <a:endParaRPr lang="en-US" altLang="zh-TW" sz="2400" dirty="0"/>
              </a:p>
            </p:txBody>
          </p:sp>
          <p:sp>
            <p:nvSpPr>
              <p:cNvPr id="52239" name="Text Box 15"/>
              <p:cNvSpPr txBox="1"/>
              <p:nvPr/>
            </p:nvSpPr>
            <p:spPr>
              <a:xfrm>
                <a:off x="5148" y="1751"/>
                <a:ext cx="275" cy="3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D</a:t>
                </a:r>
                <a:endParaRPr lang="en-US" altLang="zh-TW" sz="2400" dirty="0"/>
              </a:p>
            </p:txBody>
          </p:sp>
          <p:sp>
            <p:nvSpPr>
              <p:cNvPr id="52240" name="Line 23"/>
              <p:cNvSpPr/>
              <p:nvPr/>
            </p:nvSpPr>
            <p:spPr>
              <a:xfrm>
                <a:off x="4241" y="1298"/>
                <a:ext cx="862" cy="544"/>
              </a:xfrm>
              <a:prstGeom prst="line">
                <a:avLst/>
              </a:prstGeom>
              <a:ln w="25400" cap="flat" cmpd="sng">
                <a:solidFill>
                  <a:schemeClr val="tx1"/>
                </a:solidFill>
                <a:prstDash val="solid"/>
                <a:headEnd type="none" w="med" len="med"/>
                <a:tailEnd type="none" w="med" len="med"/>
              </a:ln>
            </p:spPr>
          </p:sp>
          <p:sp>
            <p:nvSpPr>
              <p:cNvPr id="52241" name="Line 25"/>
              <p:cNvSpPr/>
              <p:nvPr/>
            </p:nvSpPr>
            <p:spPr>
              <a:xfrm>
                <a:off x="3741" y="1865"/>
                <a:ext cx="1361" cy="0"/>
              </a:xfrm>
              <a:prstGeom prst="line">
                <a:avLst/>
              </a:prstGeom>
              <a:ln w="25400" cap="flat" cmpd="sng">
                <a:solidFill>
                  <a:schemeClr val="tx1"/>
                </a:solidFill>
                <a:prstDash val="solid"/>
                <a:headEnd type="none" w="med" len="med"/>
                <a:tailEnd type="none" w="med" len="med"/>
              </a:ln>
            </p:spPr>
          </p:sp>
          <p:sp>
            <p:nvSpPr>
              <p:cNvPr id="52242" name="AutoShape 30"/>
              <p:cNvSpPr/>
              <p:nvPr/>
            </p:nvSpPr>
            <p:spPr>
              <a:xfrm>
                <a:off x="5057" y="1796"/>
                <a:ext cx="113" cy="11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2243" name="AutoShape 32"/>
              <p:cNvSpPr/>
              <p:nvPr/>
            </p:nvSpPr>
            <p:spPr>
              <a:xfrm>
                <a:off x="4150" y="2387"/>
                <a:ext cx="113" cy="11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2244" name="AutoShape 33"/>
              <p:cNvSpPr/>
              <p:nvPr/>
            </p:nvSpPr>
            <p:spPr>
              <a:xfrm>
                <a:off x="3696" y="1796"/>
                <a:ext cx="113" cy="11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2245" name="Line 34"/>
              <p:cNvSpPr/>
              <p:nvPr/>
            </p:nvSpPr>
            <p:spPr>
              <a:xfrm flipV="1">
                <a:off x="4195" y="1888"/>
                <a:ext cx="908" cy="590"/>
              </a:xfrm>
              <a:prstGeom prst="line">
                <a:avLst/>
              </a:prstGeom>
              <a:ln w="25400" cap="flat" cmpd="sng">
                <a:solidFill>
                  <a:schemeClr val="tx1"/>
                </a:solidFill>
                <a:prstDash val="solid"/>
                <a:headEnd type="none" w="med" len="med"/>
                <a:tailEnd type="none" w="med" len="med"/>
              </a:ln>
            </p:spPr>
          </p:sp>
          <p:sp>
            <p:nvSpPr>
              <p:cNvPr id="52246" name="Oval 35"/>
              <p:cNvSpPr/>
              <p:nvPr/>
            </p:nvSpPr>
            <p:spPr>
              <a:xfrm rot="-3000000">
                <a:off x="3606" y="1434"/>
                <a:ext cx="723" cy="269"/>
              </a:xfrm>
              <a:prstGeom prst="ellipse">
                <a:avLst/>
              </a:prstGeom>
              <a:noFill/>
              <a:ln w="25400" cap="flat" cmpd="sng">
                <a:solidFill>
                  <a:schemeClr val="tx1"/>
                </a:solidFill>
                <a:prstDash val="solid"/>
                <a:headEnd type="none" w="med" len="med"/>
                <a:tailEnd type="none" w="med" len="med"/>
              </a:ln>
            </p:spPr>
            <p:txBody>
              <a:bodyPr vert="eaVert"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2247" name="Oval 37"/>
              <p:cNvSpPr/>
              <p:nvPr/>
            </p:nvSpPr>
            <p:spPr>
              <a:xfrm rot="3000000">
                <a:off x="3606" y="2024"/>
                <a:ext cx="723" cy="269"/>
              </a:xfrm>
              <a:prstGeom prst="ellipse">
                <a:avLst/>
              </a:prstGeom>
              <a:noFill/>
              <a:ln w="25400" cap="flat" cmpd="sng">
                <a:solidFill>
                  <a:schemeClr val="tx1"/>
                </a:solidFill>
                <a:prstDash val="solid"/>
                <a:headEnd type="none" w="med" len="med"/>
                <a:tailEnd type="none" w="med" len="med"/>
              </a:ln>
            </p:spPr>
            <p:txBody>
              <a:bodyPr rot="10800000" vert="eaVert"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7607"/>
                                        </p:tgtEl>
                                        <p:attrNameLst>
                                          <p:attrName>style.visibility</p:attrName>
                                        </p:attrNameLst>
                                      </p:cBhvr>
                                      <p:to>
                                        <p:strVal val="visible"/>
                                      </p:to>
                                    </p:set>
                                    <p:anim calcmode="lin" valueType="num">
                                      <p:cBhvr additive="base">
                                        <p:cTn id="7" dur="500" fill="hold"/>
                                        <p:tgtEl>
                                          <p:spTgt spid="237607"/>
                                        </p:tgtEl>
                                        <p:attrNameLst>
                                          <p:attrName>ppt_x</p:attrName>
                                        </p:attrNameLst>
                                      </p:cBhvr>
                                      <p:tavLst>
                                        <p:tav tm="0">
                                          <p:val>
                                            <p:strVal val="#ppt_x"/>
                                          </p:val>
                                        </p:tav>
                                        <p:tav tm="100000">
                                          <p:val>
                                            <p:strVal val="#ppt_x"/>
                                          </p:val>
                                        </p:tav>
                                      </p:tavLst>
                                    </p:anim>
                                    <p:anim calcmode="lin" valueType="num">
                                      <p:cBhvr additive="base">
                                        <p:cTn id="8" dur="500" fill="hold"/>
                                        <p:tgtEl>
                                          <p:spTgt spid="2376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3"/>
          <p:cNvSpPr>
            <a:spLocks noGrp="1"/>
          </p:cNvSpPr>
          <p:nvPr>
            <p:ph type="body"/>
          </p:nvPr>
        </p:nvSpPr>
        <p:spPr>
          <a:xfrm>
            <a:off x="457200" y="457200"/>
            <a:ext cx="7772400" cy="2362200"/>
          </a:xfrm>
        </p:spPr>
        <p:txBody>
          <a:bodyPr vert="horz" wrap="square" lIns="91440" tIns="45720" rIns="91440" bIns="45720" anchor="t"/>
          <a:p>
            <a:pPr eaLnBrk="1" hangingPunct="1">
              <a:buNone/>
            </a:pPr>
            <a:r>
              <a:rPr lang="en-US" altLang="zh-TW" sz="2800" b="1" dirty="0">
                <a:solidFill>
                  <a:srgbClr val="FF0000"/>
                </a:solidFill>
              </a:rPr>
              <a:t>Def 1:</a:t>
            </a:r>
            <a:endParaRPr lang="en-US" altLang="zh-TW" sz="2800" b="1" dirty="0">
              <a:solidFill>
                <a:srgbClr val="FF0000"/>
              </a:solidFill>
            </a:endParaRPr>
          </a:p>
          <a:p>
            <a:pPr eaLnBrk="1" hangingPunct="1">
              <a:buNone/>
            </a:pPr>
            <a:r>
              <a:rPr lang="en-US" altLang="zh-TW" sz="2800" dirty="0"/>
              <a:t>   An </a:t>
            </a:r>
            <a:r>
              <a:rPr lang="en-US" altLang="zh-TW" sz="2800" i="1" dirty="0">
                <a:solidFill>
                  <a:srgbClr val="0000CC"/>
                </a:solidFill>
              </a:rPr>
              <a:t>Euler circuit</a:t>
            </a:r>
            <a:r>
              <a:rPr lang="en-US" altLang="zh-TW" sz="2800" dirty="0"/>
              <a:t> in a graph </a:t>
            </a:r>
            <a:r>
              <a:rPr lang="en-US" altLang="zh-TW" sz="2800" i="1" dirty="0"/>
              <a:t>G</a:t>
            </a:r>
            <a:r>
              <a:rPr lang="en-US" altLang="zh-TW" sz="2800" dirty="0"/>
              <a:t> is a simple circuit containing every </a:t>
            </a:r>
            <a:r>
              <a:rPr lang="en-US" altLang="zh-TW" sz="2800" u="sng" dirty="0"/>
              <a:t>edge</a:t>
            </a:r>
            <a:r>
              <a:rPr lang="en-US" altLang="zh-TW" sz="2800" dirty="0"/>
              <a:t> of </a:t>
            </a:r>
            <a:r>
              <a:rPr lang="en-US" altLang="zh-TW" sz="2800" i="1" dirty="0"/>
              <a:t>G</a:t>
            </a:r>
            <a:r>
              <a:rPr lang="en-US" altLang="zh-TW" sz="2800" dirty="0"/>
              <a:t>.</a:t>
            </a:r>
            <a:br>
              <a:rPr lang="en-US" altLang="zh-TW" sz="2800" dirty="0"/>
            </a:br>
            <a:r>
              <a:rPr lang="en-US" altLang="zh-TW" sz="2800" dirty="0"/>
              <a:t>An </a:t>
            </a:r>
            <a:r>
              <a:rPr lang="en-US" altLang="zh-TW" sz="2800" i="1" dirty="0">
                <a:solidFill>
                  <a:srgbClr val="0000CC"/>
                </a:solidFill>
              </a:rPr>
              <a:t>Euler path</a:t>
            </a:r>
            <a:r>
              <a:rPr lang="en-US" altLang="zh-TW" sz="2800" dirty="0"/>
              <a:t> in </a:t>
            </a:r>
            <a:r>
              <a:rPr lang="en-US" altLang="zh-TW" sz="2800" i="1" dirty="0"/>
              <a:t>G</a:t>
            </a:r>
            <a:r>
              <a:rPr lang="en-US" altLang="zh-TW" sz="2800" dirty="0"/>
              <a:t> is a simple path containing every edge of </a:t>
            </a:r>
            <a:r>
              <a:rPr lang="en-US" altLang="zh-TW" sz="2800" i="1" dirty="0"/>
              <a:t>G</a:t>
            </a:r>
            <a:r>
              <a:rPr lang="en-US" altLang="zh-TW" sz="2800" dirty="0"/>
              <a:t>.</a:t>
            </a:r>
            <a:endParaRPr lang="en-US" altLang="zh-TW" sz="2800" dirty="0"/>
          </a:p>
        </p:txBody>
      </p:sp>
      <p:sp>
        <p:nvSpPr>
          <p:cNvPr id="53251" name="投影片編號版面配置區 6"/>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67" name="Rectangle 3"/>
          <p:cNvSpPr txBox="1">
            <a:spLocks noChangeArrowheads="1"/>
          </p:cNvSpPr>
          <p:nvPr/>
        </p:nvSpPr>
        <p:spPr bwMode="auto">
          <a:xfrm>
            <a:off x="457200" y="2819400"/>
            <a:ext cx="8229600" cy="3657600"/>
          </a:xfrm>
          <a:prstGeom prst="rect">
            <a:avLst/>
          </a:prstGeom>
          <a:noFill/>
          <a:ln w="9525">
            <a:solidFill>
              <a:schemeClr val="tx1"/>
            </a:solidFill>
            <a:miter lim="800000"/>
          </a:ln>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2800" b="1" kern="0" cap="none" spc="0" normalizeH="0" baseline="0" noProof="0" dirty="0" err="1">
                <a:solidFill>
                  <a:srgbClr val="FF0000"/>
                </a:solidFill>
                <a:latin typeface="+mn-lt"/>
                <a:ea typeface="+mn-ea"/>
                <a:cs typeface="+mn-cs"/>
              </a:rPr>
              <a:t>Thm</a:t>
            </a:r>
            <a:r>
              <a:rPr kumimoji="1" lang="en-US" altLang="zh-TW" sz="2800" b="1" kern="0" cap="none" spc="0" normalizeH="0" baseline="0" noProof="0" dirty="0">
                <a:solidFill>
                  <a:srgbClr val="FF0000"/>
                </a:solidFill>
                <a:latin typeface="+mn-lt"/>
                <a:ea typeface="+mn-ea"/>
                <a:cs typeface="+mn-cs"/>
              </a:rPr>
              <a:t>. 1:</a:t>
            </a:r>
            <a:br>
              <a:rPr kumimoji="1" lang="en-US" altLang="zh-TW" sz="2800" b="1" kern="0" cap="none" spc="0" normalizeH="0" baseline="0" noProof="0" dirty="0">
                <a:solidFill>
                  <a:srgbClr val="FF0000"/>
                </a:solidFill>
                <a:latin typeface="+mn-lt"/>
                <a:ea typeface="+mn-ea"/>
                <a:cs typeface="+mn-cs"/>
              </a:rPr>
            </a:br>
            <a:r>
              <a:rPr kumimoji="1" lang="en-US" altLang="zh-TW" sz="2800" kern="0" cap="none" spc="0" normalizeH="0" baseline="0" noProof="0" dirty="0">
                <a:latin typeface="+mn-lt"/>
                <a:ea typeface="+mn-ea"/>
                <a:cs typeface="+mn-cs"/>
              </a:rPr>
              <a:t>A connected </a:t>
            </a:r>
            <a:r>
              <a:rPr kumimoji="1" lang="en-US" altLang="zh-TW" sz="2800" kern="0" cap="none" spc="0" normalizeH="0" baseline="0" noProof="0" dirty="0" err="1">
                <a:latin typeface="+mn-lt"/>
                <a:ea typeface="+mn-ea"/>
                <a:cs typeface="+mn-cs"/>
              </a:rPr>
              <a:t>multigraph</a:t>
            </a:r>
            <a:r>
              <a:rPr kumimoji="1" lang="en-US" altLang="zh-TW" sz="2800" kern="0" cap="none" spc="0" normalizeH="0" baseline="0" noProof="0" dirty="0">
                <a:latin typeface="+mn-lt"/>
                <a:ea typeface="+mn-ea"/>
                <a:cs typeface="+mn-cs"/>
              </a:rPr>
              <a:t> with at least two vertices has an Euler circuit if and only if each of its vertices has </a:t>
            </a:r>
            <a:r>
              <a:rPr kumimoji="1" lang="en-US" altLang="zh-TW" sz="2800" u="sng" kern="0" cap="none" spc="0" normalizeH="0" baseline="0" noProof="0" dirty="0">
                <a:latin typeface="+mn-lt"/>
                <a:ea typeface="+mn-ea"/>
                <a:cs typeface="+mn-cs"/>
              </a:rPr>
              <a:t>even degree</a:t>
            </a:r>
            <a:r>
              <a:rPr kumimoji="1" lang="en-US" altLang="zh-TW" sz="2800" kern="0" cap="none" spc="0" normalizeH="0" baseline="0" noProof="0" dirty="0">
                <a:latin typeface="+mn-lt"/>
                <a:ea typeface="+mn-ea"/>
                <a:cs typeface="+mn-cs"/>
              </a:rPr>
              <a:t>.</a:t>
            </a:r>
            <a:endParaRPr kumimoji="1" lang="en-US" altLang="zh-TW" sz="2800" kern="0" cap="none" spc="0" normalizeH="0" baseline="0" noProof="0" dirty="0">
              <a:latin typeface="+mn-lt"/>
              <a:ea typeface="+mn-ea"/>
              <a:cs typeface="+mn-cs"/>
            </a:endParaRPr>
          </a:p>
          <a:p>
            <a:pPr marL="342900" marR="0" indent="-342900" defTabSz="914400">
              <a:spcBef>
                <a:spcPct val="20000"/>
              </a:spcBef>
              <a:buClr>
                <a:schemeClr val="bg2"/>
              </a:buClr>
              <a:buSzPct val="75000"/>
              <a:buFont typeface="Wingdings" panose="05000000000000000000" pitchFamily="2" charset="2"/>
              <a:buNone/>
              <a:defRPr/>
            </a:pPr>
            <a:r>
              <a:rPr kumimoji="1" lang="en-US" altLang="zh-TW" sz="2800" b="1" kern="0" cap="none" spc="0" normalizeH="0" baseline="0" noProof="0" dirty="0" err="1">
                <a:solidFill>
                  <a:srgbClr val="FF0000"/>
                </a:solidFill>
                <a:latin typeface="+mn-lt"/>
                <a:ea typeface="+mn-ea"/>
                <a:cs typeface="+mn-cs"/>
              </a:rPr>
              <a:t>Thm</a:t>
            </a:r>
            <a:r>
              <a:rPr kumimoji="1" lang="en-US" altLang="zh-TW" sz="2800" b="1" kern="0" cap="none" spc="0" normalizeH="0" baseline="0" noProof="0" dirty="0">
                <a:solidFill>
                  <a:srgbClr val="FF0000"/>
                </a:solidFill>
                <a:latin typeface="+mn-lt"/>
                <a:ea typeface="+mn-ea"/>
                <a:cs typeface="+mn-cs"/>
              </a:rPr>
              <a:t>. 2:</a:t>
            </a:r>
            <a:br>
              <a:rPr kumimoji="1" lang="en-US" altLang="zh-TW" sz="2800" kern="0" cap="none" spc="0" normalizeH="0" baseline="0" noProof="0" dirty="0">
                <a:solidFill>
                  <a:srgbClr val="800000"/>
                </a:solidFill>
                <a:latin typeface="+mn-lt"/>
                <a:ea typeface="+mn-ea"/>
                <a:cs typeface="+mn-cs"/>
              </a:rPr>
            </a:br>
            <a:r>
              <a:rPr kumimoji="1" lang="en-US" altLang="zh-TW" sz="2800" kern="0" cap="none" spc="0" normalizeH="0" baseline="0" noProof="0" dirty="0">
                <a:latin typeface="+mn-lt"/>
                <a:ea typeface="+mn-ea"/>
                <a:cs typeface="+mn-cs"/>
              </a:rPr>
              <a:t>A connected </a:t>
            </a:r>
            <a:r>
              <a:rPr kumimoji="1" lang="en-US" altLang="zh-TW" sz="2800" kern="0" cap="none" spc="0" normalizeH="0" baseline="0" noProof="0" dirty="0" err="1">
                <a:latin typeface="+mn-lt"/>
                <a:ea typeface="+mn-ea"/>
                <a:cs typeface="+mn-cs"/>
              </a:rPr>
              <a:t>multigraph</a:t>
            </a:r>
            <a:r>
              <a:rPr kumimoji="1" lang="en-US" altLang="zh-TW" sz="2800" kern="0" cap="none" spc="0" normalizeH="0" baseline="0" noProof="0" dirty="0">
                <a:latin typeface="+mn-lt"/>
                <a:ea typeface="+mn-ea"/>
                <a:cs typeface="+mn-cs"/>
              </a:rPr>
              <a:t> has an Euler path (</a:t>
            </a:r>
            <a:r>
              <a:rPr kumimoji="1" lang="en-US" altLang="zh-TW" sz="2800" kern="0" cap="none" spc="0" normalizeH="0" baseline="0" noProof="0" dirty="0">
                <a:solidFill>
                  <a:srgbClr val="008000"/>
                </a:solidFill>
                <a:latin typeface="+mn-lt"/>
                <a:ea typeface="+mn-ea"/>
                <a:cs typeface="+mn-cs"/>
              </a:rPr>
              <a:t>but not an Euler circuit</a:t>
            </a:r>
            <a:r>
              <a:rPr kumimoji="1" lang="en-US" altLang="zh-TW" sz="2800" kern="0" cap="none" spc="0" normalizeH="0" baseline="0" noProof="0" dirty="0">
                <a:latin typeface="+mn-lt"/>
                <a:ea typeface="+mn-ea"/>
                <a:cs typeface="+mn-cs"/>
              </a:rPr>
              <a:t>) if and only if it has exactly 2 vertices of odd degree.</a:t>
            </a:r>
            <a:endParaRPr kumimoji="1" lang="en-US" altLang="zh-TW" sz="2800" kern="0" cap="none" spc="0" normalizeH="0" baseline="0" noProof="0" dirty="0">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
                                            <p:txEl>
                                              <p:charRg st="132" end="264"/>
                                            </p:txEl>
                                          </p:spTgt>
                                        </p:tgtEl>
                                        <p:attrNameLst>
                                          <p:attrName>style.visibility</p:attrName>
                                        </p:attrNameLst>
                                      </p:cBhvr>
                                      <p:to>
                                        <p:strVal val="visible"/>
                                      </p:to>
                                    </p:set>
                                    <p:anim calcmode="lin" valueType="num">
                                      <p:cBhvr additive="base">
                                        <p:cTn id="7" dur="500" fill="hold"/>
                                        <p:tgtEl>
                                          <p:spTgt spid="67">
                                            <p:txEl>
                                              <p:charRg st="132" end="26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
                                            <p:txEl>
                                              <p:charRg st="132" end="26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236538" y="609600"/>
            <a:ext cx="8755063" cy="1077913"/>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3200" b="1" i="0" u="none" strike="noStrike" kern="0" cap="none" spc="0" normalizeH="0" baseline="0" noProof="0" dirty="0">
                <a:ln>
                  <a:noFill/>
                </a:ln>
                <a:solidFill>
                  <a:srgbClr val="008000"/>
                </a:solidFill>
                <a:effectLst/>
                <a:uLnTx/>
                <a:uFillTx/>
                <a:latin typeface="Arial" panose="020B0604020202020204"/>
                <a:ea typeface="PMingLiU"/>
                <a:cs typeface="+mn-cs"/>
              </a:rPr>
              <a:t>Example 1. </a:t>
            </a:r>
            <a:r>
              <a:rPr kumimoji="1" lang="en-US" altLang="zh-TW" sz="3200" b="0" i="0" u="none" strike="noStrike" kern="0" cap="none" spc="0" normalizeH="0" baseline="0" noProof="0" dirty="0">
                <a:ln>
                  <a:noFill/>
                </a:ln>
                <a:solidFill>
                  <a:schemeClr val="tx1"/>
                </a:solidFill>
                <a:effectLst/>
                <a:uLnTx/>
                <a:uFillTx/>
                <a:latin typeface="Arial" panose="020B0604020202020204"/>
                <a:ea typeface="PMingLiU"/>
                <a:cs typeface="+mn-cs"/>
              </a:rPr>
              <a:t>Which of the following graphs have </a:t>
            </a:r>
            <a:br>
              <a:rPr kumimoji="1" lang="en-US" altLang="zh-TW" sz="3200" b="0" i="0" u="none" strike="noStrike" kern="0" cap="none" spc="0" normalizeH="0" baseline="0" noProof="0" dirty="0">
                <a:ln>
                  <a:noFill/>
                </a:ln>
                <a:solidFill>
                  <a:schemeClr val="tx1"/>
                </a:solidFill>
                <a:effectLst/>
                <a:uLnTx/>
                <a:uFillTx/>
                <a:latin typeface="Arial" panose="020B0604020202020204"/>
                <a:ea typeface="PMingLiU"/>
                <a:cs typeface="+mn-cs"/>
              </a:rPr>
            </a:br>
            <a:r>
              <a:rPr kumimoji="1" lang="en-US" altLang="zh-TW" sz="3200" b="0" i="0" u="none" strike="noStrike" kern="0" cap="none" spc="0" normalizeH="0" baseline="0" noProof="0" dirty="0">
                <a:ln>
                  <a:noFill/>
                </a:ln>
                <a:solidFill>
                  <a:schemeClr val="tx1"/>
                </a:solidFill>
                <a:effectLst/>
                <a:uLnTx/>
                <a:uFillTx/>
                <a:latin typeface="Arial" panose="020B0604020202020204"/>
                <a:ea typeface="PMingLiU"/>
                <a:cs typeface="+mn-cs"/>
              </a:rPr>
              <a:t>an Euler circuit or an Euler path? </a:t>
            </a:r>
            <a:endParaRPr kumimoji="1" lang="en-US" altLang="zh-TW" sz="3200" b="1" i="0" u="none" strike="noStrike" kern="0" cap="none" spc="0" normalizeH="0" baseline="0" noProof="0" dirty="0">
              <a:ln>
                <a:noFill/>
              </a:ln>
              <a:solidFill>
                <a:srgbClr val="008000"/>
              </a:solidFill>
              <a:effectLst/>
              <a:uLnTx/>
              <a:uFillTx/>
              <a:latin typeface="Arial" panose="020B0604020202020204"/>
              <a:ea typeface="PMingLiU"/>
              <a:cs typeface="+mn-cs"/>
            </a:endParaRPr>
          </a:p>
        </p:txBody>
      </p:sp>
      <p:sp>
        <p:nvSpPr>
          <p:cNvPr id="54275" name="投影片編號版面配置區 6"/>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grpSp>
        <p:nvGrpSpPr>
          <p:cNvPr id="2" name="群組 63"/>
          <p:cNvGrpSpPr/>
          <p:nvPr/>
        </p:nvGrpSpPr>
        <p:grpSpPr>
          <a:xfrm>
            <a:off x="304800" y="1752600"/>
            <a:ext cx="8472488" cy="2101850"/>
            <a:chOff x="381000" y="3994201"/>
            <a:chExt cx="8472734" cy="2101503"/>
          </a:xfrm>
        </p:grpSpPr>
        <p:sp>
          <p:nvSpPr>
            <p:cNvPr id="54281" name="Line 23"/>
            <p:cNvSpPr/>
            <p:nvPr/>
          </p:nvSpPr>
          <p:spPr>
            <a:xfrm flipV="1">
              <a:off x="3733800" y="4464000"/>
              <a:ext cx="1296000" cy="0"/>
            </a:xfrm>
            <a:prstGeom prst="line">
              <a:avLst/>
            </a:prstGeom>
            <a:ln w="25400" cap="flat" cmpd="sng">
              <a:solidFill>
                <a:schemeClr val="tx1"/>
              </a:solidFill>
              <a:prstDash val="solid"/>
              <a:headEnd type="none" w="med" len="med"/>
              <a:tailEnd type="none" w="med" len="med"/>
            </a:ln>
          </p:spPr>
        </p:sp>
        <p:sp>
          <p:nvSpPr>
            <p:cNvPr id="54282" name="AutoShape 11"/>
            <p:cNvSpPr/>
            <p:nvPr/>
          </p:nvSpPr>
          <p:spPr>
            <a:xfrm>
              <a:off x="2133600" y="4419601"/>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283" name="Text Box 12"/>
            <p:cNvSpPr txBox="1"/>
            <p:nvPr/>
          </p:nvSpPr>
          <p:spPr>
            <a:xfrm>
              <a:off x="685809" y="4191019"/>
              <a:ext cx="336560" cy="4571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54284" name="Line 23"/>
            <p:cNvSpPr/>
            <p:nvPr/>
          </p:nvSpPr>
          <p:spPr>
            <a:xfrm flipV="1">
              <a:off x="1066800" y="4495800"/>
              <a:ext cx="1143000" cy="0"/>
            </a:xfrm>
            <a:prstGeom prst="line">
              <a:avLst/>
            </a:prstGeom>
            <a:ln w="25400" cap="flat" cmpd="sng">
              <a:solidFill>
                <a:schemeClr val="tx1"/>
              </a:solidFill>
              <a:prstDash val="solid"/>
              <a:headEnd type="none" w="med" len="med"/>
              <a:tailEnd type="none" w="med" len="med"/>
            </a:ln>
          </p:spPr>
        </p:sp>
        <p:sp>
          <p:nvSpPr>
            <p:cNvPr id="54285" name="Line 25"/>
            <p:cNvSpPr/>
            <p:nvPr/>
          </p:nvSpPr>
          <p:spPr>
            <a:xfrm>
              <a:off x="1066800" y="4495800"/>
              <a:ext cx="1371601" cy="1295401"/>
            </a:xfrm>
            <a:prstGeom prst="line">
              <a:avLst/>
            </a:prstGeom>
            <a:ln w="25400" cap="flat" cmpd="sng">
              <a:solidFill>
                <a:schemeClr val="tx1"/>
              </a:solidFill>
              <a:prstDash val="solid"/>
              <a:headEnd type="none" w="med" len="med"/>
              <a:tailEnd type="none" w="med" len="med"/>
            </a:ln>
          </p:spPr>
        </p:sp>
        <p:sp>
          <p:nvSpPr>
            <p:cNvPr id="54286" name="AutoShape 30"/>
            <p:cNvSpPr/>
            <p:nvPr/>
          </p:nvSpPr>
          <p:spPr>
            <a:xfrm>
              <a:off x="2340000" y="56520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287" name="AutoShape 32"/>
            <p:cNvSpPr/>
            <p:nvPr/>
          </p:nvSpPr>
          <p:spPr>
            <a:xfrm>
              <a:off x="990600" y="56520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288" name="AutoShape 33"/>
            <p:cNvSpPr/>
            <p:nvPr/>
          </p:nvSpPr>
          <p:spPr>
            <a:xfrm>
              <a:off x="990600" y="44280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289" name="Line 34"/>
            <p:cNvSpPr/>
            <p:nvPr/>
          </p:nvSpPr>
          <p:spPr>
            <a:xfrm flipV="1">
              <a:off x="1066800" y="4572000"/>
              <a:ext cx="1106022" cy="1219200"/>
            </a:xfrm>
            <a:prstGeom prst="line">
              <a:avLst/>
            </a:prstGeom>
            <a:ln w="25400" cap="flat" cmpd="sng">
              <a:solidFill>
                <a:schemeClr val="tx1"/>
              </a:solidFill>
              <a:prstDash val="solid"/>
              <a:headEnd type="none" w="med" len="med"/>
              <a:tailEnd type="none" w="med" len="med"/>
            </a:ln>
          </p:spPr>
        </p:sp>
        <p:sp>
          <p:nvSpPr>
            <p:cNvPr id="54290" name="Line 23"/>
            <p:cNvSpPr/>
            <p:nvPr/>
          </p:nvSpPr>
          <p:spPr>
            <a:xfrm flipV="1">
              <a:off x="1066800" y="5745481"/>
              <a:ext cx="1295400" cy="0"/>
            </a:xfrm>
            <a:prstGeom prst="line">
              <a:avLst/>
            </a:prstGeom>
            <a:ln w="25400" cap="flat" cmpd="sng">
              <a:solidFill>
                <a:schemeClr val="tx1"/>
              </a:solidFill>
              <a:prstDash val="solid"/>
              <a:headEnd type="none" w="med" len="med"/>
              <a:tailEnd type="none" w="med" len="med"/>
            </a:ln>
          </p:spPr>
        </p:sp>
        <p:sp>
          <p:nvSpPr>
            <p:cNvPr id="54291" name="Text Box 12"/>
            <p:cNvSpPr txBox="1"/>
            <p:nvPr/>
          </p:nvSpPr>
          <p:spPr>
            <a:xfrm>
              <a:off x="2286056" y="4267206"/>
              <a:ext cx="336559"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sp>
          <p:nvSpPr>
            <p:cNvPr id="54292" name="Text Box 12"/>
            <p:cNvSpPr txBox="1"/>
            <p:nvPr/>
          </p:nvSpPr>
          <p:spPr>
            <a:xfrm>
              <a:off x="381000" y="4800518"/>
              <a:ext cx="561991" cy="5190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G</a:t>
              </a:r>
              <a:r>
                <a:rPr lang="en-US" altLang="zh-TW" sz="2800" baseline="-25000" dirty="0">
                  <a:latin typeface="Times New Roman" panose="02020603050405020304" pitchFamily="18" charset="0"/>
                  <a:cs typeface="Times New Roman" panose="02020603050405020304" pitchFamily="18" charset="0"/>
                </a:rPr>
                <a:t>1</a:t>
              </a:r>
              <a:endParaRPr lang="en-US" altLang="zh-TW" sz="2800" baseline="-25000" dirty="0">
                <a:latin typeface="Times New Roman" panose="02020603050405020304" pitchFamily="18" charset="0"/>
                <a:ea typeface="Times New Roman" panose="02020603050405020304" pitchFamily="18" charset="0"/>
              </a:endParaRPr>
            </a:p>
          </p:txBody>
        </p:sp>
        <p:sp>
          <p:nvSpPr>
            <p:cNvPr id="54293" name="Text Box 12"/>
            <p:cNvSpPr txBox="1"/>
            <p:nvPr/>
          </p:nvSpPr>
          <p:spPr>
            <a:xfrm>
              <a:off x="2438460" y="5562392"/>
              <a:ext cx="319097"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sp>
          <p:nvSpPr>
            <p:cNvPr id="54294" name="AutoShape 11"/>
            <p:cNvSpPr/>
            <p:nvPr/>
          </p:nvSpPr>
          <p:spPr>
            <a:xfrm>
              <a:off x="1600200" y="5029201"/>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295" name="Text Box 12"/>
            <p:cNvSpPr txBox="1"/>
            <p:nvPr/>
          </p:nvSpPr>
          <p:spPr>
            <a:xfrm>
              <a:off x="1828842" y="4876705"/>
              <a:ext cx="319097"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54296" name="Text Box 12"/>
            <p:cNvSpPr txBox="1"/>
            <p:nvPr/>
          </p:nvSpPr>
          <p:spPr>
            <a:xfrm>
              <a:off x="685809" y="5638580"/>
              <a:ext cx="336560" cy="4571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54297" name="AutoShape 11"/>
            <p:cNvSpPr/>
            <p:nvPr/>
          </p:nvSpPr>
          <p:spPr>
            <a:xfrm>
              <a:off x="4953000" y="43434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298" name="Text Box 12"/>
            <p:cNvSpPr txBox="1"/>
            <p:nvPr/>
          </p:nvSpPr>
          <p:spPr>
            <a:xfrm>
              <a:off x="3352887" y="4114831"/>
              <a:ext cx="336559"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54299" name="Line 25"/>
            <p:cNvSpPr/>
            <p:nvPr/>
          </p:nvSpPr>
          <p:spPr>
            <a:xfrm>
              <a:off x="3810000" y="4495800"/>
              <a:ext cx="1295401" cy="1219201"/>
            </a:xfrm>
            <a:prstGeom prst="line">
              <a:avLst/>
            </a:prstGeom>
            <a:ln w="25400" cap="flat" cmpd="sng">
              <a:solidFill>
                <a:schemeClr val="tx1"/>
              </a:solidFill>
              <a:prstDash val="solid"/>
              <a:headEnd type="none" w="med" len="med"/>
              <a:tailEnd type="none" w="med" len="med"/>
            </a:ln>
          </p:spPr>
        </p:sp>
        <p:sp>
          <p:nvSpPr>
            <p:cNvPr id="54300" name="AutoShape 30"/>
            <p:cNvSpPr/>
            <p:nvPr/>
          </p:nvSpPr>
          <p:spPr>
            <a:xfrm>
              <a:off x="4968000" y="56160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01" name="AutoShape 32"/>
            <p:cNvSpPr/>
            <p:nvPr/>
          </p:nvSpPr>
          <p:spPr>
            <a:xfrm>
              <a:off x="3657600" y="5638801"/>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02" name="AutoShape 33"/>
            <p:cNvSpPr/>
            <p:nvPr/>
          </p:nvSpPr>
          <p:spPr>
            <a:xfrm>
              <a:off x="3657600" y="43920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03" name="Line 34"/>
            <p:cNvSpPr/>
            <p:nvPr/>
          </p:nvSpPr>
          <p:spPr>
            <a:xfrm flipV="1">
              <a:off x="3780000" y="4419600"/>
              <a:ext cx="1295400" cy="1295400"/>
            </a:xfrm>
            <a:prstGeom prst="line">
              <a:avLst/>
            </a:prstGeom>
            <a:ln w="25400" cap="flat" cmpd="sng">
              <a:solidFill>
                <a:schemeClr val="tx1"/>
              </a:solidFill>
              <a:prstDash val="solid"/>
              <a:headEnd type="none" w="med" len="med"/>
              <a:tailEnd type="none" w="med" len="med"/>
            </a:ln>
          </p:spPr>
        </p:sp>
        <p:sp>
          <p:nvSpPr>
            <p:cNvPr id="54304" name="Line 23"/>
            <p:cNvSpPr/>
            <p:nvPr/>
          </p:nvSpPr>
          <p:spPr>
            <a:xfrm flipV="1">
              <a:off x="3733800" y="5724000"/>
              <a:ext cx="1295400" cy="0"/>
            </a:xfrm>
            <a:prstGeom prst="line">
              <a:avLst/>
            </a:prstGeom>
            <a:ln w="25400" cap="flat" cmpd="sng">
              <a:solidFill>
                <a:schemeClr val="tx1"/>
              </a:solidFill>
              <a:prstDash val="solid"/>
              <a:headEnd type="none" w="med" len="med"/>
              <a:tailEnd type="none" w="med" len="med"/>
            </a:ln>
          </p:spPr>
        </p:sp>
        <p:sp>
          <p:nvSpPr>
            <p:cNvPr id="54305" name="Text Box 12"/>
            <p:cNvSpPr txBox="1"/>
            <p:nvPr/>
          </p:nvSpPr>
          <p:spPr>
            <a:xfrm>
              <a:off x="5105538" y="4191019"/>
              <a:ext cx="336560" cy="4571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sp>
          <p:nvSpPr>
            <p:cNvPr id="54306" name="Text Box 12"/>
            <p:cNvSpPr txBox="1"/>
            <p:nvPr/>
          </p:nvSpPr>
          <p:spPr>
            <a:xfrm>
              <a:off x="3124280" y="4800518"/>
              <a:ext cx="561991" cy="5190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G</a:t>
              </a:r>
              <a:r>
                <a:rPr lang="en-US" altLang="zh-TW" sz="2800" baseline="-25000" dirty="0">
                  <a:latin typeface="Times New Roman" panose="02020603050405020304" pitchFamily="18" charset="0"/>
                  <a:cs typeface="Times New Roman" panose="02020603050405020304" pitchFamily="18" charset="0"/>
                </a:rPr>
                <a:t>2</a:t>
              </a:r>
              <a:endParaRPr lang="en-US" altLang="zh-TW" sz="2800" baseline="-25000" dirty="0">
                <a:latin typeface="Times New Roman" panose="02020603050405020304" pitchFamily="18" charset="0"/>
                <a:ea typeface="Times New Roman" panose="02020603050405020304" pitchFamily="18" charset="0"/>
              </a:endParaRPr>
            </a:p>
          </p:txBody>
        </p:sp>
        <p:sp>
          <p:nvSpPr>
            <p:cNvPr id="54307" name="Text Box 12"/>
            <p:cNvSpPr txBox="1"/>
            <p:nvPr/>
          </p:nvSpPr>
          <p:spPr>
            <a:xfrm>
              <a:off x="5105538" y="5486205"/>
              <a:ext cx="319097" cy="4571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sp>
          <p:nvSpPr>
            <p:cNvPr id="54308" name="AutoShape 11"/>
            <p:cNvSpPr/>
            <p:nvPr/>
          </p:nvSpPr>
          <p:spPr>
            <a:xfrm>
              <a:off x="4320000" y="49680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09" name="Text Box 12"/>
            <p:cNvSpPr txBox="1"/>
            <p:nvPr/>
          </p:nvSpPr>
          <p:spPr>
            <a:xfrm>
              <a:off x="4495920" y="4800518"/>
              <a:ext cx="319097" cy="4571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54310" name="Text Box 12"/>
            <p:cNvSpPr txBox="1"/>
            <p:nvPr/>
          </p:nvSpPr>
          <p:spPr>
            <a:xfrm>
              <a:off x="3352887" y="5562392"/>
              <a:ext cx="336559"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54311" name="Line 25"/>
            <p:cNvSpPr/>
            <p:nvPr/>
          </p:nvSpPr>
          <p:spPr>
            <a:xfrm>
              <a:off x="3744000" y="4495800"/>
              <a:ext cx="0" cy="1143000"/>
            </a:xfrm>
            <a:prstGeom prst="line">
              <a:avLst/>
            </a:prstGeom>
            <a:ln w="25400" cap="flat" cmpd="sng">
              <a:solidFill>
                <a:schemeClr val="tx1"/>
              </a:solidFill>
              <a:prstDash val="solid"/>
              <a:headEnd type="none" w="med" len="med"/>
              <a:tailEnd type="none" w="med" len="med"/>
            </a:ln>
          </p:spPr>
        </p:sp>
        <p:sp>
          <p:nvSpPr>
            <p:cNvPr id="54312" name="Line 25"/>
            <p:cNvSpPr/>
            <p:nvPr/>
          </p:nvSpPr>
          <p:spPr>
            <a:xfrm flipH="1">
              <a:off x="5076000" y="4419600"/>
              <a:ext cx="0" cy="1295400"/>
            </a:xfrm>
            <a:prstGeom prst="line">
              <a:avLst/>
            </a:prstGeom>
            <a:ln w="25400" cap="flat" cmpd="sng">
              <a:solidFill>
                <a:schemeClr val="tx1"/>
              </a:solidFill>
              <a:prstDash val="solid"/>
              <a:headEnd type="none" w="med" len="med"/>
              <a:tailEnd type="none" w="med" len="med"/>
            </a:ln>
          </p:spPr>
        </p:sp>
        <p:sp>
          <p:nvSpPr>
            <p:cNvPr id="54313" name="Line 23"/>
            <p:cNvSpPr/>
            <p:nvPr/>
          </p:nvSpPr>
          <p:spPr>
            <a:xfrm flipV="1">
              <a:off x="6248400" y="4343400"/>
              <a:ext cx="1296000" cy="0"/>
            </a:xfrm>
            <a:prstGeom prst="line">
              <a:avLst/>
            </a:prstGeom>
            <a:ln w="25400" cap="flat" cmpd="sng">
              <a:solidFill>
                <a:schemeClr val="tx1"/>
              </a:solidFill>
              <a:prstDash val="solid"/>
              <a:headEnd type="none" w="med" len="med"/>
              <a:tailEnd type="none" w="med" len="med"/>
            </a:ln>
          </p:spPr>
        </p:sp>
        <p:sp>
          <p:nvSpPr>
            <p:cNvPr id="54314" name="AutoShape 11"/>
            <p:cNvSpPr/>
            <p:nvPr/>
          </p:nvSpPr>
          <p:spPr>
            <a:xfrm>
              <a:off x="7467600" y="42228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15" name="Text Box 12"/>
            <p:cNvSpPr txBox="1"/>
            <p:nvPr/>
          </p:nvSpPr>
          <p:spPr>
            <a:xfrm>
              <a:off x="5867560" y="3994201"/>
              <a:ext cx="336560"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a</a:t>
              </a:r>
              <a:endParaRPr lang="en-US" altLang="zh-TW" sz="2400" i="1" dirty="0">
                <a:latin typeface="Times New Roman" panose="02020603050405020304" pitchFamily="18" charset="0"/>
                <a:ea typeface="Times New Roman" panose="02020603050405020304" pitchFamily="18" charset="0"/>
              </a:endParaRPr>
            </a:p>
          </p:txBody>
        </p:sp>
        <p:sp>
          <p:nvSpPr>
            <p:cNvPr id="54316" name="Line 25"/>
            <p:cNvSpPr/>
            <p:nvPr/>
          </p:nvSpPr>
          <p:spPr>
            <a:xfrm>
              <a:off x="6324600" y="4375200"/>
              <a:ext cx="1295401" cy="1219201"/>
            </a:xfrm>
            <a:prstGeom prst="line">
              <a:avLst/>
            </a:prstGeom>
            <a:ln w="25400" cap="flat" cmpd="sng">
              <a:solidFill>
                <a:schemeClr val="tx1"/>
              </a:solidFill>
              <a:prstDash val="solid"/>
              <a:headEnd type="none" w="med" len="med"/>
              <a:tailEnd type="none" w="med" len="med"/>
            </a:ln>
          </p:spPr>
        </p:sp>
        <p:sp>
          <p:nvSpPr>
            <p:cNvPr id="54317" name="AutoShape 30"/>
            <p:cNvSpPr/>
            <p:nvPr/>
          </p:nvSpPr>
          <p:spPr>
            <a:xfrm>
              <a:off x="7482600" y="54954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18" name="AutoShape 32"/>
            <p:cNvSpPr/>
            <p:nvPr/>
          </p:nvSpPr>
          <p:spPr>
            <a:xfrm>
              <a:off x="6172200" y="5518201"/>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19" name="AutoShape 33"/>
            <p:cNvSpPr/>
            <p:nvPr/>
          </p:nvSpPr>
          <p:spPr>
            <a:xfrm>
              <a:off x="6172200" y="42714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20" name="Line 34"/>
            <p:cNvSpPr/>
            <p:nvPr/>
          </p:nvSpPr>
          <p:spPr>
            <a:xfrm flipH="1" flipV="1">
              <a:off x="7590000" y="4299000"/>
              <a:ext cx="1096800" cy="1263600"/>
            </a:xfrm>
            <a:prstGeom prst="line">
              <a:avLst/>
            </a:prstGeom>
            <a:ln w="25400" cap="flat" cmpd="sng">
              <a:solidFill>
                <a:schemeClr val="tx1"/>
              </a:solidFill>
              <a:prstDash val="solid"/>
              <a:headEnd type="none" w="med" len="med"/>
              <a:tailEnd type="none" w="med" len="med"/>
            </a:ln>
          </p:spPr>
        </p:sp>
        <p:sp>
          <p:nvSpPr>
            <p:cNvPr id="54321" name="Line 23"/>
            <p:cNvSpPr/>
            <p:nvPr/>
          </p:nvSpPr>
          <p:spPr>
            <a:xfrm flipV="1">
              <a:off x="6248400" y="5603400"/>
              <a:ext cx="2448000" cy="0"/>
            </a:xfrm>
            <a:prstGeom prst="line">
              <a:avLst/>
            </a:prstGeom>
            <a:ln w="25400" cap="flat" cmpd="sng">
              <a:solidFill>
                <a:schemeClr val="tx1"/>
              </a:solidFill>
              <a:prstDash val="solid"/>
              <a:headEnd type="none" w="med" len="med"/>
              <a:tailEnd type="none" w="med" len="med"/>
            </a:ln>
          </p:spPr>
        </p:sp>
        <p:sp>
          <p:nvSpPr>
            <p:cNvPr id="54322" name="Text Box 12"/>
            <p:cNvSpPr txBox="1"/>
            <p:nvPr/>
          </p:nvSpPr>
          <p:spPr>
            <a:xfrm>
              <a:off x="7620211" y="4070388"/>
              <a:ext cx="336560"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b</a:t>
              </a:r>
              <a:endParaRPr lang="en-US" altLang="zh-TW" sz="2400" i="1" dirty="0">
                <a:latin typeface="Times New Roman" panose="02020603050405020304" pitchFamily="18" charset="0"/>
                <a:ea typeface="Times New Roman" panose="02020603050405020304" pitchFamily="18" charset="0"/>
              </a:endParaRPr>
            </a:p>
          </p:txBody>
        </p:sp>
        <p:sp>
          <p:nvSpPr>
            <p:cNvPr id="54323" name="Text Box 12"/>
            <p:cNvSpPr txBox="1"/>
            <p:nvPr/>
          </p:nvSpPr>
          <p:spPr>
            <a:xfrm>
              <a:off x="8229829" y="4038644"/>
              <a:ext cx="561991" cy="51902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cs typeface="Times New Roman" panose="02020603050405020304" pitchFamily="18" charset="0"/>
                </a:rPr>
                <a:t>G</a:t>
              </a:r>
              <a:r>
                <a:rPr lang="en-US" altLang="zh-TW" sz="2800" baseline="-25000" dirty="0">
                  <a:latin typeface="Times New Roman" panose="02020603050405020304" pitchFamily="18" charset="0"/>
                  <a:cs typeface="Times New Roman" panose="02020603050405020304" pitchFamily="18" charset="0"/>
                </a:rPr>
                <a:t>3</a:t>
              </a:r>
              <a:endParaRPr lang="en-US" altLang="zh-TW" sz="2800" baseline="-25000" dirty="0">
                <a:latin typeface="Times New Roman" panose="02020603050405020304" pitchFamily="18" charset="0"/>
                <a:ea typeface="Times New Roman" panose="02020603050405020304" pitchFamily="18" charset="0"/>
              </a:endParaRPr>
            </a:p>
          </p:txBody>
        </p:sp>
        <p:sp>
          <p:nvSpPr>
            <p:cNvPr id="54324" name="Text Box 12"/>
            <p:cNvSpPr txBox="1"/>
            <p:nvPr/>
          </p:nvSpPr>
          <p:spPr>
            <a:xfrm>
              <a:off x="6096167" y="5562392"/>
              <a:ext cx="319096"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c</a:t>
              </a:r>
              <a:endParaRPr lang="en-US" altLang="zh-TW" sz="2400" i="1" dirty="0">
                <a:latin typeface="Times New Roman" panose="02020603050405020304" pitchFamily="18" charset="0"/>
                <a:ea typeface="Times New Roman" panose="02020603050405020304" pitchFamily="18" charset="0"/>
              </a:endParaRPr>
            </a:p>
          </p:txBody>
        </p:sp>
        <p:sp>
          <p:nvSpPr>
            <p:cNvPr id="54325" name="AutoShape 11"/>
            <p:cNvSpPr/>
            <p:nvPr/>
          </p:nvSpPr>
          <p:spPr>
            <a:xfrm>
              <a:off x="8610600" y="5486400"/>
              <a:ext cx="166093" cy="15249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4326" name="Text Box 12"/>
            <p:cNvSpPr txBox="1"/>
            <p:nvPr/>
          </p:nvSpPr>
          <p:spPr>
            <a:xfrm>
              <a:off x="8534638" y="5562392"/>
              <a:ext cx="319096"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e</a:t>
              </a:r>
              <a:endParaRPr lang="en-US" altLang="zh-TW" sz="2400" i="1" dirty="0">
                <a:latin typeface="Times New Roman" panose="02020603050405020304" pitchFamily="18" charset="0"/>
                <a:ea typeface="Times New Roman" panose="02020603050405020304" pitchFamily="18" charset="0"/>
              </a:endParaRPr>
            </a:p>
          </p:txBody>
        </p:sp>
        <p:sp>
          <p:nvSpPr>
            <p:cNvPr id="54327" name="Text Box 12"/>
            <p:cNvSpPr txBox="1"/>
            <p:nvPr/>
          </p:nvSpPr>
          <p:spPr>
            <a:xfrm>
              <a:off x="7467806" y="5562392"/>
              <a:ext cx="336560" cy="457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d</a:t>
              </a:r>
              <a:endParaRPr lang="en-US" altLang="zh-TW" sz="2400" i="1" dirty="0">
                <a:latin typeface="Times New Roman" panose="02020603050405020304" pitchFamily="18" charset="0"/>
                <a:ea typeface="Times New Roman" panose="02020603050405020304" pitchFamily="18" charset="0"/>
              </a:endParaRPr>
            </a:p>
          </p:txBody>
        </p:sp>
        <p:sp>
          <p:nvSpPr>
            <p:cNvPr id="54328" name="Line 25"/>
            <p:cNvSpPr/>
            <p:nvPr/>
          </p:nvSpPr>
          <p:spPr>
            <a:xfrm>
              <a:off x="6258600" y="4375200"/>
              <a:ext cx="0" cy="1143000"/>
            </a:xfrm>
            <a:prstGeom prst="line">
              <a:avLst/>
            </a:prstGeom>
            <a:ln w="25400" cap="flat" cmpd="sng">
              <a:solidFill>
                <a:schemeClr val="tx1"/>
              </a:solidFill>
              <a:prstDash val="solid"/>
              <a:headEnd type="none" w="med" len="med"/>
              <a:tailEnd type="none" w="med" len="med"/>
            </a:ln>
          </p:spPr>
        </p:sp>
        <p:sp>
          <p:nvSpPr>
            <p:cNvPr id="54329" name="Line 25"/>
            <p:cNvSpPr/>
            <p:nvPr/>
          </p:nvSpPr>
          <p:spPr>
            <a:xfrm flipH="1">
              <a:off x="7590600" y="4299000"/>
              <a:ext cx="0" cy="1295400"/>
            </a:xfrm>
            <a:prstGeom prst="line">
              <a:avLst/>
            </a:prstGeom>
            <a:ln w="25400" cap="flat" cmpd="sng">
              <a:solidFill>
                <a:schemeClr val="tx1"/>
              </a:solidFill>
              <a:prstDash val="solid"/>
              <a:headEnd type="none" w="med" len="med"/>
              <a:tailEnd type="none" w="med" len="med"/>
            </a:ln>
          </p:spPr>
        </p:sp>
      </p:grpSp>
      <p:sp>
        <p:nvSpPr>
          <p:cNvPr id="63" name="矩形 62"/>
          <p:cNvSpPr/>
          <p:nvPr/>
        </p:nvSpPr>
        <p:spPr>
          <a:xfrm>
            <a:off x="762000" y="3886200"/>
            <a:ext cx="18796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Euler circuit </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5" name="矩形 64"/>
          <p:cNvSpPr/>
          <p:nvPr/>
        </p:nvSpPr>
        <p:spPr>
          <a:xfrm>
            <a:off x="6400800" y="3810000"/>
            <a:ext cx="1589088"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Euler path</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6" name="矩形 65"/>
          <p:cNvSpPr/>
          <p:nvPr/>
        </p:nvSpPr>
        <p:spPr>
          <a:xfrm>
            <a:off x="3962400" y="3810000"/>
            <a:ext cx="871538"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none</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7" name="矩形 66"/>
          <p:cNvSpPr/>
          <p:nvPr/>
        </p:nvSpPr>
        <p:spPr>
          <a:xfrm>
            <a:off x="457200" y="5181600"/>
            <a:ext cx="3776663"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3, 5, 21, 26, 28</a:t>
            </a:r>
            <a:endParaRPr lang="zh-TW" altLang="en-US" sz="24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additive="base">
                                        <p:cTn id="13" dur="500" fill="hold"/>
                                        <p:tgtEl>
                                          <p:spTgt spid="63"/>
                                        </p:tgtEl>
                                        <p:attrNameLst>
                                          <p:attrName>ppt_x</p:attrName>
                                        </p:attrNameLst>
                                      </p:cBhvr>
                                      <p:tavLst>
                                        <p:tav tm="0">
                                          <p:val>
                                            <p:strVal val="#ppt_x"/>
                                          </p:val>
                                        </p:tav>
                                        <p:tav tm="100000">
                                          <p:val>
                                            <p:strVal val="#ppt_x"/>
                                          </p:val>
                                        </p:tav>
                                      </p:tavLst>
                                    </p:anim>
                                    <p:anim calcmode="lin" valueType="num">
                                      <p:cBhvr additive="base">
                                        <p:cTn id="14"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
                                        </p:tgtEl>
                                        <p:attrNameLst>
                                          <p:attrName>style.visibility</p:attrName>
                                        </p:attrNameLst>
                                      </p:cBhvr>
                                      <p:to>
                                        <p:strVal val="visible"/>
                                      </p:to>
                                    </p:set>
                                    <p:anim calcmode="lin" valueType="num">
                                      <p:cBhvr additive="base">
                                        <p:cTn id="19" dur="500" fill="hold"/>
                                        <p:tgtEl>
                                          <p:spTgt spid="66"/>
                                        </p:tgtEl>
                                        <p:attrNameLst>
                                          <p:attrName>ppt_x</p:attrName>
                                        </p:attrNameLst>
                                      </p:cBhvr>
                                      <p:tavLst>
                                        <p:tav tm="0">
                                          <p:val>
                                            <p:strVal val="#ppt_x"/>
                                          </p:val>
                                        </p:tav>
                                        <p:tav tm="100000">
                                          <p:val>
                                            <p:strVal val="#ppt_x"/>
                                          </p:val>
                                        </p:tav>
                                      </p:tavLst>
                                    </p:anim>
                                    <p:anim calcmode="lin" valueType="num">
                                      <p:cBhvr additive="base">
                                        <p:cTn id="20"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anim calcmode="lin" valueType="num">
                                      <p:cBhvr additive="base">
                                        <p:cTn id="25" dur="500" fill="hold"/>
                                        <p:tgtEl>
                                          <p:spTgt spid="65"/>
                                        </p:tgtEl>
                                        <p:attrNameLst>
                                          <p:attrName>ppt_x</p:attrName>
                                        </p:attrNameLst>
                                      </p:cBhvr>
                                      <p:tavLst>
                                        <p:tav tm="0">
                                          <p:val>
                                            <p:strVal val="#ppt_x"/>
                                          </p:val>
                                        </p:tav>
                                        <p:tav tm="100000">
                                          <p:val>
                                            <p:strVal val="#ppt_x"/>
                                          </p:val>
                                        </p:tav>
                                      </p:tavLst>
                                    </p:anim>
                                    <p:anim calcmode="lin" valueType="num">
                                      <p:cBhvr additive="base">
                                        <p:cTn id="26"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anim calcmode="lin" valueType="num">
                                      <p:cBhvr additive="base">
                                        <p:cTn id="31" dur="500" fill="hold"/>
                                        <p:tgtEl>
                                          <p:spTgt spid="67"/>
                                        </p:tgtEl>
                                        <p:attrNameLst>
                                          <p:attrName>ppt_x</p:attrName>
                                        </p:attrNameLst>
                                      </p:cBhvr>
                                      <p:tavLst>
                                        <p:tav tm="0">
                                          <p:val>
                                            <p:strVal val="#ppt_x"/>
                                          </p:val>
                                        </p:tav>
                                        <p:tav tm="100000">
                                          <p:val>
                                            <p:strVal val="#ppt_x"/>
                                          </p:val>
                                        </p:tav>
                                      </p:tavLst>
                                    </p:anim>
                                    <p:anim calcmode="lin" valueType="num">
                                      <p:cBhvr additive="base">
                                        <p:cTn id="32"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5" grpId="0"/>
      <p:bldP spid="66" grpId="0"/>
      <p:bldP spid="6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內容版面配置區 5"/>
          <p:cNvSpPr>
            <a:spLocks noGrp="1"/>
          </p:cNvSpPr>
          <p:nvPr>
            <p:ph idx="1"/>
          </p:nvPr>
        </p:nvSpPr>
        <p:spPr>
          <a:xfrm>
            <a:off x="228600" y="990600"/>
            <a:ext cx="8763000" cy="5715000"/>
          </a:xfrm>
          <a:ln>
            <a:solidFill>
              <a:srgbClr val="000000">
                <a:alpha val="100000"/>
              </a:srgbClr>
            </a:solidFill>
            <a:miter lim="800000"/>
          </a:ln>
        </p:spPr>
        <p:txBody>
          <a:bodyPr vert="horz" wrap="square" lIns="91440" tIns="45720" rIns="91440" bIns="45720" anchor="t"/>
          <a:p>
            <a:pPr>
              <a:buNone/>
            </a:pPr>
            <a:r>
              <a:rPr lang="en-US" altLang="zh-TW" sz="2400" b="1" dirty="0">
                <a:latin typeface="Times New Roman" panose="02020603050405020304" pitchFamily="18" charset="0"/>
                <a:cs typeface="Times New Roman" panose="02020603050405020304" pitchFamily="18" charset="0"/>
              </a:rPr>
              <a:t>Procedure</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Euler</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G</a:t>
            </a:r>
            <a:r>
              <a:rPr lang="en-US" altLang="zh-TW" sz="2400" dirty="0">
                <a:latin typeface="Times New Roman" panose="02020603050405020304" pitchFamily="18" charset="0"/>
                <a:cs typeface="Times New Roman" panose="02020603050405020304" pitchFamily="18" charset="0"/>
              </a:rPr>
              <a:t>: connected multigraph with all vertices of even degree)</a:t>
            </a:r>
            <a:endParaRPr lang="en-US" altLang="zh-TW" sz="2400" dirty="0">
              <a:latin typeface="Times New Roman" panose="02020603050405020304" pitchFamily="18" charset="0"/>
              <a:cs typeface="Times New Roman" panose="02020603050405020304" pitchFamily="18" charset="0"/>
            </a:endParaRPr>
          </a:p>
          <a:p>
            <a:pPr>
              <a:buNone/>
            </a:pPr>
            <a:r>
              <a:rPr lang="en-US" altLang="zh-TW" sz="2400" i="1" dirty="0">
                <a:solidFill>
                  <a:srgbClr val="0000CC"/>
                </a:solidFill>
                <a:latin typeface="Times New Roman" panose="02020603050405020304" pitchFamily="18" charset="0"/>
                <a:cs typeface="Times New Roman" panose="02020603050405020304" pitchFamily="18" charset="0"/>
              </a:rPr>
              <a:t>circuit </a:t>
            </a: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 circuit in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beginning at an arbitrary chosen vertex with edges successively added to form a path that returns to this vertex</a:t>
            </a:r>
            <a:endParaRPr lang="en-US" altLang="zh-TW" sz="2400"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H</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with the edges of this circuit removed</a:t>
            </a:r>
            <a:endParaRPr lang="en-US" altLang="zh-TW" sz="2400" dirty="0">
              <a:latin typeface="Times New Roman" panose="02020603050405020304" pitchFamily="18" charset="0"/>
              <a:cs typeface="Times New Roman" panose="02020603050405020304" pitchFamily="18" charset="0"/>
            </a:endParaRPr>
          </a:p>
          <a:p>
            <a:pPr>
              <a:buNone/>
            </a:pPr>
            <a:r>
              <a:rPr lang="en-US" altLang="zh-TW" sz="2400" b="1" dirty="0">
                <a:latin typeface="Times New Roman" panose="02020603050405020304" pitchFamily="18" charset="0"/>
                <a:cs typeface="Times New Roman" panose="02020603050405020304" pitchFamily="18" charset="0"/>
              </a:rPr>
              <a:t>while </a:t>
            </a:r>
            <a:r>
              <a:rPr lang="en-US" altLang="zh-TW" sz="2400" dirty="0">
                <a:latin typeface="Times New Roman" panose="02020603050405020304" pitchFamily="18" charset="0"/>
                <a:cs typeface="Times New Roman" panose="02020603050405020304" pitchFamily="18" charset="0"/>
              </a:rPr>
              <a:t> </a:t>
            </a:r>
            <a:r>
              <a:rPr lang="en-US" altLang="zh-TW" sz="2400" i="1" dirty="0">
                <a:solidFill>
                  <a:srgbClr val="0000CC"/>
                </a:solidFill>
                <a:latin typeface="Times New Roman" panose="02020603050405020304" pitchFamily="18" charset="0"/>
                <a:cs typeface="Times New Roman" panose="02020603050405020304" pitchFamily="18" charset="0"/>
              </a:rPr>
              <a:t>H</a:t>
            </a:r>
            <a:r>
              <a:rPr lang="en-US" altLang="zh-TW" sz="2400" dirty="0">
                <a:latin typeface="Times New Roman" panose="02020603050405020304" pitchFamily="18" charset="0"/>
                <a:cs typeface="Times New Roman" panose="02020603050405020304" pitchFamily="18" charset="0"/>
              </a:rPr>
              <a:t> has edges</a:t>
            </a:r>
            <a:endParaRPr lang="en-US" altLang="zh-TW" sz="2400" i="1"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400" b="1" dirty="0">
                <a:latin typeface="Times New Roman" panose="02020603050405020304" pitchFamily="18" charset="0"/>
                <a:cs typeface="Times New Roman" panose="02020603050405020304" pitchFamily="18" charset="0"/>
                <a:sym typeface="Symbol" panose="05050102010706020507" pitchFamily="18" charset="2"/>
              </a:rPr>
              <a:t>begin</a:t>
            </a:r>
            <a:endParaRPr lang="en-US" altLang="zh-TW" sz="2400" b="1"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subcircuit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 a circuit in </a:t>
            </a: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H</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beginning at a vertex in </a:t>
            </a: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H</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that  </a:t>
            </a:r>
            <a:br>
              <a:rPr lang="en-US" altLang="zh-TW" sz="2400" dirty="0">
                <a:latin typeface="Times New Roman" panose="02020603050405020304" pitchFamily="18" charset="0"/>
                <a:cs typeface="Times New Roman" panose="02020603050405020304" pitchFamily="18" charset="0"/>
                <a:sym typeface="Symbol" panose="05050102010706020507" pitchFamily="18" charset="2"/>
              </a:rPr>
            </a:b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also is an endpoint of an edge of </a:t>
            </a: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circuit</a:t>
            </a:r>
            <a:endPar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H</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H</a:t>
            </a:r>
            <a:r>
              <a:rPr lang="en-US" altLang="zh-TW" sz="2400"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PMingLiU" pitchFamily="18"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with edges of </a:t>
            </a: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subcircuit</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and all isolated vertices </a:t>
            </a:r>
            <a:br>
              <a:rPr lang="en-US" altLang="zh-TW" sz="2400" dirty="0">
                <a:latin typeface="Times New Roman" panose="02020603050405020304" pitchFamily="18" charset="0"/>
                <a:cs typeface="Times New Roman" panose="02020603050405020304" pitchFamily="18" charset="0"/>
                <a:sym typeface="Symbol" panose="05050102010706020507" pitchFamily="18" charset="2"/>
              </a:rPr>
            </a:b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removed</a:t>
            </a:r>
            <a:endParaRPr lang="en-US" altLang="zh-TW" sz="2400"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400" dirty="0">
                <a:latin typeface="Times New Roman" panose="02020603050405020304" pitchFamily="18" charset="0"/>
                <a:cs typeface="Times New Roman" panose="02020603050405020304" pitchFamily="18" charset="0"/>
              </a:rPr>
              <a:t>        </a:t>
            </a:r>
            <a:r>
              <a:rPr lang="en-US" altLang="zh-TW" sz="2400" i="1" dirty="0">
                <a:solidFill>
                  <a:srgbClr val="0000CC"/>
                </a:solidFill>
                <a:latin typeface="Times New Roman" panose="02020603050405020304" pitchFamily="18" charset="0"/>
                <a:cs typeface="Times New Roman" panose="02020603050405020304" pitchFamily="18" charset="0"/>
              </a:rPr>
              <a:t>circuit </a:t>
            </a:r>
            <a:r>
              <a:rPr lang="en-US" altLang="zh-TW" sz="2400" dirty="0">
                <a:latin typeface="Times New Roman" panose="02020603050405020304" pitchFamily="18" charset="0"/>
                <a:cs typeface="Times New Roman" panose="02020603050405020304" pitchFamily="18" charset="0"/>
              </a:rPr>
              <a:t>:= </a:t>
            </a:r>
            <a:r>
              <a:rPr lang="en-US" altLang="zh-TW" sz="2400" i="1" dirty="0">
                <a:solidFill>
                  <a:srgbClr val="0000CC"/>
                </a:solidFill>
                <a:latin typeface="Times New Roman" panose="02020603050405020304" pitchFamily="18" charset="0"/>
                <a:cs typeface="Times New Roman" panose="02020603050405020304" pitchFamily="18" charset="0"/>
              </a:rPr>
              <a:t>circuit</a:t>
            </a:r>
            <a:r>
              <a:rPr lang="en-US" altLang="zh-TW" sz="2400" i="1"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with </a:t>
            </a:r>
            <a:r>
              <a:rPr lang="en-US" altLang="zh-TW" sz="24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subcircuit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inserted at appropriate vertex</a:t>
            </a:r>
            <a:endParaRPr lang="en-US" altLang="zh-TW" sz="2400" dirty="0">
              <a:latin typeface="Times New Roman" panose="02020603050405020304" pitchFamily="18" charset="0"/>
              <a:cs typeface="Times New Roman" panose="02020603050405020304" pitchFamily="18" charset="0"/>
            </a:endParaRPr>
          </a:p>
          <a:p>
            <a:pPr>
              <a:buNone/>
            </a:pPr>
            <a:r>
              <a:rPr lang="en-US" altLang="zh-TW" sz="2400" b="1" dirty="0">
                <a:latin typeface="Times New Roman" panose="02020603050405020304" pitchFamily="18" charset="0"/>
                <a:cs typeface="Times New Roman" panose="02020603050405020304" pitchFamily="18" charset="0"/>
              </a:rPr>
              <a:t>end </a:t>
            </a:r>
            <a:r>
              <a:rPr lang="en-US" altLang="zh-TW" sz="2400" dirty="0">
                <a:latin typeface="Times New Roman" panose="02020603050405020304" pitchFamily="18" charset="0"/>
                <a:cs typeface="Times New Roman" panose="02020603050405020304" pitchFamily="18" charset="0"/>
              </a:rPr>
              <a:t>{</a:t>
            </a:r>
            <a:r>
              <a:rPr lang="en-US" altLang="zh-TW" sz="2400" i="1" dirty="0">
                <a:solidFill>
                  <a:srgbClr val="0000CC"/>
                </a:solidFill>
                <a:latin typeface="Times New Roman" panose="02020603050405020304" pitchFamily="18" charset="0"/>
                <a:cs typeface="Times New Roman" panose="02020603050405020304" pitchFamily="18" charset="0"/>
              </a:rPr>
              <a:t>circuit</a:t>
            </a:r>
            <a:r>
              <a:rPr lang="en-US" altLang="zh-TW" sz="2400" i="1"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is an Euler circuit}</a:t>
            </a:r>
            <a:endParaRPr lang="zh-TW" altLang="en-US" sz="2400" dirty="0">
              <a:latin typeface="Times New Roman" panose="02020603050405020304" pitchFamily="18" charset="0"/>
              <a:ea typeface="Times New Roman" panose="02020603050405020304" pitchFamily="18" charset="0"/>
            </a:endParaRPr>
          </a:p>
        </p:txBody>
      </p:sp>
      <p:sp>
        <p:nvSpPr>
          <p:cNvPr id="55299" name="Rectangle 2"/>
          <p:cNvSpPr>
            <a:spLocks noGrp="1"/>
          </p:cNvSpPr>
          <p:nvPr>
            <p:ph type="title"/>
          </p:nvPr>
        </p:nvSpPr>
        <p:spPr>
          <a:xfrm>
            <a:off x="457200" y="457200"/>
            <a:ext cx="8382000" cy="533400"/>
          </a:xfrm>
        </p:spPr>
        <p:txBody>
          <a:bodyPr vert="horz" wrap="square" lIns="91440" tIns="45720" rIns="91440" bIns="45720" anchor="ctr"/>
          <a:p>
            <a:pPr eaLnBrk="1" hangingPunct="1"/>
            <a:r>
              <a:rPr lang="en-US" altLang="zh-TW" sz="3200" b="1" dirty="0">
                <a:solidFill>
                  <a:srgbClr val="0000CC"/>
                </a:solidFill>
              </a:rPr>
              <a:t>Algorithm 1 </a:t>
            </a:r>
            <a:r>
              <a:rPr lang="en-US" altLang="zh-TW" sz="2400" dirty="0"/>
              <a:t>(Constructing Euler Circuits.) </a:t>
            </a:r>
            <a:endParaRPr lang="en-US" altLang="zh-TW" sz="2400" dirty="0"/>
          </a:p>
        </p:txBody>
      </p:sp>
      <p:sp>
        <p:nvSpPr>
          <p:cNvPr id="55300" name="投影片編號版面配置區 5"/>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Oval 2"/>
          <p:cNvSpPr/>
          <p:nvPr/>
        </p:nvSpPr>
        <p:spPr>
          <a:xfrm>
            <a:off x="1476375" y="2133600"/>
            <a:ext cx="125413" cy="125413"/>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6323" name="Text Box 14"/>
          <p:cNvSpPr txBox="1"/>
          <p:nvPr/>
        </p:nvSpPr>
        <p:spPr>
          <a:xfrm>
            <a:off x="1116013" y="1773238"/>
            <a:ext cx="417512" cy="457200"/>
          </a:xfrm>
          <a:prstGeom prst="rect">
            <a:avLst/>
          </a:prstGeom>
          <a:noFill/>
          <a:ln w="254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Pct val="100000"/>
              <a:buNone/>
            </a:pPr>
            <a:r>
              <a:rPr lang="en-US" altLang="zh-TW" sz="2400" i="1" dirty="0">
                <a:latin typeface="Times New Roman" panose="02020603050405020304" pitchFamily="18" charset="0"/>
              </a:rPr>
              <a:t>v</a:t>
            </a:r>
            <a:r>
              <a:rPr lang="en-US" altLang="zh-TW" sz="2400" baseline="-25000" dirty="0">
                <a:latin typeface="Times New Roman" panose="02020603050405020304" pitchFamily="18" charset="0"/>
              </a:rPr>
              <a:t>1</a:t>
            </a:r>
            <a:endParaRPr lang="en-US" altLang="zh-TW" sz="2400" baseline="-25000" dirty="0">
              <a:latin typeface="Times New Roman" panose="02020603050405020304" pitchFamily="18" charset="0"/>
            </a:endParaRPr>
          </a:p>
        </p:txBody>
      </p:sp>
      <p:sp>
        <p:nvSpPr>
          <p:cNvPr id="56324" name="Text Box 24"/>
          <p:cNvSpPr txBox="1"/>
          <p:nvPr/>
        </p:nvSpPr>
        <p:spPr>
          <a:xfrm>
            <a:off x="2771775" y="1700213"/>
            <a:ext cx="417513" cy="457200"/>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Pct val="100000"/>
              <a:buNone/>
            </a:pPr>
            <a:r>
              <a:rPr lang="en-US" altLang="zh-TW" sz="2400" i="1" dirty="0">
                <a:latin typeface="Times New Roman" panose="02020603050405020304" pitchFamily="18" charset="0"/>
              </a:rPr>
              <a:t>v</a:t>
            </a:r>
            <a:r>
              <a:rPr lang="en-US" altLang="zh-TW" sz="2400" baseline="-25000" dirty="0">
                <a:latin typeface="Times New Roman" panose="02020603050405020304" pitchFamily="18" charset="0"/>
              </a:rPr>
              <a:t>2</a:t>
            </a:r>
            <a:endParaRPr lang="en-US" altLang="zh-TW" sz="2400" baseline="-25000" dirty="0">
              <a:latin typeface="Times New Roman" panose="02020603050405020304" pitchFamily="18" charset="0"/>
            </a:endParaRPr>
          </a:p>
        </p:txBody>
      </p:sp>
      <p:sp>
        <p:nvSpPr>
          <p:cNvPr id="56325" name="Oval 35"/>
          <p:cNvSpPr/>
          <p:nvPr/>
        </p:nvSpPr>
        <p:spPr>
          <a:xfrm>
            <a:off x="2843213" y="2133600"/>
            <a:ext cx="125412" cy="125413"/>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6326" name="Oval 36"/>
          <p:cNvSpPr/>
          <p:nvPr/>
        </p:nvSpPr>
        <p:spPr>
          <a:xfrm>
            <a:off x="827088" y="2852738"/>
            <a:ext cx="125412" cy="125412"/>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6327" name="Oval 37"/>
          <p:cNvSpPr/>
          <p:nvPr/>
        </p:nvSpPr>
        <p:spPr>
          <a:xfrm>
            <a:off x="3708400" y="2852738"/>
            <a:ext cx="125413" cy="125412"/>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6328" name="Oval 38"/>
          <p:cNvSpPr/>
          <p:nvPr/>
        </p:nvSpPr>
        <p:spPr>
          <a:xfrm>
            <a:off x="2195513" y="3500438"/>
            <a:ext cx="125412" cy="125412"/>
          </a:xfrm>
          <a:prstGeom prst="ellipse">
            <a:avLst/>
          </a:prstGeom>
          <a:solidFill>
            <a:schemeClr val="tx1"/>
          </a:solidFill>
          <a:ln w="25400" cap="flat" cmpd="sng">
            <a:solidFill>
              <a:schemeClr val="tx1"/>
            </a:solidFill>
            <a:prstDash val="solid"/>
            <a:headEnd type="none" w="med" len="med"/>
            <a:tailEnd type="none" w="med" len="med"/>
          </a:ln>
        </p:spPr>
        <p:txBody>
          <a:bodyPr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6329" name="Text Box 39"/>
          <p:cNvSpPr txBox="1"/>
          <p:nvPr/>
        </p:nvSpPr>
        <p:spPr>
          <a:xfrm>
            <a:off x="3851275" y="2636838"/>
            <a:ext cx="417513" cy="457200"/>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Pct val="100000"/>
              <a:buNone/>
            </a:pPr>
            <a:r>
              <a:rPr lang="en-US" altLang="zh-TW" sz="2400" i="1" dirty="0">
                <a:latin typeface="Times New Roman" panose="02020603050405020304" pitchFamily="18" charset="0"/>
              </a:rPr>
              <a:t>v</a:t>
            </a:r>
            <a:r>
              <a:rPr lang="en-US" altLang="zh-TW" sz="2400" baseline="-25000" dirty="0">
                <a:latin typeface="Times New Roman" panose="02020603050405020304" pitchFamily="18" charset="0"/>
              </a:rPr>
              <a:t>3</a:t>
            </a:r>
            <a:endParaRPr lang="en-US" altLang="zh-TW" sz="2400" baseline="-25000" dirty="0">
              <a:latin typeface="Times New Roman" panose="02020603050405020304" pitchFamily="18" charset="0"/>
            </a:endParaRPr>
          </a:p>
        </p:txBody>
      </p:sp>
      <p:sp>
        <p:nvSpPr>
          <p:cNvPr id="56330" name="Text Box 40"/>
          <p:cNvSpPr txBox="1"/>
          <p:nvPr/>
        </p:nvSpPr>
        <p:spPr>
          <a:xfrm>
            <a:off x="468313" y="2492375"/>
            <a:ext cx="417512" cy="457200"/>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Pct val="100000"/>
              <a:buNone/>
            </a:pPr>
            <a:r>
              <a:rPr lang="en-US" altLang="zh-TW" sz="2400" i="1" dirty="0">
                <a:latin typeface="Times New Roman" panose="02020603050405020304" pitchFamily="18" charset="0"/>
              </a:rPr>
              <a:t>v</a:t>
            </a:r>
            <a:r>
              <a:rPr lang="en-US" altLang="zh-TW" sz="2400" baseline="-25000" dirty="0">
                <a:latin typeface="Times New Roman" panose="02020603050405020304" pitchFamily="18" charset="0"/>
              </a:rPr>
              <a:t>5</a:t>
            </a:r>
            <a:endParaRPr lang="en-US" altLang="zh-TW" sz="2400" baseline="-25000" dirty="0">
              <a:latin typeface="Times New Roman" panose="02020603050405020304" pitchFamily="18" charset="0"/>
            </a:endParaRPr>
          </a:p>
        </p:txBody>
      </p:sp>
      <p:sp>
        <p:nvSpPr>
          <p:cNvPr id="56331" name="Oval 48"/>
          <p:cNvSpPr/>
          <p:nvPr/>
        </p:nvSpPr>
        <p:spPr>
          <a:xfrm>
            <a:off x="2195513" y="4221163"/>
            <a:ext cx="125412" cy="125412"/>
          </a:xfrm>
          <a:prstGeom prst="ellipse">
            <a:avLst/>
          </a:prstGeom>
          <a:solidFill>
            <a:schemeClr val="tx1"/>
          </a:solidFill>
          <a:ln w="25400" cap="flat" cmpd="sng">
            <a:solidFill>
              <a:schemeClr val="tx1"/>
            </a:solidFill>
            <a:prstDash val="solid"/>
            <a:headEnd type="none" w="med" len="med"/>
            <a:tailEnd type="none" w="med" len="med"/>
          </a:ln>
        </p:spPr>
        <p:txBody>
          <a:bodyPr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6332" name="Text Box 50"/>
          <p:cNvSpPr txBox="1"/>
          <p:nvPr/>
        </p:nvSpPr>
        <p:spPr>
          <a:xfrm>
            <a:off x="2268538" y="4149725"/>
            <a:ext cx="417512" cy="457200"/>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Pct val="100000"/>
              <a:buNone/>
            </a:pPr>
            <a:r>
              <a:rPr lang="en-US" altLang="zh-TW" sz="2400" i="1" dirty="0">
                <a:latin typeface="Times New Roman" panose="02020603050405020304" pitchFamily="18" charset="0"/>
              </a:rPr>
              <a:t>v</a:t>
            </a:r>
            <a:r>
              <a:rPr lang="en-US" altLang="zh-TW" sz="2400" baseline="-25000" dirty="0">
                <a:latin typeface="Times New Roman" panose="02020603050405020304" pitchFamily="18" charset="0"/>
              </a:rPr>
              <a:t>4</a:t>
            </a:r>
            <a:endParaRPr lang="en-US" altLang="zh-TW" sz="2400" baseline="-25000" dirty="0">
              <a:latin typeface="Times New Roman" panose="02020603050405020304" pitchFamily="18" charset="0"/>
            </a:endParaRPr>
          </a:p>
        </p:txBody>
      </p:sp>
      <p:sp>
        <p:nvSpPr>
          <p:cNvPr id="56333" name="Text Box 51"/>
          <p:cNvSpPr txBox="1"/>
          <p:nvPr/>
        </p:nvSpPr>
        <p:spPr>
          <a:xfrm>
            <a:off x="1979613" y="3500438"/>
            <a:ext cx="417512" cy="457200"/>
          </a:xfrm>
          <a:prstGeom prst="rect">
            <a:avLst/>
          </a:prstGeom>
          <a:noFill/>
          <a:ln w="254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Pct val="100000"/>
              <a:buNone/>
            </a:pPr>
            <a:r>
              <a:rPr lang="en-US" altLang="zh-TW" sz="2400" i="1" dirty="0">
                <a:latin typeface="Times New Roman" panose="02020603050405020304" pitchFamily="18" charset="0"/>
              </a:rPr>
              <a:t>v</a:t>
            </a:r>
            <a:r>
              <a:rPr lang="en-US" altLang="zh-TW" sz="2400" baseline="-25000" dirty="0">
                <a:latin typeface="Times New Roman" panose="02020603050405020304" pitchFamily="18" charset="0"/>
              </a:rPr>
              <a:t>6</a:t>
            </a:r>
            <a:endParaRPr lang="en-US" altLang="zh-TW" sz="2400" baseline="-25000" dirty="0">
              <a:latin typeface="Times New Roman" panose="02020603050405020304" pitchFamily="18" charset="0"/>
            </a:endParaRPr>
          </a:p>
        </p:txBody>
      </p:sp>
      <p:sp>
        <p:nvSpPr>
          <p:cNvPr id="430132" name="Text Box 52"/>
          <p:cNvSpPr txBox="1"/>
          <p:nvPr/>
        </p:nvSpPr>
        <p:spPr>
          <a:xfrm>
            <a:off x="4500563" y="1371600"/>
            <a:ext cx="3560762" cy="457200"/>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Step 1: find the </a:t>
            </a:r>
            <a:r>
              <a:rPr lang="en-US" altLang="zh-TW" sz="2400" dirty="0">
                <a:latin typeface="Times New Roman" panose="02020603050405020304" pitchFamily="18" charset="0"/>
                <a:cs typeface="Times New Roman" panose="02020603050405020304" pitchFamily="18" charset="0"/>
              </a:rPr>
              <a:t>1</a:t>
            </a:r>
            <a:r>
              <a:rPr lang="en-US" altLang="zh-TW" sz="2400" baseline="30000" dirty="0">
                <a:latin typeface="Times New Roman" panose="02020603050405020304" pitchFamily="18" charset="0"/>
                <a:cs typeface="Times New Roman" panose="02020603050405020304" pitchFamily="18" charset="0"/>
              </a:rPr>
              <a:t>st</a:t>
            </a:r>
            <a:r>
              <a:rPr lang="en-US" altLang="zh-TW" sz="2400" dirty="0">
                <a:latin typeface="Times New Roman" panose="02020603050405020304" pitchFamily="18" charset="0"/>
                <a:cs typeface="Times New Roman" panose="02020603050405020304" pitchFamily="18" charset="0"/>
              </a:rPr>
              <a:t> </a:t>
            </a:r>
            <a:r>
              <a:rPr lang="en-US" altLang="zh-TW" sz="2400" dirty="0"/>
              <a:t>circuit </a:t>
            </a:r>
            <a:endParaRPr lang="en-US" altLang="zh-TW" sz="2400" dirty="0"/>
          </a:p>
        </p:txBody>
      </p:sp>
      <p:sp>
        <p:nvSpPr>
          <p:cNvPr id="430133" name="Text Box 53"/>
          <p:cNvSpPr txBox="1"/>
          <p:nvPr/>
        </p:nvSpPr>
        <p:spPr>
          <a:xfrm>
            <a:off x="4913313" y="1828800"/>
            <a:ext cx="3170237" cy="5191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C</a:t>
            </a:r>
            <a:r>
              <a:rPr lang="en-US" altLang="zh-TW" sz="2800" dirty="0">
                <a:latin typeface="Times New Roman" panose="02020603050405020304" pitchFamily="18" charset="0"/>
              </a:rPr>
              <a:t>:</a:t>
            </a:r>
            <a:r>
              <a:rPr lang="en-US" altLang="zh-TW" sz="2800" dirty="0"/>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1</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2</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3</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4</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5</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1</a:t>
            </a:r>
            <a:endParaRPr lang="en-US" altLang="zh-TW" sz="2800" baseline="-25000" dirty="0">
              <a:latin typeface="Times New Roman" panose="02020603050405020304" pitchFamily="18" charset="0"/>
            </a:endParaRPr>
          </a:p>
        </p:txBody>
      </p:sp>
      <p:sp>
        <p:nvSpPr>
          <p:cNvPr id="430134" name="Text Box 54"/>
          <p:cNvSpPr txBox="1"/>
          <p:nvPr/>
        </p:nvSpPr>
        <p:spPr>
          <a:xfrm>
            <a:off x="4500563" y="2514600"/>
            <a:ext cx="3500437" cy="822325"/>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Step 2: </a:t>
            </a:r>
            <a:r>
              <a:rPr lang="en-US" altLang="zh-TW" sz="2400" i="1" dirty="0">
                <a:latin typeface="Times New Roman" panose="02020603050405020304" pitchFamily="18" charset="0"/>
                <a:cs typeface="Times New Roman" panose="02020603050405020304" pitchFamily="18" charset="0"/>
              </a:rPr>
              <a:t>H </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G </a:t>
            </a:r>
            <a:r>
              <a:rPr lang="en-US" altLang="zh-TW" sz="2400" dirty="0">
                <a:latin typeface="Symbol" panose="05050102010706020507" pitchFamily="18" charset="2"/>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C</a:t>
            </a:r>
            <a:r>
              <a:rPr lang="en-US" altLang="zh-TW" sz="2400" baseline="-250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 </a:t>
            </a:r>
            <a:br>
              <a:rPr lang="en-US" altLang="zh-TW" sz="2400" dirty="0">
                <a:latin typeface="Times New Roman" panose="02020603050405020304" pitchFamily="18" charset="0"/>
                <a:cs typeface="Times New Roman" panose="02020603050405020304" pitchFamily="18" charset="0"/>
                <a:sym typeface="Symbol" panose="05050102010706020507" pitchFamily="18" charset="2"/>
              </a:rPr>
            </a:br>
            <a:r>
              <a:rPr lang="en-US" altLang="zh-TW" sz="2400" dirty="0">
                <a:cs typeface="Times New Roman" panose="02020603050405020304" pitchFamily="18" charset="0"/>
                <a:sym typeface="Symbol" panose="05050102010706020507" pitchFamily="18" charset="2"/>
              </a:rPr>
              <a:t>             find subcircuit</a:t>
            </a:r>
            <a:endParaRPr lang="en-US" altLang="zh-TW" sz="2400" dirty="0">
              <a:ea typeface="Times New Roman" panose="02020603050405020304" pitchFamily="18" charset="0"/>
            </a:endParaRPr>
          </a:p>
        </p:txBody>
      </p:sp>
      <p:sp>
        <p:nvSpPr>
          <p:cNvPr id="430135" name="Text Box 55"/>
          <p:cNvSpPr txBox="1"/>
          <p:nvPr/>
        </p:nvSpPr>
        <p:spPr>
          <a:xfrm>
            <a:off x="4953000" y="3595688"/>
            <a:ext cx="2436813" cy="519112"/>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SC</a:t>
            </a:r>
            <a:r>
              <a:rPr lang="en-US" altLang="zh-TW" sz="2800" dirty="0">
                <a:latin typeface="Times New Roman" panose="02020603050405020304" pitchFamily="18" charset="0"/>
              </a:rPr>
              <a:t>:</a:t>
            </a:r>
            <a:r>
              <a:rPr lang="en-US" altLang="zh-TW" sz="2800" dirty="0"/>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3</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5</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6</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3</a:t>
            </a:r>
            <a:endParaRPr lang="en-US" altLang="zh-TW" sz="2800" baseline="-25000" dirty="0">
              <a:latin typeface="Times New Roman" panose="02020603050405020304" pitchFamily="18" charset="0"/>
            </a:endParaRPr>
          </a:p>
        </p:txBody>
      </p:sp>
      <p:sp>
        <p:nvSpPr>
          <p:cNvPr id="430136" name="Text Box 56"/>
          <p:cNvSpPr txBox="1"/>
          <p:nvPr/>
        </p:nvSpPr>
        <p:spPr>
          <a:xfrm>
            <a:off x="4572000" y="4267200"/>
            <a:ext cx="1230313" cy="457200"/>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Step 3: </a:t>
            </a:r>
            <a:endParaRPr lang="en-US" altLang="zh-TW" sz="2400" dirty="0"/>
          </a:p>
        </p:txBody>
      </p:sp>
      <p:sp>
        <p:nvSpPr>
          <p:cNvPr id="430137" name="Text Box 57"/>
          <p:cNvSpPr txBox="1">
            <a:spLocks noChangeArrowheads="1"/>
          </p:cNvSpPr>
          <p:nvPr/>
        </p:nvSpPr>
        <p:spPr bwMode="auto">
          <a:xfrm>
            <a:off x="4932363" y="4870450"/>
            <a:ext cx="2670175" cy="822325"/>
          </a:xfrm>
          <a:prstGeom prst="rect">
            <a:avLst/>
          </a:prstGeom>
          <a:noFill/>
          <a:ln w="38100">
            <a:noFill/>
            <a:miter lim="800000"/>
            <a:tailEnd type="none" w="lg" len="lg"/>
          </a:ln>
          <a:effectLst/>
        </p:spPr>
        <p:txBody>
          <a:bodyPr wrap="none" lIns="90000" tIns="46800" rIns="90000" bIns="46800">
            <a:spAutoFit/>
          </a:bodyPr>
          <a:lstStyle/>
          <a:p>
            <a:pPr marR="0" defTabSz="914400">
              <a:buClrTx/>
              <a:buSzTx/>
              <a:buFontTx/>
              <a:buNone/>
              <a:defRPr/>
            </a:pPr>
            <a:r>
              <a:rPr kumimoji="1" lang="en-US" altLang="zh-TW" sz="2400" i="1" kern="1200" cap="none" spc="0" normalizeH="0" baseline="0" noProof="0" dirty="0">
                <a:latin typeface="Times New Roman" panose="02020603050405020304" pitchFamily="18" charset="0"/>
                <a:ea typeface="PMingLiU" pitchFamily="18" charset="-120"/>
                <a:cs typeface="+mn-cs"/>
              </a:rPr>
              <a:t>C </a:t>
            </a:r>
            <a:r>
              <a:rPr kumimoji="1" lang="en-US" altLang="zh-TW" sz="2400" kern="1200" cap="none" spc="0" normalizeH="0" baseline="0" noProof="0" dirty="0">
                <a:latin typeface="Times New Roman" panose="02020603050405020304" pitchFamily="18" charset="0"/>
                <a:ea typeface="PMingLiU" pitchFamily="18" charset="-120"/>
                <a:cs typeface="+mn-cs"/>
              </a:rPr>
              <a:t>= </a:t>
            </a:r>
            <a:r>
              <a:rPr kumimoji="1" lang="en-US" altLang="zh-TW" sz="2400" i="1" kern="1200" cap="none" spc="0" normalizeH="0" baseline="0" noProof="0" dirty="0">
                <a:latin typeface="Times New Roman" panose="02020603050405020304" pitchFamily="18" charset="0"/>
                <a:ea typeface="PMingLiU" pitchFamily="18" charset="-120"/>
                <a:cs typeface="+mn-cs"/>
              </a:rPr>
              <a:t>C</a:t>
            </a:r>
            <a:r>
              <a:rPr kumimoji="1" lang="en-US" altLang="zh-TW" sz="2400" kern="1200" cap="none" spc="0" normalizeH="0" baseline="0" noProof="0" dirty="0">
                <a:latin typeface="Times New Roman" panose="02020603050405020304" pitchFamily="18" charset="0"/>
                <a:ea typeface="PMingLiU" pitchFamily="18" charset="-120"/>
                <a:cs typeface="+mn-cs"/>
              </a:rPr>
              <a:t> </a:t>
            </a:r>
            <a:r>
              <a:rPr kumimoji="1" lang="en-US" altLang="zh-TW" sz="2400"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a:t>
            </a:r>
            <a:r>
              <a:rPr kumimoji="1" lang="en-US" altLang="zh-TW" sz="2400" kern="1200" cap="none" spc="0" normalizeH="0" baseline="0" noProof="0" dirty="0">
                <a:latin typeface="Times New Roman" panose="02020603050405020304" pitchFamily="18" charset="0"/>
                <a:ea typeface="PMingLiU" pitchFamily="18" charset="-120"/>
                <a:cs typeface="+mn-cs"/>
              </a:rPr>
              <a:t> </a:t>
            </a:r>
            <a:r>
              <a:rPr kumimoji="1" lang="en-US" altLang="zh-TW" sz="2400" i="1" kern="1200" cap="none" spc="0" normalizeH="0" baseline="0" noProof="0" dirty="0">
                <a:latin typeface="Times New Roman" panose="02020603050405020304" pitchFamily="18" charset="0"/>
                <a:ea typeface="PMingLiU" pitchFamily="18" charset="-120"/>
                <a:cs typeface="+mn-cs"/>
              </a:rPr>
              <a:t>SC, </a:t>
            </a:r>
            <a:br>
              <a:rPr kumimoji="1" lang="en-US" altLang="zh-TW" sz="2400" i="1" kern="1200" cap="none" spc="0" normalizeH="0" baseline="0" noProof="0" dirty="0">
                <a:latin typeface="Times New Roman" panose="02020603050405020304" pitchFamily="18" charset="0"/>
                <a:ea typeface="PMingLiU" pitchFamily="18" charset="-120"/>
                <a:cs typeface="+mn-cs"/>
              </a:rPr>
            </a:br>
            <a:r>
              <a:rPr kumimoji="1" lang="en-US" altLang="zh-TW" sz="2400" i="1" kern="1200" cap="none" spc="0" normalizeH="0" baseline="0" noProof="0" dirty="0">
                <a:latin typeface="Times New Roman" panose="02020603050405020304" pitchFamily="18" charset="0"/>
                <a:ea typeface="PMingLiU" pitchFamily="18" charset="-120"/>
                <a:cs typeface="+mn-cs"/>
              </a:rPr>
              <a:t>H=</a:t>
            </a:r>
            <a:r>
              <a:rPr kumimoji="1" lang="en-US" altLang="zh-TW" sz="2400" i="1" kern="1200" cap="none" spc="0" normalizeH="0" baseline="0" noProof="0" dirty="0">
                <a:latin typeface="Times New Roman" panose="02020603050405020304" pitchFamily="18" charset="0"/>
                <a:ea typeface="PMingLiU" pitchFamily="18" charset="-120"/>
                <a:cs typeface="Times New Roman" panose="02020603050405020304" pitchFamily="18" charset="0"/>
              </a:rPr>
              <a:t> G </a:t>
            </a:r>
            <a:r>
              <a:rPr kumimoji="1" lang="en-US" altLang="zh-TW" sz="2400" kern="1200" cap="none" spc="0" normalizeH="0" baseline="0" noProof="0" dirty="0">
                <a:latin typeface="Symbol" panose="05050102010706020507" pitchFamily="18" charset="2"/>
                <a:ea typeface="PMingLiU" pitchFamily="18" charset="-120"/>
                <a:cs typeface="Times New Roman" panose="02020603050405020304" pitchFamily="18" charset="0"/>
              </a:rPr>
              <a:t>- </a:t>
            </a:r>
            <a:r>
              <a:rPr kumimoji="1" lang="en-US" altLang="zh-TW" sz="2400" i="1" kern="1200" cap="none" spc="0" normalizeH="0" baseline="0" noProof="0" dirty="0">
                <a:latin typeface="Times New Roman" panose="02020603050405020304" pitchFamily="18" charset="0"/>
                <a:ea typeface="PMingLiU" pitchFamily="18" charset="-120"/>
                <a:cs typeface="Times New Roman" panose="02020603050405020304" pitchFamily="18" charset="0"/>
              </a:rPr>
              <a:t>C</a:t>
            </a:r>
            <a:r>
              <a:rPr kumimoji="1" lang="en-US" altLang="zh-TW" sz="2400" kern="1200" cap="none" spc="0" normalizeH="0" baseline="0" noProof="0" dirty="0">
                <a:latin typeface="Times New Roman" panose="02020603050405020304" pitchFamily="18" charset="0"/>
                <a:ea typeface="PMingLiU" pitchFamily="18" charset="-120"/>
                <a:cs typeface="Times New Roman" panose="02020603050405020304" pitchFamily="18" charset="0"/>
              </a:rPr>
              <a:t> =</a:t>
            </a:r>
            <a:r>
              <a:rPr kumimoji="1" lang="en-US" altLang="zh-TW" sz="2400" kern="1200" cap="none" spc="0" normalizeH="0" baseline="0" noProof="0" dirty="0">
                <a:latin typeface="Times New Roman" panose="02020603050405020304" pitchFamily="18" charset="0"/>
                <a:ea typeface="PMingLiU" pitchFamily="18" charset="-120"/>
                <a:cs typeface="Times New Roman" panose="02020603050405020304" pitchFamily="18" charset="0"/>
                <a:sym typeface="Symbol" panose="05050102010706020507"/>
              </a:rPr>
              <a:t></a:t>
            </a:r>
            <a:r>
              <a:rPr kumimoji="1" lang="en-US" altLang="zh-TW" sz="2400" kern="1200" cap="none" spc="0" normalizeH="0" baseline="0" noProof="0" dirty="0">
                <a:latin typeface="+mj-lt"/>
                <a:ea typeface="PMingLiU" pitchFamily="18" charset="-120"/>
                <a:cs typeface="Times New Roman" panose="02020603050405020304" pitchFamily="18" charset="0"/>
                <a:sym typeface="Symbol" panose="05050102010706020507"/>
              </a:rPr>
              <a:t>, stop</a:t>
            </a:r>
            <a:endParaRPr kumimoji="1" lang="en-US" altLang="zh-TW" sz="2400" kern="1200" cap="none" spc="0" normalizeH="0" baseline="0" noProof="0" dirty="0">
              <a:latin typeface="+mj-lt"/>
              <a:ea typeface="PMingLiU" pitchFamily="18" charset="-120"/>
              <a:cs typeface="+mn-cs"/>
            </a:endParaRPr>
          </a:p>
        </p:txBody>
      </p:sp>
      <p:sp>
        <p:nvSpPr>
          <p:cNvPr id="430138" name="Text Box 58"/>
          <p:cNvSpPr txBox="1"/>
          <p:nvPr/>
        </p:nvSpPr>
        <p:spPr>
          <a:xfrm>
            <a:off x="457200" y="5638800"/>
            <a:ext cx="4537075" cy="5191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i="1" dirty="0">
                <a:latin typeface="Times New Roman" panose="02020603050405020304" pitchFamily="18" charset="0"/>
              </a:rPr>
              <a:t>C</a:t>
            </a:r>
            <a:r>
              <a:rPr lang="en-US" altLang="zh-TW" sz="2800" dirty="0">
                <a:latin typeface="Times New Roman" panose="02020603050405020304" pitchFamily="18" charset="0"/>
              </a:rPr>
              <a:t>:</a:t>
            </a:r>
            <a:r>
              <a:rPr lang="en-US" altLang="zh-TW" sz="2800" dirty="0"/>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1</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2</a:t>
            </a:r>
            <a:r>
              <a:rPr lang="en-US" altLang="zh-TW" sz="2800" dirty="0">
                <a:latin typeface="Times New Roman" panose="02020603050405020304" pitchFamily="18" charset="0"/>
              </a:rPr>
              <a:t>, </a:t>
            </a:r>
            <a:r>
              <a:rPr lang="en-US" altLang="zh-TW" sz="2800" i="1" dirty="0">
                <a:solidFill>
                  <a:srgbClr val="FF0000"/>
                </a:solidFill>
                <a:latin typeface="Times New Roman" panose="02020603050405020304" pitchFamily="18" charset="0"/>
              </a:rPr>
              <a:t>v</a:t>
            </a:r>
            <a:r>
              <a:rPr lang="en-US" altLang="zh-TW" sz="2800" baseline="-25000" dirty="0">
                <a:solidFill>
                  <a:srgbClr val="FF0000"/>
                </a:solidFill>
                <a:latin typeface="Times New Roman" panose="02020603050405020304" pitchFamily="18" charset="0"/>
              </a:rPr>
              <a:t>3</a:t>
            </a:r>
            <a:r>
              <a:rPr lang="en-US" altLang="zh-TW" sz="2800" dirty="0">
                <a:solidFill>
                  <a:srgbClr val="FF0000"/>
                </a:solidFill>
                <a:latin typeface="Times New Roman" panose="02020603050405020304" pitchFamily="18" charset="0"/>
              </a:rPr>
              <a:t>, </a:t>
            </a:r>
            <a:r>
              <a:rPr lang="en-US" altLang="zh-TW" sz="2800" i="1" dirty="0">
                <a:solidFill>
                  <a:srgbClr val="FF0000"/>
                </a:solidFill>
                <a:latin typeface="Times New Roman" panose="02020603050405020304" pitchFamily="18" charset="0"/>
              </a:rPr>
              <a:t>v</a:t>
            </a:r>
            <a:r>
              <a:rPr lang="en-US" altLang="zh-TW" sz="2800" baseline="-25000" dirty="0">
                <a:solidFill>
                  <a:srgbClr val="FF0000"/>
                </a:solidFill>
                <a:latin typeface="Times New Roman" panose="02020603050405020304" pitchFamily="18" charset="0"/>
              </a:rPr>
              <a:t>5</a:t>
            </a:r>
            <a:r>
              <a:rPr lang="en-US" altLang="zh-TW" sz="2800" dirty="0">
                <a:solidFill>
                  <a:srgbClr val="FF0000"/>
                </a:solidFill>
                <a:latin typeface="Times New Roman" panose="02020603050405020304" pitchFamily="18" charset="0"/>
              </a:rPr>
              <a:t>, </a:t>
            </a:r>
            <a:r>
              <a:rPr lang="en-US" altLang="zh-TW" sz="2800" i="1" dirty="0">
                <a:solidFill>
                  <a:srgbClr val="FF0000"/>
                </a:solidFill>
                <a:latin typeface="Times New Roman" panose="02020603050405020304" pitchFamily="18" charset="0"/>
              </a:rPr>
              <a:t>v</a:t>
            </a:r>
            <a:r>
              <a:rPr lang="en-US" altLang="zh-TW" sz="2800" baseline="-25000" dirty="0">
                <a:solidFill>
                  <a:srgbClr val="FF0000"/>
                </a:solidFill>
                <a:latin typeface="Times New Roman" panose="02020603050405020304" pitchFamily="18" charset="0"/>
              </a:rPr>
              <a:t>6</a:t>
            </a:r>
            <a:r>
              <a:rPr lang="en-US" altLang="zh-TW" sz="2800" dirty="0">
                <a:solidFill>
                  <a:srgbClr val="FF0000"/>
                </a:solidFill>
                <a:latin typeface="Times New Roman" panose="02020603050405020304" pitchFamily="18" charset="0"/>
              </a:rPr>
              <a:t>, </a:t>
            </a:r>
            <a:r>
              <a:rPr lang="en-US" altLang="zh-TW" sz="2800" i="1" dirty="0">
                <a:solidFill>
                  <a:srgbClr val="FF0000"/>
                </a:solidFill>
                <a:latin typeface="Times New Roman" panose="02020603050405020304" pitchFamily="18" charset="0"/>
              </a:rPr>
              <a:t>v</a:t>
            </a:r>
            <a:r>
              <a:rPr lang="en-US" altLang="zh-TW" sz="2800" baseline="-25000" dirty="0">
                <a:solidFill>
                  <a:srgbClr val="FF0000"/>
                </a:solidFill>
                <a:latin typeface="Times New Roman" panose="02020603050405020304" pitchFamily="18" charset="0"/>
              </a:rPr>
              <a:t>3</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4</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5</a:t>
            </a:r>
            <a:r>
              <a:rPr lang="en-US" altLang="zh-TW" sz="2800" dirty="0">
                <a:latin typeface="Times New Roman" panose="02020603050405020304" pitchFamily="18" charset="0"/>
              </a:rPr>
              <a:t>, </a:t>
            </a:r>
            <a:r>
              <a:rPr lang="en-US" altLang="zh-TW" sz="2800" i="1" dirty="0">
                <a:latin typeface="Times New Roman" panose="02020603050405020304" pitchFamily="18" charset="0"/>
              </a:rPr>
              <a:t>v</a:t>
            </a:r>
            <a:r>
              <a:rPr lang="en-US" altLang="zh-TW" sz="2800" baseline="-25000" dirty="0">
                <a:latin typeface="Times New Roman" panose="02020603050405020304" pitchFamily="18" charset="0"/>
              </a:rPr>
              <a:t>1</a:t>
            </a:r>
            <a:endParaRPr lang="en-US" altLang="zh-TW" sz="2800" baseline="-25000" dirty="0">
              <a:latin typeface="Times New Roman" panose="02020603050405020304" pitchFamily="18" charset="0"/>
            </a:endParaRPr>
          </a:p>
        </p:txBody>
      </p:sp>
      <p:sp>
        <p:nvSpPr>
          <p:cNvPr id="56341" name="AutoShape 59"/>
          <p:cNvSpPr/>
          <p:nvPr/>
        </p:nvSpPr>
        <p:spPr>
          <a:xfrm rot="-5400000">
            <a:off x="2670175" y="5413375"/>
            <a:ext cx="127000" cy="1695450"/>
          </a:xfrm>
          <a:prstGeom prst="leftBrace">
            <a:avLst>
              <a:gd name="adj1" fmla="val 111250"/>
              <a:gd name="adj2" fmla="val 50000"/>
            </a:avLst>
          </a:prstGeom>
          <a:noFill/>
          <a:ln w="38100" cap="flat" cmpd="sng">
            <a:solidFill>
              <a:schemeClr val="tx1"/>
            </a:solidFill>
            <a:prstDash val="solid"/>
            <a:headEnd type="none" w="med" len="med"/>
            <a:tailEnd type="none" w="lg" len="lg"/>
          </a:ln>
        </p:spPr>
        <p:txBody>
          <a:bodyPr vert="eaVert" lIns="90000" tIns="46800" rIns="90000" bIns="46800"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56342" name="Text Box 60"/>
          <p:cNvSpPr txBox="1"/>
          <p:nvPr/>
        </p:nvSpPr>
        <p:spPr>
          <a:xfrm>
            <a:off x="3032125" y="6291263"/>
            <a:ext cx="1463675" cy="366712"/>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i="1" dirty="0">
                <a:latin typeface="Times New Roman" panose="02020603050405020304" pitchFamily="18" charset="0"/>
              </a:rPr>
              <a:t>SC</a:t>
            </a:r>
            <a:r>
              <a:rPr lang="en-US" altLang="zh-TW" sz="1800" baseline="-25000" dirty="0">
                <a:latin typeface="Times New Roman" panose="02020603050405020304" pitchFamily="18" charset="0"/>
              </a:rPr>
              <a:t>  </a:t>
            </a:r>
            <a:r>
              <a:rPr lang="en-US" altLang="zh-TW" sz="1800" dirty="0">
                <a:latin typeface="Times New Roman" panose="02020603050405020304" pitchFamily="18" charset="0"/>
              </a:rPr>
              <a:t>embedded</a:t>
            </a:r>
            <a:endParaRPr lang="en-US" altLang="zh-TW" sz="1800" baseline="-25000" dirty="0">
              <a:latin typeface="Times New Roman" panose="02020603050405020304" pitchFamily="18" charset="0"/>
            </a:endParaRPr>
          </a:p>
        </p:txBody>
      </p:sp>
      <p:sp>
        <p:nvSpPr>
          <p:cNvPr id="34" name="矩形 33"/>
          <p:cNvSpPr/>
          <p:nvPr/>
        </p:nvSpPr>
        <p:spPr>
          <a:xfrm>
            <a:off x="152400" y="609600"/>
            <a:ext cx="8755063" cy="523875"/>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t>
            </a:r>
            <a:endParaRPr kumimoji="1" lang="en-US" altLang="zh-TW" sz="2800" b="1" i="0" u="none" strike="noStrike" kern="0" cap="none" spc="0" normalizeH="0" baseline="0" noProof="0" dirty="0">
              <a:ln>
                <a:noFill/>
              </a:ln>
              <a:solidFill>
                <a:schemeClr val="tx1"/>
              </a:solidFill>
              <a:effectLst/>
              <a:uLnTx/>
              <a:uFillTx/>
              <a:latin typeface="Arial" panose="020B0604020202020204"/>
              <a:ea typeface="PMingLiU"/>
              <a:cs typeface="+mn-cs"/>
            </a:endParaRPr>
          </a:p>
        </p:txBody>
      </p:sp>
      <p:sp>
        <p:nvSpPr>
          <p:cNvPr id="56344" name="投影片編號版面配置區 5"/>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35" name="矩形 34"/>
          <p:cNvSpPr/>
          <p:nvPr/>
        </p:nvSpPr>
        <p:spPr>
          <a:xfrm>
            <a:off x="6248400" y="6248400"/>
            <a:ext cx="1897063"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7</a:t>
            </a:r>
            <a:endParaRPr lang="zh-TW" altLang="en-US" sz="2400" dirty="0">
              <a:solidFill>
                <a:srgbClr val="0000CC"/>
              </a:solidFill>
            </a:endParaRPr>
          </a:p>
        </p:txBody>
      </p:sp>
      <p:cxnSp>
        <p:nvCxnSpPr>
          <p:cNvPr id="37" name="直線接點 36"/>
          <p:cNvCxnSpPr>
            <a:stCxn id="56322" idx="6"/>
            <a:endCxn id="56325" idx="2"/>
          </p:cNvCxnSpPr>
          <p:nvPr/>
        </p:nvCxnSpPr>
        <p:spPr>
          <a:xfrm>
            <a:off x="1601788" y="2197100"/>
            <a:ext cx="1241425"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a:off x="2895600" y="2209800"/>
            <a:ext cx="884238" cy="7143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p:cNvCxnSpPr/>
          <p:nvPr/>
        </p:nvCxnSpPr>
        <p:spPr>
          <a:xfrm rot="16200000" flipH="1" flipV="1">
            <a:off x="2361406" y="2848769"/>
            <a:ext cx="1343025" cy="1493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rot="10800000">
            <a:off x="900113" y="2924175"/>
            <a:ext cx="1355725" cy="13430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p:cNvCxnSpPr/>
          <p:nvPr/>
        </p:nvCxnSpPr>
        <p:spPr>
          <a:xfrm rot="5400000">
            <a:off x="876300" y="2247900"/>
            <a:ext cx="685800" cy="609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線接點 47"/>
          <p:cNvCxnSpPr/>
          <p:nvPr/>
        </p:nvCxnSpPr>
        <p:spPr>
          <a:xfrm rot="5400000" flipH="1" flipV="1">
            <a:off x="2314575" y="1482725"/>
            <a:ext cx="26988" cy="28559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接點 49"/>
          <p:cNvCxnSpPr>
            <a:stCxn id="56326" idx="5"/>
          </p:cNvCxnSpPr>
          <p:nvPr/>
        </p:nvCxnSpPr>
        <p:spPr>
          <a:xfrm rot="16200000" flipH="1">
            <a:off x="1280319" y="2612231"/>
            <a:ext cx="598488" cy="12922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接點 53"/>
          <p:cNvCxnSpPr>
            <a:endCxn id="56327" idx="2"/>
          </p:cNvCxnSpPr>
          <p:nvPr/>
        </p:nvCxnSpPr>
        <p:spPr>
          <a:xfrm flipV="1">
            <a:off x="2209800" y="2916238"/>
            <a:ext cx="1498600" cy="6651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32"/>
                                        </p:tgtEl>
                                        <p:attrNameLst>
                                          <p:attrName>style.visibility</p:attrName>
                                        </p:attrNameLst>
                                      </p:cBhvr>
                                      <p:to>
                                        <p:strVal val="visible"/>
                                      </p:to>
                                    </p:set>
                                    <p:anim calcmode="lin" valueType="num">
                                      <p:cBhvr additive="base">
                                        <p:cTn id="7" dur="500" fill="hold"/>
                                        <p:tgtEl>
                                          <p:spTgt spid="430132"/>
                                        </p:tgtEl>
                                        <p:attrNameLst>
                                          <p:attrName>ppt_x</p:attrName>
                                        </p:attrNameLst>
                                      </p:cBhvr>
                                      <p:tavLst>
                                        <p:tav tm="0">
                                          <p:val>
                                            <p:strVal val="#ppt_x"/>
                                          </p:val>
                                        </p:tav>
                                        <p:tav tm="100000">
                                          <p:val>
                                            <p:strVal val="#ppt_x"/>
                                          </p:val>
                                        </p:tav>
                                      </p:tavLst>
                                    </p:anim>
                                    <p:anim calcmode="lin" valueType="num">
                                      <p:cBhvr additive="base">
                                        <p:cTn id="8" dur="500" fill="hold"/>
                                        <p:tgtEl>
                                          <p:spTgt spid="4301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mph" presetSubtype="2" fill="hold" nodeType="clickEffect">
                                  <p:stCondLst>
                                    <p:cond delay="0"/>
                                  </p:stCondLst>
                                  <p:childTnLst>
                                    <p:animClr clrSpc="rgb" dir="cw">
                                      <p:cBhvr>
                                        <p:cTn id="12" dur="500" fill="hold"/>
                                        <p:tgtEl>
                                          <p:spTgt spid="37"/>
                                        </p:tgtEl>
                                        <p:attrNameLst>
                                          <p:attrName>stroke.color</p:attrName>
                                        </p:attrNameLst>
                                      </p:cBhvr>
                                      <p:to>
                                        <a:srgbClr val="FF9900"/>
                                      </p:to>
                                    </p:animClr>
                                    <p:set>
                                      <p:cBhvr>
                                        <p:cTn id="13" dur="500" fill="hold"/>
                                        <p:tgtEl>
                                          <p:spTgt spid="37"/>
                                        </p:tgtEl>
                                        <p:attrNameLst>
                                          <p:attrName>stroke.on</p:attrName>
                                        </p:attrNameLst>
                                      </p:cBhvr>
                                      <p:to>
                                        <p:strVal val="true"/>
                                      </p:to>
                                    </p:set>
                                  </p:childTnLst>
                                </p:cTn>
                              </p:par>
                            </p:childTnLst>
                          </p:cTn>
                        </p:par>
                      </p:childTnLst>
                    </p:cTn>
                  </p:par>
                  <p:par>
                    <p:cTn id="14" fill="hold">
                      <p:stCondLst>
                        <p:cond delay="indefinite"/>
                      </p:stCondLst>
                      <p:childTnLst>
                        <p:par>
                          <p:cTn id="15" fill="hold">
                            <p:stCondLst>
                              <p:cond delay="0"/>
                            </p:stCondLst>
                            <p:childTnLst>
                              <p:par>
                                <p:cTn id="16" presetID="7" presetClass="emph" presetSubtype="2" fill="hold" nodeType="clickEffect">
                                  <p:stCondLst>
                                    <p:cond delay="0"/>
                                  </p:stCondLst>
                                  <p:childTnLst>
                                    <p:animClr clrSpc="rgb" dir="cw">
                                      <p:cBhvr>
                                        <p:cTn id="17" dur="500" fill="hold"/>
                                        <p:tgtEl>
                                          <p:spTgt spid="38"/>
                                        </p:tgtEl>
                                        <p:attrNameLst>
                                          <p:attrName>stroke.color</p:attrName>
                                        </p:attrNameLst>
                                      </p:cBhvr>
                                      <p:to>
                                        <a:srgbClr val="FF9900"/>
                                      </p:to>
                                    </p:animClr>
                                    <p:set>
                                      <p:cBhvr>
                                        <p:cTn id="18" dur="500" fill="hold"/>
                                        <p:tgtEl>
                                          <p:spTgt spid="38"/>
                                        </p:tgtEl>
                                        <p:attrNameLst>
                                          <p:attrName>stroke.on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7" presetClass="emph" presetSubtype="2" fill="hold" nodeType="clickEffect">
                                  <p:stCondLst>
                                    <p:cond delay="0"/>
                                  </p:stCondLst>
                                  <p:childTnLst>
                                    <p:animClr clrSpc="rgb" dir="cw">
                                      <p:cBhvr>
                                        <p:cTn id="22" dur="500" fill="hold"/>
                                        <p:tgtEl>
                                          <p:spTgt spid="40"/>
                                        </p:tgtEl>
                                        <p:attrNameLst>
                                          <p:attrName>stroke.color</p:attrName>
                                        </p:attrNameLst>
                                      </p:cBhvr>
                                      <p:to>
                                        <a:srgbClr val="FF9900"/>
                                      </p:to>
                                    </p:animClr>
                                    <p:set>
                                      <p:cBhvr>
                                        <p:cTn id="23" dur="500" fill="hold"/>
                                        <p:tgtEl>
                                          <p:spTgt spid="40"/>
                                        </p:tgtEl>
                                        <p:attrNameLst>
                                          <p:attrName>stroke.on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7" presetClass="emph" presetSubtype="2" fill="hold" nodeType="clickEffect">
                                  <p:stCondLst>
                                    <p:cond delay="0"/>
                                  </p:stCondLst>
                                  <p:childTnLst>
                                    <p:animClr clrSpc="rgb" dir="cw">
                                      <p:cBhvr>
                                        <p:cTn id="27" dur="500" fill="hold"/>
                                        <p:tgtEl>
                                          <p:spTgt spid="43"/>
                                        </p:tgtEl>
                                        <p:attrNameLst>
                                          <p:attrName>stroke.color</p:attrName>
                                        </p:attrNameLst>
                                      </p:cBhvr>
                                      <p:to>
                                        <a:srgbClr val="FF9900"/>
                                      </p:to>
                                    </p:animClr>
                                    <p:set>
                                      <p:cBhvr>
                                        <p:cTn id="28" dur="500" fill="hold"/>
                                        <p:tgtEl>
                                          <p:spTgt spid="43"/>
                                        </p:tgtEl>
                                        <p:attrNameLst>
                                          <p:attrName>stroke.on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7" presetClass="emph" presetSubtype="2" fill="hold" nodeType="clickEffect">
                                  <p:stCondLst>
                                    <p:cond delay="0"/>
                                  </p:stCondLst>
                                  <p:childTnLst>
                                    <p:animClr clrSpc="rgb" dir="cw">
                                      <p:cBhvr>
                                        <p:cTn id="32" dur="500" fill="hold"/>
                                        <p:tgtEl>
                                          <p:spTgt spid="45"/>
                                        </p:tgtEl>
                                        <p:attrNameLst>
                                          <p:attrName>stroke.color</p:attrName>
                                        </p:attrNameLst>
                                      </p:cBhvr>
                                      <p:to>
                                        <a:srgbClr val="FF9900"/>
                                      </p:to>
                                    </p:animClr>
                                    <p:set>
                                      <p:cBhvr>
                                        <p:cTn id="33" dur="500" fill="hold"/>
                                        <p:tgtEl>
                                          <p:spTgt spid="45"/>
                                        </p:tgtEl>
                                        <p:attrNameLst>
                                          <p:attrName>stroke.on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430133"/>
                                        </p:tgtEl>
                                        <p:attrNameLst>
                                          <p:attrName>style.visibility</p:attrName>
                                        </p:attrNameLst>
                                      </p:cBhvr>
                                      <p:to>
                                        <p:strVal val="visible"/>
                                      </p:to>
                                    </p:set>
                                    <p:anim calcmode="lin" valueType="num">
                                      <p:cBhvr additive="base">
                                        <p:cTn id="38" dur="500" fill="hold"/>
                                        <p:tgtEl>
                                          <p:spTgt spid="430133"/>
                                        </p:tgtEl>
                                        <p:attrNameLst>
                                          <p:attrName>ppt_x</p:attrName>
                                        </p:attrNameLst>
                                      </p:cBhvr>
                                      <p:tavLst>
                                        <p:tav tm="0">
                                          <p:val>
                                            <p:strVal val="#ppt_x"/>
                                          </p:val>
                                        </p:tav>
                                        <p:tav tm="100000">
                                          <p:val>
                                            <p:strVal val="#ppt_x"/>
                                          </p:val>
                                        </p:tav>
                                      </p:tavLst>
                                    </p:anim>
                                    <p:anim calcmode="lin" valueType="num">
                                      <p:cBhvr additive="base">
                                        <p:cTn id="39" dur="500" fill="hold"/>
                                        <p:tgtEl>
                                          <p:spTgt spid="430133"/>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430134"/>
                                        </p:tgtEl>
                                        <p:attrNameLst>
                                          <p:attrName>style.visibility</p:attrName>
                                        </p:attrNameLst>
                                      </p:cBhvr>
                                      <p:to>
                                        <p:strVal val="visible"/>
                                      </p:to>
                                    </p:set>
                                    <p:anim calcmode="lin" valueType="num">
                                      <p:cBhvr additive="base">
                                        <p:cTn id="44" dur="500" fill="hold"/>
                                        <p:tgtEl>
                                          <p:spTgt spid="430134"/>
                                        </p:tgtEl>
                                        <p:attrNameLst>
                                          <p:attrName>ppt_x</p:attrName>
                                        </p:attrNameLst>
                                      </p:cBhvr>
                                      <p:tavLst>
                                        <p:tav tm="0">
                                          <p:val>
                                            <p:strVal val="#ppt_x"/>
                                          </p:val>
                                        </p:tav>
                                        <p:tav tm="100000">
                                          <p:val>
                                            <p:strVal val="#ppt_x"/>
                                          </p:val>
                                        </p:tav>
                                      </p:tavLst>
                                    </p:anim>
                                    <p:anim calcmode="lin" valueType="num">
                                      <p:cBhvr additive="base">
                                        <p:cTn id="45" dur="500" fill="hold"/>
                                        <p:tgtEl>
                                          <p:spTgt spid="430134"/>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7" presetClass="emph" presetSubtype="2" fill="hold" nodeType="clickEffect">
                                  <p:stCondLst>
                                    <p:cond delay="0"/>
                                  </p:stCondLst>
                                  <p:childTnLst>
                                    <p:animClr clrSpc="rgb" dir="cw">
                                      <p:cBhvr>
                                        <p:cTn id="49" dur="500" fill="hold"/>
                                        <p:tgtEl>
                                          <p:spTgt spid="48"/>
                                        </p:tgtEl>
                                        <p:attrNameLst>
                                          <p:attrName>stroke.color</p:attrName>
                                        </p:attrNameLst>
                                      </p:cBhvr>
                                      <p:to>
                                        <a:srgbClr val="33CC33"/>
                                      </p:to>
                                    </p:animClr>
                                    <p:set>
                                      <p:cBhvr>
                                        <p:cTn id="50" dur="500" fill="hold"/>
                                        <p:tgtEl>
                                          <p:spTgt spid="48"/>
                                        </p:tgtEl>
                                        <p:attrNameLst>
                                          <p:attrName>stroke.on</p:attrName>
                                        </p:attrNameLst>
                                      </p:cBhvr>
                                      <p:to>
                                        <p:strVal val="true"/>
                                      </p:to>
                                    </p:set>
                                  </p:childTnLst>
                                </p:cTn>
                              </p:par>
                            </p:childTnLst>
                          </p:cTn>
                        </p:par>
                      </p:childTnLst>
                    </p:cTn>
                  </p:par>
                  <p:par>
                    <p:cTn id="51" fill="hold">
                      <p:stCondLst>
                        <p:cond delay="indefinite"/>
                      </p:stCondLst>
                      <p:childTnLst>
                        <p:par>
                          <p:cTn id="52" fill="hold">
                            <p:stCondLst>
                              <p:cond delay="0"/>
                            </p:stCondLst>
                            <p:childTnLst>
                              <p:par>
                                <p:cTn id="53" presetID="7" presetClass="emph" presetSubtype="2" fill="hold" nodeType="clickEffect">
                                  <p:stCondLst>
                                    <p:cond delay="0"/>
                                  </p:stCondLst>
                                  <p:childTnLst>
                                    <p:animClr clrSpc="rgb" dir="cw">
                                      <p:cBhvr>
                                        <p:cTn id="54" dur="500" fill="hold"/>
                                        <p:tgtEl>
                                          <p:spTgt spid="50"/>
                                        </p:tgtEl>
                                        <p:attrNameLst>
                                          <p:attrName>stroke.color</p:attrName>
                                        </p:attrNameLst>
                                      </p:cBhvr>
                                      <p:to>
                                        <a:srgbClr val="33CC33"/>
                                      </p:to>
                                    </p:animClr>
                                    <p:set>
                                      <p:cBhvr>
                                        <p:cTn id="55" dur="500" fill="hold"/>
                                        <p:tgtEl>
                                          <p:spTgt spid="50"/>
                                        </p:tgtEl>
                                        <p:attrNameLst>
                                          <p:attrName>stroke.on</p:attrName>
                                        </p:attrNameLst>
                                      </p:cBhvr>
                                      <p:to>
                                        <p:strVal val="true"/>
                                      </p:to>
                                    </p:set>
                                  </p:childTnLst>
                                </p:cTn>
                              </p:par>
                            </p:childTnLst>
                          </p:cTn>
                        </p:par>
                      </p:childTnLst>
                    </p:cTn>
                  </p:par>
                  <p:par>
                    <p:cTn id="56" fill="hold">
                      <p:stCondLst>
                        <p:cond delay="indefinite"/>
                      </p:stCondLst>
                      <p:childTnLst>
                        <p:par>
                          <p:cTn id="57" fill="hold">
                            <p:stCondLst>
                              <p:cond delay="0"/>
                            </p:stCondLst>
                            <p:childTnLst>
                              <p:par>
                                <p:cTn id="58" presetID="7" presetClass="emph" presetSubtype="2" fill="hold" nodeType="clickEffect">
                                  <p:stCondLst>
                                    <p:cond delay="0"/>
                                  </p:stCondLst>
                                  <p:childTnLst>
                                    <p:animClr clrSpc="rgb" dir="cw">
                                      <p:cBhvr>
                                        <p:cTn id="59" dur="500" fill="hold"/>
                                        <p:tgtEl>
                                          <p:spTgt spid="54"/>
                                        </p:tgtEl>
                                        <p:attrNameLst>
                                          <p:attrName>stroke.color</p:attrName>
                                        </p:attrNameLst>
                                      </p:cBhvr>
                                      <p:to>
                                        <a:srgbClr val="33CC33"/>
                                      </p:to>
                                    </p:animClr>
                                    <p:set>
                                      <p:cBhvr>
                                        <p:cTn id="60" dur="500" fill="hold"/>
                                        <p:tgtEl>
                                          <p:spTgt spid="54"/>
                                        </p:tgtEl>
                                        <p:attrNameLst>
                                          <p:attrName>stroke.on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430135"/>
                                        </p:tgtEl>
                                        <p:attrNameLst>
                                          <p:attrName>style.visibility</p:attrName>
                                        </p:attrNameLst>
                                      </p:cBhvr>
                                      <p:to>
                                        <p:strVal val="visible"/>
                                      </p:to>
                                    </p:set>
                                    <p:anim calcmode="lin" valueType="num">
                                      <p:cBhvr additive="base">
                                        <p:cTn id="65" dur="500" fill="hold"/>
                                        <p:tgtEl>
                                          <p:spTgt spid="430135"/>
                                        </p:tgtEl>
                                        <p:attrNameLst>
                                          <p:attrName>ppt_x</p:attrName>
                                        </p:attrNameLst>
                                      </p:cBhvr>
                                      <p:tavLst>
                                        <p:tav tm="0">
                                          <p:val>
                                            <p:strVal val="#ppt_x"/>
                                          </p:val>
                                        </p:tav>
                                        <p:tav tm="100000">
                                          <p:val>
                                            <p:strVal val="#ppt_x"/>
                                          </p:val>
                                        </p:tav>
                                      </p:tavLst>
                                    </p:anim>
                                    <p:anim calcmode="lin" valueType="num">
                                      <p:cBhvr additive="base">
                                        <p:cTn id="66" dur="500" fill="hold"/>
                                        <p:tgtEl>
                                          <p:spTgt spid="430135"/>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430136"/>
                                        </p:tgtEl>
                                        <p:attrNameLst>
                                          <p:attrName>style.visibility</p:attrName>
                                        </p:attrNameLst>
                                      </p:cBhvr>
                                      <p:to>
                                        <p:strVal val="visible"/>
                                      </p:to>
                                    </p:set>
                                    <p:anim calcmode="lin" valueType="num">
                                      <p:cBhvr additive="base">
                                        <p:cTn id="71" dur="500" fill="hold"/>
                                        <p:tgtEl>
                                          <p:spTgt spid="430136"/>
                                        </p:tgtEl>
                                        <p:attrNameLst>
                                          <p:attrName>ppt_x</p:attrName>
                                        </p:attrNameLst>
                                      </p:cBhvr>
                                      <p:tavLst>
                                        <p:tav tm="0">
                                          <p:val>
                                            <p:strVal val="#ppt_x"/>
                                          </p:val>
                                        </p:tav>
                                        <p:tav tm="100000">
                                          <p:val>
                                            <p:strVal val="#ppt_x"/>
                                          </p:val>
                                        </p:tav>
                                      </p:tavLst>
                                    </p:anim>
                                    <p:anim calcmode="lin" valueType="num">
                                      <p:cBhvr additive="base">
                                        <p:cTn id="72" dur="500" fill="hold"/>
                                        <p:tgtEl>
                                          <p:spTgt spid="430136"/>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430138"/>
                                        </p:tgtEl>
                                        <p:attrNameLst>
                                          <p:attrName>style.visibility</p:attrName>
                                        </p:attrNameLst>
                                      </p:cBhvr>
                                      <p:to>
                                        <p:strVal val="visible"/>
                                      </p:to>
                                    </p:set>
                                    <p:anim calcmode="lin" valueType="num">
                                      <p:cBhvr additive="base">
                                        <p:cTn id="77" dur="500" fill="hold"/>
                                        <p:tgtEl>
                                          <p:spTgt spid="430138"/>
                                        </p:tgtEl>
                                        <p:attrNameLst>
                                          <p:attrName>ppt_x</p:attrName>
                                        </p:attrNameLst>
                                      </p:cBhvr>
                                      <p:tavLst>
                                        <p:tav tm="0">
                                          <p:val>
                                            <p:strVal val="#ppt_x"/>
                                          </p:val>
                                        </p:tav>
                                        <p:tav tm="100000">
                                          <p:val>
                                            <p:strVal val="#ppt_x"/>
                                          </p:val>
                                        </p:tav>
                                      </p:tavLst>
                                    </p:anim>
                                    <p:anim calcmode="lin" valueType="num">
                                      <p:cBhvr additive="base">
                                        <p:cTn id="78" dur="500" fill="hold"/>
                                        <p:tgtEl>
                                          <p:spTgt spid="430138"/>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430137"/>
                                        </p:tgtEl>
                                        <p:attrNameLst>
                                          <p:attrName>style.visibility</p:attrName>
                                        </p:attrNameLst>
                                      </p:cBhvr>
                                      <p:to>
                                        <p:strVal val="visible"/>
                                      </p:to>
                                    </p:set>
                                    <p:anim calcmode="lin" valueType="num">
                                      <p:cBhvr additive="base">
                                        <p:cTn id="83" dur="500" fill="hold"/>
                                        <p:tgtEl>
                                          <p:spTgt spid="430137"/>
                                        </p:tgtEl>
                                        <p:attrNameLst>
                                          <p:attrName>ppt_x</p:attrName>
                                        </p:attrNameLst>
                                      </p:cBhvr>
                                      <p:tavLst>
                                        <p:tav tm="0">
                                          <p:val>
                                            <p:strVal val="#ppt_x"/>
                                          </p:val>
                                        </p:tav>
                                        <p:tav tm="100000">
                                          <p:val>
                                            <p:strVal val="#ppt_x"/>
                                          </p:val>
                                        </p:tav>
                                      </p:tavLst>
                                    </p:anim>
                                    <p:anim calcmode="lin" valueType="num">
                                      <p:cBhvr additive="base">
                                        <p:cTn id="84" dur="500" fill="hold"/>
                                        <p:tgtEl>
                                          <p:spTgt spid="430137"/>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35"/>
                                        </p:tgtEl>
                                        <p:attrNameLst>
                                          <p:attrName>style.visibility</p:attrName>
                                        </p:attrNameLst>
                                      </p:cBhvr>
                                      <p:to>
                                        <p:strVal val="visible"/>
                                      </p:to>
                                    </p:set>
                                    <p:anim calcmode="lin" valueType="num">
                                      <p:cBhvr additive="base">
                                        <p:cTn id="89" dur="500" fill="hold"/>
                                        <p:tgtEl>
                                          <p:spTgt spid="35"/>
                                        </p:tgtEl>
                                        <p:attrNameLst>
                                          <p:attrName>ppt_x</p:attrName>
                                        </p:attrNameLst>
                                      </p:cBhvr>
                                      <p:tavLst>
                                        <p:tav tm="0">
                                          <p:val>
                                            <p:strVal val="#ppt_x"/>
                                          </p:val>
                                        </p:tav>
                                        <p:tav tm="100000">
                                          <p:val>
                                            <p:strVal val="#ppt_x"/>
                                          </p:val>
                                        </p:tav>
                                      </p:tavLst>
                                    </p:anim>
                                    <p:anim calcmode="lin" valueType="num">
                                      <p:cBhvr additive="base">
                                        <p:cTn id="9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2" grpId="0"/>
      <p:bldP spid="430133" grpId="0"/>
      <p:bldP spid="430134" grpId="0"/>
      <p:bldP spid="430135" grpId="0"/>
      <p:bldP spid="430136" grpId="0"/>
      <p:bldP spid="430137" grpId="0"/>
      <p:bldP spid="430138" grpId="0"/>
      <p:bldP spid="3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xfrm>
            <a:off x="457200" y="457200"/>
            <a:ext cx="8229600" cy="685800"/>
          </a:xfrm>
        </p:spPr>
        <p:txBody>
          <a:bodyPr vert="horz" wrap="square" lIns="91440" tIns="45720" rIns="91440" bIns="45720" anchor="ctr"/>
          <a:p>
            <a:pPr eaLnBrk="1" hangingPunct="1"/>
            <a:r>
              <a:rPr lang="en-US" altLang="zh-TW" sz="3200" b="1" u="sng" dirty="0">
                <a:solidFill>
                  <a:srgbClr val="008000"/>
                </a:solidFill>
              </a:rPr>
              <a:t>Hamilton Paths and Circuits</a:t>
            </a:r>
            <a:endParaRPr lang="en-US" altLang="zh-TW" sz="3200" b="1" u="sng" dirty="0">
              <a:solidFill>
                <a:srgbClr val="008000"/>
              </a:solidFill>
            </a:endParaRPr>
          </a:p>
        </p:txBody>
      </p:sp>
      <p:sp>
        <p:nvSpPr>
          <p:cNvPr id="57347" name="Rectangle 3"/>
          <p:cNvSpPr>
            <a:spLocks noGrp="1"/>
          </p:cNvSpPr>
          <p:nvPr>
            <p:ph type="body"/>
          </p:nvPr>
        </p:nvSpPr>
        <p:spPr>
          <a:xfrm>
            <a:off x="228600" y="1143000"/>
            <a:ext cx="8305800" cy="1828800"/>
          </a:xfrm>
        </p:spPr>
        <p:txBody>
          <a:bodyPr vert="horz" wrap="square" lIns="91440" tIns="45720" rIns="91440" bIns="45720" anchor="t"/>
          <a:p>
            <a:pPr eaLnBrk="1" hangingPunct="1">
              <a:buNone/>
            </a:pPr>
            <a:r>
              <a:rPr lang="en-US" altLang="zh-TW" sz="2800" b="1" dirty="0">
                <a:solidFill>
                  <a:srgbClr val="FF0000"/>
                </a:solidFill>
              </a:rPr>
              <a:t>Def. 2:</a:t>
            </a:r>
            <a:r>
              <a:rPr lang="en-US" altLang="zh-TW" sz="2800" dirty="0"/>
              <a:t> A </a:t>
            </a:r>
            <a:r>
              <a:rPr lang="en-US" altLang="zh-TW" sz="2800" i="1" dirty="0">
                <a:solidFill>
                  <a:srgbClr val="0000CC"/>
                </a:solidFill>
              </a:rPr>
              <a:t>Hamilton path</a:t>
            </a:r>
            <a:r>
              <a:rPr lang="en-US" altLang="zh-TW" sz="2800" dirty="0"/>
              <a:t> is a path that traverses each </a:t>
            </a:r>
            <a:r>
              <a:rPr lang="en-US" altLang="zh-TW" sz="2800" u="sng" dirty="0"/>
              <a:t>vertex</a:t>
            </a:r>
            <a:r>
              <a:rPr lang="en-US" altLang="zh-TW" sz="2800" dirty="0"/>
              <a:t> in a graph </a:t>
            </a:r>
            <a:r>
              <a:rPr lang="en-US" altLang="zh-TW" sz="2800" b="1" i="1" dirty="0">
                <a:latin typeface="Times New Roman" panose="02020603050405020304" pitchFamily="18" charset="0"/>
                <a:cs typeface="Times New Roman" panose="02020603050405020304" pitchFamily="18" charset="0"/>
              </a:rPr>
              <a:t>G</a:t>
            </a:r>
            <a:r>
              <a:rPr lang="en-US" altLang="zh-TW" sz="2800" dirty="0"/>
              <a:t> exactly once.</a:t>
            </a:r>
            <a:br>
              <a:rPr lang="en-US" altLang="zh-TW" sz="2800" dirty="0"/>
            </a:br>
            <a:r>
              <a:rPr lang="en-US" altLang="zh-TW" sz="2800" dirty="0"/>
              <a:t>A </a:t>
            </a:r>
            <a:r>
              <a:rPr lang="en-US" altLang="zh-TW" sz="2800" i="1" dirty="0">
                <a:solidFill>
                  <a:srgbClr val="0000CC"/>
                </a:solidFill>
              </a:rPr>
              <a:t>Hamilton circuit</a:t>
            </a:r>
            <a:r>
              <a:rPr lang="en-US" altLang="zh-TW" sz="2800" dirty="0"/>
              <a:t> is a circuit that traverses each vertex in </a:t>
            </a:r>
            <a:r>
              <a:rPr lang="en-US" altLang="zh-TW" sz="2800" b="1" i="1" dirty="0">
                <a:latin typeface="Times New Roman" panose="02020603050405020304" pitchFamily="18" charset="0"/>
                <a:cs typeface="Times New Roman" panose="02020603050405020304" pitchFamily="18" charset="0"/>
              </a:rPr>
              <a:t>G</a:t>
            </a:r>
            <a:r>
              <a:rPr lang="en-US" altLang="zh-TW" sz="2800" dirty="0"/>
              <a:t> exactly once.</a:t>
            </a:r>
            <a:endParaRPr lang="en-US" altLang="zh-TW" sz="2800" dirty="0"/>
          </a:p>
          <a:p>
            <a:pPr eaLnBrk="1" hangingPunct="1">
              <a:buNone/>
            </a:pPr>
            <a:r>
              <a:rPr lang="en-US" altLang="zh-TW" sz="2800" dirty="0"/>
              <a:t>   </a:t>
            </a:r>
            <a:endParaRPr lang="en-US" altLang="zh-TW" sz="2800" dirty="0"/>
          </a:p>
        </p:txBody>
      </p:sp>
      <p:sp>
        <p:nvSpPr>
          <p:cNvPr id="57348"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6" name="矩形 5"/>
          <p:cNvSpPr/>
          <p:nvPr/>
        </p:nvSpPr>
        <p:spPr>
          <a:xfrm>
            <a:off x="228600" y="3048000"/>
            <a:ext cx="8755063" cy="954088"/>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1.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Which of the following graphs have </a:t>
            </a:r>
            <a:b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 </a:t>
            </a:r>
            <a:r>
              <a:rPr kumimoji="1" lang="en-US" altLang="zh-TW" sz="2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rPr>
              <a:t>Hamilton</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circuit or a </a:t>
            </a:r>
            <a:r>
              <a:rPr kumimoji="1" lang="en-US" altLang="zh-TW" sz="2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rPr>
              <a:t>Hamilton</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path? </a:t>
            </a:r>
            <a:endParaRPr kumimoji="1" lang="en-US" altLang="zh-TW" sz="2800" b="1" i="0" u="none" strike="noStrike" kern="0" cap="none" spc="0" normalizeH="0" baseline="0" noProof="0" dirty="0">
              <a:ln>
                <a:noFill/>
              </a:ln>
              <a:solidFill>
                <a:schemeClr val="tx1"/>
              </a:solidFill>
              <a:effectLst/>
              <a:uLnTx/>
              <a:uFillTx/>
              <a:latin typeface="Arial" panose="020B0604020202020204"/>
              <a:ea typeface="PMingLiU"/>
              <a:cs typeface="+mn-cs"/>
            </a:endParaRPr>
          </a:p>
        </p:txBody>
      </p:sp>
      <p:grpSp>
        <p:nvGrpSpPr>
          <p:cNvPr id="2" name="群組 66"/>
          <p:cNvGrpSpPr/>
          <p:nvPr/>
        </p:nvGrpSpPr>
        <p:grpSpPr>
          <a:xfrm>
            <a:off x="2819400" y="4191000"/>
            <a:ext cx="2049463" cy="1541463"/>
            <a:chOff x="3048000" y="4191000"/>
            <a:chExt cx="2049542" cy="1541021"/>
          </a:xfrm>
        </p:grpSpPr>
        <p:sp>
          <p:nvSpPr>
            <p:cNvPr id="57395" name="Line 23"/>
            <p:cNvSpPr/>
            <p:nvPr/>
          </p:nvSpPr>
          <p:spPr>
            <a:xfrm flipV="1">
              <a:off x="3582763" y="4467123"/>
              <a:ext cx="1136898" cy="0"/>
            </a:xfrm>
            <a:prstGeom prst="line">
              <a:avLst/>
            </a:prstGeom>
            <a:ln w="25400" cap="flat" cmpd="sng">
              <a:solidFill>
                <a:schemeClr val="tx1"/>
              </a:solidFill>
              <a:prstDash val="solid"/>
              <a:headEnd type="none" w="med" len="med"/>
              <a:tailEnd type="none" w="med" len="med"/>
            </a:ln>
          </p:spPr>
        </p:sp>
        <p:sp>
          <p:nvSpPr>
            <p:cNvPr id="57396" name="AutoShape 11"/>
            <p:cNvSpPr/>
            <p:nvPr/>
          </p:nvSpPr>
          <p:spPr>
            <a:xfrm>
              <a:off x="4652289" y="4371761"/>
              <a:ext cx="145703" cy="12057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97" name="Text Box 12"/>
            <p:cNvSpPr txBox="1"/>
            <p:nvPr/>
          </p:nvSpPr>
          <p:spPr>
            <a:xfrm>
              <a:off x="3248033" y="4191000"/>
              <a:ext cx="311162" cy="39676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57398" name="AutoShape 30"/>
            <p:cNvSpPr/>
            <p:nvPr/>
          </p:nvSpPr>
          <p:spPr>
            <a:xfrm>
              <a:off x="4665447" y="5378045"/>
              <a:ext cx="145703" cy="12057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99" name="AutoShape 32"/>
            <p:cNvSpPr/>
            <p:nvPr/>
          </p:nvSpPr>
          <p:spPr>
            <a:xfrm>
              <a:off x="3515917" y="5396075"/>
              <a:ext cx="145703" cy="12057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400" name="AutoShape 33"/>
            <p:cNvSpPr/>
            <p:nvPr/>
          </p:nvSpPr>
          <p:spPr>
            <a:xfrm>
              <a:off x="3515917" y="4410190"/>
              <a:ext cx="145703" cy="12057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401" name="Line 34"/>
            <p:cNvSpPr/>
            <p:nvPr/>
          </p:nvSpPr>
          <p:spPr>
            <a:xfrm flipV="1">
              <a:off x="3623291" y="4432014"/>
              <a:ext cx="1136371" cy="1024314"/>
            </a:xfrm>
            <a:prstGeom prst="line">
              <a:avLst/>
            </a:prstGeom>
            <a:ln w="25400" cap="flat" cmpd="sng">
              <a:solidFill>
                <a:schemeClr val="tx1"/>
              </a:solidFill>
              <a:prstDash val="solid"/>
              <a:headEnd type="none" w="med" len="med"/>
              <a:tailEnd type="none" w="med" len="med"/>
            </a:ln>
          </p:spPr>
        </p:sp>
        <p:sp>
          <p:nvSpPr>
            <p:cNvPr id="57402" name="Line 23"/>
            <p:cNvSpPr/>
            <p:nvPr/>
          </p:nvSpPr>
          <p:spPr>
            <a:xfrm flipV="1">
              <a:off x="3582763" y="5463444"/>
              <a:ext cx="1136371" cy="0"/>
            </a:xfrm>
            <a:prstGeom prst="line">
              <a:avLst/>
            </a:prstGeom>
            <a:ln w="25400" cap="flat" cmpd="sng">
              <a:solidFill>
                <a:schemeClr val="tx1"/>
              </a:solidFill>
              <a:prstDash val="solid"/>
              <a:headEnd type="none" w="med" len="med"/>
              <a:tailEnd type="none" w="med" len="med"/>
            </a:ln>
          </p:spPr>
        </p:sp>
        <p:sp>
          <p:nvSpPr>
            <p:cNvPr id="57403" name="Text Box 12"/>
            <p:cNvSpPr txBox="1"/>
            <p:nvPr/>
          </p:nvSpPr>
          <p:spPr>
            <a:xfrm>
              <a:off x="4786380" y="4251308"/>
              <a:ext cx="311162" cy="39676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57404" name="Text Box 12"/>
            <p:cNvSpPr txBox="1"/>
            <p:nvPr/>
          </p:nvSpPr>
          <p:spPr>
            <a:xfrm>
              <a:off x="3048000" y="4733770"/>
              <a:ext cx="450867" cy="39676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G</a:t>
              </a:r>
              <a:r>
                <a:rPr lang="en-US" altLang="zh-TW" sz="2000" baseline="-25000" dirty="0">
                  <a:latin typeface="Times New Roman" panose="02020603050405020304" pitchFamily="18" charset="0"/>
                  <a:cs typeface="Times New Roman" panose="02020603050405020304" pitchFamily="18" charset="0"/>
                </a:rPr>
                <a:t>2</a:t>
              </a:r>
              <a:endParaRPr lang="en-US" altLang="zh-TW" sz="2000" baseline="-25000" dirty="0">
                <a:latin typeface="Times New Roman" panose="02020603050405020304" pitchFamily="18" charset="0"/>
                <a:ea typeface="Times New Roman" panose="02020603050405020304" pitchFamily="18" charset="0"/>
              </a:endParaRPr>
            </a:p>
          </p:txBody>
        </p:sp>
        <p:sp>
          <p:nvSpPr>
            <p:cNvPr id="57405" name="Text Box 12"/>
            <p:cNvSpPr txBox="1"/>
            <p:nvPr/>
          </p:nvSpPr>
          <p:spPr>
            <a:xfrm>
              <a:off x="4786380" y="5274952"/>
              <a:ext cx="296874" cy="3967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57406" name="Text Box 12"/>
            <p:cNvSpPr txBox="1"/>
            <p:nvPr/>
          </p:nvSpPr>
          <p:spPr>
            <a:xfrm>
              <a:off x="3248033" y="5335260"/>
              <a:ext cx="311162" cy="39676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57407" name="Line 25"/>
            <p:cNvSpPr/>
            <p:nvPr/>
          </p:nvSpPr>
          <p:spPr>
            <a:xfrm flipH="1">
              <a:off x="4760189" y="4432014"/>
              <a:ext cx="0" cy="1024314"/>
            </a:xfrm>
            <a:prstGeom prst="line">
              <a:avLst/>
            </a:prstGeom>
            <a:ln w="25400" cap="flat" cmpd="sng">
              <a:solidFill>
                <a:schemeClr val="tx1"/>
              </a:solidFill>
              <a:prstDash val="solid"/>
              <a:headEnd type="none" w="med" len="med"/>
              <a:tailEnd type="none" w="med" len="med"/>
            </a:ln>
          </p:spPr>
        </p:sp>
      </p:grpSp>
      <p:sp>
        <p:nvSpPr>
          <p:cNvPr id="58" name="矩形 57"/>
          <p:cNvSpPr/>
          <p:nvPr/>
        </p:nvSpPr>
        <p:spPr>
          <a:xfrm>
            <a:off x="228600" y="6172200"/>
            <a:ext cx="2844800" cy="457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rPr>
              <a:t>Hamilton</a:t>
            </a: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 circuit: </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4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1</a:t>
            </a: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 </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3" name="群組 73"/>
          <p:cNvGrpSpPr/>
          <p:nvPr/>
        </p:nvGrpSpPr>
        <p:grpSpPr>
          <a:xfrm>
            <a:off x="228600" y="4114800"/>
            <a:ext cx="2201863" cy="1920875"/>
            <a:chOff x="228600" y="4114800"/>
            <a:chExt cx="2201652" cy="1920935"/>
          </a:xfrm>
        </p:grpSpPr>
        <p:sp>
          <p:nvSpPr>
            <p:cNvPr id="57376" name="AutoShape 11"/>
            <p:cNvSpPr/>
            <p:nvPr/>
          </p:nvSpPr>
          <p:spPr>
            <a:xfrm>
              <a:off x="1938559" y="4313238"/>
              <a:ext cx="147609" cy="1323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77" name="Text Box 12"/>
            <p:cNvSpPr txBox="1"/>
            <p:nvPr/>
          </p:nvSpPr>
          <p:spPr>
            <a:xfrm>
              <a:off x="652422" y="4114800"/>
              <a:ext cx="311120" cy="3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57378" name="Line 23"/>
            <p:cNvSpPr/>
            <p:nvPr/>
          </p:nvSpPr>
          <p:spPr>
            <a:xfrm flipV="1">
              <a:off x="990480" y="4379384"/>
              <a:ext cx="1015800" cy="0"/>
            </a:xfrm>
            <a:prstGeom prst="line">
              <a:avLst/>
            </a:prstGeom>
            <a:ln w="25400" cap="flat" cmpd="sng">
              <a:solidFill>
                <a:schemeClr val="tx1"/>
              </a:solidFill>
              <a:prstDash val="solid"/>
              <a:headEnd type="none" w="med" len="med"/>
              <a:tailEnd type="none" w="med" len="med"/>
            </a:ln>
          </p:spPr>
        </p:sp>
        <p:sp>
          <p:nvSpPr>
            <p:cNvPr id="57379" name="Line 25"/>
            <p:cNvSpPr/>
            <p:nvPr/>
          </p:nvSpPr>
          <p:spPr>
            <a:xfrm>
              <a:off x="990480" y="4379384"/>
              <a:ext cx="1143120" cy="802216"/>
            </a:xfrm>
            <a:prstGeom prst="line">
              <a:avLst/>
            </a:prstGeom>
            <a:ln w="25400" cap="flat" cmpd="sng">
              <a:solidFill>
                <a:schemeClr val="tx1"/>
              </a:solidFill>
              <a:prstDash val="solid"/>
              <a:headEnd type="none" w="med" len="med"/>
              <a:tailEnd type="none" w="med" len="med"/>
            </a:ln>
          </p:spPr>
        </p:sp>
        <p:sp>
          <p:nvSpPr>
            <p:cNvPr id="57380" name="AutoShape 30"/>
            <p:cNvSpPr/>
            <p:nvPr/>
          </p:nvSpPr>
          <p:spPr>
            <a:xfrm>
              <a:off x="2045910" y="5100453"/>
              <a:ext cx="147609" cy="1323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81" name="AutoShape 32"/>
            <p:cNvSpPr/>
            <p:nvPr/>
          </p:nvSpPr>
          <p:spPr>
            <a:xfrm>
              <a:off x="846679" y="5100453"/>
              <a:ext cx="147609" cy="1323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82" name="AutoShape 33"/>
            <p:cNvSpPr/>
            <p:nvPr/>
          </p:nvSpPr>
          <p:spPr>
            <a:xfrm>
              <a:off x="922759" y="4320530"/>
              <a:ext cx="147609" cy="1323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83" name="Line 34"/>
            <p:cNvSpPr/>
            <p:nvPr/>
          </p:nvSpPr>
          <p:spPr>
            <a:xfrm flipH="1" flipV="1">
              <a:off x="2057400" y="4419600"/>
              <a:ext cx="76200" cy="762000"/>
            </a:xfrm>
            <a:prstGeom prst="line">
              <a:avLst/>
            </a:prstGeom>
            <a:ln w="25400" cap="flat" cmpd="sng">
              <a:solidFill>
                <a:schemeClr val="tx1"/>
              </a:solidFill>
              <a:prstDash val="solid"/>
              <a:headEnd type="none" w="med" len="med"/>
              <a:tailEnd type="none" w="med" len="med"/>
            </a:ln>
          </p:spPr>
        </p:sp>
        <p:sp>
          <p:nvSpPr>
            <p:cNvPr id="57384" name="Line 23"/>
            <p:cNvSpPr/>
            <p:nvPr/>
          </p:nvSpPr>
          <p:spPr>
            <a:xfrm flipV="1">
              <a:off x="914400" y="5181600"/>
              <a:ext cx="1151239" cy="0"/>
            </a:xfrm>
            <a:prstGeom prst="line">
              <a:avLst/>
            </a:prstGeom>
            <a:ln w="25400" cap="flat" cmpd="sng">
              <a:solidFill>
                <a:schemeClr val="tx1"/>
              </a:solidFill>
              <a:prstDash val="solid"/>
              <a:headEnd type="none" w="med" len="med"/>
              <a:tailEnd type="none" w="med" len="med"/>
            </a:ln>
          </p:spPr>
        </p:sp>
        <p:sp>
          <p:nvSpPr>
            <p:cNvPr id="57385" name="Text Box 12"/>
            <p:cNvSpPr txBox="1"/>
            <p:nvPr/>
          </p:nvSpPr>
          <p:spPr>
            <a:xfrm>
              <a:off x="2074686" y="4181477"/>
              <a:ext cx="311120" cy="3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57386" name="Text Box 12"/>
            <p:cNvSpPr txBox="1"/>
            <p:nvPr/>
          </p:nvSpPr>
          <p:spPr>
            <a:xfrm>
              <a:off x="228600" y="4648217"/>
              <a:ext cx="450807" cy="3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G</a:t>
              </a:r>
              <a:r>
                <a:rPr lang="en-US" altLang="zh-TW" sz="2000" baseline="-25000" dirty="0">
                  <a:latin typeface="Times New Roman" panose="02020603050405020304" pitchFamily="18" charset="0"/>
                  <a:cs typeface="Times New Roman" panose="02020603050405020304" pitchFamily="18" charset="0"/>
                </a:rPr>
                <a:t>1</a:t>
              </a:r>
              <a:endParaRPr lang="en-US" altLang="zh-TW" sz="2000" baseline="-25000" dirty="0">
                <a:latin typeface="Times New Roman" panose="02020603050405020304" pitchFamily="18" charset="0"/>
                <a:ea typeface="Times New Roman" panose="02020603050405020304" pitchFamily="18" charset="0"/>
              </a:endParaRPr>
            </a:p>
          </p:txBody>
        </p:sp>
        <p:sp>
          <p:nvSpPr>
            <p:cNvPr id="57387" name="Text Box 12"/>
            <p:cNvSpPr txBox="1"/>
            <p:nvPr/>
          </p:nvSpPr>
          <p:spPr>
            <a:xfrm>
              <a:off x="2133418" y="5022878"/>
              <a:ext cx="296834" cy="3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57388" name="AutoShape 11"/>
            <p:cNvSpPr/>
            <p:nvPr/>
          </p:nvSpPr>
          <p:spPr>
            <a:xfrm>
              <a:off x="1447800" y="5638800"/>
              <a:ext cx="147609" cy="1323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89" name="Text Box 12"/>
            <p:cNvSpPr txBox="1"/>
            <p:nvPr/>
          </p:nvSpPr>
          <p:spPr>
            <a:xfrm>
              <a:off x="1142913" y="5638848"/>
              <a:ext cx="311120" cy="3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57390" name="Text Box 12"/>
            <p:cNvSpPr txBox="1"/>
            <p:nvPr/>
          </p:nvSpPr>
          <p:spPr>
            <a:xfrm>
              <a:off x="576229" y="5089555"/>
              <a:ext cx="296834" cy="3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57391" name="Line 25"/>
            <p:cNvSpPr/>
            <p:nvPr/>
          </p:nvSpPr>
          <p:spPr>
            <a:xfrm>
              <a:off x="914400" y="5181600"/>
              <a:ext cx="609600" cy="533400"/>
            </a:xfrm>
            <a:prstGeom prst="line">
              <a:avLst/>
            </a:prstGeom>
            <a:ln w="25400" cap="flat" cmpd="sng">
              <a:solidFill>
                <a:schemeClr val="tx1"/>
              </a:solidFill>
              <a:prstDash val="solid"/>
              <a:headEnd type="none" w="med" len="med"/>
              <a:tailEnd type="none" w="med" len="med"/>
            </a:ln>
          </p:spPr>
        </p:sp>
        <p:sp>
          <p:nvSpPr>
            <p:cNvPr id="57392" name="Line 34"/>
            <p:cNvSpPr/>
            <p:nvPr/>
          </p:nvSpPr>
          <p:spPr>
            <a:xfrm flipV="1">
              <a:off x="1524001" y="5181600"/>
              <a:ext cx="609600" cy="507470"/>
            </a:xfrm>
            <a:prstGeom prst="line">
              <a:avLst/>
            </a:prstGeom>
            <a:ln w="25400" cap="flat" cmpd="sng">
              <a:solidFill>
                <a:schemeClr val="tx1"/>
              </a:solidFill>
              <a:prstDash val="solid"/>
              <a:headEnd type="none" w="med" len="med"/>
              <a:tailEnd type="none" w="med" len="med"/>
            </a:ln>
          </p:spPr>
        </p:sp>
        <p:sp>
          <p:nvSpPr>
            <p:cNvPr id="57393" name="Line 34"/>
            <p:cNvSpPr/>
            <p:nvPr/>
          </p:nvSpPr>
          <p:spPr>
            <a:xfrm flipV="1">
              <a:off x="914400" y="4419600"/>
              <a:ext cx="1059017" cy="736070"/>
            </a:xfrm>
            <a:prstGeom prst="line">
              <a:avLst/>
            </a:prstGeom>
            <a:ln w="25400" cap="flat" cmpd="sng">
              <a:solidFill>
                <a:schemeClr val="tx1"/>
              </a:solidFill>
              <a:prstDash val="solid"/>
              <a:headEnd type="none" w="med" len="med"/>
              <a:tailEnd type="none" w="med" len="med"/>
            </a:ln>
          </p:spPr>
        </p:sp>
        <p:sp>
          <p:nvSpPr>
            <p:cNvPr id="57394" name="Line 25"/>
            <p:cNvSpPr/>
            <p:nvPr/>
          </p:nvSpPr>
          <p:spPr>
            <a:xfrm flipH="1">
              <a:off x="914400" y="4343400"/>
              <a:ext cx="76200" cy="838200"/>
            </a:xfrm>
            <a:prstGeom prst="line">
              <a:avLst/>
            </a:prstGeom>
            <a:ln w="25400" cap="flat" cmpd="sng">
              <a:solidFill>
                <a:schemeClr val="tx1"/>
              </a:solidFill>
              <a:prstDash val="solid"/>
              <a:headEnd type="none" w="med" len="med"/>
              <a:tailEnd type="none" w="med" len="med"/>
            </a:ln>
          </p:spPr>
        </p:sp>
      </p:grpSp>
      <p:grpSp>
        <p:nvGrpSpPr>
          <p:cNvPr id="4" name="群組 72"/>
          <p:cNvGrpSpPr/>
          <p:nvPr/>
        </p:nvGrpSpPr>
        <p:grpSpPr>
          <a:xfrm>
            <a:off x="5562600" y="3962400"/>
            <a:ext cx="2692400" cy="2149475"/>
            <a:chOff x="5562600" y="3962400"/>
            <a:chExt cx="2692011" cy="2149535"/>
          </a:xfrm>
        </p:grpSpPr>
        <p:sp>
          <p:nvSpPr>
            <p:cNvPr id="57356" name="Line 23"/>
            <p:cNvSpPr/>
            <p:nvPr/>
          </p:nvSpPr>
          <p:spPr>
            <a:xfrm flipV="1">
              <a:off x="5688000" y="4400446"/>
              <a:ext cx="828000" cy="0"/>
            </a:xfrm>
            <a:prstGeom prst="line">
              <a:avLst/>
            </a:prstGeom>
            <a:ln w="25400" cap="flat" cmpd="sng">
              <a:solidFill>
                <a:schemeClr val="tx1"/>
              </a:solidFill>
              <a:prstDash val="solid"/>
              <a:headEnd type="none" w="med" len="med"/>
              <a:tailEnd type="none" w="med" len="med"/>
            </a:ln>
          </p:spPr>
        </p:sp>
        <p:sp>
          <p:nvSpPr>
            <p:cNvPr id="57357" name="AutoShape 11"/>
            <p:cNvSpPr/>
            <p:nvPr/>
          </p:nvSpPr>
          <p:spPr>
            <a:xfrm>
              <a:off x="6432530" y="4301795"/>
              <a:ext cx="121931" cy="12473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58" name="Text Box 12"/>
            <p:cNvSpPr txBox="1"/>
            <p:nvPr/>
          </p:nvSpPr>
          <p:spPr>
            <a:xfrm>
              <a:off x="5562600" y="3962400"/>
              <a:ext cx="311105" cy="396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57359" name="Line 25"/>
            <p:cNvSpPr/>
            <p:nvPr/>
          </p:nvSpPr>
          <p:spPr>
            <a:xfrm>
              <a:off x="6477000" y="4392000"/>
              <a:ext cx="838200" cy="0"/>
            </a:xfrm>
            <a:prstGeom prst="line">
              <a:avLst/>
            </a:prstGeom>
            <a:ln w="25400" cap="flat" cmpd="sng">
              <a:solidFill>
                <a:schemeClr val="tx1"/>
              </a:solidFill>
              <a:prstDash val="solid"/>
              <a:headEnd type="none" w="med" len="med"/>
              <a:tailEnd type="none" w="med" len="med"/>
            </a:ln>
          </p:spPr>
        </p:sp>
        <p:sp>
          <p:nvSpPr>
            <p:cNvPr id="57360" name="AutoShape 30"/>
            <p:cNvSpPr/>
            <p:nvPr/>
          </p:nvSpPr>
          <p:spPr>
            <a:xfrm>
              <a:off x="6443542" y="5342784"/>
              <a:ext cx="121931" cy="12473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61" name="AutoShape 32"/>
            <p:cNvSpPr/>
            <p:nvPr/>
          </p:nvSpPr>
          <p:spPr>
            <a:xfrm>
              <a:off x="5633958" y="5361435"/>
              <a:ext cx="121931" cy="12473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62" name="AutoShape 33"/>
            <p:cNvSpPr/>
            <p:nvPr/>
          </p:nvSpPr>
          <p:spPr>
            <a:xfrm>
              <a:off x="5633958" y="4341550"/>
              <a:ext cx="121931" cy="12473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63" name="Line 23"/>
            <p:cNvSpPr/>
            <p:nvPr/>
          </p:nvSpPr>
          <p:spPr>
            <a:xfrm flipV="1">
              <a:off x="5688000" y="5431128"/>
              <a:ext cx="2376000" cy="0"/>
            </a:xfrm>
            <a:prstGeom prst="line">
              <a:avLst/>
            </a:prstGeom>
            <a:ln w="25400" cap="flat" cmpd="sng">
              <a:solidFill>
                <a:schemeClr val="tx1"/>
              </a:solidFill>
              <a:prstDash val="solid"/>
              <a:headEnd type="none" w="med" len="med"/>
              <a:tailEnd type="none" w="med" len="med"/>
            </a:ln>
          </p:spPr>
        </p:sp>
        <p:sp>
          <p:nvSpPr>
            <p:cNvPr id="57364" name="Text Box 12"/>
            <p:cNvSpPr txBox="1"/>
            <p:nvPr/>
          </p:nvSpPr>
          <p:spPr>
            <a:xfrm>
              <a:off x="6324490" y="3962400"/>
              <a:ext cx="311105" cy="396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57365" name="Text Box 12"/>
            <p:cNvSpPr txBox="1"/>
            <p:nvPr/>
          </p:nvSpPr>
          <p:spPr>
            <a:xfrm>
              <a:off x="6248301" y="5715049"/>
              <a:ext cx="450785" cy="396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G</a:t>
              </a:r>
              <a:r>
                <a:rPr lang="en-US" altLang="zh-TW" sz="2000" baseline="-25000" dirty="0">
                  <a:latin typeface="Times New Roman" panose="02020603050405020304" pitchFamily="18" charset="0"/>
                  <a:cs typeface="Times New Roman" panose="02020603050405020304" pitchFamily="18" charset="0"/>
                </a:rPr>
                <a:t>3</a:t>
              </a:r>
              <a:endParaRPr lang="en-US" altLang="zh-TW" sz="2000" baseline="-25000" dirty="0">
                <a:latin typeface="Times New Roman" panose="02020603050405020304" pitchFamily="18" charset="0"/>
                <a:ea typeface="Times New Roman" panose="02020603050405020304" pitchFamily="18" charset="0"/>
              </a:endParaRPr>
            </a:p>
          </p:txBody>
        </p:sp>
        <p:sp>
          <p:nvSpPr>
            <p:cNvPr id="57366" name="Text Box 12"/>
            <p:cNvSpPr txBox="1"/>
            <p:nvPr/>
          </p:nvSpPr>
          <p:spPr>
            <a:xfrm>
              <a:off x="5578473" y="5397540"/>
              <a:ext cx="311105" cy="396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57367" name="AutoShape 11"/>
            <p:cNvSpPr/>
            <p:nvPr/>
          </p:nvSpPr>
          <p:spPr>
            <a:xfrm>
              <a:off x="7236000" y="5335422"/>
              <a:ext cx="121931" cy="12473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68" name="Text Box 12"/>
            <p:cNvSpPr txBox="1"/>
            <p:nvPr/>
          </p:nvSpPr>
          <p:spPr>
            <a:xfrm>
              <a:off x="7162569" y="5334038"/>
              <a:ext cx="296819" cy="396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57369" name="Text Box 12"/>
            <p:cNvSpPr txBox="1"/>
            <p:nvPr/>
          </p:nvSpPr>
          <p:spPr>
            <a:xfrm>
              <a:off x="6432424" y="5397540"/>
              <a:ext cx="296820" cy="396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57370" name="Line 25"/>
            <p:cNvSpPr/>
            <p:nvPr/>
          </p:nvSpPr>
          <p:spPr>
            <a:xfrm flipH="1">
              <a:off x="6522827" y="4364126"/>
              <a:ext cx="0" cy="1059640"/>
            </a:xfrm>
            <a:prstGeom prst="line">
              <a:avLst/>
            </a:prstGeom>
            <a:ln w="25400" cap="flat" cmpd="sng">
              <a:solidFill>
                <a:schemeClr val="tx1"/>
              </a:solidFill>
              <a:prstDash val="solid"/>
              <a:headEnd type="none" w="med" len="med"/>
              <a:tailEnd type="none" w="med" len="med"/>
            </a:ln>
          </p:spPr>
        </p:sp>
        <p:sp>
          <p:nvSpPr>
            <p:cNvPr id="57371" name="AutoShape 11"/>
            <p:cNvSpPr/>
            <p:nvPr/>
          </p:nvSpPr>
          <p:spPr>
            <a:xfrm>
              <a:off x="7239000" y="4320000"/>
              <a:ext cx="121931" cy="12473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72" name="Line 25"/>
            <p:cNvSpPr/>
            <p:nvPr/>
          </p:nvSpPr>
          <p:spPr>
            <a:xfrm flipH="1">
              <a:off x="7315200" y="4356000"/>
              <a:ext cx="0" cy="1059640"/>
            </a:xfrm>
            <a:prstGeom prst="line">
              <a:avLst/>
            </a:prstGeom>
            <a:ln w="25400" cap="flat" cmpd="sng">
              <a:solidFill>
                <a:schemeClr val="tx1"/>
              </a:solidFill>
              <a:prstDash val="solid"/>
              <a:headEnd type="none" w="med" len="med"/>
              <a:tailEnd type="none" w="med" len="med"/>
            </a:ln>
          </p:spPr>
        </p:sp>
        <p:sp>
          <p:nvSpPr>
            <p:cNvPr id="57373" name="AutoShape 11"/>
            <p:cNvSpPr/>
            <p:nvPr/>
          </p:nvSpPr>
          <p:spPr>
            <a:xfrm>
              <a:off x="7992000" y="5334000"/>
              <a:ext cx="121931" cy="12473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7374" name="Text Box 12"/>
            <p:cNvSpPr txBox="1"/>
            <p:nvPr/>
          </p:nvSpPr>
          <p:spPr>
            <a:xfrm>
              <a:off x="7162569" y="3962400"/>
              <a:ext cx="311105" cy="396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g</a:t>
              </a:r>
              <a:endParaRPr lang="en-US" altLang="zh-TW" sz="2000" i="1" dirty="0">
                <a:latin typeface="Times New Roman" panose="02020603050405020304" pitchFamily="18" charset="0"/>
                <a:ea typeface="Times New Roman" panose="02020603050405020304" pitchFamily="18" charset="0"/>
              </a:endParaRPr>
            </a:p>
          </p:txBody>
        </p:sp>
        <p:sp>
          <p:nvSpPr>
            <p:cNvPr id="57375" name="Text Box 12"/>
            <p:cNvSpPr txBox="1"/>
            <p:nvPr/>
          </p:nvSpPr>
          <p:spPr>
            <a:xfrm>
              <a:off x="8000647" y="5334038"/>
              <a:ext cx="253964" cy="396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f</a:t>
              </a:r>
              <a:endParaRPr lang="en-US" altLang="zh-TW" sz="2000" i="1" dirty="0">
                <a:latin typeface="Times New Roman" panose="02020603050405020304" pitchFamily="18" charset="0"/>
                <a:ea typeface="Times New Roman" panose="02020603050405020304" pitchFamily="18" charset="0"/>
              </a:endParaRPr>
            </a:p>
          </p:txBody>
        </p:sp>
      </p:grpSp>
      <p:sp>
        <p:nvSpPr>
          <p:cNvPr id="75" name="矩形 74"/>
          <p:cNvSpPr/>
          <p:nvPr/>
        </p:nvSpPr>
        <p:spPr>
          <a:xfrm>
            <a:off x="3429000" y="6172200"/>
            <a:ext cx="3040063" cy="457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rPr>
              <a:t>Hamilton</a:t>
            </a: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 path: </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4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1</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4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2</a:t>
            </a: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 </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3" name="矩形 62"/>
          <p:cNvSpPr/>
          <p:nvPr/>
        </p:nvSpPr>
        <p:spPr>
          <a:xfrm>
            <a:off x="6858000" y="6000750"/>
            <a:ext cx="2176463" cy="400050"/>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b="1" dirty="0">
                <a:solidFill>
                  <a:srgbClr val="0000CC"/>
                </a:solidFill>
              </a:rPr>
              <a:t>Exercise : 42, 43</a:t>
            </a:r>
            <a:endParaRPr lang="zh-TW" altLang="en-US" sz="20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anim calcmode="lin" valueType="num">
                                      <p:cBhvr additive="base">
                                        <p:cTn id="25" dur="500" fill="hold"/>
                                        <p:tgtEl>
                                          <p:spTgt spid="58"/>
                                        </p:tgtEl>
                                        <p:attrNameLst>
                                          <p:attrName>ppt_x</p:attrName>
                                        </p:attrNameLst>
                                      </p:cBhvr>
                                      <p:tavLst>
                                        <p:tav tm="0">
                                          <p:val>
                                            <p:strVal val="#ppt_x"/>
                                          </p:val>
                                        </p:tav>
                                        <p:tav tm="100000">
                                          <p:val>
                                            <p:strVal val="#ppt_x"/>
                                          </p:val>
                                        </p:tav>
                                      </p:tavLst>
                                    </p:anim>
                                    <p:anim calcmode="lin" valueType="num">
                                      <p:cBhvr additive="base">
                                        <p:cTn id="26"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5"/>
                                        </p:tgtEl>
                                        <p:attrNameLst>
                                          <p:attrName>style.visibility</p:attrName>
                                        </p:attrNameLst>
                                      </p:cBhvr>
                                      <p:to>
                                        <p:strVal val="visible"/>
                                      </p:to>
                                    </p:set>
                                    <p:anim calcmode="lin" valueType="num">
                                      <p:cBhvr additive="base">
                                        <p:cTn id="31" dur="500" fill="hold"/>
                                        <p:tgtEl>
                                          <p:spTgt spid="75"/>
                                        </p:tgtEl>
                                        <p:attrNameLst>
                                          <p:attrName>ppt_x</p:attrName>
                                        </p:attrNameLst>
                                      </p:cBhvr>
                                      <p:tavLst>
                                        <p:tav tm="0">
                                          <p:val>
                                            <p:strVal val="#ppt_x"/>
                                          </p:val>
                                        </p:tav>
                                        <p:tav tm="100000">
                                          <p:val>
                                            <p:strVal val="#ppt_x"/>
                                          </p:val>
                                        </p:tav>
                                      </p:tavLst>
                                    </p:anim>
                                    <p:anim calcmode="lin" valueType="num">
                                      <p:cBhvr additive="base">
                                        <p:cTn id="32"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3"/>
                                        </p:tgtEl>
                                        <p:attrNameLst>
                                          <p:attrName>style.visibility</p:attrName>
                                        </p:attrNameLst>
                                      </p:cBhvr>
                                      <p:to>
                                        <p:strVal val="visible"/>
                                      </p:to>
                                    </p:set>
                                    <p:anim calcmode="lin" valueType="num">
                                      <p:cBhvr additive="base">
                                        <p:cTn id="37" dur="500" fill="hold"/>
                                        <p:tgtEl>
                                          <p:spTgt spid="63"/>
                                        </p:tgtEl>
                                        <p:attrNameLst>
                                          <p:attrName>ppt_x</p:attrName>
                                        </p:attrNameLst>
                                      </p:cBhvr>
                                      <p:tavLst>
                                        <p:tav tm="0">
                                          <p:val>
                                            <p:strVal val="#ppt_x"/>
                                          </p:val>
                                        </p:tav>
                                        <p:tav tm="100000">
                                          <p:val>
                                            <p:strVal val="#ppt_x"/>
                                          </p:val>
                                        </p:tav>
                                      </p:tavLst>
                                    </p:anim>
                                    <p:anim calcmode="lin" valueType="num">
                                      <p:cBhvr additive="base">
                                        <p:cTn id="38"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8" grpId="0"/>
      <p:bldP spid="75" grpId="0"/>
      <p:bldP spid="6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3"/>
          <p:cNvSpPr>
            <a:spLocks noGrp="1"/>
          </p:cNvSpPr>
          <p:nvPr>
            <p:ph type="body"/>
          </p:nvPr>
        </p:nvSpPr>
        <p:spPr>
          <a:xfrm>
            <a:off x="228600" y="533400"/>
            <a:ext cx="8229600" cy="1905000"/>
          </a:xfrm>
          <a:ln>
            <a:solidFill>
              <a:schemeClr val="tx1">
                <a:alpha val="100000"/>
              </a:schemeClr>
            </a:solidFill>
            <a:miter lim="800000"/>
          </a:ln>
        </p:spPr>
        <p:txBody>
          <a:bodyPr vert="horz" wrap="square" lIns="91440" tIns="45720" rIns="91440" bIns="45720" anchor="t"/>
          <a:p>
            <a:pPr eaLnBrk="1" hangingPunct="1">
              <a:buNone/>
            </a:pPr>
            <a:r>
              <a:rPr lang="en-US" altLang="zh-TW" sz="2800" b="1" dirty="0">
                <a:solidFill>
                  <a:srgbClr val="008000"/>
                </a:solidFill>
              </a:rPr>
              <a:t>Thm. 3 (Dirac</a:t>
            </a:r>
            <a:r>
              <a:rPr lang="en-US" altLang="zh-TW" sz="2800" b="1" dirty="0">
                <a:solidFill>
                  <a:srgbClr val="008000"/>
                </a:solidFill>
                <a:latin typeface="Times New Roman" panose="02020603050405020304" pitchFamily="18" charset="0"/>
              </a:rPr>
              <a:t>’</a:t>
            </a:r>
            <a:r>
              <a:rPr lang="en-US" altLang="zh-TW" sz="2800" b="1" dirty="0">
                <a:solidFill>
                  <a:srgbClr val="008000"/>
                </a:solidFill>
              </a:rPr>
              <a:t>s Thm.):</a:t>
            </a:r>
            <a:br>
              <a:rPr lang="en-US" altLang="zh-TW" sz="2800" b="1" dirty="0">
                <a:solidFill>
                  <a:srgbClr val="FF0000"/>
                </a:solidFill>
              </a:rPr>
            </a:br>
            <a:r>
              <a:rPr lang="en-US" altLang="zh-TW" sz="2800" dirty="0"/>
              <a:t>If (but </a:t>
            </a:r>
            <a:r>
              <a:rPr lang="en-US" altLang="zh-TW" sz="2800" u="sng" dirty="0"/>
              <a:t>not</a:t>
            </a:r>
            <a:r>
              <a:rPr lang="en-US" altLang="zh-TW" sz="2800" dirty="0"/>
              <a:t> only if) </a:t>
            </a:r>
            <a:r>
              <a:rPr lang="en-US" altLang="zh-TW" sz="2800" i="1" dirty="0">
                <a:latin typeface="Times New Roman" panose="02020603050405020304" pitchFamily="18" charset="0"/>
                <a:cs typeface="Times New Roman" panose="02020603050405020304" pitchFamily="18" charset="0"/>
              </a:rPr>
              <a:t>G</a:t>
            </a:r>
            <a:r>
              <a:rPr lang="en-US" altLang="zh-TW" sz="2800" dirty="0"/>
              <a:t> is a simple graph with </a:t>
            </a:r>
            <a:r>
              <a:rPr lang="en-US" altLang="zh-TW" sz="2800" i="1" dirty="0">
                <a:latin typeface="Times New Roman" panose="02020603050405020304" pitchFamily="18" charset="0"/>
                <a:cs typeface="Times New Roman" panose="02020603050405020304" pitchFamily="18" charset="0"/>
              </a:rPr>
              <a:t>n</a:t>
            </a:r>
            <a:r>
              <a:rPr lang="en-US" altLang="zh-TW" sz="2800" dirty="0">
                <a:sym typeface="Symbol" panose="05050102010706020507" pitchFamily="18" charset="2"/>
              </a:rPr>
              <a:t></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3</a:t>
            </a:r>
            <a:r>
              <a:rPr lang="en-US" altLang="zh-TW" sz="2800" i="1" dirty="0"/>
              <a:t> </a:t>
            </a:r>
            <a:r>
              <a:rPr lang="en-US" altLang="zh-TW" sz="2800" dirty="0"/>
              <a:t>vertices </a:t>
            </a:r>
            <a:r>
              <a:rPr lang="en-US" altLang="zh-TW" sz="2800" dirty="0">
                <a:sym typeface="Symbol" panose="05050102010706020507" pitchFamily="18" charset="2"/>
              </a:rPr>
              <a:t>such that the degree of every vertex in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TW" sz="2800" dirty="0">
                <a:sym typeface="Symbol" panose="05050102010706020507" pitchFamily="18" charset="2"/>
              </a:rPr>
              <a:t> is at least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800" dirty="0">
                <a:sym typeface="Symbol" panose="05050102010706020507" pitchFamily="18" charset="2"/>
              </a:rPr>
              <a:t>/</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800" dirty="0">
                <a:sym typeface="Symbol" panose="05050102010706020507" pitchFamily="18" charset="2"/>
              </a:rPr>
              <a:t>, then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TW" sz="2800" dirty="0">
                <a:sym typeface="Symbol" panose="05050102010706020507" pitchFamily="18" charset="2"/>
              </a:rPr>
              <a:t> has a Hamilton circuit. </a:t>
            </a:r>
            <a:endParaRPr lang="en-US" altLang="zh-TW" sz="2800" dirty="0">
              <a:sym typeface="Symbol" panose="05050102010706020507" pitchFamily="18" charset="2"/>
            </a:endParaRPr>
          </a:p>
        </p:txBody>
      </p:sp>
      <p:sp>
        <p:nvSpPr>
          <p:cNvPr id="58371"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38" name="矩形 37"/>
          <p:cNvSpPr/>
          <p:nvPr/>
        </p:nvSpPr>
        <p:spPr>
          <a:xfrm>
            <a:off x="4038600" y="3886200"/>
            <a:ext cx="5029200" cy="13731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olidFill>
                  <a:srgbClr val="000000"/>
                </a:solidFill>
                <a:sym typeface="Symbol" panose="05050102010706020507" pitchFamily="18" charset="2"/>
              </a:rPr>
              <a:t>each vertex has deg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 n</a:t>
            </a:r>
            <a:r>
              <a:rPr lang="en-US" altLang="zh-TW" sz="2800" dirty="0">
                <a:sym typeface="Symbol" panose="05050102010706020507" pitchFamily="18" charset="2"/>
              </a:rPr>
              <a:t>/</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2 </a:t>
            </a:r>
            <a:r>
              <a:rPr lang="en-US" altLang="zh-TW" sz="28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=3.5</a:t>
            </a:r>
            <a:endParaRPr lang="en-US" altLang="zh-TW" sz="28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marL="0" lvl="0" indent="0" eaLnBrk="1" hangingPunct="1">
              <a:spcBef>
                <a:spcPct val="0"/>
              </a:spcBef>
              <a:buClrTx/>
              <a:buSzPct val="100000"/>
              <a:buNone/>
            </a:pPr>
            <a:r>
              <a:rPr lang="en-US" altLang="zh-TW" sz="2800" dirty="0">
                <a:solidFill>
                  <a:srgbClr val="000000"/>
                </a:solidFill>
                <a:sym typeface="Symbol" panose="05050102010706020507" pitchFamily="18" charset="2"/>
              </a:rPr>
              <a:t>Hamilton circuit exists</a:t>
            </a:r>
            <a:endParaRPr lang="en-US" altLang="zh-TW" sz="2800" dirty="0">
              <a:solidFill>
                <a:srgbClr val="000000"/>
              </a:solidFill>
              <a:sym typeface="Symbol" panose="05050102010706020507" pitchFamily="18" charset="2"/>
            </a:endParaRPr>
          </a:p>
          <a:p>
            <a:pPr marL="0" lvl="0" indent="0" eaLnBrk="1" hangingPunct="1">
              <a:spcBef>
                <a:spcPct val="0"/>
              </a:spcBef>
              <a:buClrTx/>
              <a:buSzPct val="100000"/>
              <a:buNone/>
            </a:pPr>
            <a:r>
              <a:rPr lang="en-US" altLang="zh-TW" sz="2800" dirty="0">
                <a:solidFill>
                  <a:srgbClr val="000000"/>
                </a:solidFill>
                <a:sym typeface="Symbol" panose="05050102010706020507" pitchFamily="18" charset="2"/>
              </a:rPr>
              <a:t>    </a:t>
            </a:r>
            <a:r>
              <a:rPr lang="en-US" altLang="zh-CN" sz="2800" dirty="0">
                <a:solidFill>
                  <a:srgbClr val="000000"/>
                </a:solidFill>
                <a:sym typeface="Symbol" panose="05050102010706020507" pitchFamily="18" charset="2"/>
              </a:rPr>
              <a:t>E.g.,</a:t>
            </a:r>
            <a:r>
              <a:rPr lang="en-US" altLang="zh-TW" sz="2800" dirty="0">
                <a:solidFill>
                  <a:srgbClr val="000000"/>
                </a:solidFill>
                <a:sym typeface="Symbol" panose="05050102010706020507" pitchFamily="18" charset="2"/>
              </a:rPr>
              <a:t> </a:t>
            </a:r>
            <a:r>
              <a:rPr lang="en-US" altLang="zh-TW" sz="28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a, c, e, g, b, d, f, a</a:t>
            </a:r>
            <a:endParaRPr lang="zh-TW" altLang="en-US" sz="1800" i="1" dirty="0">
              <a:solidFill>
                <a:srgbClr val="0000CC"/>
              </a:solidFill>
              <a:latin typeface="Times New Roman" panose="02020603050405020304" pitchFamily="18" charset="0"/>
              <a:ea typeface="Times New Roman" panose="02020603050405020304" pitchFamily="18" charset="0"/>
            </a:endParaRPr>
          </a:p>
        </p:txBody>
      </p:sp>
      <p:grpSp>
        <p:nvGrpSpPr>
          <p:cNvPr id="2" name="群組 48"/>
          <p:cNvGrpSpPr/>
          <p:nvPr/>
        </p:nvGrpSpPr>
        <p:grpSpPr>
          <a:xfrm>
            <a:off x="228600" y="2971800"/>
            <a:ext cx="3556000" cy="3292475"/>
            <a:chOff x="228600" y="2971800"/>
            <a:chExt cx="3555623" cy="3292535"/>
          </a:xfrm>
        </p:grpSpPr>
        <p:sp>
          <p:nvSpPr>
            <p:cNvPr id="58374" name="Line 23"/>
            <p:cNvSpPr/>
            <p:nvPr/>
          </p:nvSpPr>
          <p:spPr>
            <a:xfrm flipV="1">
              <a:off x="1219200" y="3886200"/>
              <a:ext cx="1447800" cy="1676400"/>
            </a:xfrm>
            <a:prstGeom prst="line">
              <a:avLst/>
            </a:prstGeom>
            <a:ln w="25400" cap="flat" cmpd="sng">
              <a:solidFill>
                <a:schemeClr val="tx1"/>
              </a:solidFill>
              <a:prstDash val="solid"/>
              <a:headEnd type="none" w="med" len="med"/>
              <a:tailEnd type="none" w="med" len="med"/>
            </a:ln>
          </p:spPr>
        </p:sp>
        <p:sp>
          <p:nvSpPr>
            <p:cNvPr id="58375" name="AutoShape 11"/>
            <p:cNvSpPr/>
            <p:nvPr/>
          </p:nvSpPr>
          <p:spPr>
            <a:xfrm>
              <a:off x="2590800" y="3821719"/>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8376" name="Text Box 12"/>
            <p:cNvSpPr txBox="1"/>
            <p:nvPr/>
          </p:nvSpPr>
          <p:spPr>
            <a:xfrm>
              <a:off x="1142903" y="3581411"/>
              <a:ext cx="311117"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58377" name="Line 23"/>
            <p:cNvSpPr/>
            <p:nvPr/>
          </p:nvSpPr>
          <p:spPr>
            <a:xfrm flipH="1">
              <a:off x="1219199" y="3889087"/>
              <a:ext cx="224003" cy="1673514"/>
            </a:xfrm>
            <a:prstGeom prst="line">
              <a:avLst/>
            </a:prstGeom>
            <a:ln w="25400" cap="flat" cmpd="sng">
              <a:solidFill>
                <a:schemeClr val="tx1"/>
              </a:solidFill>
              <a:prstDash val="solid"/>
              <a:headEnd type="none" w="med" len="med"/>
              <a:tailEnd type="none" w="med" len="med"/>
            </a:ln>
          </p:spPr>
        </p:sp>
        <p:sp>
          <p:nvSpPr>
            <p:cNvPr id="58378" name="AutoShape 30"/>
            <p:cNvSpPr/>
            <p:nvPr/>
          </p:nvSpPr>
          <p:spPr>
            <a:xfrm>
              <a:off x="3332928" y="4487347"/>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8379" name="AutoShape 32"/>
            <p:cNvSpPr/>
            <p:nvPr/>
          </p:nvSpPr>
          <p:spPr>
            <a:xfrm>
              <a:off x="1998011" y="5821737"/>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8380" name="AutoShape 33"/>
            <p:cNvSpPr/>
            <p:nvPr/>
          </p:nvSpPr>
          <p:spPr>
            <a:xfrm>
              <a:off x="1380996" y="3834906"/>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8381" name="Line 34"/>
            <p:cNvSpPr/>
            <p:nvPr/>
          </p:nvSpPr>
          <p:spPr>
            <a:xfrm flipH="1" flipV="1">
              <a:off x="1447800" y="3886201"/>
              <a:ext cx="1955116" cy="671300"/>
            </a:xfrm>
            <a:prstGeom prst="line">
              <a:avLst/>
            </a:prstGeom>
            <a:ln w="25400" cap="flat" cmpd="sng">
              <a:solidFill>
                <a:schemeClr val="tx1"/>
              </a:solidFill>
              <a:prstDash val="solid"/>
              <a:headEnd type="none" w="med" len="med"/>
              <a:tailEnd type="none" w="med" len="med"/>
            </a:ln>
          </p:spPr>
        </p:sp>
        <p:sp>
          <p:nvSpPr>
            <p:cNvPr id="58382" name="Line 23"/>
            <p:cNvSpPr/>
            <p:nvPr/>
          </p:nvSpPr>
          <p:spPr>
            <a:xfrm flipV="1">
              <a:off x="1219200" y="4572000"/>
              <a:ext cx="2133601" cy="990600"/>
            </a:xfrm>
            <a:prstGeom prst="line">
              <a:avLst/>
            </a:prstGeom>
            <a:ln w="25400" cap="flat" cmpd="sng">
              <a:solidFill>
                <a:schemeClr val="tx1"/>
              </a:solidFill>
              <a:prstDash val="solid"/>
              <a:headEnd type="none" w="med" len="med"/>
              <a:tailEnd type="none" w="med" len="med"/>
            </a:ln>
          </p:spPr>
        </p:sp>
        <p:sp>
          <p:nvSpPr>
            <p:cNvPr id="58383" name="Text Box 12"/>
            <p:cNvSpPr txBox="1"/>
            <p:nvPr/>
          </p:nvSpPr>
          <p:spPr>
            <a:xfrm>
              <a:off x="2493722" y="3505210"/>
              <a:ext cx="311117"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58384" name="Text Box 12"/>
            <p:cNvSpPr txBox="1"/>
            <p:nvPr/>
          </p:nvSpPr>
          <p:spPr>
            <a:xfrm>
              <a:off x="2971509" y="5334043"/>
              <a:ext cx="253973"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f</a:t>
              </a:r>
              <a:endParaRPr lang="en-US" altLang="zh-TW" sz="2000" i="1" dirty="0">
                <a:latin typeface="Times New Roman" panose="02020603050405020304" pitchFamily="18" charset="0"/>
                <a:ea typeface="Times New Roman" panose="02020603050405020304" pitchFamily="18" charset="0"/>
              </a:endParaRPr>
            </a:p>
          </p:txBody>
        </p:sp>
        <p:sp>
          <p:nvSpPr>
            <p:cNvPr id="58385" name="AutoShape 11"/>
            <p:cNvSpPr/>
            <p:nvPr/>
          </p:nvSpPr>
          <p:spPr>
            <a:xfrm>
              <a:off x="743365" y="4557501"/>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8386" name="Text Box 12"/>
            <p:cNvSpPr txBox="1"/>
            <p:nvPr/>
          </p:nvSpPr>
          <p:spPr>
            <a:xfrm>
              <a:off x="838135" y="5486446"/>
              <a:ext cx="311117"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58387" name="Text Box 12"/>
            <p:cNvSpPr txBox="1"/>
            <p:nvPr/>
          </p:nvSpPr>
          <p:spPr>
            <a:xfrm>
              <a:off x="533368" y="4487890"/>
              <a:ext cx="296831"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58388" name="Line 25"/>
            <p:cNvSpPr/>
            <p:nvPr/>
          </p:nvSpPr>
          <p:spPr>
            <a:xfrm>
              <a:off x="762000" y="4572000"/>
              <a:ext cx="1295400" cy="1295400"/>
            </a:xfrm>
            <a:prstGeom prst="line">
              <a:avLst/>
            </a:prstGeom>
            <a:ln w="25400" cap="flat" cmpd="sng">
              <a:solidFill>
                <a:schemeClr val="tx1"/>
              </a:solidFill>
              <a:prstDash val="solid"/>
              <a:headEnd type="none" w="med" len="med"/>
              <a:tailEnd type="none" w="med" len="med"/>
            </a:ln>
          </p:spPr>
        </p:sp>
        <p:sp>
          <p:nvSpPr>
            <p:cNvPr id="58389" name="Line 25"/>
            <p:cNvSpPr/>
            <p:nvPr/>
          </p:nvSpPr>
          <p:spPr>
            <a:xfrm flipH="1">
              <a:off x="813350" y="3886202"/>
              <a:ext cx="1853649" cy="741452"/>
            </a:xfrm>
            <a:prstGeom prst="line">
              <a:avLst/>
            </a:prstGeom>
            <a:ln w="25400" cap="flat" cmpd="sng">
              <a:solidFill>
                <a:schemeClr val="tx1"/>
              </a:solidFill>
              <a:prstDash val="solid"/>
              <a:headEnd type="none" w="med" len="med"/>
              <a:tailEnd type="none" w="med" len="med"/>
            </a:ln>
          </p:spPr>
        </p:sp>
        <p:sp>
          <p:nvSpPr>
            <p:cNvPr id="58390" name="Line 34"/>
            <p:cNvSpPr/>
            <p:nvPr/>
          </p:nvSpPr>
          <p:spPr>
            <a:xfrm flipH="1" flipV="1">
              <a:off x="2667000" y="3886199"/>
              <a:ext cx="228600" cy="1524000"/>
            </a:xfrm>
            <a:prstGeom prst="line">
              <a:avLst/>
            </a:prstGeom>
            <a:ln w="25400" cap="flat" cmpd="sng">
              <a:solidFill>
                <a:schemeClr val="tx1"/>
              </a:solidFill>
              <a:prstDash val="solid"/>
              <a:headEnd type="none" w="med" len="med"/>
              <a:tailEnd type="none" w="med" len="med"/>
            </a:ln>
          </p:spPr>
        </p:sp>
        <p:sp>
          <p:nvSpPr>
            <p:cNvPr id="58391" name="AutoShape 30"/>
            <p:cNvSpPr/>
            <p:nvPr/>
          </p:nvSpPr>
          <p:spPr>
            <a:xfrm>
              <a:off x="2836211" y="5364537"/>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8392" name="Text Box 12"/>
            <p:cNvSpPr txBox="1"/>
            <p:nvPr/>
          </p:nvSpPr>
          <p:spPr>
            <a:xfrm>
              <a:off x="3473106" y="4346600"/>
              <a:ext cx="311117"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g</a:t>
              </a:r>
              <a:endParaRPr lang="en-US" altLang="zh-TW" sz="2000" i="1" dirty="0">
                <a:latin typeface="Times New Roman" panose="02020603050405020304" pitchFamily="18" charset="0"/>
                <a:ea typeface="Times New Roman" panose="02020603050405020304" pitchFamily="18" charset="0"/>
              </a:endParaRPr>
            </a:p>
          </p:txBody>
        </p:sp>
        <p:sp>
          <p:nvSpPr>
            <p:cNvPr id="58393" name="Line 23"/>
            <p:cNvSpPr/>
            <p:nvPr/>
          </p:nvSpPr>
          <p:spPr>
            <a:xfrm flipV="1">
              <a:off x="762000" y="4572000"/>
              <a:ext cx="2590800" cy="76199"/>
            </a:xfrm>
            <a:prstGeom prst="line">
              <a:avLst/>
            </a:prstGeom>
            <a:ln w="25400" cap="flat" cmpd="sng">
              <a:solidFill>
                <a:schemeClr val="tx1"/>
              </a:solidFill>
              <a:prstDash val="solid"/>
              <a:headEnd type="none" w="med" len="med"/>
              <a:tailEnd type="none" w="med" len="med"/>
            </a:ln>
          </p:spPr>
        </p:sp>
        <p:sp>
          <p:nvSpPr>
            <p:cNvPr id="58394" name="Line 34"/>
            <p:cNvSpPr/>
            <p:nvPr/>
          </p:nvSpPr>
          <p:spPr>
            <a:xfrm flipH="1" flipV="1">
              <a:off x="1447800" y="3886200"/>
              <a:ext cx="1447800" cy="1524000"/>
            </a:xfrm>
            <a:prstGeom prst="line">
              <a:avLst/>
            </a:prstGeom>
            <a:ln w="25400" cap="flat" cmpd="sng">
              <a:solidFill>
                <a:schemeClr val="tx1"/>
              </a:solidFill>
              <a:prstDash val="solid"/>
              <a:headEnd type="none" w="med" len="med"/>
              <a:tailEnd type="none" w="med" len="med"/>
            </a:ln>
          </p:spPr>
        </p:sp>
        <p:sp>
          <p:nvSpPr>
            <p:cNvPr id="58395" name="Line 34"/>
            <p:cNvSpPr/>
            <p:nvPr/>
          </p:nvSpPr>
          <p:spPr>
            <a:xfrm flipH="1" flipV="1">
              <a:off x="838200" y="4648200"/>
              <a:ext cx="2057400" cy="762000"/>
            </a:xfrm>
            <a:prstGeom prst="line">
              <a:avLst/>
            </a:prstGeom>
            <a:ln w="25400" cap="flat" cmpd="sng">
              <a:solidFill>
                <a:schemeClr val="tx1"/>
              </a:solidFill>
              <a:prstDash val="solid"/>
              <a:headEnd type="none" w="med" len="med"/>
              <a:tailEnd type="none" w="med" len="med"/>
            </a:ln>
          </p:spPr>
        </p:sp>
        <p:sp>
          <p:nvSpPr>
            <p:cNvPr id="58396" name="Line 23"/>
            <p:cNvSpPr/>
            <p:nvPr/>
          </p:nvSpPr>
          <p:spPr>
            <a:xfrm flipV="1">
              <a:off x="2057401" y="4495800"/>
              <a:ext cx="1371600" cy="1371600"/>
            </a:xfrm>
            <a:prstGeom prst="line">
              <a:avLst/>
            </a:prstGeom>
            <a:ln w="25400" cap="flat" cmpd="sng">
              <a:solidFill>
                <a:schemeClr val="tx1"/>
              </a:solidFill>
              <a:prstDash val="solid"/>
              <a:headEnd type="none" w="med" len="med"/>
              <a:tailEnd type="none" w="med" len="med"/>
            </a:ln>
          </p:spPr>
        </p:sp>
        <p:sp>
          <p:nvSpPr>
            <p:cNvPr id="58397" name="Line 34"/>
            <p:cNvSpPr/>
            <p:nvPr/>
          </p:nvSpPr>
          <p:spPr>
            <a:xfrm flipV="1">
              <a:off x="2057400" y="3886200"/>
              <a:ext cx="609600" cy="1981200"/>
            </a:xfrm>
            <a:prstGeom prst="line">
              <a:avLst/>
            </a:prstGeom>
            <a:ln w="25400" cap="flat" cmpd="sng">
              <a:solidFill>
                <a:schemeClr val="tx1"/>
              </a:solidFill>
              <a:prstDash val="solid"/>
              <a:headEnd type="none" w="med" len="med"/>
              <a:tailEnd type="none" w="med" len="med"/>
            </a:ln>
          </p:spPr>
        </p:sp>
        <p:sp>
          <p:nvSpPr>
            <p:cNvPr id="58398" name="Line 23"/>
            <p:cNvSpPr/>
            <p:nvPr/>
          </p:nvSpPr>
          <p:spPr>
            <a:xfrm flipV="1">
              <a:off x="1219201" y="5410200"/>
              <a:ext cx="1752600" cy="152400"/>
            </a:xfrm>
            <a:prstGeom prst="line">
              <a:avLst/>
            </a:prstGeom>
            <a:ln w="25400" cap="flat" cmpd="sng">
              <a:solidFill>
                <a:schemeClr val="tx1"/>
              </a:solidFill>
              <a:prstDash val="solid"/>
              <a:headEnd type="none" w="med" len="med"/>
              <a:tailEnd type="none" w="med" len="med"/>
            </a:ln>
          </p:spPr>
        </p:sp>
        <p:sp>
          <p:nvSpPr>
            <p:cNvPr id="35" name="矩形 34"/>
            <p:cNvSpPr/>
            <p:nvPr/>
          </p:nvSpPr>
          <p:spPr>
            <a:xfrm>
              <a:off x="228600" y="2971800"/>
              <a:ext cx="1661937" cy="52388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58400" name="AutoShape 32"/>
            <p:cNvSpPr/>
            <p:nvPr/>
          </p:nvSpPr>
          <p:spPr>
            <a:xfrm>
              <a:off x="1143000" y="5486400"/>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8401" name="Text Box 12"/>
            <p:cNvSpPr txBox="1"/>
            <p:nvPr/>
          </p:nvSpPr>
          <p:spPr>
            <a:xfrm>
              <a:off x="1846091" y="5867453"/>
              <a:ext cx="296831"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58402" name="Line 34"/>
            <p:cNvSpPr/>
            <p:nvPr/>
          </p:nvSpPr>
          <p:spPr>
            <a:xfrm flipH="1" flipV="1">
              <a:off x="1447800" y="3886200"/>
              <a:ext cx="609600" cy="1981200"/>
            </a:xfrm>
            <a:prstGeom prst="line">
              <a:avLst/>
            </a:prstGeom>
            <a:ln w="25400"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
                                            <p:txEl>
                                              <p:charRg st="0" end="31"/>
                                            </p:txEl>
                                          </p:spTgt>
                                        </p:tgtEl>
                                        <p:attrNameLst>
                                          <p:attrName>style.visibility</p:attrName>
                                        </p:attrNameLst>
                                      </p:cBhvr>
                                      <p:to>
                                        <p:strVal val="visible"/>
                                      </p:to>
                                    </p:set>
                                    <p:anim calcmode="lin" valueType="num">
                                      <p:cBhvr additive="base">
                                        <p:cTn id="13" dur="500" fill="hold"/>
                                        <p:tgtEl>
                                          <p:spTgt spid="38">
                                            <p:txEl>
                                              <p:charRg st="0" end="3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
                                            <p:txEl>
                                              <p:charRg st="0" end="3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
                                            <p:txEl>
                                              <p:charRg st="31" end="56"/>
                                            </p:txEl>
                                          </p:spTgt>
                                        </p:tgtEl>
                                        <p:attrNameLst>
                                          <p:attrName>style.visibility</p:attrName>
                                        </p:attrNameLst>
                                      </p:cBhvr>
                                      <p:to>
                                        <p:strVal val="visible"/>
                                      </p:to>
                                    </p:set>
                                    <p:anim calcmode="lin" valueType="num">
                                      <p:cBhvr additive="base">
                                        <p:cTn id="19" dur="500" fill="hold"/>
                                        <p:tgtEl>
                                          <p:spTgt spid="38">
                                            <p:txEl>
                                              <p:charRg st="31" end="5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
                                            <p:txEl>
                                              <p:charRg st="31" end="5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
                                            <p:txEl>
                                              <p:charRg st="56" end="89"/>
                                            </p:txEl>
                                          </p:spTgt>
                                        </p:tgtEl>
                                        <p:attrNameLst>
                                          <p:attrName>style.visibility</p:attrName>
                                        </p:attrNameLst>
                                      </p:cBhvr>
                                      <p:to>
                                        <p:strVal val="visible"/>
                                      </p:to>
                                    </p:set>
                                    <p:anim calcmode="lin" valueType="num">
                                      <p:cBhvr additive="base">
                                        <p:cTn id="25" dur="500" fill="hold"/>
                                        <p:tgtEl>
                                          <p:spTgt spid="38">
                                            <p:txEl>
                                              <p:charRg st="56" end="8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
                                            <p:txEl>
                                              <p:charRg st="56" end="8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7" name="Rectangle 3"/>
          <p:cNvSpPr txBox="1">
            <a:spLocks noChangeArrowheads="1"/>
          </p:cNvSpPr>
          <p:nvPr/>
        </p:nvSpPr>
        <p:spPr bwMode="auto">
          <a:xfrm>
            <a:off x="228600" y="609600"/>
            <a:ext cx="8305800" cy="1905000"/>
          </a:xfrm>
          <a:prstGeom prst="rect">
            <a:avLst/>
          </a:prstGeom>
          <a:noFill/>
          <a:ln w="9525">
            <a:solidFill>
              <a:schemeClr val="tx1"/>
            </a:solidFill>
            <a:miter lim="800000"/>
          </a:ln>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2800" b="1" kern="0" cap="none" spc="0" normalizeH="0" baseline="0" noProof="0" dirty="0" err="1">
                <a:solidFill>
                  <a:srgbClr val="008000"/>
                </a:solidFill>
                <a:latin typeface="+mn-lt"/>
                <a:ea typeface="+mn-ea"/>
                <a:cs typeface="+mn-cs"/>
              </a:rPr>
              <a:t>Thm</a:t>
            </a:r>
            <a:r>
              <a:rPr kumimoji="1" lang="en-US" altLang="zh-TW" sz="2800" b="1" kern="0" cap="none" spc="0" normalizeH="0" baseline="0" noProof="0" dirty="0">
                <a:solidFill>
                  <a:srgbClr val="008000"/>
                </a:solidFill>
                <a:latin typeface="+mn-lt"/>
                <a:ea typeface="+mn-ea"/>
                <a:cs typeface="+mn-cs"/>
              </a:rPr>
              <a:t>. 4 (Ore</a:t>
            </a:r>
            <a:r>
              <a:rPr kumimoji="1" lang="en-US" altLang="zh-TW" sz="2800" b="1" kern="0" cap="none" spc="0" normalizeH="0" baseline="0" noProof="0" dirty="0">
                <a:solidFill>
                  <a:srgbClr val="008000"/>
                </a:solidFill>
                <a:latin typeface="Times New Roman" panose="02020603050405020304" pitchFamily="18" charset="0"/>
                <a:ea typeface="+mn-ea"/>
                <a:cs typeface="+mn-cs"/>
              </a:rPr>
              <a:t>’</a:t>
            </a:r>
            <a:r>
              <a:rPr kumimoji="1" lang="en-US" altLang="zh-TW" sz="2800" b="1" kern="0" cap="none" spc="0" normalizeH="0" baseline="0" noProof="0" dirty="0">
                <a:solidFill>
                  <a:srgbClr val="008000"/>
                </a:solidFill>
                <a:latin typeface="+mn-lt"/>
                <a:ea typeface="+mn-ea"/>
                <a:cs typeface="+mn-cs"/>
              </a:rPr>
              <a:t>s </a:t>
            </a:r>
            <a:r>
              <a:rPr kumimoji="1" lang="en-US" altLang="zh-TW" sz="2800" b="1" kern="0" cap="none" spc="0" normalizeH="0" baseline="0" noProof="0" dirty="0" err="1">
                <a:solidFill>
                  <a:srgbClr val="008000"/>
                </a:solidFill>
                <a:latin typeface="+mn-lt"/>
                <a:ea typeface="+mn-ea"/>
                <a:cs typeface="+mn-cs"/>
              </a:rPr>
              <a:t>Thm</a:t>
            </a:r>
            <a:r>
              <a:rPr kumimoji="1" lang="en-US" altLang="zh-TW" sz="2800" b="1" kern="0" cap="none" spc="0" normalizeH="0" baseline="0" noProof="0" dirty="0">
                <a:solidFill>
                  <a:srgbClr val="008000"/>
                </a:solidFill>
                <a:latin typeface="+mn-lt"/>
                <a:ea typeface="+mn-ea"/>
                <a:cs typeface="+mn-cs"/>
              </a:rPr>
              <a:t>.):</a:t>
            </a:r>
            <a:br>
              <a:rPr kumimoji="1" lang="en-US" altLang="zh-TW" sz="2800" b="1" kern="0" cap="none" spc="0" normalizeH="0" baseline="0" noProof="0" dirty="0">
                <a:solidFill>
                  <a:srgbClr val="FF0000"/>
                </a:solidFill>
                <a:latin typeface="+mn-lt"/>
                <a:ea typeface="+mn-ea"/>
                <a:cs typeface="+mn-cs"/>
              </a:rPr>
            </a:br>
            <a:r>
              <a:rPr kumimoji="1" lang="en-US" altLang="zh-TW" sz="2800" kern="0" cap="none" spc="0" normalizeH="0" baseline="0" noProof="0" dirty="0">
                <a:latin typeface="+mn-lt"/>
                <a:ea typeface="+mn-ea"/>
                <a:cs typeface="+mn-cs"/>
              </a:rPr>
              <a:t>If </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rPr>
              <a:t>G</a:t>
            </a:r>
            <a:r>
              <a:rPr kumimoji="1" lang="en-US" altLang="zh-TW" sz="2800" kern="0" cap="none" spc="0" normalizeH="0" baseline="0" noProof="0" dirty="0">
                <a:latin typeface="+mn-lt"/>
                <a:ea typeface="+mn-ea"/>
                <a:cs typeface="+mn-cs"/>
              </a:rPr>
              <a:t> is a simple graph with </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rPr>
              <a:t>n</a:t>
            </a:r>
            <a:r>
              <a:rPr kumimoji="1" lang="en-US" altLang="zh-TW" sz="2800" kern="0" cap="none" spc="0" normalizeH="0" baseline="0" noProof="0" dirty="0">
                <a:latin typeface="+mn-lt"/>
                <a:ea typeface="+mn-ea"/>
                <a:cs typeface="+mn-cs"/>
                <a:sym typeface="Symbol" panose="05050102010706020507" pitchFamily="18" charset="2"/>
              </a:rPr>
              <a:t></a:t>
            </a:r>
            <a:r>
              <a:rPr kumimoji="1" lang="en-US" altLang="zh-TW" sz="2800" kern="0" cap="none" spc="0" normalizeH="0" baseline="0" noProof="0" dirty="0">
                <a:latin typeface="Times New Roman" panose="02020603050405020304" pitchFamily="18" charset="0"/>
                <a:ea typeface="+mn-ea"/>
                <a:cs typeface="Times New Roman" panose="02020603050405020304" pitchFamily="18" charset="0"/>
                <a:sym typeface="Symbol" panose="05050102010706020507" pitchFamily="18" charset="2"/>
              </a:rPr>
              <a:t>3</a:t>
            </a:r>
            <a:r>
              <a:rPr kumimoji="1" lang="en-US" altLang="zh-TW" sz="2800" i="1" kern="0" cap="none" spc="0" normalizeH="0" baseline="0" noProof="0" dirty="0">
                <a:latin typeface="+mn-lt"/>
                <a:ea typeface="+mn-ea"/>
                <a:cs typeface="+mn-cs"/>
              </a:rPr>
              <a:t> </a:t>
            </a:r>
            <a:r>
              <a:rPr kumimoji="1" lang="en-US" altLang="zh-TW" sz="2800" kern="0" cap="none" spc="0" normalizeH="0" baseline="0" noProof="0" dirty="0">
                <a:latin typeface="+mn-lt"/>
                <a:ea typeface="+mn-ea"/>
                <a:cs typeface="+mn-cs"/>
              </a:rPr>
              <a:t>vertices </a:t>
            </a:r>
            <a:r>
              <a:rPr kumimoji="1" lang="en-US" altLang="zh-TW" sz="2800" kern="0" cap="none" spc="0" normalizeH="0" baseline="0" noProof="0" dirty="0">
                <a:latin typeface="+mn-lt"/>
                <a:ea typeface="+mn-ea"/>
                <a:cs typeface="+mn-cs"/>
                <a:sym typeface="Symbol" panose="05050102010706020507" pitchFamily="18" charset="2"/>
              </a:rPr>
              <a:t>such that deg(</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sym typeface="Symbol" panose="05050102010706020507" pitchFamily="18" charset="2"/>
              </a:rPr>
              <a:t>u</a:t>
            </a:r>
            <a:r>
              <a:rPr kumimoji="1" lang="en-US" altLang="zh-TW" sz="2800" kern="0" cap="none" spc="0" normalizeH="0" baseline="0" noProof="0" dirty="0">
                <a:latin typeface="+mn-lt"/>
                <a:ea typeface="+mn-ea"/>
                <a:cs typeface="+mn-cs"/>
                <a:sym typeface="Symbol" panose="05050102010706020507" pitchFamily="18" charset="2"/>
              </a:rPr>
              <a:t>)+deg(</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sym typeface="Symbol" panose="05050102010706020507" pitchFamily="18" charset="2"/>
              </a:rPr>
              <a:t>v</a:t>
            </a:r>
            <a:r>
              <a:rPr kumimoji="1" lang="en-US" altLang="zh-TW" sz="2800" kern="0" cap="none" spc="0" normalizeH="0" baseline="0" noProof="0" dirty="0">
                <a:latin typeface="+mn-lt"/>
                <a:ea typeface="+mn-ea"/>
                <a:cs typeface="+mn-cs"/>
                <a:sym typeface="Symbol" panose="05050102010706020507" pitchFamily="18" charset="2"/>
              </a:rPr>
              <a:t>) </a:t>
            </a:r>
            <a:r>
              <a:rPr kumimoji="1" lang="en-US" altLang="zh-TW" sz="2800" kern="0" cap="none" spc="0" normalizeH="0" baseline="0" noProof="0" dirty="0">
                <a:latin typeface="+mn-lt"/>
                <a:ea typeface="+mn-ea"/>
                <a:cs typeface="+mn-cs"/>
                <a:sym typeface="Symbol" panose="05050102010706020507"/>
              </a:rPr>
              <a:t></a:t>
            </a:r>
            <a:r>
              <a:rPr kumimoji="1" lang="en-US" altLang="zh-TW" sz="2800" kern="0" cap="none" spc="0" normalizeH="0" baseline="0" noProof="0" dirty="0">
                <a:latin typeface="+mn-lt"/>
                <a:ea typeface="+mn-ea"/>
                <a:cs typeface="+mn-cs"/>
                <a:sym typeface="Symbol" panose="05050102010706020507" pitchFamily="18" charset="2"/>
              </a:rPr>
              <a:t> </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sym typeface="Symbol" panose="05050102010706020507" pitchFamily="18" charset="2"/>
              </a:rPr>
              <a:t>n</a:t>
            </a:r>
            <a:r>
              <a:rPr kumimoji="1" lang="en-US" altLang="zh-TW" sz="2800" kern="0" cap="none" spc="0" normalizeH="0" baseline="0" noProof="0" dirty="0">
                <a:latin typeface="+mn-lt"/>
                <a:ea typeface="+mn-ea"/>
                <a:cs typeface="+mn-cs"/>
                <a:sym typeface="Symbol" panose="05050102010706020507" pitchFamily="18" charset="2"/>
              </a:rPr>
              <a:t> for every pair of nonadjacent vertices </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sym typeface="Symbol" panose="05050102010706020507" pitchFamily="18" charset="2"/>
              </a:rPr>
              <a:t>u</a:t>
            </a:r>
            <a:r>
              <a:rPr kumimoji="1" lang="en-US" altLang="zh-TW" sz="2800" kern="0" cap="none" spc="0" normalizeH="0" baseline="0" noProof="0" dirty="0">
                <a:latin typeface="+mn-lt"/>
                <a:ea typeface="+mn-ea"/>
                <a:cs typeface="+mn-cs"/>
                <a:sym typeface="Symbol" panose="05050102010706020507" pitchFamily="18" charset="2"/>
              </a:rPr>
              <a:t> and </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sym typeface="Symbol" panose="05050102010706020507" pitchFamily="18" charset="2"/>
              </a:rPr>
              <a:t>v</a:t>
            </a:r>
            <a:r>
              <a:rPr kumimoji="1" lang="en-US" altLang="zh-TW" sz="2800" kern="0" cap="none" spc="0" normalizeH="0" baseline="0" noProof="0" dirty="0">
                <a:latin typeface="+mn-lt"/>
                <a:ea typeface="+mn-ea"/>
                <a:cs typeface="+mn-cs"/>
                <a:sym typeface="Symbol" panose="05050102010706020507" pitchFamily="18" charset="2"/>
              </a:rPr>
              <a:t>, then </a:t>
            </a:r>
            <a:r>
              <a:rPr kumimoji="1" lang="en-US" altLang="zh-TW" sz="2800" i="1" kern="0" cap="none" spc="0" normalizeH="0" baseline="0" noProof="0" dirty="0">
                <a:latin typeface="Times New Roman" panose="02020603050405020304" pitchFamily="18" charset="0"/>
                <a:ea typeface="+mn-ea"/>
                <a:cs typeface="Times New Roman" panose="02020603050405020304" pitchFamily="18" charset="0"/>
                <a:sym typeface="Symbol" panose="05050102010706020507" pitchFamily="18" charset="2"/>
              </a:rPr>
              <a:t>G</a:t>
            </a:r>
            <a:r>
              <a:rPr kumimoji="1" lang="en-US" altLang="zh-TW" sz="2800" kern="0" cap="none" spc="0" normalizeH="0" baseline="0" noProof="0" dirty="0">
                <a:latin typeface="+mn-lt"/>
                <a:ea typeface="+mn-ea"/>
                <a:cs typeface="+mn-cs"/>
                <a:sym typeface="Symbol" panose="05050102010706020507" pitchFamily="18" charset="2"/>
              </a:rPr>
              <a:t> has a Hamilton circuit. </a:t>
            </a:r>
            <a:endParaRPr kumimoji="1" lang="en-US" altLang="zh-TW" sz="2800" kern="0" cap="none" spc="0" normalizeH="0" baseline="0" noProof="0" dirty="0">
              <a:latin typeface="+mn-lt"/>
              <a:ea typeface="+mn-ea"/>
              <a:cs typeface="+mn-cs"/>
              <a:sym typeface="Symbol" panose="05050102010706020507" pitchFamily="18" charset="2"/>
            </a:endParaRPr>
          </a:p>
        </p:txBody>
      </p:sp>
      <p:sp>
        <p:nvSpPr>
          <p:cNvPr id="32" name="矩形 31"/>
          <p:cNvSpPr/>
          <p:nvPr/>
        </p:nvSpPr>
        <p:spPr>
          <a:xfrm>
            <a:off x="3886200" y="3581400"/>
            <a:ext cx="5029200" cy="1800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olidFill>
                  <a:srgbClr val="000000"/>
                </a:solidFill>
                <a:sym typeface="Symbol" panose="05050102010706020507" pitchFamily="18" charset="2"/>
              </a:rPr>
              <a:t>each </a:t>
            </a:r>
            <a:r>
              <a:rPr lang="en-US" altLang="zh-TW" sz="2800" dirty="0">
                <a:sym typeface="Symbol" panose="05050102010706020507" pitchFamily="18" charset="2"/>
              </a:rPr>
              <a:t>nonadjacent </a:t>
            </a:r>
            <a:r>
              <a:rPr lang="en-US" altLang="zh-TW" sz="2800" dirty="0">
                <a:solidFill>
                  <a:srgbClr val="000000"/>
                </a:solidFill>
                <a:sym typeface="Symbol" panose="05050102010706020507" pitchFamily="18" charset="2"/>
              </a:rPr>
              <a:t>vertex pair </a:t>
            </a:r>
            <a:br>
              <a:rPr lang="en-US" altLang="zh-TW" sz="2800" dirty="0">
                <a:solidFill>
                  <a:srgbClr val="000000"/>
                </a:solidFill>
                <a:sym typeface="Symbol" panose="05050102010706020507" pitchFamily="18" charset="2"/>
              </a:rPr>
            </a:br>
            <a:r>
              <a:rPr lang="en-US" altLang="zh-TW" sz="2800" dirty="0">
                <a:solidFill>
                  <a:srgbClr val="000000"/>
                </a:solidFill>
                <a:sym typeface="Symbol" panose="05050102010706020507" pitchFamily="18" charset="2"/>
              </a:rPr>
              <a:t>has deg sum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 n</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8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7</a:t>
            </a:r>
            <a:endParaRPr lang="en-US" altLang="zh-TW" sz="28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marL="0" lvl="0" indent="0" eaLnBrk="1" hangingPunct="1">
              <a:spcBef>
                <a:spcPct val="0"/>
              </a:spcBef>
              <a:buClrTx/>
              <a:buSzPct val="100000"/>
              <a:buNone/>
            </a:pPr>
            <a:r>
              <a:rPr lang="en-US" altLang="zh-TW" sz="2800" dirty="0">
                <a:solidFill>
                  <a:srgbClr val="000000"/>
                </a:solidFill>
                <a:sym typeface="Symbol" panose="05050102010706020507" pitchFamily="18" charset="2"/>
              </a:rPr>
              <a:t>Hamilton circuit exists</a:t>
            </a:r>
            <a:endParaRPr lang="en-US" altLang="zh-TW" sz="2800" dirty="0">
              <a:solidFill>
                <a:srgbClr val="000000"/>
              </a:solidFill>
              <a:sym typeface="Symbol" panose="05050102010706020507" pitchFamily="18" charset="2"/>
            </a:endParaRPr>
          </a:p>
          <a:p>
            <a:pPr marL="0" lvl="0" indent="0" eaLnBrk="1" hangingPunct="1">
              <a:spcBef>
                <a:spcPct val="0"/>
              </a:spcBef>
              <a:buClrTx/>
              <a:buSzPct val="100000"/>
              <a:buNone/>
            </a:pPr>
            <a:r>
              <a:rPr lang="en-US" altLang="zh-TW" sz="2800" dirty="0">
                <a:solidFill>
                  <a:srgbClr val="000000"/>
                </a:solidFill>
                <a:sym typeface="Symbol" panose="05050102010706020507" pitchFamily="18" charset="2"/>
              </a:rPr>
              <a:t>    </a:t>
            </a:r>
            <a:r>
              <a:rPr lang="en-US" altLang="zh-CN" sz="2800" dirty="0">
                <a:solidFill>
                  <a:srgbClr val="000000"/>
                </a:solidFill>
                <a:sym typeface="Symbol" panose="05050102010706020507" pitchFamily="18" charset="2"/>
              </a:rPr>
              <a:t>E.g.,</a:t>
            </a:r>
            <a:r>
              <a:rPr lang="en-US" altLang="zh-TW" sz="2800" dirty="0">
                <a:solidFill>
                  <a:srgbClr val="000000"/>
                </a:solidFill>
                <a:sym typeface="Symbol" panose="05050102010706020507" pitchFamily="18" charset="2"/>
              </a:rPr>
              <a:t> </a:t>
            </a:r>
            <a:r>
              <a:rPr lang="en-US" altLang="zh-TW" sz="2800" i="1"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a, d, f, e, c, b, g, a</a:t>
            </a:r>
            <a:endParaRPr lang="zh-TW" altLang="en-US" sz="1800" i="1" dirty="0">
              <a:solidFill>
                <a:srgbClr val="0000CC"/>
              </a:solidFill>
              <a:latin typeface="Times New Roman" panose="02020603050405020304" pitchFamily="18" charset="0"/>
              <a:ea typeface="Times New Roman" panose="02020603050405020304" pitchFamily="18" charset="0"/>
            </a:endParaRPr>
          </a:p>
        </p:txBody>
      </p:sp>
      <p:grpSp>
        <p:nvGrpSpPr>
          <p:cNvPr id="2" name="群組 80"/>
          <p:cNvGrpSpPr/>
          <p:nvPr/>
        </p:nvGrpSpPr>
        <p:grpSpPr>
          <a:xfrm>
            <a:off x="228600" y="2971800"/>
            <a:ext cx="3556000" cy="3292475"/>
            <a:chOff x="228600" y="2971800"/>
            <a:chExt cx="3555623" cy="3292535"/>
          </a:xfrm>
        </p:grpSpPr>
        <p:sp>
          <p:nvSpPr>
            <p:cNvPr id="59398" name="Line 23"/>
            <p:cNvSpPr/>
            <p:nvPr/>
          </p:nvSpPr>
          <p:spPr>
            <a:xfrm flipV="1">
              <a:off x="1219200" y="3886200"/>
              <a:ext cx="1447800" cy="1676400"/>
            </a:xfrm>
            <a:prstGeom prst="line">
              <a:avLst/>
            </a:prstGeom>
            <a:ln w="25400" cap="flat" cmpd="sng">
              <a:solidFill>
                <a:schemeClr val="tx1"/>
              </a:solidFill>
              <a:prstDash val="solid"/>
              <a:headEnd type="none" w="med" len="med"/>
              <a:tailEnd type="none" w="med" len="med"/>
            </a:ln>
          </p:spPr>
        </p:sp>
        <p:sp>
          <p:nvSpPr>
            <p:cNvPr id="59399" name="AutoShape 11"/>
            <p:cNvSpPr/>
            <p:nvPr/>
          </p:nvSpPr>
          <p:spPr>
            <a:xfrm>
              <a:off x="2590800" y="3821719"/>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9400" name="Text Box 12"/>
            <p:cNvSpPr txBox="1"/>
            <p:nvPr/>
          </p:nvSpPr>
          <p:spPr>
            <a:xfrm>
              <a:off x="1142903" y="3581411"/>
              <a:ext cx="311117"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59401" name="Line 23"/>
            <p:cNvSpPr/>
            <p:nvPr/>
          </p:nvSpPr>
          <p:spPr>
            <a:xfrm flipH="1">
              <a:off x="838201" y="3889085"/>
              <a:ext cx="605000" cy="682914"/>
            </a:xfrm>
            <a:prstGeom prst="line">
              <a:avLst/>
            </a:prstGeom>
            <a:ln w="25400" cap="flat" cmpd="sng">
              <a:solidFill>
                <a:schemeClr val="tx1"/>
              </a:solidFill>
              <a:prstDash val="solid"/>
              <a:headEnd type="none" w="med" len="med"/>
              <a:tailEnd type="none" w="med" len="med"/>
            </a:ln>
          </p:spPr>
        </p:sp>
        <p:sp>
          <p:nvSpPr>
            <p:cNvPr id="59402" name="AutoShape 30"/>
            <p:cNvSpPr/>
            <p:nvPr/>
          </p:nvSpPr>
          <p:spPr>
            <a:xfrm>
              <a:off x="3332928" y="4487347"/>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9403" name="AutoShape 32"/>
            <p:cNvSpPr/>
            <p:nvPr/>
          </p:nvSpPr>
          <p:spPr>
            <a:xfrm>
              <a:off x="1998011" y="5821737"/>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9404" name="AutoShape 33"/>
            <p:cNvSpPr/>
            <p:nvPr/>
          </p:nvSpPr>
          <p:spPr>
            <a:xfrm>
              <a:off x="1380996" y="3834906"/>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9405" name="Line 34"/>
            <p:cNvSpPr/>
            <p:nvPr/>
          </p:nvSpPr>
          <p:spPr>
            <a:xfrm flipH="1" flipV="1">
              <a:off x="1447800" y="3886201"/>
              <a:ext cx="1955116" cy="671300"/>
            </a:xfrm>
            <a:prstGeom prst="line">
              <a:avLst/>
            </a:prstGeom>
            <a:ln w="25400" cap="flat" cmpd="sng">
              <a:solidFill>
                <a:schemeClr val="tx1"/>
              </a:solidFill>
              <a:prstDash val="solid"/>
              <a:headEnd type="none" w="med" len="med"/>
              <a:tailEnd type="none" w="med" len="med"/>
            </a:ln>
          </p:spPr>
        </p:sp>
        <p:sp>
          <p:nvSpPr>
            <p:cNvPr id="59406" name="Line 23"/>
            <p:cNvSpPr/>
            <p:nvPr/>
          </p:nvSpPr>
          <p:spPr>
            <a:xfrm>
              <a:off x="2667000" y="3886200"/>
              <a:ext cx="762000" cy="685800"/>
            </a:xfrm>
            <a:prstGeom prst="line">
              <a:avLst/>
            </a:prstGeom>
            <a:ln w="25400" cap="flat" cmpd="sng">
              <a:solidFill>
                <a:schemeClr val="tx1"/>
              </a:solidFill>
              <a:prstDash val="solid"/>
              <a:headEnd type="none" w="med" len="med"/>
              <a:tailEnd type="none" w="med" len="med"/>
            </a:ln>
          </p:spPr>
        </p:sp>
        <p:sp>
          <p:nvSpPr>
            <p:cNvPr id="59407" name="Text Box 12"/>
            <p:cNvSpPr txBox="1"/>
            <p:nvPr/>
          </p:nvSpPr>
          <p:spPr>
            <a:xfrm>
              <a:off x="2493722" y="3505210"/>
              <a:ext cx="311117"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59408" name="Text Box 12"/>
            <p:cNvSpPr txBox="1"/>
            <p:nvPr/>
          </p:nvSpPr>
          <p:spPr>
            <a:xfrm>
              <a:off x="2971509" y="5334043"/>
              <a:ext cx="253973"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f</a:t>
              </a:r>
              <a:endParaRPr lang="en-US" altLang="zh-TW" sz="2000" i="1" dirty="0">
                <a:latin typeface="Times New Roman" panose="02020603050405020304" pitchFamily="18" charset="0"/>
                <a:ea typeface="Times New Roman" panose="02020603050405020304" pitchFamily="18" charset="0"/>
              </a:endParaRPr>
            </a:p>
          </p:txBody>
        </p:sp>
        <p:sp>
          <p:nvSpPr>
            <p:cNvPr id="59409" name="AutoShape 11"/>
            <p:cNvSpPr/>
            <p:nvPr/>
          </p:nvSpPr>
          <p:spPr>
            <a:xfrm>
              <a:off x="743365" y="4557501"/>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9410" name="Text Box 12"/>
            <p:cNvSpPr txBox="1"/>
            <p:nvPr/>
          </p:nvSpPr>
          <p:spPr>
            <a:xfrm>
              <a:off x="838135" y="5486446"/>
              <a:ext cx="311117"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59411" name="Text Box 12"/>
            <p:cNvSpPr txBox="1"/>
            <p:nvPr/>
          </p:nvSpPr>
          <p:spPr>
            <a:xfrm>
              <a:off x="533368" y="4487890"/>
              <a:ext cx="296831"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59412" name="Line 25"/>
            <p:cNvSpPr/>
            <p:nvPr/>
          </p:nvSpPr>
          <p:spPr>
            <a:xfrm>
              <a:off x="762000" y="4572000"/>
              <a:ext cx="1295400" cy="1295400"/>
            </a:xfrm>
            <a:prstGeom prst="line">
              <a:avLst/>
            </a:prstGeom>
            <a:ln w="25400" cap="flat" cmpd="sng">
              <a:solidFill>
                <a:schemeClr val="tx1"/>
              </a:solidFill>
              <a:prstDash val="solid"/>
              <a:headEnd type="none" w="med" len="med"/>
              <a:tailEnd type="none" w="med" len="med"/>
            </a:ln>
          </p:spPr>
        </p:sp>
        <p:sp>
          <p:nvSpPr>
            <p:cNvPr id="59413" name="Line 25"/>
            <p:cNvSpPr/>
            <p:nvPr/>
          </p:nvSpPr>
          <p:spPr>
            <a:xfrm flipH="1">
              <a:off x="813350" y="3886202"/>
              <a:ext cx="1853649" cy="741452"/>
            </a:xfrm>
            <a:prstGeom prst="line">
              <a:avLst/>
            </a:prstGeom>
            <a:ln w="25400" cap="flat" cmpd="sng">
              <a:solidFill>
                <a:schemeClr val="tx1"/>
              </a:solidFill>
              <a:prstDash val="solid"/>
              <a:headEnd type="none" w="med" len="med"/>
              <a:tailEnd type="none" w="med" len="med"/>
            </a:ln>
          </p:spPr>
        </p:sp>
        <p:sp>
          <p:nvSpPr>
            <p:cNvPr id="59414" name="Line 34"/>
            <p:cNvSpPr/>
            <p:nvPr/>
          </p:nvSpPr>
          <p:spPr>
            <a:xfrm flipV="1">
              <a:off x="2895600" y="4571999"/>
              <a:ext cx="533400" cy="838198"/>
            </a:xfrm>
            <a:prstGeom prst="line">
              <a:avLst/>
            </a:prstGeom>
            <a:ln w="25400" cap="flat" cmpd="sng">
              <a:solidFill>
                <a:schemeClr val="tx1"/>
              </a:solidFill>
              <a:prstDash val="solid"/>
              <a:headEnd type="none" w="med" len="med"/>
              <a:tailEnd type="none" w="med" len="med"/>
            </a:ln>
          </p:spPr>
        </p:sp>
        <p:sp>
          <p:nvSpPr>
            <p:cNvPr id="59415" name="AutoShape 30"/>
            <p:cNvSpPr/>
            <p:nvPr/>
          </p:nvSpPr>
          <p:spPr>
            <a:xfrm>
              <a:off x="2836211" y="5364537"/>
              <a:ext cx="135589" cy="1218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9416" name="Text Box 12"/>
            <p:cNvSpPr txBox="1"/>
            <p:nvPr/>
          </p:nvSpPr>
          <p:spPr>
            <a:xfrm>
              <a:off x="3473106" y="4346600"/>
              <a:ext cx="311117"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g</a:t>
              </a:r>
              <a:endParaRPr lang="en-US" altLang="zh-TW" sz="2000" i="1" dirty="0">
                <a:latin typeface="Times New Roman" panose="02020603050405020304" pitchFamily="18" charset="0"/>
                <a:ea typeface="Times New Roman" panose="02020603050405020304" pitchFamily="18" charset="0"/>
              </a:endParaRPr>
            </a:p>
          </p:txBody>
        </p:sp>
        <p:sp>
          <p:nvSpPr>
            <p:cNvPr id="59417" name="Line 23"/>
            <p:cNvSpPr/>
            <p:nvPr/>
          </p:nvSpPr>
          <p:spPr>
            <a:xfrm flipV="1">
              <a:off x="762000" y="4572000"/>
              <a:ext cx="2590800" cy="76199"/>
            </a:xfrm>
            <a:prstGeom prst="line">
              <a:avLst/>
            </a:prstGeom>
            <a:ln w="25400" cap="flat" cmpd="sng">
              <a:solidFill>
                <a:schemeClr val="tx1"/>
              </a:solidFill>
              <a:prstDash val="solid"/>
              <a:headEnd type="none" w="med" len="med"/>
              <a:tailEnd type="none" w="med" len="med"/>
            </a:ln>
          </p:spPr>
        </p:sp>
        <p:sp>
          <p:nvSpPr>
            <p:cNvPr id="59418" name="Line 34"/>
            <p:cNvSpPr/>
            <p:nvPr/>
          </p:nvSpPr>
          <p:spPr>
            <a:xfrm flipH="1">
              <a:off x="1447800" y="3840481"/>
              <a:ext cx="1219200" cy="45719"/>
            </a:xfrm>
            <a:prstGeom prst="line">
              <a:avLst/>
            </a:prstGeom>
            <a:ln w="25400" cap="flat" cmpd="sng">
              <a:solidFill>
                <a:schemeClr val="tx1"/>
              </a:solidFill>
              <a:prstDash val="solid"/>
              <a:headEnd type="none" w="med" len="med"/>
              <a:tailEnd type="none" w="med" len="med"/>
            </a:ln>
          </p:spPr>
        </p:sp>
        <p:sp>
          <p:nvSpPr>
            <p:cNvPr id="59419" name="Line 34"/>
            <p:cNvSpPr/>
            <p:nvPr/>
          </p:nvSpPr>
          <p:spPr>
            <a:xfrm flipH="1" flipV="1">
              <a:off x="838200" y="4648200"/>
              <a:ext cx="2057400" cy="762000"/>
            </a:xfrm>
            <a:prstGeom prst="line">
              <a:avLst/>
            </a:prstGeom>
            <a:ln w="25400" cap="flat" cmpd="sng">
              <a:solidFill>
                <a:schemeClr val="tx1"/>
              </a:solidFill>
              <a:prstDash val="solid"/>
              <a:headEnd type="none" w="med" len="med"/>
              <a:tailEnd type="none" w="med" len="med"/>
            </a:ln>
          </p:spPr>
        </p:sp>
        <p:sp>
          <p:nvSpPr>
            <p:cNvPr id="59420" name="Line 23"/>
            <p:cNvSpPr/>
            <p:nvPr/>
          </p:nvSpPr>
          <p:spPr>
            <a:xfrm flipV="1">
              <a:off x="2057401" y="5410200"/>
              <a:ext cx="914399" cy="457200"/>
            </a:xfrm>
            <a:prstGeom prst="line">
              <a:avLst/>
            </a:prstGeom>
            <a:ln w="25400" cap="flat" cmpd="sng">
              <a:solidFill>
                <a:schemeClr val="tx1"/>
              </a:solidFill>
              <a:prstDash val="solid"/>
              <a:headEnd type="none" w="med" len="med"/>
              <a:tailEnd type="none" w="med" len="med"/>
            </a:ln>
          </p:spPr>
        </p:sp>
        <p:sp>
          <p:nvSpPr>
            <p:cNvPr id="59421" name="Line 34"/>
            <p:cNvSpPr/>
            <p:nvPr/>
          </p:nvSpPr>
          <p:spPr>
            <a:xfrm flipV="1">
              <a:off x="2057400" y="3886200"/>
              <a:ext cx="609600" cy="1981200"/>
            </a:xfrm>
            <a:prstGeom prst="line">
              <a:avLst/>
            </a:prstGeom>
            <a:ln w="25400" cap="flat" cmpd="sng">
              <a:solidFill>
                <a:schemeClr val="tx1"/>
              </a:solidFill>
              <a:prstDash val="solid"/>
              <a:headEnd type="none" w="med" len="med"/>
              <a:tailEnd type="none" w="med" len="med"/>
            </a:ln>
          </p:spPr>
        </p:sp>
        <p:sp>
          <p:nvSpPr>
            <p:cNvPr id="59422" name="Line 23"/>
            <p:cNvSpPr/>
            <p:nvPr/>
          </p:nvSpPr>
          <p:spPr>
            <a:xfrm flipV="1">
              <a:off x="1219201" y="5410200"/>
              <a:ext cx="1752600" cy="152400"/>
            </a:xfrm>
            <a:prstGeom prst="line">
              <a:avLst/>
            </a:prstGeom>
            <a:ln w="25400" cap="flat" cmpd="sng">
              <a:solidFill>
                <a:schemeClr val="tx1"/>
              </a:solidFill>
              <a:prstDash val="solid"/>
              <a:headEnd type="none" w="med" len="med"/>
              <a:tailEnd type="none" w="med" len="med"/>
            </a:ln>
          </p:spPr>
        </p:sp>
        <p:sp>
          <p:nvSpPr>
            <p:cNvPr id="107" name="矩形 106"/>
            <p:cNvSpPr/>
            <p:nvPr/>
          </p:nvSpPr>
          <p:spPr>
            <a:xfrm>
              <a:off x="228600" y="2971800"/>
              <a:ext cx="1661937" cy="52388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59424" name="AutoShape 32"/>
            <p:cNvSpPr/>
            <p:nvPr/>
          </p:nvSpPr>
          <p:spPr>
            <a:xfrm>
              <a:off x="1143000" y="5486400"/>
              <a:ext cx="135589" cy="121863"/>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9425" name="Text Box 12"/>
            <p:cNvSpPr txBox="1"/>
            <p:nvPr/>
          </p:nvSpPr>
          <p:spPr>
            <a:xfrm>
              <a:off x="1846091" y="5867453"/>
              <a:ext cx="296831" cy="3968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59426" name="Line 34"/>
            <p:cNvSpPr/>
            <p:nvPr/>
          </p:nvSpPr>
          <p:spPr>
            <a:xfrm flipH="1" flipV="1">
              <a:off x="1447800" y="3886200"/>
              <a:ext cx="609600" cy="1981200"/>
            </a:xfrm>
            <a:prstGeom prst="line">
              <a:avLst/>
            </a:prstGeom>
            <a:ln w="25400" cap="flat" cmpd="sng">
              <a:solidFill>
                <a:schemeClr val="tx1"/>
              </a:solidFill>
              <a:prstDash val="solid"/>
              <a:headEnd type="none" w="med" len="med"/>
              <a:tailEnd type="none" w="med" len="med"/>
            </a:ln>
          </p:spPr>
        </p:sp>
        <p:sp>
          <p:nvSpPr>
            <p:cNvPr id="59427" name="Line 34"/>
            <p:cNvSpPr/>
            <p:nvPr/>
          </p:nvSpPr>
          <p:spPr>
            <a:xfrm flipV="1">
              <a:off x="2057400" y="4572000"/>
              <a:ext cx="1371600" cy="1295398"/>
            </a:xfrm>
            <a:prstGeom prst="line">
              <a:avLst/>
            </a:prstGeom>
            <a:ln w="25400" cap="flat" cmpd="sng">
              <a:solidFill>
                <a:schemeClr val="tx1"/>
              </a:solidFill>
              <a:prstDash val="solid"/>
              <a:headEnd type="none" w="med" len="med"/>
              <a:tailEnd type="none" w="med" len="med"/>
            </a:ln>
          </p:spPr>
        </p:sp>
        <p:sp>
          <p:nvSpPr>
            <p:cNvPr id="59428" name="Line 34"/>
            <p:cNvSpPr/>
            <p:nvPr/>
          </p:nvSpPr>
          <p:spPr>
            <a:xfrm flipH="1" flipV="1">
              <a:off x="1447800" y="3886200"/>
              <a:ext cx="1447800" cy="1523999"/>
            </a:xfrm>
            <a:prstGeom prst="line">
              <a:avLst/>
            </a:prstGeom>
            <a:ln w="25400"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
                                            <p:txEl>
                                              <p:charRg st="0" end="50"/>
                                            </p:txEl>
                                          </p:spTgt>
                                        </p:tgtEl>
                                        <p:attrNameLst>
                                          <p:attrName>style.visibility</p:attrName>
                                        </p:attrNameLst>
                                      </p:cBhvr>
                                      <p:to>
                                        <p:strVal val="visible"/>
                                      </p:to>
                                    </p:set>
                                    <p:anim calcmode="lin" valueType="num">
                                      <p:cBhvr additive="base">
                                        <p:cTn id="13" dur="500" fill="hold"/>
                                        <p:tgtEl>
                                          <p:spTgt spid="32">
                                            <p:txEl>
                                              <p:charRg st="0" end="5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
                                            <p:txEl>
                                              <p:charRg st="0" end="5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
                                            <p:txEl>
                                              <p:charRg st="50" end="75"/>
                                            </p:txEl>
                                          </p:spTgt>
                                        </p:tgtEl>
                                        <p:attrNameLst>
                                          <p:attrName>style.visibility</p:attrName>
                                        </p:attrNameLst>
                                      </p:cBhvr>
                                      <p:to>
                                        <p:strVal val="visible"/>
                                      </p:to>
                                    </p:set>
                                    <p:anim calcmode="lin" valueType="num">
                                      <p:cBhvr additive="base">
                                        <p:cTn id="19" dur="500" fill="hold"/>
                                        <p:tgtEl>
                                          <p:spTgt spid="32">
                                            <p:txEl>
                                              <p:charRg st="50" end="7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
                                            <p:txEl>
                                              <p:charRg st="50" end="7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2">
                                            <p:txEl>
                                              <p:charRg st="75" end="108"/>
                                            </p:txEl>
                                          </p:spTgt>
                                        </p:tgtEl>
                                        <p:attrNameLst>
                                          <p:attrName>style.visibility</p:attrName>
                                        </p:attrNameLst>
                                      </p:cBhvr>
                                      <p:to>
                                        <p:strVal val="visible"/>
                                      </p:to>
                                    </p:set>
                                    <p:anim calcmode="lin" valueType="num">
                                      <p:cBhvr additive="base">
                                        <p:cTn id="25" dur="500" fill="hold"/>
                                        <p:tgtEl>
                                          <p:spTgt spid="32">
                                            <p:txEl>
                                              <p:charRg st="75" end="10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
                                            <p:txEl>
                                              <p:charRg st="75" end="10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457200" y="457200"/>
            <a:ext cx="8229600" cy="762000"/>
          </a:xfrm>
        </p:spPr>
        <p:txBody>
          <a:bodyPr vert="horz" wrap="square" lIns="91440" tIns="45720" rIns="91440" bIns="45720" anchor="ctr"/>
          <a:p>
            <a:pPr eaLnBrk="1" hangingPunct="1"/>
            <a:r>
              <a:rPr lang="en-US" altLang="zh-TW" dirty="0"/>
              <a:t>§10.6: Shortest-Path Problems</a:t>
            </a:r>
            <a:endParaRPr lang="en-US" altLang="zh-TW" dirty="0"/>
          </a:p>
        </p:txBody>
      </p:sp>
      <p:sp>
        <p:nvSpPr>
          <p:cNvPr id="60419" name="Rectangle 3"/>
          <p:cNvSpPr>
            <a:spLocks noGrp="1"/>
          </p:cNvSpPr>
          <p:nvPr>
            <p:ph type="body"/>
          </p:nvPr>
        </p:nvSpPr>
        <p:spPr>
          <a:xfrm>
            <a:off x="457200" y="1295400"/>
            <a:ext cx="8229600" cy="2743200"/>
          </a:xfrm>
        </p:spPr>
        <p:txBody>
          <a:bodyPr vert="horz" wrap="square" lIns="91440" tIns="45720" rIns="91440" bIns="45720" anchor="t"/>
          <a:p>
            <a:pPr eaLnBrk="1" hangingPunct="1">
              <a:buNone/>
            </a:pPr>
            <a:r>
              <a:rPr lang="en-US" altLang="zh-TW" sz="2800" b="1" dirty="0">
                <a:solidFill>
                  <a:srgbClr val="008000"/>
                </a:solidFill>
              </a:rPr>
              <a:t>Def:</a:t>
            </a:r>
            <a:endParaRPr lang="en-US" altLang="zh-TW" sz="2800" b="1" dirty="0">
              <a:solidFill>
                <a:srgbClr val="008000"/>
              </a:solidFill>
            </a:endParaRPr>
          </a:p>
          <a:p>
            <a:pPr eaLnBrk="1" hangingPunct="1">
              <a:buNone/>
            </a:pPr>
            <a:r>
              <a:rPr lang="en-US" altLang="zh-TW" sz="2800" dirty="0"/>
              <a:t>   1. Graphs that have a number assigned  </a:t>
            </a:r>
            <a:br>
              <a:rPr lang="en-US" altLang="zh-TW" sz="2800" dirty="0"/>
            </a:br>
            <a:r>
              <a:rPr lang="en-US" altLang="zh-TW" sz="2800" dirty="0"/>
              <a:t>    to each edge are called </a:t>
            </a:r>
            <a:r>
              <a:rPr lang="en-US" altLang="zh-TW" sz="2800" i="1" dirty="0">
                <a:solidFill>
                  <a:srgbClr val="0000CC"/>
                </a:solidFill>
              </a:rPr>
              <a:t>weighted graphs</a:t>
            </a:r>
            <a:r>
              <a:rPr lang="en-US" altLang="zh-TW" sz="2800" dirty="0"/>
              <a:t>.</a:t>
            </a:r>
            <a:r>
              <a:rPr lang="en-US" altLang="zh-TW" sz="2800" i="1" dirty="0">
                <a:solidFill>
                  <a:schemeClr val="accent2"/>
                </a:solidFill>
              </a:rPr>
              <a:t> </a:t>
            </a:r>
            <a:br>
              <a:rPr lang="en-US" altLang="zh-TW" sz="2800" i="1" dirty="0">
                <a:solidFill>
                  <a:schemeClr val="accent2"/>
                </a:solidFill>
              </a:rPr>
            </a:br>
            <a:r>
              <a:rPr lang="en-US" altLang="zh-TW" sz="2800" dirty="0">
                <a:solidFill>
                  <a:srgbClr val="000000"/>
                </a:solidFill>
              </a:rPr>
              <a:t>2. The </a:t>
            </a:r>
            <a:r>
              <a:rPr lang="en-US" altLang="zh-TW" sz="2800" dirty="0">
                <a:solidFill>
                  <a:srgbClr val="0000CC"/>
                </a:solidFill>
              </a:rPr>
              <a:t>length</a:t>
            </a:r>
            <a:r>
              <a:rPr lang="en-US" altLang="zh-TW" sz="2800" dirty="0">
                <a:solidFill>
                  <a:srgbClr val="000000"/>
                </a:solidFill>
              </a:rPr>
              <a:t> of a path in a weighted graph is </a:t>
            </a:r>
            <a:br>
              <a:rPr lang="en-US" altLang="zh-TW" sz="2800" dirty="0">
                <a:solidFill>
                  <a:srgbClr val="000000"/>
                </a:solidFill>
              </a:rPr>
            </a:br>
            <a:r>
              <a:rPr lang="en-US" altLang="zh-TW" sz="2800" dirty="0">
                <a:solidFill>
                  <a:srgbClr val="000000"/>
                </a:solidFill>
              </a:rPr>
              <a:t>    the sum of the weights of the edges of this </a:t>
            </a:r>
            <a:br>
              <a:rPr lang="en-US" altLang="zh-TW" sz="2800" dirty="0">
                <a:solidFill>
                  <a:srgbClr val="000000"/>
                </a:solidFill>
              </a:rPr>
            </a:br>
            <a:r>
              <a:rPr lang="en-US" altLang="zh-TW" sz="2800" dirty="0">
                <a:solidFill>
                  <a:srgbClr val="000000"/>
                </a:solidFill>
              </a:rPr>
              <a:t>    path.</a:t>
            </a:r>
            <a:endParaRPr lang="en-US" altLang="zh-TW" sz="2800" b="1" dirty="0">
              <a:solidFill>
                <a:srgbClr val="FF0000"/>
              </a:solidFill>
            </a:endParaRPr>
          </a:p>
        </p:txBody>
      </p:sp>
      <p:sp>
        <p:nvSpPr>
          <p:cNvPr id="60420"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矩形 4"/>
          <p:cNvSpPr/>
          <p:nvPr/>
        </p:nvSpPr>
        <p:spPr>
          <a:xfrm>
            <a:off x="533400" y="4267200"/>
            <a:ext cx="8077200" cy="1901825"/>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FF0000"/>
                </a:solidFill>
                <a:effectLst/>
                <a:uLnTx/>
                <a:uFillTx/>
                <a:latin typeface="Arial" panose="020B0604020202020204"/>
                <a:ea typeface="PMingLiU"/>
                <a:cs typeface="+mn-cs"/>
              </a:rPr>
              <a:t>Shortest path Problem:</a:t>
            </a:r>
            <a:endParaRPr kumimoji="1" lang="en-US" altLang="zh-TW" sz="2800" b="1" i="0" u="none" strike="noStrike" kern="0" cap="none" spc="0" normalizeH="0" baseline="0" noProof="0" dirty="0">
              <a:ln>
                <a:noFill/>
              </a:ln>
              <a:solidFill>
                <a:srgbClr val="FF0000"/>
              </a:solidFill>
              <a:effectLst/>
              <a:uLnTx/>
              <a:uFillTx/>
              <a:latin typeface="Arial" panose="020B0604020202020204"/>
              <a:ea typeface="PMingLiU"/>
              <a:cs typeface="+mn-cs"/>
            </a:endParaRPr>
          </a:p>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Determining the path of least sum of the weights between two vertices in a weighted graph.</a:t>
            </a:r>
            <a:endPar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投影片編號版面配置區 3"/>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矩形 4"/>
          <p:cNvSpPr/>
          <p:nvPr/>
        </p:nvSpPr>
        <p:spPr>
          <a:xfrm>
            <a:off x="152400" y="609600"/>
            <a:ext cx="8755063" cy="946150"/>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1.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What is the length of a shortest path between </a:t>
            </a:r>
            <a:r>
              <a:rPr kumimoji="1" lang="en-US" altLang="zh-TW" sz="2800" b="0" i="1"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a</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and </a:t>
            </a:r>
            <a:r>
              <a:rPr kumimoji="1" lang="en-US" altLang="zh-TW" sz="2800" b="0" i="1"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z</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in the weighted graph </a:t>
            </a:r>
            <a:r>
              <a:rPr kumimoji="1" lang="en-US" altLang="zh-TW" sz="2800" b="0" i="1"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G</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t>
            </a:r>
            <a:endParaRPr kumimoji="1" lang="en-US" altLang="zh-TW" sz="2800" b="1" i="0" u="none" strike="noStrike" kern="0" cap="none" spc="0" normalizeH="0" baseline="0" noProof="0" dirty="0">
              <a:ln>
                <a:noFill/>
              </a:ln>
              <a:solidFill>
                <a:schemeClr val="tx1"/>
              </a:solidFill>
              <a:effectLst/>
              <a:uLnTx/>
              <a:uFillTx/>
              <a:latin typeface="Arial" panose="020B0604020202020204"/>
              <a:ea typeface="PMingLiU"/>
              <a:cs typeface="+mn-cs"/>
            </a:endParaRPr>
          </a:p>
        </p:txBody>
      </p:sp>
      <p:sp>
        <p:nvSpPr>
          <p:cNvPr id="61444" name="Text Box 12"/>
          <p:cNvSpPr txBox="1"/>
          <p:nvPr/>
        </p:nvSpPr>
        <p:spPr>
          <a:xfrm>
            <a:off x="76200" y="34290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i="1" dirty="0">
                <a:latin typeface="Times New Roman" panose="02020603050405020304" pitchFamily="18" charset="0"/>
                <a:cs typeface="Times New Roman" panose="02020603050405020304" pitchFamily="18" charset="0"/>
              </a:rPr>
              <a:t>G</a:t>
            </a:r>
            <a:endParaRPr lang="en-US" altLang="zh-TW" sz="2400" baseline="-25000" dirty="0">
              <a:latin typeface="Times New Roman" panose="02020603050405020304" pitchFamily="18" charset="0"/>
              <a:ea typeface="Times New Roman" panose="02020603050405020304" pitchFamily="18" charset="0"/>
            </a:endParaRPr>
          </a:p>
        </p:txBody>
      </p:sp>
      <p:grpSp>
        <p:nvGrpSpPr>
          <p:cNvPr id="61445" name="群組 100"/>
          <p:cNvGrpSpPr/>
          <p:nvPr/>
        </p:nvGrpSpPr>
        <p:grpSpPr>
          <a:xfrm>
            <a:off x="434975" y="2503488"/>
            <a:ext cx="3222625" cy="2220912"/>
            <a:chOff x="304847" y="1564225"/>
            <a:chExt cx="3508650" cy="2412336"/>
          </a:xfrm>
        </p:grpSpPr>
        <p:sp>
          <p:nvSpPr>
            <p:cNvPr id="61518" name="AutoShape 11"/>
            <p:cNvSpPr/>
            <p:nvPr/>
          </p:nvSpPr>
          <p:spPr>
            <a:xfrm>
              <a:off x="2590847" y="1908025"/>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19" name="Text Box 12"/>
            <p:cNvSpPr txBox="1"/>
            <p:nvPr/>
          </p:nvSpPr>
          <p:spPr>
            <a:xfrm>
              <a:off x="968552" y="1646993"/>
              <a:ext cx="338766"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1520" name="Line 23"/>
            <p:cNvSpPr/>
            <p:nvPr/>
          </p:nvSpPr>
          <p:spPr>
            <a:xfrm>
              <a:off x="1295400" y="1981200"/>
              <a:ext cx="1371647" cy="0"/>
            </a:xfrm>
            <a:prstGeom prst="line">
              <a:avLst/>
            </a:prstGeom>
            <a:ln w="25400" cap="flat" cmpd="sng">
              <a:solidFill>
                <a:schemeClr val="tx1"/>
              </a:solidFill>
              <a:prstDash val="solid"/>
              <a:headEnd type="none" w="med" len="med"/>
              <a:tailEnd type="none" w="med" len="med"/>
            </a:ln>
          </p:spPr>
        </p:sp>
        <p:sp>
          <p:nvSpPr>
            <p:cNvPr id="61521" name="Line 25"/>
            <p:cNvSpPr/>
            <p:nvPr/>
          </p:nvSpPr>
          <p:spPr>
            <a:xfrm>
              <a:off x="1295400" y="1981201"/>
              <a:ext cx="1447847" cy="1564224"/>
            </a:xfrm>
            <a:prstGeom prst="line">
              <a:avLst/>
            </a:prstGeom>
            <a:ln w="25400" cap="flat" cmpd="sng">
              <a:solidFill>
                <a:schemeClr val="tx1"/>
              </a:solidFill>
              <a:prstDash val="solid"/>
              <a:headEnd type="none" w="med" len="med"/>
              <a:tailEnd type="none" w="med" len="med"/>
            </a:ln>
          </p:spPr>
        </p:sp>
        <p:sp>
          <p:nvSpPr>
            <p:cNvPr id="61522" name="AutoShape 30"/>
            <p:cNvSpPr/>
            <p:nvPr/>
          </p:nvSpPr>
          <p:spPr>
            <a:xfrm>
              <a:off x="3352847" y="2631025"/>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23" name="AutoShape 32"/>
            <p:cNvSpPr/>
            <p:nvPr/>
          </p:nvSpPr>
          <p:spPr>
            <a:xfrm>
              <a:off x="1295447" y="3469225"/>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24" name="AutoShape 33"/>
            <p:cNvSpPr/>
            <p:nvPr/>
          </p:nvSpPr>
          <p:spPr>
            <a:xfrm>
              <a:off x="1227672" y="1922349"/>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25" name="Line 34"/>
            <p:cNvSpPr/>
            <p:nvPr/>
          </p:nvSpPr>
          <p:spPr>
            <a:xfrm flipH="1" flipV="1">
              <a:off x="2667046" y="2021425"/>
              <a:ext cx="762000" cy="685800"/>
            </a:xfrm>
            <a:prstGeom prst="line">
              <a:avLst/>
            </a:prstGeom>
            <a:ln w="25400" cap="flat" cmpd="sng">
              <a:solidFill>
                <a:schemeClr val="tx1"/>
              </a:solidFill>
              <a:prstDash val="solid"/>
              <a:headEnd type="none" w="med" len="med"/>
              <a:tailEnd type="none" w="med" len="med"/>
            </a:ln>
          </p:spPr>
        </p:sp>
        <p:sp>
          <p:nvSpPr>
            <p:cNvPr id="61526" name="Line 23"/>
            <p:cNvSpPr/>
            <p:nvPr/>
          </p:nvSpPr>
          <p:spPr>
            <a:xfrm flipV="1">
              <a:off x="1371647" y="3528025"/>
              <a:ext cx="1368000" cy="0"/>
            </a:xfrm>
            <a:prstGeom prst="line">
              <a:avLst/>
            </a:prstGeom>
            <a:ln w="25400" cap="flat" cmpd="sng">
              <a:solidFill>
                <a:schemeClr val="tx1"/>
              </a:solidFill>
              <a:prstDash val="solid"/>
              <a:headEnd type="none" w="med" len="med"/>
              <a:tailEnd type="none" w="med" len="med"/>
            </a:ln>
          </p:spPr>
        </p:sp>
        <p:sp>
          <p:nvSpPr>
            <p:cNvPr id="61527" name="Text Box 12"/>
            <p:cNvSpPr txBox="1"/>
            <p:nvPr/>
          </p:nvSpPr>
          <p:spPr>
            <a:xfrm>
              <a:off x="2437691" y="1564225"/>
              <a:ext cx="323211"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1528" name="Text Box 12"/>
            <p:cNvSpPr txBox="1"/>
            <p:nvPr/>
          </p:nvSpPr>
          <p:spPr>
            <a:xfrm>
              <a:off x="2667568" y="3545479"/>
              <a:ext cx="323211"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1529" name="AutoShape 11"/>
            <p:cNvSpPr/>
            <p:nvPr/>
          </p:nvSpPr>
          <p:spPr>
            <a:xfrm>
              <a:off x="533447" y="2707225"/>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30" name="Text Box 12"/>
            <p:cNvSpPr txBox="1"/>
            <p:nvPr/>
          </p:nvSpPr>
          <p:spPr>
            <a:xfrm>
              <a:off x="1219170" y="3545479"/>
              <a:ext cx="338766"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1531" name="Text Box 12"/>
            <p:cNvSpPr txBox="1"/>
            <p:nvPr/>
          </p:nvSpPr>
          <p:spPr>
            <a:xfrm>
              <a:off x="304847" y="2631585"/>
              <a:ext cx="338766"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1532" name="Line 25"/>
            <p:cNvSpPr/>
            <p:nvPr/>
          </p:nvSpPr>
          <p:spPr>
            <a:xfrm>
              <a:off x="609647" y="2783425"/>
              <a:ext cx="762000" cy="762000"/>
            </a:xfrm>
            <a:prstGeom prst="line">
              <a:avLst/>
            </a:prstGeom>
            <a:ln w="25400" cap="flat" cmpd="sng">
              <a:solidFill>
                <a:schemeClr val="tx1"/>
              </a:solidFill>
              <a:prstDash val="solid"/>
              <a:headEnd type="none" w="med" len="med"/>
              <a:tailEnd type="none" w="med" len="med"/>
            </a:ln>
          </p:spPr>
        </p:sp>
        <p:sp>
          <p:nvSpPr>
            <p:cNvPr id="61533" name="Line 25"/>
            <p:cNvSpPr/>
            <p:nvPr/>
          </p:nvSpPr>
          <p:spPr>
            <a:xfrm flipH="1">
              <a:off x="609645" y="2021425"/>
              <a:ext cx="685801" cy="761999"/>
            </a:xfrm>
            <a:prstGeom prst="line">
              <a:avLst/>
            </a:prstGeom>
            <a:ln w="25400" cap="flat" cmpd="sng">
              <a:solidFill>
                <a:schemeClr val="tx1"/>
              </a:solidFill>
              <a:prstDash val="solid"/>
              <a:headEnd type="none" w="med" len="med"/>
              <a:tailEnd type="none" w="med" len="med"/>
            </a:ln>
          </p:spPr>
        </p:sp>
        <p:sp>
          <p:nvSpPr>
            <p:cNvPr id="61534" name="Line 34"/>
            <p:cNvSpPr/>
            <p:nvPr/>
          </p:nvSpPr>
          <p:spPr>
            <a:xfrm flipV="1">
              <a:off x="2743247" y="2707225"/>
              <a:ext cx="685800" cy="838200"/>
            </a:xfrm>
            <a:prstGeom prst="line">
              <a:avLst/>
            </a:prstGeom>
            <a:ln w="25400" cap="flat" cmpd="sng">
              <a:solidFill>
                <a:schemeClr val="tx1"/>
              </a:solidFill>
              <a:prstDash val="solid"/>
              <a:headEnd type="none" w="med" len="med"/>
              <a:tailEnd type="none" w="med" len="med"/>
            </a:ln>
          </p:spPr>
        </p:sp>
        <p:sp>
          <p:nvSpPr>
            <p:cNvPr id="61535" name="AutoShape 30"/>
            <p:cNvSpPr/>
            <p:nvPr/>
          </p:nvSpPr>
          <p:spPr>
            <a:xfrm>
              <a:off x="2667047" y="3469225"/>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36" name="Text Box 12"/>
            <p:cNvSpPr txBox="1"/>
            <p:nvPr/>
          </p:nvSpPr>
          <p:spPr>
            <a:xfrm>
              <a:off x="3505842" y="2478119"/>
              <a:ext cx="307655"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1537" name="Text Box 12"/>
            <p:cNvSpPr txBox="1"/>
            <p:nvPr/>
          </p:nvSpPr>
          <p:spPr>
            <a:xfrm>
              <a:off x="2971767" y="1945302"/>
              <a:ext cx="338766"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1538" name="Text Box 12"/>
            <p:cNvSpPr txBox="1"/>
            <p:nvPr/>
          </p:nvSpPr>
          <p:spPr>
            <a:xfrm>
              <a:off x="3047816" y="3012661"/>
              <a:ext cx="338766"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1539" name="Text Box 12"/>
            <p:cNvSpPr txBox="1"/>
            <p:nvPr/>
          </p:nvSpPr>
          <p:spPr>
            <a:xfrm>
              <a:off x="1753245" y="2631585"/>
              <a:ext cx="338767"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1540" name="Text Box 12"/>
            <p:cNvSpPr txBox="1"/>
            <p:nvPr/>
          </p:nvSpPr>
          <p:spPr>
            <a:xfrm>
              <a:off x="1829295" y="1640095"/>
              <a:ext cx="338766" cy="43108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1541" name="Text Box 12"/>
            <p:cNvSpPr txBox="1"/>
            <p:nvPr/>
          </p:nvSpPr>
          <p:spPr>
            <a:xfrm>
              <a:off x="609045" y="2097043"/>
              <a:ext cx="338766"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1542" name="Text Box 12"/>
            <p:cNvSpPr txBox="1"/>
            <p:nvPr/>
          </p:nvSpPr>
          <p:spPr>
            <a:xfrm>
              <a:off x="685095" y="3088532"/>
              <a:ext cx="338766" cy="4310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1543" name="Text Box 12"/>
            <p:cNvSpPr txBox="1"/>
            <p:nvPr/>
          </p:nvSpPr>
          <p:spPr>
            <a:xfrm>
              <a:off x="1829295" y="3469608"/>
              <a:ext cx="338766" cy="43108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grpSp>
      <p:sp>
        <p:nvSpPr>
          <p:cNvPr id="36" name="矩形 61"/>
          <p:cNvSpPr/>
          <p:nvPr/>
        </p:nvSpPr>
        <p:spPr>
          <a:xfrm>
            <a:off x="3657600" y="1828800"/>
            <a:ext cx="94138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 </a:t>
            </a:r>
            <a:endParaRPr lang="zh-TW" altLang="en-US" sz="1800" dirty="0"/>
          </a:p>
        </p:txBody>
      </p:sp>
      <p:sp>
        <p:nvSpPr>
          <p:cNvPr id="52" name="矩形 51"/>
          <p:cNvSpPr/>
          <p:nvPr/>
        </p:nvSpPr>
        <p:spPr>
          <a:xfrm>
            <a:off x="7467600" y="5638800"/>
            <a:ext cx="157638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olidFill>
                  <a:srgbClr val="000000"/>
                </a:solidFill>
              </a:rPr>
              <a:t>length=6</a:t>
            </a:r>
            <a:endParaRPr lang="zh-TW" altLang="en-US" sz="1800" dirty="0"/>
          </a:p>
        </p:txBody>
      </p:sp>
      <p:grpSp>
        <p:nvGrpSpPr>
          <p:cNvPr id="3" name="群組 95"/>
          <p:cNvGrpSpPr/>
          <p:nvPr/>
        </p:nvGrpSpPr>
        <p:grpSpPr>
          <a:xfrm>
            <a:off x="4495800" y="1752600"/>
            <a:ext cx="1433513" cy="701675"/>
            <a:chOff x="5105400" y="1676385"/>
            <a:chExt cx="1433261" cy="701750"/>
          </a:xfrm>
        </p:grpSpPr>
        <p:grpSp>
          <p:nvGrpSpPr>
            <p:cNvPr id="61513" name="群組 94"/>
            <p:cNvGrpSpPr/>
            <p:nvPr/>
          </p:nvGrpSpPr>
          <p:grpSpPr>
            <a:xfrm>
              <a:off x="5943586" y="1676385"/>
              <a:ext cx="595075" cy="701750"/>
              <a:chOff x="6095986" y="1600185"/>
              <a:chExt cx="595075" cy="701750"/>
            </a:xfrm>
          </p:grpSpPr>
          <p:sp>
            <p:nvSpPr>
              <p:cNvPr id="61515" name="AutoShape 11"/>
              <p:cNvSpPr/>
              <p:nvPr/>
            </p:nvSpPr>
            <p:spPr>
              <a:xfrm>
                <a:off x="6324600" y="1981200"/>
                <a:ext cx="147623" cy="132367"/>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16" name="Text Box 12"/>
              <p:cNvSpPr txBox="1"/>
              <p:nvPr/>
            </p:nvSpPr>
            <p:spPr>
              <a:xfrm>
                <a:off x="6095986" y="1905017"/>
                <a:ext cx="311026" cy="3969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1517" name="Text Box 12"/>
              <p:cNvSpPr txBox="1"/>
              <p:nvPr/>
            </p:nvSpPr>
            <p:spPr>
              <a:xfrm>
                <a:off x="6095986" y="1600185"/>
                <a:ext cx="595075" cy="39691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L</a:t>
                </a:r>
                <a:r>
                  <a:rPr lang="en-US" altLang="zh-TW" sz="2000" dirty="0">
                    <a:latin typeface="Times New Roman" panose="02020603050405020304" pitchFamily="18" charset="0"/>
                    <a:cs typeface="Times New Roman" panose="02020603050405020304" pitchFamily="18" charset="0"/>
                  </a:rPr>
                  <a:t>=0</a:t>
                </a:r>
                <a:endParaRPr lang="en-US" altLang="zh-TW" sz="2000" dirty="0">
                  <a:latin typeface="Times New Roman" panose="02020603050405020304" pitchFamily="18" charset="0"/>
                  <a:ea typeface="Times New Roman" panose="02020603050405020304" pitchFamily="18" charset="0"/>
                </a:endParaRPr>
              </a:p>
            </p:txBody>
          </p:sp>
        </p:grpSp>
        <p:sp>
          <p:nvSpPr>
            <p:cNvPr id="61514" name="矩形 55"/>
            <p:cNvSpPr/>
            <p:nvPr/>
          </p:nvSpPr>
          <p:spPr>
            <a:xfrm>
              <a:off x="5105400" y="1828800"/>
              <a:ext cx="625492"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olidFill>
                    <a:srgbClr val="000000"/>
                  </a:solidFill>
                </a:rPr>
                <a:t>(1)</a:t>
              </a:r>
              <a:endParaRPr lang="zh-TW" altLang="en-US" sz="1800" dirty="0"/>
            </a:p>
          </p:txBody>
        </p:sp>
      </p:grpSp>
      <p:grpSp>
        <p:nvGrpSpPr>
          <p:cNvPr id="6" name="群組 96"/>
          <p:cNvGrpSpPr/>
          <p:nvPr/>
        </p:nvGrpSpPr>
        <p:grpSpPr>
          <a:xfrm>
            <a:off x="6096000" y="1828800"/>
            <a:ext cx="1890713" cy="1138238"/>
            <a:chOff x="7086600" y="1752600"/>
            <a:chExt cx="1890623" cy="1138237"/>
          </a:xfrm>
        </p:grpSpPr>
        <p:sp>
          <p:nvSpPr>
            <p:cNvPr id="61504" name="矩形 56"/>
            <p:cNvSpPr/>
            <p:nvPr/>
          </p:nvSpPr>
          <p:spPr>
            <a:xfrm>
              <a:off x="7086600" y="1828800"/>
              <a:ext cx="625492"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olidFill>
                    <a:srgbClr val="000000"/>
                  </a:solidFill>
                </a:rPr>
                <a:t>(2)</a:t>
              </a:r>
              <a:endParaRPr lang="zh-TW" altLang="en-US" sz="1800" dirty="0"/>
            </a:p>
          </p:txBody>
        </p:sp>
        <p:grpSp>
          <p:nvGrpSpPr>
            <p:cNvPr id="61505" name="群組 63"/>
            <p:cNvGrpSpPr/>
            <p:nvPr/>
          </p:nvGrpSpPr>
          <p:grpSpPr>
            <a:xfrm>
              <a:off x="7543801" y="1752600"/>
              <a:ext cx="1433422" cy="1138237"/>
              <a:chOff x="6019800" y="2667000"/>
              <a:chExt cx="1649129" cy="1402522"/>
            </a:xfrm>
          </p:grpSpPr>
          <p:sp>
            <p:nvSpPr>
              <p:cNvPr id="61506" name="Line 25"/>
              <p:cNvSpPr/>
              <p:nvPr/>
            </p:nvSpPr>
            <p:spPr>
              <a:xfrm>
                <a:off x="6324600" y="2819400"/>
                <a:ext cx="762000" cy="762000"/>
              </a:xfrm>
              <a:prstGeom prst="line">
                <a:avLst/>
              </a:prstGeom>
              <a:ln w="25400" cap="flat" cmpd="sng">
                <a:solidFill>
                  <a:schemeClr val="tx1"/>
                </a:solidFill>
                <a:prstDash val="solid"/>
                <a:headEnd type="none" w="med" len="med"/>
                <a:tailEnd type="none" w="med" len="med"/>
              </a:ln>
            </p:spPr>
          </p:sp>
          <p:sp>
            <p:nvSpPr>
              <p:cNvPr id="61507" name="AutoShape 32"/>
              <p:cNvSpPr/>
              <p:nvPr/>
            </p:nvSpPr>
            <p:spPr>
              <a:xfrm>
                <a:off x="7010400" y="3505200"/>
                <a:ext cx="147623" cy="132367"/>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08" name="AutoShape 11"/>
              <p:cNvSpPr/>
              <p:nvPr/>
            </p:nvSpPr>
            <p:spPr>
              <a:xfrm>
                <a:off x="6248400" y="27432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509" name="Text Box 12"/>
              <p:cNvSpPr txBox="1"/>
              <p:nvPr/>
            </p:nvSpPr>
            <p:spPr>
              <a:xfrm>
                <a:off x="6934765" y="3580498"/>
                <a:ext cx="357950" cy="4890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1510" name="Text Box 12"/>
              <p:cNvSpPr txBox="1"/>
              <p:nvPr/>
            </p:nvSpPr>
            <p:spPr>
              <a:xfrm>
                <a:off x="6019800" y="2667000"/>
                <a:ext cx="357950" cy="4890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1511" name="Text Box 12"/>
              <p:cNvSpPr txBox="1"/>
              <p:nvPr/>
            </p:nvSpPr>
            <p:spPr>
              <a:xfrm>
                <a:off x="6401492" y="3124727"/>
                <a:ext cx="357950" cy="4890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1512" name="Text Box 12"/>
              <p:cNvSpPr txBox="1"/>
              <p:nvPr/>
            </p:nvSpPr>
            <p:spPr>
              <a:xfrm>
                <a:off x="6984075" y="2948678"/>
                <a:ext cx="684854" cy="48902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L</a:t>
                </a: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grpSp>
      </p:grpSp>
      <p:grpSp>
        <p:nvGrpSpPr>
          <p:cNvPr id="8" name="群組 94"/>
          <p:cNvGrpSpPr/>
          <p:nvPr/>
        </p:nvGrpSpPr>
        <p:grpSpPr>
          <a:xfrm>
            <a:off x="3886200" y="2647950"/>
            <a:ext cx="1716088" cy="2019300"/>
            <a:chOff x="3886200" y="2647890"/>
            <a:chExt cx="1716088" cy="2019363"/>
          </a:xfrm>
        </p:grpSpPr>
        <p:sp>
          <p:nvSpPr>
            <p:cNvPr id="61491" name="矩形 64"/>
            <p:cNvSpPr/>
            <p:nvPr/>
          </p:nvSpPr>
          <p:spPr>
            <a:xfrm>
              <a:off x="3886200" y="3200388"/>
              <a:ext cx="625492" cy="52320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olidFill>
                    <a:srgbClr val="000000"/>
                  </a:solidFill>
                </a:rPr>
                <a:t>(3)</a:t>
              </a:r>
              <a:endParaRPr lang="zh-TW" altLang="en-US" sz="1800" dirty="0"/>
            </a:p>
          </p:txBody>
        </p:sp>
        <p:grpSp>
          <p:nvGrpSpPr>
            <p:cNvPr id="61492" name="群組 75"/>
            <p:cNvGrpSpPr/>
            <p:nvPr/>
          </p:nvGrpSpPr>
          <p:grpSpPr>
            <a:xfrm>
              <a:off x="4495800" y="2647890"/>
              <a:ext cx="1106488" cy="2019363"/>
              <a:chOff x="5867402" y="3919706"/>
              <a:chExt cx="1272996" cy="2519051"/>
            </a:xfrm>
          </p:grpSpPr>
          <p:sp>
            <p:nvSpPr>
              <p:cNvPr id="61493" name="Line 25"/>
              <p:cNvSpPr/>
              <p:nvPr/>
            </p:nvSpPr>
            <p:spPr>
              <a:xfrm flipH="1">
                <a:off x="6172200" y="4419600"/>
                <a:ext cx="685801" cy="761999"/>
              </a:xfrm>
              <a:prstGeom prst="line">
                <a:avLst/>
              </a:prstGeom>
              <a:ln w="25400" cap="flat" cmpd="sng">
                <a:solidFill>
                  <a:schemeClr val="tx1"/>
                </a:solidFill>
                <a:prstDash val="solid"/>
                <a:headEnd type="none" w="med" len="med"/>
                <a:tailEnd type="none" w="med" len="med"/>
              </a:ln>
            </p:spPr>
          </p:sp>
          <p:sp>
            <p:nvSpPr>
              <p:cNvPr id="61494" name="Text Box 12"/>
              <p:cNvSpPr txBox="1"/>
              <p:nvPr/>
            </p:nvSpPr>
            <p:spPr>
              <a:xfrm>
                <a:off x="6568737" y="4038529"/>
                <a:ext cx="357973" cy="4950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1495" name="AutoShape 32"/>
              <p:cNvSpPr/>
              <p:nvPr/>
            </p:nvSpPr>
            <p:spPr>
              <a:xfrm>
                <a:off x="6858002" y="58674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96" name="AutoShape 33"/>
              <p:cNvSpPr/>
              <p:nvPr/>
            </p:nvSpPr>
            <p:spPr>
              <a:xfrm>
                <a:off x="6790227" y="4320524"/>
                <a:ext cx="147623" cy="132367"/>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97" name="AutoShape 11"/>
              <p:cNvSpPr/>
              <p:nvPr/>
            </p:nvSpPr>
            <p:spPr>
              <a:xfrm>
                <a:off x="6096002" y="51054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98" name="Text Box 12"/>
              <p:cNvSpPr txBox="1"/>
              <p:nvPr/>
            </p:nvSpPr>
            <p:spPr>
              <a:xfrm>
                <a:off x="6782425" y="5943660"/>
                <a:ext cx="357973" cy="4950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1499" name="Text Box 12"/>
              <p:cNvSpPr txBox="1"/>
              <p:nvPr/>
            </p:nvSpPr>
            <p:spPr>
              <a:xfrm>
                <a:off x="5867402" y="5028722"/>
                <a:ext cx="357973" cy="4950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1500" name="Line 25"/>
              <p:cNvSpPr/>
              <p:nvPr/>
            </p:nvSpPr>
            <p:spPr>
              <a:xfrm>
                <a:off x="6172202" y="5181600"/>
                <a:ext cx="762000" cy="762000"/>
              </a:xfrm>
              <a:prstGeom prst="line">
                <a:avLst/>
              </a:prstGeom>
              <a:ln w="25400" cap="flat" cmpd="sng">
                <a:solidFill>
                  <a:schemeClr val="tx1"/>
                </a:solidFill>
                <a:prstDash val="solid"/>
                <a:headEnd type="none" w="med" len="med"/>
                <a:tailEnd type="none" w="med" len="med"/>
              </a:ln>
            </p:spPr>
          </p:sp>
          <p:sp>
            <p:nvSpPr>
              <p:cNvPr id="61501" name="Text Box 12"/>
              <p:cNvSpPr txBox="1"/>
              <p:nvPr/>
            </p:nvSpPr>
            <p:spPr>
              <a:xfrm>
                <a:off x="6172410" y="4495998"/>
                <a:ext cx="357973" cy="4950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1502" name="Text Box 12"/>
              <p:cNvSpPr txBox="1"/>
              <p:nvPr/>
            </p:nvSpPr>
            <p:spPr>
              <a:xfrm>
                <a:off x="6249118" y="5486191"/>
                <a:ext cx="357973" cy="4950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1503" name="Text Box 12"/>
              <p:cNvSpPr txBox="1"/>
              <p:nvPr/>
            </p:nvSpPr>
            <p:spPr>
              <a:xfrm>
                <a:off x="6042736" y="3919706"/>
                <a:ext cx="684897" cy="4950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L</a:t>
                </a: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grpSp>
      </p:grpSp>
      <p:grpSp>
        <p:nvGrpSpPr>
          <p:cNvPr id="10" name="群組 98"/>
          <p:cNvGrpSpPr/>
          <p:nvPr/>
        </p:nvGrpSpPr>
        <p:grpSpPr>
          <a:xfrm>
            <a:off x="6019800" y="2971800"/>
            <a:ext cx="2805113" cy="1874838"/>
            <a:chOff x="6019800" y="2971800"/>
            <a:chExt cx="2805020" cy="1874822"/>
          </a:xfrm>
        </p:grpSpPr>
        <p:sp>
          <p:nvSpPr>
            <p:cNvPr id="61474" name="矩形 76"/>
            <p:cNvSpPr/>
            <p:nvPr/>
          </p:nvSpPr>
          <p:spPr>
            <a:xfrm>
              <a:off x="6019800" y="3429000"/>
              <a:ext cx="625492"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olidFill>
                    <a:srgbClr val="000000"/>
                  </a:solidFill>
                </a:rPr>
                <a:t>(4)</a:t>
              </a:r>
              <a:endParaRPr lang="zh-TW" altLang="en-US" sz="1800" dirty="0"/>
            </a:p>
          </p:txBody>
        </p:sp>
        <p:grpSp>
          <p:nvGrpSpPr>
            <p:cNvPr id="61475" name="群組 92"/>
            <p:cNvGrpSpPr/>
            <p:nvPr/>
          </p:nvGrpSpPr>
          <p:grpSpPr>
            <a:xfrm>
              <a:off x="6553200" y="2971800"/>
              <a:ext cx="2271620" cy="1874822"/>
              <a:chOff x="6324600" y="3370200"/>
              <a:chExt cx="2832827" cy="2415546"/>
            </a:xfrm>
          </p:grpSpPr>
          <p:sp>
            <p:nvSpPr>
              <p:cNvPr id="61476" name="Text Box 12"/>
              <p:cNvSpPr txBox="1"/>
              <p:nvPr/>
            </p:nvSpPr>
            <p:spPr>
              <a:xfrm>
                <a:off x="6989750" y="3370200"/>
                <a:ext cx="388004" cy="5113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1477" name="AutoShape 32"/>
              <p:cNvSpPr/>
              <p:nvPr/>
            </p:nvSpPr>
            <p:spPr>
              <a:xfrm>
                <a:off x="7315200" y="51990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78" name="AutoShape 33"/>
              <p:cNvSpPr/>
              <p:nvPr/>
            </p:nvSpPr>
            <p:spPr>
              <a:xfrm>
                <a:off x="7247425" y="3652124"/>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79" name="Line 23"/>
              <p:cNvSpPr/>
              <p:nvPr/>
            </p:nvSpPr>
            <p:spPr>
              <a:xfrm flipV="1">
                <a:off x="7391400" y="5257800"/>
                <a:ext cx="1368000" cy="0"/>
              </a:xfrm>
              <a:prstGeom prst="line">
                <a:avLst/>
              </a:prstGeom>
              <a:ln w="25400" cap="flat" cmpd="sng">
                <a:solidFill>
                  <a:schemeClr val="tx1"/>
                </a:solidFill>
                <a:prstDash val="solid"/>
                <a:headEnd type="none" w="med" len="med"/>
                <a:tailEnd type="none" w="med" len="med"/>
              </a:ln>
            </p:spPr>
          </p:sp>
          <p:sp>
            <p:nvSpPr>
              <p:cNvPr id="61480" name="Text Box 12"/>
              <p:cNvSpPr txBox="1"/>
              <p:nvPr/>
            </p:nvSpPr>
            <p:spPr>
              <a:xfrm>
                <a:off x="8686279" y="5274411"/>
                <a:ext cx="370187" cy="5113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1481" name="AutoShape 11"/>
              <p:cNvSpPr/>
              <p:nvPr/>
            </p:nvSpPr>
            <p:spPr>
              <a:xfrm>
                <a:off x="6553200" y="44370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82" name="Text Box 12"/>
              <p:cNvSpPr txBox="1"/>
              <p:nvPr/>
            </p:nvSpPr>
            <p:spPr>
              <a:xfrm>
                <a:off x="7239181" y="5274411"/>
                <a:ext cx="388005" cy="5113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1483" name="Text Box 12"/>
              <p:cNvSpPr txBox="1"/>
              <p:nvPr/>
            </p:nvSpPr>
            <p:spPr>
              <a:xfrm>
                <a:off x="6324600" y="4360144"/>
                <a:ext cx="388004" cy="5113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1484" name="Line 25"/>
              <p:cNvSpPr/>
              <p:nvPr/>
            </p:nvSpPr>
            <p:spPr>
              <a:xfrm>
                <a:off x="6629400" y="4513200"/>
                <a:ext cx="762000" cy="762000"/>
              </a:xfrm>
              <a:prstGeom prst="line">
                <a:avLst/>
              </a:prstGeom>
              <a:ln w="25400" cap="flat" cmpd="sng">
                <a:solidFill>
                  <a:schemeClr val="tx1"/>
                </a:solidFill>
                <a:prstDash val="solid"/>
                <a:headEnd type="none" w="med" len="med"/>
                <a:tailEnd type="none" w="med" len="med"/>
              </a:ln>
            </p:spPr>
          </p:sp>
          <p:sp>
            <p:nvSpPr>
              <p:cNvPr id="61485" name="Line 25"/>
              <p:cNvSpPr/>
              <p:nvPr/>
            </p:nvSpPr>
            <p:spPr>
              <a:xfrm flipH="1">
                <a:off x="6629398" y="3751200"/>
                <a:ext cx="685801" cy="761999"/>
              </a:xfrm>
              <a:prstGeom prst="line">
                <a:avLst/>
              </a:prstGeom>
              <a:ln w="25400" cap="flat" cmpd="sng">
                <a:solidFill>
                  <a:schemeClr val="tx1"/>
                </a:solidFill>
                <a:prstDash val="solid"/>
                <a:headEnd type="none" w="med" len="med"/>
                <a:tailEnd type="none" w="med" len="med"/>
              </a:ln>
            </p:spPr>
          </p:sp>
          <p:sp>
            <p:nvSpPr>
              <p:cNvPr id="61486" name="AutoShape 30"/>
              <p:cNvSpPr/>
              <p:nvPr/>
            </p:nvSpPr>
            <p:spPr>
              <a:xfrm>
                <a:off x="8686800" y="5199000"/>
                <a:ext cx="147623" cy="132367"/>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87" name="Text Box 12"/>
              <p:cNvSpPr txBox="1"/>
              <p:nvPr/>
            </p:nvSpPr>
            <p:spPr>
              <a:xfrm>
                <a:off x="6629460" y="3828356"/>
                <a:ext cx="388005" cy="5113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1488" name="Text Box 12"/>
              <p:cNvSpPr txBox="1"/>
              <p:nvPr/>
            </p:nvSpPr>
            <p:spPr>
              <a:xfrm>
                <a:off x="6704686" y="4818300"/>
                <a:ext cx="388004" cy="5113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1489" name="Text Box 12"/>
              <p:cNvSpPr txBox="1"/>
              <p:nvPr/>
            </p:nvSpPr>
            <p:spPr>
              <a:xfrm>
                <a:off x="7848902" y="5198734"/>
                <a:ext cx="388004" cy="51133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1490" name="Text Box 12"/>
              <p:cNvSpPr txBox="1"/>
              <p:nvPr/>
            </p:nvSpPr>
            <p:spPr>
              <a:xfrm>
                <a:off x="8415072" y="4744668"/>
                <a:ext cx="742355" cy="5113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L</a:t>
                </a: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grpSp>
      </p:grpSp>
      <p:grpSp>
        <p:nvGrpSpPr>
          <p:cNvPr id="12" name="群組 103"/>
          <p:cNvGrpSpPr/>
          <p:nvPr/>
        </p:nvGrpSpPr>
        <p:grpSpPr>
          <a:xfrm>
            <a:off x="3810000" y="4953000"/>
            <a:ext cx="3621088" cy="1774825"/>
            <a:chOff x="3810000" y="4953000"/>
            <a:chExt cx="3620997" cy="1774827"/>
          </a:xfrm>
        </p:grpSpPr>
        <p:grpSp>
          <p:nvGrpSpPr>
            <p:cNvPr id="61453" name="群組 50"/>
            <p:cNvGrpSpPr/>
            <p:nvPr/>
          </p:nvGrpSpPr>
          <p:grpSpPr>
            <a:xfrm>
              <a:off x="4381330" y="5257801"/>
              <a:ext cx="3049667" cy="1470026"/>
              <a:chOff x="640928" y="3005441"/>
              <a:chExt cx="3575752" cy="1855654"/>
            </a:xfrm>
          </p:grpSpPr>
          <p:sp>
            <p:nvSpPr>
              <p:cNvPr id="61457" name="Line 25"/>
              <p:cNvSpPr/>
              <p:nvPr/>
            </p:nvSpPr>
            <p:spPr>
              <a:xfrm>
                <a:off x="990600" y="3598800"/>
                <a:ext cx="762000" cy="762000"/>
              </a:xfrm>
              <a:prstGeom prst="line">
                <a:avLst/>
              </a:prstGeom>
              <a:ln w="25400" cap="flat" cmpd="sng">
                <a:solidFill>
                  <a:schemeClr val="tx1"/>
                </a:solidFill>
                <a:prstDash val="solid"/>
                <a:headEnd type="none" w="med" len="med"/>
                <a:tailEnd type="none" w="med" len="med"/>
              </a:ln>
            </p:spPr>
          </p:sp>
          <p:sp>
            <p:nvSpPr>
              <p:cNvPr id="61458" name="Line 34"/>
              <p:cNvSpPr/>
              <p:nvPr/>
            </p:nvSpPr>
            <p:spPr>
              <a:xfrm flipV="1">
                <a:off x="3124200" y="3522600"/>
                <a:ext cx="685800" cy="838200"/>
              </a:xfrm>
              <a:prstGeom prst="line">
                <a:avLst/>
              </a:prstGeom>
              <a:ln w="25400" cap="flat" cmpd="sng">
                <a:solidFill>
                  <a:schemeClr val="tx1"/>
                </a:solidFill>
                <a:prstDash val="solid"/>
                <a:headEnd type="none" w="med" len="med"/>
                <a:tailEnd type="none" w="med" len="med"/>
              </a:ln>
            </p:spPr>
          </p:sp>
          <p:sp>
            <p:nvSpPr>
              <p:cNvPr id="61459" name="AutoShape 30"/>
              <p:cNvSpPr/>
              <p:nvPr/>
            </p:nvSpPr>
            <p:spPr>
              <a:xfrm>
                <a:off x="3733800" y="3446400"/>
                <a:ext cx="147623" cy="132367"/>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60" name="AutoShape 32"/>
              <p:cNvSpPr/>
              <p:nvPr/>
            </p:nvSpPr>
            <p:spPr>
              <a:xfrm>
                <a:off x="1676400" y="42846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61" name="Line 23"/>
              <p:cNvSpPr/>
              <p:nvPr/>
            </p:nvSpPr>
            <p:spPr>
              <a:xfrm flipV="1">
                <a:off x="1752600" y="4343400"/>
                <a:ext cx="1368000" cy="0"/>
              </a:xfrm>
              <a:prstGeom prst="line">
                <a:avLst/>
              </a:prstGeom>
              <a:ln w="25400" cap="flat" cmpd="sng">
                <a:solidFill>
                  <a:schemeClr val="tx1"/>
                </a:solidFill>
                <a:prstDash val="solid"/>
                <a:headEnd type="none" w="med" len="med"/>
                <a:tailEnd type="none" w="med" len="med"/>
              </a:ln>
            </p:spPr>
          </p:sp>
          <p:sp>
            <p:nvSpPr>
              <p:cNvPr id="61462" name="Text Box 12"/>
              <p:cNvSpPr txBox="1"/>
              <p:nvPr/>
            </p:nvSpPr>
            <p:spPr>
              <a:xfrm>
                <a:off x="3047720" y="4360109"/>
                <a:ext cx="348082" cy="5009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1463" name="AutoShape 11"/>
              <p:cNvSpPr/>
              <p:nvPr/>
            </p:nvSpPr>
            <p:spPr>
              <a:xfrm>
                <a:off x="914400" y="35226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64" name="Text Box 12"/>
              <p:cNvSpPr txBox="1"/>
              <p:nvPr/>
            </p:nvSpPr>
            <p:spPr>
              <a:xfrm>
                <a:off x="1599550" y="4360108"/>
                <a:ext cx="364834" cy="500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1465" name="Text Box 12"/>
              <p:cNvSpPr txBox="1"/>
              <p:nvPr/>
            </p:nvSpPr>
            <p:spPr>
              <a:xfrm>
                <a:off x="640928" y="3294009"/>
                <a:ext cx="364835" cy="500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1466" name="AutoShape 30"/>
              <p:cNvSpPr/>
              <p:nvPr/>
            </p:nvSpPr>
            <p:spPr>
              <a:xfrm>
                <a:off x="3048000" y="42846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1467" name="Text Box 12"/>
              <p:cNvSpPr txBox="1"/>
              <p:nvPr/>
            </p:nvSpPr>
            <p:spPr>
              <a:xfrm>
                <a:off x="3885350" y="3294009"/>
                <a:ext cx="331330" cy="500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1468" name="Text Box 12"/>
              <p:cNvSpPr txBox="1"/>
              <p:nvPr/>
            </p:nvSpPr>
            <p:spPr>
              <a:xfrm>
                <a:off x="3429307" y="3827059"/>
                <a:ext cx="364835" cy="5009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1469" name="Text Box 12"/>
              <p:cNvSpPr txBox="1"/>
              <p:nvPr/>
            </p:nvSpPr>
            <p:spPr>
              <a:xfrm>
                <a:off x="1067189" y="3903209"/>
                <a:ext cx="364835" cy="5009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1470" name="Text Box 12"/>
              <p:cNvSpPr txBox="1"/>
              <p:nvPr/>
            </p:nvSpPr>
            <p:spPr>
              <a:xfrm>
                <a:off x="2210089" y="4283959"/>
                <a:ext cx="364835" cy="5009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1471" name="Line 25"/>
              <p:cNvSpPr/>
              <p:nvPr/>
            </p:nvSpPr>
            <p:spPr>
              <a:xfrm flipV="1">
                <a:off x="1043180" y="3005443"/>
                <a:ext cx="714759" cy="577136"/>
              </a:xfrm>
              <a:prstGeom prst="line">
                <a:avLst/>
              </a:prstGeom>
              <a:ln w="25400" cap="flat" cmpd="sng">
                <a:solidFill>
                  <a:schemeClr val="tx1"/>
                </a:solidFill>
                <a:prstDash val="solid"/>
                <a:headEnd type="none" w="med" len="med"/>
                <a:tailEnd type="none" w="med" len="med"/>
              </a:ln>
            </p:spPr>
          </p:sp>
          <p:sp>
            <p:nvSpPr>
              <p:cNvPr id="61472" name="Text Box 12"/>
              <p:cNvSpPr txBox="1"/>
              <p:nvPr/>
            </p:nvSpPr>
            <p:spPr>
              <a:xfrm>
                <a:off x="1042991" y="3005441"/>
                <a:ext cx="364834" cy="500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1473" name="Text Box 12"/>
              <p:cNvSpPr txBox="1"/>
              <p:nvPr/>
            </p:nvSpPr>
            <p:spPr>
              <a:xfrm>
                <a:off x="3455367" y="3005441"/>
                <a:ext cx="698025" cy="500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L</a:t>
                </a: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grpSp>
        <p:sp>
          <p:nvSpPr>
            <p:cNvPr id="61454" name="矩形 93"/>
            <p:cNvSpPr/>
            <p:nvPr/>
          </p:nvSpPr>
          <p:spPr>
            <a:xfrm>
              <a:off x="3810000" y="5257800"/>
              <a:ext cx="625492" cy="52320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dirty="0">
                  <a:solidFill>
                    <a:srgbClr val="000000"/>
                  </a:solidFill>
                </a:rPr>
                <a:t>(5)</a:t>
              </a:r>
              <a:endParaRPr lang="zh-TW" altLang="en-US" sz="1800" dirty="0"/>
            </a:p>
          </p:txBody>
        </p:sp>
        <p:sp>
          <p:nvSpPr>
            <p:cNvPr id="61455" name="Text Box 12"/>
            <p:cNvSpPr txBox="1"/>
            <p:nvPr/>
          </p:nvSpPr>
          <p:spPr>
            <a:xfrm>
              <a:off x="5029170" y="4953000"/>
              <a:ext cx="311142"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1456" name="AutoShape 11"/>
            <p:cNvSpPr/>
            <p:nvPr/>
          </p:nvSpPr>
          <p:spPr>
            <a:xfrm>
              <a:off x="5284296" y="5181600"/>
              <a:ext cx="125904" cy="104859"/>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2"/>
                                        </p:tgtEl>
                                        <p:attrNameLst>
                                          <p:attrName>style.visibility</p:attrName>
                                        </p:attrNameLst>
                                      </p:cBhvr>
                                      <p:to>
                                        <p:strVal val="visible"/>
                                      </p:to>
                                    </p:set>
                                    <p:anim calcmode="lin" valueType="num">
                                      <p:cBhvr additive="base">
                                        <p:cTn id="43" dur="500" fill="hold"/>
                                        <p:tgtEl>
                                          <p:spTgt spid="52"/>
                                        </p:tgtEl>
                                        <p:attrNameLst>
                                          <p:attrName>ppt_x</p:attrName>
                                        </p:attrNameLst>
                                      </p:cBhvr>
                                      <p:tavLst>
                                        <p:tav tm="0">
                                          <p:val>
                                            <p:strVal val="#ppt_x"/>
                                          </p:val>
                                        </p:tav>
                                        <p:tav tm="100000">
                                          <p:val>
                                            <p:strVal val="#ppt_x"/>
                                          </p:val>
                                        </p:tav>
                                      </p:tavLst>
                                    </p:anim>
                                    <p:anim calcmode="lin" valueType="num">
                                      <p:cBhvr additive="base">
                                        <p:cTn id="44"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5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內容版面配置區 5"/>
          <p:cNvSpPr>
            <a:spLocks noGrp="1"/>
          </p:cNvSpPr>
          <p:nvPr>
            <p:ph idx="1"/>
          </p:nvPr>
        </p:nvSpPr>
        <p:spPr>
          <a:xfrm>
            <a:off x="228600" y="990600"/>
            <a:ext cx="8915400" cy="5715000"/>
          </a:xfrm>
          <a:ln>
            <a:solidFill>
              <a:srgbClr val="000000">
                <a:alpha val="100000"/>
              </a:srgbClr>
            </a:solidFill>
            <a:miter lim="800000"/>
          </a:ln>
        </p:spPr>
        <p:txBody>
          <a:bodyPr vert="horz" wrap="square" lIns="91440" tIns="45720" rIns="91440" bIns="45720" anchor="t"/>
          <a:p>
            <a:pPr>
              <a:buNone/>
            </a:pPr>
            <a:r>
              <a:rPr lang="en-US" altLang="zh-TW" sz="2100" b="1" dirty="0">
                <a:latin typeface="Times New Roman" panose="02020603050405020304" pitchFamily="18" charset="0"/>
                <a:cs typeface="Times New Roman" panose="02020603050405020304" pitchFamily="18" charset="0"/>
              </a:rPr>
              <a:t>Procedure</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Dijkstra</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G</a:t>
            </a:r>
            <a:r>
              <a:rPr lang="en-US" altLang="zh-TW" sz="2100" dirty="0">
                <a:latin typeface="Times New Roman" panose="02020603050405020304" pitchFamily="18" charset="0"/>
                <a:cs typeface="Times New Roman" panose="02020603050405020304" pitchFamily="18" charset="0"/>
              </a:rPr>
              <a:t>: weighted connected simple graph, with all weights positive)</a:t>
            </a:r>
            <a:endParaRPr lang="en-US" altLang="zh-TW" sz="2100" dirty="0">
              <a:latin typeface="Times New Roman" panose="02020603050405020304" pitchFamily="18" charset="0"/>
              <a:cs typeface="Times New Roman" panose="02020603050405020304" pitchFamily="18" charset="0"/>
            </a:endParaRPr>
          </a:p>
          <a:p>
            <a:pPr>
              <a:buNone/>
            </a:pP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G</a:t>
            </a:r>
            <a:r>
              <a:rPr lang="en-US" altLang="zh-TW" sz="2100" dirty="0">
                <a:latin typeface="Times New Roman" panose="02020603050405020304" pitchFamily="18" charset="0"/>
                <a:cs typeface="Times New Roman" panose="02020603050405020304" pitchFamily="18" charset="0"/>
              </a:rPr>
              <a:t> has vertices </a:t>
            </a:r>
            <a:r>
              <a:rPr lang="en-US" altLang="zh-TW" sz="2100" i="1" dirty="0">
                <a:latin typeface="Times New Roman" panose="02020603050405020304" pitchFamily="18" charset="0"/>
                <a:cs typeface="Times New Roman" panose="02020603050405020304" pitchFamily="18" charset="0"/>
              </a:rPr>
              <a:t>a </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baseline="-25000" dirty="0">
                <a:latin typeface="Times New Roman" panose="02020603050405020304" pitchFamily="18" charset="0"/>
                <a:cs typeface="Times New Roman" panose="02020603050405020304" pitchFamily="18" charset="0"/>
              </a:rPr>
              <a:t>0</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baseline="-25000" dirty="0">
                <a:latin typeface="Times New Roman" panose="02020603050405020304" pitchFamily="18" charset="0"/>
                <a:cs typeface="Times New Roman" panose="02020603050405020304" pitchFamily="18" charset="0"/>
              </a:rPr>
              <a:t>1</a:t>
            </a:r>
            <a:r>
              <a:rPr lang="en-US" altLang="zh-TW" sz="2100" dirty="0">
                <a:latin typeface="Times New Roman" panose="02020603050405020304" pitchFamily="18" charset="0"/>
                <a:cs typeface="Times New Roman" panose="02020603050405020304" pitchFamily="18" charset="0"/>
              </a:rPr>
              <a:t>, </a:t>
            </a:r>
            <a:r>
              <a:rPr lang="en-US" altLang="zh-TW" sz="2100" dirty="0">
                <a:latin typeface="Times New Roman" panose="02020603050405020304" pitchFamily="18" charset="0"/>
                <a:ea typeface="Times New Roman" panose="02020603050405020304" pitchFamily="18" charset="0"/>
              </a:rPr>
              <a:t>…</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n </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z</a:t>
            </a:r>
            <a:r>
              <a:rPr lang="en-US" altLang="zh-TW" sz="2100" dirty="0">
                <a:latin typeface="Times New Roman" panose="02020603050405020304" pitchFamily="18" charset="0"/>
                <a:cs typeface="Times New Roman" panose="02020603050405020304" pitchFamily="18" charset="0"/>
              </a:rPr>
              <a:t> and weights </a:t>
            </a:r>
            <a:r>
              <a:rPr lang="en-US" altLang="zh-TW" sz="2100" i="1" dirty="0">
                <a:latin typeface="Times New Roman" panose="02020603050405020304" pitchFamily="18" charset="0"/>
                <a:cs typeface="Times New Roman" panose="02020603050405020304" pitchFamily="18" charset="0"/>
              </a:rPr>
              <a:t>w</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a:t>
            </a:r>
            <a:br>
              <a:rPr lang="en-US" altLang="zh-TW" sz="2100" dirty="0">
                <a:latin typeface="Times New Roman" panose="02020603050405020304" pitchFamily="18" charset="0"/>
                <a:cs typeface="Times New Roman" panose="02020603050405020304" pitchFamily="18" charset="0"/>
              </a:rPr>
            </a:br>
            <a:r>
              <a:rPr lang="en-US" altLang="zh-TW" sz="2100" dirty="0">
                <a:latin typeface="Times New Roman" panose="02020603050405020304" pitchFamily="18" charset="0"/>
                <a:cs typeface="Times New Roman" panose="02020603050405020304" pitchFamily="18" charset="0"/>
              </a:rPr>
              <a:t> where </a:t>
            </a:r>
            <a:r>
              <a:rPr lang="en-US" altLang="zh-TW" sz="2100" i="1" dirty="0">
                <a:latin typeface="Times New Roman" panose="02020603050405020304" pitchFamily="18" charset="0"/>
                <a:cs typeface="Times New Roman" panose="02020603050405020304" pitchFamily="18" charset="0"/>
              </a:rPr>
              <a:t>w</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 </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if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is not an edge in </a:t>
            </a:r>
            <a:r>
              <a:rPr lang="en-US" altLang="zh-TW" sz="2100" i="1" dirty="0">
                <a:latin typeface="Times New Roman" panose="02020603050405020304" pitchFamily="18" charset="0"/>
                <a:cs typeface="Times New Roman" panose="02020603050405020304" pitchFamily="18" charset="0"/>
              </a:rPr>
              <a:t>G</a:t>
            </a:r>
            <a:r>
              <a:rPr lang="en-US" altLang="zh-TW" sz="2100" dirty="0">
                <a:latin typeface="Times New Roman" panose="02020603050405020304" pitchFamily="18" charset="0"/>
                <a:cs typeface="Times New Roman" panose="02020603050405020304" pitchFamily="18" charset="0"/>
              </a:rPr>
              <a:t>}</a:t>
            </a:r>
            <a:endParaRPr lang="en-US" altLang="zh-TW" sz="2100" dirty="0">
              <a:latin typeface="Times New Roman" panose="02020603050405020304" pitchFamily="18" charset="0"/>
              <a:cs typeface="Times New Roman" panose="02020603050405020304" pitchFamily="18" charset="0"/>
            </a:endParaRPr>
          </a:p>
          <a:p>
            <a:pPr>
              <a:buNone/>
            </a:pPr>
            <a:r>
              <a:rPr lang="en-US" altLang="zh-TW" sz="2100" b="1" dirty="0">
                <a:latin typeface="Times New Roman" panose="02020603050405020304" pitchFamily="18" charset="0"/>
                <a:cs typeface="Times New Roman" panose="02020603050405020304" pitchFamily="18" charset="0"/>
              </a:rPr>
              <a:t>for</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i </a:t>
            </a:r>
            <a:r>
              <a:rPr lang="en-US" altLang="zh-TW" sz="2100" dirty="0">
                <a:latin typeface="Times New Roman" panose="02020603050405020304" pitchFamily="18" charset="0"/>
                <a:cs typeface="Times New Roman" panose="02020603050405020304" pitchFamily="18" charset="0"/>
              </a:rPr>
              <a:t>:= 1 </a:t>
            </a:r>
            <a:r>
              <a:rPr lang="en-US" altLang="zh-TW" sz="2100" b="1" dirty="0">
                <a:latin typeface="Times New Roman" panose="02020603050405020304" pitchFamily="18" charset="0"/>
                <a:cs typeface="Times New Roman" panose="02020603050405020304" pitchFamily="18" charset="0"/>
              </a:rPr>
              <a:t>to</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n</a:t>
            </a:r>
            <a:br>
              <a:rPr lang="en-US" altLang="zh-TW" sz="2100" dirty="0">
                <a:latin typeface="Times New Roman" panose="02020603050405020304" pitchFamily="18" charset="0"/>
                <a:cs typeface="Times New Roman" panose="02020603050405020304" pitchFamily="18" charset="0"/>
              </a:rPr>
            </a:br>
            <a:r>
              <a:rPr lang="en-US" altLang="zh-TW" sz="2100" i="1" dirty="0">
                <a:latin typeface="Times New Roman" panose="02020603050405020304" pitchFamily="18" charset="0"/>
                <a:cs typeface="Times New Roman" panose="02020603050405020304" pitchFamily="18" charset="0"/>
              </a:rPr>
              <a:t>L</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 </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TW" sz="2100"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100" i="1" dirty="0">
                <a:latin typeface="Times New Roman" panose="02020603050405020304" pitchFamily="18" charset="0"/>
                <a:cs typeface="Times New Roman" panose="02020603050405020304" pitchFamily="18" charset="0"/>
              </a:rPr>
              <a:t>L</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a</a:t>
            </a:r>
            <a:r>
              <a:rPr lang="en-US" altLang="zh-TW" sz="2100" dirty="0">
                <a:latin typeface="Times New Roman" panose="02020603050405020304" pitchFamily="18" charset="0"/>
                <a:cs typeface="Times New Roman" panose="02020603050405020304" pitchFamily="18" charset="0"/>
              </a:rPr>
              <a:t>) := </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0</a:t>
            </a:r>
            <a:endParaRPr lang="en-US" altLang="zh-TW" sz="2100"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 </a:t>
            </a:r>
            <a:endParaRPr lang="en-US" altLang="zh-TW" sz="2100"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100" b="1" dirty="0">
                <a:latin typeface="Times New Roman" panose="02020603050405020304" pitchFamily="18" charset="0"/>
                <a:cs typeface="Times New Roman" panose="02020603050405020304" pitchFamily="18" charset="0"/>
                <a:sym typeface="Symbol" panose="05050102010706020507" pitchFamily="18" charset="2"/>
              </a:rPr>
              <a:t>while</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z</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S</a:t>
            </a:r>
            <a:endParaRPr lang="en-US" altLang="zh-TW" sz="2100" i="1"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100" b="1" dirty="0">
                <a:latin typeface="Times New Roman" panose="02020603050405020304" pitchFamily="18" charset="0"/>
                <a:cs typeface="Times New Roman" panose="02020603050405020304" pitchFamily="18" charset="0"/>
                <a:sym typeface="Symbol" panose="05050102010706020507" pitchFamily="18" charset="2"/>
              </a:rPr>
              <a:t>begin</a:t>
            </a:r>
            <a:endParaRPr lang="en-US" altLang="zh-TW" sz="2100" b="1"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u</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 a vertex not in </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with </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L</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u</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minimal</a:t>
            </a:r>
            <a:endParaRPr lang="en-US" altLang="zh-TW" sz="2100"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100" dirty="0">
                <a:latin typeface="PMingLiU" pitchFamily="18" charset="-120"/>
                <a:cs typeface="Times New Roman" panose="02020603050405020304" pitchFamily="18" charset="0"/>
                <a:sym typeface="Symbol" panose="05050102010706020507" pitchFamily="18" charset="2"/>
              </a:rPr>
              <a:t>∪</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100" i="1" dirty="0">
                <a:latin typeface="Times New Roman" panose="02020603050405020304" pitchFamily="18" charset="0"/>
                <a:cs typeface="Times New Roman" panose="02020603050405020304" pitchFamily="18" charset="0"/>
                <a:sym typeface="Symbol" panose="05050102010706020507" pitchFamily="18" charset="2"/>
              </a:rPr>
              <a:t>u</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TW" sz="2100"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100" dirty="0">
                <a:latin typeface="Times New Roman" panose="02020603050405020304" pitchFamily="18" charset="0"/>
                <a:cs typeface="Times New Roman" panose="02020603050405020304" pitchFamily="18" charset="0"/>
              </a:rPr>
              <a:t>       </a:t>
            </a:r>
            <a:r>
              <a:rPr lang="en-US" altLang="zh-TW" sz="2100" b="1" dirty="0">
                <a:latin typeface="Times New Roman" panose="02020603050405020304" pitchFamily="18" charset="0"/>
                <a:cs typeface="Times New Roman" panose="02020603050405020304" pitchFamily="18" charset="0"/>
              </a:rPr>
              <a:t>for</a:t>
            </a:r>
            <a:r>
              <a:rPr lang="en-US" altLang="zh-TW" sz="2100" dirty="0">
                <a:latin typeface="Times New Roman" panose="02020603050405020304" pitchFamily="18" charset="0"/>
                <a:cs typeface="Times New Roman" panose="02020603050405020304" pitchFamily="18" charset="0"/>
              </a:rPr>
              <a:t> all vertices </a:t>
            </a:r>
            <a:r>
              <a:rPr lang="en-US" altLang="zh-TW" sz="2100" i="1" dirty="0">
                <a:latin typeface="Times New Roman" panose="02020603050405020304" pitchFamily="18" charset="0"/>
                <a:cs typeface="Times New Roman" panose="02020603050405020304" pitchFamily="18" charset="0"/>
              </a:rPr>
              <a:t>v</a:t>
            </a:r>
            <a:r>
              <a:rPr lang="en-US" altLang="zh-TW" sz="2100" dirty="0">
                <a:latin typeface="Times New Roman" panose="02020603050405020304" pitchFamily="18" charset="0"/>
                <a:cs typeface="Times New Roman" panose="02020603050405020304" pitchFamily="18" charset="0"/>
              </a:rPr>
              <a:t> not in S</a:t>
            </a:r>
            <a:endParaRPr lang="en-US" altLang="zh-TW" sz="2100" dirty="0">
              <a:latin typeface="Times New Roman" panose="02020603050405020304" pitchFamily="18" charset="0"/>
              <a:cs typeface="Times New Roman" panose="02020603050405020304" pitchFamily="18" charset="0"/>
            </a:endParaRPr>
          </a:p>
          <a:p>
            <a:pPr>
              <a:buNone/>
            </a:pPr>
            <a:r>
              <a:rPr lang="en-US" altLang="zh-TW" sz="2100" dirty="0">
                <a:latin typeface="Times New Roman" panose="02020603050405020304" pitchFamily="18" charset="0"/>
                <a:cs typeface="Times New Roman" panose="02020603050405020304" pitchFamily="18" charset="0"/>
              </a:rPr>
              <a:t>              </a:t>
            </a:r>
            <a:r>
              <a:rPr lang="en-US" altLang="zh-TW" sz="2100" b="1" dirty="0">
                <a:latin typeface="Times New Roman" panose="02020603050405020304" pitchFamily="18" charset="0"/>
                <a:cs typeface="Times New Roman" panose="02020603050405020304" pitchFamily="18" charset="0"/>
              </a:rPr>
              <a:t>if</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L</a:t>
            </a:r>
            <a:r>
              <a:rPr lang="en-US" altLang="zh-TW" sz="2100" dirty="0">
                <a:latin typeface="Times New Roman" panose="02020603050405020304" pitchFamily="18" charset="0"/>
                <a:cs typeface="Times New Roman" panose="02020603050405020304" pitchFamily="18" charset="0"/>
              </a:rPr>
              <a:t>(u) + </a:t>
            </a:r>
            <a:r>
              <a:rPr lang="en-US" altLang="zh-TW" sz="2100" i="1" dirty="0">
                <a:latin typeface="Times New Roman" panose="02020603050405020304" pitchFamily="18" charset="0"/>
                <a:cs typeface="Times New Roman" panose="02020603050405020304" pitchFamily="18" charset="0"/>
              </a:rPr>
              <a:t>w</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u</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dirty="0">
                <a:latin typeface="Times New Roman" panose="02020603050405020304" pitchFamily="18" charset="0"/>
                <a:cs typeface="Times New Roman" panose="02020603050405020304" pitchFamily="18" charset="0"/>
              </a:rPr>
              <a:t>) &lt; </a:t>
            </a:r>
            <a:r>
              <a:rPr lang="en-US" altLang="zh-TW" sz="2100" i="1" dirty="0">
                <a:latin typeface="Times New Roman" panose="02020603050405020304" pitchFamily="18" charset="0"/>
                <a:cs typeface="Times New Roman" panose="02020603050405020304" pitchFamily="18" charset="0"/>
              </a:rPr>
              <a:t>L</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dirty="0">
                <a:latin typeface="Times New Roman" panose="02020603050405020304" pitchFamily="18" charset="0"/>
                <a:cs typeface="Times New Roman" panose="02020603050405020304" pitchFamily="18" charset="0"/>
              </a:rPr>
              <a:t>) </a:t>
            </a:r>
            <a:r>
              <a:rPr lang="en-US" altLang="zh-TW" sz="2100" b="1" dirty="0">
                <a:latin typeface="Times New Roman" panose="02020603050405020304" pitchFamily="18" charset="0"/>
                <a:cs typeface="Times New Roman" panose="02020603050405020304" pitchFamily="18" charset="0"/>
              </a:rPr>
              <a:t>then</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L</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dirty="0">
                <a:latin typeface="Times New Roman" panose="02020603050405020304" pitchFamily="18" charset="0"/>
                <a:cs typeface="Times New Roman" panose="02020603050405020304" pitchFamily="18" charset="0"/>
              </a:rPr>
              <a:t>) := </a:t>
            </a:r>
            <a:r>
              <a:rPr lang="en-US" altLang="zh-TW" sz="2100" i="1" dirty="0">
                <a:latin typeface="Times New Roman" panose="02020603050405020304" pitchFamily="18" charset="0"/>
                <a:cs typeface="Times New Roman" panose="02020603050405020304" pitchFamily="18" charset="0"/>
              </a:rPr>
              <a:t>L</a:t>
            </a:r>
            <a:r>
              <a:rPr lang="en-US" altLang="zh-TW" sz="2100" dirty="0">
                <a:latin typeface="Times New Roman" panose="02020603050405020304" pitchFamily="18" charset="0"/>
                <a:cs typeface="Times New Roman" panose="02020603050405020304" pitchFamily="18" charset="0"/>
              </a:rPr>
              <a:t>(u) + </a:t>
            </a:r>
            <a:r>
              <a:rPr lang="en-US" altLang="zh-TW" sz="2100" i="1" dirty="0">
                <a:latin typeface="Times New Roman" panose="02020603050405020304" pitchFamily="18" charset="0"/>
                <a:cs typeface="Times New Roman" panose="02020603050405020304" pitchFamily="18" charset="0"/>
              </a:rPr>
              <a:t>w</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u</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dirty="0">
                <a:latin typeface="Times New Roman" panose="02020603050405020304" pitchFamily="18" charset="0"/>
                <a:cs typeface="Times New Roman" panose="02020603050405020304" pitchFamily="18" charset="0"/>
              </a:rPr>
              <a:t>) </a:t>
            </a:r>
            <a:endParaRPr lang="en-US" altLang="zh-TW" sz="2100" dirty="0">
              <a:latin typeface="Times New Roman" panose="02020603050405020304" pitchFamily="18" charset="0"/>
              <a:cs typeface="Times New Roman" panose="02020603050405020304" pitchFamily="18" charset="0"/>
            </a:endParaRPr>
          </a:p>
          <a:p>
            <a:pPr>
              <a:buNone/>
            </a:pPr>
            <a:r>
              <a:rPr lang="en-US" altLang="zh-TW" sz="2100" b="1" dirty="0">
                <a:latin typeface="Times New Roman" panose="02020603050405020304" pitchFamily="18" charset="0"/>
                <a:cs typeface="Times New Roman" panose="02020603050405020304" pitchFamily="18" charset="0"/>
              </a:rPr>
              <a:t>end </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L</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z</a:t>
            </a:r>
            <a:r>
              <a:rPr lang="en-US" altLang="zh-TW" sz="2100" dirty="0">
                <a:latin typeface="Times New Roman" panose="02020603050405020304" pitchFamily="18" charset="0"/>
                <a:cs typeface="Times New Roman" panose="02020603050405020304" pitchFamily="18" charset="0"/>
              </a:rPr>
              <a:t>) = length of a shortest path from </a:t>
            </a:r>
            <a:r>
              <a:rPr lang="en-US" altLang="zh-TW" sz="2100" i="1" dirty="0">
                <a:latin typeface="Times New Roman" panose="02020603050405020304" pitchFamily="18" charset="0"/>
                <a:cs typeface="Times New Roman" panose="02020603050405020304" pitchFamily="18" charset="0"/>
              </a:rPr>
              <a:t>a</a:t>
            </a:r>
            <a:r>
              <a:rPr lang="en-US" altLang="zh-TW" sz="2100" dirty="0">
                <a:latin typeface="Times New Roman" panose="02020603050405020304" pitchFamily="18" charset="0"/>
                <a:cs typeface="Times New Roman" panose="02020603050405020304" pitchFamily="18" charset="0"/>
              </a:rPr>
              <a:t> to </a:t>
            </a:r>
            <a:r>
              <a:rPr lang="en-US" altLang="zh-TW" sz="2100" i="1" dirty="0">
                <a:latin typeface="Times New Roman" panose="02020603050405020304" pitchFamily="18" charset="0"/>
                <a:cs typeface="Times New Roman" panose="02020603050405020304" pitchFamily="18" charset="0"/>
              </a:rPr>
              <a:t>z</a:t>
            </a:r>
            <a:r>
              <a:rPr lang="en-US" altLang="zh-TW" sz="2100" dirty="0">
                <a:latin typeface="Times New Roman" panose="02020603050405020304" pitchFamily="18" charset="0"/>
                <a:cs typeface="Times New Roman" panose="02020603050405020304" pitchFamily="18" charset="0"/>
              </a:rPr>
              <a:t>}</a:t>
            </a:r>
            <a:endParaRPr lang="zh-TW" altLang="en-US" sz="2100" dirty="0">
              <a:latin typeface="Times New Roman" panose="02020603050405020304" pitchFamily="18" charset="0"/>
              <a:ea typeface="Times New Roman" panose="02020603050405020304" pitchFamily="18" charset="0"/>
            </a:endParaRPr>
          </a:p>
        </p:txBody>
      </p:sp>
      <p:sp>
        <p:nvSpPr>
          <p:cNvPr id="62467" name="Rectangle 2"/>
          <p:cNvSpPr>
            <a:spLocks noGrp="1"/>
          </p:cNvSpPr>
          <p:nvPr>
            <p:ph type="title"/>
          </p:nvPr>
        </p:nvSpPr>
        <p:spPr>
          <a:xfrm>
            <a:off x="152400" y="457200"/>
            <a:ext cx="4267200" cy="609600"/>
          </a:xfrm>
        </p:spPr>
        <p:txBody>
          <a:bodyPr vert="horz" wrap="square" lIns="91440" tIns="45720" rIns="91440" bIns="45720" anchor="ctr"/>
          <a:p>
            <a:pPr eaLnBrk="1" hangingPunct="1"/>
            <a:r>
              <a:rPr lang="en-US" altLang="zh-TW" sz="3200" b="1" dirty="0">
                <a:solidFill>
                  <a:srgbClr val="0000CC"/>
                </a:solidFill>
              </a:rPr>
              <a:t>Dijkstra</a:t>
            </a:r>
            <a:r>
              <a:rPr lang="en-US" altLang="zh-TW" sz="3200" b="1" dirty="0">
                <a:solidFill>
                  <a:srgbClr val="0000CC"/>
                </a:solidFill>
                <a:latin typeface="Times New Roman" panose="02020603050405020304" pitchFamily="18" charset="0"/>
              </a:rPr>
              <a:t>’</a:t>
            </a:r>
            <a:r>
              <a:rPr lang="en-US" altLang="zh-TW" sz="3200" b="1" dirty="0">
                <a:solidFill>
                  <a:srgbClr val="0000CC"/>
                </a:solidFill>
              </a:rPr>
              <a:t>s Algorithm</a:t>
            </a:r>
            <a:endParaRPr lang="en-US" altLang="zh-TW" sz="2400" dirty="0"/>
          </a:p>
        </p:txBody>
      </p:sp>
      <p:sp>
        <p:nvSpPr>
          <p:cNvPr id="62468" name="投影片編號版面配置區 5"/>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文字方塊 4"/>
          <p:cNvSpPr txBox="1"/>
          <p:nvPr/>
        </p:nvSpPr>
        <p:spPr>
          <a:xfrm>
            <a:off x="5105400" y="2895600"/>
            <a:ext cx="3832225" cy="708025"/>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t>This algorithm can be extended </a:t>
            </a:r>
            <a:br>
              <a:rPr lang="en-US" altLang="zh-TW" sz="2000" dirty="0"/>
            </a:br>
            <a:r>
              <a:rPr lang="en-US" altLang="zh-TW" sz="2000" dirty="0"/>
              <a:t>to construct a shortest path.</a:t>
            </a:r>
            <a:endParaRPr lang="zh-TW" altLang="en-US" sz="2000" dirty="0"/>
          </a:p>
        </p:txBody>
      </p:sp>
      <p:sp>
        <p:nvSpPr>
          <p:cNvPr id="62470" name="矩形 5"/>
          <p:cNvSpPr/>
          <p:nvPr/>
        </p:nvSpPr>
        <p:spPr>
          <a:xfrm>
            <a:off x="3995738" y="576263"/>
            <a:ext cx="52578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t>(find the length of a shortest path from </a:t>
            </a:r>
            <a:r>
              <a:rPr lang="en-US" altLang="zh-TW" sz="2000" i="1" dirty="0">
                <a:latin typeface="Times New Roman" panose="02020603050405020304" pitchFamily="18" charset="0"/>
                <a:cs typeface="Times New Roman" panose="02020603050405020304" pitchFamily="18" charset="0"/>
              </a:rPr>
              <a:t>a</a:t>
            </a:r>
            <a:r>
              <a:rPr lang="en-US" altLang="zh-TW" sz="2000" dirty="0"/>
              <a:t> to </a:t>
            </a:r>
            <a:r>
              <a:rPr lang="en-US" altLang="zh-TW" sz="2000" i="1" dirty="0">
                <a:latin typeface="Times New Roman" panose="02020603050405020304" pitchFamily="18" charset="0"/>
                <a:cs typeface="Times New Roman" panose="02020603050405020304" pitchFamily="18" charset="0"/>
              </a:rPr>
              <a:t>z</a:t>
            </a:r>
            <a:r>
              <a:rPr lang="en-US" altLang="zh-TW" sz="2000" dirty="0"/>
              <a:t>) </a:t>
            </a:r>
            <a:endParaRPr lang="zh-TW"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投影片編號版面配置區 1"/>
          <p:cNvSpPr txBox="1">
            <a:spLocks noGrp="1"/>
          </p:cNvSpPr>
          <p:nvPr/>
        </p:nvSpPr>
        <p:spPr>
          <a:xfrm>
            <a:off x="6858000" y="64008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4" name="矩形 3"/>
          <p:cNvSpPr/>
          <p:nvPr/>
        </p:nvSpPr>
        <p:spPr>
          <a:xfrm>
            <a:off x="381000" y="381000"/>
            <a:ext cx="8534400" cy="1373188"/>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2.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Use </a:t>
            </a:r>
            <a:r>
              <a:rPr kumimoji="1" lang="en-US" altLang="zh-TW" sz="2800" b="0" i="0" u="none" strike="noStrike" kern="0" cap="none" spc="0" normalizeH="0" baseline="0" noProof="0" dirty="0" err="1">
                <a:ln>
                  <a:noFill/>
                </a:ln>
                <a:solidFill>
                  <a:schemeClr val="tx1"/>
                </a:solidFill>
                <a:effectLst/>
                <a:uLnTx/>
                <a:uFillTx/>
                <a:latin typeface="Arial" panose="020B0604020202020204"/>
                <a:ea typeface="PMingLiU"/>
                <a:cs typeface="+mn-cs"/>
              </a:rPr>
              <a:t>Dijkstra’s</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algorithm to find the length of a shortest path between </a:t>
            </a:r>
            <a:r>
              <a:rPr kumimoji="1" lang="en-US" altLang="zh-TW" sz="2800" b="0" i="1"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a</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and </a:t>
            </a:r>
            <a:r>
              <a:rPr kumimoji="1" lang="en-US" altLang="zh-TW" sz="2800" b="0" i="1"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z</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in the weighted graph. </a:t>
            </a:r>
            <a:endParaRPr kumimoji="1" lang="en-US" altLang="zh-TW" sz="2800" b="1" i="0" u="none" strike="noStrike" kern="0" cap="none" spc="0" normalizeH="0" baseline="0" noProof="0" dirty="0">
              <a:ln>
                <a:noFill/>
              </a:ln>
              <a:solidFill>
                <a:schemeClr val="tx1"/>
              </a:solidFill>
              <a:effectLst/>
              <a:uLnTx/>
              <a:uFillTx/>
              <a:latin typeface="Arial" panose="020B0604020202020204"/>
              <a:ea typeface="PMingLiU"/>
              <a:cs typeface="+mn-cs"/>
            </a:endParaRPr>
          </a:p>
        </p:txBody>
      </p:sp>
      <p:grpSp>
        <p:nvGrpSpPr>
          <p:cNvPr id="63492" name="群組 36"/>
          <p:cNvGrpSpPr/>
          <p:nvPr/>
        </p:nvGrpSpPr>
        <p:grpSpPr>
          <a:xfrm>
            <a:off x="152400" y="1752600"/>
            <a:ext cx="2611438" cy="1920875"/>
            <a:chOff x="188234" y="1676400"/>
            <a:chExt cx="3427393" cy="2308556"/>
          </a:xfrm>
        </p:grpSpPr>
        <p:sp>
          <p:nvSpPr>
            <p:cNvPr id="63683"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3684" name="AutoShape 11"/>
            <p:cNvSpPr/>
            <p:nvPr/>
          </p:nvSpPr>
          <p:spPr>
            <a:xfrm>
              <a:off x="2361745" y="2069202"/>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85" name="Text Box 12"/>
            <p:cNvSpPr txBox="1"/>
            <p:nvPr/>
          </p:nvSpPr>
          <p:spPr>
            <a:xfrm>
              <a:off x="904965" y="1676400"/>
              <a:ext cx="408371"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3686"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3687"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3688" name="AutoShape 30"/>
            <p:cNvSpPr/>
            <p:nvPr/>
          </p:nvSpPr>
          <p:spPr>
            <a:xfrm>
              <a:off x="3104333" y="2735009"/>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89" name="AutoShape 32"/>
            <p:cNvSpPr/>
            <p:nvPr/>
          </p:nvSpPr>
          <p:spPr>
            <a:xfrm>
              <a:off x="1133239" y="3506902"/>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90" name="AutoShape 33"/>
            <p:cNvSpPr/>
            <p:nvPr/>
          </p:nvSpPr>
          <p:spPr>
            <a:xfrm>
              <a:off x="1152431" y="2082393"/>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91"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3692" name="Text Box 12"/>
            <p:cNvSpPr txBox="1"/>
            <p:nvPr/>
          </p:nvSpPr>
          <p:spPr>
            <a:xfrm>
              <a:off x="2305092" y="1676400"/>
              <a:ext cx="408370"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3693" name="Text Box 12"/>
            <p:cNvSpPr txBox="1"/>
            <p:nvPr/>
          </p:nvSpPr>
          <p:spPr>
            <a:xfrm>
              <a:off x="2505110" y="3416403"/>
              <a:ext cx="389618"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3694" name="AutoShape 11"/>
            <p:cNvSpPr/>
            <p:nvPr/>
          </p:nvSpPr>
          <p:spPr>
            <a:xfrm>
              <a:off x="514808" y="2805181"/>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95" name="Text Box 12"/>
            <p:cNvSpPr txBox="1"/>
            <p:nvPr/>
          </p:nvSpPr>
          <p:spPr>
            <a:xfrm>
              <a:off x="804956" y="3507982"/>
              <a:ext cx="389619"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3696" name="Text Box 12"/>
            <p:cNvSpPr txBox="1"/>
            <p:nvPr/>
          </p:nvSpPr>
          <p:spPr>
            <a:xfrm>
              <a:off x="188234" y="2592191"/>
              <a:ext cx="408370"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3697"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3698"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3699"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3700" name="AutoShape 30"/>
            <p:cNvSpPr/>
            <p:nvPr/>
          </p:nvSpPr>
          <p:spPr>
            <a:xfrm>
              <a:off x="2361745" y="3530278"/>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701" name="Text Box 12"/>
            <p:cNvSpPr txBox="1"/>
            <p:nvPr/>
          </p:nvSpPr>
          <p:spPr>
            <a:xfrm>
              <a:off x="3244760" y="2594099"/>
              <a:ext cx="370867"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3702" name="Text Box 12"/>
            <p:cNvSpPr txBox="1"/>
            <p:nvPr/>
          </p:nvSpPr>
          <p:spPr>
            <a:xfrm>
              <a:off x="2755133" y="2103769"/>
              <a:ext cx="408370"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3703" name="Text Box 12"/>
            <p:cNvSpPr txBox="1"/>
            <p:nvPr/>
          </p:nvSpPr>
          <p:spPr>
            <a:xfrm>
              <a:off x="2823889" y="3086336"/>
              <a:ext cx="408370" cy="476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3704" name="Text Box 12"/>
            <p:cNvSpPr txBox="1"/>
            <p:nvPr/>
          </p:nvSpPr>
          <p:spPr>
            <a:xfrm>
              <a:off x="1605029" y="2409033"/>
              <a:ext cx="408370"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3705" name="Text Box 12"/>
            <p:cNvSpPr txBox="1"/>
            <p:nvPr/>
          </p:nvSpPr>
          <p:spPr>
            <a:xfrm>
              <a:off x="1675868" y="1676400"/>
              <a:ext cx="408371"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3706" name="Text Box 12"/>
            <p:cNvSpPr txBox="1"/>
            <p:nvPr/>
          </p:nvSpPr>
          <p:spPr>
            <a:xfrm>
              <a:off x="604938" y="2134295"/>
              <a:ext cx="408371" cy="476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3707" name="Text Box 12"/>
            <p:cNvSpPr txBox="1"/>
            <p:nvPr/>
          </p:nvSpPr>
          <p:spPr>
            <a:xfrm>
              <a:off x="604938" y="3141665"/>
              <a:ext cx="408371" cy="476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708" name="Text Box 12"/>
            <p:cNvSpPr txBox="1"/>
            <p:nvPr/>
          </p:nvSpPr>
          <p:spPr>
            <a:xfrm>
              <a:off x="1705038" y="3506074"/>
              <a:ext cx="575052"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3709"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3710"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3711" name="Text Box 12"/>
            <p:cNvSpPr txBox="1"/>
            <p:nvPr/>
          </p:nvSpPr>
          <p:spPr>
            <a:xfrm>
              <a:off x="904965" y="2683770"/>
              <a:ext cx="408371"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3712" name="Text Box 12"/>
            <p:cNvSpPr txBox="1"/>
            <p:nvPr/>
          </p:nvSpPr>
          <p:spPr>
            <a:xfrm>
              <a:off x="2105074" y="2775349"/>
              <a:ext cx="408370" cy="4769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grpSp>
      <p:grpSp>
        <p:nvGrpSpPr>
          <p:cNvPr id="3" name="群組 37"/>
          <p:cNvGrpSpPr/>
          <p:nvPr/>
        </p:nvGrpSpPr>
        <p:grpSpPr>
          <a:xfrm>
            <a:off x="3124200" y="1600200"/>
            <a:ext cx="2651125" cy="2225675"/>
            <a:chOff x="188234" y="1493248"/>
            <a:chExt cx="3480530" cy="2674860"/>
          </a:xfrm>
        </p:grpSpPr>
        <p:sp>
          <p:nvSpPr>
            <p:cNvPr id="63647"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3648" name="AutoShape 11"/>
            <p:cNvSpPr/>
            <p:nvPr/>
          </p:nvSpPr>
          <p:spPr>
            <a:xfrm>
              <a:off x="2361745" y="2069202"/>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49" name="Text Box 12"/>
            <p:cNvSpPr txBox="1"/>
            <p:nvPr/>
          </p:nvSpPr>
          <p:spPr>
            <a:xfrm>
              <a:off x="905181" y="1676405"/>
              <a:ext cx="40849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3650"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3651"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3652" name="AutoShape 30"/>
            <p:cNvSpPr/>
            <p:nvPr/>
          </p:nvSpPr>
          <p:spPr>
            <a:xfrm>
              <a:off x="3104333" y="2735009"/>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53" name="AutoShape 32"/>
            <p:cNvSpPr/>
            <p:nvPr/>
          </p:nvSpPr>
          <p:spPr>
            <a:xfrm>
              <a:off x="1133239" y="3506902"/>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54" name="AutoShape 33"/>
            <p:cNvSpPr/>
            <p:nvPr/>
          </p:nvSpPr>
          <p:spPr>
            <a:xfrm>
              <a:off x="1152431" y="2082393"/>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55"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3656" name="Text Box 12"/>
            <p:cNvSpPr txBox="1"/>
            <p:nvPr/>
          </p:nvSpPr>
          <p:spPr>
            <a:xfrm>
              <a:off x="2305730" y="1676405"/>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3657" name="Text Box 12"/>
            <p:cNvSpPr txBox="1"/>
            <p:nvPr/>
          </p:nvSpPr>
          <p:spPr>
            <a:xfrm>
              <a:off x="2505808" y="3416400"/>
              <a:ext cx="389736"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3658" name="AutoShape 11"/>
            <p:cNvSpPr/>
            <p:nvPr/>
          </p:nvSpPr>
          <p:spPr>
            <a:xfrm>
              <a:off x="514808" y="2805181"/>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59" name="Text Box 12"/>
            <p:cNvSpPr txBox="1"/>
            <p:nvPr/>
          </p:nvSpPr>
          <p:spPr>
            <a:xfrm>
              <a:off x="805142" y="3507979"/>
              <a:ext cx="389736"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3660" name="Text Box 12"/>
            <p:cNvSpPr txBox="1"/>
            <p:nvPr/>
          </p:nvSpPr>
          <p:spPr>
            <a:xfrm>
              <a:off x="188234" y="2592192"/>
              <a:ext cx="408493"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3661"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3662"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3663"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3664" name="AutoShape 30"/>
            <p:cNvSpPr/>
            <p:nvPr/>
          </p:nvSpPr>
          <p:spPr>
            <a:xfrm>
              <a:off x="2361745" y="3530278"/>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65" name="Text Box 12"/>
            <p:cNvSpPr txBox="1"/>
            <p:nvPr/>
          </p:nvSpPr>
          <p:spPr>
            <a:xfrm>
              <a:off x="3243597" y="2594100"/>
              <a:ext cx="370979"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3666" name="Text Box 12"/>
            <p:cNvSpPr txBox="1"/>
            <p:nvPr/>
          </p:nvSpPr>
          <p:spPr>
            <a:xfrm>
              <a:off x="2753822" y="2103772"/>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3667" name="Text Box 12"/>
            <p:cNvSpPr txBox="1"/>
            <p:nvPr/>
          </p:nvSpPr>
          <p:spPr>
            <a:xfrm>
              <a:off x="2824683" y="3086335"/>
              <a:ext cx="408494"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3668" name="Text Box 12"/>
            <p:cNvSpPr txBox="1"/>
            <p:nvPr/>
          </p:nvSpPr>
          <p:spPr>
            <a:xfrm>
              <a:off x="1605456" y="2409035"/>
              <a:ext cx="408493"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3669" name="Text Box 12"/>
            <p:cNvSpPr txBox="1"/>
            <p:nvPr/>
          </p:nvSpPr>
          <p:spPr>
            <a:xfrm>
              <a:off x="1676317" y="1676405"/>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3670" name="Text Box 12"/>
            <p:cNvSpPr txBox="1"/>
            <p:nvPr/>
          </p:nvSpPr>
          <p:spPr>
            <a:xfrm>
              <a:off x="605064" y="2134299"/>
              <a:ext cx="408493"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3671" name="Text Box 12"/>
            <p:cNvSpPr txBox="1"/>
            <p:nvPr/>
          </p:nvSpPr>
          <p:spPr>
            <a:xfrm>
              <a:off x="488352" y="3050085"/>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672" name="Text Box 12"/>
            <p:cNvSpPr txBox="1"/>
            <p:nvPr/>
          </p:nvSpPr>
          <p:spPr>
            <a:xfrm>
              <a:off x="1705495" y="3506071"/>
              <a:ext cx="575225"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3673"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3674"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3675" name="Text Box 12"/>
            <p:cNvSpPr txBox="1"/>
            <p:nvPr/>
          </p:nvSpPr>
          <p:spPr>
            <a:xfrm>
              <a:off x="905181" y="2683771"/>
              <a:ext cx="408494"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3676" name="Text Box 12"/>
            <p:cNvSpPr txBox="1"/>
            <p:nvPr/>
          </p:nvSpPr>
          <p:spPr>
            <a:xfrm>
              <a:off x="2105652" y="2775349"/>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677" name="Text Box 12"/>
            <p:cNvSpPr txBox="1"/>
            <p:nvPr/>
          </p:nvSpPr>
          <p:spPr>
            <a:xfrm>
              <a:off x="188234" y="2409035"/>
              <a:ext cx="408493"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rPr>
                <a:t>0</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78" name="Text Box 12"/>
            <p:cNvSpPr txBox="1"/>
            <p:nvPr/>
          </p:nvSpPr>
          <p:spPr>
            <a:xfrm>
              <a:off x="1088587" y="1493248"/>
              <a:ext cx="481438" cy="4769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79" name="Text Box 12"/>
            <p:cNvSpPr txBox="1"/>
            <p:nvPr/>
          </p:nvSpPr>
          <p:spPr>
            <a:xfrm>
              <a:off x="2589174" y="1584827"/>
              <a:ext cx="479355"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80" name="Text Box 12"/>
            <p:cNvSpPr txBox="1"/>
            <p:nvPr/>
          </p:nvSpPr>
          <p:spPr>
            <a:xfrm>
              <a:off x="3189409" y="2866928"/>
              <a:ext cx="479355"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81" name="Text Box 12"/>
            <p:cNvSpPr txBox="1"/>
            <p:nvPr/>
          </p:nvSpPr>
          <p:spPr>
            <a:xfrm>
              <a:off x="2489135" y="3691136"/>
              <a:ext cx="479355"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82" name="Text Box 12"/>
            <p:cNvSpPr txBox="1"/>
            <p:nvPr/>
          </p:nvSpPr>
          <p:spPr>
            <a:xfrm>
              <a:off x="988547" y="3599557"/>
              <a:ext cx="479355" cy="4769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grpSp>
      <p:sp>
        <p:nvSpPr>
          <p:cNvPr id="69" name="矩形 61"/>
          <p:cNvSpPr/>
          <p:nvPr/>
        </p:nvSpPr>
        <p:spPr>
          <a:xfrm>
            <a:off x="2514600" y="1828800"/>
            <a:ext cx="94138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rPr>
              <a:t>Sol. </a:t>
            </a:r>
            <a:endParaRPr lang="zh-TW" altLang="en-US" sz="1800" dirty="0"/>
          </a:p>
        </p:txBody>
      </p:sp>
      <p:grpSp>
        <p:nvGrpSpPr>
          <p:cNvPr id="5" name="群組 75"/>
          <p:cNvGrpSpPr/>
          <p:nvPr/>
        </p:nvGrpSpPr>
        <p:grpSpPr>
          <a:xfrm>
            <a:off x="6248400" y="1447800"/>
            <a:ext cx="2651125" cy="2454275"/>
            <a:chOff x="188234" y="1310096"/>
            <a:chExt cx="3480530" cy="2949588"/>
          </a:xfrm>
        </p:grpSpPr>
        <p:sp>
          <p:nvSpPr>
            <p:cNvPr id="63611"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3612"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3613" name="Text Box 12"/>
            <p:cNvSpPr txBox="1"/>
            <p:nvPr/>
          </p:nvSpPr>
          <p:spPr>
            <a:xfrm>
              <a:off x="188234" y="2409037"/>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rPr>
                <a:t>0</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14"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3615" name="AutoShape 11"/>
            <p:cNvSpPr/>
            <p:nvPr/>
          </p:nvSpPr>
          <p:spPr>
            <a:xfrm>
              <a:off x="2361745" y="2069202"/>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16" name="Text Box 12"/>
            <p:cNvSpPr txBox="1"/>
            <p:nvPr/>
          </p:nvSpPr>
          <p:spPr>
            <a:xfrm>
              <a:off x="905181" y="1676410"/>
              <a:ext cx="408494"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3617"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3618"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3619" name="AutoShape 30"/>
            <p:cNvSpPr/>
            <p:nvPr/>
          </p:nvSpPr>
          <p:spPr>
            <a:xfrm>
              <a:off x="3104333" y="2735009"/>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20" name="AutoShape 32"/>
            <p:cNvSpPr/>
            <p:nvPr/>
          </p:nvSpPr>
          <p:spPr>
            <a:xfrm>
              <a:off x="1133239" y="3506902"/>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21" name="AutoShape 33"/>
            <p:cNvSpPr/>
            <p:nvPr/>
          </p:nvSpPr>
          <p:spPr>
            <a:xfrm>
              <a:off x="1152431" y="2082393"/>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22"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3623" name="Text Box 12"/>
            <p:cNvSpPr txBox="1"/>
            <p:nvPr/>
          </p:nvSpPr>
          <p:spPr>
            <a:xfrm>
              <a:off x="2305730" y="1676410"/>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3624" name="Text Box 12"/>
            <p:cNvSpPr txBox="1"/>
            <p:nvPr/>
          </p:nvSpPr>
          <p:spPr>
            <a:xfrm>
              <a:off x="2505808" y="3416400"/>
              <a:ext cx="389736"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3625" name="AutoShape 11"/>
            <p:cNvSpPr/>
            <p:nvPr/>
          </p:nvSpPr>
          <p:spPr>
            <a:xfrm>
              <a:off x="514808" y="2805181"/>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26" name="Text Box 12"/>
            <p:cNvSpPr txBox="1"/>
            <p:nvPr/>
          </p:nvSpPr>
          <p:spPr>
            <a:xfrm>
              <a:off x="805142" y="3507978"/>
              <a:ext cx="389736"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3627" name="Text Box 12"/>
            <p:cNvSpPr txBox="1"/>
            <p:nvPr/>
          </p:nvSpPr>
          <p:spPr>
            <a:xfrm>
              <a:off x="188234" y="2592194"/>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3628"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3629" name="AutoShape 30"/>
            <p:cNvSpPr/>
            <p:nvPr/>
          </p:nvSpPr>
          <p:spPr>
            <a:xfrm>
              <a:off x="2361745" y="3530278"/>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630" name="Text Box 12"/>
            <p:cNvSpPr txBox="1"/>
            <p:nvPr/>
          </p:nvSpPr>
          <p:spPr>
            <a:xfrm>
              <a:off x="3243597" y="2594102"/>
              <a:ext cx="37097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3631" name="Text Box 12"/>
            <p:cNvSpPr txBox="1"/>
            <p:nvPr/>
          </p:nvSpPr>
          <p:spPr>
            <a:xfrm>
              <a:off x="2753822" y="2103776"/>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3632" name="Text Box 12"/>
            <p:cNvSpPr txBox="1"/>
            <p:nvPr/>
          </p:nvSpPr>
          <p:spPr>
            <a:xfrm>
              <a:off x="2824683" y="3086336"/>
              <a:ext cx="408494"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3633" name="Text Box 12"/>
            <p:cNvSpPr txBox="1"/>
            <p:nvPr/>
          </p:nvSpPr>
          <p:spPr>
            <a:xfrm>
              <a:off x="1605456" y="2409037"/>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3634" name="Text Box 12"/>
            <p:cNvSpPr txBox="1"/>
            <p:nvPr/>
          </p:nvSpPr>
          <p:spPr>
            <a:xfrm>
              <a:off x="1676317" y="1676410"/>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3635" name="Text Box 12"/>
            <p:cNvSpPr txBox="1"/>
            <p:nvPr/>
          </p:nvSpPr>
          <p:spPr>
            <a:xfrm>
              <a:off x="605064" y="2134302"/>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3636" name="Text Box 12"/>
            <p:cNvSpPr txBox="1"/>
            <p:nvPr/>
          </p:nvSpPr>
          <p:spPr>
            <a:xfrm>
              <a:off x="488352" y="3050086"/>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637" name="Text Box 12"/>
            <p:cNvSpPr txBox="1"/>
            <p:nvPr/>
          </p:nvSpPr>
          <p:spPr>
            <a:xfrm>
              <a:off x="1705495" y="3506070"/>
              <a:ext cx="575225"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3638"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3639"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3640" name="Text Box 12"/>
            <p:cNvSpPr txBox="1"/>
            <p:nvPr/>
          </p:nvSpPr>
          <p:spPr>
            <a:xfrm>
              <a:off x="905181" y="2683772"/>
              <a:ext cx="408494"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3641" name="Text Box 12"/>
            <p:cNvSpPr txBox="1"/>
            <p:nvPr/>
          </p:nvSpPr>
          <p:spPr>
            <a:xfrm>
              <a:off x="2105652" y="2775351"/>
              <a:ext cx="40849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642" name="Text Box 12"/>
            <p:cNvSpPr txBox="1"/>
            <p:nvPr/>
          </p:nvSpPr>
          <p:spPr>
            <a:xfrm>
              <a:off x="488352" y="1310096"/>
              <a:ext cx="700274" cy="47697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4(</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43" name="Text Box 12"/>
            <p:cNvSpPr txBox="1"/>
            <p:nvPr/>
          </p:nvSpPr>
          <p:spPr>
            <a:xfrm>
              <a:off x="2589174" y="1584831"/>
              <a:ext cx="479355"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44" name="Text Box 12"/>
            <p:cNvSpPr txBox="1"/>
            <p:nvPr/>
          </p:nvSpPr>
          <p:spPr>
            <a:xfrm>
              <a:off x="3189409" y="2866929"/>
              <a:ext cx="479355"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45" name="Text Box 12"/>
            <p:cNvSpPr txBox="1"/>
            <p:nvPr/>
          </p:nvSpPr>
          <p:spPr>
            <a:xfrm>
              <a:off x="2489135" y="3691135"/>
              <a:ext cx="479355"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46" name="Text Box 12"/>
            <p:cNvSpPr txBox="1"/>
            <p:nvPr/>
          </p:nvSpPr>
          <p:spPr>
            <a:xfrm>
              <a:off x="788469" y="3782713"/>
              <a:ext cx="796145"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grpSp>
      <p:sp>
        <p:nvSpPr>
          <p:cNvPr id="113" name="矩形 61"/>
          <p:cNvSpPr/>
          <p:nvPr/>
        </p:nvSpPr>
        <p:spPr>
          <a:xfrm>
            <a:off x="5715000" y="2362200"/>
            <a:ext cx="6429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sym typeface="Symbol" panose="05050102010706020507" pitchFamily="18" charset="2"/>
              </a:rPr>
              <a:t></a:t>
            </a:r>
            <a:r>
              <a:rPr lang="en-US" altLang="zh-TW" sz="2800" b="1" dirty="0">
                <a:solidFill>
                  <a:srgbClr val="008000"/>
                </a:solidFill>
              </a:rPr>
              <a:t> </a:t>
            </a:r>
            <a:endParaRPr lang="zh-TW" altLang="en-US" sz="1800" dirty="0"/>
          </a:p>
        </p:txBody>
      </p:sp>
      <p:sp>
        <p:nvSpPr>
          <p:cNvPr id="114" name="矩形 61"/>
          <p:cNvSpPr/>
          <p:nvPr/>
        </p:nvSpPr>
        <p:spPr>
          <a:xfrm>
            <a:off x="152400" y="4648200"/>
            <a:ext cx="6429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sym typeface="Symbol" panose="05050102010706020507" pitchFamily="18" charset="2"/>
              </a:rPr>
              <a:t></a:t>
            </a:r>
            <a:r>
              <a:rPr lang="en-US" altLang="zh-TW" sz="2800" b="1" dirty="0">
                <a:solidFill>
                  <a:srgbClr val="008000"/>
                </a:solidFill>
              </a:rPr>
              <a:t> </a:t>
            </a:r>
            <a:endParaRPr lang="zh-TW" altLang="en-US" sz="1800" dirty="0"/>
          </a:p>
        </p:txBody>
      </p:sp>
      <p:grpSp>
        <p:nvGrpSpPr>
          <p:cNvPr id="6" name="群組 114"/>
          <p:cNvGrpSpPr/>
          <p:nvPr/>
        </p:nvGrpSpPr>
        <p:grpSpPr>
          <a:xfrm>
            <a:off x="381000" y="4038600"/>
            <a:ext cx="2651125" cy="2454275"/>
            <a:chOff x="188234" y="1310096"/>
            <a:chExt cx="3478448" cy="2949588"/>
          </a:xfrm>
        </p:grpSpPr>
        <p:sp>
          <p:nvSpPr>
            <p:cNvPr id="63575"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3576"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3577"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3578"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3579"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3580" name="Text Box 12"/>
            <p:cNvSpPr txBox="1"/>
            <p:nvPr/>
          </p:nvSpPr>
          <p:spPr>
            <a:xfrm>
              <a:off x="188234" y="2409037"/>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rPr>
                <a:t>0</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81"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3582" name="AutoShape 11"/>
            <p:cNvSpPr/>
            <p:nvPr/>
          </p:nvSpPr>
          <p:spPr>
            <a:xfrm>
              <a:off x="2361745" y="2069202"/>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83" name="Text Box 12"/>
            <p:cNvSpPr txBox="1"/>
            <p:nvPr/>
          </p:nvSpPr>
          <p:spPr>
            <a:xfrm>
              <a:off x="904753" y="1676410"/>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3584"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3585" name="AutoShape 30"/>
            <p:cNvSpPr/>
            <p:nvPr/>
          </p:nvSpPr>
          <p:spPr>
            <a:xfrm>
              <a:off x="3104333" y="2735009"/>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86" name="AutoShape 32"/>
            <p:cNvSpPr/>
            <p:nvPr/>
          </p:nvSpPr>
          <p:spPr>
            <a:xfrm>
              <a:off x="1133239" y="35069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87" name="AutoShape 33"/>
            <p:cNvSpPr/>
            <p:nvPr/>
          </p:nvSpPr>
          <p:spPr>
            <a:xfrm>
              <a:off x="1152431" y="2082393"/>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88" name="Text Box 12"/>
            <p:cNvSpPr txBox="1"/>
            <p:nvPr/>
          </p:nvSpPr>
          <p:spPr>
            <a:xfrm>
              <a:off x="2304464" y="1676410"/>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3589" name="Text Box 12"/>
            <p:cNvSpPr txBox="1"/>
            <p:nvPr/>
          </p:nvSpPr>
          <p:spPr>
            <a:xfrm>
              <a:off x="2504422" y="3416400"/>
              <a:ext cx="38950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3590" name="AutoShape 11"/>
            <p:cNvSpPr/>
            <p:nvPr/>
          </p:nvSpPr>
          <p:spPr>
            <a:xfrm>
              <a:off x="514808" y="2805181"/>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91" name="Text Box 12"/>
            <p:cNvSpPr txBox="1"/>
            <p:nvPr/>
          </p:nvSpPr>
          <p:spPr>
            <a:xfrm>
              <a:off x="804773" y="3507978"/>
              <a:ext cx="38950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3592" name="Text Box 12"/>
            <p:cNvSpPr txBox="1"/>
            <p:nvPr/>
          </p:nvSpPr>
          <p:spPr>
            <a:xfrm>
              <a:off x="188234" y="2592194"/>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3593"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3594" name="AutoShape 30"/>
            <p:cNvSpPr/>
            <p:nvPr/>
          </p:nvSpPr>
          <p:spPr>
            <a:xfrm>
              <a:off x="2361745" y="3530278"/>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95" name="Text Box 12"/>
            <p:cNvSpPr txBox="1"/>
            <p:nvPr/>
          </p:nvSpPr>
          <p:spPr>
            <a:xfrm>
              <a:off x="3243853" y="2594102"/>
              <a:ext cx="370757"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3596" name="Text Box 12"/>
            <p:cNvSpPr txBox="1"/>
            <p:nvPr/>
          </p:nvSpPr>
          <p:spPr>
            <a:xfrm>
              <a:off x="2754371" y="2103776"/>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3597" name="Text Box 12"/>
            <p:cNvSpPr txBox="1"/>
            <p:nvPr/>
          </p:nvSpPr>
          <p:spPr>
            <a:xfrm>
              <a:off x="2825189" y="3086336"/>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3598" name="Text Box 12"/>
            <p:cNvSpPr txBox="1"/>
            <p:nvPr/>
          </p:nvSpPr>
          <p:spPr>
            <a:xfrm>
              <a:off x="1604608" y="2409037"/>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3599" name="Text Box 12"/>
            <p:cNvSpPr txBox="1"/>
            <p:nvPr/>
          </p:nvSpPr>
          <p:spPr>
            <a:xfrm>
              <a:off x="1675427" y="1676410"/>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3600" name="Text Box 12"/>
            <p:cNvSpPr txBox="1"/>
            <p:nvPr/>
          </p:nvSpPr>
          <p:spPr>
            <a:xfrm>
              <a:off x="604815" y="2134302"/>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3601" name="Text Box 12"/>
            <p:cNvSpPr txBox="1"/>
            <p:nvPr/>
          </p:nvSpPr>
          <p:spPr>
            <a:xfrm>
              <a:off x="488172" y="3050086"/>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602" name="Text Box 12"/>
            <p:cNvSpPr txBox="1"/>
            <p:nvPr/>
          </p:nvSpPr>
          <p:spPr>
            <a:xfrm>
              <a:off x="1704587" y="3506070"/>
              <a:ext cx="574882"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3603"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3604" name="Text Box 12"/>
            <p:cNvSpPr txBox="1"/>
            <p:nvPr/>
          </p:nvSpPr>
          <p:spPr>
            <a:xfrm>
              <a:off x="904753" y="2683772"/>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3605" name="Text Box 12"/>
            <p:cNvSpPr txBox="1"/>
            <p:nvPr/>
          </p:nvSpPr>
          <p:spPr>
            <a:xfrm>
              <a:off x="2104505" y="2775351"/>
              <a:ext cx="40824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606" name="Text Box 12"/>
            <p:cNvSpPr txBox="1"/>
            <p:nvPr/>
          </p:nvSpPr>
          <p:spPr>
            <a:xfrm>
              <a:off x="488172" y="1310096"/>
              <a:ext cx="999794" cy="47697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07" name="Text Box 12"/>
            <p:cNvSpPr txBox="1"/>
            <p:nvPr/>
          </p:nvSpPr>
          <p:spPr>
            <a:xfrm>
              <a:off x="2287800" y="1401674"/>
              <a:ext cx="943555"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10(</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08" name="Text Box 12"/>
            <p:cNvSpPr txBox="1"/>
            <p:nvPr/>
          </p:nvSpPr>
          <p:spPr>
            <a:xfrm>
              <a:off x="3187614" y="2866929"/>
              <a:ext cx="479068"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09" name="Text Box 12"/>
            <p:cNvSpPr txBox="1"/>
            <p:nvPr/>
          </p:nvSpPr>
          <p:spPr>
            <a:xfrm>
              <a:off x="2487759" y="3691135"/>
              <a:ext cx="943555"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610" name="Text Box 12"/>
            <p:cNvSpPr txBox="1"/>
            <p:nvPr/>
          </p:nvSpPr>
          <p:spPr>
            <a:xfrm>
              <a:off x="788110" y="3782713"/>
              <a:ext cx="795669"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grpSp>
      <p:sp>
        <p:nvSpPr>
          <p:cNvPr id="152" name="矩形 61"/>
          <p:cNvSpPr/>
          <p:nvPr/>
        </p:nvSpPr>
        <p:spPr>
          <a:xfrm>
            <a:off x="2819400" y="4495800"/>
            <a:ext cx="6429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sym typeface="Symbol" panose="05050102010706020507" pitchFamily="18" charset="2"/>
              </a:rPr>
              <a:t></a:t>
            </a:r>
            <a:r>
              <a:rPr lang="en-US" altLang="zh-TW" sz="2800" b="1" dirty="0">
                <a:solidFill>
                  <a:srgbClr val="008000"/>
                </a:solidFill>
              </a:rPr>
              <a:t> </a:t>
            </a:r>
            <a:endParaRPr lang="zh-TW" altLang="en-US" sz="1800" dirty="0"/>
          </a:p>
        </p:txBody>
      </p:sp>
      <p:grpSp>
        <p:nvGrpSpPr>
          <p:cNvPr id="7" name="群組 152"/>
          <p:cNvGrpSpPr/>
          <p:nvPr/>
        </p:nvGrpSpPr>
        <p:grpSpPr>
          <a:xfrm>
            <a:off x="3200400" y="4038600"/>
            <a:ext cx="2651125" cy="2454275"/>
            <a:chOff x="188234" y="1310096"/>
            <a:chExt cx="3480530" cy="2949600"/>
          </a:xfrm>
        </p:grpSpPr>
        <p:sp>
          <p:nvSpPr>
            <p:cNvPr id="63539"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3540"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3541"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3542"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3543"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3544"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3545" name="Text Box 12"/>
            <p:cNvSpPr txBox="1"/>
            <p:nvPr/>
          </p:nvSpPr>
          <p:spPr>
            <a:xfrm>
              <a:off x="188234" y="2409041"/>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rPr>
                <a:t>0</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46"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3547" name="AutoShape 11"/>
            <p:cNvSpPr/>
            <p:nvPr/>
          </p:nvSpPr>
          <p:spPr>
            <a:xfrm>
              <a:off x="2361745" y="2069202"/>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48" name="Text Box 12"/>
            <p:cNvSpPr txBox="1"/>
            <p:nvPr/>
          </p:nvSpPr>
          <p:spPr>
            <a:xfrm>
              <a:off x="905181" y="1676411"/>
              <a:ext cx="40849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3549" name="AutoShape 30"/>
            <p:cNvSpPr/>
            <p:nvPr/>
          </p:nvSpPr>
          <p:spPr>
            <a:xfrm>
              <a:off x="3104333" y="2735009"/>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50" name="AutoShape 32"/>
            <p:cNvSpPr/>
            <p:nvPr/>
          </p:nvSpPr>
          <p:spPr>
            <a:xfrm>
              <a:off x="1133239" y="35069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51" name="AutoShape 33"/>
            <p:cNvSpPr/>
            <p:nvPr/>
          </p:nvSpPr>
          <p:spPr>
            <a:xfrm>
              <a:off x="1152431" y="2082393"/>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52" name="Text Box 12"/>
            <p:cNvSpPr txBox="1"/>
            <p:nvPr/>
          </p:nvSpPr>
          <p:spPr>
            <a:xfrm>
              <a:off x="2305730" y="1676411"/>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3553" name="Text Box 12"/>
            <p:cNvSpPr txBox="1"/>
            <p:nvPr/>
          </p:nvSpPr>
          <p:spPr>
            <a:xfrm>
              <a:off x="2505808" y="3416408"/>
              <a:ext cx="3897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3554" name="AutoShape 11"/>
            <p:cNvSpPr/>
            <p:nvPr/>
          </p:nvSpPr>
          <p:spPr>
            <a:xfrm>
              <a:off x="514808" y="2805181"/>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55" name="Text Box 12"/>
            <p:cNvSpPr txBox="1"/>
            <p:nvPr/>
          </p:nvSpPr>
          <p:spPr>
            <a:xfrm>
              <a:off x="805142" y="3507987"/>
              <a:ext cx="3897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3556" name="Text Box 12"/>
            <p:cNvSpPr txBox="1"/>
            <p:nvPr/>
          </p:nvSpPr>
          <p:spPr>
            <a:xfrm>
              <a:off x="188234" y="2592199"/>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3557"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3558" name="AutoShape 30"/>
            <p:cNvSpPr/>
            <p:nvPr/>
          </p:nvSpPr>
          <p:spPr>
            <a:xfrm>
              <a:off x="2361745" y="3530278"/>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59" name="Text Box 12"/>
            <p:cNvSpPr txBox="1"/>
            <p:nvPr/>
          </p:nvSpPr>
          <p:spPr>
            <a:xfrm>
              <a:off x="3243597" y="2594107"/>
              <a:ext cx="370979"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3560" name="Text Box 12"/>
            <p:cNvSpPr txBox="1"/>
            <p:nvPr/>
          </p:nvSpPr>
          <p:spPr>
            <a:xfrm>
              <a:off x="2753822" y="2103779"/>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3561" name="Text Box 12"/>
            <p:cNvSpPr txBox="1"/>
            <p:nvPr/>
          </p:nvSpPr>
          <p:spPr>
            <a:xfrm>
              <a:off x="2824683" y="3086343"/>
              <a:ext cx="40849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3562" name="Text Box 12"/>
            <p:cNvSpPr txBox="1"/>
            <p:nvPr/>
          </p:nvSpPr>
          <p:spPr>
            <a:xfrm>
              <a:off x="1605456" y="2409041"/>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3563" name="Text Box 12"/>
            <p:cNvSpPr txBox="1"/>
            <p:nvPr/>
          </p:nvSpPr>
          <p:spPr>
            <a:xfrm>
              <a:off x="1676317" y="1676411"/>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3564" name="Text Box 12"/>
            <p:cNvSpPr txBox="1"/>
            <p:nvPr/>
          </p:nvSpPr>
          <p:spPr>
            <a:xfrm>
              <a:off x="605064" y="2134305"/>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3565" name="Text Box 12"/>
            <p:cNvSpPr txBox="1"/>
            <p:nvPr/>
          </p:nvSpPr>
          <p:spPr>
            <a:xfrm>
              <a:off x="488352" y="3050093"/>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566" name="Text Box 12"/>
            <p:cNvSpPr txBox="1"/>
            <p:nvPr/>
          </p:nvSpPr>
          <p:spPr>
            <a:xfrm>
              <a:off x="1705495" y="3506079"/>
              <a:ext cx="57522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3567"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3568" name="Text Box 12"/>
            <p:cNvSpPr txBox="1"/>
            <p:nvPr/>
          </p:nvSpPr>
          <p:spPr>
            <a:xfrm>
              <a:off x="905181" y="2683778"/>
              <a:ext cx="40849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3569" name="Text Box 12"/>
            <p:cNvSpPr txBox="1"/>
            <p:nvPr/>
          </p:nvSpPr>
          <p:spPr>
            <a:xfrm>
              <a:off x="2105652" y="2775357"/>
              <a:ext cx="40849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570" name="Text Box 12"/>
            <p:cNvSpPr txBox="1"/>
            <p:nvPr/>
          </p:nvSpPr>
          <p:spPr>
            <a:xfrm>
              <a:off x="488352" y="1310096"/>
              <a:ext cx="1000391" cy="4769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71" name="Text Box 12"/>
            <p:cNvSpPr txBox="1"/>
            <p:nvPr/>
          </p:nvSpPr>
          <p:spPr>
            <a:xfrm>
              <a:off x="1988939" y="1401675"/>
              <a:ext cx="79614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8(</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b</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72" name="Text Box 12"/>
            <p:cNvSpPr txBox="1"/>
            <p:nvPr/>
          </p:nvSpPr>
          <p:spPr>
            <a:xfrm>
              <a:off x="3189409" y="2866935"/>
              <a:ext cx="47935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73" name="Text Box 12"/>
            <p:cNvSpPr txBox="1"/>
            <p:nvPr/>
          </p:nvSpPr>
          <p:spPr>
            <a:xfrm>
              <a:off x="2088979" y="3782723"/>
              <a:ext cx="944119"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74" name="Text Box 12"/>
            <p:cNvSpPr txBox="1"/>
            <p:nvPr/>
          </p:nvSpPr>
          <p:spPr>
            <a:xfrm>
              <a:off x="788469" y="3782713"/>
              <a:ext cx="796145"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grpSp>
      <p:sp>
        <p:nvSpPr>
          <p:cNvPr id="190" name="矩形 61"/>
          <p:cNvSpPr/>
          <p:nvPr/>
        </p:nvSpPr>
        <p:spPr>
          <a:xfrm>
            <a:off x="5562600" y="4495800"/>
            <a:ext cx="6429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sym typeface="Symbol" panose="05050102010706020507" pitchFamily="18" charset="2"/>
              </a:rPr>
              <a:t></a:t>
            </a:r>
            <a:r>
              <a:rPr lang="en-US" altLang="zh-TW" sz="2800" b="1" dirty="0">
                <a:solidFill>
                  <a:srgbClr val="008000"/>
                </a:solidFill>
              </a:rPr>
              <a:t> </a:t>
            </a:r>
            <a:endParaRPr lang="zh-TW" altLang="en-US" sz="1800" dirty="0"/>
          </a:p>
        </p:txBody>
      </p:sp>
      <p:grpSp>
        <p:nvGrpSpPr>
          <p:cNvPr id="8" name="群組 190"/>
          <p:cNvGrpSpPr/>
          <p:nvPr/>
        </p:nvGrpSpPr>
        <p:grpSpPr>
          <a:xfrm>
            <a:off x="5964238" y="3962400"/>
            <a:ext cx="3057525" cy="2454275"/>
            <a:chOff x="188234" y="1310096"/>
            <a:chExt cx="4012502" cy="2949600"/>
          </a:xfrm>
        </p:grpSpPr>
        <p:sp>
          <p:nvSpPr>
            <p:cNvPr id="63503" name="Text Box 12"/>
            <p:cNvSpPr txBox="1"/>
            <p:nvPr/>
          </p:nvSpPr>
          <p:spPr>
            <a:xfrm>
              <a:off x="2304902" y="1676411"/>
              <a:ext cx="40833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3504"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3505"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3506"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3507"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3508"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3509"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3510"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3511"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3512" name="Text Box 12"/>
            <p:cNvSpPr txBox="1"/>
            <p:nvPr/>
          </p:nvSpPr>
          <p:spPr>
            <a:xfrm>
              <a:off x="188234" y="2409041"/>
              <a:ext cx="4083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rPr>
                <a:t>0</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13" name="AutoShape 11"/>
            <p:cNvSpPr/>
            <p:nvPr/>
          </p:nvSpPr>
          <p:spPr>
            <a:xfrm>
              <a:off x="2361745" y="20692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14" name="Text Box 12"/>
            <p:cNvSpPr txBox="1"/>
            <p:nvPr/>
          </p:nvSpPr>
          <p:spPr>
            <a:xfrm>
              <a:off x="904901" y="1676411"/>
              <a:ext cx="4083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3515" name="AutoShape 30"/>
            <p:cNvSpPr/>
            <p:nvPr/>
          </p:nvSpPr>
          <p:spPr>
            <a:xfrm>
              <a:off x="3104333" y="2735009"/>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16" name="AutoShape 32"/>
            <p:cNvSpPr/>
            <p:nvPr/>
          </p:nvSpPr>
          <p:spPr>
            <a:xfrm>
              <a:off x="1133239" y="35069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17" name="AutoShape 33"/>
            <p:cNvSpPr/>
            <p:nvPr/>
          </p:nvSpPr>
          <p:spPr>
            <a:xfrm>
              <a:off x="1152431" y="2082393"/>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18" name="Text Box 12"/>
            <p:cNvSpPr txBox="1"/>
            <p:nvPr/>
          </p:nvSpPr>
          <p:spPr>
            <a:xfrm>
              <a:off x="2504902" y="3416408"/>
              <a:ext cx="38958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3519" name="AutoShape 11"/>
            <p:cNvSpPr/>
            <p:nvPr/>
          </p:nvSpPr>
          <p:spPr>
            <a:xfrm>
              <a:off x="514808" y="2805181"/>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20" name="Text Box 12"/>
            <p:cNvSpPr txBox="1"/>
            <p:nvPr/>
          </p:nvSpPr>
          <p:spPr>
            <a:xfrm>
              <a:off x="804901" y="3507987"/>
              <a:ext cx="38958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3521" name="Text Box 12"/>
            <p:cNvSpPr txBox="1"/>
            <p:nvPr/>
          </p:nvSpPr>
          <p:spPr>
            <a:xfrm>
              <a:off x="188234" y="2592199"/>
              <a:ext cx="4083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3522"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3523" name="AutoShape 30"/>
            <p:cNvSpPr/>
            <p:nvPr/>
          </p:nvSpPr>
          <p:spPr>
            <a:xfrm>
              <a:off x="2361745" y="3530278"/>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3524" name="Text Box 12"/>
            <p:cNvSpPr txBox="1"/>
            <p:nvPr/>
          </p:nvSpPr>
          <p:spPr>
            <a:xfrm>
              <a:off x="3244486" y="2594107"/>
              <a:ext cx="37083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3525" name="Text Box 12"/>
            <p:cNvSpPr txBox="1"/>
            <p:nvPr/>
          </p:nvSpPr>
          <p:spPr>
            <a:xfrm>
              <a:off x="2754902" y="2103779"/>
              <a:ext cx="4083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3526" name="Text Box 12"/>
            <p:cNvSpPr txBox="1"/>
            <p:nvPr/>
          </p:nvSpPr>
          <p:spPr>
            <a:xfrm>
              <a:off x="2823652" y="3086343"/>
              <a:ext cx="4083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3527" name="Text Box 12"/>
            <p:cNvSpPr txBox="1"/>
            <p:nvPr/>
          </p:nvSpPr>
          <p:spPr>
            <a:xfrm>
              <a:off x="1604901" y="2409041"/>
              <a:ext cx="4083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3528" name="Text Box 12"/>
            <p:cNvSpPr txBox="1"/>
            <p:nvPr/>
          </p:nvSpPr>
          <p:spPr>
            <a:xfrm>
              <a:off x="1675735" y="1676411"/>
              <a:ext cx="40833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3529" name="Text Box 12"/>
            <p:cNvSpPr txBox="1"/>
            <p:nvPr/>
          </p:nvSpPr>
          <p:spPr>
            <a:xfrm>
              <a:off x="604901" y="2134305"/>
              <a:ext cx="40833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3530" name="Text Box 12"/>
            <p:cNvSpPr txBox="1"/>
            <p:nvPr/>
          </p:nvSpPr>
          <p:spPr>
            <a:xfrm>
              <a:off x="488234" y="3050093"/>
              <a:ext cx="4083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531" name="Text Box 12"/>
            <p:cNvSpPr txBox="1"/>
            <p:nvPr/>
          </p:nvSpPr>
          <p:spPr>
            <a:xfrm>
              <a:off x="1704902" y="3506079"/>
              <a:ext cx="575000"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3532" name="Text Box 12"/>
            <p:cNvSpPr txBox="1"/>
            <p:nvPr/>
          </p:nvSpPr>
          <p:spPr>
            <a:xfrm>
              <a:off x="904901" y="2683778"/>
              <a:ext cx="4083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3533" name="Text Box 12"/>
            <p:cNvSpPr txBox="1"/>
            <p:nvPr/>
          </p:nvSpPr>
          <p:spPr>
            <a:xfrm>
              <a:off x="2104902" y="2775357"/>
              <a:ext cx="40833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3534" name="Text Box 12"/>
            <p:cNvSpPr txBox="1"/>
            <p:nvPr/>
          </p:nvSpPr>
          <p:spPr>
            <a:xfrm>
              <a:off x="488234" y="1310096"/>
              <a:ext cx="1000001" cy="4769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35" name="Text Box 12"/>
            <p:cNvSpPr txBox="1"/>
            <p:nvPr/>
          </p:nvSpPr>
          <p:spPr>
            <a:xfrm>
              <a:off x="1988235" y="1401675"/>
              <a:ext cx="79583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8(</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b</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36" name="Text Box 12"/>
            <p:cNvSpPr txBox="1"/>
            <p:nvPr/>
          </p:nvSpPr>
          <p:spPr>
            <a:xfrm>
              <a:off x="2988236" y="2500620"/>
              <a:ext cx="1212500" cy="843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14</a:t>
              </a:r>
              <a:b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b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37" name="Text Box 12"/>
            <p:cNvSpPr txBox="1"/>
            <p:nvPr/>
          </p:nvSpPr>
          <p:spPr>
            <a:xfrm>
              <a:off x="1988235" y="3782723"/>
              <a:ext cx="962500"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10(</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3538" name="Text Box 12"/>
            <p:cNvSpPr txBox="1"/>
            <p:nvPr/>
          </p:nvSpPr>
          <p:spPr>
            <a:xfrm>
              <a:off x="788234" y="3782713"/>
              <a:ext cx="795834"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 calcmode="lin" valueType="num">
                                      <p:cBhvr additive="base">
                                        <p:cTn id="7" dur="500" fill="hold"/>
                                        <p:tgtEl>
                                          <p:spTgt spid="69"/>
                                        </p:tgtEl>
                                        <p:attrNameLst>
                                          <p:attrName>ppt_x</p:attrName>
                                        </p:attrNameLst>
                                      </p:cBhvr>
                                      <p:tavLst>
                                        <p:tav tm="0">
                                          <p:val>
                                            <p:strVal val="#ppt_x"/>
                                          </p:val>
                                        </p:tav>
                                        <p:tav tm="100000">
                                          <p:val>
                                            <p:strVal val="#ppt_x"/>
                                          </p:val>
                                        </p:tav>
                                      </p:tavLst>
                                    </p:anim>
                                    <p:anim calcmode="lin" valueType="num">
                                      <p:cBhvr additive="base">
                                        <p:cTn id="8"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3"/>
                                        </p:tgtEl>
                                        <p:attrNameLst>
                                          <p:attrName>style.visibility</p:attrName>
                                        </p:attrNameLst>
                                      </p:cBhvr>
                                      <p:to>
                                        <p:strVal val="visible"/>
                                      </p:to>
                                    </p:set>
                                    <p:anim calcmode="lin" valueType="num">
                                      <p:cBhvr additive="base">
                                        <p:cTn id="19" dur="500" fill="hold"/>
                                        <p:tgtEl>
                                          <p:spTgt spid="113"/>
                                        </p:tgtEl>
                                        <p:attrNameLst>
                                          <p:attrName>ppt_x</p:attrName>
                                        </p:attrNameLst>
                                      </p:cBhvr>
                                      <p:tavLst>
                                        <p:tav tm="0">
                                          <p:val>
                                            <p:strVal val="#ppt_x"/>
                                          </p:val>
                                        </p:tav>
                                        <p:tav tm="100000">
                                          <p:val>
                                            <p:strVal val="#ppt_x"/>
                                          </p:val>
                                        </p:tav>
                                      </p:tavLst>
                                    </p:anim>
                                    <p:anim calcmode="lin" valueType="num">
                                      <p:cBhvr additive="base">
                                        <p:cTn id="20"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4"/>
                                        </p:tgtEl>
                                        <p:attrNameLst>
                                          <p:attrName>style.visibility</p:attrName>
                                        </p:attrNameLst>
                                      </p:cBhvr>
                                      <p:to>
                                        <p:strVal val="visible"/>
                                      </p:to>
                                    </p:set>
                                    <p:anim calcmode="lin" valueType="num">
                                      <p:cBhvr additive="base">
                                        <p:cTn id="31" dur="500" fill="hold"/>
                                        <p:tgtEl>
                                          <p:spTgt spid="114"/>
                                        </p:tgtEl>
                                        <p:attrNameLst>
                                          <p:attrName>ppt_x</p:attrName>
                                        </p:attrNameLst>
                                      </p:cBhvr>
                                      <p:tavLst>
                                        <p:tav tm="0">
                                          <p:val>
                                            <p:strVal val="#ppt_x"/>
                                          </p:val>
                                        </p:tav>
                                        <p:tav tm="100000">
                                          <p:val>
                                            <p:strVal val="#ppt_x"/>
                                          </p:val>
                                        </p:tav>
                                      </p:tavLst>
                                    </p:anim>
                                    <p:anim calcmode="lin" valueType="num">
                                      <p:cBhvr additive="base">
                                        <p:cTn id="32" dur="500" fill="hold"/>
                                        <p:tgtEl>
                                          <p:spTgt spid="1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2"/>
                                        </p:tgtEl>
                                        <p:attrNameLst>
                                          <p:attrName>style.visibility</p:attrName>
                                        </p:attrNameLst>
                                      </p:cBhvr>
                                      <p:to>
                                        <p:strVal val="visible"/>
                                      </p:to>
                                    </p:set>
                                    <p:anim calcmode="lin" valueType="num">
                                      <p:cBhvr additive="base">
                                        <p:cTn id="43" dur="500" fill="hold"/>
                                        <p:tgtEl>
                                          <p:spTgt spid="152"/>
                                        </p:tgtEl>
                                        <p:attrNameLst>
                                          <p:attrName>ppt_x</p:attrName>
                                        </p:attrNameLst>
                                      </p:cBhvr>
                                      <p:tavLst>
                                        <p:tav tm="0">
                                          <p:val>
                                            <p:strVal val="#ppt_x"/>
                                          </p:val>
                                        </p:tav>
                                        <p:tav tm="100000">
                                          <p:val>
                                            <p:strVal val="#ppt_x"/>
                                          </p:val>
                                        </p:tav>
                                      </p:tavLst>
                                    </p:anim>
                                    <p:anim calcmode="lin" valueType="num">
                                      <p:cBhvr additive="base">
                                        <p:cTn id="44" dur="500" fill="hold"/>
                                        <p:tgtEl>
                                          <p:spTgt spid="15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0"/>
                                        </p:tgtEl>
                                        <p:attrNameLst>
                                          <p:attrName>style.visibility</p:attrName>
                                        </p:attrNameLst>
                                      </p:cBhvr>
                                      <p:to>
                                        <p:strVal val="visible"/>
                                      </p:to>
                                    </p:set>
                                    <p:anim calcmode="lin" valueType="num">
                                      <p:cBhvr additive="base">
                                        <p:cTn id="55" dur="500" fill="hold"/>
                                        <p:tgtEl>
                                          <p:spTgt spid="190"/>
                                        </p:tgtEl>
                                        <p:attrNameLst>
                                          <p:attrName>ppt_x</p:attrName>
                                        </p:attrNameLst>
                                      </p:cBhvr>
                                      <p:tavLst>
                                        <p:tav tm="0">
                                          <p:val>
                                            <p:strVal val="#ppt_x"/>
                                          </p:val>
                                        </p:tav>
                                        <p:tav tm="100000">
                                          <p:val>
                                            <p:strVal val="#ppt_x"/>
                                          </p:val>
                                        </p:tav>
                                      </p:tavLst>
                                    </p:anim>
                                    <p:anim calcmode="lin" valueType="num">
                                      <p:cBhvr additive="base">
                                        <p:cTn id="56" dur="500" fill="hold"/>
                                        <p:tgtEl>
                                          <p:spTgt spid="19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 calcmode="lin" valueType="num">
                                      <p:cBhvr additive="base">
                                        <p:cTn id="61" dur="500" fill="hold"/>
                                        <p:tgtEl>
                                          <p:spTgt spid="8"/>
                                        </p:tgtEl>
                                        <p:attrNameLst>
                                          <p:attrName>ppt_x</p:attrName>
                                        </p:attrNameLst>
                                      </p:cBhvr>
                                      <p:tavLst>
                                        <p:tav tm="0">
                                          <p:val>
                                            <p:strVal val="#ppt_x"/>
                                          </p:val>
                                        </p:tav>
                                        <p:tav tm="100000">
                                          <p:val>
                                            <p:strVal val="#ppt_x"/>
                                          </p:val>
                                        </p:tav>
                                      </p:tavLst>
                                    </p:anim>
                                    <p:anim calcmode="lin" valueType="num">
                                      <p:cBhvr additive="base">
                                        <p:cTn id="6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113" grpId="0"/>
      <p:bldP spid="114" grpId="0"/>
      <p:bldP spid="152" grpId="0"/>
      <p:bldP spid="19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投影片編號版面配置區 1"/>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3" name="矩形 2"/>
          <p:cNvSpPr/>
          <p:nvPr/>
        </p:nvSpPr>
        <p:spPr>
          <a:xfrm>
            <a:off x="6096000" y="6248400"/>
            <a:ext cx="1897063"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3</a:t>
            </a:r>
            <a:endParaRPr lang="zh-TW" altLang="en-US" sz="2400" dirty="0">
              <a:solidFill>
                <a:srgbClr val="0000CC"/>
              </a:solidFill>
            </a:endParaRPr>
          </a:p>
        </p:txBody>
      </p:sp>
      <p:grpSp>
        <p:nvGrpSpPr>
          <p:cNvPr id="64516" name="群組 3"/>
          <p:cNvGrpSpPr/>
          <p:nvPr/>
        </p:nvGrpSpPr>
        <p:grpSpPr>
          <a:xfrm>
            <a:off x="457200" y="990600"/>
            <a:ext cx="3311525" cy="2454275"/>
            <a:chOff x="188234" y="1310096"/>
            <a:chExt cx="4344900" cy="2949600"/>
          </a:xfrm>
        </p:grpSpPr>
        <p:sp>
          <p:nvSpPr>
            <p:cNvPr id="64595" name="Text Box 12"/>
            <p:cNvSpPr txBox="1"/>
            <p:nvPr/>
          </p:nvSpPr>
          <p:spPr>
            <a:xfrm>
              <a:off x="2304446" y="1676411"/>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4596"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4597"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4598"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4599"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4600"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4601"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4602"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4603"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4604" name="Text Box 12"/>
            <p:cNvSpPr txBox="1"/>
            <p:nvPr/>
          </p:nvSpPr>
          <p:spPr>
            <a:xfrm>
              <a:off x="188234" y="2409041"/>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rPr>
                <a:t>0</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605" name="AutoShape 11"/>
            <p:cNvSpPr/>
            <p:nvPr/>
          </p:nvSpPr>
          <p:spPr>
            <a:xfrm>
              <a:off x="2361745" y="20692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606" name="Text Box 12"/>
            <p:cNvSpPr txBox="1"/>
            <p:nvPr/>
          </p:nvSpPr>
          <p:spPr>
            <a:xfrm>
              <a:off x="904747" y="1676411"/>
              <a:ext cx="40824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4607" name="AutoShape 30"/>
            <p:cNvSpPr/>
            <p:nvPr/>
          </p:nvSpPr>
          <p:spPr>
            <a:xfrm>
              <a:off x="3104333" y="2735009"/>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608" name="AutoShape 32"/>
            <p:cNvSpPr/>
            <p:nvPr/>
          </p:nvSpPr>
          <p:spPr>
            <a:xfrm>
              <a:off x="1133239" y="35069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609" name="AutoShape 33"/>
            <p:cNvSpPr/>
            <p:nvPr/>
          </p:nvSpPr>
          <p:spPr>
            <a:xfrm>
              <a:off x="1152431" y="2082393"/>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610" name="Text Box 12"/>
            <p:cNvSpPr txBox="1"/>
            <p:nvPr/>
          </p:nvSpPr>
          <p:spPr>
            <a:xfrm>
              <a:off x="2504403" y="3416408"/>
              <a:ext cx="389500"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4611" name="AutoShape 11"/>
            <p:cNvSpPr/>
            <p:nvPr/>
          </p:nvSpPr>
          <p:spPr>
            <a:xfrm>
              <a:off x="514808" y="2805181"/>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612" name="Text Box 12"/>
            <p:cNvSpPr txBox="1"/>
            <p:nvPr/>
          </p:nvSpPr>
          <p:spPr>
            <a:xfrm>
              <a:off x="804768" y="3507987"/>
              <a:ext cx="389500"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4613" name="Text Box 12"/>
            <p:cNvSpPr txBox="1"/>
            <p:nvPr/>
          </p:nvSpPr>
          <p:spPr>
            <a:xfrm>
              <a:off x="188234" y="2592199"/>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4614"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4615" name="AutoShape 30"/>
            <p:cNvSpPr/>
            <p:nvPr/>
          </p:nvSpPr>
          <p:spPr>
            <a:xfrm>
              <a:off x="2361745" y="3530278"/>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616" name="Text Box 12"/>
            <p:cNvSpPr txBox="1"/>
            <p:nvPr/>
          </p:nvSpPr>
          <p:spPr>
            <a:xfrm>
              <a:off x="3243827" y="2594107"/>
              <a:ext cx="37075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4617" name="Text Box 12"/>
            <p:cNvSpPr txBox="1"/>
            <p:nvPr/>
          </p:nvSpPr>
          <p:spPr>
            <a:xfrm>
              <a:off x="2754349" y="2103779"/>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4618" name="Text Box 12"/>
            <p:cNvSpPr txBox="1"/>
            <p:nvPr/>
          </p:nvSpPr>
          <p:spPr>
            <a:xfrm>
              <a:off x="2825167" y="3086343"/>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4619" name="Text Box 12"/>
            <p:cNvSpPr txBox="1"/>
            <p:nvPr/>
          </p:nvSpPr>
          <p:spPr>
            <a:xfrm>
              <a:off x="1604596" y="2409041"/>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4620" name="Text Box 12"/>
            <p:cNvSpPr txBox="1"/>
            <p:nvPr/>
          </p:nvSpPr>
          <p:spPr>
            <a:xfrm>
              <a:off x="1675414" y="1676411"/>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4621" name="Text Box 12"/>
            <p:cNvSpPr txBox="1"/>
            <p:nvPr/>
          </p:nvSpPr>
          <p:spPr>
            <a:xfrm>
              <a:off x="604811" y="2134305"/>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4622" name="Text Box 12"/>
            <p:cNvSpPr txBox="1"/>
            <p:nvPr/>
          </p:nvSpPr>
          <p:spPr>
            <a:xfrm>
              <a:off x="488170" y="3050093"/>
              <a:ext cx="40824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4623" name="Text Box 12"/>
            <p:cNvSpPr txBox="1"/>
            <p:nvPr/>
          </p:nvSpPr>
          <p:spPr>
            <a:xfrm>
              <a:off x="1704575" y="3506079"/>
              <a:ext cx="57487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4624" name="Text Box 12"/>
            <p:cNvSpPr txBox="1"/>
            <p:nvPr/>
          </p:nvSpPr>
          <p:spPr>
            <a:xfrm>
              <a:off x="904747" y="2683778"/>
              <a:ext cx="40824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4625" name="Text Box 12"/>
            <p:cNvSpPr txBox="1"/>
            <p:nvPr/>
          </p:nvSpPr>
          <p:spPr>
            <a:xfrm>
              <a:off x="2104489" y="2775357"/>
              <a:ext cx="40824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4626" name="Text Box 12"/>
            <p:cNvSpPr txBox="1"/>
            <p:nvPr/>
          </p:nvSpPr>
          <p:spPr>
            <a:xfrm>
              <a:off x="488170" y="1310096"/>
              <a:ext cx="999785" cy="4769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627" name="Text Box 12"/>
            <p:cNvSpPr txBox="1"/>
            <p:nvPr/>
          </p:nvSpPr>
          <p:spPr>
            <a:xfrm>
              <a:off x="1987847" y="1401675"/>
              <a:ext cx="79566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8(</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b</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628" name="Text Box 12"/>
            <p:cNvSpPr txBox="1"/>
            <p:nvPr/>
          </p:nvSpPr>
          <p:spPr>
            <a:xfrm>
              <a:off x="2987633" y="2500620"/>
              <a:ext cx="1545501"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14(</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629" name="Text Box 12"/>
            <p:cNvSpPr txBox="1"/>
            <p:nvPr/>
          </p:nvSpPr>
          <p:spPr>
            <a:xfrm>
              <a:off x="1987847" y="3782723"/>
              <a:ext cx="962294"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10(</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630" name="Text Box 12"/>
            <p:cNvSpPr txBox="1"/>
            <p:nvPr/>
          </p:nvSpPr>
          <p:spPr>
            <a:xfrm>
              <a:off x="788105" y="3782713"/>
              <a:ext cx="79566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grpSp>
      <p:sp>
        <p:nvSpPr>
          <p:cNvPr id="41" name="矩形 61"/>
          <p:cNvSpPr/>
          <p:nvPr/>
        </p:nvSpPr>
        <p:spPr>
          <a:xfrm>
            <a:off x="3886200" y="1981200"/>
            <a:ext cx="6429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sym typeface="Symbol" panose="05050102010706020507" pitchFamily="18" charset="2"/>
              </a:rPr>
              <a:t></a:t>
            </a:r>
            <a:r>
              <a:rPr lang="en-US" altLang="zh-TW" sz="2800" b="1" dirty="0">
                <a:solidFill>
                  <a:srgbClr val="008000"/>
                </a:solidFill>
              </a:rPr>
              <a:t> </a:t>
            </a:r>
            <a:endParaRPr lang="zh-TW" altLang="en-US" sz="1800" dirty="0"/>
          </a:p>
        </p:txBody>
      </p:sp>
      <p:grpSp>
        <p:nvGrpSpPr>
          <p:cNvPr id="4" name="群組 41"/>
          <p:cNvGrpSpPr/>
          <p:nvPr/>
        </p:nvGrpSpPr>
        <p:grpSpPr>
          <a:xfrm>
            <a:off x="4648200" y="990600"/>
            <a:ext cx="3297238" cy="2454275"/>
            <a:chOff x="188234" y="1310096"/>
            <a:chExt cx="4326047" cy="2949600"/>
          </a:xfrm>
        </p:grpSpPr>
        <p:sp>
          <p:nvSpPr>
            <p:cNvPr id="64559" name="Text Box 12"/>
            <p:cNvSpPr txBox="1"/>
            <p:nvPr/>
          </p:nvSpPr>
          <p:spPr>
            <a:xfrm>
              <a:off x="2304394" y="1676411"/>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4560"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4561"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4562"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4563"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4564"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4565"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4566"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4567"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4568" name="Text Box 12"/>
            <p:cNvSpPr txBox="1"/>
            <p:nvPr/>
          </p:nvSpPr>
          <p:spPr>
            <a:xfrm>
              <a:off x="188234" y="2409041"/>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rPr>
                <a:t>0</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69" name="AutoShape 11"/>
            <p:cNvSpPr/>
            <p:nvPr/>
          </p:nvSpPr>
          <p:spPr>
            <a:xfrm>
              <a:off x="2361745" y="20692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70" name="Text Box 12"/>
            <p:cNvSpPr txBox="1"/>
            <p:nvPr/>
          </p:nvSpPr>
          <p:spPr>
            <a:xfrm>
              <a:off x="904729" y="1676411"/>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4571" name="AutoShape 30"/>
            <p:cNvSpPr/>
            <p:nvPr/>
          </p:nvSpPr>
          <p:spPr>
            <a:xfrm>
              <a:off x="3104333" y="2735009"/>
              <a:ext cx="135587" cy="1218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72" name="AutoShape 32"/>
            <p:cNvSpPr/>
            <p:nvPr/>
          </p:nvSpPr>
          <p:spPr>
            <a:xfrm>
              <a:off x="1133239" y="35069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73" name="AutoShape 33"/>
            <p:cNvSpPr/>
            <p:nvPr/>
          </p:nvSpPr>
          <p:spPr>
            <a:xfrm>
              <a:off x="1152431" y="2082393"/>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74" name="Text Box 12"/>
            <p:cNvSpPr txBox="1"/>
            <p:nvPr/>
          </p:nvSpPr>
          <p:spPr>
            <a:xfrm>
              <a:off x="2504346" y="3416408"/>
              <a:ext cx="389490"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4575" name="AutoShape 11"/>
            <p:cNvSpPr/>
            <p:nvPr/>
          </p:nvSpPr>
          <p:spPr>
            <a:xfrm>
              <a:off x="514808" y="2805181"/>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76" name="Text Box 12"/>
            <p:cNvSpPr txBox="1"/>
            <p:nvPr/>
          </p:nvSpPr>
          <p:spPr>
            <a:xfrm>
              <a:off x="804753" y="3507987"/>
              <a:ext cx="389490"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4577" name="Text Box 12"/>
            <p:cNvSpPr txBox="1"/>
            <p:nvPr/>
          </p:nvSpPr>
          <p:spPr>
            <a:xfrm>
              <a:off x="188234" y="2592199"/>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4578"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4579" name="AutoShape 30"/>
            <p:cNvSpPr/>
            <p:nvPr/>
          </p:nvSpPr>
          <p:spPr>
            <a:xfrm>
              <a:off x="2361745" y="3530278"/>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80" name="Text Box 12"/>
            <p:cNvSpPr txBox="1"/>
            <p:nvPr/>
          </p:nvSpPr>
          <p:spPr>
            <a:xfrm>
              <a:off x="3243752" y="2594107"/>
              <a:ext cx="37074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4581" name="Text Box 12"/>
            <p:cNvSpPr txBox="1"/>
            <p:nvPr/>
          </p:nvSpPr>
          <p:spPr>
            <a:xfrm>
              <a:off x="2754286" y="2103779"/>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4582" name="Text Box 12"/>
            <p:cNvSpPr txBox="1"/>
            <p:nvPr/>
          </p:nvSpPr>
          <p:spPr>
            <a:xfrm>
              <a:off x="2825102" y="3086343"/>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4583" name="Text Box 12"/>
            <p:cNvSpPr txBox="1"/>
            <p:nvPr/>
          </p:nvSpPr>
          <p:spPr>
            <a:xfrm>
              <a:off x="1604561" y="2409041"/>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4584" name="Text Box 12"/>
            <p:cNvSpPr txBox="1"/>
            <p:nvPr/>
          </p:nvSpPr>
          <p:spPr>
            <a:xfrm>
              <a:off x="1675378" y="1676411"/>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4585" name="Text Box 12"/>
            <p:cNvSpPr txBox="1"/>
            <p:nvPr/>
          </p:nvSpPr>
          <p:spPr>
            <a:xfrm>
              <a:off x="604801" y="2134305"/>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4586" name="Text Box 12"/>
            <p:cNvSpPr txBox="1"/>
            <p:nvPr/>
          </p:nvSpPr>
          <p:spPr>
            <a:xfrm>
              <a:off x="488162" y="3050093"/>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4587" name="Text Box 12"/>
            <p:cNvSpPr txBox="1"/>
            <p:nvPr/>
          </p:nvSpPr>
          <p:spPr>
            <a:xfrm>
              <a:off x="1704537" y="3506079"/>
              <a:ext cx="57486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4588" name="Text Box 12"/>
            <p:cNvSpPr txBox="1"/>
            <p:nvPr/>
          </p:nvSpPr>
          <p:spPr>
            <a:xfrm>
              <a:off x="904729" y="2683778"/>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4589" name="Text Box 12"/>
            <p:cNvSpPr txBox="1"/>
            <p:nvPr/>
          </p:nvSpPr>
          <p:spPr>
            <a:xfrm>
              <a:off x="2104442" y="2775357"/>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4590" name="Text Box 12"/>
            <p:cNvSpPr txBox="1"/>
            <p:nvPr/>
          </p:nvSpPr>
          <p:spPr>
            <a:xfrm>
              <a:off x="488162" y="1310096"/>
              <a:ext cx="999761" cy="4769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91" name="Text Box 12"/>
            <p:cNvSpPr txBox="1"/>
            <p:nvPr/>
          </p:nvSpPr>
          <p:spPr>
            <a:xfrm>
              <a:off x="1987803" y="1401675"/>
              <a:ext cx="79564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8(</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b</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92" name="Text Box 12"/>
            <p:cNvSpPr txBox="1"/>
            <p:nvPr/>
          </p:nvSpPr>
          <p:spPr>
            <a:xfrm>
              <a:off x="2987564" y="2500620"/>
              <a:ext cx="1526717"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13(</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e</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93" name="Text Box 12"/>
            <p:cNvSpPr txBox="1"/>
            <p:nvPr/>
          </p:nvSpPr>
          <p:spPr>
            <a:xfrm>
              <a:off x="1987803" y="3782723"/>
              <a:ext cx="962269"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10(</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94" name="Text Box 12"/>
            <p:cNvSpPr txBox="1"/>
            <p:nvPr/>
          </p:nvSpPr>
          <p:spPr>
            <a:xfrm>
              <a:off x="788090" y="3782713"/>
              <a:ext cx="79564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grpSp>
      <p:sp>
        <p:nvSpPr>
          <p:cNvPr id="79" name="矩形 61"/>
          <p:cNvSpPr/>
          <p:nvPr/>
        </p:nvSpPr>
        <p:spPr>
          <a:xfrm>
            <a:off x="381000" y="4419600"/>
            <a:ext cx="6429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sym typeface="Symbol" panose="05050102010706020507" pitchFamily="18" charset="2"/>
              </a:rPr>
              <a:t></a:t>
            </a:r>
            <a:r>
              <a:rPr lang="en-US" altLang="zh-TW" sz="2800" b="1" dirty="0">
                <a:solidFill>
                  <a:srgbClr val="008000"/>
                </a:solidFill>
              </a:rPr>
              <a:t> </a:t>
            </a:r>
            <a:endParaRPr lang="zh-TW" altLang="en-US" sz="1800" dirty="0"/>
          </a:p>
        </p:txBody>
      </p:sp>
      <p:grpSp>
        <p:nvGrpSpPr>
          <p:cNvPr id="5" name="群組 79"/>
          <p:cNvGrpSpPr/>
          <p:nvPr/>
        </p:nvGrpSpPr>
        <p:grpSpPr>
          <a:xfrm>
            <a:off x="990600" y="3810000"/>
            <a:ext cx="3297238" cy="2454275"/>
            <a:chOff x="188234" y="1310096"/>
            <a:chExt cx="4326047" cy="2949600"/>
          </a:xfrm>
        </p:grpSpPr>
        <p:sp>
          <p:nvSpPr>
            <p:cNvPr id="64523" name="Line 34"/>
            <p:cNvSpPr/>
            <p:nvPr/>
          </p:nvSpPr>
          <p:spPr>
            <a:xfrm flipV="1">
              <a:off x="2405059" y="2805179"/>
              <a:ext cx="769262" cy="794320"/>
            </a:xfrm>
            <a:prstGeom prst="line">
              <a:avLst/>
            </a:prstGeom>
            <a:ln w="25400" cap="flat" cmpd="sng">
              <a:solidFill>
                <a:schemeClr val="tx1"/>
              </a:solidFill>
              <a:prstDash val="solid"/>
              <a:headEnd type="none" w="med" len="med"/>
              <a:tailEnd type="none" w="med" len="med"/>
            </a:ln>
          </p:spPr>
        </p:sp>
        <p:sp>
          <p:nvSpPr>
            <p:cNvPr id="64524" name="Text Box 12"/>
            <p:cNvSpPr txBox="1"/>
            <p:nvPr/>
          </p:nvSpPr>
          <p:spPr>
            <a:xfrm>
              <a:off x="2987564" y="2500620"/>
              <a:ext cx="1526717"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13(</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e</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25" name="Text Box 12"/>
            <p:cNvSpPr txBox="1"/>
            <p:nvPr/>
          </p:nvSpPr>
          <p:spPr>
            <a:xfrm>
              <a:off x="2304394" y="1676411"/>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4526" name="Line 34"/>
            <p:cNvSpPr/>
            <p:nvPr/>
          </p:nvSpPr>
          <p:spPr>
            <a:xfrm flipH="1" flipV="1">
              <a:off x="2474448" y="2173632"/>
              <a:ext cx="699872" cy="631549"/>
            </a:xfrm>
            <a:prstGeom prst="line">
              <a:avLst/>
            </a:prstGeom>
            <a:ln w="25400" cap="flat" cmpd="sng">
              <a:solidFill>
                <a:schemeClr val="tx1"/>
              </a:solidFill>
              <a:prstDash val="solid"/>
              <a:headEnd type="none" w="med" len="med"/>
              <a:tailEnd type="none" w="med" len="med"/>
            </a:ln>
          </p:spPr>
        </p:sp>
        <p:sp>
          <p:nvSpPr>
            <p:cNvPr id="64527" name="Line 25"/>
            <p:cNvSpPr/>
            <p:nvPr/>
          </p:nvSpPr>
          <p:spPr>
            <a:xfrm>
              <a:off x="2438400" y="2133600"/>
              <a:ext cx="0" cy="1447800"/>
            </a:xfrm>
            <a:prstGeom prst="line">
              <a:avLst/>
            </a:prstGeom>
            <a:ln w="25400" cap="flat" cmpd="sng">
              <a:solidFill>
                <a:schemeClr val="tx1"/>
              </a:solidFill>
              <a:prstDash val="solid"/>
              <a:headEnd type="none" w="med" len="med"/>
              <a:tailEnd type="none" w="med" len="med"/>
            </a:ln>
          </p:spPr>
        </p:sp>
        <p:sp>
          <p:nvSpPr>
            <p:cNvPr id="64528" name="Line 25"/>
            <p:cNvSpPr/>
            <p:nvPr/>
          </p:nvSpPr>
          <p:spPr>
            <a:xfrm flipH="1">
              <a:off x="1204902" y="2133600"/>
              <a:ext cx="1233499" cy="1465901"/>
            </a:xfrm>
            <a:prstGeom prst="line">
              <a:avLst/>
            </a:prstGeom>
            <a:ln w="25400" cap="flat" cmpd="sng">
              <a:solidFill>
                <a:schemeClr val="tx1"/>
              </a:solidFill>
              <a:prstDash val="solid"/>
              <a:headEnd type="none" w="med" len="med"/>
              <a:tailEnd type="none" w="med" len="med"/>
            </a:ln>
          </p:spPr>
        </p:sp>
        <p:sp>
          <p:nvSpPr>
            <p:cNvPr id="64529" name="Line 25"/>
            <p:cNvSpPr/>
            <p:nvPr/>
          </p:nvSpPr>
          <p:spPr>
            <a:xfrm flipH="1">
              <a:off x="584794" y="2173632"/>
              <a:ext cx="629885" cy="701720"/>
            </a:xfrm>
            <a:prstGeom prst="line">
              <a:avLst/>
            </a:prstGeom>
            <a:ln w="25400" cap="flat" cmpd="sng">
              <a:solidFill>
                <a:schemeClr val="tx1"/>
              </a:solidFill>
              <a:prstDash val="solid"/>
              <a:headEnd type="none" w="med" len="med"/>
              <a:tailEnd type="none" w="med" len="med"/>
            </a:ln>
          </p:spPr>
        </p:sp>
        <p:sp>
          <p:nvSpPr>
            <p:cNvPr id="64530" name="Line 25"/>
            <p:cNvSpPr/>
            <p:nvPr/>
          </p:nvSpPr>
          <p:spPr>
            <a:xfrm>
              <a:off x="1219199" y="2133600"/>
              <a:ext cx="0" cy="1447800"/>
            </a:xfrm>
            <a:prstGeom prst="line">
              <a:avLst/>
            </a:prstGeom>
            <a:ln w="25400" cap="flat" cmpd="sng">
              <a:solidFill>
                <a:schemeClr val="tx1"/>
              </a:solidFill>
              <a:prstDash val="solid"/>
              <a:headEnd type="none" w="med" len="med"/>
              <a:tailEnd type="none" w="med" len="med"/>
            </a:ln>
          </p:spPr>
        </p:sp>
        <p:sp>
          <p:nvSpPr>
            <p:cNvPr id="64531" name="Line 23"/>
            <p:cNvSpPr/>
            <p:nvPr/>
          </p:nvSpPr>
          <p:spPr>
            <a:xfrm>
              <a:off x="1214637" y="2136589"/>
              <a:ext cx="1259812" cy="0"/>
            </a:xfrm>
            <a:prstGeom prst="line">
              <a:avLst/>
            </a:prstGeom>
            <a:ln w="25400" cap="flat" cmpd="sng">
              <a:solidFill>
                <a:schemeClr val="tx1"/>
              </a:solidFill>
              <a:prstDash val="solid"/>
              <a:headEnd type="none" w="med" len="med"/>
              <a:tailEnd type="none" w="med" len="med"/>
            </a:ln>
          </p:spPr>
        </p:sp>
        <p:sp>
          <p:nvSpPr>
            <p:cNvPr id="64532" name="Line 23"/>
            <p:cNvSpPr/>
            <p:nvPr/>
          </p:nvSpPr>
          <p:spPr>
            <a:xfrm flipV="1">
              <a:off x="1204902" y="3599501"/>
              <a:ext cx="1256462" cy="0"/>
            </a:xfrm>
            <a:prstGeom prst="line">
              <a:avLst/>
            </a:prstGeom>
            <a:ln w="25400" cap="flat" cmpd="sng">
              <a:solidFill>
                <a:schemeClr val="tx1"/>
              </a:solidFill>
              <a:prstDash val="solid"/>
              <a:headEnd type="none" w="med" len="med"/>
              <a:tailEnd type="none" w="med" len="med"/>
            </a:ln>
          </p:spPr>
        </p:sp>
        <p:sp>
          <p:nvSpPr>
            <p:cNvPr id="64533" name="Line 25"/>
            <p:cNvSpPr/>
            <p:nvPr/>
          </p:nvSpPr>
          <p:spPr>
            <a:xfrm>
              <a:off x="584795" y="2875352"/>
              <a:ext cx="620107" cy="724148"/>
            </a:xfrm>
            <a:prstGeom prst="line">
              <a:avLst/>
            </a:prstGeom>
            <a:ln w="25400" cap="flat" cmpd="sng">
              <a:solidFill>
                <a:schemeClr val="tx1"/>
              </a:solidFill>
              <a:prstDash val="solid"/>
              <a:headEnd type="none" w="med" len="med"/>
              <a:tailEnd type="none" w="med" len="med"/>
            </a:ln>
          </p:spPr>
        </p:sp>
        <p:sp>
          <p:nvSpPr>
            <p:cNvPr id="64534" name="Text Box 12"/>
            <p:cNvSpPr txBox="1"/>
            <p:nvPr/>
          </p:nvSpPr>
          <p:spPr>
            <a:xfrm>
              <a:off x="188234" y="2409041"/>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rPr>
                <a:t>0</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35" name="AutoShape 11"/>
            <p:cNvSpPr/>
            <p:nvPr/>
          </p:nvSpPr>
          <p:spPr>
            <a:xfrm>
              <a:off x="2361745" y="20692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36" name="Text Box 12"/>
            <p:cNvSpPr txBox="1"/>
            <p:nvPr/>
          </p:nvSpPr>
          <p:spPr>
            <a:xfrm>
              <a:off x="904729" y="1676411"/>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b</a:t>
              </a:r>
              <a:endParaRPr lang="en-US" altLang="zh-TW" sz="2000" i="1" dirty="0">
                <a:latin typeface="Times New Roman" panose="02020603050405020304" pitchFamily="18" charset="0"/>
                <a:ea typeface="Times New Roman" panose="02020603050405020304" pitchFamily="18" charset="0"/>
              </a:endParaRPr>
            </a:p>
          </p:txBody>
        </p:sp>
        <p:sp>
          <p:nvSpPr>
            <p:cNvPr id="64537" name="AutoShape 30"/>
            <p:cNvSpPr/>
            <p:nvPr/>
          </p:nvSpPr>
          <p:spPr>
            <a:xfrm>
              <a:off x="3104333" y="2735009"/>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38" name="AutoShape 32"/>
            <p:cNvSpPr/>
            <p:nvPr/>
          </p:nvSpPr>
          <p:spPr>
            <a:xfrm>
              <a:off x="1133239" y="3506902"/>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39" name="AutoShape 33"/>
            <p:cNvSpPr/>
            <p:nvPr/>
          </p:nvSpPr>
          <p:spPr>
            <a:xfrm>
              <a:off x="1152431" y="2082393"/>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40" name="Text Box 12"/>
            <p:cNvSpPr txBox="1"/>
            <p:nvPr/>
          </p:nvSpPr>
          <p:spPr>
            <a:xfrm>
              <a:off x="2504346" y="3416408"/>
              <a:ext cx="389490"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e</a:t>
              </a:r>
              <a:endParaRPr lang="en-US" altLang="zh-TW" sz="2000" i="1" dirty="0">
                <a:latin typeface="Times New Roman" panose="02020603050405020304" pitchFamily="18" charset="0"/>
                <a:ea typeface="Times New Roman" panose="02020603050405020304" pitchFamily="18" charset="0"/>
              </a:endParaRPr>
            </a:p>
          </p:txBody>
        </p:sp>
        <p:sp>
          <p:nvSpPr>
            <p:cNvPr id="64541" name="AutoShape 11"/>
            <p:cNvSpPr/>
            <p:nvPr/>
          </p:nvSpPr>
          <p:spPr>
            <a:xfrm>
              <a:off x="514808" y="2805181"/>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42" name="Text Box 12"/>
            <p:cNvSpPr txBox="1"/>
            <p:nvPr/>
          </p:nvSpPr>
          <p:spPr>
            <a:xfrm>
              <a:off x="804753" y="3507987"/>
              <a:ext cx="389490"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c</a:t>
              </a:r>
              <a:endParaRPr lang="en-US" altLang="zh-TW" sz="2000" i="1" dirty="0">
                <a:latin typeface="Times New Roman" panose="02020603050405020304" pitchFamily="18" charset="0"/>
                <a:ea typeface="Times New Roman" panose="02020603050405020304" pitchFamily="18" charset="0"/>
              </a:endParaRPr>
            </a:p>
          </p:txBody>
        </p:sp>
        <p:sp>
          <p:nvSpPr>
            <p:cNvPr id="64543" name="Text Box 12"/>
            <p:cNvSpPr txBox="1"/>
            <p:nvPr/>
          </p:nvSpPr>
          <p:spPr>
            <a:xfrm>
              <a:off x="188234" y="2592199"/>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a</a:t>
              </a:r>
              <a:endParaRPr lang="en-US" altLang="zh-TW" sz="2000" i="1" dirty="0">
                <a:latin typeface="Times New Roman" panose="02020603050405020304" pitchFamily="18" charset="0"/>
                <a:ea typeface="Times New Roman" panose="02020603050405020304" pitchFamily="18" charset="0"/>
              </a:endParaRPr>
            </a:p>
          </p:txBody>
        </p:sp>
        <p:sp>
          <p:nvSpPr>
            <p:cNvPr id="64544" name="AutoShape 30"/>
            <p:cNvSpPr/>
            <p:nvPr/>
          </p:nvSpPr>
          <p:spPr>
            <a:xfrm>
              <a:off x="2361745" y="3530278"/>
              <a:ext cx="135587" cy="121896"/>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4545" name="Text Box 12"/>
            <p:cNvSpPr txBox="1"/>
            <p:nvPr/>
          </p:nvSpPr>
          <p:spPr>
            <a:xfrm>
              <a:off x="3243752" y="2594107"/>
              <a:ext cx="37074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z</a:t>
              </a:r>
              <a:endParaRPr lang="en-US" altLang="zh-TW" sz="2000" i="1" dirty="0">
                <a:latin typeface="Times New Roman" panose="02020603050405020304" pitchFamily="18" charset="0"/>
                <a:ea typeface="Times New Roman" panose="02020603050405020304" pitchFamily="18" charset="0"/>
              </a:endParaRPr>
            </a:p>
          </p:txBody>
        </p:sp>
        <p:sp>
          <p:nvSpPr>
            <p:cNvPr id="64546" name="Text Box 12"/>
            <p:cNvSpPr txBox="1"/>
            <p:nvPr/>
          </p:nvSpPr>
          <p:spPr>
            <a:xfrm>
              <a:off x="2754286" y="2103779"/>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6</a:t>
              </a:r>
              <a:endParaRPr lang="en-US" altLang="zh-TW" sz="2000" dirty="0">
                <a:latin typeface="Times New Roman" panose="02020603050405020304" pitchFamily="18" charset="0"/>
                <a:ea typeface="Times New Roman" panose="02020603050405020304" pitchFamily="18" charset="0"/>
              </a:endParaRPr>
            </a:p>
          </p:txBody>
        </p:sp>
        <p:sp>
          <p:nvSpPr>
            <p:cNvPr id="64547" name="Text Box 12"/>
            <p:cNvSpPr txBox="1"/>
            <p:nvPr/>
          </p:nvSpPr>
          <p:spPr>
            <a:xfrm>
              <a:off x="2825102" y="3086343"/>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3</a:t>
              </a:r>
              <a:endParaRPr lang="en-US" altLang="zh-TW" sz="2000" dirty="0">
                <a:latin typeface="Times New Roman" panose="02020603050405020304" pitchFamily="18" charset="0"/>
                <a:ea typeface="Times New Roman" panose="02020603050405020304" pitchFamily="18" charset="0"/>
              </a:endParaRPr>
            </a:p>
          </p:txBody>
        </p:sp>
        <p:sp>
          <p:nvSpPr>
            <p:cNvPr id="64548" name="Text Box 12"/>
            <p:cNvSpPr txBox="1"/>
            <p:nvPr/>
          </p:nvSpPr>
          <p:spPr>
            <a:xfrm>
              <a:off x="1604561" y="2409041"/>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8</a:t>
              </a:r>
              <a:endParaRPr lang="en-US" altLang="zh-TW" sz="2000" dirty="0">
                <a:latin typeface="Times New Roman" panose="02020603050405020304" pitchFamily="18" charset="0"/>
                <a:ea typeface="Times New Roman" panose="02020603050405020304" pitchFamily="18" charset="0"/>
              </a:endParaRPr>
            </a:p>
          </p:txBody>
        </p:sp>
        <p:sp>
          <p:nvSpPr>
            <p:cNvPr id="64549" name="Text Box 12"/>
            <p:cNvSpPr txBox="1"/>
            <p:nvPr/>
          </p:nvSpPr>
          <p:spPr>
            <a:xfrm>
              <a:off x="1675378" y="1676411"/>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a:t>
              </a:r>
              <a:endParaRPr lang="en-US" altLang="zh-TW" sz="2000" dirty="0">
                <a:latin typeface="Times New Roman" panose="02020603050405020304" pitchFamily="18" charset="0"/>
                <a:ea typeface="Times New Roman" panose="02020603050405020304" pitchFamily="18" charset="0"/>
              </a:endParaRPr>
            </a:p>
          </p:txBody>
        </p:sp>
        <p:sp>
          <p:nvSpPr>
            <p:cNvPr id="64550" name="Text Box 12"/>
            <p:cNvSpPr txBox="1"/>
            <p:nvPr/>
          </p:nvSpPr>
          <p:spPr>
            <a:xfrm>
              <a:off x="604801" y="2134305"/>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4</a:t>
              </a:r>
              <a:endParaRPr lang="en-US" altLang="zh-TW" sz="2000" dirty="0">
                <a:latin typeface="Times New Roman" panose="02020603050405020304" pitchFamily="18" charset="0"/>
                <a:ea typeface="Times New Roman" panose="02020603050405020304" pitchFamily="18" charset="0"/>
              </a:endParaRPr>
            </a:p>
          </p:txBody>
        </p:sp>
        <p:sp>
          <p:nvSpPr>
            <p:cNvPr id="64551" name="Text Box 12"/>
            <p:cNvSpPr txBox="1"/>
            <p:nvPr/>
          </p:nvSpPr>
          <p:spPr>
            <a:xfrm>
              <a:off x="488162" y="3050093"/>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4552" name="Text Box 12"/>
            <p:cNvSpPr txBox="1"/>
            <p:nvPr/>
          </p:nvSpPr>
          <p:spPr>
            <a:xfrm>
              <a:off x="1704537" y="3506079"/>
              <a:ext cx="57486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10</a:t>
              </a:r>
              <a:endParaRPr lang="en-US" altLang="zh-TW" sz="2000" dirty="0">
                <a:latin typeface="Times New Roman" panose="02020603050405020304" pitchFamily="18" charset="0"/>
                <a:ea typeface="Times New Roman" panose="02020603050405020304" pitchFamily="18" charset="0"/>
              </a:endParaRPr>
            </a:p>
          </p:txBody>
        </p:sp>
        <p:sp>
          <p:nvSpPr>
            <p:cNvPr id="64553" name="Text Box 12"/>
            <p:cNvSpPr txBox="1"/>
            <p:nvPr/>
          </p:nvSpPr>
          <p:spPr>
            <a:xfrm>
              <a:off x="904729" y="2683778"/>
              <a:ext cx="408236"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a:t>
              </a:r>
              <a:endParaRPr lang="en-US" altLang="zh-TW" sz="2000" dirty="0">
                <a:latin typeface="Times New Roman" panose="02020603050405020304" pitchFamily="18" charset="0"/>
                <a:ea typeface="Times New Roman" panose="02020603050405020304" pitchFamily="18" charset="0"/>
              </a:endParaRPr>
            </a:p>
          </p:txBody>
        </p:sp>
        <p:sp>
          <p:nvSpPr>
            <p:cNvPr id="64554" name="Text Box 12"/>
            <p:cNvSpPr txBox="1"/>
            <p:nvPr/>
          </p:nvSpPr>
          <p:spPr>
            <a:xfrm>
              <a:off x="2104442" y="2775357"/>
              <a:ext cx="408235"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ea typeface="Times New Roman" panose="02020603050405020304" pitchFamily="18" charset="0"/>
              </a:endParaRPr>
            </a:p>
          </p:txBody>
        </p:sp>
        <p:sp>
          <p:nvSpPr>
            <p:cNvPr id="64555" name="Text Box 12"/>
            <p:cNvSpPr txBox="1"/>
            <p:nvPr/>
          </p:nvSpPr>
          <p:spPr>
            <a:xfrm>
              <a:off x="488162" y="1310096"/>
              <a:ext cx="999761" cy="4769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56" name="Text Box 12"/>
            <p:cNvSpPr txBox="1"/>
            <p:nvPr/>
          </p:nvSpPr>
          <p:spPr>
            <a:xfrm>
              <a:off x="1987803" y="1401675"/>
              <a:ext cx="795643"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8(</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b</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57" name="Text Box 12"/>
            <p:cNvSpPr txBox="1"/>
            <p:nvPr/>
          </p:nvSpPr>
          <p:spPr>
            <a:xfrm>
              <a:off x="1987803" y="3782723"/>
              <a:ext cx="962269" cy="4769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10(</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sp>
          <p:nvSpPr>
            <p:cNvPr id="64558" name="Text Box 12"/>
            <p:cNvSpPr txBox="1"/>
            <p:nvPr/>
          </p:nvSpPr>
          <p:spPr>
            <a:xfrm>
              <a:off x="788090" y="3782713"/>
              <a:ext cx="795643" cy="47697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TW"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TW" sz="2000" dirty="0">
                <a:solidFill>
                  <a:srgbClr val="FF0000"/>
                </a:solidFill>
                <a:latin typeface="Times New Roman" panose="02020603050405020304" pitchFamily="18" charset="0"/>
                <a:ea typeface="Times New Roman" panose="02020603050405020304" pitchFamily="18" charset="0"/>
              </a:endParaRPr>
            </a:p>
          </p:txBody>
        </p:sp>
      </p:grpSp>
      <p:sp>
        <p:nvSpPr>
          <p:cNvPr id="117" name="矩形 61"/>
          <p:cNvSpPr/>
          <p:nvPr/>
        </p:nvSpPr>
        <p:spPr>
          <a:xfrm>
            <a:off x="4876800" y="4419600"/>
            <a:ext cx="3398838" cy="946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800" b="1" dirty="0">
                <a:solidFill>
                  <a:srgbClr val="008000"/>
                </a:solidFill>
                <a:sym typeface="Symbol" panose="05050102010706020507" pitchFamily="18" charset="2"/>
              </a:rPr>
              <a:t> </a:t>
            </a:r>
            <a:r>
              <a:rPr lang="en-US" altLang="zh-TW" sz="2800" dirty="0">
                <a:sym typeface="Symbol" panose="05050102010706020507" pitchFamily="18" charset="2"/>
              </a:rPr>
              <a:t>path: </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a, c, b, d, e, z</a:t>
            </a:r>
            <a:b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b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800" dirty="0">
                <a:sym typeface="Symbol" panose="05050102010706020507" pitchFamily="18" charset="2"/>
              </a:rPr>
              <a:t>length:</a:t>
            </a:r>
            <a:r>
              <a:rPr lang="en-US" altLang="zh-TW" sz="2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800" dirty="0">
                <a:latin typeface="Times New Roman" panose="02020603050405020304" pitchFamily="18" charset="0"/>
                <a:cs typeface="Times New Roman" panose="02020603050405020304" pitchFamily="18" charset="0"/>
                <a:sym typeface="Symbol" panose="05050102010706020507" pitchFamily="18" charset="2"/>
              </a:rPr>
              <a:t>13</a:t>
            </a:r>
            <a:r>
              <a:rPr lang="en-US" altLang="zh-TW" sz="2800" dirty="0">
                <a:latin typeface="Times New Roman" panose="02020603050405020304" pitchFamily="18" charset="0"/>
                <a:cs typeface="Times New Roman" panose="02020603050405020304" pitchFamily="18" charset="0"/>
              </a:rPr>
              <a:t> </a:t>
            </a:r>
            <a:endParaRPr lang="zh-TW" altLang="en-US" sz="1800" dirty="0">
              <a:latin typeface="Times New Roman" panose="02020603050405020304" pitchFamily="18" charset="0"/>
              <a:ea typeface="Times New Roman" panose="02020603050405020304" pitchFamily="18" charset="0"/>
            </a:endParaRPr>
          </a:p>
        </p:txBody>
      </p:sp>
      <p:sp>
        <p:nvSpPr>
          <p:cNvPr id="64522" name="文字方塊 117"/>
          <p:cNvSpPr txBox="1"/>
          <p:nvPr/>
        </p:nvSpPr>
        <p:spPr>
          <a:xfrm>
            <a:off x="685800" y="609600"/>
            <a:ext cx="33464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CN" sz="1800" dirty="0"/>
              <a:t>(last figure from previous page)</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9"/>
                                        </p:tgtEl>
                                        <p:attrNameLst>
                                          <p:attrName>style.visibility</p:attrName>
                                        </p:attrNameLst>
                                      </p:cBhvr>
                                      <p:to>
                                        <p:strVal val="visible"/>
                                      </p:to>
                                    </p:set>
                                    <p:anim calcmode="lin" valueType="num">
                                      <p:cBhvr additive="base">
                                        <p:cTn id="19" dur="500" fill="hold"/>
                                        <p:tgtEl>
                                          <p:spTgt spid="79"/>
                                        </p:tgtEl>
                                        <p:attrNameLst>
                                          <p:attrName>ppt_x</p:attrName>
                                        </p:attrNameLst>
                                      </p:cBhvr>
                                      <p:tavLst>
                                        <p:tav tm="0">
                                          <p:val>
                                            <p:strVal val="#ppt_x"/>
                                          </p:val>
                                        </p:tav>
                                        <p:tav tm="100000">
                                          <p:val>
                                            <p:strVal val="#ppt_x"/>
                                          </p:val>
                                        </p:tav>
                                      </p:tavLst>
                                    </p:anim>
                                    <p:anim calcmode="lin" valueType="num">
                                      <p:cBhvr additive="base">
                                        <p:cTn id="20"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7"/>
                                        </p:tgtEl>
                                        <p:attrNameLst>
                                          <p:attrName>style.visibility</p:attrName>
                                        </p:attrNameLst>
                                      </p:cBhvr>
                                      <p:to>
                                        <p:strVal val="visible"/>
                                      </p:to>
                                    </p:set>
                                    <p:anim calcmode="lin" valueType="num">
                                      <p:cBhvr additive="base">
                                        <p:cTn id="31" dur="500" fill="hold"/>
                                        <p:tgtEl>
                                          <p:spTgt spid="117"/>
                                        </p:tgtEl>
                                        <p:attrNameLst>
                                          <p:attrName>ppt_x</p:attrName>
                                        </p:attrNameLst>
                                      </p:cBhvr>
                                      <p:tavLst>
                                        <p:tav tm="0">
                                          <p:val>
                                            <p:strVal val="#ppt_x"/>
                                          </p:val>
                                        </p:tav>
                                        <p:tav tm="100000">
                                          <p:val>
                                            <p:strVal val="#ppt_x"/>
                                          </p:val>
                                        </p:tav>
                                      </p:tavLst>
                                    </p:anim>
                                    <p:anim calcmode="lin" valueType="num">
                                      <p:cBhvr additive="base">
                                        <p:cTn id="32"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1" grpId="0"/>
      <p:bldP spid="79" grpId="0"/>
      <p:bldP spid="11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內容版面配置區 5"/>
          <p:cNvSpPr>
            <a:spLocks noGrp="1"/>
          </p:cNvSpPr>
          <p:nvPr>
            <p:ph idx="1"/>
          </p:nvPr>
        </p:nvSpPr>
        <p:spPr>
          <a:xfrm>
            <a:off x="228600" y="990600"/>
            <a:ext cx="6400800" cy="4267200"/>
          </a:xfrm>
          <a:ln>
            <a:solidFill>
              <a:srgbClr val="000000">
                <a:alpha val="100000"/>
              </a:srgbClr>
            </a:solidFill>
            <a:miter lim="800000"/>
          </a:ln>
        </p:spPr>
        <p:txBody>
          <a:bodyPr vert="horz" wrap="square" lIns="91440" tIns="45720" rIns="91440" bIns="45720" anchor="t"/>
          <a:p>
            <a:pPr>
              <a:buNone/>
            </a:pPr>
            <a:r>
              <a:rPr lang="en-US" altLang="zh-TW" sz="2100" b="1" dirty="0">
                <a:latin typeface="Times New Roman" panose="02020603050405020304" pitchFamily="18" charset="0"/>
                <a:cs typeface="Times New Roman" panose="02020603050405020304" pitchFamily="18" charset="0"/>
              </a:rPr>
              <a:t>Procedure</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Floyd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G</a:t>
            </a:r>
            <a:r>
              <a:rPr lang="en-US" altLang="zh-TW" sz="2100" dirty="0">
                <a:latin typeface="Times New Roman" panose="02020603050405020304" pitchFamily="18" charset="0"/>
                <a:cs typeface="Times New Roman" panose="02020603050405020304" pitchFamily="18" charset="0"/>
              </a:rPr>
              <a:t>: weighted simple graph)</a:t>
            </a:r>
            <a:endParaRPr lang="en-US" altLang="zh-TW" sz="2100" dirty="0">
              <a:latin typeface="Times New Roman" panose="02020603050405020304" pitchFamily="18" charset="0"/>
              <a:cs typeface="Times New Roman" panose="02020603050405020304" pitchFamily="18" charset="0"/>
            </a:endParaRPr>
          </a:p>
          <a:p>
            <a:pPr>
              <a:buNone/>
            </a:pP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G</a:t>
            </a:r>
            <a:r>
              <a:rPr lang="en-US" altLang="zh-TW" sz="2100" dirty="0">
                <a:latin typeface="Times New Roman" panose="02020603050405020304" pitchFamily="18" charset="0"/>
                <a:cs typeface="Times New Roman" panose="02020603050405020304" pitchFamily="18" charset="0"/>
              </a:rPr>
              <a:t> has vertices </a:t>
            </a:r>
            <a:r>
              <a:rPr lang="en-US" altLang="zh-TW" sz="2100" i="1" dirty="0">
                <a:latin typeface="Times New Roman" panose="02020603050405020304" pitchFamily="18" charset="0"/>
                <a:cs typeface="Times New Roman" panose="02020603050405020304" pitchFamily="18" charset="0"/>
              </a:rPr>
              <a:t>v</a:t>
            </a:r>
            <a:r>
              <a:rPr lang="en-US" altLang="zh-TW" sz="2100" baseline="-25000" dirty="0">
                <a:latin typeface="Times New Roman" panose="02020603050405020304" pitchFamily="18" charset="0"/>
                <a:cs typeface="Times New Roman" panose="02020603050405020304" pitchFamily="18" charset="0"/>
              </a:rPr>
              <a:t>1</a:t>
            </a:r>
            <a:r>
              <a:rPr lang="en-US" altLang="zh-TW" sz="2100" dirty="0">
                <a:latin typeface="Times New Roman" panose="02020603050405020304" pitchFamily="18" charset="0"/>
                <a:cs typeface="Times New Roman" panose="02020603050405020304" pitchFamily="18" charset="0"/>
              </a:rPr>
              <a:t>, </a:t>
            </a:r>
            <a:r>
              <a:rPr lang="en-US" altLang="zh-TW" sz="2100" dirty="0">
                <a:latin typeface="Times New Roman" panose="02020603050405020304" pitchFamily="18" charset="0"/>
                <a:ea typeface="Times New Roman" panose="02020603050405020304" pitchFamily="18" charset="0"/>
              </a:rPr>
              <a:t>…</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n</a:t>
            </a:r>
            <a:r>
              <a:rPr lang="en-US" altLang="zh-TW" sz="2100" dirty="0">
                <a:latin typeface="Times New Roman" panose="02020603050405020304" pitchFamily="18" charset="0"/>
                <a:cs typeface="Times New Roman" panose="02020603050405020304" pitchFamily="18" charset="0"/>
              </a:rPr>
              <a:t> and weights </a:t>
            </a:r>
            <a:r>
              <a:rPr lang="en-US" altLang="zh-TW" sz="2100" i="1" dirty="0">
                <a:latin typeface="Times New Roman" panose="02020603050405020304" pitchFamily="18" charset="0"/>
                <a:cs typeface="Times New Roman" panose="02020603050405020304" pitchFamily="18" charset="0"/>
              </a:rPr>
              <a:t>w</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with</a:t>
            </a:r>
            <a:br>
              <a:rPr lang="en-US" altLang="zh-TW" sz="2100" dirty="0">
                <a:latin typeface="Times New Roman" panose="02020603050405020304" pitchFamily="18" charset="0"/>
                <a:cs typeface="Times New Roman" panose="02020603050405020304" pitchFamily="18" charset="0"/>
              </a:rPr>
            </a:b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w</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 </a:t>
            </a: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if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is not an edge}</a:t>
            </a:r>
            <a:endParaRPr lang="en-US" altLang="zh-TW" sz="2100" dirty="0">
              <a:latin typeface="Times New Roman" panose="02020603050405020304" pitchFamily="18" charset="0"/>
              <a:cs typeface="Times New Roman" panose="02020603050405020304" pitchFamily="18" charset="0"/>
            </a:endParaRPr>
          </a:p>
          <a:p>
            <a:pPr>
              <a:buNone/>
            </a:pPr>
            <a:r>
              <a:rPr lang="en-US" altLang="zh-TW" sz="2100" b="1" dirty="0">
                <a:latin typeface="Times New Roman" panose="02020603050405020304" pitchFamily="18" charset="0"/>
                <a:cs typeface="Times New Roman" panose="02020603050405020304" pitchFamily="18" charset="0"/>
              </a:rPr>
              <a:t>for</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i </a:t>
            </a:r>
            <a:r>
              <a:rPr lang="en-US" altLang="zh-TW" sz="2100" dirty="0">
                <a:latin typeface="Times New Roman" panose="02020603050405020304" pitchFamily="18" charset="0"/>
                <a:cs typeface="Times New Roman" panose="02020603050405020304" pitchFamily="18" charset="0"/>
              </a:rPr>
              <a:t>:= 1 </a:t>
            </a:r>
            <a:r>
              <a:rPr lang="en-US" altLang="zh-TW" sz="2100" b="1" dirty="0">
                <a:latin typeface="Times New Roman" panose="02020603050405020304" pitchFamily="18" charset="0"/>
                <a:cs typeface="Times New Roman" panose="02020603050405020304" pitchFamily="18" charset="0"/>
              </a:rPr>
              <a:t>to</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n</a:t>
            </a:r>
            <a:br>
              <a:rPr lang="en-US" altLang="zh-TW" sz="2100" i="1" dirty="0">
                <a:latin typeface="Times New Roman" panose="02020603050405020304" pitchFamily="18" charset="0"/>
                <a:cs typeface="Times New Roman" panose="02020603050405020304" pitchFamily="18" charset="0"/>
              </a:rPr>
            </a:br>
            <a:r>
              <a:rPr lang="en-US" altLang="zh-TW" sz="2100" b="1" dirty="0">
                <a:latin typeface="Times New Roman" panose="02020603050405020304" pitchFamily="18" charset="0"/>
                <a:cs typeface="Times New Roman" panose="02020603050405020304" pitchFamily="18" charset="0"/>
              </a:rPr>
              <a:t> for</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j </a:t>
            </a:r>
            <a:r>
              <a:rPr lang="en-US" altLang="zh-TW" sz="2100" dirty="0">
                <a:latin typeface="Times New Roman" panose="02020603050405020304" pitchFamily="18" charset="0"/>
                <a:cs typeface="Times New Roman" panose="02020603050405020304" pitchFamily="18" charset="0"/>
              </a:rPr>
              <a:t>:= 1 </a:t>
            </a:r>
            <a:r>
              <a:rPr lang="en-US" altLang="zh-TW" sz="2100" b="1" dirty="0">
                <a:latin typeface="Times New Roman" panose="02020603050405020304" pitchFamily="18" charset="0"/>
                <a:cs typeface="Times New Roman" panose="02020603050405020304" pitchFamily="18" charset="0"/>
              </a:rPr>
              <a:t>to</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n </a:t>
            </a:r>
            <a:br>
              <a:rPr lang="en-US" altLang="zh-TW" sz="2100" dirty="0">
                <a:latin typeface="Times New Roman" panose="02020603050405020304" pitchFamily="18" charset="0"/>
                <a:cs typeface="Times New Roman" panose="02020603050405020304" pitchFamily="18" charset="0"/>
              </a:rPr>
            </a:b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 </a:t>
            </a:r>
            <a:r>
              <a:rPr lang="en-US" altLang="zh-TW" sz="2100" i="1" dirty="0">
                <a:latin typeface="Times New Roman" panose="02020603050405020304" pitchFamily="18" charset="0"/>
                <a:cs typeface="Times New Roman" panose="02020603050405020304" pitchFamily="18" charset="0"/>
              </a:rPr>
              <a:t>w</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a:t>
            </a:r>
            <a:endParaRPr lang="en-US" altLang="zh-TW" sz="2100" dirty="0">
              <a:latin typeface="Times New Roman" panose="02020603050405020304" pitchFamily="18" charset="0"/>
              <a:cs typeface="Times New Roman" panose="02020603050405020304" pitchFamily="18" charset="0"/>
              <a:sym typeface="Symbol" panose="05050102010706020507" pitchFamily="18" charset="2"/>
            </a:endParaRPr>
          </a:p>
          <a:p>
            <a:pPr>
              <a:buNone/>
            </a:pPr>
            <a:r>
              <a:rPr lang="en-US" altLang="zh-TW" sz="2100" b="1" dirty="0">
                <a:latin typeface="Times New Roman" panose="02020603050405020304" pitchFamily="18" charset="0"/>
                <a:cs typeface="Times New Roman" panose="02020603050405020304" pitchFamily="18" charset="0"/>
              </a:rPr>
              <a:t>for</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i </a:t>
            </a:r>
            <a:r>
              <a:rPr lang="en-US" altLang="zh-TW" sz="2100" dirty="0">
                <a:latin typeface="Times New Roman" panose="02020603050405020304" pitchFamily="18" charset="0"/>
                <a:cs typeface="Times New Roman" panose="02020603050405020304" pitchFamily="18" charset="0"/>
              </a:rPr>
              <a:t>:= 1 </a:t>
            </a:r>
            <a:r>
              <a:rPr lang="en-US" altLang="zh-TW" sz="2100" b="1" dirty="0">
                <a:latin typeface="Times New Roman" panose="02020603050405020304" pitchFamily="18" charset="0"/>
                <a:cs typeface="Times New Roman" panose="02020603050405020304" pitchFamily="18" charset="0"/>
              </a:rPr>
              <a:t>to</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n</a:t>
            </a:r>
            <a:br>
              <a:rPr lang="en-US" altLang="zh-TW" sz="2100" i="1" dirty="0">
                <a:latin typeface="Times New Roman" panose="02020603050405020304" pitchFamily="18" charset="0"/>
                <a:cs typeface="Times New Roman" panose="02020603050405020304" pitchFamily="18" charset="0"/>
              </a:rPr>
            </a:br>
            <a:r>
              <a:rPr lang="en-US" altLang="zh-TW" sz="2100" b="1" dirty="0">
                <a:latin typeface="Times New Roman" panose="02020603050405020304" pitchFamily="18" charset="0"/>
                <a:cs typeface="Times New Roman" panose="02020603050405020304" pitchFamily="18" charset="0"/>
              </a:rPr>
              <a:t> for</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j </a:t>
            </a:r>
            <a:r>
              <a:rPr lang="en-US" altLang="zh-TW" sz="2100" dirty="0">
                <a:latin typeface="Times New Roman" panose="02020603050405020304" pitchFamily="18" charset="0"/>
                <a:cs typeface="Times New Roman" panose="02020603050405020304" pitchFamily="18" charset="0"/>
              </a:rPr>
              <a:t>:= 1 </a:t>
            </a:r>
            <a:r>
              <a:rPr lang="en-US" altLang="zh-TW" sz="2100" b="1" dirty="0">
                <a:latin typeface="Times New Roman" panose="02020603050405020304" pitchFamily="18" charset="0"/>
                <a:cs typeface="Times New Roman" panose="02020603050405020304" pitchFamily="18" charset="0"/>
              </a:rPr>
              <a:t>to</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n</a:t>
            </a:r>
            <a:br>
              <a:rPr lang="en-US" altLang="zh-TW" sz="2100" i="1" dirty="0">
                <a:latin typeface="Times New Roman" panose="02020603050405020304" pitchFamily="18" charset="0"/>
                <a:cs typeface="Times New Roman" panose="02020603050405020304" pitchFamily="18" charset="0"/>
              </a:rPr>
            </a:br>
            <a:r>
              <a:rPr lang="en-US" altLang="zh-TW" sz="2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100" b="1" dirty="0">
                <a:latin typeface="Times New Roman" panose="02020603050405020304" pitchFamily="18" charset="0"/>
                <a:cs typeface="Times New Roman" panose="02020603050405020304" pitchFamily="18" charset="0"/>
              </a:rPr>
              <a:t> for</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k </a:t>
            </a:r>
            <a:r>
              <a:rPr lang="en-US" altLang="zh-TW" sz="2100" dirty="0">
                <a:latin typeface="Times New Roman" panose="02020603050405020304" pitchFamily="18" charset="0"/>
                <a:cs typeface="Times New Roman" panose="02020603050405020304" pitchFamily="18" charset="0"/>
              </a:rPr>
              <a:t>:= 1 </a:t>
            </a:r>
            <a:r>
              <a:rPr lang="en-US" altLang="zh-TW" sz="2100" b="1" dirty="0">
                <a:latin typeface="Times New Roman" panose="02020603050405020304" pitchFamily="18" charset="0"/>
                <a:cs typeface="Times New Roman" panose="02020603050405020304" pitchFamily="18" charset="0"/>
              </a:rPr>
              <a:t>to</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n</a:t>
            </a:r>
            <a:br>
              <a:rPr lang="en-US" altLang="zh-TW" sz="2100" i="1" dirty="0">
                <a:latin typeface="Times New Roman" panose="02020603050405020304" pitchFamily="18" charset="0"/>
                <a:cs typeface="Times New Roman" panose="02020603050405020304" pitchFamily="18" charset="0"/>
              </a:rPr>
            </a:br>
            <a:r>
              <a:rPr lang="en-US" altLang="zh-TW" sz="2100" i="1" dirty="0">
                <a:latin typeface="Times New Roman" panose="02020603050405020304" pitchFamily="18" charset="0"/>
                <a:cs typeface="Times New Roman" panose="02020603050405020304" pitchFamily="18" charset="0"/>
              </a:rPr>
              <a:t>              </a:t>
            </a:r>
            <a:r>
              <a:rPr lang="en-US" altLang="zh-TW" sz="2100" b="1" dirty="0">
                <a:latin typeface="Times New Roman" panose="02020603050405020304" pitchFamily="18" charset="0"/>
                <a:cs typeface="Times New Roman" panose="02020603050405020304" pitchFamily="18" charset="0"/>
              </a:rPr>
              <a:t>if </a:t>
            </a:r>
            <a:r>
              <a:rPr lang="en-US" altLang="zh-TW" sz="2100" i="1" dirty="0">
                <a:latin typeface="Times New Roman" panose="02020603050405020304" pitchFamily="18" charset="0"/>
                <a:cs typeface="Times New Roman" panose="02020603050405020304" pitchFamily="18" charset="0"/>
              </a:rPr>
              <a:t>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 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k</a:t>
            </a:r>
            <a:r>
              <a:rPr lang="en-US" altLang="zh-TW" sz="2100" dirty="0">
                <a:latin typeface="Times New Roman" panose="02020603050405020304" pitchFamily="18" charset="0"/>
                <a:cs typeface="Times New Roman" panose="02020603050405020304" pitchFamily="18" charset="0"/>
              </a:rPr>
              <a:t>)  &lt; </a:t>
            </a:r>
            <a:r>
              <a:rPr lang="en-US" altLang="zh-TW" sz="2100" i="1" dirty="0">
                <a:latin typeface="Times New Roman" panose="02020603050405020304" pitchFamily="18" charset="0"/>
                <a:cs typeface="Times New Roman" panose="02020603050405020304" pitchFamily="18" charset="0"/>
              </a:rPr>
              <a:t>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k</a:t>
            </a:r>
            <a:r>
              <a:rPr lang="en-US" altLang="zh-TW" sz="2100" dirty="0">
                <a:latin typeface="Times New Roman" panose="02020603050405020304" pitchFamily="18" charset="0"/>
                <a:cs typeface="Times New Roman" panose="02020603050405020304" pitchFamily="18" charset="0"/>
              </a:rPr>
              <a:t>) </a:t>
            </a:r>
            <a:br>
              <a:rPr lang="en-US" altLang="zh-TW" sz="2100" dirty="0">
                <a:latin typeface="Times New Roman" panose="02020603050405020304" pitchFamily="18" charset="0"/>
                <a:cs typeface="Times New Roman" panose="02020603050405020304" pitchFamily="18" charset="0"/>
              </a:rPr>
            </a:br>
            <a:r>
              <a:rPr lang="en-US" altLang="zh-TW" sz="2100" dirty="0">
                <a:latin typeface="Times New Roman" panose="02020603050405020304" pitchFamily="18" charset="0"/>
                <a:cs typeface="Times New Roman" panose="02020603050405020304" pitchFamily="18" charset="0"/>
              </a:rPr>
              <a:t>                    </a:t>
            </a:r>
            <a:r>
              <a:rPr lang="en-US" altLang="zh-TW" sz="2100" b="1" dirty="0">
                <a:latin typeface="Times New Roman" panose="02020603050405020304" pitchFamily="18" charset="0"/>
                <a:cs typeface="Times New Roman" panose="02020603050405020304" pitchFamily="18" charset="0"/>
              </a:rPr>
              <a:t>then</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k</a:t>
            </a:r>
            <a:r>
              <a:rPr lang="en-US" altLang="zh-TW" sz="2100" dirty="0">
                <a:latin typeface="Times New Roman" panose="02020603050405020304" pitchFamily="18" charset="0"/>
                <a:cs typeface="Times New Roman" panose="02020603050405020304" pitchFamily="18" charset="0"/>
              </a:rPr>
              <a:t>) := </a:t>
            </a:r>
            <a:r>
              <a:rPr lang="en-US" altLang="zh-TW" sz="2100" i="1" dirty="0">
                <a:latin typeface="Times New Roman" panose="02020603050405020304" pitchFamily="18" charset="0"/>
                <a:cs typeface="Times New Roman" panose="02020603050405020304" pitchFamily="18" charset="0"/>
              </a:rPr>
              <a:t>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 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k</a:t>
            </a:r>
            <a:r>
              <a:rPr lang="en-US" altLang="zh-TW" sz="2100" dirty="0">
                <a:latin typeface="Times New Roman" panose="02020603050405020304" pitchFamily="18" charset="0"/>
                <a:cs typeface="Times New Roman" panose="02020603050405020304" pitchFamily="18" charset="0"/>
              </a:rPr>
              <a:t>) </a:t>
            </a:r>
            <a:endParaRPr lang="en-US" altLang="zh-TW" sz="2100" dirty="0">
              <a:latin typeface="Times New Roman" panose="02020603050405020304" pitchFamily="18" charset="0"/>
              <a:cs typeface="Times New Roman" panose="02020603050405020304" pitchFamily="18" charset="0"/>
            </a:endParaRPr>
          </a:p>
          <a:p>
            <a:pPr>
              <a:buNone/>
            </a:pP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d</a:t>
            </a:r>
            <a:r>
              <a:rPr lang="en-US" altLang="zh-TW" sz="2100" dirty="0">
                <a:latin typeface="Times New Roman" panose="02020603050405020304" pitchFamily="18" charset="0"/>
                <a:cs typeface="Times New Roman" panose="02020603050405020304" pitchFamily="18" charset="0"/>
              </a:rPr>
              <a:t>(</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 is the length of a shortest path between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i</a:t>
            </a:r>
            <a:r>
              <a:rPr lang="en-US" altLang="zh-TW" sz="2100" dirty="0">
                <a:latin typeface="Times New Roman" panose="02020603050405020304" pitchFamily="18" charset="0"/>
                <a:cs typeface="Times New Roman" panose="02020603050405020304" pitchFamily="18" charset="0"/>
              </a:rPr>
              <a:t> and </a:t>
            </a:r>
            <a:r>
              <a:rPr lang="en-US" altLang="zh-TW" sz="2100" i="1" dirty="0">
                <a:latin typeface="Times New Roman" panose="02020603050405020304" pitchFamily="18" charset="0"/>
                <a:cs typeface="Times New Roman" panose="02020603050405020304" pitchFamily="18" charset="0"/>
              </a:rPr>
              <a:t>v</a:t>
            </a:r>
            <a:r>
              <a:rPr lang="en-US" altLang="zh-TW" sz="2100" i="1" baseline="-25000" dirty="0">
                <a:latin typeface="Times New Roman" panose="02020603050405020304" pitchFamily="18" charset="0"/>
                <a:cs typeface="Times New Roman" panose="02020603050405020304" pitchFamily="18" charset="0"/>
              </a:rPr>
              <a:t>j</a:t>
            </a:r>
            <a:r>
              <a:rPr lang="en-US" altLang="zh-TW" sz="2100" dirty="0">
                <a:latin typeface="Times New Roman" panose="02020603050405020304" pitchFamily="18" charset="0"/>
                <a:cs typeface="Times New Roman" panose="02020603050405020304" pitchFamily="18" charset="0"/>
              </a:rPr>
              <a:t>}</a:t>
            </a:r>
            <a:endParaRPr lang="zh-TW" altLang="en-US" sz="2100" dirty="0">
              <a:latin typeface="Times New Roman" panose="02020603050405020304" pitchFamily="18" charset="0"/>
              <a:ea typeface="Times New Roman" panose="02020603050405020304" pitchFamily="18" charset="0"/>
            </a:endParaRPr>
          </a:p>
        </p:txBody>
      </p:sp>
      <p:sp>
        <p:nvSpPr>
          <p:cNvPr id="65539" name="Rectangle 2"/>
          <p:cNvSpPr>
            <a:spLocks noGrp="1"/>
          </p:cNvSpPr>
          <p:nvPr>
            <p:ph type="title"/>
          </p:nvPr>
        </p:nvSpPr>
        <p:spPr>
          <a:xfrm>
            <a:off x="457200" y="457200"/>
            <a:ext cx="8382000" cy="533400"/>
          </a:xfrm>
        </p:spPr>
        <p:txBody>
          <a:bodyPr vert="horz" wrap="square" lIns="91440" tIns="45720" rIns="91440" bIns="45720" anchor="ctr"/>
          <a:p>
            <a:pPr eaLnBrk="1" hangingPunct="1"/>
            <a:r>
              <a:rPr lang="en-US" altLang="zh-TW" sz="3200" b="1" dirty="0">
                <a:solidFill>
                  <a:srgbClr val="0000CC"/>
                </a:solidFill>
              </a:rPr>
              <a:t>Floyd</a:t>
            </a:r>
            <a:r>
              <a:rPr lang="en-US" altLang="zh-TW" sz="3200" b="1" dirty="0">
                <a:solidFill>
                  <a:srgbClr val="0000CC"/>
                </a:solidFill>
                <a:latin typeface="Times New Roman" panose="02020603050405020304" pitchFamily="18" charset="0"/>
              </a:rPr>
              <a:t>’</a:t>
            </a:r>
            <a:r>
              <a:rPr lang="en-US" altLang="zh-TW" sz="3200" b="1" dirty="0">
                <a:solidFill>
                  <a:srgbClr val="0000CC"/>
                </a:solidFill>
              </a:rPr>
              <a:t>s Algorithm</a:t>
            </a:r>
            <a:r>
              <a:rPr lang="en-US" altLang="zh-TW" sz="2400" b="1" dirty="0">
                <a:solidFill>
                  <a:srgbClr val="0000CC"/>
                </a:solidFill>
              </a:rPr>
              <a:t> </a:t>
            </a:r>
            <a:r>
              <a:rPr lang="en-US" altLang="zh-TW" sz="2400" dirty="0"/>
              <a:t>(find the distance </a:t>
            </a:r>
            <a:r>
              <a:rPr lang="en-US" altLang="zh-TW" sz="2400" i="1" dirty="0">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a,</a:t>
            </a:r>
            <a:r>
              <a:rPr lang="en-US" altLang="zh-TW" sz="2400" dirty="0"/>
              <a:t> </a:t>
            </a:r>
            <a:r>
              <a:rPr lang="en-US" altLang="zh-TW" sz="2400" i="1" dirty="0">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a:t>
            </a:r>
            <a:r>
              <a:rPr lang="en-US" altLang="zh-TW" sz="2400" dirty="0"/>
              <a:t>  </a:t>
            </a:r>
            <a:r>
              <a:rPr lang="en-US" altLang="zh-TW" sz="2400" dirty="0">
                <a:sym typeface="Symbol" panose="05050102010706020507" pitchFamily="18" charset="2"/>
              </a:rPr>
              <a:t></a:t>
            </a:r>
            <a:r>
              <a:rPr lang="en-US" altLang="zh-TW" sz="2400" i="1" dirty="0">
                <a:latin typeface="Times New Roman" panose="02020603050405020304" pitchFamily="18" charset="0"/>
                <a:cs typeface="Times New Roman" panose="02020603050405020304" pitchFamily="18" charset="0"/>
              </a:rPr>
              <a:t>a,</a:t>
            </a:r>
            <a:r>
              <a:rPr lang="en-US" altLang="zh-TW" sz="2400" dirty="0"/>
              <a:t> </a:t>
            </a:r>
            <a:r>
              <a:rPr lang="en-US" altLang="zh-TW" sz="2400" i="1" dirty="0">
                <a:latin typeface="Times New Roman" panose="02020603050405020304" pitchFamily="18" charset="0"/>
                <a:cs typeface="Times New Roman" panose="02020603050405020304" pitchFamily="18" charset="0"/>
              </a:rPr>
              <a:t>b</a:t>
            </a:r>
            <a:r>
              <a:rPr lang="en-US" altLang="zh-TW" sz="2400" dirty="0"/>
              <a:t>)</a:t>
            </a:r>
            <a:endParaRPr lang="en-US" altLang="zh-TW" sz="2400" dirty="0"/>
          </a:p>
        </p:txBody>
      </p:sp>
      <p:sp>
        <p:nvSpPr>
          <p:cNvPr id="65540" name="投影片編號版面配置區 5"/>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文字方塊 4"/>
          <p:cNvSpPr txBox="1"/>
          <p:nvPr/>
        </p:nvSpPr>
        <p:spPr>
          <a:xfrm>
            <a:off x="228600" y="5943600"/>
            <a:ext cx="3902075" cy="708025"/>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t>This algorithm cannot be used to</a:t>
            </a:r>
            <a:br>
              <a:rPr lang="en-US" altLang="zh-TW" sz="2000" dirty="0"/>
            </a:br>
            <a:r>
              <a:rPr lang="en-US" altLang="zh-TW" sz="2000" dirty="0"/>
              <a:t>construct shortest paths.</a:t>
            </a:r>
            <a:endParaRPr lang="zh-TW" altLang="en-US" sz="2000" dirty="0"/>
          </a:p>
        </p:txBody>
      </p:sp>
      <p:sp>
        <p:nvSpPr>
          <p:cNvPr id="6" name="矩形 5"/>
          <p:cNvSpPr/>
          <p:nvPr/>
        </p:nvSpPr>
        <p:spPr>
          <a:xfrm>
            <a:off x="6858000" y="5867400"/>
            <a:ext cx="2068513" cy="461963"/>
          </a:xfrm>
          <a:prstGeom prst="rect">
            <a:avLst/>
          </a:prstGeom>
          <a:solidFill>
            <a:srgbClr val="FFFF99"/>
          </a:soli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b="1" dirty="0">
                <a:solidFill>
                  <a:srgbClr val="0000CC"/>
                </a:solidFill>
              </a:rPr>
              <a:t>Exercise : 21</a:t>
            </a:r>
            <a:endParaRPr lang="zh-TW" altLang="en-US" sz="2400" dirty="0">
              <a:solidFill>
                <a:srgbClr val="0000CC"/>
              </a:solidFill>
            </a:endParaRPr>
          </a:p>
        </p:txBody>
      </p:sp>
      <p:grpSp>
        <p:nvGrpSpPr>
          <p:cNvPr id="65543" name="群組 75"/>
          <p:cNvGrpSpPr/>
          <p:nvPr/>
        </p:nvGrpSpPr>
        <p:grpSpPr>
          <a:xfrm>
            <a:off x="6705600" y="1905000"/>
            <a:ext cx="1589088" cy="1292225"/>
            <a:chOff x="5867402" y="4038600"/>
            <a:chExt cx="1829088" cy="1611990"/>
          </a:xfrm>
        </p:grpSpPr>
        <p:sp>
          <p:nvSpPr>
            <p:cNvPr id="65544" name="Line 25"/>
            <p:cNvSpPr/>
            <p:nvPr/>
          </p:nvSpPr>
          <p:spPr>
            <a:xfrm flipH="1">
              <a:off x="6172200" y="4419600"/>
              <a:ext cx="685801" cy="761999"/>
            </a:xfrm>
            <a:prstGeom prst="line">
              <a:avLst/>
            </a:prstGeom>
            <a:ln w="25400" cap="flat" cmpd="sng">
              <a:solidFill>
                <a:schemeClr val="tx1"/>
              </a:solidFill>
              <a:prstDash val="solid"/>
              <a:headEnd type="none" w="med" len="med"/>
              <a:tailEnd type="none" w="med" len="med"/>
            </a:ln>
          </p:spPr>
        </p:sp>
        <p:sp>
          <p:nvSpPr>
            <p:cNvPr id="65545" name="Text Box 12"/>
            <p:cNvSpPr txBox="1"/>
            <p:nvPr/>
          </p:nvSpPr>
          <p:spPr>
            <a:xfrm>
              <a:off x="6393653" y="4038600"/>
              <a:ext cx="394689" cy="49508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i="1" baseline="-25000" dirty="0">
                  <a:latin typeface="Times New Roman" panose="02020603050405020304" pitchFamily="18" charset="0"/>
                  <a:cs typeface="Times New Roman" panose="02020603050405020304" pitchFamily="18" charset="0"/>
                </a:rPr>
                <a:t>i</a:t>
              </a:r>
              <a:endParaRPr lang="en-US" altLang="zh-TW" sz="2000" i="1" baseline="-25000" dirty="0">
                <a:latin typeface="Times New Roman" panose="02020603050405020304" pitchFamily="18" charset="0"/>
                <a:ea typeface="Times New Roman" panose="02020603050405020304" pitchFamily="18" charset="0"/>
              </a:endParaRPr>
            </a:p>
          </p:txBody>
        </p:sp>
        <p:sp>
          <p:nvSpPr>
            <p:cNvPr id="65546" name="AutoShape 32"/>
            <p:cNvSpPr/>
            <p:nvPr/>
          </p:nvSpPr>
          <p:spPr>
            <a:xfrm>
              <a:off x="7445406" y="5155434"/>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5547" name="AutoShape 11"/>
            <p:cNvSpPr/>
            <p:nvPr/>
          </p:nvSpPr>
          <p:spPr>
            <a:xfrm>
              <a:off x="6096002" y="5105400"/>
              <a:ext cx="147623" cy="132367"/>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5548" name="Text Box 12"/>
            <p:cNvSpPr txBox="1"/>
            <p:nvPr/>
          </p:nvSpPr>
          <p:spPr>
            <a:xfrm>
              <a:off x="7270739" y="5155507"/>
              <a:ext cx="425751" cy="49508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i="1" baseline="-25000" dirty="0">
                  <a:latin typeface="Times New Roman" panose="02020603050405020304" pitchFamily="18" charset="0"/>
                  <a:cs typeface="Times New Roman" panose="02020603050405020304" pitchFamily="18" charset="0"/>
                </a:rPr>
                <a:t>k</a:t>
              </a:r>
              <a:endParaRPr lang="en-US" altLang="zh-TW" sz="2000" i="1" baseline="-25000" dirty="0">
                <a:latin typeface="Times New Roman" panose="02020603050405020304" pitchFamily="18" charset="0"/>
                <a:ea typeface="Times New Roman" panose="02020603050405020304" pitchFamily="18" charset="0"/>
              </a:endParaRPr>
            </a:p>
          </p:txBody>
        </p:sp>
        <p:sp>
          <p:nvSpPr>
            <p:cNvPr id="65549" name="Text Box 12"/>
            <p:cNvSpPr txBox="1"/>
            <p:nvPr/>
          </p:nvSpPr>
          <p:spPr>
            <a:xfrm>
              <a:off x="5867402" y="5028766"/>
              <a:ext cx="394688" cy="49508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v</a:t>
              </a:r>
              <a:r>
                <a:rPr lang="en-US" altLang="zh-TW" sz="2000" i="1" baseline="-25000" dirty="0">
                  <a:latin typeface="Times New Roman" panose="02020603050405020304" pitchFamily="18" charset="0"/>
                  <a:cs typeface="Times New Roman" panose="02020603050405020304" pitchFamily="18" charset="0"/>
                </a:rPr>
                <a:t>j</a:t>
              </a:r>
              <a:endParaRPr lang="en-US" altLang="zh-TW" sz="2000" i="1" baseline="-25000" dirty="0">
                <a:latin typeface="Times New Roman" panose="02020603050405020304" pitchFamily="18" charset="0"/>
                <a:ea typeface="Times New Roman" panose="02020603050405020304" pitchFamily="18" charset="0"/>
              </a:endParaRPr>
            </a:p>
          </p:txBody>
        </p:sp>
        <p:sp>
          <p:nvSpPr>
            <p:cNvPr id="65550" name="Line 25"/>
            <p:cNvSpPr/>
            <p:nvPr/>
          </p:nvSpPr>
          <p:spPr>
            <a:xfrm>
              <a:off x="6172203" y="5181601"/>
              <a:ext cx="1273201" cy="68889"/>
            </a:xfrm>
            <a:prstGeom prst="line">
              <a:avLst/>
            </a:prstGeom>
            <a:ln w="25400" cap="flat" cmpd="sng">
              <a:solidFill>
                <a:srgbClr val="0000CC"/>
              </a:solidFill>
              <a:prstDash val="solid"/>
              <a:headEnd type="none" w="med" len="med"/>
              <a:tailEnd type="none" w="med" len="med"/>
            </a:ln>
          </p:spPr>
        </p:sp>
        <p:sp>
          <p:nvSpPr>
            <p:cNvPr id="65551" name="Line 25"/>
            <p:cNvSpPr/>
            <p:nvPr/>
          </p:nvSpPr>
          <p:spPr>
            <a:xfrm>
              <a:off x="6831737" y="4490044"/>
              <a:ext cx="701335" cy="760445"/>
            </a:xfrm>
            <a:prstGeom prst="line">
              <a:avLst/>
            </a:prstGeom>
            <a:ln w="25400" cap="flat" cmpd="sng">
              <a:solidFill>
                <a:schemeClr val="tx1"/>
              </a:solidFill>
              <a:prstDash val="solid"/>
              <a:headEnd type="none" w="med" len="med"/>
              <a:tailEnd type="none" w="med" len="med"/>
            </a:ln>
          </p:spPr>
        </p:sp>
        <p:sp>
          <p:nvSpPr>
            <p:cNvPr id="65552" name="AutoShape 33"/>
            <p:cNvSpPr/>
            <p:nvPr/>
          </p:nvSpPr>
          <p:spPr>
            <a:xfrm>
              <a:off x="6744070" y="4394989"/>
              <a:ext cx="147623" cy="132367"/>
            </a:xfrm>
            <a:prstGeom prst="flowChartConnector">
              <a:avLst/>
            </a:prstGeom>
            <a:solidFill>
              <a:srgbClr val="FF0000"/>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投影片編號版面配置區 1"/>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66563" name="矩形 2"/>
          <p:cNvSpPr/>
          <p:nvPr/>
        </p:nvSpPr>
        <p:spPr>
          <a:xfrm>
            <a:off x="381000" y="381000"/>
            <a:ext cx="8458200" cy="2312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Clr>
                <a:srgbClr val="00007D"/>
              </a:buClr>
              <a:buNone/>
            </a:pPr>
            <a:r>
              <a:rPr lang="en-US" altLang="zh-TW" sz="2800" b="1" dirty="0">
                <a:solidFill>
                  <a:srgbClr val="FF0000"/>
                </a:solidFill>
              </a:rPr>
              <a:t>The Traveling Salesman Problem: </a:t>
            </a:r>
            <a:endParaRPr lang="en-US" altLang="zh-TW" sz="2800" dirty="0"/>
          </a:p>
          <a:p>
            <a:pPr marL="342900" lvl="0" indent="-342900" eaLnBrk="1" hangingPunct="1">
              <a:buClr>
                <a:srgbClr val="00007D"/>
              </a:buClr>
              <a:buNone/>
            </a:pPr>
            <a:r>
              <a:rPr lang="en-US" altLang="zh-TW" sz="2800" dirty="0">
                <a:solidFill>
                  <a:srgbClr val="000000"/>
                </a:solidFill>
              </a:rPr>
              <a:t>   A traveling salesman wants to visit each of </a:t>
            </a:r>
            <a:r>
              <a:rPr lang="en-US" altLang="zh-TW" sz="2800" i="1" dirty="0">
                <a:solidFill>
                  <a:srgbClr val="000000"/>
                </a:solidFill>
                <a:latin typeface="Times New Roman" panose="02020603050405020304" pitchFamily="18" charset="0"/>
                <a:cs typeface="Times New Roman" panose="02020603050405020304" pitchFamily="18" charset="0"/>
              </a:rPr>
              <a:t>n </a:t>
            </a:r>
            <a:r>
              <a:rPr lang="en-US" altLang="zh-TW" sz="2800" dirty="0">
                <a:solidFill>
                  <a:srgbClr val="000000"/>
                </a:solidFill>
              </a:rPr>
              <a:t>cities exactly once and return to his starting point. In which order should he visit these cities to travel the minimum total distance?</a:t>
            </a:r>
            <a:endParaRPr lang="en-US" altLang="zh-TW" sz="2800" dirty="0">
              <a:solidFill>
                <a:srgbClr val="000000"/>
              </a:solidFill>
            </a:endParaRPr>
          </a:p>
        </p:txBody>
      </p:sp>
      <p:grpSp>
        <p:nvGrpSpPr>
          <p:cNvPr id="2" name="群組 46"/>
          <p:cNvGrpSpPr/>
          <p:nvPr/>
        </p:nvGrpSpPr>
        <p:grpSpPr>
          <a:xfrm>
            <a:off x="506413" y="3124200"/>
            <a:ext cx="3187700" cy="2617788"/>
            <a:chOff x="506888" y="3124200"/>
            <a:chExt cx="3187219" cy="2617848"/>
          </a:xfrm>
        </p:grpSpPr>
        <p:sp>
          <p:nvSpPr>
            <p:cNvPr id="66571" name="Line 34"/>
            <p:cNvSpPr/>
            <p:nvPr/>
          </p:nvSpPr>
          <p:spPr>
            <a:xfrm flipH="1" flipV="1">
              <a:off x="2534604" y="3496141"/>
              <a:ext cx="749311" cy="1110575"/>
            </a:xfrm>
            <a:prstGeom prst="line">
              <a:avLst/>
            </a:prstGeom>
            <a:ln w="25400" cap="flat" cmpd="sng">
              <a:solidFill>
                <a:schemeClr val="tx1"/>
              </a:solidFill>
              <a:prstDash val="solid"/>
              <a:headEnd type="none" w="med" len="med"/>
              <a:tailEnd type="none" w="med" len="med"/>
            </a:ln>
          </p:spPr>
        </p:sp>
        <p:sp>
          <p:nvSpPr>
            <p:cNvPr id="66572" name="AutoShape 11"/>
            <p:cNvSpPr/>
            <p:nvPr/>
          </p:nvSpPr>
          <p:spPr>
            <a:xfrm>
              <a:off x="2484625" y="3420353"/>
              <a:ext cx="92352" cy="9854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6573" name="Text Box 12"/>
            <p:cNvSpPr txBox="1"/>
            <p:nvPr/>
          </p:nvSpPr>
          <p:spPr>
            <a:xfrm>
              <a:off x="1246551" y="3346455"/>
              <a:ext cx="565065"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113</a:t>
              </a:r>
              <a:endParaRPr lang="en-US" altLang="zh-TW" sz="2000" dirty="0">
                <a:latin typeface="Times New Roman" panose="02020603050405020304" pitchFamily="18" charset="0"/>
                <a:ea typeface="Times New Roman" panose="02020603050405020304" pitchFamily="18" charset="0"/>
              </a:endParaRPr>
            </a:p>
          </p:txBody>
        </p:sp>
        <p:sp>
          <p:nvSpPr>
            <p:cNvPr id="66574" name="Line 23"/>
            <p:cNvSpPr/>
            <p:nvPr/>
          </p:nvSpPr>
          <p:spPr>
            <a:xfrm flipV="1">
              <a:off x="873997" y="3461162"/>
              <a:ext cx="1702981" cy="370191"/>
            </a:xfrm>
            <a:prstGeom prst="line">
              <a:avLst/>
            </a:prstGeom>
            <a:ln w="25400" cap="flat" cmpd="sng">
              <a:solidFill>
                <a:schemeClr val="tx1"/>
              </a:solidFill>
              <a:prstDash val="solid"/>
              <a:headEnd type="none" w="med" len="med"/>
              <a:tailEnd type="none" w="med" len="med"/>
            </a:ln>
          </p:spPr>
        </p:sp>
        <p:sp>
          <p:nvSpPr>
            <p:cNvPr id="66575" name="Line 25"/>
            <p:cNvSpPr/>
            <p:nvPr/>
          </p:nvSpPr>
          <p:spPr>
            <a:xfrm>
              <a:off x="873997" y="3864583"/>
              <a:ext cx="1702980" cy="1480767"/>
            </a:xfrm>
            <a:prstGeom prst="line">
              <a:avLst/>
            </a:prstGeom>
            <a:ln w="25400" cap="flat" cmpd="sng">
              <a:solidFill>
                <a:schemeClr val="tx1"/>
              </a:solidFill>
              <a:prstDash val="solid"/>
              <a:headEnd type="none" w="med" len="med"/>
              <a:tailEnd type="none" w="med" len="med"/>
            </a:ln>
          </p:spPr>
        </p:sp>
        <p:sp>
          <p:nvSpPr>
            <p:cNvPr id="66576" name="AutoShape 30"/>
            <p:cNvSpPr/>
            <p:nvPr/>
          </p:nvSpPr>
          <p:spPr>
            <a:xfrm>
              <a:off x="3233936" y="4530928"/>
              <a:ext cx="92352" cy="9854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6577" name="Line 23"/>
            <p:cNvSpPr/>
            <p:nvPr/>
          </p:nvSpPr>
          <p:spPr>
            <a:xfrm rot="-120000">
              <a:off x="1010235" y="5197275"/>
              <a:ext cx="1566741" cy="192449"/>
            </a:xfrm>
            <a:prstGeom prst="line">
              <a:avLst/>
            </a:prstGeom>
            <a:ln w="25400" cap="flat" cmpd="sng">
              <a:solidFill>
                <a:schemeClr val="tx1"/>
              </a:solidFill>
              <a:prstDash val="solid"/>
              <a:headEnd type="none" w="med" len="med"/>
              <a:tailEnd type="none" w="med" len="med"/>
            </a:ln>
          </p:spPr>
        </p:sp>
        <p:sp>
          <p:nvSpPr>
            <p:cNvPr id="66578" name="Text Box 12"/>
            <p:cNvSpPr txBox="1"/>
            <p:nvPr/>
          </p:nvSpPr>
          <p:spPr>
            <a:xfrm>
              <a:off x="2440171" y="3124200"/>
              <a:ext cx="311103"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S</a:t>
              </a:r>
              <a:endParaRPr lang="en-US" altLang="zh-TW" sz="2000" i="1" dirty="0">
                <a:latin typeface="Times New Roman" panose="02020603050405020304" pitchFamily="18" charset="0"/>
                <a:ea typeface="Times New Roman" panose="02020603050405020304" pitchFamily="18" charset="0"/>
              </a:endParaRPr>
            </a:p>
          </p:txBody>
        </p:sp>
        <p:sp>
          <p:nvSpPr>
            <p:cNvPr id="66579" name="Text Box 12"/>
            <p:cNvSpPr txBox="1"/>
            <p:nvPr/>
          </p:nvSpPr>
          <p:spPr>
            <a:xfrm>
              <a:off x="2508423" y="5345164"/>
              <a:ext cx="325389"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T</a:t>
              </a:r>
              <a:endParaRPr lang="en-US" altLang="zh-TW" sz="2000" i="1" dirty="0">
                <a:latin typeface="Times New Roman" panose="02020603050405020304" pitchFamily="18" charset="0"/>
                <a:ea typeface="Times New Roman" panose="02020603050405020304" pitchFamily="18" charset="0"/>
              </a:endParaRPr>
            </a:p>
          </p:txBody>
        </p:sp>
        <p:sp>
          <p:nvSpPr>
            <p:cNvPr id="66580" name="AutoShape 11"/>
            <p:cNvSpPr/>
            <p:nvPr/>
          </p:nvSpPr>
          <p:spPr>
            <a:xfrm>
              <a:off x="942116" y="5172763"/>
              <a:ext cx="92352" cy="9854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6581" name="Text Box 12"/>
            <p:cNvSpPr txBox="1"/>
            <p:nvPr/>
          </p:nvSpPr>
          <p:spPr>
            <a:xfrm>
              <a:off x="737041" y="5175297"/>
              <a:ext cx="353959" cy="3968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K</a:t>
              </a:r>
              <a:endParaRPr lang="en-US" altLang="zh-TW" sz="2000" i="1" dirty="0">
                <a:latin typeface="Times New Roman" panose="02020603050405020304" pitchFamily="18" charset="0"/>
                <a:ea typeface="Times New Roman" panose="02020603050405020304" pitchFamily="18" charset="0"/>
              </a:endParaRPr>
            </a:p>
          </p:txBody>
        </p:sp>
        <p:sp>
          <p:nvSpPr>
            <p:cNvPr id="66582" name="Text Box 12"/>
            <p:cNvSpPr txBox="1"/>
            <p:nvPr/>
          </p:nvSpPr>
          <p:spPr>
            <a:xfrm>
              <a:off x="506888" y="3568710"/>
              <a:ext cx="368244"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G</a:t>
              </a:r>
              <a:endParaRPr lang="en-US" altLang="zh-TW" sz="2000" i="1" dirty="0">
                <a:latin typeface="Times New Roman" panose="02020603050405020304" pitchFamily="18" charset="0"/>
                <a:ea typeface="Times New Roman" panose="02020603050405020304" pitchFamily="18" charset="0"/>
              </a:endParaRPr>
            </a:p>
          </p:txBody>
        </p:sp>
        <p:sp>
          <p:nvSpPr>
            <p:cNvPr id="66583" name="Line 25"/>
            <p:cNvSpPr/>
            <p:nvPr/>
          </p:nvSpPr>
          <p:spPr>
            <a:xfrm rot="120000">
              <a:off x="826195" y="3864584"/>
              <a:ext cx="184039" cy="1332690"/>
            </a:xfrm>
            <a:prstGeom prst="line">
              <a:avLst/>
            </a:prstGeom>
            <a:ln w="25400" cap="flat" cmpd="sng">
              <a:solidFill>
                <a:schemeClr val="tx1"/>
              </a:solidFill>
              <a:prstDash val="solid"/>
              <a:headEnd type="none" w="med" len="med"/>
              <a:tailEnd type="none" w="med" len="med"/>
            </a:ln>
          </p:spPr>
        </p:sp>
        <p:sp>
          <p:nvSpPr>
            <p:cNvPr id="66584" name="Line 34"/>
            <p:cNvSpPr/>
            <p:nvPr/>
          </p:nvSpPr>
          <p:spPr>
            <a:xfrm flipV="1">
              <a:off x="2576977" y="4604967"/>
              <a:ext cx="681192" cy="740384"/>
            </a:xfrm>
            <a:prstGeom prst="line">
              <a:avLst/>
            </a:prstGeom>
            <a:ln w="25400" cap="flat" cmpd="sng">
              <a:solidFill>
                <a:schemeClr val="tx1"/>
              </a:solidFill>
              <a:prstDash val="solid"/>
              <a:headEnd type="none" w="med" len="med"/>
              <a:tailEnd type="none" w="med" len="med"/>
            </a:ln>
          </p:spPr>
        </p:sp>
        <p:sp>
          <p:nvSpPr>
            <p:cNvPr id="66585" name="AutoShape 30"/>
            <p:cNvSpPr/>
            <p:nvPr/>
          </p:nvSpPr>
          <p:spPr>
            <a:xfrm>
              <a:off x="2552744" y="5289338"/>
              <a:ext cx="92352" cy="9854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6586" name="Text Box 12"/>
            <p:cNvSpPr txBox="1"/>
            <p:nvPr/>
          </p:nvSpPr>
          <p:spPr>
            <a:xfrm>
              <a:off x="3325863" y="4456143"/>
              <a:ext cx="368244"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i="1" dirty="0">
                  <a:latin typeface="Times New Roman" panose="02020603050405020304" pitchFamily="18" charset="0"/>
                  <a:cs typeface="Times New Roman" panose="02020603050405020304" pitchFamily="18" charset="0"/>
                </a:rPr>
                <a:t>D</a:t>
              </a:r>
              <a:endParaRPr lang="en-US" altLang="zh-TW" sz="2000" i="1" dirty="0">
                <a:latin typeface="Times New Roman" panose="02020603050405020304" pitchFamily="18" charset="0"/>
                <a:ea typeface="Times New Roman" panose="02020603050405020304" pitchFamily="18" charset="0"/>
              </a:endParaRPr>
            </a:p>
          </p:txBody>
        </p:sp>
        <p:sp>
          <p:nvSpPr>
            <p:cNvPr id="66587" name="Text Box 12"/>
            <p:cNvSpPr txBox="1"/>
            <p:nvPr/>
          </p:nvSpPr>
          <p:spPr>
            <a:xfrm>
              <a:off x="2849684" y="3716351"/>
              <a:ext cx="438084"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98</a:t>
              </a:r>
              <a:endParaRPr lang="en-US" altLang="zh-TW" sz="2000" dirty="0">
                <a:latin typeface="Times New Roman" panose="02020603050405020304" pitchFamily="18" charset="0"/>
                <a:ea typeface="Times New Roman" panose="02020603050405020304" pitchFamily="18" charset="0"/>
              </a:endParaRPr>
            </a:p>
          </p:txBody>
        </p:sp>
        <p:sp>
          <p:nvSpPr>
            <p:cNvPr id="66588" name="Text Box 12"/>
            <p:cNvSpPr txBox="1"/>
            <p:nvPr/>
          </p:nvSpPr>
          <p:spPr>
            <a:xfrm>
              <a:off x="2849684" y="4900654"/>
              <a:ext cx="438084"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58</a:t>
              </a:r>
              <a:endParaRPr lang="en-US" altLang="zh-TW" sz="2000" dirty="0">
                <a:latin typeface="Times New Roman" panose="02020603050405020304" pitchFamily="18" charset="0"/>
                <a:ea typeface="Times New Roman" panose="02020603050405020304" pitchFamily="18" charset="0"/>
              </a:endParaRPr>
            </a:p>
          </p:txBody>
        </p:sp>
        <p:sp>
          <p:nvSpPr>
            <p:cNvPr id="66589" name="Text Box 12"/>
            <p:cNvSpPr txBox="1"/>
            <p:nvPr/>
          </p:nvSpPr>
          <p:spPr>
            <a:xfrm>
              <a:off x="1351311" y="4699036"/>
              <a:ext cx="565064" cy="3968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135</a:t>
              </a:r>
              <a:endParaRPr lang="en-US" altLang="zh-TW" sz="2000" dirty="0">
                <a:latin typeface="Times New Roman" panose="02020603050405020304" pitchFamily="18" charset="0"/>
                <a:ea typeface="Times New Roman" panose="02020603050405020304" pitchFamily="18" charset="0"/>
              </a:endParaRPr>
            </a:p>
          </p:txBody>
        </p:sp>
        <p:sp>
          <p:nvSpPr>
            <p:cNvPr id="66590" name="Text Box 12"/>
            <p:cNvSpPr txBox="1"/>
            <p:nvPr/>
          </p:nvSpPr>
          <p:spPr>
            <a:xfrm>
              <a:off x="1781458" y="3530609"/>
              <a:ext cx="565065" cy="3968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137</a:t>
              </a:r>
              <a:endParaRPr lang="en-US" altLang="zh-TW" sz="2000" dirty="0">
                <a:latin typeface="Times New Roman" panose="02020603050405020304" pitchFamily="18" charset="0"/>
                <a:ea typeface="Times New Roman" panose="02020603050405020304" pitchFamily="18" charset="0"/>
              </a:endParaRPr>
            </a:p>
          </p:txBody>
        </p:sp>
        <p:sp>
          <p:nvSpPr>
            <p:cNvPr id="66591" name="Text Box 12"/>
            <p:cNvSpPr txBox="1"/>
            <p:nvPr/>
          </p:nvSpPr>
          <p:spPr>
            <a:xfrm>
              <a:off x="900529" y="4160861"/>
              <a:ext cx="565064" cy="3968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167</a:t>
              </a:r>
              <a:endParaRPr lang="en-US" altLang="zh-TW" sz="2000" dirty="0">
                <a:latin typeface="Times New Roman" panose="02020603050405020304" pitchFamily="18" charset="0"/>
                <a:ea typeface="Times New Roman" panose="02020603050405020304" pitchFamily="18" charset="0"/>
              </a:endParaRPr>
            </a:p>
          </p:txBody>
        </p:sp>
        <p:sp>
          <p:nvSpPr>
            <p:cNvPr id="66592" name="Text Box 12"/>
            <p:cNvSpPr txBox="1"/>
            <p:nvPr/>
          </p:nvSpPr>
          <p:spPr>
            <a:xfrm>
              <a:off x="1351311" y="5270550"/>
              <a:ext cx="565064"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133</a:t>
              </a:r>
              <a:endParaRPr lang="en-US" altLang="zh-TW" sz="2000" dirty="0">
                <a:latin typeface="Times New Roman" panose="02020603050405020304" pitchFamily="18" charset="0"/>
                <a:ea typeface="Times New Roman" panose="02020603050405020304" pitchFamily="18" charset="0"/>
              </a:endParaRPr>
            </a:p>
          </p:txBody>
        </p:sp>
        <p:sp>
          <p:nvSpPr>
            <p:cNvPr id="66593" name="Line 25"/>
            <p:cNvSpPr/>
            <p:nvPr/>
          </p:nvSpPr>
          <p:spPr>
            <a:xfrm flipH="1">
              <a:off x="1010235" y="3494392"/>
              <a:ext cx="1498623" cy="1702881"/>
            </a:xfrm>
            <a:prstGeom prst="line">
              <a:avLst/>
            </a:prstGeom>
            <a:ln w="25400" cap="flat" cmpd="sng">
              <a:solidFill>
                <a:schemeClr val="tx1"/>
              </a:solidFill>
              <a:prstDash val="solid"/>
              <a:headEnd type="none" w="med" len="med"/>
              <a:tailEnd type="none" w="med" len="med"/>
            </a:ln>
          </p:spPr>
        </p:sp>
        <p:sp>
          <p:nvSpPr>
            <p:cNvPr id="66594" name="Line 25"/>
            <p:cNvSpPr/>
            <p:nvPr/>
          </p:nvSpPr>
          <p:spPr>
            <a:xfrm>
              <a:off x="2534604" y="3494391"/>
              <a:ext cx="68119" cy="1850960"/>
            </a:xfrm>
            <a:prstGeom prst="line">
              <a:avLst/>
            </a:prstGeom>
            <a:ln w="25400" cap="flat" cmpd="sng">
              <a:solidFill>
                <a:schemeClr val="tx1"/>
              </a:solidFill>
              <a:prstDash val="solid"/>
              <a:headEnd type="none" w="med" len="med"/>
              <a:tailEnd type="none" w="med" len="med"/>
            </a:ln>
          </p:spPr>
        </p:sp>
        <p:sp>
          <p:nvSpPr>
            <p:cNvPr id="66595" name="Text Box 12"/>
            <p:cNvSpPr txBox="1"/>
            <p:nvPr/>
          </p:nvSpPr>
          <p:spPr>
            <a:xfrm>
              <a:off x="540220" y="4383117"/>
              <a:ext cx="438084"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56</a:t>
              </a:r>
              <a:endParaRPr lang="en-US" altLang="zh-TW" sz="2000" dirty="0">
                <a:latin typeface="Times New Roman" panose="02020603050405020304" pitchFamily="18" charset="0"/>
                <a:ea typeface="Times New Roman" panose="02020603050405020304" pitchFamily="18" charset="0"/>
              </a:endParaRPr>
            </a:p>
          </p:txBody>
        </p:sp>
        <p:sp>
          <p:nvSpPr>
            <p:cNvPr id="66596" name="Text Box 12"/>
            <p:cNvSpPr txBox="1"/>
            <p:nvPr/>
          </p:nvSpPr>
          <p:spPr>
            <a:xfrm>
              <a:off x="2195733" y="3790965"/>
              <a:ext cx="565065" cy="3968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142</a:t>
              </a:r>
              <a:endParaRPr lang="en-US" altLang="zh-TW" sz="2000" dirty="0">
                <a:latin typeface="Times New Roman" panose="02020603050405020304" pitchFamily="18" charset="0"/>
                <a:ea typeface="Times New Roman" panose="02020603050405020304" pitchFamily="18" charset="0"/>
              </a:endParaRPr>
            </a:p>
          </p:txBody>
        </p:sp>
        <p:sp>
          <p:nvSpPr>
            <p:cNvPr id="66597" name="Line 25"/>
            <p:cNvSpPr/>
            <p:nvPr/>
          </p:nvSpPr>
          <p:spPr>
            <a:xfrm>
              <a:off x="873997" y="3845928"/>
              <a:ext cx="2384172" cy="740385"/>
            </a:xfrm>
            <a:prstGeom prst="line">
              <a:avLst/>
            </a:prstGeom>
            <a:ln w="25400" cap="flat" cmpd="sng">
              <a:solidFill>
                <a:schemeClr val="tx1"/>
              </a:solidFill>
              <a:prstDash val="solid"/>
              <a:headEnd type="none" w="med" len="med"/>
              <a:tailEnd type="none" w="med" len="med"/>
            </a:ln>
          </p:spPr>
        </p:sp>
        <p:sp>
          <p:nvSpPr>
            <p:cNvPr id="66598" name="Line 25"/>
            <p:cNvSpPr/>
            <p:nvPr/>
          </p:nvSpPr>
          <p:spPr>
            <a:xfrm flipV="1">
              <a:off x="1010235" y="4604968"/>
              <a:ext cx="2247934" cy="592306"/>
            </a:xfrm>
            <a:prstGeom prst="line">
              <a:avLst/>
            </a:prstGeom>
            <a:ln w="25400" cap="flat" cmpd="sng">
              <a:solidFill>
                <a:schemeClr val="tx1"/>
              </a:solidFill>
              <a:prstDash val="solid"/>
              <a:headEnd type="none" w="med" len="med"/>
              <a:tailEnd type="none" w="med" len="med"/>
            </a:ln>
          </p:spPr>
        </p:sp>
        <p:sp>
          <p:nvSpPr>
            <p:cNvPr id="66599" name="Text Box 12"/>
            <p:cNvSpPr txBox="1"/>
            <p:nvPr/>
          </p:nvSpPr>
          <p:spPr>
            <a:xfrm>
              <a:off x="1351311" y="3741752"/>
              <a:ext cx="565064" cy="3968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000" dirty="0">
                  <a:latin typeface="Times New Roman" panose="02020603050405020304" pitchFamily="18" charset="0"/>
                  <a:cs typeface="Times New Roman" panose="02020603050405020304" pitchFamily="18" charset="0"/>
                </a:rPr>
                <a:t>147</a:t>
              </a:r>
              <a:endParaRPr lang="en-US" altLang="zh-TW" sz="2000" dirty="0">
                <a:latin typeface="Times New Roman" panose="02020603050405020304" pitchFamily="18" charset="0"/>
                <a:ea typeface="Times New Roman" panose="02020603050405020304" pitchFamily="18" charset="0"/>
              </a:endParaRPr>
            </a:p>
          </p:txBody>
        </p:sp>
        <p:sp>
          <p:nvSpPr>
            <p:cNvPr id="66600" name="AutoShape 11"/>
            <p:cNvSpPr/>
            <p:nvPr/>
          </p:nvSpPr>
          <p:spPr>
            <a:xfrm>
              <a:off x="792000" y="3780000"/>
              <a:ext cx="103308" cy="10142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grpSp>
      <p:sp>
        <p:nvSpPr>
          <p:cNvPr id="40" name="矩形 39"/>
          <p:cNvSpPr/>
          <p:nvPr/>
        </p:nvSpPr>
        <p:spPr>
          <a:xfrm>
            <a:off x="304800" y="2743200"/>
            <a:ext cx="4478338" cy="5191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starting point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D</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1" name="矩形 40"/>
          <p:cNvSpPr/>
          <p:nvPr/>
        </p:nvSpPr>
        <p:spPr>
          <a:xfrm>
            <a:off x="4343400" y="3429000"/>
            <a:ext cx="4191000" cy="45720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D</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T</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K</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G</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S</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 </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D</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 458</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2" name="矩形 41"/>
          <p:cNvSpPr/>
          <p:nvPr/>
        </p:nvSpPr>
        <p:spPr>
          <a:xfrm>
            <a:off x="4343400" y="4038600"/>
            <a:ext cx="4191000" cy="45720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D</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T</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S</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G</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K</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D</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 504</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3" name="文字方塊 42"/>
          <p:cNvSpPr txBox="1"/>
          <p:nvPr/>
        </p:nvSpPr>
        <p:spPr>
          <a:xfrm>
            <a:off x="5867400" y="5334000"/>
            <a:ext cx="415925"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zh-TW" altLang="en-US" sz="1800" b="1" dirty="0">
                <a:sym typeface="Symbol" panose="05050102010706020507" pitchFamily="18" charset="2"/>
              </a:rPr>
              <a:t></a:t>
            </a:r>
            <a:endParaRPr lang="zh-TW" altLang="en-US" sz="1800" b="1" dirty="0"/>
          </a:p>
        </p:txBody>
      </p:sp>
      <p:sp>
        <p:nvSpPr>
          <p:cNvPr id="44" name="矩形 43"/>
          <p:cNvSpPr/>
          <p:nvPr/>
        </p:nvSpPr>
        <p:spPr>
          <a:xfrm>
            <a:off x="4343400" y="4648200"/>
            <a:ext cx="4191000" cy="45720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D</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T</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S</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K</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G</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D</a:t>
            </a:r>
            <a:r>
              <a:rPr kumimoji="1" lang="en-US" altLang="zh-TW" sz="24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 540</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5" name="矩形 44"/>
          <p:cNvSpPr/>
          <p:nvPr/>
        </p:nvSpPr>
        <p:spPr>
          <a:xfrm>
            <a:off x="152400" y="5791200"/>
            <a:ext cx="8229600" cy="831850"/>
          </a:xfrm>
          <a:prstGeom prst="rect">
            <a:avLst/>
          </a:prstGeom>
          <a:solidFill>
            <a:srgbClr val="FFFF99"/>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CN" sz="2400" dirty="0"/>
              <a:t>Equivalently, looking for </a:t>
            </a:r>
            <a:r>
              <a:rPr lang="en-US" altLang="zh-CN" sz="2400" dirty="0">
                <a:solidFill>
                  <a:srgbClr val="0000CC"/>
                </a:solidFill>
              </a:rPr>
              <a:t>minimum</a:t>
            </a:r>
            <a:r>
              <a:rPr lang="en-US" altLang="zh-TW" sz="2400" dirty="0">
                <a:solidFill>
                  <a:srgbClr val="0000CC"/>
                </a:solidFill>
              </a:rPr>
              <a:t> weight Hamiltonian circuit</a:t>
            </a:r>
            <a:r>
              <a:rPr lang="en-US" altLang="zh-CN" sz="2400" dirty="0"/>
              <a:t> in a </a:t>
            </a:r>
            <a:r>
              <a:rPr lang="en-US" altLang="zh-TW" sz="2400" dirty="0"/>
              <a:t>complete weighted graph </a:t>
            </a:r>
            <a:endParaRPr lang="zh-TW"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 calcmode="lin" valueType="num">
                                      <p:cBhvr additive="base">
                                        <p:cTn id="17" dur="500" fill="hold"/>
                                        <p:tgtEl>
                                          <p:spTgt spid="41"/>
                                        </p:tgtEl>
                                        <p:attrNameLst>
                                          <p:attrName>ppt_x</p:attrName>
                                        </p:attrNameLst>
                                      </p:cBhvr>
                                      <p:tavLst>
                                        <p:tav tm="0">
                                          <p:val>
                                            <p:strVal val="#ppt_x"/>
                                          </p:val>
                                        </p:tav>
                                        <p:tav tm="100000">
                                          <p:val>
                                            <p:strVal val="#ppt_x"/>
                                          </p:val>
                                        </p:tav>
                                      </p:tavLst>
                                    </p:anim>
                                    <p:anim calcmode="lin" valueType="num">
                                      <p:cBhvr additive="base">
                                        <p:cTn id="1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additive="base">
                                        <p:cTn id="29" dur="500" fill="hold"/>
                                        <p:tgtEl>
                                          <p:spTgt spid="44"/>
                                        </p:tgtEl>
                                        <p:attrNameLst>
                                          <p:attrName>ppt_x</p:attrName>
                                        </p:attrNameLst>
                                      </p:cBhvr>
                                      <p:tavLst>
                                        <p:tav tm="0">
                                          <p:val>
                                            <p:strVal val="#ppt_x"/>
                                          </p:val>
                                        </p:tav>
                                        <p:tav tm="100000">
                                          <p:val>
                                            <p:strVal val="#ppt_x"/>
                                          </p:val>
                                        </p:tav>
                                      </p:tavLst>
                                    </p:anim>
                                    <p:anim calcmode="lin" valueType="num">
                                      <p:cBhvr additive="base">
                                        <p:cTn id="3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anim calcmode="lin" valueType="num">
                                      <p:cBhvr additive="base">
                                        <p:cTn id="35" dur="500" fill="hold"/>
                                        <p:tgtEl>
                                          <p:spTgt spid="43"/>
                                        </p:tgtEl>
                                        <p:attrNameLst>
                                          <p:attrName>ppt_x</p:attrName>
                                        </p:attrNameLst>
                                      </p:cBhvr>
                                      <p:tavLst>
                                        <p:tav tm="0">
                                          <p:val>
                                            <p:strVal val="#ppt_x"/>
                                          </p:val>
                                        </p:tav>
                                        <p:tav tm="100000">
                                          <p:val>
                                            <p:strVal val="#ppt_x"/>
                                          </p:val>
                                        </p:tav>
                                      </p:tavLst>
                                    </p:anim>
                                    <p:anim calcmode="lin" valueType="num">
                                      <p:cBhvr additive="base">
                                        <p:cTn id="3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ppt_x"/>
                                          </p:val>
                                        </p:tav>
                                        <p:tav tm="100000">
                                          <p:val>
                                            <p:strVal val="#ppt_x"/>
                                          </p:val>
                                        </p:tav>
                                      </p:tavLst>
                                    </p:anim>
                                    <p:anim calcmode="lin" valueType="num">
                                      <p:cBhvr additive="base">
                                        <p:cTn id="4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381000" y="304800"/>
            <a:ext cx="8229600" cy="914400"/>
          </a:xfrm>
        </p:spPr>
        <p:txBody>
          <a:bodyPr vert="horz" wrap="square" lIns="91440" tIns="45720" rIns="91440" bIns="45720" anchor="ctr"/>
          <a:p>
            <a:pPr eaLnBrk="1" hangingPunct="1"/>
            <a:r>
              <a:rPr lang="en-US" altLang="zh-TW" dirty="0"/>
              <a:t>§10.7: Planar Graphs</a:t>
            </a:r>
            <a:endParaRPr lang="en-US" altLang="zh-TW" dirty="0"/>
          </a:p>
        </p:txBody>
      </p:sp>
      <p:sp>
        <p:nvSpPr>
          <p:cNvPr id="67587" name="Rectangle 3"/>
          <p:cNvSpPr>
            <a:spLocks noGrp="1"/>
          </p:cNvSpPr>
          <p:nvPr>
            <p:ph type="body"/>
          </p:nvPr>
        </p:nvSpPr>
        <p:spPr>
          <a:xfrm>
            <a:off x="228600" y="1143000"/>
            <a:ext cx="8610600" cy="1905000"/>
          </a:xfrm>
        </p:spPr>
        <p:txBody>
          <a:bodyPr vert="horz" wrap="square" lIns="91440" tIns="45720" rIns="91440" bIns="45720" anchor="t"/>
          <a:p>
            <a:pPr eaLnBrk="1" hangingPunct="1">
              <a:buNone/>
            </a:pPr>
            <a:r>
              <a:rPr lang="en-US" altLang="zh-TW" sz="2800" b="1" dirty="0">
                <a:solidFill>
                  <a:srgbClr val="008000"/>
                </a:solidFill>
              </a:rPr>
              <a:t>Def 1.</a:t>
            </a:r>
            <a:endParaRPr lang="en-US" altLang="zh-TW" sz="2800" b="1" dirty="0">
              <a:solidFill>
                <a:srgbClr val="008000"/>
              </a:solidFill>
            </a:endParaRPr>
          </a:p>
          <a:p>
            <a:pPr eaLnBrk="1" hangingPunct="1">
              <a:buNone/>
            </a:pPr>
            <a:r>
              <a:rPr lang="en-US" altLang="zh-TW" sz="2800" dirty="0"/>
              <a:t>   A graph is called</a:t>
            </a:r>
            <a:r>
              <a:rPr lang="en-US" altLang="zh-TW" sz="2800" dirty="0">
                <a:solidFill>
                  <a:srgbClr val="0000CC"/>
                </a:solidFill>
              </a:rPr>
              <a:t> </a:t>
            </a:r>
            <a:r>
              <a:rPr lang="en-US" altLang="zh-TW" sz="2800" i="1" dirty="0">
                <a:solidFill>
                  <a:srgbClr val="0000CC"/>
                </a:solidFill>
              </a:rPr>
              <a:t>planar</a:t>
            </a:r>
            <a:r>
              <a:rPr lang="en-US" altLang="zh-TW" sz="2800" dirty="0"/>
              <a:t> if it can be drawn in the plane without any edge crossing.</a:t>
            </a:r>
            <a:r>
              <a:rPr lang="en-US" altLang="zh-TW" sz="2800" i="1" dirty="0"/>
              <a:t> </a:t>
            </a:r>
            <a:r>
              <a:rPr lang="en-US" altLang="zh-TW" sz="2800" dirty="0"/>
              <a:t>Such a drawing is called a </a:t>
            </a:r>
            <a:r>
              <a:rPr lang="en-US" altLang="zh-TW" sz="2800" i="1" dirty="0">
                <a:solidFill>
                  <a:srgbClr val="0000CC"/>
                </a:solidFill>
              </a:rPr>
              <a:t>planar representation </a:t>
            </a:r>
            <a:r>
              <a:rPr lang="en-US" altLang="zh-TW" sz="2800" dirty="0"/>
              <a:t>of the graph.</a:t>
            </a:r>
            <a:endParaRPr lang="en-US" altLang="zh-TW" sz="2800" dirty="0"/>
          </a:p>
        </p:txBody>
      </p:sp>
      <p:sp>
        <p:nvSpPr>
          <p:cNvPr id="67588"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矩形 4"/>
          <p:cNvSpPr/>
          <p:nvPr/>
        </p:nvSpPr>
        <p:spPr>
          <a:xfrm>
            <a:off x="228600" y="3200400"/>
            <a:ext cx="8305800" cy="519113"/>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1:</a:t>
            </a:r>
            <a:r>
              <a:rPr kumimoji="1" lang="en-US" altLang="zh-TW" sz="2800" b="0" i="0" u="none" strike="noStrike" kern="0" cap="none" spc="0" normalizeH="0" baseline="0" noProof="0" dirty="0">
                <a:ln>
                  <a:noFill/>
                </a:ln>
                <a:solidFill>
                  <a:srgbClr val="800000"/>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Is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4</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planar?</a:t>
            </a:r>
            <a:endPar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grpSp>
        <p:nvGrpSpPr>
          <p:cNvPr id="2" name="群組 60"/>
          <p:cNvGrpSpPr/>
          <p:nvPr/>
        </p:nvGrpSpPr>
        <p:grpSpPr>
          <a:xfrm>
            <a:off x="898525" y="4114800"/>
            <a:ext cx="1387475" cy="1752600"/>
            <a:chOff x="898248" y="4114799"/>
            <a:chExt cx="1387752" cy="1752304"/>
          </a:xfrm>
        </p:grpSpPr>
        <p:sp>
          <p:nvSpPr>
            <p:cNvPr id="67604" name="AutoShape 11"/>
            <p:cNvSpPr/>
            <p:nvPr/>
          </p:nvSpPr>
          <p:spPr>
            <a:xfrm>
              <a:off x="898248" y="4114799"/>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7605" name="Line 25"/>
            <p:cNvSpPr/>
            <p:nvPr/>
          </p:nvSpPr>
          <p:spPr>
            <a:xfrm>
              <a:off x="990599" y="4190999"/>
              <a:ext cx="1219201" cy="1143001"/>
            </a:xfrm>
            <a:prstGeom prst="line">
              <a:avLst/>
            </a:prstGeom>
            <a:ln w="25400" cap="flat" cmpd="sng">
              <a:solidFill>
                <a:schemeClr val="tx1"/>
              </a:solidFill>
              <a:prstDash val="solid"/>
              <a:headEnd type="none" w="med" len="med"/>
              <a:tailEnd type="none" w="med" len="med"/>
            </a:ln>
          </p:spPr>
        </p:sp>
        <p:sp>
          <p:nvSpPr>
            <p:cNvPr id="67606" name="Line 23"/>
            <p:cNvSpPr/>
            <p:nvPr/>
          </p:nvSpPr>
          <p:spPr>
            <a:xfrm rot="-120000" flipH="1">
              <a:off x="970651" y="4191109"/>
              <a:ext cx="1259099" cy="1121262"/>
            </a:xfrm>
            <a:prstGeom prst="line">
              <a:avLst/>
            </a:prstGeom>
            <a:ln w="25400" cap="flat" cmpd="sng">
              <a:solidFill>
                <a:schemeClr val="tx1"/>
              </a:solidFill>
              <a:prstDash val="solid"/>
              <a:headEnd type="none" w="med" len="med"/>
              <a:tailEnd type="none" w="med" len="med"/>
            </a:ln>
          </p:spPr>
        </p:sp>
        <p:sp>
          <p:nvSpPr>
            <p:cNvPr id="67607" name="Line 25"/>
            <p:cNvSpPr/>
            <p:nvPr/>
          </p:nvSpPr>
          <p:spPr>
            <a:xfrm rot="120000">
              <a:off x="940975" y="4191866"/>
              <a:ext cx="69561" cy="1141267"/>
            </a:xfrm>
            <a:prstGeom prst="line">
              <a:avLst/>
            </a:prstGeom>
            <a:ln w="25400" cap="flat" cmpd="sng">
              <a:solidFill>
                <a:schemeClr val="tx1"/>
              </a:solidFill>
              <a:prstDash val="solid"/>
              <a:headEnd type="none" w="med" len="med"/>
              <a:tailEnd type="none" w="med" len="med"/>
            </a:ln>
          </p:spPr>
        </p:sp>
        <p:sp>
          <p:nvSpPr>
            <p:cNvPr id="67608" name="Line 34"/>
            <p:cNvSpPr/>
            <p:nvPr/>
          </p:nvSpPr>
          <p:spPr>
            <a:xfrm>
              <a:off x="2232000" y="4245584"/>
              <a:ext cx="0" cy="1088416"/>
            </a:xfrm>
            <a:prstGeom prst="line">
              <a:avLst/>
            </a:prstGeom>
            <a:ln w="25400" cap="flat" cmpd="sng">
              <a:solidFill>
                <a:schemeClr val="tx1"/>
              </a:solidFill>
              <a:prstDash val="solid"/>
              <a:headEnd type="none" w="med" len="med"/>
              <a:tailEnd type="none" w="med" len="med"/>
            </a:ln>
          </p:spPr>
        </p:sp>
        <p:sp>
          <p:nvSpPr>
            <p:cNvPr id="67609" name="Line 25"/>
            <p:cNvSpPr/>
            <p:nvPr/>
          </p:nvSpPr>
          <p:spPr>
            <a:xfrm flipV="1">
              <a:off x="990601" y="4176000"/>
              <a:ext cx="1219200" cy="0"/>
            </a:xfrm>
            <a:prstGeom prst="line">
              <a:avLst/>
            </a:prstGeom>
            <a:ln w="25400" cap="flat" cmpd="sng">
              <a:solidFill>
                <a:schemeClr val="tx1"/>
              </a:solidFill>
              <a:prstDash val="solid"/>
              <a:headEnd type="none" w="med" len="med"/>
              <a:tailEnd type="none" w="med" len="med"/>
            </a:ln>
          </p:spPr>
        </p:sp>
        <p:sp>
          <p:nvSpPr>
            <p:cNvPr id="67610" name="Line 25"/>
            <p:cNvSpPr/>
            <p:nvPr/>
          </p:nvSpPr>
          <p:spPr>
            <a:xfrm flipV="1">
              <a:off x="972000" y="5334000"/>
              <a:ext cx="1224000" cy="0"/>
            </a:xfrm>
            <a:prstGeom prst="line">
              <a:avLst/>
            </a:prstGeom>
            <a:ln w="25400" cap="flat" cmpd="sng">
              <a:solidFill>
                <a:schemeClr val="tx1"/>
              </a:solidFill>
              <a:prstDash val="solid"/>
              <a:headEnd type="none" w="med" len="med"/>
              <a:tailEnd type="none" w="med" len="med"/>
            </a:ln>
          </p:spPr>
        </p:sp>
        <p:sp>
          <p:nvSpPr>
            <p:cNvPr id="67611" name="AutoShape 11"/>
            <p:cNvSpPr/>
            <p:nvPr/>
          </p:nvSpPr>
          <p:spPr>
            <a:xfrm>
              <a:off x="914400" y="5291942"/>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7612" name="AutoShape 11"/>
            <p:cNvSpPr/>
            <p:nvPr/>
          </p:nvSpPr>
          <p:spPr>
            <a:xfrm>
              <a:off x="2167200" y="41148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7613" name="AutoShape 11"/>
            <p:cNvSpPr/>
            <p:nvPr/>
          </p:nvSpPr>
          <p:spPr>
            <a:xfrm>
              <a:off x="2167200" y="5291942"/>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58" name="矩形 57"/>
            <p:cNvSpPr/>
            <p:nvPr/>
          </p:nvSpPr>
          <p:spPr>
            <a:xfrm>
              <a:off x="1447633" y="5409980"/>
              <a:ext cx="489048" cy="45712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4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4</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sp>
        <p:nvSpPr>
          <p:cNvPr id="60" name="矩形 59"/>
          <p:cNvSpPr/>
          <p:nvPr/>
        </p:nvSpPr>
        <p:spPr>
          <a:xfrm>
            <a:off x="3429000" y="5715000"/>
            <a:ext cx="2032000" cy="82232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4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4</a:t>
            </a:r>
            <a:r>
              <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rPr>
              <a:t> drawn with</a:t>
            </a:r>
            <a:br>
              <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rPr>
            </a:br>
            <a:r>
              <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rPr>
              <a:t> no crossings</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3" name="群組 66"/>
          <p:cNvGrpSpPr/>
          <p:nvPr/>
        </p:nvGrpSpPr>
        <p:grpSpPr>
          <a:xfrm>
            <a:off x="3282950" y="3657600"/>
            <a:ext cx="1838325" cy="1752600"/>
            <a:chOff x="3283186" y="3657600"/>
            <a:chExt cx="1838366" cy="1752601"/>
          </a:xfrm>
        </p:grpSpPr>
        <p:sp>
          <p:nvSpPr>
            <p:cNvPr id="67594" name="AutoShape 11"/>
            <p:cNvSpPr/>
            <p:nvPr/>
          </p:nvSpPr>
          <p:spPr>
            <a:xfrm>
              <a:off x="3733800" y="41148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7595" name="Line 25"/>
            <p:cNvSpPr/>
            <p:nvPr/>
          </p:nvSpPr>
          <p:spPr>
            <a:xfrm>
              <a:off x="3826151" y="4191000"/>
              <a:ext cx="1219201" cy="1143001"/>
            </a:xfrm>
            <a:prstGeom prst="line">
              <a:avLst/>
            </a:prstGeom>
            <a:ln w="25400" cap="flat" cmpd="sng">
              <a:solidFill>
                <a:schemeClr val="tx1"/>
              </a:solidFill>
              <a:prstDash val="solid"/>
              <a:headEnd type="none" w="med" len="med"/>
              <a:tailEnd type="none" w="med" len="med"/>
            </a:ln>
          </p:spPr>
        </p:sp>
        <p:sp>
          <p:nvSpPr>
            <p:cNvPr id="67596" name="Line 25"/>
            <p:cNvSpPr/>
            <p:nvPr/>
          </p:nvSpPr>
          <p:spPr>
            <a:xfrm rot="120000">
              <a:off x="3776527" y="4191867"/>
              <a:ext cx="69561" cy="1141267"/>
            </a:xfrm>
            <a:prstGeom prst="line">
              <a:avLst/>
            </a:prstGeom>
            <a:ln w="25400" cap="flat" cmpd="sng">
              <a:solidFill>
                <a:schemeClr val="tx1"/>
              </a:solidFill>
              <a:prstDash val="solid"/>
              <a:headEnd type="none" w="med" len="med"/>
              <a:tailEnd type="none" w="med" len="med"/>
            </a:ln>
          </p:spPr>
        </p:sp>
        <p:sp>
          <p:nvSpPr>
            <p:cNvPr id="67597" name="Line 34"/>
            <p:cNvSpPr/>
            <p:nvPr/>
          </p:nvSpPr>
          <p:spPr>
            <a:xfrm>
              <a:off x="5067552" y="4245585"/>
              <a:ext cx="0" cy="1088416"/>
            </a:xfrm>
            <a:prstGeom prst="line">
              <a:avLst/>
            </a:prstGeom>
            <a:ln w="25400" cap="flat" cmpd="sng">
              <a:solidFill>
                <a:schemeClr val="tx1"/>
              </a:solidFill>
              <a:prstDash val="solid"/>
              <a:headEnd type="none" w="med" len="med"/>
              <a:tailEnd type="none" w="med" len="med"/>
            </a:ln>
          </p:spPr>
        </p:sp>
        <p:sp>
          <p:nvSpPr>
            <p:cNvPr id="67598" name="Line 25"/>
            <p:cNvSpPr/>
            <p:nvPr/>
          </p:nvSpPr>
          <p:spPr>
            <a:xfrm flipV="1">
              <a:off x="3826153" y="4176001"/>
              <a:ext cx="1219201" cy="0"/>
            </a:xfrm>
            <a:prstGeom prst="line">
              <a:avLst/>
            </a:prstGeom>
            <a:ln w="25400" cap="flat" cmpd="sng">
              <a:solidFill>
                <a:schemeClr val="tx1"/>
              </a:solidFill>
              <a:prstDash val="solid"/>
              <a:headEnd type="none" w="med" len="med"/>
              <a:tailEnd type="none" w="med" len="med"/>
            </a:ln>
          </p:spPr>
        </p:sp>
        <p:sp>
          <p:nvSpPr>
            <p:cNvPr id="67599" name="Line 25"/>
            <p:cNvSpPr/>
            <p:nvPr/>
          </p:nvSpPr>
          <p:spPr>
            <a:xfrm flipV="1">
              <a:off x="3807552" y="5334001"/>
              <a:ext cx="1224000" cy="0"/>
            </a:xfrm>
            <a:prstGeom prst="line">
              <a:avLst/>
            </a:prstGeom>
            <a:ln w="25400" cap="flat" cmpd="sng">
              <a:solidFill>
                <a:schemeClr val="tx1"/>
              </a:solidFill>
              <a:prstDash val="solid"/>
              <a:headEnd type="none" w="med" len="med"/>
              <a:tailEnd type="none" w="med" len="med"/>
            </a:ln>
          </p:spPr>
        </p:sp>
        <p:sp>
          <p:nvSpPr>
            <p:cNvPr id="67600" name="AutoShape 11"/>
            <p:cNvSpPr/>
            <p:nvPr/>
          </p:nvSpPr>
          <p:spPr>
            <a:xfrm>
              <a:off x="3749952" y="5291943"/>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7601" name="AutoShape 11"/>
            <p:cNvSpPr/>
            <p:nvPr/>
          </p:nvSpPr>
          <p:spPr>
            <a:xfrm>
              <a:off x="5002752" y="4114801"/>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7602" name="AutoShape 11"/>
            <p:cNvSpPr/>
            <p:nvPr/>
          </p:nvSpPr>
          <p:spPr>
            <a:xfrm>
              <a:off x="5002752" y="5291943"/>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6" name="手繪多邊形 65"/>
            <p:cNvSpPr/>
            <p:nvPr/>
          </p:nvSpPr>
          <p:spPr>
            <a:xfrm>
              <a:off x="3283186" y="3657600"/>
              <a:ext cx="1808203" cy="1682751"/>
            </a:xfrm>
            <a:custGeom>
              <a:avLst/>
              <a:gdLst>
                <a:gd name="connsiteX0" fmla="*/ 1808103 w 1808103"/>
                <a:gd name="connsiteY0" fmla="*/ 530578 h 1682044"/>
                <a:gd name="connsiteX1" fmla="*/ 216370 w 1808103"/>
                <a:gd name="connsiteY1" fmla="*/ 191911 h 1682044"/>
                <a:gd name="connsiteX2" fmla="*/ 509881 w 1808103"/>
                <a:gd name="connsiteY2" fmla="*/ 1682044 h 1682044"/>
              </a:gdLst>
              <a:ahLst/>
              <a:cxnLst>
                <a:cxn ang="0">
                  <a:pos x="connsiteX0" y="connsiteY0"/>
                </a:cxn>
                <a:cxn ang="0">
                  <a:pos x="connsiteX1" y="connsiteY1"/>
                </a:cxn>
                <a:cxn ang="0">
                  <a:pos x="connsiteX2" y="connsiteY2"/>
                </a:cxn>
              </a:cxnLst>
              <a:rect l="l" t="t" r="r" b="b"/>
              <a:pathLst>
                <a:path w="1808103" h="1682044">
                  <a:moveTo>
                    <a:pt x="1808103" y="530578"/>
                  </a:moveTo>
                  <a:cubicBezTo>
                    <a:pt x="1120421" y="265289"/>
                    <a:pt x="432740" y="0"/>
                    <a:pt x="216370" y="191911"/>
                  </a:cubicBezTo>
                  <a:cubicBezTo>
                    <a:pt x="0" y="383822"/>
                    <a:pt x="254940" y="1032933"/>
                    <a:pt x="509881" y="168204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68" name="矩形 67"/>
          <p:cNvSpPr/>
          <p:nvPr/>
        </p:nvSpPr>
        <p:spPr>
          <a:xfrm>
            <a:off x="6172200" y="4648200"/>
            <a:ext cx="2066925" cy="457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sym typeface="Symbol" panose="05050102010706020507"/>
              </a:rPr>
              <a:t> </a:t>
            </a:r>
            <a:r>
              <a:rPr kumimoji="1" lang="en-US"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4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4</a:t>
            </a:r>
            <a:r>
              <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rPr>
              <a:t> is planar</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anim calcmode="lin" valueType="num">
                                      <p:cBhvr additive="base">
                                        <p:cTn id="21" dur="500" fill="hold"/>
                                        <p:tgtEl>
                                          <p:spTgt spid="60"/>
                                        </p:tgtEl>
                                        <p:attrNameLst>
                                          <p:attrName>ppt_x</p:attrName>
                                        </p:attrNameLst>
                                      </p:cBhvr>
                                      <p:tavLst>
                                        <p:tav tm="0">
                                          <p:val>
                                            <p:strVal val="#ppt_x"/>
                                          </p:val>
                                        </p:tav>
                                        <p:tav tm="100000">
                                          <p:val>
                                            <p:strVal val="#ppt_x"/>
                                          </p:val>
                                        </p:tav>
                                      </p:tavLst>
                                    </p:anim>
                                    <p:anim calcmode="lin" valueType="num">
                                      <p:cBhvr additive="base">
                                        <p:cTn id="22"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base">
                                        <p:cTn id="27" dur="500" fill="hold"/>
                                        <p:tgtEl>
                                          <p:spTgt spid="68"/>
                                        </p:tgtEl>
                                        <p:attrNameLst>
                                          <p:attrName>ppt_x</p:attrName>
                                        </p:attrNameLst>
                                      </p:cBhvr>
                                      <p:tavLst>
                                        <p:tav tm="0">
                                          <p:val>
                                            <p:strVal val="#ppt_x"/>
                                          </p:val>
                                        </p:tav>
                                        <p:tav tm="100000">
                                          <p:val>
                                            <p:strVal val="#ppt_x"/>
                                          </p:val>
                                        </p:tav>
                                      </p:tavLst>
                                    </p:anim>
                                    <p:anim calcmode="lin" valueType="num">
                                      <p:cBhvr additive="base">
                                        <p:cTn id="2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0" grpId="0"/>
      <p:bldP spid="6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投影片編號版面配置區 3"/>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矩形 4"/>
          <p:cNvSpPr/>
          <p:nvPr/>
        </p:nvSpPr>
        <p:spPr>
          <a:xfrm>
            <a:off x="228600" y="3657600"/>
            <a:ext cx="6858000" cy="519113"/>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3:</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Show that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3,3</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is </a:t>
            </a:r>
            <a:r>
              <a:rPr kumimoji="1" lang="en-US" altLang="zh-TW" sz="2800" b="0" i="0" u="none" strike="noStrike" kern="0" cap="none" spc="0" normalizeH="0" baseline="0" noProof="0" dirty="0" err="1">
                <a:ln>
                  <a:noFill/>
                </a:ln>
                <a:solidFill>
                  <a:srgbClr val="000000"/>
                </a:solidFill>
                <a:effectLst/>
                <a:uLnTx/>
                <a:uFillTx/>
                <a:latin typeface="Arial" panose="020B0604020202020204"/>
                <a:ea typeface="PMingLiU"/>
                <a:cs typeface="+mn-cs"/>
              </a:rPr>
              <a:t>nonplanar</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endPar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sp>
        <p:nvSpPr>
          <p:cNvPr id="6" name="矩形 5"/>
          <p:cNvSpPr/>
          <p:nvPr/>
        </p:nvSpPr>
        <p:spPr>
          <a:xfrm>
            <a:off x="304800" y="609600"/>
            <a:ext cx="8305800" cy="519113"/>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2:</a:t>
            </a:r>
            <a:r>
              <a:rPr kumimoji="1" lang="en-US" altLang="zh-TW" sz="2800" b="0" i="0" u="none" strike="noStrike" kern="0" cap="none" spc="0" normalizeH="0" baseline="0" noProof="0" dirty="0">
                <a:ln>
                  <a:noFill/>
                </a:ln>
                <a:solidFill>
                  <a:srgbClr val="800000"/>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Is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Q</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planar?</a:t>
            </a:r>
            <a:endPar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sp>
        <p:nvSpPr>
          <p:cNvPr id="18" name="矩形 17"/>
          <p:cNvSpPr/>
          <p:nvPr/>
        </p:nvSpPr>
        <p:spPr>
          <a:xfrm>
            <a:off x="1219200" y="3048000"/>
            <a:ext cx="506413" cy="457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Q</a:t>
            </a:r>
            <a:r>
              <a:rPr kumimoji="1" lang="en-US" altLang="zh-TW" sz="24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9" name="矩形 18"/>
          <p:cNvSpPr/>
          <p:nvPr/>
        </p:nvSpPr>
        <p:spPr>
          <a:xfrm>
            <a:off x="2667000" y="3124200"/>
            <a:ext cx="3962400" cy="45720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Q</a:t>
            </a:r>
            <a:r>
              <a:rPr kumimoji="1" lang="en-US" altLang="zh-TW" sz="24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r>
              <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rPr>
              <a:t> drawn with no crossings</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1" name="矩形 30"/>
          <p:cNvSpPr/>
          <p:nvPr/>
        </p:nvSpPr>
        <p:spPr>
          <a:xfrm>
            <a:off x="6248400" y="2057400"/>
            <a:ext cx="2084388" cy="457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sym typeface="Symbol" panose="05050102010706020507"/>
              </a:rPr>
              <a:t> </a:t>
            </a:r>
            <a:r>
              <a:rPr kumimoji="1" lang="en-US"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Q</a:t>
            </a:r>
            <a:r>
              <a:rPr kumimoji="1" lang="en-US" altLang="zh-TW" sz="24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r>
              <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rPr>
              <a:t> is planar</a:t>
            </a:r>
            <a:endParaRPr kumimoji="1" lang="zh-TW" altLang="en-US" sz="24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68616" name="群組 58"/>
          <p:cNvGrpSpPr/>
          <p:nvPr/>
        </p:nvGrpSpPr>
        <p:grpSpPr>
          <a:xfrm>
            <a:off x="914400" y="1524000"/>
            <a:ext cx="1447800" cy="1385888"/>
            <a:chOff x="761999" y="1538999"/>
            <a:chExt cx="1905000" cy="1905001"/>
          </a:xfrm>
        </p:grpSpPr>
        <p:sp>
          <p:nvSpPr>
            <p:cNvPr id="68701" name="Line 23"/>
            <p:cNvSpPr/>
            <p:nvPr/>
          </p:nvSpPr>
          <p:spPr>
            <a:xfrm rot="-120000" flipH="1">
              <a:off x="2067549" y="2767454"/>
              <a:ext cx="540606" cy="591094"/>
            </a:xfrm>
            <a:prstGeom prst="line">
              <a:avLst/>
            </a:prstGeom>
            <a:ln w="25400" cap="flat" cmpd="sng">
              <a:solidFill>
                <a:schemeClr val="tx1"/>
              </a:solidFill>
              <a:prstDash val="solid"/>
              <a:headEnd type="none" w="med" len="med"/>
              <a:tailEnd type="none" w="med" len="med"/>
            </a:ln>
          </p:spPr>
        </p:sp>
        <p:sp>
          <p:nvSpPr>
            <p:cNvPr id="68702" name="AutoShape 11"/>
            <p:cNvSpPr/>
            <p:nvPr/>
          </p:nvSpPr>
          <p:spPr>
            <a:xfrm>
              <a:off x="1279247" y="1538999"/>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703" name="Line 25"/>
            <p:cNvSpPr/>
            <p:nvPr/>
          </p:nvSpPr>
          <p:spPr>
            <a:xfrm rot="120000">
              <a:off x="1321974" y="1616066"/>
              <a:ext cx="69561" cy="1141267"/>
            </a:xfrm>
            <a:prstGeom prst="line">
              <a:avLst/>
            </a:prstGeom>
            <a:ln w="25400" cap="flat" cmpd="sng">
              <a:solidFill>
                <a:schemeClr val="tx1"/>
              </a:solidFill>
              <a:prstDash val="solid"/>
              <a:headEnd type="none" w="med" len="med"/>
              <a:tailEnd type="none" w="med" len="med"/>
            </a:ln>
          </p:spPr>
        </p:sp>
        <p:sp>
          <p:nvSpPr>
            <p:cNvPr id="68704" name="Line 34"/>
            <p:cNvSpPr/>
            <p:nvPr/>
          </p:nvSpPr>
          <p:spPr>
            <a:xfrm>
              <a:off x="2612999" y="1615200"/>
              <a:ext cx="0" cy="1088416"/>
            </a:xfrm>
            <a:prstGeom prst="line">
              <a:avLst/>
            </a:prstGeom>
            <a:ln w="25400" cap="flat" cmpd="sng">
              <a:solidFill>
                <a:schemeClr val="tx1"/>
              </a:solidFill>
              <a:prstDash val="solid"/>
              <a:headEnd type="none" w="med" len="med"/>
              <a:tailEnd type="none" w="med" len="med"/>
            </a:ln>
          </p:spPr>
        </p:sp>
        <p:sp>
          <p:nvSpPr>
            <p:cNvPr id="68705" name="Line 25"/>
            <p:cNvSpPr/>
            <p:nvPr/>
          </p:nvSpPr>
          <p:spPr>
            <a:xfrm flipV="1">
              <a:off x="1371600" y="1600200"/>
              <a:ext cx="1219200" cy="0"/>
            </a:xfrm>
            <a:prstGeom prst="line">
              <a:avLst/>
            </a:prstGeom>
            <a:ln w="25400" cap="flat" cmpd="sng">
              <a:solidFill>
                <a:schemeClr val="tx1"/>
              </a:solidFill>
              <a:prstDash val="solid"/>
              <a:headEnd type="none" w="med" len="med"/>
              <a:tailEnd type="none" w="med" len="med"/>
            </a:ln>
          </p:spPr>
        </p:sp>
        <p:sp>
          <p:nvSpPr>
            <p:cNvPr id="68706" name="Line 25"/>
            <p:cNvSpPr/>
            <p:nvPr/>
          </p:nvSpPr>
          <p:spPr>
            <a:xfrm flipV="1">
              <a:off x="1352999" y="2758200"/>
              <a:ext cx="1224000" cy="0"/>
            </a:xfrm>
            <a:prstGeom prst="line">
              <a:avLst/>
            </a:prstGeom>
            <a:ln w="25400" cap="flat" cmpd="sng">
              <a:solidFill>
                <a:schemeClr val="tx1"/>
              </a:solidFill>
              <a:prstDash val="solid"/>
              <a:headEnd type="none" w="med" len="med"/>
              <a:tailEnd type="none" w="med" len="med"/>
            </a:ln>
          </p:spPr>
        </p:sp>
        <p:sp>
          <p:nvSpPr>
            <p:cNvPr id="68707" name="AutoShape 11"/>
            <p:cNvSpPr/>
            <p:nvPr/>
          </p:nvSpPr>
          <p:spPr>
            <a:xfrm>
              <a:off x="761999" y="22248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708" name="AutoShape 11"/>
            <p:cNvSpPr/>
            <p:nvPr/>
          </p:nvSpPr>
          <p:spPr>
            <a:xfrm>
              <a:off x="2548199" y="15390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709" name="AutoShape 11"/>
            <p:cNvSpPr/>
            <p:nvPr/>
          </p:nvSpPr>
          <p:spPr>
            <a:xfrm>
              <a:off x="2548199" y="26820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710" name="AutoShape 11"/>
            <p:cNvSpPr/>
            <p:nvPr/>
          </p:nvSpPr>
          <p:spPr>
            <a:xfrm>
              <a:off x="761999" y="3325742"/>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711" name="Line 25"/>
            <p:cNvSpPr/>
            <p:nvPr/>
          </p:nvSpPr>
          <p:spPr>
            <a:xfrm rot="120000">
              <a:off x="781893" y="2301866"/>
              <a:ext cx="69561" cy="1141267"/>
            </a:xfrm>
            <a:prstGeom prst="line">
              <a:avLst/>
            </a:prstGeom>
            <a:ln w="25400" cap="flat" cmpd="sng">
              <a:solidFill>
                <a:schemeClr val="tx1"/>
              </a:solidFill>
              <a:prstDash val="solid"/>
              <a:headEnd type="none" w="med" len="med"/>
              <a:tailEnd type="none" w="med" len="med"/>
            </a:ln>
          </p:spPr>
        </p:sp>
        <p:sp>
          <p:nvSpPr>
            <p:cNvPr id="68712" name="Line 23"/>
            <p:cNvSpPr/>
            <p:nvPr/>
          </p:nvSpPr>
          <p:spPr>
            <a:xfrm rot="-120000" flipH="1">
              <a:off x="826383" y="1624069"/>
              <a:ext cx="519964" cy="668061"/>
            </a:xfrm>
            <a:prstGeom prst="line">
              <a:avLst/>
            </a:prstGeom>
            <a:ln w="25400" cap="flat" cmpd="sng">
              <a:solidFill>
                <a:schemeClr val="tx1"/>
              </a:solidFill>
              <a:prstDash val="solid"/>
              <a:headEnd type="none" w="med" len="med"/>
              <a:tailEnd type="none" w="med" len="med"/>
            </a:ln>
          </p:spPr>
        </p:sp>
        <p:sp>
          <p:nvSpPr>
            <p:cNvPr id="68713" name="AutoShape 11"/>
            <p:cNvSpPr/>
            <p:nvPr/>
          </p:nvSpPr>
          <p:spPr>
            <a:xfrm>
              <a:off x="1295399" y="26820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714" name="Line 23"/>
            <p:cNvSpPr/>
            <p:nvPr/>
          </p:nvSpPr>
          <p:spPr>
            <a:xfrm rot="-120000" flipH="1">
              <a:off x="841472" y="2767454"/>
              <a:ext cx="540606" cy="591094"/>
            </a:xfrm>
            <a:prstGeom prst="line">
              <a:avLst/>
            </a:prstGeom>
            <a:ln w="25400" cap="flat" cmpd="sng">
              <a:solidFill>
                <a:schemeClr val="tx1"/>
              </a:solidFill>
              <a:prstDash val="solid"/>
              <a:headEnd type="none" w="med" len="med"/>
              <a:tailEnd type="none" w="med" len="med"/>
            </a:ln>
          </p:spPr>
        </p:sp>
        <p:sp>
          <p:nvSpPr>
            <p:cNvPr id="68715" name="Line 25"/>
            <p:cNvSpPr/>
            <p:nvPr/>
          </p:nvSpPr>
          <p:spPr>
            <a:xfrm flipV="1">
              <a:off x="838199" y="3367800"/>
              <a:ext cx="1224000" cy="0"/>
            </a:xfrm>
            <a:prstGeom prst="line">
              <a:avLst/>
            </a:prstGeom>
            <a:ln w="25400" cap="flat" cmpd="sng">
              <a:solidFill>
                <a:schemeClr val="tx1"/>
              </a:solidFill>
              <a:prstDash val="solid"/>
              <a:headEnd type="none" w="med" len="med"/>
              <a:tailEnd type="none" w="med" len="med"/>
            </a:ln>
          </p:spPr>
        </p:sp>
        <p:sp>
          <p:nvSpPr>
            <p:cNvPr id="68716" name="AutoShape 11"/>
            <p:cNvSpPr/>
            <p:nvPr/>
          </p:nvSpPr>
          <p:spPr>
            <a:xfrm>
              <a:off x="1981199" y="3325742"/>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717" name="Line 23"/>
            <p:cNvSpPr/>
            <p:nvPr/>
          </p:nvSpPr>
          <p:spPr>
            <a:xfrm rot="-120000" flipH="1">
              <a:off x="2045597" y="1624835"/>
              <a:ext cx="563882" cy="666528"/>
            </a:xfrm>
            <a:prstGeom prst="line">
              <a:avLst/>
            </a:prstGeom>
            <a:ln w="25400" cap="flat" cmpd="sng">
              <a:solidFill>
                <a:schemeClr val="tx1"/>
              </a:solidFill>
              <a:prstDash val="solid"/>
              <a:headEnd type="none" w="med" len="med"/>
              <a:tailEnd type="none" w="med" len="med"/>
            </a:ln>
          </p:spPr>
        </p:sp>
        <p:sp>
          <p:nvSpPr>
            <p:cNvPr id="68718" name="AutoShape 11"/>
            <p:cNvSpPr/>
            <p:nvPr/>
          </p:nvSpPr>
          <p:spPr>
            <a:xfrm>
              <a:off x="1981199" y="2258942"/>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719" name="Line 25"/>
            <p:cNvSpPr/>
            <p:nvPr/>
          </p:nvSpPr>
          <p:spPr>
            <a:xfrm flipV="1">
              <a:off x="838199" y="2301000"/>
              <a:ext cx="1224000" cy="0"/>
            </a:xfrm>
            <a:prstGeom prst="line">
              <a:avLst/>
            </a:prstGeom>
            <a:ln w="25400" cap="flat" cmpd="sng">
              <a:solidFill>
                <a:schemeClr val="tx1"/>
              </a:solidFill>
              <a:prstDash val="solid"/>
              <a:headEnd type="none" w="med" len="med"/>
              <a:tailEnd type="none" w="med" len="med"/>
            </a:ln>
          </p:spPr>
        </p:sp>
        <p:sp>
          <p:nvSpPr>
            <p:cNvPr id="68720" name="Line 34"/>
            <p:cNvSpPr/>
            <p:nvPr/>
          </p:nvSpPr>
          <p:spPr>
            <a:xfrm>
              <a:off x="2057399" y="2279384"/>
              <a:ext cx="0" cy="1088416"/>
            </a:xfrm>
            <a:prstGeom prst="line">
              <a:avLst/>
            </a:prstGeom>
            <a:ln w="25400" cap="flat" cmpd="sng">
              <a:solidFill>
                <a:schemeClr val="tx1"/>
              </a:solidFill>
              <a:prstDash val="solid"/>
              <a:headEnd type="none" w="med" len="med"/>
              <a:tailEnd type="none" w="med" len="med"/>
            </a:ln>
          </p:spPr>
        </p:sp>
      </p:grpSp>
      <p:grpSp>
        <p:nvGrpSpPr>
          <p:cNvPr id="3" name="群組 57"/>
          <p:cNvGrpSpPr/>
          <p:nvPr/>
        </p:nvGrpSpPr>
        <p:grpSpPr>
          <a:xfrm>
            <a:off x="3733800" y="1371600"/>
            <a:ext cx="1528763" cy="1600200"/>
            <a:chOff x="3348000" y="1219200"/>
            <a:chExt cx="1918800" cy="1959058"/>
          </a:xfrm>
        </p:grpSpPr>
        <p:sp>
          <p:nvSpPr>
            <p:cNvPr id="68681" name="Line 25"/>
            <p:cNvSpPr/>
            <p:nvPr/>
          </p:nvSpPr>
          <p:spPr>
            <a:xfrm flipV="1">
              <a:off x="3420000" y="3124200"/>
              <a:ext cx="1800000" cy="0"/>
            </a:xfrm>
            <a:prstGeom prst="line">
              <a:avLst/>
            </a:prstGeom>
            <a:ln w="25400" cap="flat" cmpd="sng">
              <a:solidFill>
                <a:schemeClr val="tx1"/>
              </a:solidFill>
              <a:prstDash val="solid"/>
              <a:headEnd type="none" w="med" len="med"/>
              <a:tailEnd type="none" w="med" len="med"/>
            </a:ln>
          </p:spPr>
        </p:sp>
        <p:sp>
          <p:nvSpPr>
            <p:cNvPr id="68682" name="AutoShape 11"/>
            <p:cNvSpPr/>
            <p:nvPr/>
          </p:nvSpPr>
          <p:spPr>
            <a:xfrm>
              <a:off x="3870047" y="1767599"/>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83" name="Line 25"/>
            <p:cNvSpPr/>
            <p:nvPr/>
          </p:nvSpPr>
          <p:spPr>
            <a:xfrm>
              <a:off x="3920146" y="1843581"/>
              <a:ext cx="0" cy="720000"/>
            </a:xfrm>
            <a:prstGeom prst="line">
              <a:avLst/>
            </a:prstGeom>
            <a:ln w="25400" cap="flat" cmpd="sng">
              <a:solidFill>
                <a:schemeClr val="tx1"/>
              </a:solidFill>
              <a:prstDash val="solid"/>
              <a:headEnd type="none" w="med" len="med"/>
              <a:tailEnd type="none" w="med" len="med"/>
            </a:ln>
          </p:spPr>
        </p:sp>
        <p:sp>
          <p:nvSpPr>
            <p:cNvPr id="68684" name="Line 25"/>
            <p:cNvSpPr/>
            <p:nvPr/>
          </p:nvSpPr>
          <p:spPr>
            <a:xfrm flipV="1">
              <a:off x="3962400" y="1828800"/>
              <a:ext cx="720000" cy="0"/>
            </a:xfrm>
            <a:prstGeom prst="line">
              <a:avLst/>
            </a:prstGeom>
            <a:ln w="25400" cap="flat" cmpd="sng">
              <a:solidFill>
                <a:schemeClr val="tx1"/>
              </a:solidFill>
              <a:prstDash val="solid"/>
              <a:headEnd type="none" w="med" len="med"/>
              <a:tailEnd type="none" w="med" len="med"/>
            </a:ln>
          </p:spPr>
        </p:sp>
        <p:sp>
          <p:nvSpPr>
            <p:cNvPr id="68685" name="Line 25"/>
            <p:cNvSpPr/>
            <p:nvPr/>
          </p:nvSpPr>
          <p:spPr>
            <a:xfrm flipV="1">
              <a:off x="3943799" y="2605799"/>
              <a:ext cx="720000" cy="0"/>
            </a:xfrm>
            <a:prstGeom prst="line">
              <a:avLst/>
            </a:prstGeom>
            <a:ln w="25400" cap="flat" cmpd="sng">
              <a:solidFill>
                <a:schemeClr val="tx1"/>
              </a:solidFill>
              <a:prstDash val="solid"/>
              <a:headEnd type="none" w="med" len="med"/>
              <a:tailEnd type="none" w="med" len="med"/>
            </a:ln>
          </p:spPr>
        </p:sp>
        <p:sp>
          <p:nvSpPr>
            <p:cNvPr id="68686" name="AutoShape 11"/>
            <p:cNvSpPr/>
            <p:nvPr/>
          </p:nvSpPr>
          <p:spPr>
            <a:xfrm>
              <a:off x="3870047" y="2529599"/>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87" name="AutoShape 11"/>
            <p:cNvSpPr/>
            <p:nvPr/>
          </p:nvSpPr>
          <p:spPr>
            <a:xfrm>
              <a:off x="4632047" y="17676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88" name="AutoShape 11"/>
            <p:cNvSpPr/>
            <p:nvPr/>
          </p:nvSpPr>
          <p:spPr>
            <a:xfrm>
              <a:off x="4632047" y="2529599"/>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89" name="Line 25"/>
            <p:cNvSpPr/>
            <p:nvPr/>
          </p:nvSpPr>
          <p:spPr>
            <a:xfrm>
              <a:off x="4708247" y="1809599"/>
              <a:ext cx="0" cy="720000"/>
            </a:xfrm>
            <a:prstGeom prst="line">
              <a:avLst/>
            </a:prstGeom>
            <a:ln w="25400" cap="flat" cmpd="sng">
              <a:solidFill>
                <a:schemeClr val="tx1"/>
              </a:solidFill>
              <a:prstDash val="solid"/>
              <a:headEnd type="none" w="med" len="med"/>
              <a:tailEnd type="none" w="med" len="med"/>
            </a:ln>
          </p:spPr>
        </p:sp>
        <p:sp>
          <p:nvSpPr>
            <p:cNvPr id="68690" name="AutoShape 11"/>
            <p:cNvSpPr/>
            <p:nvPr/>
          </p:nvSpPr>
          <p:spPr>
            <a:xfrm>
              <a:off x="5148000" y="30600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91" name="AutoShape 11"/>
            <p:cNvSpPr/>
            <p:nvPr/>
          </p:nvSpPr>
          <p:spPr>
            <a:xfrm>
              <a:off x="3348000" y="30600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92" name="Line 25"/>
            <p:cNvSpPr/>
            <p:nvPr/>
          </p:nvSpPr>
          <p:spPr>
            <a:xfrm flipV="1">
              <a:off x="3456000" y="1295400"/>
              <a:ext cx="1764000" cy="0"/>
            </a:xfrm>
            <a:prstGeom prst="line">
              <a:avLst/>
            </a:prstGeom>
            <a:ln w="25400" cap="flat" cmpd="sng">
              <a:solidFill>
                <a:schemeClr val="tx1"/>
              </a:solidFill>
              <a:prstDash val="solid"/>
              <a:headEnd type="none" w="med" len="med"/>
              <a:tailEnd type="none" w="med" len="med"/>
            </a:ln>
          </p:spPr>
        </p:sp>
        <p:sp>
          <p:nvSpPr>
            <p:cNvPr id="68693" name="Line 25"/>
            <p:cNvSpPr/>
            <p:nvPr/>
          </p:nvSpPr>
          <p:spPr>
            <a:xfrm rot="5400000" flipV="1">
              <a:off x="2511000" y="2214000"/>
              <a:ext cx="1836000" cy="0"/>
            </a:xfrm>
            <a:prstGeom prst="line">
              <a:avLst/>
            </a:prstGeom>
            <a:ln w="25400" cap="flat" cmpd="sng">
              <a:solidFill>
                <a:schemeClr val="tx1"/>
              </a:solidFill>
              <a:prstDash val="solid"/>
              <a:headEnd type="none" w="med" len="med"/>
              <a:tailEnd type="none" w="med" len="med"/>
            </a:ln>
          </p:spPr>
        </p:sp>
        <p:sp>
          <p:nvSpPr>
            <p:cNvPr id="68694" name="Line 25"/>
            <p:cNvSpPr/>
            <p:nvPr/>
          </p:nvSpPr>
          <p:spPr>
            <a:xfrm rot="5400000" flipV="1">
              <a:off x="4302000" y="2214000"/>
              <a:ext cx="1836000" cy="0"/>
            </a:xfrm>
            <a:prstGeom prst="line">
              <a:avLst/>
            </a:prstGeom>
            <a:ln w="25400" cap="flat" cmpd="sng">
              <a:solidFill>
                <a:schemeClr val="tx1"/>
              </a:solidFill>
              <a:prstDash val="solid"/>
              <a:headEnd type="none" w="med" len="med"/>
              <a:tailEnd type="none" w="med" len="med"/>
            </a:ln>
          </p:spPr>
        </p:sp>
        <p:sp>
          <p:nvSpPr>
            <p:cNvPr id="68695" name="AutoShape 11"/>
            <p:cNvSpPr/>
            <p:nvPr/>
          </p:nvSpPr>
          <p:spPr>
            <a:xfrm>
              <a:off x="5139000" y="12192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96" name="AutoShape 11"/>
            <p:cNvSpPr/>
            <p:nvPr/>
          </p:nvSpPr>
          <p:spPr>
            <a:xfrm>
              <a:off x="3352800" y="1219200"/>
              <a:ext cx="118800" cy="118258"/>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97" name="Line 25"/>
            <p:cNvSpPr/>
            <p:nvPr/>
          </p:nvSpPr>
          <p:spPr>
            <a:xfrm>
              <a:off x="3429000" y="1295400"/>
              <a:ext cx="533400" cy="533400"/>
            </a:xfrm>
            <a:prstGeom prst="line">
              <a:avLst/>
            </a:prstGeom>
            <a:ln w="25400" cap="flat" cmpd="sng">
              <a:solidFill>
                <a:schemeClr val="tx1"/>
              </a:solidFill>
              <a:prstDash val="solid"/>
              <a:headEnd type="none" w="med" len="med"/>
              <a:tailEnd type="none" w="med" len="med"/>
            </a:ln>
          </p:spPr>
        </p:sp>
        <p:sp>
          <p:nvSpPr>
            <p:cNvPr id="68698" name="Line 25"/>
            <p:cNvSpPr/>
            <p:nvPr/>
          </p:nvSpPr>
          <p:spPr>
            <a:xfrm rot="60000">
              <a:off x="4647277" y="2557372"/>
              <a:ext cx="615469" cy="561499"/>
            </a:xfrm>
            <a:prstGeom prst="line">
              <a:avLst/>
            </a:prstGeom>
            <a:ln w="25400" cap="flat" cmpd="sng">
              <a:solidFill>
                <a:schemeClr val="tx1"/>
              </a:solidFill>
              <a:prstDash val="solid"/>
              <a:headEnd type="none" w="med" len="med"/>
              <a:tailEnd type="none" w="med" len="med"/>
            </a:ln>
          </p:spPr>
        </p:sp>
        <p:sp>
          <p:nvSpPr>
            <p:cNvPr id="68699" name="Line 25"/>
            <p:cNvSpPr/>
            <p:nvPr/>
          </p:nvSpPr>
          <p:spPr>
            <a:xfrm flipV="1">
              <a:off x="4724400" y="1295400"/>
              <a:ext cx="457200" cy="533400"/>
            </a:xfrm>
            <a:prstGeom prst="line">
              <a:avLst/>
            </a:prstGeom>
            <a:ln w="25400" cap="flat" cmpd="sng">
              <a:solidFill>
                <a:schemeClr val="tx1"/>
              </a:solidFill>
              <a:prstDash val="solid"/>
              <a:headEnd type="none" w="med" len="med"/>
              <a:tailEnd type="none" w="med" len="med"/>
            </a:ln>
          </p:spPr>
        </p:sp>
        <p:sp>
          <p:nvSpPr>
            <p:cNvPr id="68700" name="Line 25"/>
            <p:cNvSpPr/>
            <p:nvPr/>
          </p:nvSpPr>
          <p:spPr>
            <a:xfrm rot="240000" flipV="1">
              <a:off x="3447696" y="2588791"/>
              <a:ext cx="435289" cy="551262"/>
            </a:xfrm>
            <a:prstGeom prst="line">
              <a:avLst/>
            </a:prstGeom>
            <a:ln w="25400" cap="flat" cmpd="sng">
              <a:solidFill>
                <a:schemeClr val="tx1"/>
              </a:solidFill>
              <a:prstDash val="solid"/>
              <a:headEnd type="none" w="med" len="med"/>
              <a:tailEnd type="none" w="med" len="med"/>
            </a:ln>
          </p:spPr>
        </p:sp>
      </p:grpSp>
      <p:sp>
        <p:nvSpPr>
          <p:cNvPr id="57" name="矩形 56"/>
          <p:cNvSpPr/>
          <p:nvPr/>
        </p:nvSpPr>
        <p:spPr>
          <a:xfrm>
            <a:off x="152400" y="6396038"/>
            <a:ext cx="2152650" cy="461963"/>
          </a:xfrm>
          <a:prstGeom prst="rect">
            <a:avLst/>
          </a:prstGeom>
          <a:solidFill>
            <a:srgbClr val="FFFF99"/>
          </a:solidFill>
          <a:ln>
            <a:solidFill>
              <a:schemeClr val="tx1"/>
            </a:solidFill>
          </a:ln>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400" b="1" i="0" u="none" strike="noStrike" kern="0" cap="none" spc="0" normalizeH="0" baseline="0" noProof="0" dirty="0">
                <a:ln>
                  <a:noFill/>
                </a:ln>
                <a:solidFill>
                  <a:srgbClr val="008000"/>
                </a:solidFill>
                <a:effectLst/>
                <a:uLnTx/>
                <a:uFillTx/>
                <a:latin typeface="Arial" panose="020B0604020202020204"/>
                <a:ea typeface="PMingLiU"/>
                <a:cs typeface="+mn-cs"/>
              </a:rPr>
              <a:t>Exercise: </a:t>
            </a: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3, </a:t>
            </a:r>
            <a:r>
              <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rPr>
              <a:t>4</a:t>
            </a:r>
            <a:endPar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grpSp>
        <p:nvGrpSpPr>
          <p:cNvPr id="4" name="群組 86"/>
          <p:cNvGrpSpPr/>
          <p:nvPr/>
        </p:nvGrpSpPr>
        <p:grpSpPr>
          <a:xfrm>
            <a:off x="152400" y="4267200"/>
            <a:ext cx="2278063" cy="1616075"/>
            <a:chOff x="762000" y="4191000"/>
            <a:chExt cx="2278092" cy="1616135"/>
          </a:xfrm>
        </p:grpSpPr>
        <p:sp>
          <p:nvSpPr>
            <p:cNvPr id="68660" name="Line 34"/>
            <p:cNvSpPr/>
            <p:nvPr/>
          </p:nvSpPr>
          <p:spPr>
            <a:xfrm>
              <a:off x="1905375" y="4587168"/>
              <a:ext cx="0" cy="792229"/>
            </a:xfrm>
            <a:prstGeom prst="line">
              <a:avLst/>
            </a:prstGeom>
            <a:ln w="25400" cap="flat" cmpd="sng">
              <a:solidFill>
                <a:schemeClr val="tx1"/>
              </a:solidFill>
              <a:prstDash val="solid"/>
              <a:headEnd type="none" w="med" len="med"/>
              <a:tailEnd type="none" w="med" len="med"/>
            </a:ln>
          </p:spPr>
        </p:sp>
        <p:sp>
          <p:nvSpPr>
            <p:cNvPr id="68661" name="Line 25"/>
            <p:cNvSpPr/>
            <p:nvPr/>
          </p:nvSpPr>
          <p:spPr>
            <a:xfrm rot="120000">
              <a:off x="935989" y="4603532"/>
              <a:ext cx="52866" cy="830698"/>
            </a:xfrm>
            <a:prstGeom prst="line">
              <a:avLst/>
            </a:prstGeom>
            <a:ln w="25400" cap="flat" cmpd="sng">
              <a:solidFill>
                <a:schemeClr val="tx1"/>
              </a:solidFill>
              <a:prstDash val="solid"/>
              <a:headEnd type="none" w="med" len="med"/>
              <a:tailEnd type="none" w="med" len="med"/>
            </a:ln>
          </p:spPr>
        </p:sp>
        <p:sp>
          <p:nvSpPr>
            <p:cNvPr id="68662" name="Line 23"/>
            <p:cNvSpPr/>
            <p:nvPr/>
          </p:nvSpPr>
          <p:spPr>
            <a:xfrm rot="-120000" flipH="1">
              <a:off x="1907094" y="4599028"/>
              <a:ext cx="1008602" cy="763306"/>
            </a:xfrm>
            <a:prstGeom prst="line">
              <a:avLst/>
            </a:prstGeom>
            <a:ln w="25400" cap="flat" cmpd="sng">
              <a:solidFill>
                <a:schemeClr val="tx1"/>
              </a:solidFill>
              <a:prstDash val="solid"/>
              <a:headEnd type="none" w="med" len="med"/>
              <a:tailEnd type="none" w="med" len="med"/>
            </a:ln>
          </p:spPr>
        </p:sp>
        <p:sp>
          <p:nvSpPr>
            <p:cNvPr id="68663" name="Line 25"/>
            <p:cNvSpPr/>
            <p:nvPr/>
          </p:nvSpPr>
          <p:spPr>
            <a:xfrm rot="120000">
              <a:off x="977582" y="4664388"/>
              <a:ext cx="940436" cy="729624"/>
            </a:xfrm>
            <a:prstGeom prst="line">
              <a:avLst/>
            </a:prstGeom>
            <a:ln w="25400" cap="flat" cmpd="sng">
              <a:solidFill>
                <a:schemeClr val="tx1"/>
              </a:solidFill>
              <a:prstDash val="solid"/>
              <a:headEnd type="none" w="med" len="med"/>
              <a:tailEnd type="none" w="med" len="med"/>
            </a:ln>
          </p:spPr>
        </p:sp>
        <p:sp>
          <p:nvSpPr>
            <p:cNvPr id="68664" name="Line 34"/>
            <p:cNvSpPr/>
            <p:nvPr/>
          </p:nvSpPr>
          <p:spPr>
            <a:xfrm>
              <a:off x="2902070" y="4627632"/>
              <a:ext cx="0" cy="792229"/>
            </a:xfrm>
            <a:prstGeom prst="line">
              <a:avLst/>
            </a:prstGeom>
            <a:ln w="25400" cap="flat" cmpd="sng">
              <a:solidFill>
                <a:schemeClr val="tx1"/>
              </a:solidFill>
              <a:prstDash val="solid"/>
              <a:headEnd type="none" w="med" len="med"/>
              <a:tailEnd type="none" w="med" len="med"/>
            </a:ln>
          </p:spPr>
        </p:sp>
        <p:sp>
          <p:nvSpPr>
            <p:cNvPr id="68665" name="Line 25"/>
            <p:cNvSpPr/>
            <p:nvPr/>
          </p:nvSpPr>
          <p:spPr>
            <a:xfrm>
              <a:off x="914400" y="4572000"/>
              <a:ext cx="1905000" cy="838200"/>
            </a:xfrm>
            <a:prstGeom prst="line">
              <a:avLst/>
            </a:prstGeom>
            <a:ln w="25400" cap="flat" cmpd="sng">
              <a:solidFill>
                <a:schemeClr val="tx1"/>
              </a:solidFill>
              <a:prstDash val="solid"/>
              <a:headEnd type="none" w="med" len="med"/>
              <a:tailEnd type="none" w="med" len="med"/>
            </a:ln>
          </p:spPr>
        </p:sp>
        <p:sp>
          <p:nvSpPr>
            <p:cNvPr id="68666" name="AutoShape 11"/>
            <p:cNvSpPr/>
            <p:nvPr/>
          </p:nvSpPr>
          <p:spPr>
            <a:xfrm>
              <a:off x="871800" y="4547436"/>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67" name="AutoShape 11"/>
            <p:cNvSpPr/>
            <p:nvPr/>
          </p:nvSpPr>
          <p:spPr>
            <a:xfrm>
              <a:off x="2811782" y="4571783"/>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68" name="AutoShape 11"/>
            <p:cNvSpPr/>
            <p:nvPr/>
          </p:nvSpPr>
          <p:spPr>
            <a:xfrm>
              <a:off x="920870" y="5348783"/>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69" name="AutoShape 11"/>
            <p:cNvSpPr/>
            <p:nvPr/>
          </p:nvSpPr>
          <p:spPr>
            <a:xfrm>
              <a:off x="1835270" y="5343660"/>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70" name="AutoShape 11"/>
            <p:cNvSpPr/>
            <p:nvPr/>
          </p:nvSpPr>
          <p:spPr>
            <a:xfrm>
              <a:off x="2811782" y="5348783"/>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71" name="Line 23"/>
            <p:cNvSpPr/>
            <p:nvPr/>
          </p:nvSpPr>
          <p:spPr>
            <a:xfrm rot="-120000" flipH="1" flipV="1">
              <a:off x="1919382" y="4586177"/>
              <a:ext cx="961833" cy="841062"/>
            </a:xfrm>
            <a:prstGeom prst="line">
              <a:avLst/>
            </a:prstGeom>
            <a:ln w="25400" cap="flat" cmpd="sng">
              <a:solidFill>
                <a:schemeClr val="tx1"/>
              </a:solidFill>
              <a:prstDash val="solid"/>
              <a:headEnd type="none" w="med" len="med"/>
              <a:tailEnd type="none" w="med" len="med"/>
            </a:ln>
          </p:spPr>
        </p:sp>
        <p:sp>
          <p:nvSpPr>
            <p:cNvPr id="68672" name="AutoShape 11"/>
            <p:cNvSpPr/>
            <p:nvPr/>
          </p:nvSpPr>
          <p:spPr>
            <a:xfrm>
              <a:off x="1847463" y="4572288"/>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73" name="Line 25"/>
            <p:cNvSpPr/>
            <p:nvPr/>
          </p:nvSpPr>
          <p:spPr>
            <a:xfrm flipV="1">
              <a:off x="990600" y="4602900"/>
              <a:ext cx="918423" cy="807299"/>
            </a:xfrm>
            <a:prstGeom prst="line">
              <a:avLst/>
            </a:prstGeom>
            <a:ln w="25400" cap="flat" cmpd="sng">
              <a:solidFill>
                <a:schemeClr val="tx1"/>
              </a:solidFill>
              <a:prstDash val="solid"/>
              <a:headEnd type="none" w="med" len="med"/>
              <a:tailEnd type="none" w="med" len="med"/>
            </a:ln>
          </p:spPr>
        </p:sp>
        <p:sp>
          <p:nvSpPr>
            <p:cNvPr id="81" name="矩形 80"/>
            <p:cNvSpPr/>
            <p:nvPr/>
          </p:nvSpPr>
          <p:spPr>
            <a:xfrm>
              <a:off x="762000" y="4191000"/>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2" name="矩形 81"/>
            <p:cNvSpPr/>
            <p:nvPr/>
          </p:nvSpPr>
          <p:spPr>
            <a:xfrm>
              <a:off x="838201" y="5410245"/>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3" name="矩形 82"/>
            <p:cNvSpPr/>
            <p:nvPr/>
          </p:nvSpPr>
          <p:spPr>
            <a:xfrm>
              <a:off x="1752613" y="4191000"/>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4" name="矩形 83"/>
            <p:cNvSpPr/>
            <p:nvPr/>
          </p:nvSpPr>
          <p:spPr>
            <a:xfrm>
              <a:off x="2743225" y="4191000"/>
              <a:ext cx="29686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c</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5" name="矩形 84"/>
            <p:cNvSpPr/>
            <p:nvPr/>
          </p:nvSpPr>
          <p:spPr>
            <a:xfrm>
              <a:off x="1752613" y="5410245"/>
              <a:ext cx="29686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e</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6" name="矩形 85"/>
            <p:cNvSpPr/>
            <p:nvPr/>
          </p:nvSpPr>
          <p:spPr>
            <a:xfrm>
              <a:off x="2743225" y="5410245"/>
              <a:ext cx="254003"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f</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8680" name="Line 25"/>
            <p:cNvSpPr/>
            <p:nvPr/>
          </p:nvSpPr>
          <p:spPr>
            <a:xfrm flipV="1">
              <a:off x="990603" y="4572012"/>
              <a:ext cx="1905025" cy="838232"/>
            </a:xfrm>
            <a:prstGeom prst="line">
              <a:avLst/>
            </a:prstGeom>
            <a:ln w="25400" cap="flat" cmpd="sng">
              <a:solidFill>
                <a:schemeClr val="tx1"/>
              </a:solidFill>
              <a:prstDash val="solid"/>
              <a:headEnd type="none" w="med" len="med"/>
              <a:tailEnd type="none" w="med" len="med"/>
            </a:ln>
          </p:spPr>
        </p:sp>
      </p:grpSp>
      <p:sp>
        <p:nvSpPr>
          <p:cNvPr id="88" name="矩形 87"/>
          <p:cNvSpPr/>
          <p:nvPr/>
        </p:nvSpPr>
        <p:spPr>
          <a:xfrm>
            <a:off x="2743200" y="4191000"/>
            <a:ext cx="852488" cy="523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7" name="群組 110"/>
          <p:cNvGrpSpPr/>
          <p:nvPr/>
        </p:nvGrpSpPr>
        <p:grpSpPr>
          <a:xfrm>
            <a:off x="3505200" y="4267200"/>
            <a:ext cx="1301750" cy="1616075"/>
            <a:chOff x="762000" y="4191000"/>
            <a:chExt cx="1301918" cy="1616135"/>
          </a:xfrm>
        </p:grpSpPr>
        <p:sp>
          <p:nvSpPr>
            <p:cNvPr id="127" name="矩形 126"/>
            <p:cNvSpPr/>
            <p:nvPr/>
          </p:nvSpPr>
          <p:spPr>
            <a:xfrm>
              <a:off x="838210" y="5410245"/>
              <a:ext cx="311190"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8647" name="Line 34"/>
            <p:cNvSpPr/>
            <p:nvPr/>
          </p:nvSpPr>
          <p:spPr>
            <a:xfrm>
              <a:off x="1905375" y="4587168"/>
              <a:ext cx="0" cy="792229"/>
            </a:xfrm>
            <a:prstGeom prst="line">
              <a:avLst/>
            </a:prstGeom>
            <a:ln w="25400" cap="flat" cmpd="sng">
              <a:solidFill>
                <a:schemeClr val="tx1"/>
              </a:solidFill>
              <a:prstDash val="solid"/>
              <a:headEnd type="none" w="med" len="med"/>
              <a:tailEnd type="none" w="med" len="med"/>
            </a:ln>
          </p:spPr>
        </p:sp>
        <p:sp>
          <p:nvSpPr>
            <p:cNvPr id="68648" name="Line 25"/>
            <p:cNvSpPr/>
            <p:nvPr/>
          </p:nvSpPr>
          <p:spPr>
            <a:xfrm>
              <a:off x="936005" y="4602610"/>
              <a:ext cx="0" cy="830698"/>
            </a:xfrm>
            <a:prstGeom prst="line">
              <a:avLst/>
            </a:prstGeom>
            <a:ln w="25400" cap="flat" cmpd="sng">
              <a:solidFill>
                <a:schemeClr val="tx1"/>
              </a:solidFill>
              <a:prstDash val="solid"/>
              <a:headEnd type="none" w="med" len="med"/>
              <a:tailEnd type="none" w="med" len="med"/>
            </a:ln>
          </p:spPr>
        </p:sp>
        <p:sp>
          <p:nvSpPr>
            <p:cNvPr id="68649" name="Line 25"/>
            <p:cNvSpPr/>
            <p:nvPr/>
          </p:nvSpPr>
          <p:spPr>
            <a:xfrm flipV="1">
              <a:off x="991917" y="4618455"/>
              <a:ext cx="913843" cy="0"/>
            </a:xfrm>
            <a:prstGeom prst="line">
              <a:avLst/>
            </a:prstGeom>
            <a:ln w="25400" cap="flat" cmpd="sng">
              <a:solidFill>
                <a:schemeClr val="tx1"/>
              </a:solidFill>
              <a:prstDash val="solid"/>
              <a:headEnd type="none" w="med" len="med"/>
              <a:tailEnd type="none" w="med" len="med"/>
            </a:ln>
          </p:spPr>
        </p:sp>
        <p:sp>
          <p:nvSpPr>
            <p:cNvPr id="68650" name="AutoShape 11"/>
            <p:cNvSpPr/>
            <p:nvPr/>
          </p:nvSpPr>
          <p:spPr>
            <a:xfrm>
              <a:off x="871800" y="4547436"/>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51" name="AutoShape 11"/>
            <p:cNvSpPr/>
            <p:nvPr/>
          </p:nvSpPr>
          <p:spPr>
            <a:xfrm>
              <a:off x="856812" y="5348783"/>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52" name="AutoShape 11"/>
            <p:cNvSpPr/>
            <p:nvPr/>
          </p:nvSpPr>
          <p:spPr>
            <a:xfrm>
              <a:off x="1835270" y="5343660"/>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53" name="AutoShape 11"/>
            <p:cNvSpPr/>
            <p:nvPr/>
          </p:nvSpPr>
          <p:spPr>
            <a:xfrm>
              <a:off x="1847463" y="4572288"/>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54" name="Line 25"/>
            <p:cNvSpPr/>
            <p:nvPr/>
          </p:nvSpPr>
          <p:spPr>
            <a:xfrm>
              <a:off x="928822" y="5410198"/>
              <a:ext cx="972125" cy="0"/>
            </a:xfrm>
            <a:prstGeom prst="line">
              <a:avLst/>
            </a:prstGeom>
            <a:ln w="25400" cap="flat" cmpd="sng">
              <a:solidFill>
                <a:schemeClr val="tx1"/>
              </a:solidFill>
              <a:prstDash val="solid"/>
              <a:headEnd type="none" w="med" len="med"/>
              <a:tailEnd type="none" w="med" len="med"/>
            </a:ln>
          </p:spPr>
        </p:sp>
        <p:sp>
          <p:nvSpPr>
            <p:cNvPr id="126" name="矩形 125"/>
            <p:cNvSpPr/>
            <p:nvPr/>
          </p:nvSpPr>
          <p:spPr>
            <a:xfrm>
              <a:off x="762000" y="4191000"/>
              <a:ext cx="311190"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28" name="矩形 127"/>
            <p:cNvSpPr/>
            <p:nvPr/>
          </p:nvSpPr>
          <p:spPr>
            <a:xfrm>
              <a:off x="1752728" y="4191000"/>
              <a:ext cx="296901"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e</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30" name="矩形 129"/>
            <p:cNvSpPr/>
            <p:nvPr/>
          </p:nvSpPr>
          <p:spPr>
            <a:xfrm>
              <a:off x="1752728" y="5410245"/>
              <a:ext cx="311190"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62" name="矩形 161"/>
            <p:cNvSpPr/>
            <p:nvPr/>
          </p:nvSpPr>
          <p:spPr>
            <a:xfrm>
              <a:off x="1219259" y="4800623"/>
              <a:ext cx="422329"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a:t>
              </a:r>
              <a:r>
                <a:rPr kumimoji="1" lang="en-US" altLang="zh-TW" sz="2000" b="0" i="0" u="none" strike="noStrike" kern="0" cap="none" spc="0" normalizeH="0" baseline="-2500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25000" noProof="0" dirty="0">
                <a:ln>
                  <a:noFill/>
                </a:ln>
                <a:solidFill>
                  <a:srgbClr val="FF0000"/>
                </a:solidFill>
                <a:effectLst/>
                <a:uLnTx/>
                <a:uFillTx/>
                <a:latin typeface="Arial" panose="020B0604020202020204" pitchFamily="34" charset="0"/>
                <a:ea typeface="PMingLiU" pitchFamily="18" charset="-120"/>
                <a:cs typeface="+mn-cs"/>
              </a:endParaRPr>
            </a:p>
          </p:txBody>
        </p:sp>
        <p:sp>
          <p:nvSpPr>
            <p:cNvPr id="163" name="矩形 162"/>
            <p:cNvSpPr/>
            <p:nvPr/>
          </p:nvSpPr>
          <p:spPr>
            <a:xfrm>
              <a:off x="1219259" y="4191000"/>
              <a:ext cx="422329"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a:t>
              </a:r>
              <a:r>
                <a:rPr kumimoji="1" lang="en-US" altLang="zh-TW" sz="2000" b="0" i="0" u="none" strike="noStrike" kern="0" cap="none" spc="0" normalizeH="0" baseline="-2500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25000" noProof="0" dirty="0">
                <a:ln>
                  <a:noFill/>
                </a:ln>
                <a:solidFill>
                  <a:srgbClr val="FF0000"/>
                </a:solidFill>
                <a:effectLst/>
                <a:uLnTx/>
                <a:uFillTx/>
                <a:latin typeface="Arial" panose="020B0604020202020204" pitchFamily="34" charset="0"/>
                <a:ea typeface="PMingLiU" pitchFamily="18" charset="-120"/>
                <a:cs typeface="+mn-cs"/>
              </a:endParaRPr>
            </a:p>
          </p:txBody>
        </p:sp>
      </p:grpSp>
      <p:sp>
        <p:nvSpPr>
          <p:cNvPr id="132" name="矩形 131"/>
          <p:cNvSpPr/>
          <p:nvPr/>
        </p:nvSpPr>
        <p:spPr>
          <a:xfrm>
            <a:off x="2590800" y="5867400"/>
            <a:ext cx="3124200" cy="650875"/>
          </a:xfrm>
          <a:prstGeom prst="rect">
            <a:avLst/>
          </a:prstGeom>
          <a:ln>
            <a:solidFill>
              <a:schemeClr val="accent3">
                <a:lumMod val="65000"/>
              </a:schemeClr>
            </a:solidFill>
          </a:ln>
        </p:spPr>
        <p:txBody>
          <a:bodyPr>
            <a:spAutoFit/>
          </a:bodyPr>
          <a:lstStyle>
            <a:lvl1pPr eaLnBrk="0" hangingPunct="0">
              <a:defRPr kumimoji="1">
                <a:solidFill>
                  <a:schemeClr val="tx1"/>
                </a:solidFill>
                <a:latin typeface="Arial" panose="020B0604020202020204" pitchFamily="34" charset="0"/>
                <a:ea typeface="PMingLiU" pitchFamily="18" charset="-120"/>
              </a:defRPr>
            </a:lvl1pPr>
            <a:lvl2pPr marL="742950" indent="-285750" eaLnBrk="0" hangingPunct="0">
              <a:defRPr kumimoji="1">
                <a:solidFill>
                  <a:schemeClr val="tx1"/>
                </a:solidFill>
                <a:latin typeface="Arial" panose="020B0604020202020204" pitchFamily="34" charset="0"/>
                <a:ea typeface="PMingLiU" pitchFamily="18" charset="-120"/>
              </a:defRPr>
            </a:lvl2pPr>
            <a:lvl3pPr marL="1143000" indent="-228600" eaLnBrk="0" hangingPunct="0">
              <a:defRPr kumimoji="1">
                <a:solidFill>
                  <a:schemeClr val="tx1"/>
                </a:solidFill>
                <a:latin typeface="Arial" panose="020B0604020202020204" pitchFamily="34" charset="0"/>
                <a:ea typeface="PMingLiU" pitchFamily="18" charset="-120"/>
              </a:defRPr>
            </a:lvl3pPr>
            <a:lvl4pPr marL="1600200" indent="-228600" eaLnBrk="0" hangingPunct="0">
              <a:defRPr kumimoji="1">
                <a:solidFill>
                  <a:schemeClr val="tx1"/>
                </a:solidFill>
                <a:latin typeface="Arial" panose="020B0604020202020204" pitchFamily="34" charset="0"/>
                <a:ea typeface="PMingLiU" pitchFamily="18" charset="-120"/>
              </a:defRPr>
            </a:lvl4pPr>
            <a:lvl5pPr marL="2057400" indent="-228600" eaLnBrk="0" hangingPunct="0">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1800" b="0" i="1" u="none" strike="noStrike" kern="1200" cap="none" spc="0" normalizeH="0" baseline="0" noProof="0" smtClean="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Aebd</a:t>
            </a:r>
            <a:r>
              <a:rPr kumimoji="1" lang="en-US" altLang="zh-CN"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 is a </a:t>
            </a:r>
            <a:r>
              <a:rPr kumimoji="1" lang="en-US" altLang="zh-TW"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cycle</a:t>
            </a:r>
            <a:r>
              <a:rPr kumimoji="1" lang="en-US" altLang="zh-CN"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 it splits the plane into two </a:t>
            </a:r>
            <a:r>
              <a:rPr kumimoji="1" lang="en-US" altLang="zh-TW"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region</a:t>
            </a:r>
            <a:r>
              <a:rPr kumimoji="1" lang="en-US" altLang="zh-CN"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s</a:t>
            </a:r>
            <a:endParaRPr kumimoji="1" lang="zh-TW" altLang="en-US"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endParaRPr>
          </a:p>
        </p:txBody>
      </p:sp>
      <p:grpSp>
        <p:nvGrpSpPr>
          <p:cNvPr id="8" name="群組 164"/>
          <p:cNvGrpSpPr/>
          <p:nvPr/>
        </p:nvGrpSpPr>
        <p:grpSpPr>
          <a:xfrm>
            <a:off x="6172200" y="4267200"/>
            <a:ext cx="1778000" cy="1616075"/>
            <a:chOff x="6172200" y="4267200"/>
            <a:chExt cx="1777839" cy="1616135"/>
          </a:xfrm>
        </p:grpSpPr>
        <p:sp>
          <p:nvSpPr>
            <p:cNvPr id="143" name="矩形 142"/>
            <p:cNvSpPr/>
            <p:nvPr/>
          </p:nvSpPr>
          <p:spPr>
            <a:xfrm>
              <a:off x="6248393" y="5486445"/>
              <a:ext cx="311122"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8631" name="Line 25"/>
            <p:cNvSpPr/>
            <p:nvPr/>
          </p:nvSpPr>
          <p:spPr>
            <a:xfrm flipV="1">
              <a:off x="6400801" y="4724399"/>
              <a:ext cx="914399" cy="761999"/>
            </a:xfrm>
            <a:prstGeom prst="line">
              <a:avLst/>
            </a:prstGeom>
            <a:ln w="25400" cap="flat" cmpd="sng">
              <a:solidFill>
                <a:schemeClr val="tx1"/>
              </a:solidFill>
              <a:prstDash val="solid"/>
              <a:headEnd type="none" w="med" len="med"/>
              <a:tailEnd type="none" w="med" len="med"/>
            </a:ln>
          </p:spPr>
        </p:sp>
        <p:sp>
          <p:nvSpPr>
            <p:cNvPr id="142" name="矩形 141"/>
            <p:cNvSpPr/>
            <p:nvPr/>
          </p:nvSpPr>
          <p:spPr>
            <a:xfrm>
              <a:off x="6172200" y="4267200"/>
              <a:ext cx="311122"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8633" name="Line 34"/>
            <p:cNvSpPr/>
            <p:nvPr/>
          </p:nvSpPr>
          <p:spPr>
            <a:xfrm>
              <a:off x="7315575" y="4663368"/>
              <a:ext cx="0" cy="792229"/>
            </a:xfrm>
            <a:prstGeom prst="line">
              <a:avLst/>
            </a:prstGeom>
            <a:ln w="25400" cap="flat" cmpd="sng">
              <a:solidFill>
                <a:schemeClr val="tx1"/>
              </a:solidFill>
              <a:prstDash val="solid"/>
              <a:headEnd type="none" w="med" len="med"/>
              <a:tailEnd type="none" w="med" len="med"/>
            </a:ln>
          </p:spPr>
        </p:sp>
        <p:sp>
          <p:nvSpPr>
            <p:cNvPr id="68634" name="Line 25"/>
            <p:cNvSpPr/>
            <p:nvPr/>
          </p:nvSpPr>
          <p:spPr>
            <a:xfrm>
              <a:off x="6346188" y="4679732"/>
              <a:ext cx="0" cy="830698"/>
            </a:xfrm>
            <a:prstGeom prst="line">
              <a:avLst/>
            </a:prstGeom>
            <a:ln w="25400" cap="flat" cmpd="sng">
              <a:solidFill>
                <a:schemeClr val="tx1"/>
              </a:solidFill>
              <a:prstDash val="solid"/>
              <a:headEnd type="none" w="med" len="med"/>
              <a:tailEnd type="none" w="med" len="med"/>
            </a:ln>
          </p:spPr>
        </p:sp>
        <p:sp>
          <p:nvSpPr>
            <p:cNvPr id="68635" name="Line 25"/>
            <p:cNvSpPr/>
            <p:nvPr/>
          </p:nvSpPr>
          <p:spPr>
            <a:xfrm flipV="1">
              <a:off x="6402117" y="4694655"/>
              <a:ext cx="913843" cy="0"/>
            </a:xfrm>
            <a:prstGeom prst="line">
              <a:avLst/>
            </a:prstGeom>
            <a:ln w="25400" cap="flat" cmpd="sng">
              <a:solidFill>
                <a:schemeClr val="tx1"/>
              </a:solidFill>
              <a:prstDash val="solid"/>
              <a:headEnd type="none" w="med" len="med"/>
              <a:tailEnd type="none" w="med" len="med"/>
            </a:ln>
          </p:spPr>
        </p:sp>
        <p:sp>
          <p:nvSpPr>
            <p:cNvPr id="68636" name="AutoShape 11"/>
            <p:cNvSpPr/>
            <p:nvPr/>
          </p:nvSpPr>
          <p:spPr>
            <a:xfrm>
              <a:off x="6282000" y="4623636"/>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37" name="AutoShape 11"/>
            <p:cNvSpPr/>
            <p:nvPr/>
          </p:nvSpPr>
          <p:spPr>
            <a:xfrm>
              <a:off x="6300015" y="5424983"/>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38" name="AutoShape 11"/>
            <p:cNvSpPr/>
            <p:nvPr/>
          </p:nvSpPr>
          <p:spPr>
            <a:xfrm>
              <a:off x="7245470" y="5419860"/>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39" name="AutoShape 11"/>
            <p:cNvSpPr/>
            <p:nvPr/>
          </p:nvSpPr>
          <p:spPr>
            <a:xfrm>
              <a:off x="7257663" y="4648488"/>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40" name="Line 25"/>
            <p:cNvSpPr/>
            <p:nvPr/>
          </p:nvSpPr>
          <p:spPr>
            <a:xfrm>
              <a:off x="6400800" y="5486398"/>
              <a:ext cx="936000" cy="0"/>
            </a:xfrm>
            <a:prstGeom prst="line">
              <a:avLst/>
            </a:prstGeom>
            <a:ln w="25400" cap="flat" cmpd="sng">
              <a:solidFill>
                <a:schemeClr val="tx1"/>
              </a:solidFill>
              <a:prstDash val="solid"/>
              <a:headEnd type="none" w="med" len="med"/>
              <a:tailEnd type="none" w="med" len="med"/>
            </a:ln>
          </p:spPr>
        </p:sp>
        <p:sp>
          <p:nvSpPr>
            <p:cNvPr id="144" name="矩形 143"/>
            <p:cNvSpPr/>
            <p:nvPr/>
          </p:nvSpPr>
          <p:spPr>
            <a:xfrm>
              <a:off x="7162710" y="4267200"/>
              <a:ext cx="296836"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e</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45" name="矩形 144"/>
            <p:cNvSpPr/>
            <p:nvPr/>
          </p:nvSpPr>
          <p:spPr>
            <a:xfrm>
              <a:off x="7162710" y="5486445"/>
              <a:ext cx="311122"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60" name="矩形 159"/>
            <p:cNvSpPr/>
            <p:nvPr/>
          </p:nvSpPr>
          <p:spPr>
            <a:xfrm>
              <a:off x="6553165" y="4781569"/>
              <a:ext cx="296836"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c</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8644" name="AutoShape 11"/>
            <p:cNvSpPr/>
            <p:nvPr/>
          </p:nvSpPr>
          <p:spPr>
            <a:xfrm>
              <a:off x="6804000" y="5040000"/>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110" name="矩形 109"/>
            <p:cNvSpPr/>
            <p:nvPr/>
          </p:nvSpPr>
          <p:spPr>
            <a:xfrm>
              <a:off x="7696062" y="5086380"/>
              <a:ext cx="25397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f</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sp>
        <p:nvSpPr>
          <p:cNvPr id="164" name="矩形 163"/>
          <p:cNvSpPr/>
          <p:nvPr/>
        </p:nvSpPr>
        <p:spPr>
          <a:xfrm>
            <a:off x="5791200" y="5867400"/>
            <a:ext cx="3276600" cy="650875"/>
          </a:xfrm>
          <a:prstGeom prst="rect">
            <a:avLst/>
          </a:prstGeom>
          <a:ln>
            <a:solidFill>
              <a:schemeClr val="accent3">
                <a:lumMod val="65000"/>
              </a:schemeClr>
            </a:solidFill>
          </a:ln>
        </p:spPr>
        <p:txBody>
          <a:bodyPr>
            <a:spAutoFit/>
          </a:bodyPr>
          <a:lstStyle>
            <a:lvl1pPr eaLnBrk="0" hangingPunct="0">
              <a:defRPr kumimoji="1">
                <a:solidFill>
                  <a:schemeClr val="tx1"/>
                </a:solidFill>
                <a:latin typeface="Arial" panose="020B0604020202020204" pitchFamily="34" charset="0"/>
                <a:ea typeface="PMingLiU" pitchFamily="18" charset="-120"/>
              </a:defRPr>
            </a:lvl1pPr>
            <a:lvl2pPr marL="742950" indent="-285750" eaLnBrk="0" hangingPunct="0">
              <a:defRPr kumimoji="1">
                <a:solidFill>
                  <a:schemeClr val="tx1"/>
                </a:solidFill>
                <a:latin typeface="Arial" panose="020B0604020202020204" pitchFamily="34" charset="0"/>
                <a:ea typeface="PMingLiU" pitchFamily="18" charset="-120"/>
              </a:defRPr>
            </a:lvl2pPr>
            <a:lvl3pPr marL="1143000" indent="-228600" eaLnBrk="0" hangingPunct="0">
              <a:defRPr kumimoji="1">
                <a:solidFill>
                  <a:schemeClr val="tx1"/>
                </a:solidFill>
                <a:latin typeface="Arial" panose="020B0604020202020204" pitchFamily="34" charset="0"/>
                <a:ea typeface="PMingLiU" pitchFamily="18" charset="-120"/>
              </a:defRPr>
            </a:lvl3pPr>
            <a:lvl4pPr marL="1600200" indent="-228600" eaLnBrk="0" hangingPunct="0">
              <a:defRPr kumimoji="1">
                <a:solidFill>
                  <a:schemeClr val="tx1"/>
                </a:solidFill>
                <a:latin typeface="Arial" panose="020B0604020202020204" pitchFamily="34" charset="0"/>
                <a:ea typeface="PMingLiU" pitchFamily="18" charset="-120"/>
              </a:defRPr>
            </a:lvl4pPr>
            <a:lvl5pPr marL="2057400" indent="-228600" eaLnBrk="0" hangingPunct="0">
              <a:defRPr kumimoji="1">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smtClean="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No matter which</a:t>
            </a:r>
            <a:r>
              <a:rPr kumimoji="1" lang="en-US" altLang="zh-TW" sz="1800" b="0" i="0" u="none" strike="noStrike" kern="1200" cap="none" spc="0" normalizeH="0" baseline="0" noProof="0" smtClean="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 </a:t>
            </a:r>
            <a:r>
              <a:rPr kumimoji="1" lang="en-US" altLang="zh-TW"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region</a:t>
            </a:r>
            <a:r>
              <a:rPr kumimoji="1" lang="en-US" altLang="zh-CN"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 </a:t>
            </a:r>
            <a:r>
              <a:rPr kumimoji="1" lang="en-US" altLang="zh-TW" sz="1800" b="0" i="1"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c</a:t>
            </a:r>
            <a:r>
              <a:rPr kumimoji="1" lang="en-US" altLang="zh-CN" sz="1800" b="0" i="1"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 is </a:t>
            </a:r>
            <a:r>
              <a:rPr kumimoji="1" lang="en-US" altLang="zh-CN"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in,</a:t>
            </a:r>
            <a:r>
              <a:rPr kumimoji="1" lang="zh-TW" altLang="en-US" sz="1800" b="0" i="0" u="none" strike="noStrike" kern="1200" cap="none" spc="0" normalizeH="0" baseline="0" noProof="0" smtClean="0">
                <a:ln>
                  <a:noFill/>
                </a:ln>
                <a:solidFill>
                  <a:schemeClr val="tx1"/>
                </a:solidFill>
                <a:effectLst/>
                <a:uLnTx/>
                <a:uFillTx/>
                <a:latin typeface="Arial" panose="020B0604020202020204" pitchFamily="34" charset="0"/>
                <a:ea typeface="PMingLiU" pitchFamily="18" charset="-120"/>
                <a:cs typeface="+mn-cs"/>
              </a:rPr>
              <a:t> </a:t>
            </a:r>
            <a:r>
              <a:rPr kumimoji="1" lang="en-US" altLang="zh-TW" sz="1800" b="0" i="1" u="none" strike="noStrike" kern="1200" cap="none" spc="0" normalizeH="0" baseline="0" noProof="0" smtClean="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f </a:t>
            </a:r>
            <a:r>
              <a:rPr kumimoji="1" lang="en-US" altLang="zh-CN" sz="1800" b="0" i="0" u="none" strike="noStrike" kern="1200" cap="none" spc="0" normalizeH="0" baseline="0" noProof="0" smtClean="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rPr>
              <a:t>can’t be drawn without crossing</a:t>
            </a:r>
            <a:endParaRPr kumimoji="1" lang="zh-TW" altLang="en-US" sz="1800" b="0" i="0" u="none" strike="noStrike" kern="1200" cap="none" spc="0" normalizeH="0" baseline="0" noProof="0" smtClean="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grpSp>
        <p:nvGrpSpPr>
          <p:cNvPr id="9" name="群組 110"/>
          <p:cNvGrpSpPr/>
          <p:nvPr/>
        </p:nvGrpSpPr>
        <p:grpSpPr>
          <a:xfrm>
            <a:off x="6367463" y="4143375"/>
            <a:ext cx="1557337" cy="1312863"/>
            <a:chOff x="6366933" y="4143023"/>
            <a:chExt cx="1557867" cy="1312895"/>
          </a:xfrm>
        </p:grpSpPr>
        <p:sp>
          <p:nvSpPr>
            <p:cNvPr id="68626" name="AutoShape 11"/>
            <p:cNvSpPr/>
            <p:nvPr/>
          </p:nvSpPr>
          <p:spPr>
            <a:xfrm>
              <a:off x="7806015" y="5029200"/>
              <a:ext cx="118785"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8627" name="Line 25"/>
            <p:cNvSpPr/>
            <p:nvPr/>
          </p:nvSpPr>
          <p:spPr>
            <a:xfrm flipV="1">
              <a:off x="6934200" y="5076000"/>
              <a:ext cx="914400" cy="45719"/>
            </a:xfrm>
            <a:prstGeom prst="line">
              <a:avLst/>
            </a:prstGeom>
            <a:ln w="25400" cap="flat" cmpd="sng">
              <a:solidFill>
                <a:srgbClr val="FF0000"/>
              </a:solidFill>
              <a:prstDash val="dash"/>
              <a:headEnd type="none" w="med" len="med"/>
              <a:tailEnd type="none" w="med" len="med"/>
            </a:ln>
          </p:spPr>
        </p:sp>
        <p:sp>
          <p:nvSpPr>
            <p:cNvPr id="108" name="手繪多邊形 107"/>
            <p:cNvSpPr/>
            <p:nvPr/>
          </p:nvSpPr>
          <p:spPr>
            <a:xfrm>
              <a:off x="6366933" y="4143023"/>
              <a:ext cx="1489582" cy="947761"/>
            </a:xfrm>
            <a:custGeom>
              <a:avLst/>
              <a:gdLst>
                <a:gd name="connsiteX0" fmla="*/ 0 w 1490134"/>
                <a:gd name="connsiteY0" fmla="*/ 541866 h 948266"/>
                <a:gd name="connsiteX1" fmla="*/ 982134 w 1490134"/>
                <a:gd name="connsiteY1" fmla="*/ 67733 h 948266"/>
                <a:gd name="connsiteX2" fmla="*/ 1490134 w 1490134"/>
                <a:gd name="connsiteY2" fmla="*/ 948266 h 948266"/>
              </a:gdLst>
              <a:ahLst/>
              <a:cxnLst>
                <a:cxn ang="0">
                  <a:pos x="connsiteX0" y="connsiteY0"/>
                </a:cxn>
                <a:cxn ang="0">
                  <a:pos x="connsiteX1" y="connsiteY1"/>
                </a:cxn>
                <a:cxn ang="0">
                  <a:pos x="connsiteX2" y="connsiteY2"/>
                </a:cxn>
              </a:cxnLst>
              <a:rect l="l" t="t" r="r" b="b"/>
              <a:pathLst>
                <a:path w="1490134" h="948266">
                  <a:moveTo>
                    <a:pt x="0" y="541866"/>
                  </a:moveTo>
                  <a:cubicBezTo>
                    <a:pt x="366889" y="270933"/>
                    <a:pt x="733778" y="0"/>
                    <a:pt x="982134" y="67733"/>
                  </a:cubicBezTo>
                  <a:cubicBezTo>
                    <a:pt x="1230490" y="135466"/>
                    <a:pt x="1360312" y="541866"/>
                    <a:pt x="1490134" y="948266"/>
                  </a:cubicBezTo>
                </a:path>
              </a:pathLst>
            </a:cu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8629" name="Line 25"/>
            <p:cNvSpPr/>
            <p:nvPr/>
          </p:nvSpPr>
          <p:spPr>
            <a:xfrm flipV="1">
              <a:off x="7315200" y="5105399"/>
              <a:ext cx="533400" cy="350519"/>
            </a:xfrm>
            <a:prstGeom prst="line">
              <a:avLst/>
            </a:prstGeom>
            <a:ln w="25400" cap="flat" cmpd="sng">
              <a:solidFill>
                <a:srgbClr val="FF0000"/>
              </a:solidFill>
              <a:prstDash val="dash"/>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ppt_x"/>
                                          </p:val>
                                        </p:tav>
                                        <p:tav tm="100000">
                                          <p:val>
                                            <p:strVal val="#ppt_x"/>
                                          </p:val>
                                        </p:tav>
                                      </p:tavLst>
                                    </p:anim>
                                    <p:anim calcmode="lin" valueType="num">
                                      <p:cBhvr additive="base">
                                        <p:cTn id="1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88"/>
                                        </p:tgtEl>
                                        <p:attrNameLst>
                                          <p:attrName>style.visibility</p:attrName>
                                        </p:attrNameLst>
                                      </p:cBhvr>
                                      <p:to>
                                        <p:strVal val="visible"/>
                                      </p:to>
                                    </p:set>
                                    <p:anim calcmode="lin" valueType="num">
                                      <p:cBhvr additive="base">
                                        <p:cTn id="37" dur="500" fill="hold"/>
                                        <p:tgtEl>
                                          <p:spTgt spid="88"/>
                                        </p:tgtEl>
                                        <p:attrNameLst>
                                          <p:attrName>ppt_x</p:attrName>
                                        </p:attrNameLst>
                                      </p:cBhvr>
                                      <p:tavLst>
                                        <p:tav tm="0">
                                          <p:val>
                                            <p:strVal val="#ppt_x"/>
                                          </p:val>
                                        </p:tav>
                                        <p:tav tm="100000">
                                          <p:val>
                                            <p:strVal val="#ppt_x"/>
                                          </p:val>
                                        </p:tav>
                                      </p:tavLst>
                                    </p:anim>
                                    <p:anim calcmode="lin" valueType="num">
                                      <p:cBhvr additive="base">
                                        <p:cTn id="38" dur="500" fill="hold"/>
                                        <p:tgtEl>
                                          <p:spTgt spid="8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2"/>
                                        </p:tgtEl>
                                        <p:attrNameLst>
                                          <p:attrName>style.visibility</p:attrName>
                                        </p:attrNameLst>
                                      </p:cBhvr>
                                      <p:to>
                                        <p:strVal val="visible"/>
                                      </p:to>
                                    </p:set>
                                    <p:anim calcmode="lin" valueType="num">
                                      <p:cBhvr additive="base">
                                        <p:cTn id="41" dur="500" fill="hold"/>
                                        <p:tgtEl>
                                          <p:spTgt spid="132"/>
                                        </p:tgtEl>
                                        <p:attrNameLst>
                                          <p:attrName>ppt_x</p:attrName>
                                        </p:attrNameLst>
                                      </p:cBhvr>
                                      <p:tavLst>
                                        <p:tav tm="0">
                                          <p:val>
                                            <p:strVal val="#ppt_x"/>
                                          </p:val>
                                        </p:tav>
                                        <p:tav tm="100000">
                                          <p:val>
                                            <p:strVal val="#ppt_x"/>
                                          </p:val>
                                        </p:tav>
                                      </p:tavLst>
                                    </p:anim>
                                    <p:anim calcmode="lin" valueType="num">
                                      <p:cBhvr additive="base">
                                        <p:cTn id="42" dur="500" fill="hold"/>
                                        <p:tgtEl>
                                          <p:spTgt spid="13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ppt_x"/>
                                          </p:val>
                                        </p:tav>
                                        <p:tav tm="100000">
                                          <p:val>
                                            <p:strVal val="#ppt_x"/>
                                          </p:val>
                                        </p:tav>
                                      </p:tavLst>
                                    </p:anim>
                                    <p:anim calcmode="lin" valueType="num">
                                      <p:cBhvr additive="base">
                                        <p:cTn id="48" dur="500" fill="hold"/>
                                        <p:tgtEl>
                                          <p:spTgt spid="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64"/>
                                        </p:tgtEl>
                                        <p:attrNameLst>
                                          <p:attrName>style.visibility</p:attrName>
                                        </p:attrNameLst>
                                      </p:cBhvr>
                                      <p:to>
                                        <p:strVal val="visible"/>
                                      </p:to>
                                    </p:set>
                                    <p:anim calcmode="lin" valueType="num">
                                      <p:cBhvr additive="base">
                                        <p:cTn id="51" dur="500" fill="hold"/>
                                        <p:tgtEl>
                                          <p:spTgt spid="164"/>
                                        </p:tgtEl>
                                        <p:attrNameLst>
                                          <p:attrName>ppt_x</p:attrName>
                                        </p:attrNameLst>
                                      </p:cBhvr>
                                      <p:tavLst>
                                        <p:tav tm="0">
                                          <p:val>
                                            <p:strVal val="#ppt_x"/>
                                          </p:val>
                                        </p:tav>
                                        <p:tav tm="100000">
                                          <p:val>
                                            <p:strVal val="#ppt_x"/>
                                          </p:val>
                                        </p:tav>
                                      </p:tavLst>
                                    </p:anim>
                                    <p:anim calcmode="lin" valueType="num">
                                      <p:cBhvr additive="base">
                                        <p:cTn id="52" dur="500" fill="hold"/>
                                        <p:tgtEl>
                                          <p:spTgt spid="164"/>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7"/>
                                        </p:tgtEl>
                                        <p:attrNameLst>
                                          <p:attrName>style.visibility</p:attrName>
                                        </p:attrNameLst>
                                      </p:cBhvr>
                                      <p:to>
                                        <p:strVal val="visible"/>
                                      </p:to>
                                    </p:set>
                                    <p:anim calcmode="lin" valueType="num">
                                      <p:cBhvr additive="base">
                                        <p:cTn id="61" dur="500" fill="hold"/>
                                        <p:tgtEl>
                                          <p:spTgt spid="57"/>
                                        </p:tgtEl>
                                        <p:attrNameLst>
                                          <p:attrName>ppt_x</p:attrName>
                                        </p:attrNameLst>
                                      </p:cBhvr>
                                      <p:tavLst>
                                        <p:tav tm="0">
                                          <p:val>
                                            <p:strVal val="#ppt_x"/>
                                          </p:val>
                                        </p:tav>
                                        <p:tav tm="100000">
                                          <p:val>
                                            <p:strVal val="#ppt_x"/>
                                          </p:val>
                                        </p:tav>
                                      </p:tavLst>
                                    </p:anim>
                                    <p:anim calcmode="lin" valueType="num">
                                      <p:cBhvr additive="base">
                                        <p:cTn id="62"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9" grpId="0"/>
      <p:bldP spid="31" grpId="0"/>
      <p:bldP spid="57" grpId="0" animBg="1"/>
      <p:bldP spid="88" grpId="0"/>
      <p:bldP spid="132" grpId="0" animBg="1"/>
      <p:bldP spid="16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Line 25"/>
          <p:cNvSpPr/>
          <p:nvPr/>
        </p:nvSpPr>
        <p:spPr>
          <a:xfrm>
            <a:off x="1066800" y="4343400"/>
            <a:ext cx="936625" cy="0"/>
          </a:xfrm>
          <a:prstGeom prst="line">
            <a:avLst/>
          </a:prstGeom>
          <a:ln w="25400" cap="flat" cmpd="sng">
            <a:solidFill>
              <a:schemeClr val="tx1"/>
            </a:solidFill>
            <a:prstDash val="solid"/>
            <a:headEnd type="none" w="med" len="med"/>
            <a:tailEnd type="none" w="med" len="med"/>
          </a:ln>
        </p:spPr>
      </p:sp>
      <p:sp>
        <p:nvSpPr>
          <p:cNvPr id="69635" name="投影片編號版面配置區 3"/>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3" name="矩形 2"/>
          <p:cNvSpPr/>
          <p:nvPr/>
        </p:nvSpPr>
        <p:spPr>
          <a:xfrm>
            <a:off x="381000" y="381000"/>
            <a:ext cx="2898775" cy="523875"/>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sng" strike="noStrike" kern="0" cap="none" spc="0" normalizeH="0" baseline="0" noProof="0" dirty="0">
                <a:ln>
                  <a:noFill/>
                </a:ln>
                <a:solidFill>
                  <a:srgbClr val="008000"/>
                </a:solidFill>
                <a:effectLst/>
                <a:uLnTx/>
                <a:uFillTx/>
                <a:latin typeface="Arial" panose="020B0604020202020204"/>
                <a:ea typeface="PMingLiU"/>
                <a:cs typeface="+mn-cs"/>
              </a:rPr>
              <a:t>Euler’s Formula</a:t>
            </a:r>
            <a:endParaRPr kumimoji="1" lang="en-US" altLang="zh-TW" sz="2800" b="1" i="0" u="sng" strike="noStrike" kern="0" cap="none" spc="0" normalizeH="0" baseline="0" noProof="0" dirty="0">
              <a:ln>
                <a:noFill/>
              </a:ln>
              <a:solidFill>
                <a:srgbClr val="008000"/>
              </a:solidFill>
              <a:effectLst/>
              <a:uLnTx/>
              <a:uFillTx/>
              <a:latin typeface="Arial" panose="020B0604020202020204"/>
              <a:ea typeface="PMingLiU"/>
              <a:cs typeface="+mn-cs"/>
            </a:endParaRPr>
          </a:p>
        </p:txBody>
      </p:sp>
      <p:sp>
        <p:nvSpPr>
          <p:cNvPr id="4" name="矩形 3"/>
          <p:cNvSpPr/>
          <p:nvPr/>
        </p:nvSpPr>
        <p:spPr>
          <a:xfrm>
            <a:off x="457200" y="990600"/>
            <a:ext cx="8458200" cy="954088"/>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planar representation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of a graph splits the plane into </a:t>
            </a:r>
            <a:r>
              <a:rPr kumimoji="1" lang="en-US" altLang="zh-TW" sz="2800" b="0" i="0" u="none" strike="noStrike" kern="0" cap="none" spc="0" normalizeH="0" baseline="0" noProof="0" dirty="0">
                <a:ln>
                  <a:noFill/>
                </a:ln>
                <a:solidFill>
                  <a:srgbClr val="0000CC"/>
                </a:solidFill>
                <a:effectLst/>
                <a:uLnTx/>
                <a:uFillTx/>
                <a:latin typeface="Arial" panose="020B0604020202020204"/>
                <a:ea typeface="PMingLiU"/>
                <a:cs typeface="+mn-cs"/>
              </a:rPr>
              <a:t>regions</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including an unbounded region.</a:t>
            </a:r>
            <a:endPar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sp>
        <p:nvSpPr>
          <p:cNvPr id="5" name="矩形 4"/>
          <p:cNvSpPr/>
          <p:nvPr/>
        </p:nvSpPr>
        <p:spPr>
          <a:xfrm>
            <a:off x="304800" y="1981200"/>
            <a:ext cx="8305800" cy="954088"/>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How many regions are there in the following graph?</a:t>
            </a:r>
            <a:endPar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endParaRPr>
          </a:p>
        </p:txBody>
      </p:sp>
      <p:sp>
        <p:nvSpPr>
          <p:cNvPr id="69639" name="Line 34"/>
          <p:cNvSpPr/>
          <p:nvPr/>
        </p:nvSpPr>
        <p:spPr>
          <a:xfrm>
            <a:off x="1976438" y="3276600"/>
            <a:ext cx="0" cy="1036638"/>
          </a:xfrm>
          <a:prstGeom prst="line">
            <a:avLst/>
          </a:prstGeom>
          <a:ln w="25400" cap="flat" cmpd="sng">
            <a:solidFill>
              <a:schemeClr val="tx1"/>
            </a:solidFill>
            <a:prstDash val="solid"/>
            <a:headEnd type="none" w="med" len="med"/>
            <a:tailEnd type="none" w="med" len="med"/>
          </a:ln>
        </p:spPr>
      </p:sp>
      <p:sp>
        <p:nvSpPr>
          <p:cNvPr id="69640" name="Line 25"/>
          <p:cNvSpPr/>
          <p:nvPr/>
        </p:nvSpPr>
        <p:spPr>
          <a:xfrm>
            <a:off x="1039813" y="3276600"/>
            <a:ext cx="0" cy="1090613"/>
          </a:xfrm>
          <a:prstGeom prst="line">
            <a:avLst/>
          </a:prstGeom>
          <a:ln w="25400" cap="flat" cmpd="sng">
            <a:solidFill>
              <a:schemeClr val="tx1"/>
            </a:solidFill>
            <a:prstDash val="solid"/>
            <a:headEnd type="none" w="med" len="med"/>
            <a:tailEnd type="none" w="med" len="med"/>
          </a:ln>
        </p:spPr>
      </p:sp>
      <p:sp>
        <p:nvSpPr>
          <p:cNvPr id="69641" name="Line 25"/>
          <p:cNvSpPr/>
          <p:nvPr/>
        </p:nvSpPr>
        <p:spPr>
          <a:xfrm flipV="1">
            <a:off x="990600" y="3265488"/>
            <a:ext cx="1908175" cy="0"/>
          </a:xfrm>
          <a:prstGeom prst="line">
            <a:avLst/>
          </a:prstGeom>
          <a:ln w="25400" cap="flat" cmpd="sng">
            <a:solidFill>
              <a:schemeClr val="tx1"/>
            </a:solidFill>
            <a:prstDash val="solid"/>
            <a:headEnd type="none" w="med" len="med"/>
            <a:tailEnd type="none" w="med" len="med"/>
          </a:ln>
        </p:spPr>
      </p:sp>
      <p:sp>
        <p:nvSpPr>
          <p:cNvPr id="69642" name="AutoShape 11"/>
          <p:cNvSpPr/>
          <p:nvPr/>
        </p:nvSpPr>
        <p:spPr>
          <a:xfrm>
            <a:off x="947738" y="3200400"/>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9643" name="AutoShape 11"/>
          <p:cNvSpPr/>
          <p:nvPr/>
        </p:nvSpPr>
        <p:spPr>
          <a:xfrm>
            <a:off x="968375" y="4281488"/>
            <a:ext cx="117475"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9644" name="AutoShape 11"/>
          <p:cNvSpPr/>
          <p:nvPr/>
        </p:nvSpPr>
        <p:spPr>
          <a:xfrm>
            <a:off x="1911350" y="4276725"/>
            <a:ext cx="119063"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9645" name="AutoShape 11"/>
          <p:cNvSpPr/>
          <p:nvPr/>
        </p:nvSpPr>
        <p:spPr>
          <a:xfrm>
            <a:off x="1924050" y="3200400"/>
            <a:ext cx="117475"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9646" name="Line 25"/>
          <p:cNvSpPr/>
          <p:nvPr/>
        </p:nvSpPr>
        <p:spPr>
          <a:xfrm>
            <a:off x="1981200" y="3276600"/>
            <a:ext cx="990600" cy="533400"/>
          </a:xfrm>
          <a:prstGeom prst="line">
            <a:avLst/>
          </a:prstGeom>
          <a:ln w="25400" cap="flat" cmpd="sng">
            <a:solidFill>
              <a:schemeClr val="tx1"/>
            </a:solidFill>
            <a:prstDash val="solid"/>
            <a:headEnd type="none" w="med" len="med"/>
            <a:tailEnd type="none" w="med" len="med"/>
          </a:ln>
        </p:spPr>
      </p:sp>
      <p:sp>
        <p:nvSpPr>
          <p:cNvPr id="69647" name="Line 25"/>
          <p:cNvSpPr/>
          <p:nvPr/>
        </p:nvSpPr>
        <p:spPr>
          <a:xfrm>
            <a:off x="1958975" y="4343400"/>
            <a:ext cx="936625" cy="0"/>
          </a:xfrm>
          <a:prstGeom prst="line">
            <a:avLst/>
          </a:prstGeom>
          <a:ln w="25400" cap="flat" cmpd="sng">
            <a:solidFill>
              <a:schemeClr val="tx1"/>
            </a:solidFill>
            <a:prstDash val="solid"/>
            <a:headEnd type="none" w="med" len="med"/>
            <a:tailEnd type="none" w="med" len="med"/>
          </a:ln>
        </p:spPr>
      </p:sp>
      <p:sp>
        <p:nvSpPr>
          <p:cNvPr id="69648" name="Line 34"/>
          <p:cNvSpPr/>
          <p:nvPr/>
        </p:nvSpPr>
        <p:spPr>
          <a:xfrm flipH="1">
            <a:off x="2895600" y="3276600"/>
            <a:ext cx="0" cy="1096963"/>
          </a:xfrm>
          <a:prstGeom prst="line">
            <a:avLst/>
          </a:prstGeom>
          <a:ln w="25400" cap="flat" cmpd="sng">
            <a:solidFill>
              <a:schemeClr val="tx1"/>
            </a:solidFill>
            <a:prstDash val="solid"/>
            <a:headEnd type="none" w="med" len="med"/>
            <a:tailEnd type="none" w="med" len="med"/>
          </a:ln>
        </p:spPr>
      </p:sp>
      <p:sp>
        <p:nvSpPr>
          <p:cNvPr id="69649" name="AutoShape 11"/>
          <p:cNvSpPr/>
          <p:nvPr/>
        </p:nvSpPr>
        <p:spPr>
          <a:xfrm>
            <a:off x="2819400" y="4267200"/>
            <a:ext cx="119063"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9650" name="AutoShape 11"/>
          <p:cNvSpPr/>
          <p:nvPr/>
        </p:nvSpPr>
        <p:spPr>
          <a:xfrm>
            <a:off x="2819400" y="3200400"/>
            <a:ext cx="119063"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9651" name="Line 25"/>
          <p:cNvSpPr/>
          <p:nvPr/>
        </p:nvSpPr>
        <p:spPr>
          <a:xfrm>
            <a:off x="990600" y="3276600"/>
            <a:ext cx="990600" cy="1066800"/>
          </a:xfrm>
          <a:prstGeom prst="line">
            <a:avLst/>
          </a:prstGeom>
          <a:ln w="25400" cap="flat" cmpd="sng">
            <a:solidFill>
              <a:schemeClr val="tx1"/>
            </a:solidFill>
            <a:prstDash val="solid"/>
            <a:headEnd type="none" w="med" len="med"/>
            <a:tailEnd type="none" w="med" len="med"/>
          </a:ln>
        </p:spPr>
      </p:sp>
      <p:sp>
        <p:nvSpPr>
          <p:cNvPr id="69652" name="AutoShape 11"/>
          <p:cNvSpPr/>
          <p:nvPr/>
        </p:nvSpPr>
        <p:spPr>
          <a:xfrm>
            <a:off x="2840038" y="3733800"/>
            <a:ext cx="119062" cy="117475"/>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9653" name="Line 25"/>
          <p:cNvSpPr/>
          <p:nvPr/>
        </p:nvSpPr>
        <p:spPr>
          <a:xfrm flipV="1">
            <a:off x="1981200" y="3810000"/>
            <a:ext cx="914400" cy="533400"/>
          </a:xfrm>
          <a:prstGeom prst="line">
            <a:avLst/>
          </a:prstGeom>
          <a:ln w="25400" cap="flat" cmpd="sng">
            <a:solidFill>
              <a:schemeClr val="tx1"/>
            </a:solidFill>
            <a:prstDash val="solid"/>
            <a:headEnd type="none" w="med" len="med"/>
            <a:tailEnd type="none" w="med" len="med"/>
          </a:ln>
        </p:spPr>
      </p:sp>
      <p:grpSp>
        <p:nvGrpSpPr>
          <p:cNvPr id="2" name="群組 53"/>
          <p:cNvGrpSpPr/>
          <p:nvPr/>
        </p:nvGrpSpPr>
        <p:grpSpPr>
          <a:xfrm>
            <a:off x="1066800" y="3276600"/>
            <a:ext cx="2327275" cy="1082675"/>
            <a:chOff x="1143000" y="2819400"/>
            <a:chExt cx="2327275" cy="1082675"/>
          </a:xfrm>
        </p:grpSpPr>
        <p:sp>
          <p:nvSpPr>
            <p:cNvPr id="40" name="矩形 39"/>
            <p:cNvSpPr/>
            <p:nvPr/>
          </p:nvSpPr>
          <p:spPr bwMode="auto">
            <a:xfrm>
              <a:off x="1143000" y="3429000"/>
              <a:ext cx="422275"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a:t>
              </a:r>
              <a:r>
                <a:rPr kumimoji="1" lang="en-US" altLang="zh-TW" sz="2000" b="0" i="0" u="none" strike="noStrike" kern="0" cap="none" spc="0" normalizeH="0" baseline="-2500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25000" noProof="0" dirty="0">
                <a:ln>
                  <a:noFill/>
                </a:ln>
                <a:solidFill>
                  <a:srgbClr val="FF0000"/>
                </a:solidFill>
                <a:effectLst/>
                <a:uLnTx/>
                <a:uFillTx/>
                <a:latin typeface="Arial" panose="020B0604020202020204" pitchFamily="34" charset="0"/>
                <a:ea typeface="PMingLiU" pitchFamily="18" charset="-120"/>
                <a:cs typeface="+mn-cs"/>
              </a:endParaRPr>
            </a:p>
          </p:txBody>
        </p:sp>
        <p:sp>
          <p:nvSpPr>
            <p:cNvPr id="41" name="矩形 40"/>
            <p:cNvSpPr/>
            <p:nvPr/>
          </p:nvSpPr>
          <p:spPr bwMode="auto">
            <a:xfrm>
              <a:off x="3048000" y="2971800"/>
              <a:ext cx="422275"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a:t>
              </a:r>
              <a:r>
                <a:rPr kumimoji="1" lang="en-US" altLang="zh-TW" sz="2000" b="0" i="0" u="none" strike="noStrike" kern="0" cap="none" spc="0" normalizeH="0" baseline="-2500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6</a:t>
              </a:r>
              <a:endParaRPr kumimoji="1" lang="zh-TW" altLang="en-US" sz="2000" b="0" i="0" u="none" strike="noStrike" kern="1200" cap="none" spc="0" normalizeH="0" baseline="-25000" noProof="0" dirty="0">
                <a:ln>
                  <a:noFill/>
                </a:ln>
                <a:solidFill>
                  <a:srgbClr val="FF0000"/>
                </a:solidFill>
                <a:effectLst/>
                <a:uLnTx/>
                <a:uFillTx/>
                <a:latin typeface="Arial" panose="020B0604020202020204" pitchFamily="34" charset="0"/>
                <a:ea typeface="PMingLiU" pitchFamily="18" charset="-120"/>
                <a:cs typeface="+mn-cs"/>
              </a:endParaRPr>
            </a:p>
          </p:txBody>
        </p:sp>
        <p:sp>
          <p:nvSpPr>
            <p:cNvPr id="48" name="矩形 47"/>
            <p:cNvSpPr/>
            <p:nvPr/>
          </p:nvSpPr>
          <p:spPr bwMode="auto">
            <a:xfrm>
              <a:off x="1600200" y="3124200"/>
              <a:ext cx="422275"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a:t>
              </a:r>
              <a:r>
                <a:rPr kumimoji="1" lang="en-US" altLang="zh-TW" sz="2000" b="0" i="0" u="none" strike="noStrike" kern="0" cap="none" spc="0" normalizeH="0" baseline="-2500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25000" noProof="0" dirty="0">
                <a:ln>
                  <a:noFill/>
                </a:ln>
                <a:solidFill>
                  <a:srgbClr val="FF0000"/>
                </a:solidFill>
                <a:effectLst/>
                <a:uLnTx/>
                <a:uFillTx/>
                <a:latin typeface="Arial" panose="020B0604020202020204" pitchFamily="34" charset="0"/>
                <a:ea typeface="PMingLiU" pitchFamily="18" charset="-120"/>
                <a:cs typeface="+mn-cs"/>
              </a:endParaRPr>
            </a:p>
          </p:txBody>
        </p:sp>
        <p:sp>
          <p:nvSpPr>
            <p:cNvPr id="50" name="矩形 49"/>
            <p:cNvSpPr/>
            <p:nvPr/>
          </p:nvSpPr>
          <p:spPr bwMode="auto">
            <a:xfrm>
              <a:off x="2514600" y="2819400"/>
              <a:ext cx="422275"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a:t>
              </a:r>
              <a:r>
                <a:rPr kumimoji="1" lang="en-US" altLang="zh-TW" sz="2000" b="0" i="0" u="none" strike="noStrike" kern="0" cap="none" spc="0" normalizeH="0" baseline="-2500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4</a:t>
              </a:r>
              <a:endParaRPr kumimoji="1" lang="zh-TW" altLang="en-US" sz="2000" b="0" i="0" u="none" strike="noStrike" kern="1200" cap="none" spc="0" normalizeH="0" baseline="-25000" noProof="0" dirty="0">
                <a:ln>
                  <a:noFill/>
                </a:ln>
                <a:solidFill>
                  <a:srgbClr val="FF0000"/>
                </a:solidFill>
                <a:effectLst/>
                <a:uLnTx/>
                <a:uFillTx/>
                <a:latin typeface="Arial" panose="020B0604020202020204" pitchFamily="34" charset="0"/>
                <a:ea typeface="PMingLiU" pitchFamily="18" charset="-120"/>
                <a:cs typeface="+mn-cs"/>
              </a:endParaRPr>
            </a:p>
          </p:txBody>
        </p:sp>
        <p:sp>
          <p:nvSpPr>
            <p:cNvPr id="52" name="矩形 51"/>
            <p:cNvSpPr/>
            <p:nvPr/>
          </p:nvSpPr>
          <p:spPr bwMode="auto">
            <a:xfrm>
              <a:off x="2057400" y="3124200"/>
              <a:ext cx="422275"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a:t>
              </a:r>
              <a:r>
                <a:rPr kumimoji="1" lang="en-US" altLang="zh-TW" sz="2000" b="0" i="0" u="none" strike="noStrike" kern="0" cap="none" spc="0" normalizeH="0" baseline="-2500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000" b="0" i="0" u="none" strike="noStrike" kern="1200" cap="none" spc="0" normalizeH="0" baseline="-25000" noProof="0" dirty="0">
                <a:ln>
                  <a:noFill/>
                </a:ln>
                <a:solidFill>
                  <a:srgbClr val="FF0000"/>
                </a:solidFill>
                <a:effectLst/>
                <a:uLnTx/>
                <a:uFillTx/>
                <a:latin typeface="Arial" panose="020B0604020202020204" pitchFamily="34" charset="0"/>
                <a:ea typeface="PMingLiU" pitchFamily="18" charset="-120"/>
                <a:cs typeface="+mn-cs"/>
              </a:endParaRPr>
            </a:p>
          </p:txBody>
        </p:sp>
        <p:sp>
          <p:nvSpPr>
            <p:cNvPr id="53" name="矩形 52"/>
            <p:cNvSpPr/>
            <p:nvPr/>
          </p:nvSpPr>
          <p:spPr bwMode="auto">
            <a:xfrm>
              <a:off x="2514600" y="3505200"/>
              <a:ext cx="422275"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a:t>
              </a:r>
              <a:r>
                <a:rPr kumimoji="1" lang="en-US" altLang="zh-TW" sz="2000" b="0" i="0" u="none" strike="noStrike" kern="0" cap="none" spc="0" normalizeH="0" baseline="-2500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5</a:t>
              </a:r>
              <a:endParaRPr kumimoji="1" lang="zh-TW" altLang="en-US" sz="2000" b="0" i="0" u="none" strike="noStrike" kern="1200" cap="none" spc="0" normalizeH="0" baseline="-25000" noProof="0" dirty="0">
                <a:ln>
                  <a:noFill/>
                </a:ln>
                <a:solidFill>
                  <a:srgbClr val="FF0000"/>
                </a:solidFill>
                <a:effectLst/>
                <a:uLnTx/>
                <a:uFillTx/>
                <a:latin typeface="Arial" panose="020B0604020202020204" pitchFamily="34" charset="0"/>
                <a:ea typeface="PMingLiU" pitchFamily="18" charset="-120"/>
                <a:cs typeface="+mn-cs"/>
              </a:endParaRPr>
            </a:p>
          </p:txBody>
        </p:sp>
      </p:grpSp>
      <p:sp>
        <p:nvSpPr>
          <p:cNvPr id="55" name="矩形 54"/>
          <p:cNvSpPr/>
          <p:nvPr/>
        </p:nvSpPr>
        <p:spPr>
          <a:xfrm>
            <a:off x="3505200" y="3733800"/>
            <a:ext cx="1447800" cy="519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6</a:t>
            </a:r>
            <a:endParaRPr kumimoji="1" lang="zh-TW"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sp>
        <p:nvSpPr>
          <p:cNvPr id="56" name="矩形 55"/>
          <p:cNvSpPr/>
          <p:nvPr/>
        </p:nvSpPr>
        <p:spPr>
          <a:xfrm>
            <a:off x="152400" y="4611688"/>
            <a:ext cx="8839200" cy="1809750"/>
          </a:xfrm>
          <a:prstGeom prst="rect">
            <a:avLst/>
          </a:prstGeom>
          <a:ln>
            <a:solidFill>
              <a:schemeClr val="tx1"/>
            </a:solidFill>
          </a:ln>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err="1">
                <a:ln>
                  <a:noFill/>
                </a:ln>
                <a:solidFill>
                  <a:srgbClr val="0000CC"/>
                </a:solidFill>
                <a:effectLst/>
                <a:uLnTx/>
                <a:uFillTx/>
                <a:latin typeface="Arial" panose="020B0604020202020204"/>
                <a:ea typeface="PMingLiU"/>
                <a:cs typeface="+mn-cs"/>
              </a:rPr>
              <a:t>Thm</a:t>
            </a:r>
            <a:r>
              <a:rPr kumimoji="1" lang="en-US" altLang="zh-TW" sz="2800" b="1" i="0" u="none" strike="noStrike" kern="0" cap="none" spc="0" normalizeH="0" baseline="0" noProof="0" dirty="0">
                <a:ln>
                  <a:noFill/>
                </a:ln>
                <a:solidFill>
                  <a:srgbClr val="0000CC"/>
                </a:solidFill>
                <a:effectLst/>
                <a:uLnTx/>
                <a:uFillTx/>
                <a:latin typeface="Arial" panose="020B0604020202020204"/>
                <a:ea typeface="PMingLiU"/>
                <a:cs typeface="+mn-cs"/>
              </a:rPr>
              <a:t> 1 (Euler’s Formula)</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Let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be a connected planar simple graph with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edges and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vertices. Let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r</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be the number of regions in a planar representation of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Then </a:t>
            </a:r>
            <a:r>
              <a:rPr kumimoji="1" lang="en-US" altLang="zh-TW" sz="28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r </a:t>
            </a:r>
            <a:r>
              <a:rPr kumimoji="1" lang="en-US" altLang="zh-TW" sz="2800" b="0" i="0"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e</a:t>
            </a:r>
            <a:r>
              <a:rPr kumimoji="1" lang="en-US" altLang="zh-TW" sz="2800" b="0" i="0" u="none" strike="noStrike" kern="0" cap="none" spc="0" normalizeH="0" baseline="0" noProof="0" dirty="0">
                <a:ln>
                  <a:noFill/>
                </a:ln>
                <a:solidFill>
                  <a:srgbClr val="FF0000"/>
                </a:solidFill>
                <a:effectLst/>
                <a:uLnTx/>
                <a:uFillTx/>
                <a:latin typeface="Symbol" panose="05050102010706020507" pitchFamily="18" charset="2"/>
                <a:ea typeface="PMingLiU"/>
                <a:cs typeface="Times New Roman" panose="02020603050405020304" pitchFamily="18" charset="0"/>
              </a:rPr>
              <a:t>-</a:t>
            </a:r>
            <a:r>
              <a:rPr kumimoji="1" lang="en-US" altLang="zh-TW" sz="28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+2</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t>
            </a:r>
            <a:endPar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additive="base">
                                        <p:cTn id="11" dur="500" fill="hold"/>
                                        <p:tgtEl>
                                          <p:spTgt spid="55"/>
                                        </p:tgtEl>
                                        <p:attrNameLst>
                                          <p:attrName>ppt_x</p:attrName>
                                        </p:attrNameLst>
                                      </p:cBhvr>
                                      <p:tavLst>
                                        <p:tav tm="0">
                                          <p:val>
                                            <p:strVal val="#ppt_x"/>
                                          </p:val>
                                        </p:tav>
                                        <p:tav tm="100000">
                                          <p:val>
                                            <p:strVal val="#ppt_x"/>
                                          </p:val>
                                        </p:tav>
                                      </p:tavLst>
                                    </p:anim>
                                    <p:anim calcmode="lin" valueType="num">
                                      <p:cBhvr additive="base">
                                        <p:cTn id="1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anim calcmode="lin" valueType="num">
                                      <p:cBhvr additive="base">
                                        <p:cTn id="17" dur="500" fill="hold"/>
                                        <p:tgtEl>
                                          <p:spTgt spid="56"/>
                                        </p:tgtEl>
                                        <p:attrNameLst>
                                          <p:attrName>ppt_x</p:attrName>
                                        </p:attrNameLst>
                                      </p:cBhvr>
                                      <p:tavLst>
                                        <p:tav tm="0">
                                          <p:val>
                                            <p:strVal val="#ppt_x"/>
                                          </p:val>
                                        </p:tav>
                                        <p:tav tm="100000">
                                          <p:val>
                                            <p:strVal val="#ppt_x"/>
                                          </p:val>
                                        </p:tav>
                                      </p:tavLst>
                                    </p:anim>
                                    <p:anim calcmode="lin" valueType="num">
                                      <p:cBhvr additive="base">
                                        <p:cTn id="1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投影片編號版面配置區 3"/>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矩形 4"/>
          <p:cNvSpPr/>
          <p:nvPr/>
        </p:nvSpPr>
        <p:spPr>
          <a:xfrm>
            <a:off x="381000" y="381000"/>
            <a:ext cx="8305800" cy="1816100"/>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4: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Suppose that a connected planar graph has 20 vertices, each of degree 3. Into how many regions does a representation of this planar graph split the plane?</a:t>
            </a:r>
            <a:endPar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endParaRPr>
          </a:p>
        </p:txBody>
      </p:sp>
      <p:sp>
        <p:nvSpPr>
          <p:cNvPr id="6" name="矩形 5"/>
          <p:cNvSpPr/>
          <p:nvPr/>
        </p:nvSpPr>
        <p:spPr>
          <a:xfrm>
            <a:off x="381000" y="2133600"/>
            <a:ext cx="7772400" cy="1373188"/>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 </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20, 2</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3</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20 = 60,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30</a:t>
            </a:r>
            <a:endPar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r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a:t>
            </a:r>
            <a:r>
              <a:rPr kumimoji="1" lang="en-US" altLang="zh-TW" sz="2800" b="0" i="0" u="none" strike="noStrike" kern="0" cap="none" spc="0" normalizeH="0" baseline="0" noProof="0" dirty="0">
                <a:ln>
                  <a:noFill/>
                </a:ln>
                <a:solidFill>
                  <a:schemeClr val="tx1"/>
                </a:solidFill>
                <a:effectLst/>
                <a:uLnTx/>
                <a:uFillTx/>
                <a:latin typeface="Symbol" panose="05050102010706020507" pitchFamily="18" charset="2"/>
                <a:ea typeface="PMingLiU"/>
                <a:cs typeface="Times New Roman" panose="02020603050405020304" pitchFamily="18" charset="0"/>
              </a:rPr>
              <a:t>-</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+2 = 30</a:t>
            </a:r>
            <a:r>
              <a:rPr kumimoji="1" lang="en-US" altLang="zh-TW" sz="2800" b="0" i="0" u="none" strike="noStrike" kern="0" cap="none" spc="0" normalizeH="0" baseline="0" noProof="0" dirty="0">
                <a:ln>
                  <a:noFill/>
                </a:ln>
                <a:solidFill>
                  <a:schemeClr val="tx1"/>
                </a:solidFill>
                <a:effectLst/>
                <a:uLnTx/>
                <a:uFillTx/>
                <a:latin typeface="Symbol" panose="05050102010706020507" pitchFamily="18" charset="2"/>
                <a:ea typeface="PMingLiU"/>
                <a:cs typeface="Times New Roman" panose="02020603050405020304" pitchFamily="18" charset="0"/>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20+2 = 12</a:t>
            </a:r>
            <a:endParaRPr kumimoji="1" lang="zh-TW"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sp>
        <p:nvSpPr>
          <p:cNvPr id="7" name="矩形 6"/>
          <p:cNvSpPr/>
          <p:nvPr/>
        </p:nvSpPr>
        <p:spPr>
          <a:xfrm>
            <a:off x="304800" y="3581400"/>
            <a:ext cx="8610600" cy="1384300"/>
          </a:xfrm>
          <a:prstGeom prst="rect">
            <a:avLst/>
          </a:prstGeom>
          <a:ln>
            <a:solidFill>
              <a:schemeClr val="tx1"/>
            </a:solidFill>
          </a:ln>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00CC"/>
                </a:solidFill>
                <a:effectLst/>
                <a:uLnTx/>
                <a:uFillTx/>
                <a:latin typeface="Arial" panose="020B0604020202020204"/>
                <a:ea typeface="PMingLiU"/>
                <a:cs typeface="+mn-cs"/>
              </a:rPr>
              <a:t>Corollary 1</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If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is a connected planar simple graph with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edges and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vertices, where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sym typeface="Symbol" panose="05050102010706020507"/>
              </a:rPr>
              <a:t>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3</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then </a:t>
            </a:r>
            <a:r>
              <a:rPr kumimoji="1" lang="en-US" altLang="zh-TW" sz="28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e </a:t>
            </a:r>
            <a:r>
              <a:rPr kumimoji="1" lang="en-US" altLang="zh-TW" sz="2800" b="0" i="0"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800" b="0" i="0"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 3</a:t>
            </a:r>
            <a:r>
              <a:rPr kumimoji="1" lang="en-US" altLang="zh-TW" sz="28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rgbClr val="FF0000"/>
                </a:solidFill>
                <a:effectLst/>
                <a:uLnTx/>
                <a:uFillTx/>
                <a:latin typeface="Symbol" panose="05050102010706020507" pitchFamily="18" charset="2"/>
                <a:ea typeface="PMingLiU"/>
                <a:cs typeface="Times New Roman" panose="02020603050405020304" pitchFamily="18" charset="0"/>
              </a:rPr>
              <a:t>-</a:t>
            </a:r>
            <a:r>
              <a:rPr kumimoji="1" lang="en-US" altLang="zh-TW" sz="2800" b="0" i="0"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 6</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t>
            </a:r>
            <a:endPar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endParaRPr>
          </a:p>
        </p:txBody>
      </p:sp>
      <p:sp>
        <p:nvSpPr>
          <p:cNvPr id="9" name="矩形 8"/>
          <p:cNvSpPr/>
          <p:nvPr/>
        </p:nvSpPr>
        <p:spPr>
          <a:xfrm>
            <a:off x="304800" y="5105400"/>
            <a:ext cx="6340475" cy="5191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5:</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Show that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5</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is </a:t>
            </a:r>
            <a:r>
              <a:rPr kumimoji="1" lang="en-US" altLang="zh-TW" sz="2800" b="0" i="0" u="none" strike="noStrike" kern="0" cap="none" spc="0" normalizeH="0" baseline="0" noProof="0" dirty="0" err="1">
                <a:ln>
                  <a:noFill/>
                </a:ln>
                <a:solidFill>
                  <a:srgbClr val="000000"/>
                </a:solidFill>
                <a:effectLst/>
                <a:uLnTx/>
                <a:uFillTx/>
                <a:latin typeface="Arial" panose="020B0604020202020204"/>
                <a:ea typeface="PMingLiU"/>
                <a:cs typeface="+mn-cs"/>
              </a:rPr>
              <a:t>nonplanar</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0" name="矩形 9"/>
          <p:cNvSpPr/>
          <p:nvPr/>
        </p:nvSpPr>
        <p:spPr>
          <a:xfrm>
            <a:off x="381000" y="5715000"/>
            <a:ext cx="7772400" cy="94615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 </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5,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10,  but 3</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chemeClr val="tx1"/>
                </a:solidFill>
                <a:effectLst/>
                <a:uLnTx/>
                <a:uFillTx/>
                <a:latin typeface="Symbol" panose="05050102010706020507" pitchFamily="18" charset="2"/>
                <a:ea typeface="PMingLiU"/>
                <a:cs typeface="Times New Roman" panose="02020603050405020304" pitchFamily="18" charset="0"/>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6 = 9. </a:t>
            </a:r>
            <a:endParaRPr kumimoji="1" lang="zh-TW"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sp>
        <p:nvSpPr>
          <p:cNvPr id="8" name="矩形 7"/>
          <p:cNvSpPr/>
          <p:nvPr/>
        </p:nvSpPr>
        <p:spPr>
          <a:xfrm>
            <a:off x="6781800" y="2895600"/>
            <a:ext cx="1982788" cy="461963"/>
          </a:xfrm>
          <a:prstGeom prst="rect">
            <a:avLst/>
          </a:prstGeom>
          <a:solidFill>
            <a:srgbClr val="FFFF99"/>
          </a:solidFill>
          <a:ln>
            <a:solidFill>
              <a:schemeClr val="tx1"/>
            </a:solidFill>
          </a:ln>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400" b="1" i="0" u="none" strike="noStrike" kern="0" cap="none" spc="0" normalizeH="0" baseline="0" noProof="0" dirty="0">
                <a:ln>
                  <a:noFill/>
                </a:ln>
                <a:solidFill>
                  <a:srgbClr val="008000"/>
                </a:solidFill>
                <a:effectLst/>
                <a:uLnTx/>
                <a:uFillTx/>
                <a:latin typeface="Arial" panose="020B0604020202020204"/>
                <a:ea typeface="PMingLiU"/>
                <a:cs typeface="+mn-cs"/>
              </a:rPr>
              <a:t>Exercise: </a:t>
            </a: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13</a:t>
            </a:r>
            <a:endPar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charRg st="0" end="44"/>
                                            </p:txEl>
                                          </p:spTgt>
                                        </p:tgtEl>
                                        <p:attrNameLst>
                                          <p:attrName>style.visibility</p:attrName>
                                        </p:attrNameLst>
                                      </p:cBhvr>
                                      <p:to>
                                        <p:strVal val="visible"/>
                                      </p:to>
                                    </p:set>
                                    <p:anim calcmode="lin" valueType="num">
                                      <p:cBhvr additive="base">
                                        <p:cTn id="7" dur="500" fill="hold"/>
                                        <p:tgtEl>
                                          <p:spTgt spid="6">
                                            <p:txEl>
                                              <p:charRg st="0" end="4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charRg st="0" end="4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charRg st="44" end="77"/>
                                            </p:txEl>
                                          </p:spTgt>
                                        </p:tgtEl>
                                        <p:attrNameLst>
                                          <p:attrName>style.visibility</p:attrName>
                                        </p:attrNameLst>
                                      </p:cBhvr>
                                      <p:to>
                                        <p:strVal val="visible"/>
                                      </p:to>
                                    </p:set>
                                    <p:anim calcmode="lin" valueType="num">
                                      <p:cBhvr additive="base">
                                        <p:cTn id="13" dur="500" fill="hold"/>
                                        <p:tgtEl>
                                          <p:spTgt spid="6">
                                            <p:txEl>
                                              <p:charRg st="44" end="7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charRg st="44" end="7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xEl>
                                              <p:charRg st="0" end="45"/>
                                            </p:txEl>
                                          </p:spTgt>
                                        </p:tgtEl>
                                        <p:attrNameLst>
                                          <p:attrName>style.visibility</p:attrName>
                                        </p:attrNameLst>
                                      </p:cBhvr>
                                      <p:to>
                                        <p:strVal val="visible"/>
                                      </p:to>
                                    </p:set>
                                    <p:anim calcmode="lin" valueType="num">
                                      <p:cBhvr additive="base">
                                        <p:cTn id="37" dur="500" fill="hold"/>
                                        <p:tgtEl>
                                          <p:spTgt spid="10">
                                            <p:txEl>
                                              <p:charRg st="0" end="4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charRg st="0" end="4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投影片編號版面配置區 3"/>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3" name="矩形 2"/>
          <p:cNvSpPr/>
          <p:nvPr/>
        </p:nvSpPr>
        <p:spPr>
          <a:xfrm>
            <a:off x="381000" y="381000"/>
            <a:ext cx="8610600" cy="1384300"/>
          </a:xfrm>
          <a:prstGeom prst="rect">
            <a:avLst/>
          </a:prstGeom>
          <a:ln>
            <a:solidFill>
              <a:schemeClr val="tx1"/>
            </a:solidFill>
          </a:ln>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00CC"/>
                </a:solidFill>
                <a:effectLst/>
                <a:uLnTx/>
                <a:uFillTx/>
                <a:latin typeface="Arial" panose="020B0604020202020204"/>
                <a:ea typeface="PMingLiU"/>
                <a:cs typeface="+mn-cs"/>
              </a:rPr>
              <a:t>Corollary 2</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If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is a connected planar simple graph, then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has a vertex of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degree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5.</a:t>
            </a:r>
            <a:endPar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endParaRPr>
          </a:p>
        </p:txBody>
      </p:sp>
      <p:sp>
        <p:nvSpPr>
          <p:cNvPr id="4" name="Rectangle 2"/>
          <p:cNvSpPr txBox="1">
            <a:spLocks noChangeArrowheads="1"/>
          </p:cNvSpPr>
          <p:nvPr/>
        </p:nvSpPr>
        <p:spPr bwMode="auto">
          <a:xfrm>
            <a:off x="423863" y="1981200"/>
            <a:ext cx="625475" cy="511175"/>
          </a:xfrm>
          <a:prstGeom prst="rect">
            <a:avLst/>
          </a:prstGeom>
          <a:noFill/>
          <a:ln w="9525">
            <a:noFill/>
            <a:miter lim="800000"/>
          </a:ln>
        </p:spPr>
        <p:txBody>
          <a:bodyPr/>
          <a:lstStyle/>
          <a:p>
            <a:pPr marL="342900" marR="0" indent="-342900" defTabSz="914400" eaLnBrk="0" hangingPunct="0">
              <a:spcBef>
                <a:spcPct val="20000"/>
              </a:spcBef>
              <a:buClr>
                <a:schemeClr val="bg2"/>
              </a:buClr>
              <a:buSzPct val="75000"/>
              <a:buFont typeface="Wingdings" panose="05000000000000000000" pitchFamily="2" charset="2"/>
              <a:buNone/>
              <a:defRPr/>
            </a:pPr>
            <a:r>
              <a:rPr kumimoji="1" lang="en-US" altLang="zh-TW" sz="2400" b="1" kern="0" cap="none" spc="0" normalizeH="0" baseline="0" noProof="0" dirty="0" err="1">
                <a:solidFill>
                  <a:srgbClr val="008000"/>
                </a:solidFill>
                <a:latin typeface="+mn-lt"/>
                <a:ea typeface="+mn-ea"/>
                <a:cs typeface="+mn-cs"/>
                <a:sym typeface="Symbol" panose="05050102010706020507" pitchFamily="18" charset="2"/>
              </a:rPr>
              <a:t>pf</a:t>
            </a:r>
            <a:r>
              <a:rPr kumimoji="1" lang="en-US" altLang="zh-TW" sz="2400" b="1" kern="0" cap="none" spc="0" normalizeH="0" baseline="0" noProof="0" dirty="0">
                <a:solidFill>
                  <a:srgbClr val="008000"/>
                </a:solidFill>
                <a:latin typeface="+mn-lt"/>
                <a:ea typeface="+mn-ea"/>
                <a:cs typeface="+mn-cs"/>
                <a:sym typeface="Symbol" panose="05050102010706020507" pitchFamily="18" charset="2"/>
              </a:rPr>
              <a:t>:</a:t>
            </a:r>
            <a:endParaRPr kumimoji="1" lang="en-US" altLang="zh-TW" sz="2400" kern="0" cap="none" spc="0" normalizeH="0" baseline="0" noProof="0" dirty="0">
              <a:solidFill>
                <a:srgbClr val="008000"/>
              </a:solidFill>
              <a:latin typeface="+mn-lt"/>
              <a:ea typeface="+mn-ea"/>
              <a:cs typeface="+mn-cs"/>
              <a:sym typeface="Symbol" panose="05050102010706020507" pitchFamily="18" charset="2"/>
            </a:endParaRPr>
          </a:p>
        </p:txBody>
      </p:sp>
      <p:sp>
        <p:nvSpPr>
          <p:cNvPr id="5" name="Text Box 4"/>
          <p:cNvSpPr txBox="1"/>
          <p:nvPr/>
        </p:nvSpPr>
        <p:spPr>
          <a:xfrm>
            <a:off x="1143000" y="1981200"/>
            <a:ext cx="7467600" cy="463550"/>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2400" dirty="0"/>
              <a:t>Let </a:t>
            </a:r>
            <a:r>
              <a:rPr lang="en-US" altLang="zh-TW" sz="2400" i="1" dirty="0">
                <a:latin typeface="Times New Roman" panose="02020603050405020304" pitchFamily="18" charset="0"/>
              </a:rPr>
              <a:t>G</a:t>
            </a:r>
            <a:r>
              <a:rPr lang="en-US" altLang="zh-TW" sz="2400" dirty="0"/>
              <a:t> be a planar graph of </a:t>
            </a:r>
            <a:r>
              <a:rPr lang="en-US" altLang="zh-TW" sz="2400" i="1" dirty="0">
                <a:latin typeface="Times New Roman" panose="02020603050405020304" pitchFamily="18" charset="0"/>
              </a:rPr>
              <a:t>v</a:t>
            </a:r>
            <a:r>
              <a:rPr lang="en-US" altLang="zh-TW" sz="2400" dirty="0"/>
              <a:t> vertices and </a:t>
            </a:r>
            <a:r>
              <a:rPr lang="en-US" altLang="zh-TW" sz="2400" i="1" dirty="0">
                <a:latin typeface="Times New Roman" panose="02020603050405020304" pitchFamily="18" charset="0"/>
              </a:rPr>
              <a:t>e</a:t>
            </a:r>
            <a:r>
              <a:rPr lang="en-US" altLang="zh-TW" sz="2400" dirty="0"/>
              <a:t> edges.</a:t>
            </a:r>
            <a:endParaRPr lang="en-US" altLang="zh-TW" sz="2400" dirty="0">
              <a:latin typeface="Times New Roman" panose="02020603050405020304" pitchFamily="18" charset="0"/>
            </a:endParaRPr>
          </a:p>
        </p:txBody>
      </p:sp>
      <p:sp>
        <p:nvSpPr>
          <p:cNvPr id="6" name="Text Box 9"/>
          <p:cNvSpPr txBox="1">
            <a:spLocks noChangeArrowheads="1"/>
          </p:cNvSpPr>
          <p:nvPr/>
        </p:nvSpPr>
        <p:spPr bwMode="auto">
          <a:xfrm>
            <a:off x="1219200" y="2590800"/>
            <a:ext cx="4052888" cy="463550"/>
          </a:xfrm>
          <a:prstGeom prst="rect">
            <a:avLst/>
          </a:prstGeom>
          <a:noFill/>
          <a:ln w="38100">
            <a:noFill/>
            <a:miter lim="800000"/>
            <a:tailEnd type="none" w="lg" len="lg"/>
          </a:ln>
          <a:effectLst/>
        </p:spPr>
        <p:txBody>
          <a:bodyPr wrap="none" lIns="90000" tIns="46800" rIns="90000" bIns="46800">
            <a:spAutoFit/>
          </a:bodyPr>
          <a:lstStyle/>
          <a:p>
            <a:pPr marR="0" defTabSz="914400">
              <a:buClrTx/>
              <a:buSzTx/>
              <a:buFontTx/>
              <a:buNone/>
              <a:defRPr/>
            </a:pPr>
            <a:r>
              <a:rPr kumimoji="1" lang="en-US" altLang="zh-TW" sz="2400" kern="1200" cap="none" spc="0" normalizeH="0" baseline="0" noProof="0" dirty="0">
                <a:latin typeface="Arial" panose="020B0604020202020204" pitchFamily="34" charset="0"/>
                <a:ea typeface="PMingLiU" pitchFamily="18" charset="-120"/>
                <a:cs typeface="+mn-cs"/>
                <a:sym typeface="Symbol" panose="05050102010706020507" pitchFamily="18" charset="2"/>
              </a:rPr>
              <a:t>If </a:t>
            </a:r>
            <a:r>
              <a:rPr kumimoji="1" lang="en-US" altLang="zh-TW" sz="2400"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deg(</a:t>
            </a:r>
            <a:r>
              <a:rPr kumimoji="1" lang="en-US" altLang="zh-TW" sz="2400" i="1"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v</a:t>
            </a:r>
            <a:r>
              <a:rPr kumimoji="1" lang="en-US" altLang="zh-TW" sz="2400"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a:t>
            </a:r>
            <a:r>
              <a:rPr kumimoji="1" lang="en-US" altLang="zh-TW" sz="2400" kern="1200" cap="none" spc="0" normalizeH="0" baseline="0" noProof="0" dirty="0">
                <a:latin typeface="Arial" panose="020B0604020202020204" pitchFamily="34" charset="0"/>
                <a:ea typeface="PMingLiU" pitchFamily="18" charset="-120"/>
                <a:cs typeface="+mn-cs"/>
                <a:sym typeface="Symbol" panose="05050102010706020507" pitchFamily="18" charset="2"/>
              </a:rPr>
              <a:t>  </a:t>
            </a:r>
            <a:r>
              <a:rPr kumimoji="1" lang="en-US" altLang="zh-TW" sz="2400"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6</a:t>
            </a:r>
            <a:r>
              <a:rPr kumimoji="1" lang="en-US" altLang="zh-TW" sz="2400" kern="1200" cap="none" spc="0" normalizeH="0" baseline="0" noProof="0" dirty="0">
                <a:latin typeface="Arial" panose="020B0604020202020204" pitchFamily="34" charset="0"/>
                <a:ea typeface="PMingLiU" pitchFamily="18" charset="-120"/>
                <a:cs typeface="+mn-cs"/>
                <a:sym typeface="Symbol" panose="05050102010706020507" pitchFamily="18" charset="2"/>
              </a:rPr>
              <a:t> for every </a:t>
            </a:r>
            <a:r>
              <a:rPr kumimoji="1" lang="en-US" altLang="zh-TW" sz="2400" i="1" kern="1200" cap="none" spc="0" normalizeH="0" baseline="0" noProof="0" dirty="0" err="1">
                <a:latin typeface="Times New Roman" panose="02020603050405020304" pitchFamily="18" charset="0"/>
                <a:ea typeface="PMingLiU" pitchFamily="18" charset="-120"/>
                <a:cs typeface="+mn-cs"/>
                <a:sym typeface="Symbol" panose="05050102010706020507" pitchFamily="18" charset="2"/>
              </a:rPr>
              <a:t>v</a:t>
            </a:r>
            <a:r>
              <a:rPr kumimoji="1" lang="en-US" altLang="zh-TW" sz="2400" kern="1200" cap="none" spc="0" normalizeH="0" baseline="0" noProof="0" dirty="0" err="1">
                <a:latin typeface="Arial" panose="020B0604020202020204" pitchFamily="34" charset="0"/>
                <a:ea typeface="PMingLiU" pitchFamily="18" charset="-120"/>
                <a:cs typeface="+mn-cs"/>
                <a:sym typeface="Symbol" panose="05050102010706020507" pitchFamily="18" charset="2"/>
              </a:rPr>
              <a:t></a:t>
            </a:r>
            <a:r>
              <a:rPr kumimoji="1" lang="en-US" altLang="zh-TW" sz="2400" i="1" kern="1200" cap="none" spc="0" normalizeH="0" baseline="0" noProof="0" dirty="0" err="1">
                <a:latin typeface="Times New Roman" panose="02020603050405020304" pitchFamily="18" charset="0"/>
                <a:ea typeface="PMingLiU" pitchFamily="18" charset="-120"/>
                <a:cs typeface="+mn-cs"/>
                <a:sym typeface="Symbol" panose="05050102010706020507" pitchFamily="18" charset="2"/>
              </a:rPr>
              <a:t>V</a:t>
            </a:r>
            <a:r>
              <a:rPr kumimoji="1" lang="en-US" altLang="zh-TW" sz="2400"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a:t>
            </a:r>
            <a:r>
              <a:rPr kumimoji="1" lang="en-US" altLang="zh-TW" sz="2400" i="1"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G</a:t>
            </a:r>
            <a:r>
              <a:rPr kumimoji="1" lang="en-US" altLang="zh-TW" sz="2400"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a:t>
            </a:r>
            <a:endParaRPr kumimoji="1" lang="en-US" altLang="zh-TW" sz="2400" kern="1200" cap="none" spc="0" normalizeH="0" baseline="0" noProof="0" dirty="0">
              <a:effectLst>
                <a:outerShdw blurRad="38100" dist="38100" dir="2700000" algn="tl">
                  <a:srgbClr val="000000"/>
                </a:outerShdw>
              </a:effectLst>
              <a:latin typeface="Times New Roman" panose="02020603050405020304" pitchFamily="18" charset="0"/>
              <a:ea typeface="PMingLiU" pitchFamily="18" charset="-120"/>
              <a:cs typeface="+mn-cs"/>
            </a:endParaRPr>
          </a:p>
        </p:txBody>
      </p:sp>
      <p:sp>
        <p:nvSpPr>
          <p:cNvPr id="7" name="Text Box 10"/>
          <p:cNvSpPr txBox="1">
            <a:spLocks noChangeArrowheads="1"/>
          </p:cNvSpPr>
          <p:nvPr/>
        </p:nvSpPr>
        <p:spPr bwMode="auto">
          <a:xfrm>
            <a:off x="1905000" y="4724400"/>
            <a:ext cx="3932238" cy="457200"/>
          </a:xfrm>
          <a:prstGeom prst="rect">
            <a:avLst/>
          </a:prstGeom>
          <a:noFill/>
          <a:ln w="38100">
            <a:noFill/>
            <a:miter lim="800000"/>
            <a:tailEnd type="none" w="lg" len="lg"/>
          </a:ln>
          <a:effectLst/>
        </p:spPr>
        <p:txBody>
          <a:bodyPr wrap="none" lIns="90000" tIns="46800" rIns="90000" bIns="46800">
            <a:spAutoFit/>
          </a:bodyPr>
          <a:lstStyle/>
          <a:p>
            <a:pPr marR="0" defTabSz="914400">
              <a:buClrTx/>
              <a:buSzTx/>
              <a:buFontTx/>
              <a:buNone/>
              <a:defRPr/>
            </a:pPr>
            <a:r>
              <a:rPr kumimoji="1" lang="en-US" altLang="zh-TW" sz="2400"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2</a:t>
            </a:r>
            <a:r>
              <a:rPr kumimoji="1" lang="en-US" altLang="zh-TW" sz="2400" i="1"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e</a:t>
            </a:r>
            <a:r>
              <a:rPr kumimoji="1" lang="en-US" altLang="zh-TW" sz="2400"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  6</a:t>
            </a:r>
            <a:r>
              <a:rPr kumimoji="1" lang="en-US" altLang="zh-TW" sz="2400" i="1" kern="1200" cap="none" spc="0" normalizeH="0" baseline="0" noProof="0" dirty="0">
                <a:latin typeface="Times New Roman" panose="02020603050405020304" pitchFamily="18" charset="0"/>
                <a:ea typeface="PMingLiU" pitchFamily="18" charset="-120"/>
                <a:cs typeface="+mn-cs"/>
                <a:sym typeface="Symbol" panose="05050102010706020507" pitchFamily="18" charset="2"/>
              </a:rPr>
              <a:t>v</a:t>
            </a:r>
            <a:r>
              <a:rPr kumimoji="1" lang="en-US" altLang="zh-TW" sz="2400" kern="1200" cap="none" spc="0" normalizeH="0" baseline="0" noProof="0" dirty="0">
                <a:latin typeface="Arial" panose="020B0604020202020204" pitchFamily="34" charset="0"/>
                <a:ea typeface="PMingLiU" pitchFamily="18" charset="-120"/>
                <a:cs typeface="+mn-cs"/>
                <a:sym typeface="Symbol" panose="05050102010706020507" pitchFamily="18" charset="2"/>
              </a:rPr>
              <a:t>          (</a:t>
            </a:r>
            <a:r>
              <a:rPr kumimoji="1" lang="en-US" altLang="zh-TW" sz="2400" i="1" kern="0" cap="none" spc="0" normalizeH="0" baseline="0" noProof="0" dirty="0">
                <a:latin typeface="Times New Roman" panose="02020603050405020304" pitchFamily="18" charset="0"/>
                <a:ea typeface="PMingLiU"/>
                <a:cs typeface="Times New Roman" panose="02020603050405020304" pitchFamily="18" charset="0"/>
              </a:rPr>
              <a:t>e </a:t>
            </a:r>
            <a:r>
              <a:rPr kumimoji="1" lang="en-US" altLang="zh-TW" sz="2400" kern="0" cap="none" spc="0" normalizeH="0" baseline="0" noProof="0" dirty="0">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400" kern="0" cap="none" spc="0" normalizeH="0" baseline="0" noProof="0" dirty="0">
                <a:latin typeface="Times New Roman" panose="02020603050405020304" pitchFamily="18" charset="0"/>
                <a:ea typeface="PMingLiU"/>
                <a:cs typeface="Times New Roman" panose="02020603050405020304" pitchFamily="18" charset="0"/>
              </a:rPr>
              <a:t> 3</a:t>
            </a:r>
            <a:r>
              <a:rPr kumimoji="1" lang="en-US" altLang="zh-TW" sz="2400" i="1" kern="0" cap="none" spc="0" normalizeH="0" baseline="0" noProof="0" dirty="0">
                <a:latin typeface="Times New Roman" panose="02020603050405020304" pitchFamily="18" charset="0"/>
                <a:ea typeface="PMingLiU"/>
                <a:cs typeface="Times New Roman" panose="02020603050405020304" pitchFamily="18" charset="0"/>
              </a:rPr>
              <a:t>v </a:t>
            </a:r>
            <a:r>
              <a:rPr kumimoji="1" lang="en-US" altLang="zh-TW" sz="2400" kern="0" cap="none" spc="0" normalizeH="0" baseline="0" noProof="0" dirty="0">
                <a:latin typeface="Symbol" panose="05050102010706020507" pitchFamily="18" charset="2"/>
                <a:ea typeface="PMingLiU"/>
                <a:cs typeface="Times New Roman" panose="02020603050405020304" pitchFamily="18" charset="0"/>
              </a:rPr>
              <a:t>-</a:t>
            </a:r>
            <a:r>
              <a:rPr kumimoji="1" lang="en-US" altLang="zh-TW" sz="2400" kern="0" cap="none" spc="0" normalizeH="0" baseline="0" noProof="0" dirty="0">
                <a:latin typeface="Times New Roman" panose="02020603050405020304" pitchFamily="18" charset="0"/>
                <a:ea typeface="PMingLiU"/>
                <a:cs typeface="Times New Roman" panose="02020603050405020304" pitchFamily="18" charset="0"/>
              </a:rPr>
              <a:t> 6)</a:t>
            </a:r>
            <a:endParaRPr kumimoji="1" lang="en-US" altLang="zh-TW" sz="2400" kern="1200" cap="none" spc="0" normalizeH="0" baseline="0" noProof="0" dirty="0">
              <a:effectLst>
                <a:outerShdw blurRad="38100" dist="38100" dir="2700000" algn="tl">
                  <a:srgbClr val="000000"/>
                </a:outerShdw>
              </a:effectLst>
              <a:latin typeface="Times New Roman" panose="02020603050405020304" pitchFamily="18" charset="0"/>
              <a:ea typeface="PMingLiU" pitchFamily="18" charset="-120"/>
              <a:cs typeface="+mn-cs"/>
              <a:sym typeface="Symbol" panose="05050102010706020507" pitchFamily="18" charset="2"/>
            </a:endParaRPr>
          </a:p>
        </p:txBody>
      </p:sp>
      <p:sp>
        <p:nvSpPr>
          <p:cNvPr id="9" name="Text Box 13"/>
          <p:cNvSpPr txBox="1">
            <a:spLocks noChangeArrowheads="1"/>
          </p:cNvSpPr>
          <p:nvPr/>
        </p:nvSpPr>
        <p:spPr bwMode="auto">
          <a:xfrm>
            <a:off x="1371600" y="3352800"/>
            <a:ext cx="484188" cy="463550"/>
          </a:xfrm>
          <a:prstGeom prst="rect">
            <a:avLst/>
          </a:prstGeom>
          <a:noFill/>
          <a:ln w="38100">
            <a:noFill/>
            <a:miter lim="800000"/>
            <a:tailEnd type="none" w="lg" len="lg"/>
          </a:ln>
          <a:effectLst/>
        </p:spPr>
        <p:txBody>
          <a:bodyPr wrap="none" lIns="90000" tIns="46800" rIns="90000" bIns="46800">
            <a:spAutoFit/>
          </a:bodyPr>
          <a:lstStyle/>
          <a:p>
            <a:pPr marR="0" defTabSz="914400">
              <a:buClrTx/>
              <a:buSzTx/>
              <a:buFontTx/>
              <a:buNone/>
              <a:defRPr/>
            </a:pPr>
            <a:r>
              <a:rPr kumimoji="1" lang="en-US" altLang="zh-TW" sz="2400" kern="1200" cap="none" spc="0" normalizeH="0" baseline="0" noProof="0" dirty="0">
                <a:latin typeface="Arial" panose="020B0604020202020204" pitchFamily="34" charset="0"/>
                <a:ea typeface="PMingLiU" pitchFamily="18" charset="-120"/>
                <a:cs typeface="+mn-cs"/>
                <a:sym typeface="Symbol" panose="05050102010706020507" pitchFamily="18" charset="2"/>
              </a:rPr>
              <a:t></a:t>
            </a:r>
            <a:endParaRPr kumimoji="1" lang="en-US" altLang="zh-TW" sz="2400" kern="1200" cap="none" spc="0" normalizeH="0" baseline="0" noProof="0" dirty="0">
              <a:effectLst>
                <a:outerShdw blurRad="38100" dist="38100" dir="2700000" algn="tl">
                  <a:srgbClr val="000000"/>
                </a:outerShdw>
              </a:effectLst>
              <a:latin typeface="Times New Roman" panose="02020603050405020304" pitchFamily="18" charset="0"/>
              <a:ea typeface="PMingLiU" pitchFamily="18" charset="-120"/>
              <a:cs typeface="+mn-cs"/>
              <a:sym typeface="Symbol" panose="05050102010706020507" pitchFamily="18" charset="2"/>
            </a:endParaRPr>
          </a:p>
        </p:txBody>
      </p:sp>
      <p:sp>
        <p:nvSpPr>
          <p:cNvPr id="10" name="Text Box 14"/>
          <p:cNvSpPr txBox="1">
            <a:spLocks noChangeArrowheads="1"/>
          </p:cNvSpPr>
          <p:nvPr/>
        </p:nvSpPr>
        <p:spPr bwMode="auto">
          <a:xfrm>
            <a:off x="1447800" y="4800600"/>
            <a:ext cx="484188" cy="463550"/>
          </a:xfrm>
          <a:prstGeom prst="rect">
            <a:avLst/>
          </a:prstGeom>
          <a:noFill/>
          <a:ln w="38100">
            <a:noFill/>
            <a:miter lim="800000"/>
            <a:tailEnd type="none" w="lg" len="lg"/>
          </a:ln>
          <a:effectLst/>
        </p:spPr>
        <p:txBody>
          <a:bodyPr wrap="none" lIns="90000" tIns="46800" rIns="90000" bIns="46800">
            <a:spAutoFit/>
          </a:bodyPr>
          <a:lstStyle/>
          <a:p>
            <a:pPr marR="0" defTabSz="914400">
              <a:buClrTx/>
              <a:buSzTx/>
              <a:buFontTx/>
              <a:buNone/>
              <a:defRPr/>
            </a:pPr>
            <a:r>
              <a:rPr kumimoji="1" lang="en-US" altLang="zh-TW" sz="2400" kern="1200" cap="none" spc="0" normalizeH="0" baseline="0" noProof="0" dirty="0">
                <a:latin typeface="Arial" panose="020B0604020202020204" pitchFamily="34" charset="0"/>
                <a:ea typeface="PMingLiU" pitchFamily="18" charset="-120"/>
                <a:cs typeface="+mn-cs"/>
                <a:sym typeface="Symbol" panose="05050102010706020507" pitchFamily="18" charset="2"/>
              </a:rPr>
              <a:t></a:t>
            </a:r>
            <a:endParaRPr kumimoji="1" lang="en-US" altLang="zh-TW" sz="2400" kern="1200" cap="none" spc="0" normalizeH="0" baseline="0" noProof="0" dirty="0">
              <a:effectLst>
                <a:outerShdw blurRad="38100" dist="38100" dir="2700000" algn="tl">
                  <a:srgbClr val="000000"/>
                </a:outerShdw>
              </a:effectLst>
              <a:latin typeface="Times New Roman" panose="02020603050405020304" pitchFamily="18" charset="0"/>
              <a:ea typeface="PMingLiU" pitchFamily="18" charset="-120"/>
              <a:cs typeface="+mn-cs"/>
              <a:sym typeface="Symbol" panose="05050102010706020507" pitchFamily="18" charset="2"/>
            </a:endParaRPr>
          </a:p>
        </p:txBody>
      </p:sp>
      <p:graphicFrame>
        <p:nvGraphicFramePr>
          <p:cNvPr id="2" name="对象 1"/>
          <p:cNvGraphicFramePr/>
          <p:nvPr/>
        </p:nvGraphicFramePr>
        <p:xfrm>
          <a:off x="1812290" y="3267075"/>
          <a:ext cx="3706495" cy="1245235"/>
        </p:xfrm>
        <a:graphic>
          <a:graphicData uri="http://schemas.openxmlformats.org/presentationml/2006/ole">
            <mc:AlternateContent xmlns:mc="http://schemas.openxmlformats.org/markup-compatibility/2006">
              <mc:Choice xmlns:v="urn:schemas-microsoft-com:vml" Requires="v">
                <p:oleObj spid="_x0000_s11" name="" r:id="rId1" imgW="3706495" imgH="1245235" progId="Equation.KSEE3">
                  <p:embed/>
                </p:oleObj>
              </mc:Choice>
              <mc:Fallback>
                <p:oleObj name="" r:id="rId1" imgW="3706495" imgH="1245235" progId="Equation.KSEE3">
                  <p:embed/>
                  <p:pic>
                    <p:nvPicPr>
                      <p:cNvPr id="0" name="图片 10"/>
                      <p:cNvPicPr/>
                      <p:nvPr/>
                    </p:nvPicPr>
                    <p:blipFill>
                      <a:blip r:embed="rId2"/>
                      <a:stretch>
                        <a:fillRect/>
                      </a:stretch>
                    </p:blipFill>
                    <p:spPr>
                      <a:xfrm>
                        <a:off x="1812290" y="3267075"/>
                        <a:ext cx="3706495" cy="124523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charRg st="0" end="4"/>
                                            </p:txEl>
                                          </p:spTgt>
                                        </p:tgtEl>
                                        <p:attrNameLst>
                                          <p:attrName>style.visibility</p:attrName>
                                        </p:attrNameLst>
                                      </p:cBhvr>
                                      <p:to>
                                        <p:strVal val="visible"/>
                                      </p:to>
                                    </p:set>
                                    <p:anim calcmode="lin" valueType="num">
                                      <p:cBhvr additive="base">
                                        <p:cTn id="7" dur="500" fill="hold"/>
                                        <p:tgtEl>
                                          <p:spTgt spid="4">
                                            <p:txEl>
                                              <p:charRg st="0"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charRg st="0"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bldLvl="0" animBg="1"/>
      <p:bldP spid="9" grpId="0"/>
      <p:bldP spid="10"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投影片編號版面配置區 3"/>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矩形 4"/>
          <p:cNvSpPr/>
          <p:nvPr/>
        </p:nvSpPr>
        <p:spPr>
          <a:xfrm>
            <a:off x="304800" y="533400"/>
            <a:ext cx="8610600" cy="1809750"/>
          </a:xfrm>
          <a:prstGeom prst="rect">
            <a:avLst/>
          </a:prstGeom>
          <a:ln>
            <a:solidFill>
              <a:schemeClr val="tx1"/>
            </a:solidFill>
          </a:ln>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00CC"/>
                </a:solidFill>
                <a:effectLst/>
                <a:uLnTx/>
                <a:uFillTx/>
                <a:latin typeface="Arial" panose="020B0604020202020204"/>
                <a:ea typeface="PMingLiU"/>
                <a:cs typeface="+mn-cs"/>
              </a:rPr>
              <a:t>Corollary 3</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If a connected planar simple graph has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edges and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vertices with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sym typeface="Symbol" panose="05050102010706020507"/>
              </a:rPr>
              <a:t>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3</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and </a:t>
            </a:r>
            <a:r>
              <a:rPr kumimoji="1" lang="en-US" altLang="zh-TW" sz="2800" b="0" i="0" u="sng" strike="noStrike" kern="0" cap="none" spc="0" normalizeH="0" baseline="0" noProof="0" dirty="0">
                <a:ln>
                  <a:noFill/>
                </a:ln>
                <a:solidFill>
                  <a:srgbClr val="000000"/>
                </a:solidFill>
                <a:effectLst/>
                <a:uLnTx/>
                <a:uFillTx/>
                <a:latin typeface="Arial" panose="020B0604020202020204"/>
                <a:ea typeface="PMingLiU"/>
                <a:cs typeface="+mn-cs"/>
              </a:rPr>
              <a:t>no circuits of length three</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then  </a:t>
            </a:r>
            <a:r>
              <a:rPr kumimoji="1" lang="en-US" altLang="zh-TW" sz="28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e </a:t>
            </a:r>
            <a:r>
              <a:rPr kumimoji="1" lang="en-US" altLang="zh-TW" sz="2800" b="0" i="0"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800" b="0" i="0"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 2</a:t>
            </a:r>
            <a:r>
              <a:rPr kumimoji="1" lang="en-US" altLang="zh-TW" sz="2800" b="0" i="1"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rgbClr val="FF0000"/>
                </a:solidFill>
                <a:effectLst/>
                <a:uLnTx/>
                <a:uFillTx/>
                <a:latin typeface="Symbol" panose="05050102010706020507" pitchFamily="18" charset="2"/>
                <a:ea typeface="PMingLiU"/>
                <a:cs typeface="Times New Roman" panose="02020603050405020304" pitchFamily="18" charset="0"/>
              </a:rPr>
              <a:t>-</a:t>
            </a:r>
            <a:r>
              <a:rPr kumimoji="1" lang="en-US" altLang="zh-TW" sz="2800" b="0" i="0" u="none" strike="noStrike" kern="0" cap="none" spc="0" normalizeH="0" baseline="0" noProof="0" dirty="0">
                <a:ln>
                  <a:noFill/>
                </a:ln>
                <a:solidFill>
                  <a:srgbClr val="FF0000"/>
                </a:solidFill>
                <a:effectLst/>
                <a:uLnTx/>
                <a:uFillTx/>
                <a:latin typeface="Times New Roman" panose="02020603050405020304" pitchFamily="18" charset="0"/>
                <a:ea typeface="PMingLiU"/>
                <a:cs typeface="Times New Roman" panose="02020603050405020304" pitchFamily="18" charset="0"/>
              </a:rPr>
              <a:t> 4</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t>
            </a:r>
            <a:endPar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endParaRPr>
          </a:p>
        </p:txBody>
      </p:sp>
      <p:sp>
        <p:nvSpPr>
          <p:cNvPr id="6" name="矩形 5"/>
          <p:cNvSpPr/>
          <p:nvPr/>
        </p:nvSpPr>
        <p:spPr>
          <a:xfrm>
            <a:off x="304800" y="2590800"/>
            <a:ext cx="8064500" cy="5191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6:</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Show that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3,3</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is </a:t>
            </a:r>
            <a:r>
              <a:rPr kumimoji="1" lang="en-US" altLang="zh-TW" sz="2800" b="0" i="0" u="none" strike="noStrike" kern="0" cap="none" spc="0" normalizeH="0" baseline="0" noProof="0" dirty="0" err="1">
                <a:ln>
                  <a:noFill/>
                </a:ln>
                <a:solidFill>
                  <a:srgbClr val="000000"/>
                </a:solidFill>
                <a:effectLst/>
                <a:uLnTx/>
                <a:uFillTx/>
                <a:latin typeface="Arial" panose="020B0604020202020204"/>
                <a:ea typeface="PMingLiU"/>
                <a:cs typeface="+mn-cs"/>
              </a:rPr>
              <a:t>nonplanar</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by Cor. 3.</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 name="矩形 6"/>
          <p:cNvSpPr/>
          <p:nvPr/>
        </p:nvSpPr>
        <p:spPr>
          <a:xfrm>
            <a:off x="381000" y="3048000"/>
            <a:ext cx="7772400" cy="1373188"/>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 </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Because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3,3</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has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no circuits of length three, and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6,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9,  but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e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9 &gt; 2</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 </a:t>
            </a:r>
            <a:r>
              <a:rPr kumimoji="1" lang="en-US" altLang="zh-TW" sz="2800" b="0" i="0" u="none" strike="noStrike" kern="0" cap="none" spc="0" normalizeH="0" baseline="0" noProof="0" dirty="0">
                <a:ln>
                  <a:noFill/>
                </a:ln>
                <a:solidFill>
                  <a:schemeClr val="tx1"/>
                </a:solidFill>
                <a:effectLst/>
                <a:uLnTx/>
                <a:uFillTx/>
                <a:latin typeface="Symbol" panose="05050102010706020507" pitchFamily="18" charset="2"/>
                <a:ea typeface="PMingLiU"/>
                <a:cs typeface="Times New Roman" panose="02020603050405020304" pitchFamily="18" charset="0"/>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4.</a:t>
            </a:r>
            <a:endParaRPr kumimoji="1" lang="zh-TW"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grpSp>
        <p:nvGrpSpPr>
          <p:cNvPr id="2" name="群組 86"/>
          <p:cNvGrpSpPr/>
          <p:nvPr/>
        </p:nvGrpSpPr>
        <p:grpSpPr>
          <a:xfrm>
            <a:off x="457200" y="4495800"/>
            <a:ext cx="2278063" cy="1616075"/>
            <a:chOff x="762000" y="4191000"/>
            <a:chExt cx="2278092" cy="1616135"/>
          </a:xfrm>
        </p:grpSpPr>
        <p:sp>
          <p:nvSpPr>
            <p:cNvPr id="72711" name="Line 34"/>
            <p:cNvSpPr/>
            <p:nvPr/>
          </p:nvSpPr>
          <p:spPr>
            <a:xfrm>
              <a:off x="1905375" y="4587168"/>
              <a:ext cx="0" cy="792229"/>
            </a:xfrm>
            <a:prstGeom prst="line">
              <a:avLst/>
            </a:prstGeom>
            <a:ln w="25400" cap="flat" cmpd="sng">
              <a:solidFill>
                <a:schemeClr val="tx1"/>
              </a:solidFill>
              <a:prstDash val="solid"/>
              <a:headEnd type="none" w="med" len="med"/>
              <a:tailEnd type="none" w="med" len="med"/>
            </a:ln>
          </p:spPr>
        </p:sp>
        <p:sp>
          <p:nvSpPr>
            <p:cNvPr id="72712" name="Line 25"/>
            <p:cNvSpPr/>
            <p:nvPr/>
          </p:nvSpPr>
          <p:spPr>
            <a:xfrm rot="120000">
              <a:off x="935989" y="4603532"/>
              <a:ext cx="52866" cy="830698"/>
            </a:xfrm>
            <a:prstGeom prst="line">
              <a:avLst/>
            </a:prstGeom>
            <a:ln w="25400" cap="flat" cmpd="sng">
              <a:solidFill>
                <a:schemeClr val="tx1"/>
              </a:solidFill>
              <a:prstDash val="solid"/>
              <a:headEnd type="none" w="med" len="med"/>
              <a:tailEnd type="none" w="med" len="med"/>
            </a:ln>
          </p:spPr>
        </p:sp>
        <p:sp>
          <p:nvSpPr>
            <p:cNvPr id="72713" name="Line 23"/>
            <p:cNvSpPr/>
            <p:nvPr/>
          </p:nvSpPr>
          <p:spPr>
            <a:xfrm rot="-120000" flipH="1">
              <a:off x="1907094" y="4599028"/>
              <a:ext cx="1008602" cy="763306"/>
            </a:xfrm>
            <a:prstGeom prst="line">
              <a:avLst/>
            </a:prstGeom>
            <a:ln w="25400" cap="flat" cmpd="sng">
              <a:solidFill>
                <a:schemeClr val="tx1"/>
              </a:solidFill>
              <a:prstDash val="solid"/>
              <a:headEnd type="none" w="med" len="med"/>
              <a:tailEnd type="none" w="med" len="med"/>
            </a:ln>
          </p:spPr>
        </p:sp>
        <p:sp>
          <p:nvSpPr>
            <p:cNvPr id="72714" name="Line 25"/>
            <p:cNvSpPr/>
            <p:nvPr/>
          </p:nvSpPr>
          <p:spPr>
            <a:xfrm rot="120000">
              <a:off x="977582" y="4664388"/>
              <a:ext cx="940436" cy="729624"/>
            </a:xfrm>
            <a:prstGeom prst="line">
              <a:avLst/>
            </a:prstGeom>
            <a:ln w="25400" cap="flat" cmpd="sng">
              <a:solidFill>
                <a:schemeClr val="tx1"/>
              </a:solidFill>
              <a:prstDash val="solid"/>
              <a:headEnd type="none" w="med" len="med"/>
              <a:tailEnd type="none" w="med" len="med"/>
            </a:ln>
          </p:spPr>
        </p:sp>
        <p:sp>
          <p:nvSpPr>
            <p:cNvPr id="72715" name="Line 34"/>
            <p:cNvSpPr/>
            <p:nvPr/>
          </p:nvSpPr>
          <p:spPr>
            <a:xfrm>
              <a:off x="2902070" y="4627632"/>
              <a:ext cx="0" cy="792229"/>
            </a:xfrm>
            <a:prstGeom prst="line">
              <a:avLst/>
            </a:prstGeom>
            <a:ln w="25400" cap="flat" cmpd="sng">
              <a:solidFill>
                <a:schemeClr val="tx1"/>
              </a:solidFill>
              <a:prstDash val="solid"/>
              <a:headEnd type="none" w="med" len="med"/>
              <a:tailEnd type="none" w="med" len="med"/>
            </a:ln>
          </p:spPr>
        </p:sp>
        <p:sp>
          <p:nvSpPr>
            <p:cNvPr id="72716" name="Line 25"/>
            <p:cNvSpPr/>
            <p:nvPr/>
          </p:nvSpPr>
          <p:spPr>
            <a:xfrm>
              <a:off x="914400" y="4572000"/>
              <a:ext cx="1905000" cy="838200"/>
            </a:xfrm>
            <a:prstGeom prst="line">
              <a:avLst/>
            </a:prstGeom>
            <a:ln w="25400" cap="flat" cmpd="sng">
              <a:solidFill>
                <a:schemeClr val="tx1"/>
              </a:solidFill>
              <a:prstDash val="solid"/>
              <a:headEnd type="none" w="med" len="med"/>
              <a:tailEnd type="none" w="med" len="med"/>
            </a:ln>
          </p:spPr>
        </p:sp>
        <p:sp>
          <p:nvSpPr>
            <p:cNvPr id="72717" name="AutoShape 11"/>
            <p:cNvSpPr/>
            <p:nvPr/>
          </p:nvSpPr>
          <p:spPr>
            <a:xfrm>
              <a:off x="871800" y="4547436"/>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2718" name="AutoShape 11"/>
            <p:cNvSpPr/>
            <p:nvPr/>
          </p:nvSpPr>
          <p:spPr>
            <a:xfrm>
              <a:off x="2811782" y="4571783"/>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2719" name="AutoShape 11"/>
            <p:cNvSpPr/>
            <p:nvPr/>
          </p:nvSpPr>
          <p:spPr>
            <a:xfrm>
              <a:off x="920870" y="5348783"/>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2720" name="AutoShape 11"/>
            <p:cNvSpPr/>
            <p:nvPr/>
          </p:nvSpPr>
          <p:spPr>
            <a:xfrm>
              <a:off x="1835270" y="5343660"/>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2721" name="AutoShape 11"/>
            <p:cNvSpPr/>
            <p:nvPr/>
          </p:nvSpPr>
          <p:spPr>
            <a:xfrm>
              <a:off x="2811782" y="5348783"/>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2722" name="Line 23"/>
            <p:cNvSpPr/>
            <p:nvPr/>
          </p:nvSpPr>
          <p:spPr>
            <a:xfrm rot="-120000" flipH="1" flipV="1">
              <a:off x="1919382" y="4586177"/>
              <a:ext cx="961833" cy="841062"/>
            </a:xfrm>
            <a:prstGeom prst="line">
              <a:avLst/>
            </a:prstGeom>
            <a:ln w="25400" cap="flat" cmpd="sng">
              <a:solidFill>
                <a:schemeClr val="tx1"/>
              </a:solidFill>
              <a:prstDash val="solid"/>
              <a:headEnd type="none" w="med" len="med"/>
              <a:tailEnd type="none" w="med" len="med"/>
            </a:ln>
          </p:spPr>
        </p:sp>
        <p:sp>
          <p:nvSpPr>
            <p:cNvPr id="72723" name="AutoShape 11"/>
            <p:cNvSpPr/>
            <p:nvPr/>
          </p:nvSpPr>
          <p:spPr>
            <a:xfrm>
              <a:off x="1847463" y="4572288"/>
              <a:ext cx="118800" cy="118800"/>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2724" name="Line 25"/>
            <p:cNvSpPr/>
            <p:nvPr/>
          </p:nvSpPr>
          <p:spPr>
            <a:xfrm flipV="1">
              <a:off x="990600" y="4602900"/>
              <a:ext cx="918423" cy="807299"/>
            </a:xfrm>
            <a:prstGeom prst="line">
              <a:avLst/>
            </a:prstGeom>
            <a:ln w="25400" cap="flat" cmpd="sng">
              <a:solidFill>
                <a:schemeClr val="tx1"/>
              </a:solidFill>
              <a:prstDash val="solid"/>
              <a:headEnd type="none" w="med" len="med"/>
              <a:tailEnd type="none" w="med" len="med"/>
            </a:ln>
          </p:spPr>
        </p:sp>
        <p:sp>
          <p:nvSpPr>
            <p:cNvPr id="23" name="矩形 22"/>
            <p:cNvSpPr/>
            <p:nvPr/>
          </p:nvSpPr>
          <p:spPr>
            <a:xfrm>
              <a:off x="762000" y="4191000"/>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4" name="矩形 23"/>
            <p:cNvSpPr/>
            <p:nvPr/>
          </p:nvSpPr>
          <p:spPr>
            <a:xfrm>
              <a:off x="838201" y="5410245"/>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5" name="矩形 24"/>
            <p:cNvSpPr/>
            <p:nvPr/>
          </p:nvSpPr>
          <p:spPr>
            <a:xfrm>
              <a:off x="1752613" y="4191000"/>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6" name="矩形 25"/>
            <p:cNvSpPr/>
            <p:nvPr/>
          </p:nvSpPr>
          <p:spPr>
            <a:xfrm>
              <a:off x="2743225" y="4191000"/>
              <a:ext cx="29686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c</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7" name="矩形 26"/>
            <p:cNvSpPr/>
            <p:nvPr/>
          </p:nvSpPr>
          <p:spPr>
            <a:xfrm>
              <a:off x="1752613" y="5410245"/>
              <a:ext cx="29686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e</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8" name="矩形 27"/>
            <p:cNvSpPr/>
            <p:nvPr/>
          </p:nvSpPr>
          <p:spPr>
            <a:xfrm>
              <a:off x="2743225" y="5410245"/>
              <a:ext cx="254003"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f</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2731" name="Line 25"/>
            <p:cNvSpPr/>
            <p:nvPr/>
          </p:nvSpPr>
          <p:spPr>
            <a:xfrm flipV="1">
              <a:off x="990603" y="4572012"/>
              <a:ext cx="1905025" cy="838232"/>
            </a:xfrm>
            <a:prstGeom prst="line">
              <a:avLst/>
            </a:prstGeom>
            <a:ln w="25400"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charRg st="0" end="98"/>
                                            </p:txEl>
                                          </p:spTgt>
                                        </p:tgtEl>
                                        <p:attrNameLst>
                                          <p:attrName>style.visibility</p:attrName>
                                        </p:attrNameLst>
                                      </p:cBhvr>
                                      <p:to>
                                        <p:strVal val="visible"/>
                                      </p:to>
                                    </p:set>
                                    <p:anim calcmode="lin" valueType="num">
                                      <p:cBhvr additive="base">
                                        <p:cTn id="17" dur="500" fill="hold"/>
                                        <p:tgtEl>
                                          <p:spTgt spid="7">
                                            <p:txEl>
                                              <p:charRg st="0" end="9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charRg st="0" end="9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投影片編號版面配置區 1"/>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3" name="矩形 2"/>
          <p:cNvSpPr/>
          <p:nvPr/>
        </p:nvSpPr>
        <p:spPr>
          <a:xfrm>
            <a:off x="381000" y="381000"/>
            <a:ext cx="4579938" cy="584200"/>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3200" b="1" i="0" u="sng" strike="noStrike" kern="0" cap="none" spc="0" normalizeH="0" baseline="0" noProof="0" dirty="0" err="1">
                <a:ln>
                  <a:noFill/>
                </a:ln>
                <a:solidFill>
                  <a:srgbClr val="008000"/>
                </a:solidFill>
                <a:effectLst/>
                <a:uLnTx/>
                <a:uFillTx/>
                <a:latin typeface="Arial" panose="020B0604020202020204"/>
                <a:ea typeface="PMingLiU"/>
                <a:cs typeface="+mn-cs"/>
              </a:rPr>
              <a:t>Kuratowski’s</a:t>
            </a:r>
            <a:r>
              <a:rPr kumimoji="1" lang="en-US" altLang="zh-TW" sz="3200" b="1" i="0" u="sng" strike="noStrike" kern="0" cap="none" spc="0" normalizeH="0" baseline="0" noProof="0" dirty="0">
                <a:ln>
                  <a:noFill/>
                </a:ln>
                <a:solidFill>
                  <a:srgbClr val="008000"/>
                </a:solidFill>
                <a:effectLst/>
                <a:uLnTx/>
                <a:uFillTx/>
                <a:latin typeface="Arial" panose="020B0604020202020204"/>
                <a:ea typeface="PMingLiU"/>
                <a:cs typeface="+mn-cs"/>
              </a:rPr>
              <a:t> Theorem</a:t>
            </a:r>
            <a:endParaRPr kumimoji="1" lang="en-US" altLang="zh-TW" sz="3200" b="1" i="0" u="sng" strike="noStrike" kern="0" cap="none" spc="0" normalizeH="0" baseline="0" noProof="0" dirty="0">
              <a:ln>
                <a:noFill/>
              </a:ln>
              <a:solidFill>
                <a:srgbClr val="008000"/>
              </a:solidFill>
              <a:effectLst/>
              <a:uLnTx/>
              <a:uFillTx/>
              <a:latin typeface="Arial" panose="020B0604020202020204"/>
              <a:ea typeface="PMingLiU"/>
              <a:cs typeface="+mn-cs"/>
            </a:endParaRPr>
          </a:p>
        </p:txBody>
      </p:sp>
      <p:sp>
        <p:nvSpPr>
          <p:cNvPr id="4" name="矩形 3"/>
          <p:cNvSpPr/>
          <p:nvPr/>
        </p:nvSpPr>
        <p:spPr>
          <a:xfrm>
            <a:off x="304800" y="990600"/>
            <a:ext cx="8504238" cy="1373188"/>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If a graph is planar, so will be any graph obtained by removing an edge </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u</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and adding a new vertex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w</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together with edges </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u</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w</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and </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w</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2" name="群組 26"/>
          <p:cNvGrpSpPr/>
          <p:nvPr/>
        </p:nvGrpSpPr>
        <p:grpSpPr>
          <a:xfrm>
            <a:off x="4114800" y="2590800"/>
            <a:ext cx="354013" cy="457200"/>
            <a:chOff x="1524000" y="2895600"/>
            <a:chExt cx="354598" cy="457200"/>
          </a:xfrm>
        </p:grpSpPr>
        <p:sp>
          <p:nvSpPr>
            <p:cNvPr id="73742" name="AutoShape 11"/>
            <p:cNvSpPr/>
            <p:nvPr/>
          </p:nvSpPr>
          <p:spPr>
            <a:xfrm>
              <a:off x="1606656" y="3234004"/>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22" name="矩形 21"/>
            <p:cNvSpPr/>
            <p:nvPr/>
          </p:nvSpPr>
          <p:spPr bwMode="auto">
            <a:xfrm>
              <a:off x="1524000" y="2895600"/>
              <a:ext cx="354598"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w</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grpSp>
        <p:nvGrpSpPr>
          <p:cNvPr id="5" name="群組 27"/>
          <p:cNvGrpSpPr/>
          <p:nvPr/>
        </p:nvGrpSpPr>
        <p:grpSpPr>
          <a:xfrm>
            <a:off x="3124200" y="2590800"/>
            <a:ext cx="2278063" cy="474663"/>
            <a:chOff x="533400" y="2895600"/>
            <a:chExt cx="2278063" cy="475219"/>
          </a:xfrm>
        </p:grpSpPr>
        <p:sp>
          <p:nvSpPr>
            <p:cNvPr id="73737" name="Line 25"/>
            <p:cNvSpPr/>
            <p:nvPr/>
          </p:nvSpPr>
          <p:spPr>
            <a:xfrm>
              <a:off x="685798" y="3312000"/>
              <a:ext cx="1981202" cy="0"/>
            </a:xfrm>
            <a:prstGeom prst="line">
              <a:avLst/>
            </a:prstGeom>
            <a:ln w="25400" cap="flat" cmpd="sng">
              <a:solidFill>
                <a:schemeClr val="tx1"/>
              </a:solidFill>
              <a:prstDash val="solid"/>
              <a:headEnd type="none" w="med" len="med"/>
              <a:tailEnd type="none" w="med" len="med"/>
            </a:ln>
          </p:spPr>
        </p:sp>
        <p:sp>
          <p:nvSpPr>
            <p:cNvPr id="73738" name="AutoShape 11"/>
            <p:cNvSpPr/>
            <p:nvPr/>
          </p:nvSpPr>
          <p:spPr>
            <a:xfrm>
              <a:off x="643199" y="3252023"/>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3739" name="AutoShape 11"/>
            <p:cNvSpPr/>
            <p:nvPr/>
          </p:nvSpPr>
          <p:spPr>
            <a:xfrm>
              <a:off x="2583155" y="3234004"/>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20" name="矩形 19"/>
            <p:cNvSpPr/>
            <p:nvPr/>
          </p:nvSpPr>
          <p:spPr bwMode="auto">
            <a:xfrm>
              <a:off x="533400" y="2895600"/>
              <a:ext cx="311150" cy="39734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u</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3" name="矩形 22"/>
            <p:cNvSpPr/>
            <p:nvPr/>
          </p:nvSpPr>
          <p:spPr bwMode="auto">
            <a:xfrm>
              <a:off x="2514600" y="2895600"/>
              <a:ext cx="296863" cy="39734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v</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sp>
        <p:nvSpPr>
          <p:cNvPr id="29" name="矩形 28"/>
          <p:cNvSpPr/>
          <p:nvPr/>
        </p:nvSpPr>
        <p:spPr>
          <a:xfrm>
            <a:off x="279400" y="3429000"/>
            <a:ext cx="8864600" cy="523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Such an operation is called an </a:t>
            </a:r>
            <a:r>
              <a:rPr kumimoji="1" lang="en-US" altLang="zh-TW" sz="2800" b="0" i="0" u="none" strike="noStrike" kern="0" cap="none" spc="0" normalizeH="0" baseline="0" noProof="0" dirty="0">
                <a:ln>
                  <a:noFill/>
                </a:ln>
                <a:solidFill>
                  <a:srgbClr val="0000CC"/>
                </a:solidFill>
                <a:effectLst/>
                <a:uLnTx/>
                <a:uFillTx/>
                <a:latin typeface="Arial" panose="020B0604020202020204"/>
                <a:ea typeface="PMingLiU"/>
                <a:cs typeface="+mn-cs"/>
              </a:rPr>
              <a:t>elementary subdivision</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0" name="矩形 29"/>
          <p:cNvSpPr/>
          <p:nvPr/>
        </p:nvSpPr>
        <p:spPr>
          <a:xfrm>
            <a:off x="279400" y="4114800"/>
            <a:ext cx="8864600" cy="1373188"/>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Two graphs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1</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1</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E</a:t>
            </a:r>
            <a:r>
              <a:rPr kumimoji="1" lang="en-US" altLang="zh-TW" sz="28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1</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G</a:t>
            </a:r>
            <a:r>
              <a:rPr kumimoji="1" lang="en-US" altLang="zh-TW" sz="28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2</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V</a:t>
            </a:r>
            <a:r>
              <a:rPr kumimoji="1" lang="en-US" altLang="zh-TW" sz="28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2</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E</a:t>
            </a:r>
            <a:r>
              <a:rPr kumimoji="1" lang="en-US" altLang="zh-TW" sz="28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2</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are called </a:t>
            </a:r>
            <a:r>
              <a:rPr kumimoji="1" lang="en-US" altLang="zh-TW" sz="2800" b="0" i="0" u="none" strike="noStrike" kern="0" cap="none" spc="0" normalizeH="0" baseline="0" noProof="0" dirty="0" err="1">
                <a:ln>
                  <a:noFill/>
                </a:ln>
                <a:solidFill>
                  <a:srgbClr val="0000CC"/>
                </a:solidFill>
                <a:effectLst/>
                <a:uLnTx/>
                <a:uFillTx/>
                <a:latin typeface="Arial" panose="020B0604020202020204"/>
                <a:ea typeface="PMingLiU"/>
                <a:cs typeface="+mn-cs"/>
              </a:rPr>
              <a:t>homeomorphic</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if they can be obtained from the same graph by a sequence of elementary </a:t>
            </a:r>
            <a:r>
              <a:rPr kumimoji="1" lang="en-US" altLang="zh-TW" sz="2800" b="0" i="0" u="none" strike="noStrike" kern="0" cap="none" spc="0" normalizeH="0" baseline="0" noProof="0" dirty="0" err="1">
                <a:ln>
                  <a:noFill/>
                </a:ln>
                <a:solidFill>
                  <a:srgbClr val="000000"/>
                </a:solidFill>
                <a:effectLst/>
                <a:uLnTx/>
                <a:uFillTx/>
                <a:latin typeface="Arial" panose="020B0604020202020204"/>
                <a:ea typeface="PMingLiU"/>
                <a:cs typeface="+mn-cs"/>
              </a:rPr>
              <a:t>subdivisons</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投影片編號版面配置區 1"/>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3" name="矩形 2"/>
          <p:cNvSpPr/>
          <p:nvPr/>
        </p:nvSpPr>
        <p:spPr>
          <a:xfrm>
            <a:off x="381000" y="457200"/>
            <a:ext cx="8382000" cy="94615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7:</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Show that the graphs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and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are all </a:t>
            </a:r>
            <a:r>
              <a:rPr kumimoji="1" lang="en-US" altLang="zh-TW" sz="2800" b="0" i="0" u="none" strike="noStrike" kern="0" cap="none" spc="0" normalizeH="0" baseline="0" noProof="0" dirty="0" err="1">
                <a:ln>
                  <a:noFill/>
                </a:ln>
                <a:solidFill>
                  <a:srgbClr val="000000"/>
                </a:solidFill>
                <a:effectLst/>
                <a:uLnTx/>
                <a:uFillTx/>
                <a:latin typeface="Arial" panose="020B0604020202020204"/>
                <a:ea typeface="PMingLiU"/>
                <a:cs typeface="+mn-cs"/>
              </a:rPr>
              <a:t>homeomorphic</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74756" name="群組 71"/>
          <p:cNvGrpSpPr/>
          <p:nvPr/>
        </p:nvGrpSpPr>
        <p:grpSpPr>
          <a:xfrm>
            <a:off x="533400" y="1600200"/>
            <a:ext cx="2201863" cy="1616075"/>
            <a:chOff x="533400" y="1600200"/>
            <a:chExt cx="2201892" cy="1616135"/>
          </a:xfrm>
        </p:grpSpPr>
        <p:sp>
          <p:nvSpPr>
            <p:cNvPr id="74806" name="Line 34"/>
            <p:cNvSpPr/>
            <p:nvPr/>
          </p:nvSpPr>
          <p:spPr>
            <a:xfrm flipH="1">
              <a:off x="1600560" y="1981200"/>
              <a:ext cx="456840" cy="807353"/>
            </a:xfrm>
            <a:prstGeom prst="line">
              <a:avLst/>
            </a:prstGeom>
            <a:ln w="25400" cap="flat" cmpd="sng">
              <a:solidFill>
                <a:schemeClr val="tx1"/>
              </a:solidFill>
              <a:prstDash val="solid"/>
              <a:headEnd type="none" w="med" len="med"/>
              <a:tailEnd type="none" w="med" len="med"/>
            </a:ln>
          </p:spPr>
        </p:sp>
        <p:sp>
          <p:nvSpPr>
            <p:cNvPr id="74807" name="Line 25"/>
            <p:cNvSpPr/>
            <p:nvPr/>
          </p:nvSpPr>
          <p:spPr>
            <a:xfrm rot="120000" flipH="1">
              <a:off x="683389" y="2050708"/>
              <a:ext cx="369563" cy="800038"/>
            </a:xfrm>
            <a:prstGeom prst="line">
              <a:avLst/>
            </a:prstGeom>
            <a:ln w="25400" cap="flat" cmpd="sng">
              <a:solidFill>
                <a:schemeClr val="tx1"/>
              </a:solidFill>
              <a:prstDash val="solid"/>
              <a:headEnd type="none" w="med" len="med"/>
              <a:tailEnd type="none" w="med" len="med"/>
            </a:ln>
          </p:spPr>
        </p:sp>
        <p:sp>
          <p:nvSpPr>
            <p:cNvPr id="74808" name="Line 25"/>
            <p:cNvSpPr/>
            <p:nvPr/>
          </p:nvSpPr>
          <p:spPr>
            <a:xfrm rot="120000">
              <a:off x="1053666" y="2066940"/>
              <a:ext cx="559652" cy="742876"/>
            </a:xfrm>
            <a:prstGeom prst="line">
              <a:avLst/>
            </a:prstGeom>
            <a:ln w="25400" cap="flat" cmpd="sng">
              <a:solidFill>
                <a:schemeClr val="tx1"/>
              </a:solidFill>
              <a:prstDash val="solid"/>
              <a:headEnd type="none" w="med" len="med"/>
              <a:tailEnd type="none" w="med" len="med"/>
            </a:ln>
          </p:spPr>
        </p:sp>
        <p:sp>
          <p:nvSpPr>
            <p:cNvPr id="74809" name="AutoShape 11"/>
            <p:cNvSpPr/>
            <p:nvPr/>
          </p:nvSpPr>
          <p:spPr>
            <a:xfrm>
              <a:off x="990600" y="19812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810" name="AutoShape 11"/>
            <p:cNvSpPr/>
            <p:nvPr/>
          </p:nvSpPr>
          <p:spPr>
            <a:xfrm>
              <a:off x="616068" y="275794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811" name="AutoShape 11"/>
            <p:cNvSpPr/>
            <p:nvPr/>
          </p:nvSpPr>
          <p:spPr>
            <a:xfrm>
              <a:off x="1530456" y="2752817"/>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812" name="AutoShape 11"/>
            <p:cNvSpPr/>
            <p:nvPr/>
          </p:nvSpPr>
          <p:spPr>
            <a:xfrm>
              <a:off x="2506955" y="275794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813" name="Line 23"/>
            <p:cNvSpPr/>
            <p:nvPr/>
          </p:nvSpPr>
          <p:spPr>
            <a:xfrm rot="-120000" flipH="1" flipV="1">
              <a:off x="2070858" y="2048324"/>
              <a:ext cx="506453" cy="780103"/>
            </a:xfrm>
            <a:prstGeom prst="line">
              <a:avLst/>
            </a:prstGeom>
            <a:ln w="25400" cap="flat" cmpd="sng">
              <a:solidFill>
                <a:schemeClr val="tx1"/>
              </a:solidFill>
              <a:prstDash val="solid"/>
              <a:headEnd type="none" w="med" len="med"/>
              <a:tailEnd type="none" w="med" len="med"/>
            </a:ln>
          </p:spPr>
        </p:sp>
        <p:sp>
          <p:nvSpPr>
            <p:cNvPr id="74814" name="AutoShape 11"/>
            <p:cNvSpPr/>
            <p:nvPr/>
          </p:nvSpPr>
          <p:spPr>
            <a:xfrm>
              <a:off x="1981200" y="19812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815" name="Line 25"/>
            <p:cNvSpPr/>
            <p:nvPr/>
          </p:nvSpPr>
          <p:spPr>
            <a:xfrm flipV="1">
              <a:off x="685800" y="2057399"/>
              <a:ext cx="1371600" cy="731069"/>
            </a:xfrm>
            <a:prstGeom prst="line">
              <a:avLst/>
            </a:prstGeom>
            <a:ln w="25400" cap="flat" cmpd="sng">
              <a:solidFill>
                <a:schemeClr val="tx1"/>
              </a:solidFill>
              <a:prstDash val="solid"/>
              <a:headEnd type="none" w="med" len="med"/>
              <a:tailEnd type="none" w="med" len="med"/>
            </a:ln>
          </p:spPr>
        </p:sp>
        <p:sp>
          <p:nvSpPr>
            <p:cNvPr id="19" name="矩形 18"/>
            <p:cNvSpPr/>
            <p:nvPr/>
          </p:nvSpPr>
          <p:spPr bwMode="auto">
            <a:xfrm>
              <a:off x="914405" y="1600200"/>
              <a:ext cx="312742"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0" name="矩形 19"/>
            <p:cNvSpPr/>
            <p:nvPr/>
          </p:nvSpPr>
          <p:spPr bwMode="auto">
            <a:xfrm>
              <a:off x="533400" y="2819445"/>
              <a:ext cx="29686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c</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1" name="矩形 20"/>
            <p:cNvSpPr/>
            <p:nvPr/>
          </p:nvSpPr>
          <p:spPr bwMode="auto">
            <a:xfrm>
              <a:off x="1905018" y="1600200"/>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3" name="矩形 22"/>
            <p:cNvSpPr/>
            <p:nvPr/>
          </p:nvSpPr>
          <p:spPr bwMode="auto">
            <a:xfrm>
              <a:off x="1447812" y="2819445"/>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4" name="矩形 23"/>
            <p:cNvSpPr/>
            <p:nvPr/>
          </p:nvSpPr>
          <p:spPr bwMode="auto">
            <a:xfrm>
              <a:off x="2438425" y="2819445"/>
              <a:ext cx="29686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e</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grpSp>
        <p:nvGrpSpPr>
          <p:cNvPr id="74757" name="群組 72"/>
          <p:cNvGrpSpPr/>
          <p:nvPr/>
        </p:nvGrpSpPr>
        <p:grpSpPr>
          <a:xfrm>
            <a:off x="3429000" y="1600200"/>
            <a:ext cx="2201863" cy="1616075"/>
            <a:chOff x="3429000" y="1600200"/>
            <a:chExt cx="2201892" cy="1616135"/>
          </a:xfrm>
        </p:grpSpPr>
        <p:sp>
          <p:nvSpPr>
            <p:cNvPr id="74785" name="Line 34"/>
            <p:cNvSpPr/>
            <p:nvPr/>
          </p:nvSpPr>
          <p:spPr>
            <a:xfrm flipH="1">
              <a:off x="4496160" y="1981200"/>
              <a:ext cx="456840" cy="807353"/>
            </a:xfrm>
            <a:prstGeom prst="line">
              <a:avLst/>
            </a:prstGeom>
            <a:ln w="25400" cap="flat" cmpd="sng">
              <a:solidFill>
                <a:schemeClr val="tx1"/>
              </a:solidFill>
              <a:prstDash val="solid"/>
              <a:headEnd type="none" w="med" len="med"/>
              <a:tailEnd type="none" w="med" len="med"/>
            </a:ln>
          </p:spPr>
        </p:sp>
        <p:sp>
          <p:nvSpPr>
            <p:cNvPr id="74786" name="Line 25"/>
            <p:cNvSpPr/>
            <p:nvPr/>
          </p:nvSpPr>
          <p:spPr>
            <a:xfrm rot="120000" flipH="1">
              <a:off x="3578989" y="2050708"/>
              <a:ext cx="369563" cy="800038"/>
            </a:xfrm>
            <a:prstGeom prst="line">
              <a:avLst/>
            </a:prstGeom>
            <a:ln w="25400" cap="flat" cmpd="sng">
              <a:solidFill>
                <a:schemeClr val="tx1"/>
              </a:solidFill>
              <a:prstDash val="solid"/>
              <a:headEnd type="none" w="med" len="med"/>
              <a:tailEnd type="none" w="med" len="med"/>
            </a:ln>
          </p:spPr>
        </p:sp>
        <p:sp>
          <p:nvSpPr>
            <p:cNvPr id="74787" name="Line 25"/>
            <p:cNvSpPr/>
            <p:nvPr/>
          </p:nvSpPr>
          <p:spPr>
            <a:xfrm rot="120000">
              <a:off x="3949266" y="2066940"/>
              <a:ext cx="559652" cy="742876"/>
            </a:xfrm>
            <a:prstGeom prst="line">
              <a:avLst/>
            </a:prstGeom>
            <a:ln w="25400" cap="flat" cmpd="sng">
              <a:solidFill>
                <a:schemeClr val="tx1"/>
              </a:solidFill>
              <a:prstDash val="solid"/>
              <a:headEnd type="none" w="med" len="med"/>
              <a:tailEnd type="none" w="med" len="med"/>
            </a:ln>
          </p:spPr>
        </p:sp>
        <p:sp>
          <p:nvSpPr>
            <p:cNvPr id="74788" name="AutoShape 11"/>
            <p:cNvSpPr/>
            <p:nvPr/>
          </p:nvSpPr>
          <p:spPr>
            <a:xfrm>
              <a:off x="3886200" y="19812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89" name="AutoShape 11"/>
            <p:cNvSpPr/>
            <p:nvPr/>
          </p:nvSpPr>
          <p:spPr>
            <a:xfrm>
              <a:off x="3511668" y="275794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90" name="AutoShape 11"/>
            <p:cNvSpPr/>
            <p:nvPr/>
          </p:nvSpPr>
          <p:spPr>
            <a:xfrm>
              <a:off x="4426056" y="2752817"/>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91" name="AutoShape 11"/>
            <p:cNvSpPr/>
            <p:nvPr/>
          </p:nvSpPr>
          <p:spPr>
            <a:xfrm>
              <a:off x="5402555" y="275794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92" name="Line 23"/>
            <p:cNvSpPr/>
            <p:nvPr/>
          </p:nvSpPr>
          <p:spPr>
            <a:xfrm rot="-120000" flipH="1" flipV="1">
              <a:off x="4966458" y="2048324"/>
              <a:ext cx="506453" cy="780103"/>
            </a:xfrm>
            <a:prstGeom prst="line">
              <a:avLst/>
            </a:prstGeom>
            <a:ln w="25400" cap="flat" cmpd="sng">
              <a:solidFill>
                <a:schemeClr val="tx1"/>
              </a:solidFill>
              <a:prstDash val="solid"/>
              <a:headEnd type="none" w="med" len="med"/>
              <a:tailEnd type="none" w="med" len="med"/>
            </a:ln>
          </p:spPr>
        </p:sp>
        <p:sp>
          <p:nvSpPr>
            <p:cNvPr id="74793" name="AutoShape 11"/>
            <p:cNvSpPr/>
            <p:nvPr/>
          </p:nvSpPr>
          <p:spPr>
            <a:xfrm>
              <a:off x="4876800" y="19812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94" name="Line 25"/>
            <p:cNvSpPr/>
            <p:nvPr/>
          </p:nvSpPr>
          <p:spPr>
            <a:xfrm flipV="1">
              <a:off x="3581400" y="2057399"/>
              <a:ext cx="1371600" cy="731069"/>
            </a:xfrm>
            <a:prstGeom prst="line">
              <a:avLst/>
            </a:prstGeom>
            <a:ln w="25400" cap="flat" cmpd="sng">
              <a:solidFill>
                <a:schemeClr val="tx1"/>
              </a:solidFill>
              <a:prstDash val="solid"/>
              <a:headEnd type="none" w="med" len="med"/>
              <a:tailEnd type="none" w="med" len="med"/>
            </a:ln>
          </p:spPr>
        </p:sp>
        <p:sp>
          <p:nvSpPr>
            <p:cNvPr id="36" name="矩形 35"/>
            <p:cNvSpPr/>
            <p:nvPr/>
          </p:nvSpPr>
          <p:spPr bwMode="auto">
            <a:xfrm>
              <a:off x="3810005" y="1600200"/>
              <a:ext cx="312742"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7" name="矩形 36"/>
            <p:cNvSpPr/>
            <p:nvPr/>
          </p:nvSpPr>
          <p:spPr bwMode="auto">
            <a:xfrm>
              <a:off x="3429000" y="2819445"/>
              <a:ext cx="29686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c</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8" name="矩形 37"/>
            <p:cNvSpPr/>
            <p:nvPr/>
          </p:nvSpPr>
          <p:spPr bwMode="auto">
            <a:xfrm>
              <a:off x="4800618" y="1600200"/>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9" name="矩形 38"/>
            <p:cNvSpPr/>
            <p:nvPr/>
          </p:nvSpPr>
          <p:spPr bwMode="auto">
            <a:xfrm>
              <a:off x="4343412" y="2819445"/>
              <a:ext cx="311154"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0" name="矩形 39"/>
            <p:cNvSpPr/>
            <p:nvPr/>
          </p:nvSpPr>
          <p:spPr bwMode="auto">
            <a:xfrm>
              <a:off x="5334025" y="2819445"/>
              <a:ext cx="296867"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e</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4800" name="AutoShape 11"/>
            <p:cNvSpPr/>
            <p:nvPr/>
          </p:nvSpPr>
          <p:spPr>
            <a:xfrm>
              <a:off x="3733800" y="2319604"/>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801" name="AutoShape 11"/>
            <p:cNvSpPr/>
            <p:nvPr/>
          </p:nvSpPr>
          <p:spPr>
            <a:xfrm>
              <a:off x="3919802" y="25146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802" name="AutoShape 11"/>
            <p:cNvSpPr/>
            <p:nvPr/>
          </p:nvSpPr>
          <p:spPr>
            <a:xfrm>
              <a:off x="4453202" y="22098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44" name="矩形 43"/>
            <p:cNvSpPr/>
            <p:nvPr/>
          </p:nvSpPr>
          <p:spPr bwMode="auto">
            <a:xfrm>
              <a:off x="3497264" y="2114569"/>
              <a:ext cx="312741"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f</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5" name="矩形 44"/>
            <p:cNvSpPr/>
            <p:nvPr/>
          </p:nvSpPr>
          <p:spPr bwMode="auto">
            <a:xfrm>
              <a:off x="3886206" y="2495583"/>
              <a:ext cx="312742"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46" name="矩形 45"/>
            <p:cNvSpPr/>
            <p:nvPr/>
          </p:nvSpPr>
          <p:spPr bwMode="auto">
            <a:xfrm>
              <a:off x="4343412" y="1885961"/>
              <a:ext cx="312742"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h</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grpSp>
        <p:nvGrpSpPr>
          <p:cNvPr id="74758" name="群組 73"/>
          <p:cNvGrpSpPr/>
          <p:nvPr/>
        </p:nvGrpSpPr>
        <p:grpSpPr>
          <a:xfrm>
            <a:off x="6248400" y="1600200"/>
            <a:ext cx="2217738" cy="1616075"/>
            <a:chOff x="6248400" y="1600200"/>
            <a:chExt cx="2217738" cy="1616135"/>
          </a:xfrm>
        </p:grpSpPr>
        <p:sp>
          <p:nvSpPr>
            <p:cNvPr id="67" name="矩形 66"/>
            <p:cNvSpPr/>
            <p:nvPr/>
          </p:nvSpPr>
          <p:spPr bwMode="auto">
            <a:xfrm>
              <a:off x="7162800" y="1885961"/>
              <a:ext cx="312738"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err="1">
                  <a:ln>
                    <a:noFill/>
                  </a:ln>
                  <a:solidFill>
                    <a:srgbClr val="000000"/>
                  </a:solidFill>
                  <a:effectLst/>
                  <a:uLnTx/>
                  <a:uFillTx/>
                  <a:latin typeface="Times New Roman" panose="02020603050405020304" pitchFamily="18" charset="0"/>
                  <a:ea typeface="PMingLiU"/>
                  <a:cs typeface="Times New Roman" panose="02020603050405020304" pitchFamily="18" charset="0"/>
                </a:rPr>
                <a:t>i</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4763" name="Line 34"/>
            <p:cNvSpPr/>
            <p:nvPr/>
          </p:nvSpPr>
          <p:spPr>
            <a:xfrm flipH="1">
              <a:off x="7315560" y="1981200"/>
              <a:ext cx="456840" cy="807353"/>
            </a:xfrm>
            <a:prstGeom prst="line">
              <a:avLst/>
            </a:prstGeom>
            <a:ln w="25400" cap="flat" cmpd="sng">
              <a:solidFill>
                <a:schemeClr val="tx1"/>
              </a:solidFill>
              <a:prstDash val="solid"/>
              <a:headEnd type="none" w="med" len="med"/>
              <a:tailEnd type="none" w="med" len="med"/>
            </a:ln>
          </p:spPr>
        </p:sp>
        <p:sp>
          <p:nvSpPr>
            <p:cNvPr id="74764" name="Line 25"/>
            <p:cNvSpPr/>
            <p:nvPr/>
          </p:nvSpPr>
          <p:spPr>
            <a:xfrm rot="120000" flipH="1">
              <a:off x="6398389" y="2050708"/>
              <a:ext cx="369563" cy="800038"/>
            </a:xfrm>
            <a:prstGeom prst="line">
              <a:avLst/>
            </a:prstGeom>
            <a:ln w="25400" cap="flat" cmpd="sng">
              <a:solidFill>
                <a:schemeClr val="tx1"/>
              </a:solidFill>
              <a:prstDash val="solid"/>
              <a:headEnd type="none" w="med" len="med"/>
              <a:tailEnd type="none" w="med" len="med"/>
            </a:ln>
          </p:spPr>
        </p:sp>
        <p:sp>
          <p:nvSpPr>
            <p:cNvPr id="74765" name="Line 25"/>
            <p:cNvSpPr/>
            <p:nvPr/>
          </p:nvSpPr>
          <p:spPr>
            <a:xfrm rot="120000">
              <a:off x="6768666" y="2066940"/>
              <a:ext cx="559652" cy="742876"/>
            </a:xfrm>
            <a:prstGeom prst="line">
              <a:avLst/>
            </a:prstGeom>
            <a:ln w="25400" cap="flat" cmpd="sng">
              <a:solidFill>
                <a:schemeClr val="tx1"/>
              </a:solidFill>
              <a:prstDash val="solid"/>
              <a:headEnd type="none" w="med" len="med"/>
              <a:tailEnd type="none" w="med" len="med"/>
            </a:ln>
          </p:spPr>
        </p:sp>
        <p:sp>
          <p:nvSpPr>
            <p:cNvPr id="74766" name="AutoShape 11"/>
            <p:cNvSpPr/>
            <p:nvPr/>
          </p:nvSpPr>
          <p:spPr>
            <a:xfrm>
              <a:off x="6705600" y="19812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67" name="AutoShape 11"/>
            <p:cNvSpPr/>
            <p:nvPr/>
          </p:nvSpPr>
          <p:spPr>
            <a:xfrm>
              <a:off x="6331068" y="275794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68" name="AutoShape 11"/>
            <p:cNvSpPr/>
            <p:nvPr/>
          </p:nvSpPr>
          <p:spPr>
            <a:xfrm>
              <a:off x="7245456" y="2752817"/>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69" name="AutoShape 11"/>
            <p:cNvSpPr/>
            <p:nvPr/>
          </p:nvSpPr>
          <p:spPr>
            <a:xfrm>
              <a:off x="8221955" y="275794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70" name="Line 23"/>
            <p:cNvSpPr/>
            <p:nvPr/>
          </p:nvSpPr>
          <p:spPr>
            <a:xfrm rot="-120000" flipH="1" flipV="1">
              <a:off x="7785858" y="2048324"/>
              <a:ext cx="506453" cy="780103"/>
            </a:xfrm>
            <a:prstGeom prst="line">
              <a:avLst/>
            </a:prstGeom>
            <a:ln w="25400" cap="flat" cmpd="sng">
              <a:solidFill>
                <a:schemeClr val="tx1"/>
              </a:solidFill>
              <a:prstDash val="solid"/>
              <a:headEnd type="none" w="med" len="med"/>
              <a:tailEnd type="none" w="med" len="med"/>
            </a:ln>
          </p:spPr>
        </p:sp>
        <p:sp>
          <p:nvSpPr>
            <p:cNvPr id="74771" name="AutoShape 11"/>
            <p:cNvSpPr/>
            <p:nvPr/>
          </p:nvSpPr>
          <p:spPr>
            <a:xfrm>
              <a:off x="7696200" y="19812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72" name="Line 25"/>
            <p:cNvSpPr/>
            <p:nvPr/>
          </p:nvSpPr>
          <p:spPr>
            <a:xfrm flipV="1">
              <a:off x="6400800" y="2057399"/>
              <a:ext cx="1371600" cy="731069"/>
            </a:xfrm>
            <a:prstGeom prst="line">
              <a:avLst/>
            </a:prstGeom>
            <a:ln w="25400" cap="flat" cmpd="sng">
              <a:solidFill>
                <a:schemeClr val="tx1"/>
              </a:solidFill>
              <a:prstDash val="solid"/>
              <a:headEnd type="none" w="med" len="med"/>
              <a:tailEnd type="none" w="med" len="med"/>
            </a:ln>
          </p:spPr>
        </p:sp>
        <p:sp>
          <p:nvSpPr>
            <p:cNvPr id="57" name="矩形 56"/>
            <p:cNvSpPr/>
            <p:nvPr/>
          </p:nvSpPr>
          <p:spPr bwMode="auto">
            <a:xfrm>
              <a:off x="6629400" y="1600200"/>
              <a:ext cx="312738"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58" name="矩形 57"/>
            <p:cNvSpPr/>
            <p:nvPr/>
          </p:nvSpPr>
          <p:spPr bwMode="auto">
            <a:xfrm>
              <a:off x="6248400" y="2819445"/>
              <a:ext cx="296863"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c</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59" name="矩形 58"/>
            <p:cNvSpPr/>
            <p:nvPr/>
          </p:nvSpPr>
          <p:spPr bwMode="auto">
            <a:xfrm>
              <a:off x="7620000" y="1600200"/>
              <a:ext cx="311150"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b</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0" name="矩形 59"/>
            <p:cNvSpPr/>
            <p:nvPr/>
          </p:nvSpPr>
          <p:spPr bwMode="auto">
            <a:xfrm>
              <a:off x="7162800" y="2819445"/>
              <a:ext cx="311150"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d</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1" name="矩形 60"/>
            <p:cNvSpPr/>
            <p:nvPr/>
          </p:nvSpPr>
          <p:spPr bwMode="auto">
            <a:xfrm>
              <a:off x="8153400" y="2819445"/>
              <a:ext cx="296863" cy="39689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e</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4778" name="AutoShape 11"/>
            <p:cNvSpPr/>
            <p:nvPr/>
          </p:nvSpPr>
          <p:spPr>
            <a:xfrm>
              <a:off x="6739202" y="25146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79" name="AutoShape 11"/>
            <p:cNvSpPr/>
            <p:nvPr/>
          </p:nvSpPr>
          <p:spPr>
            <a:xfrm>
              <a:off x="7272602" y="22098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66" name="矩形 65"/>
            <p:cNvSpPr/>
            <p:nvPr/>
          </p:nvSpPr>
          <p:spPr bwMode="auto">
            <a:xfrm>
              <a:off x="6705600" y="2495583"/>
              <a:ext cx="312738"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4781" name="AutoShape 11"/>
            <p:cNvSpPr/>
            <p:nvPr/>
          </p:nvSpPr>
          <p:spPr>
            <a:xfrm>
              <a:off x="7848600" y="22098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4782" name="AutoShape 11"/>
            <p:cNvSpPr/>
            <p:nvPr/>
          </p:nvSpPr>
          <p:spPr>
            <a:xfrm>
              <a:off x="8034602" y="2472004"/>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0" name="矩形 69"/>
            <p:cNvSpPr/>
            <p:nvPr/>
          </p:nvSpPr>
          <p:spPr bwMode="auto">
            <a:xfrm>
              <a:off x="7924800" y="1981214"/>
              <a:ext cx="312738"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1" name="矩形 70"/>
            <p:cNvSpPr/>
            <p:nvPr/>
          </p:nvSpPr>
          <p:spPr bwMode="auto">
            <a:xfrm>
              <a:off x="8153400" y="2286025"/>
              <a:ext cx="312738" cy="39689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j</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sp>
        <p:nvSpPr>
          <p:cNvPr id="76" name="矩形 75"/>
          <p:cNvSpPr/>
          <p:nvPr/>
        </p:nvSpPr>
        <p:spPr>
          <a:xfrm>
            <a:off x="457200" y="3505200"/>
            <a:ext cx="6145213" cy="5191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all three can be obtained from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7" name="矩形 76"/>
          <p:cNvSpPr/>
          <p:nvPr/>
        </p:nvSpPr>
        <p:spPr>
          <a:xfrm>
            <a:off x="457200" y="4953000"/>
            <a:ext cx="7380288" cy="1382713"/>
          </a:xfrm>
          <a:prstGeom prst="rect">
            <a:avLst/>
          </a:prstGeom>
          <a:ln>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err="1">
                <a:ln>
                  <a:noFill/>
                </a:ln>
                <a:solidFill>
                  <a:srgbClr val="008000"/>
                </a:solidFill>
                <a:effectLst/>
                <a:uLnTx/>
                <a:uFillTx/>
                <a:latin typeface="Arial" panose="020B0604020202020204"/>
                <a:ea typeface="PMingLiU"/>
                <a:cs typeface="+mn-cs"/>
              </a:rPr>
              <a:t>Thm</a:t>
            </a: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 2. (</a:t>
            </a:r>
            <a:r>
              <a:rPr kumimoji="1" lang="en-US" altLang="zh-TW" sz="2800" b="1" i="0" u="none" strike="noStrike" kern="0" cap="none" spc="0" normalizeH="0" baseline="0" noProof="0" dirty="0" err="1">
                <a:ln>
                  <a:noFill/>
                </a:ln>
                <a:solidFill>
                  <a:srgbClr val="008000"/>
                </a:solidFill>
                <a:effectLst/>
                <a:uLnTx/>
                <a:uFillTx/>
                <a:latin typeface="Arial" panose="020B0604020202020204"/>
                <a:ea typeface="PMingLiU"/>
                <a:cs typeface="+mn-cs"/>
              </a:rPr>
              <a:t>Kuratowski</a:t>
            </a: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 Theorem)</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 graph is </a:t>
            </a:r>
            <a:r>
              <a:rPr kumimoji="1" lang="en-US" altLang="zh-TW" sz="2800" b="0" i="0" u="none" strike="noStrike" kern="0" cap="none" spc="0" normalizeH="0" baseline="0" noProof="0" dirty="0" err="1">
                <a:ln>
                  <a:noFill/>
                </a:ln>
                <a:solidFill>
                  <a:schemeClr val="tx1"/>
                </a:solidFill>
                <a:effectLst/>
                <a:uLnTx/>
                <a:uFillTx/>
                <a:latin typeface="Arial" panose="020B0604020202020204"/>
                <a:ea typeface="PMingLiU"/>
                <a:cs typeface="+mn-cs"/>
              </a:rPr>
              <a:t>nonplanar</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if and only if it contains</a:t>
            </a:r>
            <a:b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a subgraph </a:t>
            </a:r>
            <a:r>
              <a:rPr kumimoji="1" lang="en-US" altLang="zh-TW" sz="2800" b="0" i="0" u="none" strike="noStrike" kern="0" cap="none" spc="0" normalizeH="0" baseline="0" noProof="0" dirty="0" err="1">
                <a:ln>
                  <a:noFill/>
                </a:ln>
                <a:solidFill>
                  <a:schemeClr val="tx1"/>
                </a:solidFill>
                <a:effectLst/>
                <a:uLnTx/>
                <a:uFillTx/>
                <a:latin typeface="Arial" panose="020B0604020202020204"/>
                <a:ea typeface="PMingLiU"/>
                <a:cs typeface="+mn-cs"/>
              </a:rPr>
              <a:t>homeomorphic</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to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3,3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or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5</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8" name="矩形 77"/>
          <p:cNvSpPr/>
          <p:nvPr/>
        </p:nvSpPr>
        <p:spPr>
          <a:xfrm>
            <a:off x="457200" y="4267200"/>
            <a:ext cx="1982788" cy="461963"/>
          </a:xfrm>
          <a:prstGeom prst="rect">
            <a:avLst/>
          </a:prstGeom>
          <a:solidFill>
            <a:srgbClr val="FFFF99"/>
          </a:solidFill>
          <a:ln>
            <a:solidFill>
              <a:schemeClr val="tx1"/>
            </a:solidFill>
          </a:ln>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400" b="1" i="0" u="none" strike="noStrike" kern="0" cap="none" spc="0" normalizeH="0" baseline="0" noProof="0" dirty="0">
                <a:ln>
                  <a:noFill/>
                </a:ln>
                <a:solidFill>
                  <a:srgbClr val="008000"/>
                </a:solidFill>
                <a:effectLst/>
                <a:uLnTx/>
                <a:uFillTx/>
                <a:latin typeface="Arial" panose="020B0604020202020204"/>
                <a:ea typeface="PMingLiU"/>
                <a:cs typeface="+mn-cs"/>
              </a:rPr>
              <a:t>Exercise: </a:t>
            </a: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21</a:t>
            </a:r>
            <a:endPar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additive="base">
                                        <p:cTn id="7" dur="500" fill="hold"/>
                                        <p:tgtEl>
                                          <p:spTgt spid="76"/>
                                        </p:tgtEl>
                                        <p:attrNameLst>
                                          <p:attrName>ppt_x</p:attrName>
                                        </p:attrNameLst>
                                      </p:cBhvr>
                                      <p:tavLst>
                                        <p:tav tm="0">
                                          <p:val>
                                            <p:strVal val="#ppt_x"/>
                                          </p:val>
                                        </p:tav>
                                        <p:tav tm="100000">
                                          <p:val>
                                            <p:strVal val="#ppt_x"/>
                                          </p:val>
                                        </p:tav>
                                      </p:tavLst>
                                    </p:anim>
                                    <p:anim calcmode="lin" valueType="num">
                                      <p:cBhvr additive="base">
                                        <p:cTn id="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
                                        </p:tgtEl>
                                        <p:attrNameLst>
                                          <p:attrName>style.visibility</p:attrName>
                                        </p:attrNameLst>
                                      </p:cBhvr>
                                      <p:to>
                                        <p:strVal val="visible"/>
                                      </p:to>
                                    </p:set>
                                    <p:anim calcmode="lin" valueType="num">
                                      <p:cBhvr additive="base">
                                        <p:cTn id="13" dur="500" fill="hold"/>
                                        <p:tgtEl>
                                          <p:spTgt spid="78"/>
                                        </p:tgtEl>
                                        <p:attrNameLst>
                                          <p:attrName>ppt_x</p:attrName>
                                        </p:attrNameLst>
                                      </p:cBhvr>
                                      <p:tavLst>
                                        <p:tav tm="0">
                                          <p:val>
                                            <p:strVal val="#ppt_x"/>
                                          </p:val>
                                        </p:tav>
                                        <p:tav tm="100000">
                                          <p:val>
                                            <p:strVal val="#ppt_x"/>
                                          </p:val>
                                        </p:tav>
                                      </p:tavLst>
                                    </p:anim>
                                    <p:anim calcmode="lin" valueType="num">
                                      <p:cBhvr additive="base">
                                        <p:cTn id="14"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7"/>
                                        </p:tgtEl>
                                        <p:attrNameLst>
                                          <p:attrName>style.visibility</p:attrName>
                                        </p:attrNameLst>
                                      </p:cBhvr>
                                      <p:to>
                                        <p:strVal val="visible"/>
                                      </p:to>
                                    </p:set>
                                    <p:anim calcmode="lin" valueType="num">
                                      <p:cBhvr additive="base">
                                        <p:cTn id="19" dur="500" fill="hold"/>
                                        <p:tgtEl>
                                          <p:spTgt spid="77"/>
                                        </p:tgtEl>
                                        <p:attrNameLst>
                                          <p:attrName>ppt_x</p:attrName>
                                        </p:attrNameLst>
                                      </p:cBhvr>
                                      <p:tavLst>
                                        <p:tav tm="0">
                                          <p:val>
                                            <p:strVal val="#ppt_x"/>
                                          </p:val>
                                        </p:tav>
                                        <p:tav tm="100000">
                                          <p:val>
                                            <p:strVal val="#ppt_x"/>
                                          </p:val>
                                        </p:tav>
                                      </p:tavLst>
                                    </p:anim>
                                    <p:anim calcmode="lin" valueType="num">
                                      <p:cBhvr additive="base">
                                        <p:cTn id="20"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animBg="1"/>
      <p:bldP spid="7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投影片編號版面配置區 1"/>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grpSp>
        <p:nvGrpSpPr>
          <p:cNvPr id="75779" name="Group 98"/>
          <p:cNvGrpSpPr/>
          <p:nvPr/>
        </p:nvGrpSpPr>
        <p:grpSpPr>
          <a:xfrm>
            <a:off x="457200" y="1524000"/>
            <a:ext cx="2933700" cy="2573338"/>
            <a:chOff x="567" y="2160"/>
            <a:chExt cx="1848" cy="1621"/>
          </a:xfrm>
        </p:grpSpPr>
        <p:sp>
          <p:nvSpPr>
            <p:cNvPr id="75844" name="Oval 4"/>
            <p:cNvSpPr/>
            <p:nvPr/>
          </p:nvSpPr>
          <p:spPr>
            <a:xfrm>
              <a:off x="2336" y="2704"/>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45" name="Oval 5"/>
            <p:cNvSpPr/>
            <p:nvPr/>
          </p:nvSpPr>
          <p:spPr>
            <a:xfrm>
              <a:off x="1973" y="3702"/>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46" name="Line 6"/>
            <p:cNvSpPr/>
            <p:nvPr/>
          </p:nvSpPr>
          <p:spPr>
            <a:xfrm>
              <a:off x="1475" y="2206"/>
              <a:ext cx="906" cy="544"/>
            </a:xfrm>
            <a:prstGeom prst="line">
              <a:avLst/>
            </a:prstGeom>
            <a:ln w="38100" cap="flat" cmpd="sng">
              <a:solidFill>
                <a:schemeClr val="tx1"/>
              </a:solidFill>
              <a:prstDash val="solid"/>
              <a:headEnd type="none" w="med" len="med"/>
              <a:tailEnd type="none" w="lg" len="lg"/>
            </a:ln>
          </p:spPr>
        </p:sp>
        <p:sp>
          <p:nvSpPr>
            <p:cNvPr id="75847" name="Line 7"/>
            <p:cNvSpPr/>
            <p:nvPr/>
          </p:nvSpPr>
          <p:spPr>
            <a:xfrm flipH="1" flipV="1">
              <a:off x="612" y="2659"/>
              <a:ext cx="363" cy="1089"/>
            </a:xfrm>
            <a:prstGeom prst="line">
              <a:avLst/>
            </a:prstGeom>
            <a:ln w="38100" cap="flat" cmpd="sng">
              <a:solidFill>
                <a:schemeClr val="tx1"/>
              </a:solidFill>
              <a:prstDash val="solid"/>
              <a:headEnd type="none" w="med" len="med"/>
              <a:tailEnd type="none" w="lg" len="lg"/>
            </a:ln>
          </p:spPr>
        </p:sp>
        <p:sp>
          <p:nvSpPr>
            <p:cNvPr id="75848" name="Oval 8"/>
            <p:cNvSpPr/>
            <p:nvPr/>
          </p:nvSpPr>
          <p:spPr>
            <a:xfrm>
              <a:off x="1156" y="3294"/>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49" name="Line 9"/>
            <p:cNvSpPr/>
            <p:nvPr/>
          </p:nvSpPr>
          <p:spPr>
            <a:xfrm flipH="1">
              <a:off x="612" y="2206"/>
              <a:ext cx="863" cy="498"/>
            </a:xfrm>
            <a:prstGeom prst="line">
              <a:avLst/>
            </a:prstGeom>
            <a:ln w="38100" cap="flat" cmpd="sng">
              <a:solidFill>
                <a:schemeClr val="tx1"/>
              </a:solidFill>
              <a:prstDash val="solid"/>
              <a:headEnd type="none" w="med" len="med"/>
              <a:tailEnd type="none" w="lg" len="lg"/>
            </a:ln>
          </p:spPr>
        </p:sp>
        <p:sp>
          <p:nvSpPr>
            <p:cNvPr id="75850" name="Line 10"/>
            <p:cNvSpPr/>
            <p:nvPr/>
          </p:nvSpPr>
          <p:spPr>
            <a:xfrm flipH="1" flipV="1">
              <a:off x="1474" y="2205"/>
              <a:ext cx="45" cy="499"/>
            </a:xfrm>
            <a:prstGeom prst="line">
              <a:avLst/>
            </a:prstGeom>
            <a:ln w="38100" cap="flat" cmpd="sng">
              <a:solidFill>
                <a:schemeClr val="tx1"/>
              </a:solidFill>
              <a:prstDash val="solid"/>
              <a:headEnd type="none" w="med" len="med"/>
              <a:tailEnd type="none" w="lg" len="lg"/>
            </a:ln>
          </p:spPr>
        </p:sp>
        <p:sp>
          <p:nvSpPr>
            <p:cNvPr id="75851" name="Oval 11"/>
            <p:cNvSpPr/>
            <p:nvPr/>
          </p:nvSpPr>
          <p:spPr>
            <a:xfrm>
              <a:off x="1429" y="2160"/>
              <a:ext cx="79" cy="79"/>
            </a:xfrm>
            <a:prstGeom prst="ellipse">
              <a:avLst/>
            </a:prstGeom>
            <a:solidFill>
              <a:schemeClr val="tx1"/>
            </a:solidFill>
            <a:ln w="25400" cap="flat" cmpd="sng">
              <a:solidFill>
                <a:schemeClr val="tx1"/>
              </a:solidFill>
              <a:prstDash val="solid"/>
              <a:headEnd type="none" w="med" len="med"/>
              <a:tailEnd type="none" w="med" len="med"/>
            </a:ln>
          </p:spPr>
          <p:txBody>
            <a:bodyPr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52" name="Oval 12"/>
            <p:cNvSpPr/>
            <p:nvPr/>
          </p:nvSpPr>
          <p:spPr>
            <a:xfrm>
              <a:off x="567" y="2659"/>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53" name="Oval 14"/>
            <p:cNvSpPr/>
            <p:nvPr/>
          </p:nvSpPr>
          <p:spPr>
            <a:xfrm>
              <a:off x="975" y="2886"/>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54" name="Oval 15"/>
            <p:cNvSpPr/>
            <p:nvPr/>
          </p:nvSpPr>
          <p:spPr>
            <a:xfrm>
              <a:off x="930" y="3702"/>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55" name="Line 16"/>
            <p:cNvSpPr/>
            <p:nvPr/>
          </p:nvSpPr>
          <p:spPr>
            <a:xfrm flipH="1" flipV="1">
              <a:off x="975" y="3748"/>
              <a:ext cx="997" cy="0"/>
            </a:xfrm>
            <a:prstGeom prst="line">
              <a:avLst/>
            </a:prstGeom>
            <a:ln w="38100" cap="flat" cmpd="sng">
              <a:solidFill>
                <a:schemeClr val="tx1"/>
              </a:solidFill>
              <a:prstDash val="solid"/>
              <a:headEnd type="none" w="med" len="med"/>
              <a:tailEnd type="none" w="lg" len="lg"/>
            </a:ln>
          </p:spPr>
        </p:sp>
        <p:sp>
          <p:nvSpPr>
            <p:cNvPr id="75856" name="Line 17"/>
            <p:cNvSpPr/>
            <p:nvPr/>
          </p:nvSpPr>
          <p:spPr>
            <a:xfrm flipV="1">
              <a:off x="2007" y="2750"/>
              <a:ext cx="374" cy="994"/>
            </a:xfrm>
            <a:prstGeom prst="line">
              <a:avLst/>
            </a:prstGeom>
            <a:ln w="38100" cap="flat" cmpd="sng">
              <a:solidFill>
                <a:schemeClr val="tx1"/>
              </a:solidFill>
              <a:prstDash val="solid"/>
              <a:headEnd type="none" w="med" len="med"/>
              <a:tailEnd type="none" w="lg" len="lg"/>
            </a:ln>
          </p:spPr>
        </p:sp>
        <p:sp>
          <p:nvSpPr>
            <p:cNvPr id="75857" name="Oval 18"/>
            <p:cNvSpPr/>
            <p:nvPr/>
          </p:nvSpPr>
          <p:spPr>
            <a:xfrm>
              <a:off x="1927" y="2886"/>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58" name="Oval 60"/>
            <p:cNvSpPr/>
            <p:nvPr/>
          </p:nvSpPr>
          <p:spPr>
            <a:xfrm>
              <a:off x="1746" y="3294"/>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59" name="Oval 61"/>
            <p:cNvSpPr/>
            <p:nvPr/>
          </p:nvSpPr>
          <p:spPr>
            <a:xfrm>
              <a:off x="1474" y="2659"/>
              <a:ext cx="79" cy="79"/>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60" name="Line 62"/>
            <p:cNvSpPr/>
            <p:nvPr/>
          </p:nvSpPr>
          <p:spPr>
            <a:xfrm>
              <a:off x="612" y="2704"/>
              <a:ext cx="408" cy="227"/>
            </a:xfrm>
            <a:prstGeom prst="line">
              <a:avLst/>
            </a:prstGeom>
            <a:ln w="38100" cap="flat" cmpd="sng">
              <a:solidFill>
                <a:schemeClr val="tx1"/>
              </a:solidFill>
              <a:prstDash val="solid"/>
              <a:headEnd type="none" w="med" len="med"/>
              <a:tailEnd type="none" w="lg" len="lg"/>
            </a:ln>
          </p:spPr>
        </p:sp>
        <p:sp>
          <p:nvSpPr>
            <p:cNvPr id="75861" name="Line 63"/>
            <p:cNvSpPr/>
            <p:nvPr/>
          </p:nvSpPr>
          <p:spPr>
            <a:xfrm flipH="1">
              <a:off x="975" y="3339"/>
              <a:ext cx="227" cy="409"/>
            </a:xfrm>
            <a:prstGeom prst="line">
              <a:avLst/>
            </a:prstGeom>
            <a:ln w="38100" cap="flat" cmpd="sng">
              <a:solidFill>
                <a:schemeClr val="tx1"/>
              </a:solidFill>
              <a:prstDash val="solid"/>
              <a:headEnd type="none" w="med" len="med"/>
              <a:tailEnd type="none" w="lg" len="lg"/>
            </a:ln>
          </p:spPr>
        </p:sp>
        <p:sp>
          <p:nvSpPr>
            <p:cNvPr id="75862" name="Line 64"/>
            <p:cNvSpPr/>
            <p:nvPr/>
          </p:nvSpPr>
          <p:spPr>
            <a:xfrm>
              <a:off x="1791" y="3339"/>
              <a:ext cx="216" cy="357"/>
            </a:xfrm>
            <a:prstGeom prst="line">
              <a:avLst/>
            </a:prstGeom>
            <a:ln w="38100" cap="flat" cmpd="sng">
              <a:solidFill>
                <a:schemeClr val="tx1"/>
              </a:solidFill>
              <a:prstDash val="solid"/>
              <a:headEnd type="none" w="med" len="med"/>
              <a:tailEnd type="none" w="lg" len="lg"/>
            </a:ln>
          </p:spPr>
        </p:sp>
        <p:sp>
          <p:nvSpPr>
            <p:cNvPr id="75863" name="Line 65"/>
            <p:cNvSpPr/>
            <p:nvPr/>
          </p:nvSpPr>
          <p:spPr>
            <a:xfrm flipV="1">
              <a:off x="1973" y="2750"/>
              <a:ext cx="408" cy="181"/>
            </a:xfrm>
            <a:prstGeom prst="line">
              <a:avLst/>
            </a:prstGeom>
            <a:ln w="38100" cap="flat" cmpd="sng">
              <a:solidFill>
                <a:schemeClr val="tx1"/>
              </a:solidFill>
              <a:prstDash val="solid"/>
              <a:headEnd type="none" w="med" len="med"/>
              <a:tailEnd type="none" w="lg" len="lg"/>
            </a:ln>
          </p:spPr>
        </p:sp>
        <p:sp>
          <p:nvSpPr>
            <p:cNvPr id="75864" name="Line 66"/>
            <p:cNvSpPr/>
            <p:nvPr/>
          </p:nvSpPr>
          <p:spPr>
            <a:xfrm flipH="1">
              <a:off x="1202" y="2931"/>
              <a:ext cx="771" cy="408"/>
            </a:xfrm>
            <a:prstGeom prst="line">
              <a:avLst/>
            </a:prstGeom>
            <a:ln w="38100" cap="flat" cmpd="sng">
              <a:solidFill>
                <a:schemeClr val="tx1"/>
              </a:solidFill>
              <a:prstDash val="solid"/>
              <a:headEnd type="none" w="med" len="med"/>
              <a:tailEnd type="none" w="lg" len="lg"/>
            </a:ln>
          </p:spPr>
        </p:sp>
        <p:sp>
          <p:nvSpPr>
            <p:cNvPr id="75865" name="Line 67"/>
            <p:cNvSpPr/>
            <p:nvPr/>
          </p:nvSpPr>
          <p:spPr>
            <a:xfrm>
              <a:off x="1020" y="2931"/>
              <a:ext cx="771" cy="408"/>
            </a:xfrm>
            <a:prstGeom prst="line">
              <a:avLst/>
            </a:prstGeom>
            <a:ln w="38100" cap="flat" cmpd="sng">
              <a:solidFill>
                <a:schemeClr val="tx1"/>
              </a:solidFill>
              <a:prstDash val="solid"/>
              <a:headEnd type="none" w="med" len="med"/>
              <a:tailEnd type="none" w="lg" len="lg"/>
            </a:ln>
          </p:spPr>
        </p:sp>
        <p:sp>
          <p:nvSpPr>
            <p:cNvPr id="75866" name="Line 68"/>
            <p:cNvSpPr/>
            <p:nvPr/>
          </p:nvSpPr>
          <p:spPr>
            <a:xfrm flipH="1">
              <a:off x="1202" y="2659"/>
              <a:ext cx="317" cy="680"/>
            </a:xfrm>
            <a:prstGeom prst="line">
              <a:avLst/>
            </a:prstGeom>
            <a:ln w="38100" cap="flat" cmpd="sng">
              <a:solidFill>
                <a:schemeClr val="tx1"/>
              </a:solidFill>
              <a:prstDash val="solid"/>
              <a:headEnd type="none" w="med" len="med"/>
              <a:tailEnd type="none" w="lg" len="lg"/>
            </a:ln>
          </p:spPr>
        </p:sp>
        <p:sp>
          <p:nvSpPr>
            <p:cNvPr id="75867" name="Line 69"/>
            <p:cNvSpPr/>
            <p:nvPr/>
          </p:nvSpPr>
          <p:spPr>
            <a:xfrm>
              <a:off x="1519" y="2659"/>
              <a:ext cx="272" cy="680"/>
            </a:xfrm>
            <a:prstGeom prst="line">
              <a:avLst/>
            </a:prstGeom>
            <a:ln w="38100" cap="flat" cmpd="sng">
              <a:solidFill>
                <a:schemeClr val="tx1"/>
              </a:solidFill>
              <a:prstDash val="solid"/>
              <a:headEnd type="none" w="med" len="med"/>
              <a:tailEnd type="none" w="lg" len="lg"/>
            </a:ln>
          </p:spPr>
        </p:sp>
        <p:sp>
          <p:nvSpPr>
            <p:cNvPr id="75868" name="Line 70"/>
            <p:cNvSpPr/>
            <p:nvPr/>
          </p:nvSpPr>
          <p:spPr>
            <a:xfrm>
              <a:off x="1020" y="2931"/>
              <a:ext cx="953" cy="0"/>
            </a:xfrm>
            <a:prstGeom prst="line">
              <a:avLst/>
            </a:prstGeom>
            <a:ln w="38100" cap="flat" cmpd="sng">
              <a:solidFill>
                <a:schemeClr val="tx1"/>
              </a:solidFill>
              <a:prstDash val="solid"/>
              <a:headEnd type="none" w="med" len="med"/>
              <a:tailEnd type="none" w="lg" len="lg"/>
            </a:ln>
          </p:spPr>
        </p:sp>
      </p:grpSp>
      <p:grpSp>
        <p:nvGrpSpPr>
          <p:cNvPr id="3" name="群組 109"/>
          <p:cNvGrpSpPr/>
          <p:nvPr/>
        </p:nvGrpSpPr>
        <p:grpSpPr>
          <a:xfrm>
            <a:off x="4495800" y="1828800"/>
            <a:ext cx="2633663" cy="2514600"/>
            <a:chOff x="4495800" y="1828800"/>
            <a:chExt cx="2633548" cy="2514600"/>
          </a:xfrm>
        </p:grpSpPr>
        <p:sp>
          <p:nvSpPr>
            <p:cNvPr id="75813" name="Line 16"/>
            <p:cNvSpPr/>
            <p:nvPr/>
          </p:nvSpPr>
          <p:spPr>
            <a:xfrm flipH="1" flipV="1">
              <a:off x="5257800" y="4114800"/>
              <a:ext cx="1582738" cy="0"/>
            </a:xfrm>
            <a:prstGeom prst="line">
              <a:avLst/>
            </a:prstGeom>
            <a:ln w="38100" cap="flat" cmpd="sng">
              <a:solidFill>
                <a:schemeClr val="tx1"/>
              </a:solidFill>
              <a:prstDash val="solid"/>
              <a:headEnd type="none" w="med" len="med"/>
              <a:tailEnd type="none" w="lg" len="lg"/>
            </a:ln>
          </p:spPr>
        </p:sp>
        <p:sp>
          <p:nvSpPr>
            <p:cNvPr id="75814" name="Line 70"/>
            <p:cNvSpPr/>
            <p:nvPr/>
          </p:nvSpPr>
          <p:spPr>
            <a:xfrm>
              <a:off x="5364000" y="3048000"/>
              <a:ext cx="1404000" cy="0"/>
            </a:xfrm>
            <a:prstGeom prst="line">
              <a:avLst/>
            </a:prstGeom>
            <a:ln w="38100" cap="flat" cmpd="sng">
              <a:solidFill>
                <a:schemeClr val="tx1"/>
              </a:solidFill>
              <a:prstDash val="solid"/>
              <a:headEnd type="none" w="med" len="med"/>
              <a:tailEnd type="none" w="lg" len="lg"/>
            </a:ln>
          </p:spPr>
        </p:sp>
        <p:sp>
          <p:nvSpPr>
            <p:cNvPr id="75815" name="Text Box 115"/>
            <p:cNvSpPr txBox="1"/>
            <p:nvPr/>
          </p:nvSpPr>
          <p:spPr>
            <a:xfrm>
              <a:off x="6202756" y="3490156"/>
              <a:ext cx="269291" cy="302184"/>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3</a:t>
              </a:r>
              <a:endParaRPr lang="en-US" altLang="zh-TW" sz="1800" dirty="0">
                <a:latin typeface="Times New Roman" panose="02020603050405020304" pitchFamily="18" charset="0"/>
              </a:endParaRPr>
            </a:p>
          </p:txBody>
        </p:sp>
        <p:sp>
          <p:nvSpPr>
            <p:cNvPr id="75816" name="Text Box 114"/>
            <p:cNvSpPr txBox="1"/>
            <p:nvPr/>
          </p:nvSpPr>
          <p:spPr>
            <a:xfrm>
              <a:off x="5612054" y="3490156"/>
              <a:ext cx="269291" cy="302184"/>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2</a:t>
              </a:r>
              <a:endParaRPr lang="en-US" altLang="zh-TW" sz="1800" dirty="0">
                <a:latin typeface="Times New Roman" panose="02020603050405020304" pitchFamily="18" charset="0"/>
              </a:endParaRPr>
            </a:p>
          </p:txBody>
        </p:sp>
        <p:sp>
          <p:nvSpPr>
            <p:cNvPr id="75817" name="Text Box 129"/>
            <p:cNvSpPr txBox="1"/>
            <p:nvPr/>
          </p:nvSpPr>
          <p:spPr>
            <a:xfrm>
              <a:off x="5105400" y="3050616"/>
              <a:ext cx="297174" cy="3715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5</a:t>
              </a:r>
              <a:endParaRPr lang="en-US" altLang="zh-TW" sz="1800" dirty="0">
                <a:latin typeface="Times New Roman" panose="02020603050405020304" pitchFamily="18" charset="0"/>
              </a:endParaRPr>
            </a:p>
          </p:txBody>
        </p:sp>
        <p:sp>
          <p:nvSpPr>
            <p:cNvPr id="75818" name="Text Box 110"/>
            <p:cNvSpPr txBox="1"/>
            <p:nvPr/>
          </p:nvSpPr>
          <p:spPr>
            <a:xfrm>
              <a:off x="6005855" y="1828800"/>
              <a:ext cx="297174" cy="3715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7</a:t>
              </a:r>
              <a:endParaRPr lang="en-US" altLang="zh-TW" sz="1800" dirty="0">
                <a:latin typeface="Times New Roman" panose="02020603050405020304" pitchFamily="18" charset="0"/>
              </a:endParaRPr>
            </a:p>
          </p:txBody>
        </p:sp>
        <p:grpSp>
          <p:nvGrpSpPr>
            <p:cNvPr id="75819" name="Group 140"/>
            <p:cNvGrpSpPr/>
            <p:nvPr/>
          </p:nvGrpSpPr>
          <p:grpSpPr>
            <a:xfrm>
              <a:off x="4710114" y="2044701"/>
              <a:ext cx="2178939" cy="2161071"/>
              <a:chOff x="2471" y="2069"/>
              <a:chExt cx="1505" cy="1652"/>
            </a:xfrm>
          </p:grpSpPr>
          <p:sp>
            <p:nvSpPr>
              <p:cNvPr id="75825" name="Line 89"/>
              <p:cNvSpPr/>
              <p:nvPr/>
            </p:nvSpPr>
            <p:spPr>
              <a:xfrm flipH="1">
                <a:off x="2879" y="3248"/>
                <a:ext cx="227" cy="409"/>
              </a:xfrm>
              <a:prstGeom prst="line">
                <a:avLst/>
              </a:prstGeom>
              <a:ln w="38100" cap="flat" cmpd="sng">
                <a:solidFill>
                  <a:schemeClr val="tx1"/>
                </a:solidFill>
                <a:prstDash val="solid"/>
                <a:headEnd type="none" w="med" len="med"/>
                <a:tailEnd type="none" w="lg" len="lg"/>
              </a:ln>
            </p:spPr>
          </p:sp>
          <p:sp>
            <p:nvSpPr>
              <p:cNvPr id="75826" name="Line 88"/>
              <p:cNvSpPr/>
              <p:nvPr/>
            </p:nvSpPr>
            <p:spPr>
              <a:xfrm>
                <a:off x="2516" y="2613"/>
                <a:ext cx="408" cy="227"/>
              </a:xfrm>
              <a:prstGeom prst="line">
                <a:avLst/>
              </a:prstGeom>
              <a:ln w="38100" cap="flat" cmpd="sng">
                <a:solidFill>
                  <a:schemeClr val="tx1"/>
                </a:solidFill>
                <a:prstDash val="solid"/>
                <a:headEnd type="none" w="med" len="med"/>
                <a:tailEnd type="none" w="lg" len="lg"/>
              </a:ln>
            </p:spPr>
          </p:sp>
          <p:sp>
            <p:nvSpPr>
              <p:cNvPr id="75827" name="Line 90"/>
              <p:cNvSpPr/>
              <p:nvPr/>
            </p:nvSpPr>
            <p:spPr>
              <a:xfrm>
                <a:off x="3695" y="3248"/>
                <a:ext cx="227" cy="409"/>
              </a:xfrm>
              <a:prstGeom prst="line">
                <a:avLst/>
              </a:prstGeom>
              <a:ln w="38100" cap="flat" cmpd="sng">
                <a:solidFill>
                  <a:schemeClr val="tx1"/>
                </a:solidFill>
                <a:prstDash val="solid"/>
                <a:headEnd type="none" w="med" len="med"/>
                <a:tailEnd type="none" w="lg" len="lg"/>
              </a:ln>
            </p:spPr>
          </p:sp>
          <p:sp>
            <p:nvSpPr>
              <p:cNvPr id="75828" name="Line 93"/>
              <p:cNvSpPr/>
              <p:nvPr/>
            </p:nvSpPr>
            <p:spPr>
              <a:xfrm>
                <a:off x="2924" y="2840"/>
                <a:ext cx="771" cy="408"/>
              </a:xfrm>
              <a:prstGeom prst="line">
                <a:avLst/>
              </a:prstGeom>
              <a:ln w="38100" cap="flat" cmpd="sng">
                <a:solidFill>
                  <a:schemeClr val="tx1"/>
                </a:solidFill>
                <a:prstDash val="solid"/>
                <a:headEnd type="none" w="med" len="med"/>
                <a:tailEnd type="none" w="lg" len="lg"/>
              </a:ln>
            </p:spPr>
          </p:sp>
          <p:sp>
            <p:nvSpPr>
              <p:cNvPr id="75829" name="Line 95"/>
              <p:cNvSpPr/>
              <p:nvPr/>
            </p:nvSpPr>
            <p:spPr>
              <a:xfrm>
                <a:off x="3423" y="2568"/>
                <a:ext cx="272" cy="680"/>
              </a:xfrm>
              <a:prstGeom prst="line">
                <a:avLst/>
              </a:prstGeom>
              <a:ln w="38100" cap="flat" cmpd="sng">
                <a:solidFill>
                  <a:schemeClr val="tx1"/>
                </a:solidFill>
                <a:prstDash val="solid"/>
                <a:headEnd type="none" w="med" len="med"/>
                <a:tailEnd type="none" w="lg" len="lg"/>
              </a:ln>
            </p:spPr>
          </p:sp>
          <p:sp>
            <p:nvSpPr>
              <p:cNvPr id="75830" name="Oval 72"/>
              <p:cNvSpPr/>
              <p:nvPr/>
            </p:nvSpPr>
            <p:spPr>
              <a:xfrm>
                <a:off x="3877" y="3611"/>
                <a:ext cx="99" cy="110"/>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31" name="Line 74"/>
              <p:cNvSpPr/>
              <p:nvPr/>
            </p:nvSpPr>
            <p:spPr>
              <a:xfrm flipH="1" flipV="1">
                <a:off x="2516" y="2568"/>
                <a:ext cx="363" cy="1089"/>
              </a:xfrm>
              <a:prstGeom prst="line">
                <a:avLst/>
              </a:prstGeom>
              <a:ln w="38100" cap="flat" cmpd="sng">
                <a:solidFill>
                  <a:schemeClr val="tx1"/>
                </a:solidFill>
                <a:prstDash val="solid"/>
                <a:headEnd type="none" w="med" len="med"/>
                <a:tailEnd type="none" w="lg" len="lg"/>
              </a:ln>
            </p:spPr>
          </p:sp>
          <p:sp>
            <p:nvSpPr>
              <p:cNvPr id="75832" name="Line 76"/>
              <p:cNvSpPr/>
              <p:nvPr/>
            </p:nvSpPr>
            <p:spPr>
              <a:xfrm flipH="1">
                <a:off x="2516" y="2115"/>
                <a:ext cx="863" cy="498"/>
              </a:xfrm>
              <a:prstGeom prst="line">
                <a:avLst/>
              </a:prstGeom>
              <a:ln w="38100" cap="flat" cmpd="sng">
                <a:solidFill>
                  <a:schemeClr val="tx1"/>
                </a:solidFill>
                <a:prstDash val="solid"/>
                <a:headEnd type="none" w="med" len="med"/>
                <a:tailEnd type="none" w="lg" len="lg"/>
              </a:ln>
            </p:spPr>
          </p:sp>
          <p:sp>
            <p:nvSpPr>
              <p:cNvPr id="75833" name="Line 77"/>
              <p:cNvSpPr/>
              <p:nvPr/>
            </p:nvSpPr>
            <p:spPr>
              <a:xfrm flipH="1" flipV="1">
                <a:off x="3378" y="2114"/>
                <a:ext cx="45" cy="499"/>
              </a:xfrm>
              <a:prstGeom prst="line">
                <a:avLst/>
              </a:prstGeom>
              <a:ln w="38100" cap="flat" cmpd="sng">
                <a:solidFill>
                  <a:schemeClr val="tx1"/>
                </a:solidFill>
                <a:prstDash val="solid"/>
                <a:headEnd type="none" w="med" len="med"/>
                <a:tailEnd type="none" w="lg" len="lg"/>
              </a:ln>
            </p:spPr>
          </p:sp>
          <p:sp>
            <p:nvSpPr>
              <p:cNvPr id="75834" name="Oval 78"/>
              <p:cNvSpPr/>
              <p:nvPr/>
            </p:nvSpPr>
            <p:spPr>
              <a:xfrm>
                <a:off x="3333" y="2069"/>
                <a:ext cx="99" cy="110"/>
              </a:xfrm>
              <a:prstGeom prst="ellipse">
                <a:avLst/>
              </a:prstGeom>
              <a:solidFill>
                <a:schemeClr val="tx1"/>
              </a:solidFill>
              <a:ln w="25400">
                <a:noFill/>
              </a:ln>
            </p:spPr>
            <p:txBody>
              <a:bodyPr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35" name="Oval 79"/>
              <p:cNvSpPr/>
              <p:nvPr/>
            </p:nvSpPr>
            <p:spPr>
              <a:xfrm>
                <a:off x="2471" y="2568"/>
                <a:ext cx="99" cy="110"/>
              </a:xfrm>
              <a:prstGeom prst="ellipse">
                <a:avLst/>
              </a:prstGeom>
              <a:solidFill>
                <a:srgbClr val="FFFF00"/>
              </a:solidFill>
              <a:ln w="25400" cap="flat" cmpd="sng">
                <a:solidFill>
                  <a:srgbClr val="0000CC"/>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36" name="Oval 81"/>
              <p:cNvSpPr/>
              <p:nvPr/>
            </p:nvSpPr>
            <p:spPr>
              <a:xfrm>
                <a:off x="2879" y="2795"/>
                <a:ext cx="99" cy="110"/>
              </a:xfrm>
              <a:prstGeom prst="ellipse">
                <a:avLst/>
              </a:prstGeom>
              <a:solidFill>
                <a:srgbClr val="FF6600"/>
              </a:solidFill>
              <a:ln w="25400">
                <a:noFill/>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37" name="Oval 82"/>
              <p:cNvSpPr/>
              <p:nvPr/>
            </p:nvSpPr>
            <p:spPr>
              <a:xfrm>
                <a:off x="2834" y="3611"/>
                <a:ext cx="99" cy="110"/>
              </a:xfrm>
              <a:prstGeom prst="ellipse">
                <a:avLst/>
              </a:prstGeom>
              <a:solidFill>
                <a:srgbClr val="FF6600"/>
              </a:solidFill>
              <a:ln w="25400">
                <a:noFill/>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38" name="Oval 85"/>
              <p:cNvSpPr/>
              <p:nvPr/>
            </p:nvSpPr>
            <p:spPr>
              <a:xfrm>
                <a:off x="3831" y="2795"/>
                <a:ext cx="99" cy="110"/>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39" name="Oval 86"/>
              <p:cNvSpPr/>
              <p:nvPr/>
            </p:nvSpPr>
            <p:spPr>
              <a:xfrm>
                <a:off x="3650" y="3203"/>
                <a:ext cx="99" cy="110"/>
              </a:xfrm>
              <a:prstGeom prst="ellipse">
                <a:avLst/>
              </a:prstGeom>
              <a:solidFill>
                <a:srgbClr val="FFFF00"/>
              </a:solidFill>
              <a:ln w="25400" cap="flat" cmpd="sng">
                <a:solidFill>
                  <a:srgbClr val="0000CC"/>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40" name="Line 92"/>
              <p:cNvSpPr/>
              <p:nvPr/>
            </p:nvSpPr>
            <p:spPr>
              <a:xfrm flipH="1">
                <a:off x="3106" y="2840"/>
                <a:ext cx="771" cy="408"/>
              </a:xfrm>
              <a:prstGeom prst="line">
                <a:avLst/>
              </a:prstGeom>
              <a:ln w="38100" cap="flat" cmpd="sng">
                <a:solidFill>
                  <a:schemeClr val="tx1"/>
                </a:solidFill>
                <a:prstDash val="solid"/>
                <a:headEnd type="none" w="med" len="med"/>
                <a:tailEnd type="none" w="lg" len="lg"/>
              </a:ln>
            </p:spPr>
          </p:sp>
          <p:sp>
            <p:nvSpPr>
              <p:cNvPr id="75841" name="Line 94"/>
              <p:cNvSpPr/>
              <p:nvPr/>
            </p:nvSpPr>
            <p:spPr>
              <a:xfrm flipH="1">
                <a:off x="3106" y="2568"/>
                <a:ext cx="317" cy="680"/>
              </a:xfrm>
              <a:prstGeom prst="line">
                <a:avLst/>
              </a:prstGeom>
              <a:ln w="38100" cap="flat" cmpd="sng">
                <a:solidFill>
                  <a:schemeClr val="tx1"/>
                </a:solidFill>
                <a:prstDash val="solid"/>
                <a:headEnd type="none" w="med" len="med"/>
                <a:tailEnd type="none" w="lg" len="lg"/>
              </a:ln>
            </p:spPr>
          </p:sp>
          <p:sp>
            <p:nvSpPr>
              <p:cNvPr id="75842" name="Oval 75"/>
              <p:cNvSpPr/>
              <p:nvPr/>
            </p:nvSpPr>
            <p:spPr>
              <a:xfrm>
                <a:off x="3060" y="3203"/>
                <a:ext cx="99" cy="110"/>
              </a:xfrm>
              <a:prstGeom prst="ellipse">
                <a:avLst/>
              </a:prstGeom>
              <a:solidFill>
                <a:srgbClr val="FFFF00"/>
              </a:solidFill>
              <a:ln w="25400" cap="flat" cmpd="sng">
                <a:solidFill>
                  <a:srgbClr val="0000CC"/>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43" name="Oval 87"/>
              <p:cNvSpPr/>
              <p:nvPr/>
            </p:nvSpPr>
            <p:spPr>
              <a:xfrm>
                <a:off x="3378" y="2568"/>
                <a:ext cx="99" cy="110"/>
              </a:xfrm>
              <a:prstGeom prst="ellipse">
                <a:avLst/>
              </a:prstGeom>
              <a:solidFill>
                <a:srgbClr val="FF6600"/>
              </a:solidFill>
              <a:ln w="25400">
                <a:noFill/>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grpSp>
        <p:sp>
          <p:nvSpPr>
            <p:cNvPr id="75820" name="Text Box 116"/>
            <p:cNvSpPr txBox="1"/>
            <p:nvPr/>
          </p:nvSpPr>
          <p:spPr>
            <a:xfrm>
              <a:off x="4495800" y="2422702"/>
              <a:ext cx="297174" cy="3715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1</a:t>
              </a:r>
              <a:endParaRPr lang="en-US" altLang="zh-TW" sz="1800" dirty="0">
                <a:latin typeface="Times New Roman" panose="02020603050405020304" pitchFamily="18" charset="0"/>
              </a:endParaRPr>
            </a:p>
          </p:txBody>
        </p:sp>
        <p:sp>
          <p:nvSpPr>
            <p:cNvPr id="75821" name="Text Box 117"/>
            <p:cNvSpPr txBox="1"/>
            <p:nvPr/>
          </p:nvSpPr>
          <p:spPr>
            <a:xfrm>
              <a:off x="5798826" y="2524087"/>
              <a:ext cx="297174" cy="3715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6</a:t>
              </a:r>
              <a:endParaRPr lang="en-US" altLang="zh-TW" sz="1800" dirty="0">
                <a:latin typeface="Times New Roman" panose="02020603050405020304" pitchFamily="18" charset="0"/>
              </a:endParaRPr>
            </a:p>
          </p:txBody>
        </p:sp>
        <p:sp>
          <p:nvSpPr>
            <p:cNvPr id="75822" name="Text Box 126"/>
            <p:cNvSpPr txBox="1"/>
            <p:nvPr/>
          </p:nvSpPr>
          <p:spPr>
            <a:xfrm>
              <a:off x="6741109" y="3015296"/>
              <a:ext cx="297174" cy="3715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8</a:t>
              </a:r>
              <a:endParaRPr lang="en-US" altLang="zh-TW" sz="1800" dirty="0">
                <a:latin typeface="Times New Roman" panose="02020603050405020304" pitchFamily="18" charset="0"/>
              </a:endParaRPr>
            </a:p>
          </p:txBody>
        </p:sp>
        <p:sp>
          <p:nvSpPr>
            <p:cNvPr id="75823" name="Text Box 127"/>
            <p:cNvSpPr txBox="1"/>
            <p:nvPr/>
          </p:nvSpPr>
          <p:spPr>
            <a:xfrm>
              <a:off x="4953000" y="3971887"/>
              <a:ext cx="297174" cy="3715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4</a:t>
              </a:r>
              <a:endParaRPr lang="en-US" altLang="zh-TW" sz="1800" dirty="0">
                <a:latin typeface="Times New Roman" panose="02020603050405020304" pitchFamily="18" charset="0"/>
              </a:endParaRPr>
            </a:p>
          </p:txBody>
        </p:sp>
        <p:sp>
          <p:nvSpPr>
            <p:cNvPr id="75824" name="Text Box 128"/>
            <p:cNvSpPr txBox="1"/>
            <p:nvPr/>
          </p:nvSpPr>
          <p:spPr>
            <a:xfrm>
              <a:off x="6860057" y="3965016"/>
              <a:ext cx="269291" cy="302184"/>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9</a:t>
              </a:r>
              <a:endParaRPr lang="en-US" altLang="zh-TW" sz="1800" dirty="0">
                <a:latin typeface="Times New Roman" panose="02020603050405020304" pitchFamily="18" charset="0"/>
              </a:endParaRPr>
            </a:p>
          </p:txBody>
        </p:sp>
      </p:grpSp>
      <p:sp>
        <p:nvSpPr>
          <p:cNvPr id="93" name="矩形 92"/>
          <p:cNvSpPr/>
          <p:nvPr/>
        </p:nvSpPr>
        <p:spPr>
          <a:xfrm>
            <a:off x="381000" y="457200"/>
            <a:ext cx="8382000" cy="954088"/>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9:</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Show that the Petersen graph is not planar.</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94" name="矩形 93"/>
          <p:cNvSpPr/>
          <p:nvPr/>
        </p:nvSpPr>
        <p:spPr>
          <a:xfrm>
            <a:off x="3581400" y="1295400"/>
            <a:ext cx="5084763" cy="5191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It is </a:t>
            </a:r>
            <a:r>
              <a:rPr kumimoji="1" lang="en-US" altLang="zh-TW" sz="2800" b="0" i="0" u="none" strike="noStrike" kern="0" cap="none" spc="0" normalizeH="0" baseline="0" noProof="0" dirty="0" err="1">
                <a:ln>
                  <a:noFill/>
                </a:ln>
                <a:solidFill>
                  <a:schemeClr val="tx1"/>
                </a:solidFill>
                <a:effectLst/>
                <a:uLnTx/>
                <a:uFillTx/>
                <a:latin typeface="Arial" panose="020B0604020202020204"/>
                <a:ea typeface="PMingLiU"/>
                <a:cs typeface="+mn-cs"/>
              </a:rPr>
              <a:t>homeomorphic</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to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K</a:t>
            </a:r>
            <a:r>
              <a:rPr kumimoji="1" lang="en-US" altLang="zh-TW" sz="2800" b="0" i="0" u="none" strike="noStrike" kern="0" cap="none" spc="0" normalizeH="0" baseline="-2500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3,3</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5" name="群組 108"/>
          <p:cNvGrpSpPr/>
          <p:nvPr/>
        </p:nvGrpSpPr>
        <p:grpSpPr>
          <a:xfrm>
            <a:off x="4572000" y="4762500"/>
            <a:ext cx="2963863" cy="2095500"/>
            <a:chOff x="4572000" y="4762500"/>
            <a:chExt cx="2963863" cy="2095501"/>
          </a:xfrm>
        </p:grpSpPr>
        <p:sp>
          <p:nvSpPr>
            <p:cNvPr id="75800" name="Text Box 111"/>
            <p:cNvSpPr txBox="1"/>
            <p:nvPr/>
          </p:nvSpPr>
          <p:spPr>
            <a:xfrm>
              <a:off x="4572000" y="4762500"/>
              <a:ext cx="304800" cy="3715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1</a:t>
              </a:r>
              <a:endParaRPr lang="en-US" altLang="zh-TW" sz="1800" dirty="0">
                <a:latin typeface="Times New Roman" panose="02020603050405020304" pitchFamily="18" charset="0"/>
              </a:endParaRPr>
            </a:p>
          </p:txBody>
        </p:sp>
        <p:sp>
          <p:nvSpPr>
            <p:cNvPr id="75801" name="Line 132"/>
            <p:cNvSpPr/>
            <p:nvPr/>
          </p:nvSpPr>
          <p:spPr>
            <a:xfrm>
              <a:off x="4840905" y="5122863"/>
              <a:ext cx="2411278" cy="1296988"/>
            </a:xfrm>
            <a:prstGeom prst="line">
              <a:avLst/>
            </a:prstGeom>
            <a:ln w="38100" cap="flat" cmpd="sng">
              <a:solidFill>
                <a:schemeClr val="tx1"/>
              </a:solidFill>
              <a:prstDash val="solid"/>
              <a:headEnd type="none" w="med" len="med"/>
              <a:tailEnd type="none" w="lg" len="lg"/>
            </a:ln>
          </p:spPr>
        </p:sp>
        <p:sp>
          <p:nvSpPr>
            <p:cNvPr id="75802" name="Line 106"/>
            <p:cNvSpPr/>
            <p:nvPr/>
          </p:nvSpPr>
          <p:spPr>
            <a:xfrm>
              <a:off x="4840905" y="5122863"/>
              <a:ext cx="0" cy="1296988"/>
            </a:xfrm>
            <a:prstGeom prst="line">
              <a:avLst/>
            </a:prstGeom>
            <a:ln w="38100" cap="flat" cmpd="sng">
              <a:solidFill>
                <a:schemeClr val="tx1"/>
              </a:solidFill>
              <a:prstDash val="solid"/>
              <a:headEnd type="none" w="med" len="med"/>
              <a:tailEnd type="none" w="lg" len="lg"/>
            </a:ln>
          </p:spPr>
        </p:sp>
        <p:sp>
          <p:nvSpPr>
            <p:cNvPr id="75803" name="Text Box 119"/>
            <p:cNvSpPr txBox="1"/>
            <p:nvPr/>
          </p:nvSpPr>
          <p:spPr>
            <a:xfrm>
              <a:off x="6986233" y="6491288"/>
              <a:ext cx="549630" cy="3667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6</a:t>
              </a:r>
              <a:endParaRPr lang="en-US" altLang="zh-TW" sz="1800" dirty="0">
                <a:latin typeface="Times New Roman" panose="02020603050405020304" pitchFamily="18" charset="0"/>
              </a:endParaRPr>
            </a:p>
          </p:txBody>
        </p:sp>
        <p:sp>
          <p:nvSpPr>
            <p:cNvPr id="75804" name="Text Box 120"/>
            <p:cNvSpPr txBox="1"/>
            <p:nvPr/>
          </p:nvSpPr>
          <p:spPr>
            <a:xfrm>
              <a:off x="5780594" y="6491288"/>
              <a:ext cx="549630" cy="3667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5</a:t>
              </a:r>
              <a:endParaRPr lang="en-US" altLang="zh-TW" sz="1800" dirty="0">
                <a:latin typeface="Times New Roman" panose="02020603050405020304" pitchFamily="18" charset="0"/>
              </a:endParaRPr>
            </a:p>
          </p:txBody>
        </p:sp>
        <p:sp>
          <p:nvSpPr>
            <p:cNvPr id="75805" name="Text Box 121"/>
            <p:cNvSpPr txBox="1"/>
            <p:nvPr/>
          </p:nvSpPr>
          <p:spPr>
            <a:xfrm>
              <a:off x="4572000" y="6491288"/>
              <a:ext cx="549630" cy="366713"/>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4</a:t>
              </a:r>
              <a:endParaRPr lang="en-US" altLang="zh-TW" sz="1800" dirty="0">
                <a:latin typeface="Times New Roman" panose="02020603050405020304" pitchFamily="18" charset="0"/>
              </a:endParaRPr>
            </a:p>
          </p:txBody>
        </p:sp>
        <p:sp>
          <p:nvSpPr>
            <p:cNvPr id="75806" name="Line 123"/>
            <p:cNvSpPr/>
            <p:nvPr/>
          </p:nvSpPr>
          <p:spPr>
            <a:xfrm>
              <a:off x="4840905" y="5122863"/>
              <a:ext cx="1205639" cy="1223963"/>
            </a:xfrm>
            <a:prstGeom prst="line">
              <a:avLst/>
            </a:prstGeom>
            <a:ln w="38100" cap="flat" cmpd="sng">
              <a:solidFill>
                <a:schemeClr val="tx1"/>
              </a:solidFill>
              <a:prstDash val="solid"/>
              <a:headEnd type="none" w="med" len="med"/>
              <a:tailEnd type="none" w="lg" len="lg"/>
            </a:ln>
          </p:spPr>
        </p:sp>
        <p:sp>
          <p:nvSpPr>
            <p:cNvPr id="75807" name="Oval 100"/>
            <p:cNvSpPr/>
            <p:nvPr/>
          </p:nvSpPr>
          <p:spPr>
            <a:xfrm>
              <a:off x="4752000" y="5051424"/>
              <a:ext cx="144000" cy="144000"/>
            </a:xfrm>
            <a:prstGeom prst="ellipse">
              <a:avLst/>
            </a:prstGeom>
            <a:solidFill>
              <a:srgbClr val="FFFF00"/>
            </a:solidFill>
            <a:ln w="25400" cap="flat" cmpd="sng">
              <a:solidFill>
                <a:srgbClr val="0000CC"/>
              </a:solidFill>
              <a:prstDash val="solid"/>
              <a:headEnd type="none" w="med" len="med"/>
              <a:tailEnd type="none" w="med" len="med"/>
            </a:ln>
          </p:spPr>
          <p:txBody>
            <a:bodyPr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08" name="Oval 104"/>
            <p:cNvSpPr/>
            <p:nvPr/>
          </p:nvSpPr>
          <p:spPr>
            <a:xfrm>
              <a:off x="5976000" y="6346824"/>
              <a:ext cx="144000" cy="144000"/>
            </a:xfrm>
            <a:prstGeom prst="ellipse">
              <a:avLst/>
            </a:prstGeom>
            <a:solidFill>
              <a:srgbClr val="FF6600"/>
            </a:solidFill>
            <a:ln w="25400" cap="flat" cmpd="sng">
              <a:solidFill>
                <a:srgbClr val="FF6600"/>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09" name="Oval 103"/>
            <p:cNvSpPr/>
            <p:nvPr/>
          </p:nvSpPr>
          <p:spPr>
            <a:xfrm>
              <a:off x="4752000" y="6346824"/>
              <a:ext cx="144000" cy="144000"/>
            </a:xfrm>
            <a:prstGeom prst="ellipse">
              <a:avLst/>
            </a:prstGeom>
            <a:solidFill>
              <a:srgbClr val="FF6600"/>
            </a:solidFill>
            <a:ln w="25400" cap="flat" cmpd="sng">
              <a:solidFill>
                <a:srgbClr val="FF6600"/>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10" name="Oval 105"/>
            <p:cNvSpPr/>
            <p:nvPr/>
          </p:nvSpPr>
          <p:spPr>
            <a:xfrm>
              <a:off x="7164000" y="6346824"/>
              <a:ext cx="144000" cy="144000"/>
            </a:xfrm>
            <a:prstGeom prst="ellipse">
              <a:avLst/>
            </a:prstGeom>
            <a:solidFill>
              <a:srgbClr val="FF6600"/>
            </a:solidFill>
            <a:ln w="25400" cap="flat" cmpd="sng">
              <a:solidFill>
                <a:srgbClr val="FF6600"/>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11" name="Oval 135"/>
            <p:cNvSpPr/>
            <p:nvPr/>
          </p:nvSpPr>
          <p:spPr>
            <a:xfrm>
              <a:off x="6561600" y="6028200"/>
              <a:ext cx="144000" cy="144000"/>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812" name="Text Box 112"/>
            <p:cNvSpPr txBox="1"/>
            <p:nvPr/>
          </p:nvSpPr>
          <p:spPr>
            <a:xfrm>
              <a:off x="6466394" y="6105487"/>
              <a:ext cx="315406" cy="3715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7</a:t>
              </a:r>
              <a:endParaRPr lang="en-US" altLang="zh-TW" sz="1800" dirty="0">
                <a:latin typeface="Times New Roman" panose="02020603050405020304" pitchFamily="18" charset="0"/>
              </a:endParaRPr>
            </a:p>
          </p:txBody>
        </p:sp>
      </p:grpSp>
      <p:grpSp>
        <p:nvGrpSpPr>
          <p:cNvPr id="6" name="群組 106"/>
          <p:cNvGrpSpPr/>
          <p:nvPr/>
        </p:nvGrpSpPr>
        <p:grpSpPr>
          <a:xfrm>
            <a:off x="4840288" y="4762500"/>
            <a:ext cx="2359025" cy="1584325"/>
            <a:chOff x="4840905" y="4762500"/>
            <a:chExt cx="2357639" cy="1584363"/>
          </a:xfrm>
        </p:grpSpPr>
        <p:sp>
          <p:nvSpPr>
            <p:cNvPr id="75793" name="Text Box 112"/>
            <p:cNvSpPr txBox="1"/>
            <p:nvPr/>
          </p:nvSpPr>
          <p:spPr>
            <a:xfrm>
              <a:off x="5780594" y="4762500"/>
              <a:ext cx="315406" cy="3715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2</a:t>
              </a:r>
              <a:endParaRPr lang="en-US" altLang="zh-TW" sz="1800" dirty="0">
                <a:latin typeface="Times New Roman" panose="02020603050405020304" pitchFamily="18" charset="0"/>
              </a:endParaRPr>
            </a:p>
          </p:txBody>
        </p:sp>
        <p:sp>
          <p:nvSpPr>
            <p:cNvPr id="75794" name="Line 125"/>
            <p:cNvSpPr/>
            <p:nvPr/>
          </p:nvSpPr>
          <p:spPr>
            <a:xfrm>
              <a:off x="6046544" y="5122863"/>
              <a:ext cx="1152000" cy="1224000"/>
            </a:xfrm>
            <a:prstGeom prst="line">
              <a:avLst/>
            </a:prstGeom>
            <a:ln w="38100" cap="flat" cmpd="sng">
              <a:solidFill>
                <a:schemeClr val="tx1"/>
              </a:solidFill>
              <a:prstDash val="solid"/>
              <a:headEnd type="none" w="med" len="med"/>
              <a:tailEnd type="none" w="lg" len="lg"/>
            </a:ln>
          </p:spPr>
        </p:sp>
        <p:sp>
          <p:nvSpPr>
            <p:cNvPr id="75795" name="Line 108"/>
            <p:cNvSpPr/>
            <p:nvPr/>
          </p:nvSpPr>
          <p:spPr>
            <a:xfrm>
              <a:off x="6046544" y="5122863"/>
              <a:ext cx="0" cy="1224000"/>
            </a:xfrm>
            <a:prstGeom prst="line">
              <a:avLst/>
            </a:prstGeom>
            <a:ln w="38100" cap="flat" cmpd="sng">
              <a:solidFill>
                <a:schemeClr val="tx1"/>
              </a:solidFill>
              <a:prstDash val="solid"/>
              <a:headEnd type="none" w="med" len="med"/>
              <a:tailEnd type="none" w="lg" len="lg"/>
            </a:ln>
          </p:spPr>
        </p:sp>
        <p:sp>
          <p:nvSpPr>
            <p:cNvPr id="75796" name="Line 122"/>
            <p:cNvSpPr/>
            <p:nvPr/>
          </p:nvSpPr>
          <p:spPr>
            <a:xfrm flipH="1">
              <a:off x="4840905" y="5122863"/>
              <a:ext cx="1205639" cy="1223963"/>
            </a:xfrm>
            <a:prstGeom prst="line">
              <a:avLst/>
            </a:prstGeom>
            <a:ln w="38100" cap="flat" cmpd="sng">
              <a:solidFill>
                <a:schemeClr val="tx1"/>
              </a:solidFill>
              <a:prstDash val="solid"/>
              <a:headEnd type="none" w="med" len="med"/>
              <a:tailEnd type="none" w="lg" len="lg"/>
            </a:ln>
          </p:spPr>
        </p:sp>
        <p:sp>
          <p:nvSpPr>
            <p:cNvPr id="75797" name="Oval 101"/>
            <p:cNvSpPr/>
            <p:nvPr/>
          </p:nvSpPr>
          <p:spPr>
            <a:xfrm>
              <a:off x="5976000" y="5051424"/>
              <a:ext cx="144000" cy="144000"/>
            </a:xfrm>
            <a:prstGeom prst="ellipse">
              <a:avLst/>
            </a:prstGeom>
            <a:solidFill>
              <a:srgbClr val="FFFF00"/>
            </a:solidFill>
            <a:ln w="25400" cap="flat" cmpd="sng">
              <a:solidFill>
                <a:srgbClr val="0000CC"/>
              </a:solidFill>
              <a:prstDash val="solid"/>
              <a:headEnd type="none" w="med" len="med"/>
              <a:tailEnd type="none" w="med" len="med"/>
            </a:ln>
          </p:spPr>
          <p:txBody>
            <a:bodyPr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798" name="Oval 138"/>
            <p:cNvSpPr/>
            <p:nvPr/>
          </p:nvSpPr>
          <p:spPr>
            <a:xfrm>
              <a:off x="5976000" y="5410200"/>
              <a:ext cx="144000" cy="144000"/>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799" name="Text Box 112"/>
            <p:cNvSpPr txBox="1"/>
            <p:nvPr/>
          </p:nvSpPr>
          <p:spPr>
            <a:xfrm>
              <a:off x="5715000" y="5343487"/>
              <a:ext cx="315406" cy="3715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8</a:t>
              </a:r>
              <a:endParaRPr lang="en-US" altLang="zh-TW" sz="1800" dirty="0">
                <a:latin typeface="Times New Roman" panose="02020603050405020304" pitchFamily="18" charset="0"/>
              </a:endParaRPr>
            </a:p>
          </p:txBody>
        </p:sp>
      </p:grpSp>
      <p:grpSp>
        <p:nvGrpSpPr>
          <p:cNvPr id="7" name="群組 107"/>
          <p:cNvGrpSpPr/>
          <p:nvPr/>
        </p:nvGrpSpPr>
        <p:grpSpPr>
          <a:xfrm>
            <a:off x="4876800" y="4762500"/>
            <a:ext cx="2438400" cy="1704975"/>
            <a:chOff x="4876798" y="4762500"/>
            <a:chExt cx="2438402" cy="1705013"/>
          </a:xfrm>
        </p:grpSpPr>
        <p:sp>
          <p:nvSpPr>
            <p:cNvPr id="75786" name="Text Box 113"/>
            <p:cNvSpPr txBox="1"/>
            <p:nvPr/>
          </p:nvSpPr>
          <p:spPr>
            <a:xfrm>
              <a:off x="6986233" y="4762500"/>
              <a:ext cx="328967" cy="3715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3</a:t>
              </a:r>
              <a:endParaRPr lang="en-US" altLang="zh-TW" sz="1800" dirty="0">
                <a:latin typeface="Times New Roman" panose="02020603050405020304" pitchFamily="18" charset="0"/>
              </a:endParaRPr>
            </a:p>
          </p:txBody>
        </p:sp>
        <p:sp>
          <p:nvSpPr>
            <p:cNvPr id="75787" name="Line 133"/>
            <p:cNvSpPr/>
            <p:nvPr/>
          </p:nvSpPr>
          <p:spPr>
            <a:xfrm flipH="1">
              <a:off x="4876798" y="5122863"/>
              <a:ext cx="2304000" cy="1224000"/>
            </a:xfrm>
            <a:prstGeom prst="line">
              <a:avLst/>
            </a:prstGeom>
            <a:ln w="38100" cap="flat" cmpd="sng">
              <a:solidFill>
                <a:schemeClr val="tx1"/>
              </a:solidFill>
              <a:prstDash val="solid"/>
              <a:headEnd type="none" w="med" len="med"/>
              <a:tailEnd type="none" w="lg" len="lg"/>
            </a:ln>
          </p:spPr>
        </p:sp>
        <p:sp>
          <p:nvSpPr>
            <p:cNvPr id="75788" name="Line 109"/>
            <p:cNvSpPr/>
            <p:nvPr/>
          </p:nvSpPr>
          <p:spPr>
            <a:xfrm>
              <a:off x="7252183" y="5122863"/>
              <a:ext cx="0" cy="1224000"/>
            </a:xfrm>
            <a:prstGeom prst="line">
              <a:avLst/>
            </a:prstGeom>
            <a:ln w="38100" cap="flat" cmpd="sng">
              <a:solidFill>
                <a:schemeClr val="tx1"/>
              </a:solidFill>
              <a:prstDash val="solid"/>
              <a:headEnd type="none" w="med" len="med"/>
              <a:tailEnd type="none" w="lg" len="lg"/>
            </a:ln>
          </p:spPr>
        </p:sp>
        <p:sp>
          <p:nvSpPr>
            <p:cNvPr id="75789" name="Line 124"/>
            <p:cNvSpPr/>
            <p:nvPr/>
          </p:nvSpPr>
          <p:spPr>
            <a:xfrm flipH="1">
              <a:off x="6046544" y="5122863"/>
              <a:ext cx="1188000" cy="1188000"/>
            </a:xfrm>
            <a:prstGeom prst="line">
              <a:avLst/>
            </a:prstGeom>
            <a:ln w="38100" cap="flat" cmpd="sng">
              <a:solidFill>
                <a:schemeClr val="tx1"/>
              </a:solidFill>
              <a:prstDash val="solid"/>
              <a:headEnd type="none" w="med" len="med"/>
              <a:tailEnd type="none" w="lg" len="lg"/>
            </a:ln>
          </p:spPr>
        </p:sp>
        <p:sp>
          <p:nvSpPr>
            <p:cNvPr id="75790" name="Oval 139"/>
            <p:cNvSpPr/>
            <p:nvPr/>
          </p:nvSpPr>
          <p:spPr>
            <a:xfrm>
              <a:off x="5256000" y="6048000"/>
              <a:ext cx="144000" cy="144000"/>
            </a:xfrm>
            <a:prstGeom prst="ellipse">
              <a:avLst/>
            </a:prstGeom>
            <a:solidFill>
              <a:schemeClr val="tx1"/>
            </a:solidFill>
            <a:ln w="25400" cap="flat" cmpd="sng">
              <a:solidFill>
                <a:schemeClr val="tx1"/>
              </a:solidFill>
              <a:prstDash val="solid"/>
              <a:headEnd type="none" w="med" len="med"/>
              <a:tailEnd type="none" w="med" len="med"/>
            </a:ln>
          </p:spPr>
          <p:txBody>
            <a:bodyPr wrap="none"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791" name="Oval 102"/>
            <p:cNvSpPr/>
            <p:nvPr/>
          </p:nvSpPr>
          <p:spPr>
            <a:xfrm>
              <a:off x="7171200" y="5051424"/>
              <a:ext cx="144000" cy="144000"/>
            </a:xfrm>
            <a:prstGeom prst="ellipse">
              <a:avLst/>
            </a:prstGeom>
            <a:solidFill>
              <a:srgbClr val="FFFF00"/>
            </a:solidFill>
            <a:ln w="25400" cap="flat" cmpd="sng">
              <a:solidFill>
                <a:srgbClr val="0000CC"/>
              </a:solidFill>
              <a:prstDash val="solid"/>
              <a:headEnd type="none" w="med" len="med"/>
              <a:tailEnd type="none" w="med" len="med"/>
            </a:ln>
          </p:spPr>
          <p:txBody>
            <a:bodyPr lIns="90000" tIns="46800" rIns="90000" bIns="46800"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1800" dirty="0"/>
            </a:p>
          </p:txBody>
        </p:sp>
        <p:sp>
          <p:nvSpPr>
            <p:cNvPr id="75792" name="Text Box 112"/>
            <p:cNvSpPr txBox="1"/>
            <p:nvPr/>
          </p:nvSpPr>
          <p:spPr>
            <a:xfrm>
              <a:off x="5334000" y="6096000"/>
              <a:ext cx="457200" cy="3715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latin typeface="Times New Roman" panose="02020603050405020304" pitchFamily="18" charset="0"/>
                </a:rPr>
                <a:t>9</a:t>
              </a:r>
              <a:endParaRPr lang="en-US" altLang="zh-TW" sz="1800"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base">
                                        <p:cTn id="7" dur="500" fill="hold"/>
                                        <p:tgtEl>
                                          <p:spTgt spid="94"/>
                                        </p:tgtEl>
                                        <p:attrNameLst>
                                          <p:attrName>ppt_x</p:attrName>
                                        </p:attrNameLst>
                                      </p:cBhvr>
                                      <p:tavLst>
                                        <p:tav tm="0">
                                          <p:val>
                                            <p:strVal val="#ppt_x"/>
                                          </p:val>
                                        </p:tav>
                                        <p:tav tm="100000">
                                          <p:val>
                                            <p:strVal val="#ppt_x"/>
                                          </p:val>
                                        </p:tav>
                                      </p:tavLst>
                                    </p:anim>
                                    <p:anim calcmode="lin" valueType="num">
                                      <p:cBhvr additive="base">
                                        <p:cTn id="8"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457200" y="457200"/>
            <a:ext cx="8229600" cy="762000"/>
          </a:xfrm>
        </p:spPr>
        <p:txBody>
          <a:bodyPr vert="horz" wrap="square" lIns="91440" tIns="45720" rIns="91440" bIns="45720" anchor="ctr"/>
          <a:p>
            <a:pPr eaLnBrk="1" hangingPunct="1"/>
            <a:r>
              <a:rPr lang="en-US" altLang="zh-TW" dirty="0"/>
              <a:t>§10.8: Graph Coloring</a:t>
            </a:r>
            <a:endParaRPr lang="en-US" altLang="zh-TW" dirty="0"/>
          </a:p>
        </p:txBody>
      </p:sp>
      <p:sp>
        <p:nvSpPr>
          <p:cNvPr id="73731" name="Rectangle 3"/>
          <p:cNvSpPr>
            <a:spLocks noGrp="1"/>
          </p:cNvSpPr>
          <p:nvPr>
            <p:ph type="body"/>
          </p:nvPr>
        </p:nvSpPr>
        <p:spPr>
          <a:xfrm>
            <a:off x="304800" y="1219200"/>
            <a:ext cx="8534400" cy="1752600"/>
          </a:xfrm>
        </p:spPr>
        <p:txBody>
          <a:bodyPr vert="horz" wrap="square" lIns="91440" tIns="45720" rIns="91440" bIns="45720" anchor="t"/>
          <a:p>
            <a:pPr eaLnBrk="1" hangingPunct="1">
              <a:lnSpc>
                <a:spcPct val="90000"/>
              </a:lnSpc>
              <a:buNone/>
            </a:pPr>
            <a:r>
              <a:rPr lang="en-US" altLang="zh-TW" sz="2800" b="1" dirty="0">
                <a:solidFill>
                  <a:srgbClr val="008000"/>
                </a:solidFill>
              </a:rPr>
              <a:t>Def. 1:</a:t>
            </a:r>
            <a:endParaRPr lang="en-US" altLang="zh-TW" sz="2800" b="1" dirty="0">
              <a:solidFill>
                <a:srgbClr val="008000"/>
              </a:solidFill>
            </a:endParaRPr>
          </a:p>
          <a:p>
            <a:pPr eaLnBrk="1" hangingPunct="1">
              <a:lnSpc>
                <a:spcPct val="90000"/>
              </a:lnSpc>
              <a:buNone/>
            </a:pPr>
            <a:r>
              <a:rPr lang="en-US" altLang="zh-TW" sz="2800" dirty="0"/>
              <a:t>   A </a:t>
            </a:r>
            <a:r>
              <a:rPr lang="en-US" altLang="zh-TW" sz="2800" i="1" dirty="0">
                <a:solidFill>
                  <a:srgbClr val="0000CC"/>
                </a:solidFill>
              </a:rPr>
              <a:t>coloring</a:t>
            </a:r>
            <a:r>
              <a:rPr lang="en-US" altLang="zh-TW" sz="2800" dirty="0"/>
              <a:t> of a simple graph is the assignment of a color to each vertex of the graph so that no two adjacent vertices are assigned the same color.</a:t>
            </a:r>
            <a:r>
              <a:rPr lang="en-US" altLang="zh-TW" sz="2800" i="1" dirty="0">
                <a:solidFill>
                  <a:schemeClr val="accent2"/>
                </a:solidFill>
              </a:rPr>
              <a:t> </a:t>
            </a:r>
            <a:endParaRPr lang="en-US" altLang="zh-TW" sz="2800" i="1" dirty="0">
              <a:solidFill>
                <a:schemeClr val="accent2"/>
              </a:solidFill>
            </a:endParaRPr>
          </a:p>
        </p:txBody>
      </p:sp>
      <p:sp>
        <p:nvSpPr>
          <p:cNvPr id="76804"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32" name="矩形 31"/>
          <p:cNvSpPr/>
          <p:nvPr/>
        </p:nvSpPr>
        <p:spPr>
          <a:xfrm>
            <a:off x="381000" y="3048000"/>
            <a:ext cx="1782763" cy="479425"/>
          </a:xfrm>
          <a:prstGeom prst="rect">
            <a:avLst/>
          </a:prstGeom>
        </p:spPr>
        <p:txBody>
          <a:bodyPr wrap="none">
            <a:spAutoFit/>
          </a:bodyPr>
          <a:lstStyle/>
          <a:p>
            <a:pPr marL="342900" marR="0" lvl="0" indent="-342900" algn="l" defTabSz="914400" rtl="0" eaLnBrk="1" fontAlgn="base" latinLnBrk="0" hangingPunct="1">
              <a:lnSpc>
                <a:spcPct val="90000"/>
              </a:lnSpc>
              <a:spcBef>
                <a:spcPct val="20000"/>
              </a:spcBef>
              <a:spcAft>
                <a:spcPct val="0"/>
              </a:spcAft>
              <a:buClr>
                <a:srgbClr val="00007D"/>
              </a:buClr>
              <a:buSzPct val="75000"/>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a:t>
            </a:r>
            <a:endPar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endParaRPr>
          </a:p>
        </p:txBody>
      </p:sp>
      <p:sp>
        <p:nvSpPr>
          <p:cNvPr id="67" name="矩形 66"/>
          <p:cNvSpPr/>
          <p:nvPr/>
        </p:nvSpPr>
        <p:spPr bwMode="auto">
          <a:xfrm>
            <a:off x="1516063" y="36576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8" name="矩形 67"/>
          <p:cNvSpPr/>
          <p:nvPr/>
        </p:nvSpPr>
        <p:spPr bwMode="auto">
          <a:xfrm>
            <a:off x="685800" y="44958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9" name="矩形 68"/>
          <p:cNvSpPr/>
          <p:nvPr/>
        </p:nvSpPr>
        <p:spPr bwMode="auto">
          <a:xfrm>
            <a:off x="2735263" y="36576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0" name="矩形 69"/>
          <p:cNvSpPr/>
          <p:nvPr/>
        </p:nvSpPr>
        <p:spPr bwMode="auto">
          <a:xfrm>
            <a:off x="2133600" y="43434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5</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1" name="矩形 70"/>
          <p:cNvSpPr/>
          <p:nvPr/>
        </p:nvSpPr>
        <p:spPr bwMode="auto">
          <a:xfrm>
            <a:off x="3505200" y="45720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2" name="群組 83"/>
          <p:cNvGrpSpPr/>
          <p:nvPr/>
        </p:nvGrpSpPr>
        <p:grpSpPr>
          <a:xfrm>
            <a:off x="990600" y="4038600"/>
            <a:ext cx="2555875" cy="1524000"/>
            <a:chOff x="1065212" y="4138612"/>
            <a:chExt cx="2555875" cy="1524000"/>
          </a:xfrm>
        </p:grpSpPr>
        <p:sp>
          <p:nvSpPr>
            <p:cNvPr id="76842" name="Line 25"/>
            <p:cNvSpPr/>
            <p:nvPr/>
          </p:nvSpPr>
          <p:spPr>
            <a:xfrm flipV="1">
              <a:off x="1752600" y="4191000"/>
              <a:ext cx="1217612" cy="0"/>
            </a:xfrm>
            <a:prstGeom prst="line">
              <a:avLst/>
            </a:prstGeom>
            <a:ln w="25400" cap="flat" cmpd="sng">
              <a:solidFill>
                <a:schemeClr val="tx1"/>
              </a:solidFill>
              <a:prstDash val="solid"/>
              <a:headEnd type="none" w="med" len="med"/>
              <a:tailEnd type="none" w="med" len="med"/>
            </a:ln>
          </p:spPr>
        </p:sp>
        <p:sp>
          <p:nvSpPr>
            <p:cNvPr id="76843" name="Line 25"/>
            <p:cNvSpPr/>
            <p:nvPr/>
          </p:nvSpPr>
          <p:spPr>
            <a:xfrm flipV="1">
              <a:off x="1827212" y="4214812"/>
              <a:ext cx="1143000" cy="1371600"/>
            </a:xfrm>
            <a:prstGeom prst="line">
              <a:avLst/>
            </a:prstGeom>
            <a:ln w="25400" cap="flat" cmpd="sng">
              <a:solidFill>
                <a:schemeClr val="tx1"/>
              </a:solidFill>
              <a:prstDash val="solid"/>
              <a:headEnd type="none" w="med" len="med"/>
              <a:tailEnd type="none" w="med" len="med"/>
            </a:ln>
          </p:spPr>
        </p:sp>
        <p:sp>
          <p:nvSpPr>
            <p:cNvPr id="76844" name="Line 23"/>
            <p:cNvSpPr/>
            <p:nvPr/>
          </p:nvSpPr>
          <p:spPr>
            <a:xfrm rot="-120000" flipH="1" flipV="1">
              <a:off x="2981325" y="4222750"/>
              <a:ext cx="587375" cy="688975"/>
            </a:xfrm>
            <a:prstGeom prst="line">
              <a:avLst/>
            </a:prstGeom>
            <a:ln w="25400" cap="flat" cmpd="sng">
              <a:solidFill>
                <a:schemeClr val="tx1"/>
              </a:solidFill>
              <a:prstDash val="solid"/>
              <a:headEnd type="none" w="med" len="med"/>
              <a:tailEnd type="none" w="med" len="med"/>
            </a:ln>
          </p:spPr>
        </p:sp>
        <p:sp>
          <p:nvSpPr>
            <p:cNvPr id="76845" name="Line 34"/>
            <p:cNvSpPr/>
            <p:nvPr/>
          </p:nvSpPr>
          <p:spPr>
            <a:xfrm>
              <a:off x="2963862" y="4214812"/>
              <a:ext cx="36513" cy="1447800"/>
            </a:xfrm>
            <a:prstGeom prst="line">
              <a:avLst/>
            </a:prstGeom>
            <a:ln w="25400" cap="flat" cmpd="sng">
              <a:solidFill>
                <a:schemeClr val="tx1"/>
              </a:solidFill>
              <a:prstDash val="solid"/>
              <a:headEnd type="none" w="med" len="med"/>
              <a:tailEnd type="none" w="med" len="med"/>
            </a:ln>
          </p:spPr>
        </p:sp>
        <p:sp>
          <p:nvSpPr>
            <p:cNvPr id="76846" name="Line 25"/>
            <p:cNvSpPr/>
            <p:nvPr/>
          </p:nvSpPr>
          <p:spPr>
            <a:xfrm flipV="1">
              <a:off x="1827212" y="5613400"/>
              <a:ext cx="1219200" cy="0"/>
            </a:xfrm>
            <a:prstGeom prst="line">
              <a:avLst/>
            </a:prstGeom>
            <a:ln w="25400" cap="flat" cmpd="sng">
              <a:solidFill>
                <a:schemeClr val="tx1"/>
              </a:solidFill>
              <a:prstDash val="solid"/>
              <a:headEnd type="none" w="med" len="med"/>
              <a:tailEnd type="none" w="med" len="med"/>
            </a:ln>
          </p:spPr>
        </p:sp>
        <p:sp>
          <p:nvSpPr>
            <p:cNvPr id="76847" name="Line 25"/>
            <p:cNvSpPr/>
            <p:nvPr/>
          </p:nvSpPr>
          <p:spPr>
            <a:xfrm rot="120000" flipH="1">
              <a:off x="3048000" y="4892675"/>
              <a:ext cx="509587" cy="684212"/>
            </a:xfrm>
            <a:prstGeom prst="line">
              <a:avLst/>
            </a:prstGeom>
            <a:ln w="25400" cap="flat" cmpd="sng">
              <a:solidFill>
                <a:schemeClr val="tx1"/>
              </a:solidFill>
              <a:prstDash val="solid"/>
              <a:headEnd type="none" w="med" len="med"/>
              <a:tailEnd type="none" w="med" len="med"/>
            </a:ln>
          </p:spPr>
        </p:sp>
        <p:sp>
          <p:nvSpPr>
            <p:cNvPr id="76848" name="Line 34"/>
            <p:cNvSpPr/>
            <p:nvPr/>
          </p:nvSpPr>
          <p:spPr>
            <a:xfrm>
              <a:off x="1787525" y="4214812"/>
              <a:ext cx="36512" cy="1447800"/>
            </a:xfrm>
            <a:prstGeom prst="line">
              <a:avLst/>
            </a:prstGeom>
            <a:ln w="25400" cap="flat" cmpd="sng">
              <a:solidFill>
                <a:schemeClr val="tx1"/>
              </a:solidFill>
              <a:prstDash val="solid"/>
              <a:headEnd type="none" w="med" len="med"/>
              <a:tailEnd type="none" w="med" len="med"/>
            </a:ln>
          </p:spPr>
        </p:sp>
        <p:sp>
          <p:nvSpPr>
            <p:cNvPr id="76849" name="Line 25"/>
            <p:cNvSpPr/>
            <p:nvPr/>
          </p:nvSpPr>
          <p:spPr>
            <a:xfrm rot="120000" flipH="1">
              <a:off x="1154112" y="4203700"/>
              <a:ext cx="584200" cy="708025"/>
            </a:xfrm>
            <a:prstGeom prst="line">
              <a:avLst/>
            </a:prstGeom>
            <a:ln w="25400" cap="flat" cmpd="sng">
              <a:solidFill>
                <a:schemeClr val="tx1"/>
              </a:solidFill>
              <a:prstDash val="solid"/>
              <a:headEnd type="none" w="med" len="med"/>
              <a:tailEnd type="none" w="med" len="med"/>
            </a:ln>
          </p:spPr>
        </p:sp>
        <p:sp>
          <p:nvSpPr>
            <p:cNvPr id="76850" name="Line 25"/>
            <p:cNvSpPr/>
            <p:nvPr/>
          </p:nvSpPr>
          <p:spPr>
            <a:xfrm rot="120000">
              <a:off x="1752600" y="4237037"/>
              <a:ext cx="1319212" cy="1403350"/>
            </a:xfrm>
            <a:prstGeom prst="line">
              <a:avLst/>
            </a:prstGeom>
            <a:ln w="25400" cap="flat" cmpd="sng">
              <a:solidFill>
                <a:schemeClr val="tx1"/>
              </a:solidFill>
              <a:prstDash val="solid"/>
              <a:headEnd type="none" w="med" len="med"/>
              <a:tailEnd type="none" w="med" len="med"/>
            </a:ln>
          </p:spPr>
        </p:sp>
        <p:sp>
          <p:nvSpPr>
            <p:cNvPr id="76851" name="Line 25"/>
            <p:cNvSpPr/>
            <p:nvPr/>
          </p:nvSpPr>
          <p:spPr>
            <a:xfrm rot="120000">
              <a:off x="1130300" y="4913312"/>
              <a:ext cx="708025" cy="660400"/>
            </a:xfrm>
            <a:prstGeom prst="line">
              <a:avLst/>
            </a:prstGeom>
            <a:ln w="25400" cap="flat" cmpd="sng">
              <a:solidFill>
                <a:schemeClr val="tx1"/>
              </a:solidFill>
              <a:prstDash val="solid"/>
              <a:headEnd type="none" w="med" len="med"/>
              <a:tailEnd type="none" w="med" len="med"/>
            </a:ln>
          </p:spPr>
        </p:sp>
        <p:sp>
          <p:nvSpPr>
            <p:cNvPr id="76852" name="AutoShape 11"/>
            <p:cNvSpPr/>
            <p:nvPr/>
          </p:nvSpPr>
          <p:spPr>
            <a:xfrm>
              <a:off x="1708150" y="4138612"/>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53" name="AutoShape 11"/>
            <p:cNvSpPr/>
            <p:nvPr/>
          </p:nvSpPr>
          <p:spPr>
            <a:xfrm>
              <a:off x="1065212" y="4824412"/>
              <a:ext cx="119063"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54" name="AutoShape 11"/>
            <p:cNvSpPr/>
            <p:nvPr/>
          </p:nvSpPr>
          <p:spPr>
            <a:xfrm>
              <a:off x="2317750" y="4824412"/>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55" name="AutoShape 11"/>
            <p:cNvSpPr/>
            <p:nvPr/>
          </p:nvSpPr>
          <p:spPr>
            <a:xfrm>
              <a:off x="3502025" y="4824412"/>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56" name="AutoShape 11"/>
            <p:cNvSpPr/>
            <p:nvPr/>
          </p:nvSpPr>
          <p:spPr>
            <a:xfrm>
              <a:off x="2886075" y="4138612"/>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57" name="AutoShape 11"/>
            <p:cNvSpPr/>
            <p:nvPr/>
          </p:nvSpPr>
          <p:spPr>
            <a:xfrm>
              <a:off x="1751012" y="5543550"/>
              <a:ext cx="119063"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58" name="AutoShape 11"/>
            <p:cNvSpPr/>
            <p:nvPr/>
          </p:nvSpPr>
          <p:spPr>
            <a:xfrm>
              <a:off x="2927350" y="5543550"/>
              <a:ext cx="119062"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grpSp>
      <p:sp>
        <p:nvSpPr>
          <p:cNvPr id="79" name="矩形 78"/>
          <p:cNvSpPr/>
          <p:nvPr/>
        </p:nvSpPr>
        <p:spPr bwMode="auto">
          <a:xfrm>
            <a:off x="1447800" y="54864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4</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0" name="矩形 79"/>
          <p:cNvSpPr/>
          <p:nvPr/>
        </p:nvSpPr>
        <p:spPr bwMode="auto">
          <a:xfrm>
            <a:off x="2819400" y="54864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1" name="文字方塊 80"/>
          <p:cNvSpPr txBox="1"/>
          <p:nvPr/>
        </p:nvSpPr>
        <p:spPr>
          <a:xfrm>
            <a:off x="1677988" y="5995988"/>
            <a:ext cx="13716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5-coloring</a:t>
            </a:r>
            <a:endParaRPr lang="zh-TW" altLang="en-US" sz="1800" dirty="0"/>
          </a:p>
        </p:txBody>
      </p:sp>
      <p:sp>
        <p:nvSpPr>
          <p:cNvPr id="85" name="矩形 84"/>
          <p:cNvSpPr/>
          <p:nvPr/>
        </p:nvSpPr>
        <p:spPr bwMode="auto">
          <a:xfrm>
            <a:off x="5249863" y="3671888"/>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6" name="矩形 85"/>
          <p:cNvSpPr/>
          <p:nvPr/>
        </p:nvSpPr>
        <p:spPr bwMode="auto">
          <a:xfrm>
            <a:off x="4419600" y="4510088"/>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7" name="矩形 86"/>
          <p:cNvSpPr/>
          <p:nvPr/>
        </p:nvSpPr>
        <p:spPr bwMode="auto">
          <a:xfrm>
            <a:off x="6469063" y="3671888"/>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8" name="矩形 87"/>
          <p:cNvSpPr/>
          <p:nvPr/>
        </p:nvSpPr>
        <p:spPr bwMode="auto">
          <a:xfrm>
            <a:off x="5867400" y="4357688"/>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9" name="矩形 88"/>
          <p:cNvSpPr/>
          <p:nvPr/>
        </p:nvSpPr>
        <p:spPr bwMode="auto">
          <a:xfrm>
            <a:off x="7239000" y="4586288"/>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3" name="群組 89"/>
          <p:cNvGrpSpPr/>
          <p:nvPr/>
        </p:nvGrpSpPr>
        <p:grpSpPr>
          <a:xfrm>
            <a:off x="4724400" y="4052888"/>
            <a:ext cx="2555875" cy="1524000"/>
            <a:chOff x="1065212" y="4138612"/>
            <a:chExt cx="2555875" cy="1524000"/>
          </a:xfrm>
        </p:grpSpPr>
        <p:sp>
          <p:nvSpPr>
            <p:cNvPr id="76825" name="Line 25"/>
            <p:cNvSpPr/>
            <p:nvPr/>
          </p:nvSpPr>
          <p:spPr>
            <a:xfrm flipV="1">
              <a:off x="1752600" y="4191000"/>
              <a:ext cx="1217612" cy="0"/>
            </a:xfrm>
            <a:prstGeom prst="line">
              <a:avLst/>
            </a:prstGeom>
            <a:ln w="25400" cap="flat" cmpd="sng">
              <a:solidFill>
                <a:schemeClr val="tx1"/>
              </a:solidFill>
              <a:prstDash val="solid"/>
              <a:headEnd type="none" w="med" len="med"/>
              <a:tailEnd type="none" w="med" len="med"/>
            </a:ln>
          </p:spPr>
        </p:sp>
        <p:sp>
          <p:nvSpPr>
            <p:cNvPr id="76826" name="Line 25"/>
            <p:cNvSpPr/>
            <p:nvPr/>
          </p:nvSpPr>
          <p:spPr>
            <a:xfrm flipV="1">
              <a:off x="1827212" y="4214812"/>
              <a:ext cx="1143000" cy="1371600"/>
            </a:xfrm>
            <a:prstGeom prst="line">
              <a:avLst/>
            </a:prstGeom>
            <a:ln w="25400" cap="flat" cmpd="sng">
              <a:solidFill>
                <a:schemeClr val="tx1"/>
              </a:solidFill>
              <a:prstDash val="solid"/>
              <a:headEnd type="none" w="med" len="med"/>
              <a:tailEnd type="none" w="med" len="med"/>
            </a:ln>
          </p:spPr>
        </p:sp>
        <p:sp>
          <p:nvSpPr>
            <p:cNvPr id="76827" name="Line 23"/>
            <p:cNvSpPr/>
            <p:nvPr/>
          </p:nvSpPr>
          <p:spPr>
            <a:xfrm rot="-120000" flipH="1" flipV="1">
              <a:off x="2981325" y="4222750"/>
              <a:ext cx="587375" cy="688975"/>
            </a:xfrm>
            <a:prstGeom prst="line">
              <a:avLst/>
            </a:prstGeom>
            <a:ln w="25400" cap="flat" cmpd="sng">
              <a:solidFill>
                <a:schemeClr val="tx1"/>
              </a:solidFill>
              <a:prstDash val="solid"/>
              <a:headEnd type="none" w="med" len="med"/>
              <a:tailEnd type="none" w="med" len="med"/>
            </a:ln>
          </p:spPr>
        </p:sp>
        <p:sp>
          <p:nvSpPr>
            <p:cNvPr id="76828" name="Line 34"/>
            <p:cNvSpPr/>
            <p:nvPr/>
          </p:nvSpPr>
          <p:spPr>
            <a:xfrm>
              <a:off x="2963862" y="4214812"/>
              <a:ext cx="36513" cy="1447800"/>
            </a:xfrm>
            <a:prstGeom prst="line">
              <a:avLst/>
            </a:prstGeom>
            <a:ln w="25400" cap="flat" cmpd="sng">
              <a:solidFill>
                <a:schemeClr val="tx1"/>
              </a:solidFill>
              <a:prstDash val="solid"/>
              <a:headEnd type="none" w="med" len="med"/>
              <a:tailEnd type="none" w="med" len="med"/>
            </a:ln>
          </p:spPr>
        </p:sp>
        <p:sp>
          <p:nvSpPr>
            <p:cNvPr id="76829" name="Line 25"/>
            <p:cNvSpPr/>
            <p:nvPr/>
          </p:nvSpPr>
          <p:spPr>
            <a:xfrm flipV="1">
              <a:off x="1827212" y="5613400"/>
              <a:ext cx="1219200" cy="0"/>
            </a:xfrm>
            <a:prstGeom prst="line">
              <a:avLst/>
            </a:prstGeom>
            <a:ln w="25400" cap="flat" cmpd="sng">
              <a:solidFill>
                <a:schemeClr val="tx1"/>
              </a:solidFill>
              <a:prstDash val="solid"/>
              <a:headEnd type="none" w="med" len="med"/>
              <a:tailEnd type="none" w="med" len="med"/>
            </a:ln>
          </p:spPr>
        </p:sp>
        <p:sp>
          <p:nvSpPr>
            <p:cNvPr id="76830" name="Line 25"/>
            <p:cNvSpPr/>
            <p:nvPr/>
          </p:nvSpPr>
          <p:spPr>
            <a:xfrm rot="120000" flipH="1">
              <a:off x="3048000" y="4892675"/>
              <a:ext cx="509587" cy="684212"/>
            </a:xfrm>
            <a:prstGeom prst="line">
              <a:avLst/>
            </a:prstGeom>
            <a:ln w="25400" cap="flat" cmpd="sng">
              <a:solidFill>
                <a:schemeClr val="tx1"/>
              </a:solidFill>
              <a:prstDash val="solid"/>
              <a:headEnd type="none" w="med" len="med"/>
              <a:tailEnd type="none" w="med" len="med"/>
            </a:ln>
          </p:spPr>
        </p:sp>
        <p:sp>
          <p:nvSpPr>
            <p:cNvPr id="76831" name="Line 34"/>
            <p:cNvSpPr/>
            <p:nvPr/>
          </p:nvSpPr>
          <p:spPr>
            <a:xfrm>
              <a:off x="1787525" y="4214812"/>
              <a:ext cx="36512" cy="1447800"/>
            </a:xfrm>
            <a:prstGeom prst="line">
              <a:avLst/>
            </a:prstGeom>
            <a:ln w="25400" cap="flat" cmpd="sng">
              <a:solidFill>
                <a:schemeClr val="tx1"/>
              </a:solidFill>
              <a:prstDash val="solid"/>
              <a:headEnd type="none" w="med" len="med"/>
              <a:tailEnd type="none" w="med" len="med"/>
            </a:ln>
          </p:spPr>
        </p:sp>
        <p:sp>
          <p:nvSpPr>
            <p:cNvPr id="76832" name="Line 25"/>
            <p:cNvSpPr/>
            <p:nvPr/>
          </p:nvSpPr>
          <p:spPr>
            <a:xfrm rot="120000" flipH="1">
              <a:off x="1154112" y="4203700"/>
              <a:ext cx="584200" cy="708025"/>
            </a:xfrm>
            <a:prstGeom prst="line">
              <a:avLst/>
            </a:prstGeom>
            <a:ln w="25400" cap="flat" cmpd="sng">
              <a:solidFill>
                <a:schemeClr val="tx1"/>
              </a:solidFill>
              <a:prstDash val="solid"/>
              <a:headEnd type="none" w="med" len="med"/>
              <a:tailEnd type="none" w="med" len="med"/>
            </a:ln>
          </p:spPr>
        </p:sp>
        <p:sp>
          <p:nvSpPr>
            <p:cNvPr id="76833" name="Line 25"/>
            <p:cNvSpPr/>
            <p:nvPr/>
          </p:nvSpPr>
          <p:spPr>
            <a:xfrm rot="120000">
              <a:off x="1752600" y="4237037"/>
              <a:ext cx="1319212" cy="1403350"/>
            </a:xfrm>
            <a:prstGeom prst="line">
              <a:avLst/>
            </a:prstGeom>
            <a:ln w="25400" cap="flat" cmpd="sng">
              <a:solidFill>
                <a:schemeClr val="tx1"/>
              </a:solidFill>
              <a:prstDash val="solid"/>
              <a:headEnd type="none" w="med" len="med"/>
              <a:tailEnd type="none" w="med" len="med"/>
            </a:ln>
          </p:spPr>
        </p:sp>
        <p:sp>
          <p:nvSpPr>
            <p:cNvPr id="76834" name="Line 25"/>
            <p:cNvSpPr/>
            <p:nvPr/>
          </p:nvSpPr>
          <p:spPr>
            <a:xfrm rot="120000">
              <a:off x="1130300" y="4913312"/>
              <a:ext cx="708025" cy="660400"/>
            </a:xfrm>
            <a:prstGeom prst="line">
              <a:avLst/>
            </a:prstGeom>
            <a:ln w="25400" cap="flat" cmpd="sng">
              <a:solidFill>
                <a:schemeClr val="tx1"/>
              </a:solidFill>
              <a:prstDash val="solid"/>
              <a:headEnd type="none" w="med" len="med"/>
              <a:tailEnd type="none" w="med" len="med"/>
            </a:ln>
          </p:spPr>
        </p:sp>
        <p:sp>
          <p:nvSpPr>
            <p:cNvPr id="76835" name="AutoShape 11"/>
            <p:cNvSpPr/>
            <p:nvPr/>
          </p:nvSpPr>
          <p:spPr>
            <a:xfrm>
              <a:off x="1708150" y="4138612"/>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36" name="AutoShape 11"/>
            <p:cNvSpPr/>
            <p:nvPr/>
          </p:nvSpPr>
          <p:spPr>
            <a:xfrm>
              <a:off x="1065212" y="4824412"/>
              <a:ext cx="119063"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37" name="AutoShape 11"/>
            <p:cNvSpPr/>
            <p:nvPr/>
          </p:nvSpPr>
          <p:spPr>
            <a:xfrm>
              <a:off x="2317750" y="4824412"/>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38" name="AutoShape 11"/>
            <p:cNvSpPr/>
            <p:nvPr/>
          </p:nvSpPr>
          <p:spPr>
            <a:xfrm>
              <a:off x="3502025" y="4824412"/>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39" name="AutoShape 11"/>
            <p:cNvSpPr/>
            <p:nvPr/>
          </p:nvSpPr>
          <p:spPr>
            <a:xfrm>
              <a:off x="2886075" y="4138612"/>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40" name="AutoShape 11"/>
            <p:cNvSpPr/>
            <p:nvPr/>
          </p:nvSpPr>
          <p:spPr>
            <a:xfrm>
              <a:off x="1751012" y="5543550"/>
              <a:ext cx="119063"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6841" name="AutoShape 11"/>
            <p:cNvSpPr/>
            <p:nvPr/>
          </p:nvSpPr>
          <p:spPr>
            <a:xfrm>
              <a:off x="2927350" y="5543550"/>
              <a:ext cx="119062"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grpSp>
      <p:sp>
        <p:nvSpPr>
          <p:cNvPr id="108" name="矩形 107"/>
          <p:cNvSpPr/>
          <p:nvPr/>
        </p:nvSpPr>
        <p:spPr bwMode="auto">
          <a:xfrm>
            <a:off x="5181600" y="5500688"/>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09" name="矩形 108"/>
          <p:cNvSpPr/>
          <p:nvPr/>
        </p:nvSpPr>
        <p:spPr bwMode="auto">
          <a:xfrm>
            <a:off x="6553200" y="5500688"/>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10" name="文字方塊 109"/>
          <p:cNvSpPr txBox="1"/>
          <p:nvPr/>
        </p:nvSpPr>
        <p:spPr>
          <a:xfrm>
            <a:off x="5411788" y="5881688"/>
            <a:ext cx="13716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t>3-coloring</a:t>
            </a:r>
            <a:endParaRPr lang="zh-TW" altLang="en-US" sz="1800" dirty="0"/>
          </a:p>
        </p:txBody>
      </p:sp>
      <p:sp>
        <p:nvSpPr>
          <p:cNvPr id="111" name="文字方塊 110"/>
          <p:cNvSpPr txBox="1"/>
          <p:nvPr/>
        </p:nvSpPr>
        <p:spPr>
          <a:xfrm>
            <a:off x="4267200" y="6186488"/>
            <a:ext cx="38290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r>
              <a:rPr lang="en-US" altLang="zh-TW" sz="1800" dirty="0">
                <a:solidFill>
                  <a:srgbClr val="0000CC"/>
                </a:solidFill>
              </a:rPr>
              <a:t>the less number of colors</a:t>
            </a:r>
            <a:r>
              <a:rPr lang="en-US" altLang="zh-CN" sz="1800" dirty="0">
                <a:solidFill>
                  <a:srgbClr val="0000CC"/>
                </a:solidFill>
              </a:rPr>
              <a:t>, </a:t>
            </a:r>
            <a:r>
              <a:rPr lang="en-US" altLang="zh-TW" sz="1800" dirty="0">
                <a:solidFill>
                  <a:srgbClr val="0000CC"/>
                </a:solidFill>
              </a:rPr>
              <a:t>the better</a:t>
            </a:r>
            <a:endParaRPr lang="zh-TW" altLang="en-US" sz="18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1">
                                            <p:txEl>
                                              <p:charRg st="0" end="8"/>
                                            </p:txEl>
                                          </p:spTgt>
                                        </p:tgtEl>
                                        <p:attrNameLst>
                                          <p:attrName>style.visibility</p:attrName>
                                        </p:attrNameLst>
                                      </p:cBhvr>
                                      <p:to>
                                        <p:strVal val="visible"/>
                                      </p:to>
                                    </p:set>
                                    <p:anim calcmode="lin" valueType="num">
                                      <p:cBhvr additive="base">
                                        <p:cTn id="7" dur="500" fill="hold"/>
                                        <p:tgtEl>
                                          <p:spTgt spid="73731">
                                            <p:txEl>
                                              <p:charRg st="0"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1">
                                            <p:txEl>
                                              <p:charRg st="0"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3731">
                                            <p:txEl>
                                              <p:charRg st="8" end="160"/>
                                            </p:txEl>
                                          </p:spTgt>
                                        </p:tgtEl>
                                        <p:attrNameLst>
                                          <p:attrName>style.visibility</p:attrName>
                                        </p:attrNameLst>
                                      </p:cBhvr>
                                      <p:to>
                                        <p:strVal val="visible"/>
                                      </p:to>
                                    </p:set>
                                    <p:anim calcmode="lin" valueType="num">
                                      <p:cBhvr additive="base">
                                        <p:cTn id="13" dur="500" fill="hold"/>
                                        <p:tgtEl>
                                          <p:spTgt spid="73731">
                                            <p:txEl>
                                              <p:charRg st="8" end="16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731">
                                            <p:txEl>
                                              <p:charRg st="8" end="16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ppt_x"/>
                                          </p:val>
                                        </p:tav>
                                        <p:tav tm="100000">
                                          <p:val>
                                            <p:strVal val="#ppt_x"/>
                                          </p:val>
                                        </p:tav>
                                      </p:tavLst>
                                    </p:anim>
                                    <p:anim calcmode="lin" valueType="num">
                                      <p:cBhvr additive="base">
                                        <p:cTn id="2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8"/>
                                        </p:tgtEl>
                                        <p:attrNameLst>
                                          <p:attrName>style.visibility</p:attrName>
                                        </p:attrNameLst>
                                      </p:cBhvr>
                                      <p:to>
                                        <p:strVal val="visible"/>
                                      </p:to>
                                    </p:set>
                                    <p:anim calcmode="lin" valueType="num">
                                      <p:cBhvr additive="base">
                                        <p:cTn id="31" dur="500" fill="hold"/>
                                        <p:tgtEl>
                                          <p:spTgt spid="68"/>
                                        </p:tgtEl>
                                        <p:attrNameLst>
                                          <p:attrName>ppt_x</p:attrName>
                                        </p:attrNameLst>
                                      </p:cBhvr>
                                      <p:tavLst>
                                        <p:tav tm="0">
                                          <p:val>
                                            <p:strVal val="#ppt_x"/>
                                          </p:val>
                                        </p:tav>
                                        <p:tav tm="100000">
                                          <p:val>
                                            <p:strVal val="#ppt_x"/>
                                          </p:val>
                                        </p:tav>
                                      </p:tavLst>
                                    </p:anim>
                                    <p:anim calcmode="lin" valueType="num">
                                      <p:cBhvr additive="base">
                                        <p:cTn id="32"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7"/>
                                        </p:tgtEl>
                                        <p:attrNameLst>
                                          <p:attrName>style.visibility</p:attrName>
                                        </p:attrNameLst>
                                      </p:cBhvr>
                                      <p:to>
                                        <p:strVal val="visible"/>
                                      </p:to>
                                    </p:set>
                                    <p:anim calcmode="lin" valueType="num">
                                      <p:cBhvr additive="base">
                                        <p:cTn id="37" dur="500" fill="hold"/>
                                        <p:tgtEl>
                                          <p:spTgt spid="67"/>
                                        </p:tgtEl>
                                        <p:attrNameLst>
                                          <p:attrName>ppt_x</p:attrName>
                                        </p:attrNameLst>
                                      </p:cBhvr>
                                      <p:tavLst>
                                        <p:tav tm="0">
                                          <p:val>
                                            <p:strVal val="#ppt_x"/>
                                          </p:val>
                                        </p:tav>
                                        <p:tav tm="100000">
                                          <p:val>
                                            <p:strVal val="#ppt_x"/>
                                          </p:val>
                                        </p:tav>
                                      </p:tavLst>
                                    </p:anim>
                                    <p:anim calcmode="lin" valueType="num">
                                      <p:cBhvr additive="base">
                                        <p:cTn id="38"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9"/>
                                        </p:tgtEl>
                                        <p:attrNameLst>
                                          <p:attrName>style.visibility</p:attrName>
                                        </p:attrNameLst>
                                      </p:cBhvr>
                                      <p:to>
                                        <p:strVal val="visible"/>
                                      </p:to>
                                    </p:set>
                                    <p:anim calcmode="lin" valueType="num">
                                      <p:cBhvr additive="base">
                                        <p:cTn id="43" dur="500" fill="hold"/>
                                        <p:tgtEl>
                                          <p:spTgt spid="69"/>
                                        </p:tgtEl>
                                        <p:attrNameLst>
                                          <p:attrName>ppt_x</p:attrName>
                                        </p:attrNameLst>
                                      </p:cBhvr>
                                      <p:tavLst>
                                        <p:tav tm="0">
                                          <p:val>
                                            <p:strVal val="#ppt_x"/>
                                          </p:val>
                                        </p:tav>
                                        <p:tav tm="100000">
                                          <p:val>
                                            <p:strVal val="#ppt_x"/>
                                          </p:val>
                                        </p:tav>
                                      </p:tavLst>
                                    </p:anim>
                                    <p:anim calcmode="lin" valueType="num">
                                      <p:cBhvr additive="base">
                                        <p:cTn id="44"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1"/>
                                        </p:tgtEl>
                                        <p:attrNameLst>
                                          <p:attrName>style.visibility</p:attrName>
                                        </p:attrNameLst>
                                      </p:cBhvr>
                                      <p:to>
                                        <p:strVal val="visible"/>
                                      </p:to>
                                    </p:set>
                                    <p:anim calcmode="lin" valueType="num">
                                      <p:cBhvr additive="base">
                                        <p:cTn id="49" dur="500" fill="hold"/>
                                        <p:tgtEl>
                                          <p:spTgt spid="71"/>
                                        </p:tgtEl>
                                        <p:attrNameLst>
                                          <p:attrName>ppt_x</p:attrName>
                                        </p:attrNameLst>
                                      </p:cBhvr>
                                      <p:tavLst>
                                        <p:tav tm="0">
                                          <p:val>
                                            <p:strVal val="#ppt_x"/>
                                          </p:val>
                                        </p:tav>
                                        <p:tav tm="100000">
                                          <p:val>
                                            <p:strVal val="#ppt_x"/>
                                          </p:val>
                                        </p:tav>
                                      </p:tavLst>
                                    </p:anim>
                                    <p:anim calcmode="lin" valueType="num">
                                      <p:cBhvr additive="base">
                                        <p:cTn id="50"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0"/>
                                        </p:tgtEl>
                                        <p:attrNameLst>
                                          <p:attrName>style.visibility</p:attrName>
                                        </p:attrNameLst>
                                      </p:cBhvr>
                                      <p:to>
                                        <p:strVal val="visible"/>
                                      </p:to>
                                    </p:set>
                                    <p:anim calcmode="lin" valueType="num">
                                      <p:cBhvr additive="base">
                                        <p:cTn id="55" dur="500" fill="hold"/>
                                        <p:tgtEl>
                                          <p:spTgt spid="80"/>
                                        </p:tgtEl>
                                        <p:attrNameLst>
                                          <p:attrName>ppt_x</p:attrName>
                                        </p:attrNameLst>
                                      </p:cBhvr>
                                      <p:tavLst>
                                        <p:tav tm="0">
                                          <p:val>
                                            <p:strVal val="#ppt_x"/>
                                          </p:val>
                                        </p:tav>
                                        <p:tav tm="100000">
                                          <p:val>
                                            <p:strVal val="#ppt_x"/>
                                          </p:val>
                                        </p:tav>
                                      </p:tavLst>
                                    </p:anim>
                                    <p:anim calcmode="lin" valueType="num">
                                      <p:cBhvr additive="base">
                                        <p:cTn id="56"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79"/>
                                        </p:tgtEl>
                                        <p:attrNameLst>
                                          <p:attrName>style.visibility</p:attrName>
                                        </p:attrNameLst>
                                      </p:cBhvr>
                                      <p:to>
                                        <p:strVal val="visible"/>
                                      </p:to>
                                    </p:set>
                                    <p:anim calcmode="lin" valueType="num">
                                      <p:cBhvr additive="base">
                                        <p:cTn id="61" dur="500" fill="hold"/>
                                        <p:tgtEl>
                                          <p:spTgt spid="79"/>
                                        </p:tgtEl>
                                        <p:attrNameLst>
                                          <p:attrName>ppt_x</p:attrName>
                                        </p:attrNameLst>
                                      </p:cBhvr>
                                      <p:tavLst>
                                        <p:tav tm="0">
                                          <p:val>
                                            <p:strVal val="#ppt_x"/>
                                          </p:val>
                                        </p:tav>
                                        <p:tav tm="100000">
                                          <p:val>
                                            <p:strVal val="#ppt_x"/>
                                          </p:val>
                                        </p:tav>
                                      </p:tavLst>
                                    </p:anim>
                                    <p:anim calcmode="lin" valueType="num">
                                      <p:cBhvr additive="base">
                                        <p:cTn id="62"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70"/>
                                        </p:tgtEl>
                                        <p:attrNameLst>
                                          <p:attrName>style.visibility</p:attrName>
                                        </p:attrNameLst>
                                      </p:cBhvr>
                                      <p:to>
                                        <p:strVal val="visible"/>
                                      </p:to>
                                    </p:set>
                                    <p:anim calcmode="lin" valueType="num">
                                      <p:cBhvr additive="base">
                                        <p:cTn id="67" dur="500" fill="hold"/>
                                        <p:tgtEl>
                                          <p:spTgt spid="70"/>
                                        </p:tgtEl>
                                        <p:attrNameLst>
                                          <p:attrName>ppt_x</p:attrName>
                                        </p:attrNameLst>
                                      </p:cBhvr>
                                      <p:tavLst>
                                        <p:tav tm="0">
                                          <p:val>
                                            <p:strVal val="#ppt_x"/>
                                          </p:val>
                                        </p:tav>
                                        <p:tav tm="100000">
                                          <p:val>
                                            <p:strVal val="#ppt_x"/>
                                          </p:val>
                                        </p:tav>
                                      </p:tavLst>
                                    </p:anim>
                                    <p:anim calcmode="lin" valueType="num">
                                      <p:cBhvr additive="base">
                                        <p:cTn id="68"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81"/>
                                        </p:tgtEl>
                                        <p:attrNameLst>
                                          <p:attrName>style.visibility</p:attrName>
                                        </p:attrNameLst>
                                      </p:cBhvr>
                                      <p:to>
                                        <p:strVal val="visible"/>
                                      </p:to>
                                    </p:set>
                                    <p:anim calcmode="lin" valueType="num">
                                      <p:cBhvr additive="base">
                                        <p:cTn id="73" dur="500" fill="hold"/>
                                        <p:tgtEl>
                                          <p:spTgt spid="81"/>
                                        </p:tgtEl>
                                        <p:attrNameLst>
                                          <p:attrName>ppt_x</p:attrName>
                                        </p:attrNameLst>
                                      </p:cBhvr>
                                      <p:tavLst>
                                        <p:tav tm="0">
                                          <p:val>
                                            <p:strVal val="#ppt_x"/>
                                          </p:val>
                                        </p:tav>
                                        <p:tav tm="100000">
                                          <p:val>
                                            <p:strVal val="#ppt_x"/>
                                          </p:val>
                                        </p:tav>
                                      </p:tavLst>
                                    </p:anim>
                                    <p:anim calcmode="lin" valueType="num">
                                      <p:cBhvr additive="base">
                                        <p:cTn id="74"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gtEl>
                                        <p:attrNameLst>
                                          <p:attrName>style.visibility</p:attrName>
                                        </p:attrNameLst>
                                      </p:cBhvr>
                                      <p:to>
                                        <p:strVal val="visible"/>
                                      </p:to>
                                    </p:set>
                                    <p:anim calcmode="lin" valueType="num">
                                      <p:cBhvr additive="base">
                                        <p:cTn id="79" dur="500" fill="hold"/>
                                        <p:tgtEl>
                                          <p:spTgt spid="3"/>
                                        </p:tgtEl>
                                        <p:attrNameLst>
                                          <p:attrName>ppt_x</p:attrName>
                                        </p:attrNameLst>
                                      </p:cBhvr>
                                      <p:tavLst>
                                        <p:tav tm="0">
                                          <p:val>
                                            <p:strVal val="#ppt_x"/>
                                          </p:val>
                                        </p:tav>
                                        <p:tav tm="100000">
                                          <p:val>
                                            <p:strVal val="#ppt_x"/>
                                          </p:val>
                                        </p:tav>
                                      </p:tavLst>
                                    </p:anim>
                                    <p:anim calcmode="lin" valueType="num">
                                      <p:cBhvr additive="base">
                                        <p:cTn id="8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86"/>
                                        </p:tgtEl>
                                        <p:attrNameLst>
                                          <p:attrName>style.visibility</p:attrName>
                                        </p:attrNameLst>
                                      </p:cBhvr>
                                      <p:to>
                                        <p:strVal val="visible"/>
                                      </p:to>
                                    </p:set>
                                    <p:anim calcmode="lin" valueType="num">
                                      <p:cBhvr additive="base">
                                        <p:cTn id="85" dur="500" fill="hold"/>
                                        <p:tgtEl>
                                          <p:spTgt spid="86"/>
                                        </p:tgtEl>
                                        <p:attrNameLst>
                                          <p:attrName>ppt_x</p:attrName>
                                        </p:attrNameLst>
                                      </p:cBhvr>
                                      <p:tavLst>
                                        <p:tav tm="0">
                                          <p:val>
                                            <p:strVal val="#ppt_x"/>
                                          </p:val>
                                        </p:tav>
                                        <p:tav tm="100000">
                                          <p:val>
                                            <p:strVal val="#ppt_x"/>
                                          </p:val>
                                        </p:tav>
                                      </p:tavLst>
                                    </p:anim>
                                    <p:anim calcmode="lin" valueType="num">
                                      <p:cBhvr additive="base">
                                        <p:cTn id="86"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85"/>
                                        </p:tgtEl>
                                        <p:attrNameLst>
                                          <p:attrName>style.visibility</p:attrName>
                                        </p:attrNameLst>
                                      </p:cBhvr>
                                      <p:to>
                                        <p:strVal val="visible"/>
                                      </p:to>
                                    </p:set>
                                    <p:anim calcmode="lin" valueType="num">
                                      <p:cBhvr additive="base">
                                        <p:cTn id="91" dur="500" fill="hold"/>
                                        <p:tgtEl>
                                          <p:spTgt spid="85"/>
                                        </p:tgtEl>
                                        <p:attrNameLst>
                                          <p:attrName>ppt_x</p:attrName>
                                        </p:attrNameLst>
                                      </p:cBhvr>
                                      <p:tavLst>
                                        <p:tav tm="0">
                                          <p:val>
                                            <p:strVal val="#ppt_x"/>
                                          </p:val>
                                        </p:tav>
                                        <p:tav tm="100000">
                                          <p:val>
                                            <p:strVal val="#ppt_x"/>
                                          </p:val>
                                        </p:tav>
                                      </p:tavLst>
                                    </p:anim>
                                    <p:anim calcmode="lin" valueType="num">
                                      <p:cBhvr additive="base">
                                        <p:cTn id="92"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08"/>
                                        </p:tgtEl>
                                        <p:attrNameLst>
                                          <p:attrName>style.visibility</p:attrName>
                                        </p:attrNameLst>
                                      </p:cBhvr>
                                      <p:to>
                                        <p:strVal val="visible"/>
                                      </p:to>
                                    </p:set>
                                    <p:anim calcmode="lin" valueType="num">
                                      <p:cBhvr additive="base">
                                        <p:cTn id="97" dur="500" fill="hold"/>
                                        <p:tgtEl>
                                          <p:spTgt spid="108"/>
                                        </p:tgtEl>
                                        <p:attrNameLst>
                                          <p:attrName>ppt_x</p:attrName>
                                        </p:attrNameLst>
                                      </p:cBhvr>
                                      <p:tavLst>
                                        <p:tav tm="0">
                                          <p:val>
                                            <p:strVal val="#ppt_x"/>
                                          </p:val>
                                        </p:tav>
                                        <p:tav tm="100000">
                                          <p:val>
                                            <p:strVal val="#ppt_x"/>
                                          </p:val>
                                        </p:tav>
                                      </p:tavLst>
                                    </p:anim>
                                    <p:anim calcmode="lin" valueType="num">
                                      <p:cBhvr additive="base">
                                        <p:cTn id="98"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88"/>
                                        </p:tgtEl>
                                        <p:attrNameLst>
                                          <p:attrName>style.visibility</p:attrName>
                                        </p:attrNameLst>
                                      </p:cBhvr>
                                      <p:to>
                                        <p:strVal val="visible"/>
                                      </p:to>
                                    </p:set>
                                    <p:anim calcmode="lin" valueType="num">
                                      <p:cBhvr additive="base">
                                        <p:cTn id="103" dur="500" fill="hold"/>
                                        <p:tgtEl>
                                          <p:spTgt spid="88"/>
                                        </p:tgtEl>
                                        <p:attrNameLst>
                                          <p:attrName>ppt_x</p:attrName>
                                        </p:attrNameLst>
                                      </p:cBhvr>
                                      <p:tavLst>
                                        <p:tav tm="0">
                                          <p:val>
                                            <p:strVal val="#ppt_x"/>
                                          </p:val>
                                        </p:tav>
                                        <p:tav tm="100000">
                                          <p:val>
                                            <p:strVal val="#ppt_x"/>
                                          </p:val>
                                        </p:tav>
                                      </p:tavLst>
                                    </p:anim>
                                    <p:anim calcmode="lin" valueType="num">
                                      <p:cBhvr additive="base">
                                        <p:cTn id="104"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87"/>
                                        </p:tgtEl>
                                        <p:attrNameLst>
                                          <p:attrName>style.visibility</p:attrName>
                                        </p:attrNameLst>
                                      </p:cBhvr>
                                      <p:to>
                                        <p:strVal val="visible"/>
                                      </p:to>
                                    </p:set>
                                    <p:anim calcmode="lin" valueType="num">
                                      <p:cBhvr additive="base">
                                        <p:cTn id="109" dur="500" fill="hold"/>
                                        <p:tgtEl>
                                          <p:spTgt spid="87"/>
                                        </p:tgtEl>
                                        <p:attrNameLst>
                                          <p:attrName>ppt_x</p:attrName>
                                        </p:attrNameLst>
                                      </p:cBhvr>
                                      <p:tavLst>
                                        <p:tav tm="0">
                                          <p:val>
                                            <p:strVal val="#ppt_x"/>
                                          </p:val>
                                        </p:tav>
                                        <p:tav tm="100000">
                                          <p:val>
                                            <p:strVal val="#ppt_x"/>
                                          </p:val>
                                        </p:tav>
                                      </p:tavLst>
                                    </p:anim>
                                    <p:anim calcmode="lin" valueType="num">
                                      <p:cBhvr additive="base">
                                        <p:cTn id="110"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09"/>
                                        </p:tgtEl>
                                        <p:attrNameLst>
                                          <p:attrName>style.visibility</p:attrName>
                                        </p:attrNameLst>
                                      </p:cBhvr>
                                      <p:to>
                                        <p:strVal val="visible"/>
                                      </p:to>
                                    </p:set>
                                    <p:anim calcmode="lin" valueType="num">
                                      <p:cBhvr additive="base">
                                        <p:cTn id="115" dur="500" fill="hold"/>
                                        <p:tgtEl>
                                          <p:spTgt spid="109"/>
                                        </p:tgtEl>
                                        <p:attrNameLst>
                                          <p:attrName>ppt_x</p:attrName>
                                        </p:attrNameLst>
                                      </p:cBhvr>
                                      <p:tavLst>
                                        <p:tav tm="0">
                                          <p:val>
                                            <p:strVal val="#ppt_x"/>
                                          </p:val>
                                        </p:tav>
                                        <p:tav tm="100000">
                                          <p:val>
                                            <p:strVal val="#ppt_x"/>
                                          </p:val>
                                        </p:tav>
                                      </p:tavLst>
                                    </p:anim>
                                    <p:anim calcmode="lin" valueType="num">
                                      <p:cBhvr additive="base">
                                        <p:cTn id="116"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89"/>
                                        </p:tgtEl>
                                        <p:attrNameLst>
                                          <p:attrName>style.visibility</p:attrName>
                                        </p:attrNameLst>
                                      </p:cBhvr>
                                      <p:to>
                                        <p:strVal val="visible"/>
                                      </p:to>
                                    </p:set>
                                    <p:anim calcmode="lin" valueType="num">
                                      <p:cBhvr additive="base">
                                        <p:cTn id="121" dur="500" fill="hold"/>
                                        <p:tgtEl>
                                          <p:spTgt spid="89"/>
                                        </p:tgtEl>
                                        <p:attrNameLst>
                                          <p:attrName>ppt_x</p:attrName>
                                        </p:attrNameLst>
                                      </p:cBhvr>
                                      <p:tavLst>
                                        <p:tav tm="0">
                                          <p:val>
                                            <p:strVal val="#ppt_x"/>
                                          </p:val>
                                        </p:tav>
                                        <p:tav tm="100000">
                                          <p:val>
                                            <p:strVal val="#ppt_x"/>
                                          </p:val>
                                        </p:tav>
                                      </p:tavLst>
                                    </p:anim>
                                    <p:anim calcmode="lin" valueType="num">
                                      <p:cBhvr additive="base">
                                        <p:cTn id="122"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10"/>
                                        </p:tgtEl>
                                        <p:attrNameLst>
                                          <p:attrName>style.visibility</p:attrName>
                                        </p:attrNameLst>
                                      </p:cBhvr>
                                      <p:to>
                                        <p:strVal val="visible"/>
                                      </p:to>
                                    </p:set>
                                    <p:anim calcmode="lin" valueType="num">
                                      <p:cBhvr additive="base">
                                        <p:cTn id="127" dur="500" fill="hold"/>
                                        <p:tgtEl>
                                          <p:spTgt spid="110"/>
                                        </p:tgtEl>
                                        <p:attrNameLst>
                                          <p:attrName>ppt_x</p:attrName>
                                        </p:attrNameLst>
                                      </p:cBhvr>
                                      <p:tavLst>
                                        <p:tav tm="0">
                                          <p:val>
                                            <p:strVal val="#ppt_x"/>
                                          </p:val>
                                        </p:tav>
                                        <p:tav tm="100000">
                                          <p:val>
                                            <p:strVal val="#ppt_x"/>
                                          </p:val>
                                        </p:tav>
                                      </p:tavLst>
                                    </p:anim>
                                    <p:anim calcmode="lin" valueType="num">
                                      <p:cBhvr additive="base">
                                        <p:cTn id="128" dur="500" fill="hold"/>
                                        <p:tgtEl>
                                          <p:spTgt spid="110"/>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111"/>
                                        </p:tgtEl>
                                        <p:attrNameLst>
                                          <p:attrName>style.visibility</p:attrName>
                                        </p:attrNameLst>
                                      </p:cBhvr>
                                      <p:to>
                                        <p:strVal val="visible"/>
                                      </p:to>
                                    </p:set>
                                    <p:anim calcmode="lin" valueType="num">
                                      <p:cBhvr additive="base">
                                        <p:cTn id="133" dur="500" fill="hold"/>
                                        <p:tgtEl>
                                          <p:spTgt spid="111"/>
                                        </p:tgtEl>
                                        <p:attrNameLst>
                                          <p:attrName>ppt_x</p:attrName>
                                        </p:attrNameLst>
                                      </p:cBhvr>
                                      <p:tavLst>
                                        <p:tav tm="0">
                                          <p:val>
                                            <p:strVal val="#ppt_x"/>
                                          </p:val>
                                        </p:tav>
                                        <p:tav tm="100000">
                                          <p:val>
                                            <p:strVal val="#ppt_x"/>
                                          </p:val>
                                        </p:tav>
                                      </p:tavLst>
                                    </p:anim>
                                    <p:anim calcmode="lin" valueType="num">
                                      <p:cBhvr additive="base">
                                        <p:cTn id="134"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P spid="32" grpId="0"/>
      <p:bldP spid="67" grpId="0"/>
      <p:bldP spid="68" grpId="0"/>
      <p:bldP spid="69" grpId="0"/>
      <p:bldP spid="70" grpId="0"/>
      <p:bldP spid="71" grpId="0"/>
      <p:bldP spid="79" grpId="0"/>
      <p:bldP spid="80" grpId="0"/>
      <p:bldP spid="81" grpId="0"/>
      <p:bldP spid="85" grpId="0"/>
      <p:bldP spid="86" grpId="0"/>
      <p:bldP spid="87" grpId="0"/>
      <p:bldP spid="88" grpId="0"/>
      <p:bldP spid="89" grpId="0"/>
      <p:bldP spid="108" grpId="0"/>
      <p:bldP spid="109" grpId="0"/>
      <p:bldP spid="110" grpId="0"/>
      <p:bldP spid="11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3"/>
          <p:cNvSpPr>
            <a:spLocks noGrp="1"/>
          </p:cNvSpPr>
          <p:nvPr>
            <p:ph type="body"/>
          </p:nvPr>
        </p:nvSpPr>
        <p:spPr>
          <a:xfrm>
            <a:off x="304800" y="533400"/>
            <a:ext cx="8534400" cy="1752600"/>
          </a:xfrm>
        </p:spPr>
        <p:txBody>
          <a:bodyPr vert="horz" wrap="square" lIns="91440" tIns="45720" rIns="91440" bIns="45720" anchor="t"/>
          <a:p>
            <a:pPr eaLnBrk="1" hangingPunct="1">
              <a:lnSpc>
                <a:spcPct val="90000"/>
              </a:lnSpc>
              <a:buNone/>
            </a:pPr>
            <a:r>
              <a:rPr lang="en-US" altLang="zh-TW" sz="2800" b="1" dirty="0">
                <a:solidFill>
                  <a:srgbClr val="008000"/>
                </a:solidFill>
              </a:rPr>
              <a:t>Def. 2:</a:t>
            </a:r>
            <a:endParaRPr lang="en-US" altLang="zh-TW" sz="2800" b="1" dirty="0">
              <a:solidFill>
                <a:srgbClr val="008000"/>
              </a:solidFill>
            </a:endParaRPr>
          </a:p>
          <a:p>
            <a:pPr eaLnBrk="1" hangingPunct="1">
              <a:lnSpc>
                <a:spcPct val="90000"/>
              </a:lnSpc>
              <a:buNone/>
            </a:pPr>
            <a:r>
              <a:rPr lang="en-US" altLang="zh-TW" sz="2800" dirty="0"/>
              <a:t>   The </a:t>
            </a:r>
            <a:r>
              <a:rPr lang="en-US" altLang="zh-TW" sz="2800" i="1" dirty="0">
                <a:solidFill>
                  <a:srgbClr val="0000CC"/>
                </a:solidFill>
              </a:rPr>
              <a:t>chromatic number</a:t>
            </a:r>
            <a:r>
              <a:rPr lang="en-US" altLang="zh-TW" sz="2800" dirty="0"/>
              <a:t> of a graph is the least number of colors needed for a coloring of this graph. (denoted by </a:t>
            </a:r>
            <a:r>
              <a:rPr lang="en-US" altLang="zh-TW" sz="2800" dirty="0">
                <a:solidFill>
                  <a:srgbClr val="0000CC"/>
                </a:solidFill>
                <a:latin typeface="Symbol" panose="05050102010706020507" pitchFamily="18" charset="2"/>
              </a:rPr>
              <a:t>c</a:t>
            </a:r>
            <a:r>
              <a:rPr lang="en-US" altLang="zh-TW" sz="2800" dirty="0">
                <a:solidFill>
                  <a:srgbClr val="0000CC"/>
                </a:solidFill>
              </a:rPr>
              <a:t>(</a:t>
            </a:r>
            <a:r>
              <a:rPr lang="en-US" altLang="zh-TW" sz="2800" i="1" dirty="0">
                <a:solidFill>
                  <a:srgbClr val="0000CC"/>
                </a:solidFill>
                <a:latin typeface="Times New Roman" panose="02020603050405020304" pitchFamily="18" charset="0"/>
              </a:rPr>
              <a:t>G</a:t>
            </a:r>
            <a:r>
              <a:rPr lang="en-US" altLang="zh-TW" sz="2800" dirty="0">
                <a:solidFill>
                  <a:srgbClr val="0000CC"/>
                </a:solidFill>
              </a:rPr>
              <a:t>)</a:t>
            </a:r>
            <a:r>
              <a:rPr lang="en-US" altLang="zh-TW" sz="2800" dirty="0"/>
              <a:t>)</a:t>
            </a:r>
            <a:endParaRPr lang="en-US" altLang="zh-TW" sz="2800" dirty="0"/>
          </a:p>
        </p:txBody>
      </p:sp>
      <p:sp>
        <p:nvSpPr>
          <p:cNvPr id="77827"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26" name="矩形 25"/>
          <p:cNvSpPr/>
          <p:nvPr/>
        </p:nvSpPr>
        <p:spPr bwMode="auto">
          <a:xfrm>
            <a:off x="2667000" y="32004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7" name="矩形 26"/>
          <p:cNvSpPr/>
          <p:nvPr/>
        </p:nvSpPr>
        <p:spPr bwMode="auto">
          <a:xfrm>
            <a:off x="3733800" y="32004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8" name="矩形 27"/>
          <p:cNvSpPr/>
          <p:nvPr/>
        </p:nvSpPr>
        <p:spPr bwMode="auto">
          <a:xfrm>
            <a:off x="2125663" y="431165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5</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9" name="矩形 28"/>
          <p:cNvSpPr/>
          <p:nvPr/>
        </p:nvSpPr>
        <p:spPr bwMode="auto">
          <a:xfrm>
            <a:off x="3276600" y="507365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4</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0" name="矩形 29"/>
          <p:cNvSpPr/>
          <p:nvPr/>
        </p:nvSpPr>
        <p:spPr bwMode="auto">
          <a:xfrm>
            <a:off x="4419600" y="42672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1" name="矩形 30"/>
          <p:cNvSpPr/>
          <p:nvPr/>
        </p:nvSpPr>
        <p:spPr>
          <a:xfrm>
            <a:off x="304800" y="2438400"/>
            <a:ext cx="8305800" cy="584200"/>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3200" b="1" i="0" u="none" strike="noStrike" kern="0" cap="none" spc="0" normalizeH="0" baseline="0" noProof="0" dirty="0">
                <a:ln>
                  <a:noFill/>
                </a:ln>
                <a:solidFill>
                  <a:srgbClr val="008000"/>
                </a:solidFill>
                <a:effectLst/>
                <a:uLnTx/>
                <a:uFillTx/>
                <a:latin typeface="Arial" panose="020B0604020202020204"/>
                <a:ea typeface="PMingLiU"/>
                <a:cs typeface="+mn-cs"/>
              </a:rPr>
              <a:t>Example 2:</a:t>
            </a:r>
            <a:r>
              <a:rPr kumimoji="1" lang="en-US" altLang="zh-TW" sz="3200" b="0" i="0" u="none" strike="noStrike" kern="0" cap="none" spc="0" normalizeH="0" baseline="0" noProof="0" dirty="0">
                <a:ln>
                  <a:noFill/>
                </a:ln>
                <a:solidFill>
                  <a:schemeClr val="tx1"/>
                </a:solidFill>
                <a:effectLst/>
                <a:uLnTx/>
                <a:uFillTx/>
                <a:latin typeface="Symbol" panose="05050102010706020507" pitchFamily="18" charset="2"/>
                <a:ea typeface="PMingLiU"/>
                <a:cs typeface="+mn-cs"/>
              </a:rPr>
              <a:t> c</a:t>
            </a:r>
            <a:r>
              <a:rPr kumimoji="1" lang="en-US" altLang="zh-TW" sz="3200" b="0" i="0" u="none" strike="noStrike" kern="0" cap="none" spc="0" normalizeH="0" baseline="0" noProof="0" dirty="0">
                <a:ln>
                  <a:noFill/>
                </a:ln>
                <a:solidFill>
                  <a:schemeClr val="tx1"/>
                </a:solidFill>
                <a:effectLst/>
                <a:uLnTx/>
                <a:uFillTx/>
                <a:latin typeface="Arial" panose="020B0604020202020204"/>
                <a:ea typeface="PMingLiU"/>
                <a:cs typeface="+mn-cs"/>
              </a:rPr>
              <a:t>(</a:t>
            </a:r>
            <a:r>
              <a:rPr kumimoji="1" lang="en-US" altLang="zh-TW" sz="32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K</a:t>
            </a:r>
            <a:r>
              <a:rPr kumimoji="1" lang="en-US" altLang="zh-TW" sz="3200" b="0" i="0" u="none" strike="noStrike" kern="0" cap="none" spc="0" normalizeH="0" baseline="-25000" noProof="0" dirty="0">
                <a:ln>
                  <a:noFill/>
                </a:ln>
                <a:solidFill>
                  <a:schemeClr val="tx1"/>
                </a:solidFill>
                <a:effectLst/>
                <a:uLnTx/>
                <a:uFillTx/>
                <a:latin typeface="Times New Roman" panose="02020603050405020304" pitchFamily="18" charset="0"/>
                <a:ea typeface="PMingLiU"/>
                <a:cs typeface="+mn-cs"/>
              </a:rPr>
              <a:t>5</a:t>
            </a:r>
            <a:r>
              <a:rPr kumimoji="1" lang="en-US" altLang="zh-TW" sz="3200" b="0" i="0" u="none" strike="noStrike" kern="0" cap="none" spc="0" normalizeH="0" baseline="0" noProof="0" dirty="0">
                <a:ln>
                  <a:noFill/>
                </a:ln>
                <a:solidFill>
                  <a:schemeClr val="tx1"/>
                </a:solidFill>
                <a:effectLst/>
                <a:uLnTx/>
                <a:uFillTx/>
                <a:latin typeface="Arial" panose="020B0604020202020204"/>
                <a:ea typeface="PMingLiU"/>
                <a:cs typeface="+mn-cs"/>
              </a:rPr>
              <a:t>)=</a:t>
            </a:r>
            <a:r>
              <a:rPr kumimoji="1" lang="en-US" altLang="zh-TW" sz="32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5</a:t>
            </a:r>
            <a:r>
              <a:rPr kumimoji="1" lang="en-US" altLang="zh-TW" sz="3200" b="0" i="1" u="none" strike="noStrike" kern="0" cap="none" spc="0" normalizeH="0" baseline="0" noProof="0" dirty="0">
                <a:ln>
                  <a:noFill/>
                </a:ln>
                <a:solidFill>
                  <a:schemeClr val="tx1"/>
                </a:solidFill>
                <a:effectLst/>
                <a:uLnTx/>
                <a:uFillTx/>
                <a:latin typeface="Arial" panose="020B0604020202020204"/>
                <a:ea typeface="PMingLiU"/>
                <a:cs typeface="+mn-cs"/>
              </a:rPr>
              <a:t> </a:t>
            </a:r>
            <a:endParaRPr kumimoji="1" lang="en-US" altLang="zh-TW" sz="3200" b="0" i="1" u="none" strike="noStrike" kern="0" cap="none" spc="0" normalizeH="0" baseline="0" noProof="0" dirty="0">
              <a:ln>
                <a:noFill/>
              </a:ln>
              <a:solidFill>
                <a:schemeClr val="tx1"/>
              </a:solidFill>
              <a:effectLst/>
              <a:uLnTx/>
              <a:uFillTx/>
              <a:latin typeface="Arial" panose="020B0604020202020204"/>
              <a:ea typeface="PMingLiU"/>
              <a:cs typeface="+mn-cs"/>
            </a:endParaRPr>
          </a:p>
        </p:txBody>
      </p:sp>
      <p:grpSp>
        <p:nvGrpSpPr>
          <p:cNvPr id="2" name="群組 34"/>
          <p:cNvGrpSpPr/>
          <p:nvPr/>
        </p:nvGrpSpPr>
        <p:grpSpPr>
          <a:xfrm>
            <a:off x="2438400" y="3581400"/>
            <a:ext cx="2009775" cy="1535113"/>
            <a:chOff x="2438400" y="3581400"/>
            <a:chExt cx="2009775" cy="1534677"/>
          </a:xfrm>
        </p:grpSpPr>
        <p:sp>
          <p:nvSpPr>
            <p:cNvPr id="77836" name="Line 34"/>
            <p:cNvSpPr/>
            <p:nvPr/>
          </p:nvSpPr>
          <p:spPr>
            <a:xfrm flipH="1">
              <a:off x="3428518" y="3657587"/>
              <a:ext cx="457764" cy="1339720"/>
            </a:xfrm>
            <a:prstGeom prst="line">
              <a:avLst/>
            </a:prstGeom>
            <a:ln w="25400" cap="flat" cmpd="sng">
              <a:solidFill>
                <a:schemeClr val="tx1"/>
              </a:solidFill>
              <a:prstDash val="solid"/>
              <a:headEnd type="none" w="med" len="med"/>
              <a:tailEnd type="none" w="med" len="med"/>
            </a:ln>
          </p:spPr>
        </p:sp>
        <p:sp>
          <p:nvSpPr>
            <p:cNvPr id="77837" name="Line 25"/>
            <p:cNvSpPr/>
            <p:nvPr/>
          </p:nvSpPr>
          <p:spPr>
            <a:xfrm rot="120000" flipH="1">
              <a:off x="2505724" y="3650894"/>
              <a:ext cx="369580" cy="799872"/>
            </a:xfrm>
            <a:prstGeom prst="line">
              <a:avLst/>
            </a:prstGeom>
            <a:ln w="25400" cap="flat" cmpd="sng">
              <a:solidFill>
                <a:schemeClr val="tx1"/>
              </a:solidFill>
              <a:prstDash val="solid"/>
              <a:headEnd type="none" w="med" len="med"/>
              <a:tailEnd type="none" w="med" len="med"/>
            </a:ln>
          </p:spPr>
        </p:sp>
        <p:sp>
          <p:nvSpPr>
            <p:cNvPr id="77838" name="Line 25"/>
            <p:cNvSpPr/>
            <p:nvPr/>
          </p:nvSpPr>
          <p:spPr>
            <a:xfrm rot="120000">
              <a:off x="2864606" y="3667426"/>
              <a:ext cx="588455" cy="1396238"/>
            </a:xfrm>
            <a:prstGeom prst="line">
              <a:avLst/>
            </a:prstGeom>
            <a:ln w="25400" cap="flat" cmpd="sng">
              <a:solidFill>
                <a:schemeClr val="tx1"/>
              </a:solidFill>
              <a:prstDash val="solid"/>
              <a:headEnd type="none" w="med" len="med"/>
              <a:tailEnd type="none" w="med" len="med"/>
            </a:ln>
          </p:spPr>
        </p:sp>
        <p:sp>
          <p:nvSpPr>
            <p:cNvPr id="77839" name="AutoShape 11"/>
            <p:cNvSpPr/>
            <p:nvPr/>
          </p:nvSpPr>
          <p:spPr>
            <a:xfrm>
              <a:off x="2812949" y="3581400"/>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7840" name="AutoShape 11"/>
            <p:cNvSpPr/>
            <p:nvPr/>
          </p:nvSpPr>
          <p:spPr>
            <a:xfrm>
              <a:off x="2438400" y="4421335"/>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7841" name="AutoShape 11"/>
            <p:cNvSpPr/>
            <p:nvPr/>
          </p:nvSpPr>
          <p:spPr>
            <a:xfrm>
              <a:off x="3352800" y="4997306"/>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7842" name="AutoShape 11"/>
            <p:cNvSpPr/>
            <p:nvPr/>
          </p:nvSpPr>
          <p:spPr>
            <a:xfrm>
              <a:off x="4329372" y="4421335"/>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7843" name="Line 23"/>
            <p:cNvSpPr/>
            <p:nvPr/>
          </p:nvSpPr>
          <p:spPr>
            <a:xfrm rot="-120000" flipH="1" flipV="1">
              <a:off x="3894011" y="3649749"/>
              <a:ext cx="434696" cy="821992"/>
            </a:xfrm>
            <a:prstGeom prst="line">
              <a:avLst/>
            </a:prstGeom>
            <a:ln w="25400" cap="flat" cmpd="sng">
              <a:solidFill>
                <a:schemeClr val="tx1"/>
              </a:solidFill>
              <a:prstDash val="solid"/>
              <a:headEnd type="none" w="med" len="med"/>
              <a:tailEnd type="none" w="med" len="med"/>
            </a:ln>
          </p:spPr>
        </p:sp>
        <p:sp>
          <p:nvSpPr>
            <p:cNvPr id="77844" name="AutoShape 11"/>
            <p:cNvSpPr/>
            <p:nvPr/>
          </p:nvSpPr>
          <p:spPr>
            <a:xfrm>
              <a:off x="3803593" y="3581400"/>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7845" name="Line 25"/>
            <p:cNvSpPr/>
            <p:nvPr/>
          </p:nvSpPr>
          <p:spPr>
            <a:xfrm flipV="1">
              <a:off x="2514118" y="3657582"/>
              <a:ext cx="1365678" cy="806323"/>
            </a:xfrm>
            <a:prstGeom prst="line">
              <a:avLst/>
            </a:prstGeom>
            <a:ln w="25400" cap="flat" cmpd="sng">
              <a:solidFill>
                <a:schemeClr val="tx1"/>
              </a:solidFill>
              <a:prstDash val="solid"/>
              <a:headEnd type="none" w="med" len="med"/>
              <a:tailEnd type="none" w="med" len="med"/>
            </a:ln>
          </p:spPr>
        </p:sp>
        <p:sp>
          <p:nvSpPr>
            <p:cNvPr id="77846" name="Line 25"/>
            <p:cNvSpPr/>
            <p:nvPr/>
          </p:nvSpPr>
          <p:spPr>
            <a:xfrm rot="120000">
              <a:off x="2881994" y="3683081"/>
              <a:ext cx="1474553" cy="755324"/>
            </a:xfrm>
            <a:prstGeom prst="line">
              <a:avLst/>
            </a:prstGeom>
            <a:ln w="25400" cap="flat" cmpd="sng">
              <a:solidFill>
                <a:schemeClr val="tx1"/>
              </a:solidFill>
              <a:prstDash val="solid"/>
              <a:headEnd type="none" w="med" len="med"/>
              <a:tailEnd type="none" w="med" len="med"/>
            </a:ln>
          </p:spPr>
        </p:sp>
        <p:sp>
          <p:nvSpPr>
            <p:cNvPr id="77847" name="Line 25"/>
            <p:cNvSpPr/>
            <p:nvPr/>
          </p:nvSpPr>
          <p:spPr>
            <a:xfrm flipV="1">
              <a:off x="3428519" y="4463904"/>
              <a:ext cx="990600" cy="609601"/>
            </a:xfrm>
            <a:prstGeom prst="line">
              <a:avLst/>
            </a:prstGeom>
            <a:ln w="25400" cap="flat" cmpd="sng">
              <a:solidFill>
                <a:schemeClr val="tx1"/>
              </a:solidFill>
              <a:prstDash val="solid"/>
              <a:headEnd type="none" w="med" len="med"/>
              <a:tailEnd type="none" w="med" len="med"/>
            </a:ln>
          </p:spPr>
        </p:sp>
        <p:sp>
          <p:nvSpPr>
            <p:cNvPr id="77848" name="Line 25"/>
            <p:cNvSpPr/>
            <p:nvPr/>
          </p:nvSpPr>
          <p:spPr>
            <a:xfrm rot="120000" flipV="1">
              <a:off x="2895638" y="3641640"/>
              <a:ext cx="913842" cy="45719"/>
            </a:xfrm>
            <a:prstGeom prst="line">
              <a:avLst/>
            </a:prstGeom>
            <a:ln w="25400" cap="flat" cmpd="sng">
              <a:solidFill>
                <a:schemeClr val="tx1"/>
              </a:solidFill>
              <a:prstDash val="solid"/>
              <a:headEnd type="none" w="med" len="med"/>
              <a:tailEnd type="none" w="med" len="med"/>
            </a:ln>
          </p:spPr>
        </p:sp>
        <p:sp>
          <p:nvSpPr>
            <p:cNvPr id="77849" name="Line 25"/>
            <p:cNvSpPr/>
            <p:nvPr/>
          </p:nvSpPr>
          <p:spPr>
            <a:xfrm>
              <a:off x="2514118" y="4495706"/>
              <a:ext cx="914400" cy="609600"/>
            </a:xfrm>
            <a:prstGeom prst="line">
              <a:avLst/>
            </a:prstGeom>
            <a:ln w="25400" cap="flat" cmpd="sng">
              <a:solidFill>
                <a:schemeClr val="tx1"/>
              </a:solidFill>
              <a:prstDash val="solid"/>
              <a:headEnd type="none" w="med" len="med"/>
              <a:tailEnd type="none" w="med" len="med"/>
            </a:ln>
          </p:spPr>
        </p:sp>
        <p:sp>
          <p:nvSpPr>
            <p:cNvPr id="77850" name="Line 25"/>
            <p:cNvSpPr/>
            <p:nvPr/>
          </p:nvSpPr>
          <p:spPr>
            <a:xfrm flipV="1">
              <a:off x="2514118" y="4495706"/>
              <a:ext cx="1904518" cy="0"/>
            </a:xfrm>
            <a:prstGeom prst="line">
              <a:avLst/>
            </a:prstGeom>
            <a:ln w="25400" cap="flat" cmpd="sng">
              <a:solidFill>
                <a:schemeClr val="tx1"/>
              </a:solidFill>
              <a:prstDash val="solid"/>
              <a:headEnd type="none" w="med" len="med"/>
              <a:tailEnd type="none" w="med" len="med"/>
            </a:ln>
          </p:spPr>
        </p:sp>
      </p:grpSp>
      <p:sp>
        <p:nvSpPr>
          <p:cNvPr id="36" name="矩形 35"/>
          <p:cNvSpPr/>
          <p:nvPr/>
        </p:nvSpPr>
        <p:spPr>
          <a:xfrm>
            <a:off x="533400" y="5562600"/>
            <a:ext cx="2786063" cy="57943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3200" b="1" i="0" u="none" strike="noStrike" kern="0" cap="none" spc="0" normalizeH="0" baseline="0" noProof="0" dirty="0">
                <a:ln>
                  <a:noFill/>
                </a:ln>
                <a:solidFill>
                  <a:srgbClr val="008000"/>
                </a:solidFill>
                <a:effectLst/>
                <a:uLnTx/>
                <a:uFillTx/>
                <a:latin typeface="Arial" panose="020B0604020202020204" pitchFamily="34" charset="0"/>
                <a:ea typeface="PMingLiU"/>
                <a:cs typeface="Arial" panose="020B0604020202020204" pitchFamily="34" charset="0"/>
              </a:rPr>
              <a:t>Note: </a:t>
            </a:r>
            <a:r>
              <a:rPr kumimoji="1" lang="en-US" altLang="zh-TW" sz="3200" b="0" i="0" u="none" strike="noStrike" kern="0" cap="none" spc="0" normalizeH="0" baseline="0" noProof="0" dirty="0">
                <a:ln>
                  <a:noFill/>
                </a:ln>
                <a:solidFill>
                  <a:srgbClr val="000000"/>
                </a:solidFill>
                <a:effectLst/>
                <a:uLnTx/>
                <a:uFillTx/>
                <a:latin typeface="Symbol" panose="05050102010706020507" pitchFamily="18" charset="2"/>
                <a:ea typeface="PMingLiU"/>
                <a:cs typeface="+mn-cs"/>
              </a:rPr>
              <a:t>c</a:t>
            </a:r>
            <a:r>
              <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3200" b="0" i="1" u="none" strike="noStrike" kern="0" cap="none" spc="0" normalizeH="0" baseline="0" noProof="0" dirty="0" err="1">
                <a:ln>
                  <a:noFill/>
                </a:ln>
                <a:solidFill>
                  <a:srgbClr val="000000"/>
                </a:solidFill>
                <a:effectLst/>
                <a:uLnTx/>
                <a:uFillTx/>
                <a:latin typeface="Times New Roman" panose="02020603050405020304" pitchFamily="18" charset="0"/>
                <a:ea typeface="PMingLiU"/>
                <a:cs typeface="+mn-cs"/>
              </a:rPr>
              <a:t>K</a:t>
            </a:r>
            <a:r>
              <a:rPr kumimoji="1" lang="en-US" altLang="zh-TW" sz="3200" b="0" i="1" u="none" strike="noStrike" kern="0" cap="none" spc="0" normalizeH="0" baseline="-25000" noProof="0" dirty="0" err="1">
                <a:ln>
                  <a:noFill/>
                </a:ln>
                <a:solidFill>
                  <a:srgbClr val="000000"/>
                </a:solidFill>
                <a:effectLst/>
                <a:uLnTx/>
                <a:uFillTx/>
                <a:latin typeface="Times New Roman" panose="02020603050405020304" pitchFamily="18" charset="0"/>
                <a:ea typeface="PMingLiU"/>
                <a:cs typeface="+mn-cs"/>
              </a:rPr>
              <a:t>n</a:t>
            </a:r>
            <a:r>
              <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32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n</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 </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ppt_x"/>
                                          </p:val>
                                        </p:tav>
                                        <p:tav tm="100000">
                                          <p:val>
                                            <p:strVal val="#ppt_x"/>
                                          </p:val>
                                        </p:tav>
                                      </p:tavLst>
                                    </p:anim>
                                    <p:anim calcmode="lin" valueType="num">
                                      <p:cBhvr additive="base">
                                        <p:cTn id="2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500" fill="hold"/>
                                        <p:tgtEl>
                                          <p:spTgt spid="28"/>
                                        </p:tgtEl>
                                        <p:attrNameLst>
                                          <p:attrName>ppt_x</p:attrName>
                                        </p:attrNameLst>
                                      </p:cBhvr>
                                      <p:tavLst>
                                        <p:tav tm="0">
                                          <p:val>
                                            <p:strVal val="#ppt_x"/>
                                          </p:val>
                                        </p:tav>
                                        <p:tav tm="100000">
                                          <p:val>
                                            <p:strVal val="#ppt_x"/>
                                          </p:val>
                                        </p:tav>
                                      </p:tavLst>
                                    </p:anim>
                                    <p:anim calcmode="lin" valueType="num">
                                      <p:cBhvr additive="base">
                                        <p:cTn id="4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anim calcmode="lin" valueType="num">
                                      <p:cBhvr additive="base">
                                        <p:cTn id="49" dur="500" fill="hold"/>
                                        <p:tgtEl>
                                          <p:spTgt spid="36"/>
                                        </p:tgtEl>
                                        <p:attrNameLst>
                                          <p:attrName>ppt_x</p:attrName>
                                        </p:attrNameLst>
                                      </p:cBhvr>
                                      <p:tavLst>
                                        <p:tav tm="0">
                                          <p:val>
                                            <p:strVal val="#ppt_x"/>
                                          </p:val>
                                        </p:tav>
                                        <p:tav tm="100000">
                                          <p:val>
                                            <p:strVal val="#ppt_x"/>
                                          </p:val>
                                        </p:tav>
                                      </p:tavLst>
                                    </p:anim>
                                    <p:anim calcmode="lin" valueType="num">
                                      <p:cBhvr additive="base">
                                        <p:cTn id="5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8" name="Rectangle 3"/>
          <p:cNvSpPr txBox="1">
            <a:spLocks noChangeArrowheads="1"/>
          </p:cNvSpPr>
          <p:nvPr/>
        </p:nvSpPr>
        <p:spPr bwMode="auto">
          <a:xfrm>
            <a:off x="381000" y="685800"/>
            <a:ext cx="8208963" cy="609600"/>
          </a:xfrm>
          <a:prstGeom prst="rect">
            <a:avLst/>
          </a:prstGeom>
          <a:noFill/>
          <a:ln w="9525">
            <a:noFill/>
            <a:miter lim="800000"/>
          </a:ln>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3200" b="1" kern="0" cap="none" spc="0" normalizeH="0" baseline="0" noProof="0" dirty="0">
                <a:solidFill>
                  <a:srgbClr val="008000"/>
                </a:solidFill>
                <a:latin typeface="+mn-lt"/>
                <a:ea typeface="+mn-ea"/>
                <a:cs typeface="+mn-cs"/>
              </a:rPr>
              <a:t>Example:</a:t>
            </a:r>
            <a:r>
              <a:rPr kumimoji="1" lang="en-US" altLang="zh-TW" sz="3200" kern="0" cap="none" spc="0" normalizeH="0" baseline="0" noProof="0" dirty="0">
                <a:latin typeface="+mn-lt"/>
                <a:ea typeface="+mn-ea"/>
                <a:cs typeface="+mn-cs"/>
              </a:rPr>
              <a:t> </a:t>
            </a:r>
            <a:r>
              <a:rPr kumimoji="1" lang="en-US" altLang="zh-TW" sz="3200" kern="0" cap="none" spc="0" normalizeH="0" baseline="0" noProof="0" dirty="0">
                <a:latin typeface="Symbol" panose="05050102010706020507" pitchFamily="18" charset="2"/>
                <a:ea typeface="PMingLiU"/>
                <a:cs typeface="+mn-cs"/>
              </a:rPr>
              <a:t>c</a:t>
            </a:r>
            <a:r>
              <a:rPr kumimoji="1" lang="en-US" altLang="zh-TW" sz="3200" kern="0" cap="none" spc="0" normalizeH="0" baseline="0" noProof="0" dirty="0">
                <a:latin typeface="Arial" panose="020B0604020202020204"/>
                <a:ea typeface="PMingLiU"/>
                <a:cs typeface="+mn-cs"/>
              </a:rPr>
              <a:t>(</a:t>
            </a:r>
            <a:r>
              <a:rPr kumimoji="1" lang="en-US" altLang="zh-TW" sz="3200" i="1" kern="0" cap="none" spc="0" normalizeH="0" baseline="0" noProof="0" dirty="0">
                <a:latin typeface="Times New Roman" panose="02020603050405020304" pitchFamily="18" charset="0"/>
                <a:ea typeface="PMingLiU"/>
                <a:cs typeface="+mn-cs"/>
              </a:rPr>
              <a:t>K</a:t>
            </a:r>
            <a:r>
              <a:rPr kumimoji="1" lang="en-US" altLang="zh-TW" sz="3200" kern="0" cap="none" spc="0" normalizeH="0" baseline="-25000" noProof="0" dirty="0">
                <a:latin typeface="Times New Roman" panose="02020603050405020304" pitchFamily="18" charset="0"/>
                <a:ea typeface="PMingLiU"/>
                <a:cs typeface="+mn-cs"/>
              </a:rPr>
              <a:t>2,3</a:t>
            </a:r>
            <a:r>
              <a:rPr kumimoji="1" lang="en-US" altLang="zh-TW" sz="3200" kern="0" cap="none" spc="0" normalizeH="0" baseline="0" noProof="0" dirty="0">
                <a:latin typeface="Arial" panose="020B0604020202020204"/>
                <a:ea typeface="PMingLiU"/>
                <a:cs typeface="+mn-cs"/>
              </a:rPr>
              <a:t>) = </a:t>
            </a:r>
            <a:r>
              <a:rPr kumimoji="1" lang="en-US" altLang="zh-TW" sz="3200" kern="0" cap="none" spc="0" normalizeH="0" baseline="0" noProof="0" dirty="0">
                <a:latin typeface="Times New Roman" panose="02020603050405020304" pitchFamily="18" charset="0"/>
                <a:ea typeface="PMingLiU"/>
                <a:cs typeface="Times New Roman" panose="02020603050405020304" pitchFamily="18" charset="0"/>
              </a:rPr>
              <a:t>2</a:t>
            </a:r>
            <a:r>
              <a:rPr kumimoji="1" lang="en-US" altLang="zh-TW" sz="3200" i="1" kern="0" cap="none" spc="0" normalizeH="0" baseline="0" noProof="0" dirty="0">
                <a:latin typeface="+mn-lt"/>
                <a:ea typeface="+mn-ea"/>
                <a:cs typeface="+mn-cs"/>
              </a:rPr>
              <a:t>.</a:t>
            </a:r>
            <a:endParaRPr kumimoji="1" lang="en-US" altLang="zh-TW" sz="3200" kern="0" cap="none" spc="0" normalizeH="0" baseline="0" noProof="0" dirty="0">
              <a:latin typeface="+mn-lt"/>
              <a:ea typeface="+mn-ea"/>
              <a:cs typeface="+mn-cs"/>
            </a:endParaRPr>
          </a:p>
        </p:txBody>
      </p:sp>
      <p:grpSp>
        <p:nvGrpSpPr>
          <p:cNvPr id="2" name="群組 71"/>
          <p:cNvGrpSpPr/>
          <p:nvPr/>
        </p:nvGrpSpPr>
        <p:grpSpPr>
          <a:xfrm>
            <a:off x="3048000" y="1905000"/>
            <a:ext cx="2009775" cy="895350"/>
            <a:chOff x="616068" y="1981200"/>
            <a:chExt cx="2009685" cy="895536"/>
          </a:xfrm>
        </p:grpSpPr>
        <p:sp>
          <p:nvSpPr>
            <p:cNvPr id="78860" name="Line 34"/>
            <p:cNvSpPr/>
            <p:nvPr/>
          </p:nvSpPr>
          <p:spPr>
            <a:xfrm flipH="1">
              <a:off x="1600559" y="2057403"/>
              <a:ext cx="463327" cy="731150"/>
            </a:xfrm>
            <a:prstGeom prst="line">
              <a:avLst/>
            </a:prstGeom>
            <a:ln w="25400" cap="flat" cmpd="sng">
              <a:solidFill>
                <a:schemeClr val="tx1"/>
              </a:solidFill>
              <a:prstDash val="solid"/>
              <a:headEnd type="none" w="med" len="med"/>
              <a:tailEnd type="none" w="med" len="med"/>
            </a:ln>
          </p:spPr>
        </p:sp>
        <p:sp>
          <p:nvSpPr>
            <p:cNvPr id="78861" name="Line 25"/>
            <p:cNvSpPr/>
            <p:nvPr/>
          </p:nvSpPr>
          <p:spPr>
            <a:xfrm rot="120000" flipH="1">
              <a:off x="683389" y="2050708"/>
              <a:ext cx="369563" cy="800038"/>
            </a:xfrm>
            <a:prstGeom prst="line">
              <a:avLst/>
            </a:prstGeom>
            <a:ln w="25400" cap="flat" cmpd="sng">
              <a:solidFill>
                <a:schemeClr val="tx1"/>
              </a:solidFill>
              <a:prstDash val="solid"/>
              <a:headEnd type="none" w="med" len="med"/>
              <a:tailEnd type="none" w="med" len="med"/>
            </a:ln>
          </p:spPr>
        </p:sp>
        <p:sp>
          <p:nvSpPr>
            <p:cNvPr id="78862" name="Line 25"/>
            <p:cNvSpPr/>
            <p:nvPr/>
          </p:nvSpPr>
          <p:spPr>
            <a:xfrm rot="120000">
              <a:off x="1053666" y="2066940"/>
              <a:ext cx="559652" cy="742876"/>
            </a:xfrm>
            <a:prstGeom prst="line">
              <a:avLst/>
            </a:prstGeom>
            <a:ln w="25400" cap="flat" cmpd="sng">
              <a:solidFill>
                <a:schemeClr val="tx1"/>
              </a:solidFill>
              <a:prstDash val="solid"/>
              <a:headEnd type="none" w="med" len="med"/>
              <a:tailEnd type="none" w="med" len="med"/>
            </a:ln>
          </p:spPr>
        </p:sp>
        <p:sp>
          <p:nvSpPr>
            <p:cNvPr id="78863" name="AutoShape 11"/>
            <p:cNvSpPr/>
            <p:nvPr/>
          </p:nvSpPr>
          <p:spPr>
            <a:xfrm>
              <a:off x="990600" y="19812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8864" name="AutoShape 11"/>
            <p:cNvSpPr/>
            <p:nvPr/>
          </p:nvSpPr>
          <p:spPr>
            <a:xfrm>
              <a:off x="616068" y="275794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8865" name="AutoShape 11"/>
            <p:cNvSpPr/>
            <p:nvPr/>
          </p:nvSpPr>
          <p:spPr>
            <a:xfrm>
              <a:off x="1530456" y="2752817"/>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8866" name="AutoShape 11"/>
            <p:cNvSpPr/>
            <p:nvPr/>
          </p:nvSpPr>
          <p:spPr>
            <a:xfrm>
              <a:off x="2506955" y="275794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8867" name="Line 23"/>
            <p:cNvSpPr/>
            <p:nvPr/>
          </p:nvSpPr>
          <p:spPr>
            <a:xfrm rot="-120000" flipH="1" flipV="1">
              <a:off x="2070858" y="2048324"/>
              <a:ext cx="506453" cy="780103"/>
            </a:xfrm>
            <a:prstGeom prst="line">
              <a:avLst/>
            </a:prstGeom>
            <a:ln w="25400" cap="flat" cmpd="sng">
              <a:solidFill>
                <a:schemeClr val="tx1"/>
              </a:solidFill>
              <a:prstDash val="solid"/>
              <a:headEnd type="none" w="med" len="med"/>
              <a:tailEnd type="none" w="med" len="med"/>
            </a:ln>
          </p:spPr>
        </p:sp>
        <p:sp>
          <p:nvSpPr>
            <p:cNvPr id="78868" name="AutoShape 11"/>
            <p:cNvSpPr/>
            <p:nvPr/>
          </p:nvSpPr>
          <p:spPr>
            <a:xfrm>
              <a:off x="1981200" y="1981200"/>
              <a:ext cx="118798" cy="118796"/>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8869" name="Line 25"/>
            <p:cNvSpPr/>
            <p:nvPr/>
          </p:nvSpPr>
          <p:spPr>
            <a:xfrm flipV="1">
              <a:off x="685800" y="2057399"/>
              <a:ext cx="1371600" cy="731069"/>
            </a:xfrm>
            <a:prstGeom prst="line">
              <a:avLst/>
            </a:prstGeom>
            <a:ln w="25400" cap="flat" cmpd="sng">
              <a:solidFill>
                <a:schemeClr val="tx1"/>
              </a:solidFill>
              <a:prstDash val="solid"/>
              <a:headEnd type="none" w="med" len="med"/>
              <a:tailEnd type="none" w="med" len="med"/>
            </a:ln>
          </p:spPr>
        </p:sp>
        <p:sp>
          <p:nvSpPr>
            <p:cNvPr id="78870" name="Line 25"/>
            <p:cNvSpPr/>
            <p:nvPr/>
          </p:nvSpPr>
          <p:spPr>
            <a:xfrm rot="120000">
              <a:off x="1060441" y="2084229"/>
              <a:ext cx="1549686" cy="708375"/>
            </a:xfrm>
            <a:prstGeom prst="line">
              <a:avLst/>
            </a:prstGeom>
            <a:ln w="25400" cap="flat" cmpd="sng">
              <a:solidFill>
                <a:schemeClr val="tx1"/>
              </a:solidFill>
              <a:prstDash val="solid"/>
              <a:headEnd type="none" w="med" len="med"/>
              <a:tailEnd type="none" w="med" len="med"/>
            </a:ln>
          </p:spPr>
        </p:sp>
      </p:grpSp>
      <p:sp>
        <p:nvSpPr>
          <p:cNvPr id="26" name="矩形 25"/>
          <p:cNvSpPr/>
          <p:nvPr/>
        </p:nvSpPr>
        <p:spPr bwMode="auto">
          <a:xfrm>
            <a:off x="3276600" y="15240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7" name="矩形 26"/>
          <p:cNvSpPr/>
          <p:nvPr/>
        </p:nvSpPr>
        <p:spPr bwMode="auto">
          <a:xfrm>
            <a:off x="4343400" y="15240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8" name="矩形 27"/>
          <p:cNvSpPr/>
          <p:nvPr/>
        </p:nvSpPr>
        <p:spPr bwMode="auto">
          <a:xfrm>
            <a:off x="2971800" y="28194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9" name="矩形 28"/>
          <p:cNvSpPr/>
          <p:nvPr/>
        </p:nvSpPr>
        <p:spPr bwMode="auto">
          <a:xfrm>
            <a:off x="3886200" y="28194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0" name="矩形 29"/>
          <p:cNvSpPr/>
          <p:nvPr/>
        </p:nvSpPr>
        <p:spPr bwMode="auto">
          <a:xfrm>
            <a:off x="4876800" y="28194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2" name="Rectangle 3"/>
          <p:cNvSpPr txBox="1">
            <a:spLocks noChangeArrowheads="1"/>
          </p:cNvSpPr>
          <p:nvPr/>
        </p:nvSpPr>
        <p:spPr bwMode="auto">
          <a:xfrm>
            <a:off x="381000" y="3429000"/>
            <a:ext cx="8208963" cy="609600"/>
          </a:xfrm>
          <a:prstGeom prst="rect">
            <a:avLst/>
          </a:prstGeom>
          <a:noFill/>
          <a:ln w="9525">
            <a:noFill/>
            <a:miter lim="800000"/>
          </a:ln>
        </p:spPr>
        <p:txBody>
          <a:bodyPr/>
          <a:lstStyle/>
          <a:p>
            <a:pPr marL="342900" marR="0" indent="-342900" defTabSz="914400">
              <a:spcBef>
                <a:spcPct val="20000"/>
              </a:spcBef>
              <a:buClr>
                <a:schemeClr val="bg2"/>
              </a:buClr>
              <a:buSzPct val="75000"/>
              <a:buFontTx/>
              <a:buNone/>
              <a:defRPr/>
            </a:pPr>
            <a:r>
              <a:rPr kumimoji="1" lang="en-US" altLang="zh-TW" sz="3200" b="1" kern="0" cap="none" spc="0" normalizeH="0" baseline="0" noProof="0" dirty="0">
                <a:solidFill>
                  <a:srgbClr val="008000"/>
                </a:solidFill>
                <a:latin typeface="+mn-lt"/>
                <a:ea typeface="+mn-ea"/>
                <a:cs typeface="+mn-cs"/>
              </a:rPr>
              <a:t>Note:</a:t>
            </a:r>
            <a:r>
              <a:rPr kumimoji="1" lang="en-US" altLang="zh-TW" sz="3200" kern="0" cap="none" spc="0" normalizeH="0" baseline="0" noProof="0" dirty="0">
                <a:latin typeface="+mn-lt"/>
                <a:ea typeface="+mn-ea"/>
                <a:cs typeface="+mn-cs"/>
              </a:rPr>
              <a:t> </a:t>
            </a:r>
            <a:r>
              <a:rPr kumimoji="1" lang="en-US" altLang="zh-TW" sz="3200" kern="0" cap="none" spc="0" normalizeH="0" baseline="0" noProof="0" dirty="0">
                <a:latin typeface="Symbol" panose="05050102010706020507" pitchFamily="18" charset="2"/>
                <a:ea typeface="PMingLiU"/>
                <a:cs typeface="+mn-cs"/>
              </a:rPr>
              <a:t>c</a:t>
            </a:r>
            <a:r>
              <a:rPr kumimoji="1" lang="en-US" altLang="zh-TW" sz="3200" kern="0" cap="none" spc="0" normalizeH="0" baseline="0" noProof="0" dirty="0">
                <a:latin typeface="Arial" panose="020B0604020202020204"/>
                <a:ea typeface="PMingLiU"/>
                <a:cs typeface="+mn-cs"/>
              </a:rPr>
              <a:t>(</a:t>
            </a:r>
            <a:r>
              <a:rPr kumimoji="1" lang="en-US" altLang="zh-TW" sz="3200" i="1" kern="0" cap="none" spc="0" normalizeH="0" baseline="0" noProof="0" dirty="0" err="1">
                <a:latin typeface="Times New Roman" panose="02020603050405020304" pitchFamily="18" charset="0"/>
                <a:ea typeface="PMingLiU"/>
                <a:cs typeface="+mn-cs"/>
              </a:rPr>
              <a:t>K</a:t>
            </a:r>
            <a:r>
              <a:rPr kumimoji="1" lang="en-US" altLang="zh-TW" sz="3200" i="1" kern="0" cap="none" spc="0" normalizeH="0" baseline="-25000" noProof="0" dirty="0" err="1">
                <a:latin typeface="Times New Roman" panose="02020603050405020304" pitchFamily="18" charset="0"/>
                <a:ea typeface="PMingLiU"/>
                <a:cs typeface="+mn-cs"/>
              </a:rPr>
              <a:t>m,n</a:t>
            </a:r>
            <a:r>
              <a:rPr kumimoji="1" lang="en-US" altLang="zh-TW" sz="3200" kern="0" cap="none" spc="0" normalizeH="0" baseline="0" noProof="0" dirty="0">
                <a:latin typeface="Arial" panose="020B0604020202020204"/>
                <a:ea typeface="PMingLiU"/>
                <a:cs typeface="+mn-cs"/>
              </a:rPr>
              <a:t>) =</a:t>
            </a:r>
            <a:r>
              <a:rPr kumimoji="1" lang="en-US" altLang="zh-TW" sz="3200" kern="0" cap="none" spc="0" normalizeH="0" baseline="0" noProof="0" dirty="0">
                <a:latin typeface="Times New Roman" panose="02020603050405020304" pitchFamily="18" charset="0"/>
                <a:ea typeface="PMingLiU"/>
                <a:cs typeface="Times New Roman" panose="02020603050405020304" pitchFamily="18" charset="0"/>
              </a:rPr>
              <a:t> 2</a:t>
            </a:r>
            <a:endParaRPr kumimoji="1" lang="en-US" altLang="zh-TW" sz="3200" kern="0" cap="none" spc="0" normalizeH="0" baseline="0" noProof="0" dirty="0">
              <a:latin typeface="+mn-lt"/>
              <a:ea typeface="+mn-ea"/>
              <a:cs typeface="+mn-cs"/>
            </a:endParaRPr>
          </a:p>
        </p:txBody>
      </p:sp>
      <p:sp>
        <p:nvSpPr>
          <p:cNvPr id="25" name="Rectangle 3"/>
          <p:cNvSpPr txBox="1">
            <a:spLocks noChangeArrowheads="1"/>
          </p:cNvSpPr>
          <p:nvPr/>
        </p:nvSpPr>
        <p:spPr bwMode="auto">
          <a:xfrm>
            <a:off x="381000" y="4191000"/>
            <a:ext cx="8208963" cy="609600"/>
          </a:xfrm>
          <a:prstGeom prst="rect">
            <a:avLst/>
          </a:prstGeom>
          <a:noFill/>
          <a:ln w="9525">
            <a:noFill/>
            <a:miter lim="800000"/>
          </a:ln>
        </p:spPr>
        <p:txBody>
          <a:bodyPr/>
          <a:lstStyle/>
          <a:p>
            <a:pPr marL="342900" marR="0" indent="-342900" defTabSz="914400">
              <a:spcBef>
                <a:spcPct val="20000"/>
              </a:spcBef>
              <a:buClr>
                <a:schemeClr val="bg2"/>
              </a:buClr>
              <a:buSzPct val="75000"/>
              <a:buFont typeface="Wingdings" panose="05000000000000000000" pitchFamily="2" charset="2"/>
              <a:buNone/>
              <a:defRPr/>
            </a:pPr>
            <a:r>
              <a:rPr kumimoji="1" lang="en-US" altLang="zh-TW" sz="3200" b="1" kern="0" cap="none" spc="0" normalizeH="0" baseline="0" noProof="0" dirty="0">
                <a:solidFill>
                  <a:srgbClr val="008000"/>
                </a:solidFill>
                <a:latin typeface="+mn-lt"/>
                <a:ea typeface="+mn-ea"/>
                <a:cs typeface="+mn-cs"/>
              </a:rPr>
              <a:t>Note:</a:t>
            </a:r>
            <a:r>
              <a:rPr kumimoji="1" lang="en-US" altLang="zh-TW" sz="3200" kern="0" cap="none" spc="0" normalizeH="0" baseline="0" noProof="0" dirty="0">
                <a:latin typeface="+mn-lt"/>
                <a:ea typeface="+mn-ea"/>
                <a:cs typeface="+mn-cs"/>
              </a:rPr>
              <a:t> If </a:t>
            </a:r>
            <a:r>
              <a:rPr kumimoji="1" lang="en-US" altLang="zh-TW" sz="3200" i="1" kern="0" cap="none" spc="0" normalizeH="0" baseline="0" noProof="0" dirty="0">
                <a:latin typeface="Times New Roman" panose="02020603050405020304" pitchFamily="18" charset="0"/>
                <a:ea typeface="+mn-ea"/>
                <a:cs typeface="+mn-cs"/>
              </a:rPr>
              <a:t>G</a:t>
            </a:r>
            <a:r>
              <a:rPr kumimoji="1" lang="en-US" altLang="zh-TW" sz="3200" kern="0" cap="none" spc="0" normalizeH="0" baseline="0" noProof="0" dirty="0">
                <a:latin typeface="+mn-lt"/>
                <a:ea typeface="+mn-ea"/>
                <a:cs typeface="+mn-cs"/>
              </a:rPr>
              <a:t> is a bipartite graph, </a:t>
            </a:r>
            <a:r>
              <a:rPr kumimoji="1" lang="en-US" altLang="zh-TW" sz="3200" kern="0" cap="none" spc="0" normalizeH="0" baseline="0" noProof="0" dirty="0">
                <a:latin typeface="Symbol" panose="05050102010706020507" pitchFamily="18" charset="2"/>
                <a:ea typeface="+mn-ea"/>
                <a:cs typeface="+mn-cs"/>
              </a:rPr>
              <a:t>c</a:t>
            </a:r>
            <a:r>
              <a:rPr kumimoji="1" lang="en-US" altLang="zh-TW" sz="3200" kern="0" cap="none" spc="0" normalizeH="0" baseline="0" noProof="0" dirty="0">
                <a:latin typeface="+mn-lt"/>
                <a:ea typeface="+mn-ea"/>
                <a:cs typeface="+mn-cs"/>
              </a:rPr>
              <a:t>(</a:t>
            </a:r>
            <a:r>
              <a:rPr kumimoji="1" lang="en-US" altLang="zh-TW" sz="3200" i="1" kern="0" cap="none" spc="0" normalizeH="0" baseline="0" noProof="0" dirty="0">
                <a:latin typeface="Times New Roman" panose="02020603050405020304" pitchFamily="18" charset="0"/>
                <a:ea typeface="+mn-ea"/>
                <a:cs typeface="+mn-cs"/>
              </a:rPr>
              <a:t>G</a:t>
            </a:r>
            <a:r>
              <a:rPr kumimoji="1" lang="en-US" altLang="zh-TW" sz="3200" kern="0" cap="none" spc="0" normalizeH="0" baseline="0" noProof="0" dirty="0">
                <a:latin typeface="+mn-lt"/>
                <a:ea typeface="+mn-ea"/>
                <a:cs typeface="+mn-cs"/>
              </a:rPr>
              <a:t>) =</a:t>
            </a:r>
            <a:r>
              <a:rPr kumimoji="1" lang="en-US" altLang="zh-TW" sz="3200" kern="0" cap="none" spc="0" normalizeH="0" baseline="0" noProof="0" dirty="0">
                <a:latin typeface="Times New Roman" panose="02020603050405020304" pitchFamily="18" charset="0"/>
                <a:ea typeface="PMingLiU"/>
                <a:cs typeface="Times New Roman" panose="02020603050405020304" pitchFamily="18" charset="0"/>
              </a:rPr>
              <a:t> 2</a:t>
            </a:r>
            <a:r>
              <a:rPr kumimoji="1" lang="en-US" altLang="zh-TW" sz="3200" i="1" kern="0" cap="none" spc="0" normalizeH="0" baseline="0" noProof="0" dirty="0">
                <a:latin typeface="+mn-lt"/>
                <a:ea typeface="+mn-ea"/>
                <a:cs typeface="+mn-cs"/>
              </a:rPr>
              <a:t>.</a:t>
            </a:r>
            <a:endParaRPr kumimoji="1" lang="en-US" altLang="zh-TW" sz="3200" kern="0" cap="none" spc="0" normalizeH="0" baseline="0" noProof="0" dirty="0">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ppt_x"/>
                                          </p:val>
                                        </p:tav>
                                        <p:tav tm="100000">
                                          <p:val>
                                            <p:strVal val="#ppt_x"/>
                                          </p:val>
                                        </p:tav>
                                      </p:tavLst>
                                    </p:anim>
                                    <p:anim calcmode="lin" valueType="num">
                                      <p:cBhvr additive="base">
                                        <p:cTn id="5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2" grpId="0"/>
      <p:bldP spid="2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Line 25"/>
          <p:cNvSpPr/>
          <p:nvPr/>
        </p:nvSpPr>
        <p:spPr>
          <a:xfrm flipV="1">
            <a:off x="1371600" y="2057400"/>
            <a:ext cx="1143000" cy="1371600"/>
          </a:xfrm>
          <a:prstGeom prst="line">
            <a:avLst/>
          </a:prstGeom>
          <a:ln w="25400" cap="flat" cmpd="sng">
            <a:solidFill>
              <a:schemeClr val="tx1"/>
            </a:solidFill>
            <a:prstDash val="solid"/>
            <a:headEnd type="none" w="med" len="med"/>
            <a:tailEnd type="none" w="med" len="med"/>
          </a:ln>
        </p:spPr>
      </p:sp>
      <p:sp>
        <p:nvSpPr>
          <p:cNvPr id="79875" name="投影片編號版面配置區 3"/>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79876" name="Line 34"/>
          <p:cNvSpPr/>
          <p:nvPr/>
        </p:nvSpPr>
        <p:spPr>
          <a:xfrm>
            <a:off x="1331913" y="2057400"/>
            <a:ext cx="36512" cy="1447800"/>
          </a:xfrm>
          <a:prstGeom prst="line">
            <a:avLst/>
          </a:prstGeom>
          <a:ln w="25400" cap="flat" cmpd="sng">
            <a:solidFill>
              <a:schemeClr val="tx1"/>
            </a:solidFill>
            <a:prstDash val="solid"/>
            <a:headEnd type="none" w="med" len="med"/>
            <a:tailEnd type="none" w="med" len="med"/>
          </a:ln>
        </p:spPr>
      </p:sp>
      <p:sp>
        <p:nvSpPr>
          <p:cNvPr id="79877" name="Line 25"/>
          <p:cNvSpPr/>
          <p:nvPr/>
        </p:nvSpPr>
        <p:spPr>
          <a:xfrm rot="120000" flipH="1">
            <a:off x="698500" y="2046288"/>
            <a:ext cx="584200" cy="708025"/>
          </a:xfrm>
          <a:prstGeom prst="line">
            <a:avLst/>
          </a:prstGeom>
          <a:ln w="25400" cap="flat" cmpd="sng">
            <a:solidFill>
              <a:schemeClr val="tx1"/>
            </a:solidFill>
            <a:prstDash val="solid"/>
            <a:headEnd type="none" w="med" len="med"/>
            <a:tailEnd type="none" w="med" len="med"/>
          </a:ln>
        </p:spPr>
      </p:sp>
      <p:sp>
        <p:nvSpPr>
          <p:cNvPr id="79878" name="Line 25"/>
          <p:cNvSpPr/>
          <p:nvPr/>
        </p:nvSpPr>
        <p:spPr>
          <a:xfrm rot="120000">
            <a:off x="1296988" y="2079625"/>
            <a:ext cx="1319212" cy="1403350"/>
          </a:xfrm>
          <a:prstGeom prst="line">
            <a:avLst/>
          </a:prstGeom>
          <a:ln w="25400" cap="flat" cmpd="sng">
            <a:solidFill>
              <a:schemeClr val="tx1"/>
            </a:solidFill>
            <a:prstDash val="solid"/>
            <a:headEnd type="none" w="med" len="med"/>
            <a:tailEnd type="none" w="med" len="med"/>
          </a:ln>
        </p:spPr>
      </p:sp>
      <p:sp>
        <p:nvSpPr>
          <p:cNvPr id="79879" name="AutoShape 11"/>
          <p:cNvSpPr/>
          <p:nvPr/>
        </p:nvSpPr>
        <p:spPr>
          <a:xfrm>
            <a:off x="1252538" y="1981200"/>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880" name="AutoShape 11"/>
          <p:cNvSpPr/>
          <p:nvPr/>
        </p:nvSpPr>
        <p:spPr>
          <a:xfrm>
            <a:off x="609600" y="2667000"/>
            <a:ext cx="119063"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881" name="AutoShape 11"/>
          <p:cNvSpPr/>
          <p:nvPr/>
        </p:nvSpPr>
        <p:spPr>
          <a:xfrm>
            <a:off x="1862138" y="2667000"/>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882" name="AutoShape 11"/>
          <p:cNvSpPr/>
          <p:nvPr/>
        </p:nvSpPr>
        <p:spPr>
          <a:xfrm>
            <a:off x="3046413" y="2667000"/>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883" name="Line 23"/>
          <p:cNvSpPr/>
          <p:nvPr/>
        </p:nvSpPr>
        <p:spPr>
          <a:xfrm rot="-120000" flipH="1" flipV="1">
            <a:off x="2525713" y="2065338"/>
            <a:ext cx="587375" cy="688975"/>
          </a:xfrm>
          <a:prstGeom prst="line">
            <a:avLst/>
          </a:prstGeom>
          <a:ln w="25400" cap="flat" cmpd="sng">
            <a:solidFill>
              <a:schemeClr val="tx1"/>
            </a:solidFill>
            <a:prstDash val="solid"/>
            <a:headEnd type="none" w="med" len="med"/>
            <a:tailEnd type="none" w="med" len="med"/>
          </a:ln>
        </p:spPr>
      </p:sp>
      <p:sp>
        <p:nvSpPr>
          <p:cNvPr id="79884" name="AutoShape 11"/>
          <p:cNvSpPr/>
          <p:nvPr/>
        </p:nvSpPr>
        <p:spPr>
          <a:xfrm>
            <a:off x="2430463" y="1981200"/>
            <a:ext cx="119062" cy="119063"/>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16" name="矩形 15"/>
          <p:cNvSpPr/>
          <p:nvPr/>
        </p:nvSpPr>
        <p:spPr bwMode="auto">
          <a:xfrm>
            <a:off x="1135063" y="16002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7" name="矩形 16"/>
          <p:cNvSpPr/>
          <p:nvPr/>
        </p:nvSpPr>
        <p:spPr bwMode="auto">
          <a:xfrm>
            <a:off x="304800" y="24384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8" name="矩形 17"/>
          <p:cNvSpPr/>
          <p:nvPr/>
        </p:nvSpPr>
        <p:spPr bwMode="auto">
          <a:xfrm>
            <a:off x="2354263" y="16002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9" name="矩形 18"/>
          <p:cNvSpPr/>
          <p:nvPr/>
        </p:nvSpPr>
        <p:spPr bwMode="auto">
          <a:xfrm>
            <a:off x="1752600" y="22860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0" name="矩形 19"/>
          <p:cNvSpPr/>
          <p:nvPr/>
        </p:nvSpPr>
        <p:spPr bwMode="auto">
          <a:xfrm>
            <a:off x="3124200" y="25146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21" name="矩形 20"/>
          <p:cNvSpPr/>
          <p:nvPr/>
        </p:nvSpPr>
        <p:spPr>
          <a:xfrm>
            <a:off x="381000" y="457200"/>
            <a:ext cx="8382000" cy="94615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Example 1:</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What are the chromatic numbers of the graphs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 and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H</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9891" name="AutoShape 11"/>
          <p:cNvSpPr/>
          <p:nvPr/>
        </p:nvSpPr>
        <p:spPr>
          <a:xfrm>
            <a:off x="1295400" y="3386138"/>
            <a:ext cx="119063"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892" name="Line 25"/>
          <p:cNvSpPr/>
          <p:nvPr/>
        </p:nvSpPr>
        <p:spPr>
          <a:xfrm rot="120000">
            <a:off x="674688" y="2755900"/>
            <a:ext cx="708025" cy="660400"/>
          </a:xfrm>
          <a:prstGeom prst="line">
            <a:avLst/>
          </a:prstGeom>
          <a:ln w="25400" cap="flat" cmpd="sng">
            <a:solidFill>
              <a:schemeClr val="tx1"/>
            </a:solidFill>
            <a:prstDash val="solid"/>
            <a:headEnd type="none" w="med" len="med"/>
            <a:tailEnd type="none" w="med" len="med"/>
          </a:ln>
        </p:spPr>
      </p:sp>
      <p:sp>
        <p:nvSpPr>
          <p:cNvPr id="79893" name="Line 25"/>
          <p:cNvSpPr/>
          <p:nvPr/>
        </p:nvSpPr>
        <p:spPr>
          <a:xfrm flipV="1">
            <a:off x="1296988" y="2033588"/>
            <a:ext cx="1217612" cy="0"/>
          </a:xfrm>
          <a:prstGeom prst="line">
            <a:avLst/>
          </a:prstGeom>
          <a:ln w="25400" cap="flat" cmpd="sng">
            <a:solidFill>
              <a:schemeClr val="tx1"/>
            </a:solidFill>
            <a:prstDash val="solid"/>
            <a:headEnd type="none" w="med" len="med"/>
            <a:tailEnd type="none" w="med" len="med"/>
          </a:ln>
        </p:spPr>
      </p:sp>
      <p:sp>
        <p:nvSpPr>
          <p:cNvPr id="79894" name="Line 34"/>
          <p:cNvSpPr/>
          <p:nvPr/>
        </p:nvSpPr>
        <p:spPr>
          <a:xfrm>
            <a:off x="2508250" y="2057400"/>
            <a:ext cx="36513" cy="1447800"/>
          </a:xfrm>
          <a:prstGeom prst="line">
            <a:avLst/>
          </a:prstGeom>
          <a:ln w="25400" cap="flat" cmpd="sng">
            <a:solidFill>
              <a:schemeClr val="tx1"/>
            </a:solidFill>
            <a:prstDash val="solid"/>
            <a:headEnd type="none" w="med" len="med"/>
            <a:tailEnd type="none" w="med" len="med"/>
          </a:ln>
        </p:spPr>
      </p:sp>
      <p:sp>
        <p:nvSpPr>
          <p:cNvPr id="79895" name="AutoShape 11"/>
          <p:cNvSpPr/>
          <p:nvPr/>
        </p:nvSpPr>
        <p:spPr>
          <a:xfrm>
            <a:off x="2471738" y="3386138"/>
            <a:ext cx="119062"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896" name="Line 25"/>
          <p:cNvSpPr/>
          <p:nvPr/>
        </p:nvSpPr>
        <p:spPr>
          <a:xfrm flipV="1">
            <a:off x="1371600" y="3455988"/>
            <a:ext cx="1219200" cy="0"/>
          </a:xfrm>
          <a:prstGeom prst="line">
            <a:avLst/>
          </a:prstGeom>
          <a:ln w="25400" cap="flat" cmpd="sng">
            <a:solidFill>
              <a:schemeClr val="tx1"/>
            </a:solidFill>
            <a:prstDash val="solid"/>
            <a:headEnd type="none" w="med" len="med"/>
            <a:tailEnd type="none" w="med" len="med"/>
          </a:ln>
        </p:spPr>
      </p:sp>
      <p:sp>
        <p:nvSpPr>
          <p:cNvPr id="79897" name="Line 25"/>
          <p:cNvSpPr/>
          <p:nvPr/>
        </p:nvSpPr>
        <p:spPr>
          <a:xfrm rot="120000" flipH="1">
            <a:off x="2592388" y="2735263"/>
            <a:ext cx="509587" cy="684212"/>
          </a:xfrm>
          <a:prstGeom prst="line">
            <a:avLst/>
          </a:prstGeom>
          <a:ln w="25400" cap="flat" cmpd="sng">
            <a:solidFill>
              <a:schemeClr val="tx1"/>
            </a:solidFill>
            <a:prstDash val="solid"/>
            <a:headEnd type="none" w="med" len="med"/>
            <a:tailEnd type="none" w="med" len="med"/>
          </a:ln>
        </p:spPr>
      </p:sp>
      <p:sp>
        <p:nvSpPr>
          <p:cNvPr id="29" name="矩形 28"/>
          <p:cNvSpPr/>
          <p:nvPr/>
        </p:nvSpPr>
        <p:spPr bwMode="auto">
          <a:xfrm>
            <a:off x="1066800" y="34290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0" name="矩形 29"/>
          <p:cNvSpPr/>
          <p:nvPr/>
        </p:nvSpPr>
        <p:spPr bwMode="auto">
          <a:xfrm>
            <a:off x="2438400" y="3429000"/>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31" name="矩形 30"/>
          <p:cNvSpPr/>
          <p:nvPr/>
        </p:nvSpPr>
        <p:spPr>
          <a:xfrm>
            <a:off x="1676400" y="3657600"/>
            <a:ext cx="444500" cy="519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9901" name="Line 25"/>
          <p:cNvSpPr/>
          <p:nvPr/>
        </p:nvSpPr>
        <p:spPr>
          <a:xfrm flipV="1">
            <a:off x="5332413" y="2005013"/>
            <a:ext cx="1143000" cy="1371600"/>
          </a:xfrm>
          <a:prstGeom prst="line">
            <a:avLst/>
          </a:prstGeom>
          <a:ln w="25400" cap="flat" cmpd="sng">
            <a:solidFill>
              <a:schemeClr val="tx1"/>
            </a:solidFill>
            <a:prstDash val="solid"/>
            <a:headEnd type="none" w="med" len="med"/>
            <a:tailEnd type="none" w="med" len="med"/>
          </a:ln>
        </p:spPr>
      </p:sp>
      <p:sp>
        <p:nvSpPr>
          <p:cNvPr id="79902" name="Line 34"/>
          <p:cNvSpPr/>
          <p:nvPr/>
        </p:nvSpPr>
        <p:spPr>
          <a:xfrm>
            <a:off x="5292725" y="2005013"/>
            <a:ext cx="36513" cy="1447800"/>
          </a:xfrm>
          <a:prstGeom prst="line">
            <a:avLst/>
          </a:prstGeom>
          <a:ln w="25400" cap="flat" cmpd="sng">
            <a:solidFill>
              <a:schemeClr val="tx1"/>
            </a:solidFill>
            <a:prstDash val="solid"/>
            <a:headEnd type="none" w="med" len="med"/>
            <a:tailEnd type="none" w="med" len="med"/>
          </a:ln>
        </p:spPr>
      </p:sp>
      <p:sp>
        <p:nvSpPr>
          <p:cNvPr id="79903" name="Line 25"/>
          <p:cNvSpPr/>
          <p:nvPr/>
        </p:nvSpPr>
        <p:spPr>
          <a:xfrm rot="120000" flipH="1">
            <a:off x="4659313" y="1995488"/>
            <a:ext cx="585787" cy="706437"/>
          </a:xfrm>
          <a:prstGeom prst="line">
            <a:avLst/>
          </a:prstGeom>
          <a:ln w="25400" cap="flat" cmpd="sng">
            <a:solidFill>
              <a:schemeClr val="tx1"/>
            </a:solidFill>
            <a:prstDash val="solid"/>
            <a:headEnd type="none" w="med" len="med"/>
            <a:tailEnd type="none" w="med" len="med"/>
          </a:ln>
        </p:spPr>
      </p:sp>
      <p:sp>
        <p:nvSpPr>
          <p:cNvPr id="79904" name="Line 25"/>
          <p:cNvSpPr/>
          <p:nvPr/>
        </p:nvSpPr>
        <p:spPr>
          <a:xfrm rot="120000">
            <a:off x="5257800" y="2028825"/>
            <a:ext cx="1319213" cy="1401763"/>
          </a:xfrm>
          <a:prstGeom prst="line">
            <a:avLst/>
          </a:prstGeom>
          <a:ln w="25400" cap="flat" cmpd="sng">
            <a:solidFill>
              <a:schemeClr val="tx1"/>
            </a:solidFill>
            <a:prstDash val="solid"/>
            <a:headEnd type="none" w="med" len="med"/>
            <a:tailEnd type="none" w="med" len="med"/>
          </a:ln>
        </p:spPr>
      </p:sp>
      <p:sp>
        <p:nvSpPr>
          <p:cNvPr id="79905" name="AutoShape 11"/>
          <p:cNvSpPr/>
          <p:nvPr/>
        </p:nvSpPr>
        <p:spPr>
          <a:xfrm>
            <a:off x="5213350" y="1928813"/>
            <a:ext cx="119063"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906" name="AutoShape 11"/>
          <p:cNvSpPr/>
          <p:nvPr/>
        </p:nvSpPr>
        <p:spPr>
          <a:xfrm>
            <a:off x="4570413" y="2614613"/>
            <a:ext cx="119062"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907" name="AutoShape 11"/>
          <p:cNvSpPr/>
          <p:nvPr/>
        </p:nvSpPr>
        <p:spPr>
          <a:xfrm>
            <a:off x="5822950" y="2614613"/>
            <a:ext cx="119063"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908" name="AutoShape 11"/>
          <p:cNvSpPr/>
          <p:nvPr/>
        </p:nvSpPr>
        <p:spPr>
          <a:xfrm>
            <a:off x="7007225" y="2614613"/>
            <a:ext cx="119063"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909" name="Line 23"/>
          <p:cNvSpPr/>
          <p:nvPr/>
        </p:nvSpPr>
        <p:spPr>
          <a:xfrm rot="-120000" flipH="1" flipV="1">
            <a:off x="6488113" y="2012950"/>
            <a:ext cx="585787" cy="688975"/>
          </a:xfrm>
          <a:prstGeom prst="line">
            <a:avLst/>
          </a:prstGeom>
          <a:ln w="25400" cap="flat" cmpd="sng">
            <a:solidFill>
              <a:schemeClr val="tx1"/>
            </a:solidFill>
            <a:prstDash val="solid"/>
            <a:headEnd type="none" w="med" len="med"/>
            <a:tailEnd type="none" w="med" len="med"/>
          </a:ln>
        </p:spPr>
      </p:sp>
      <p:sp>
        <p:nvSpPr>
          <p:cNvPr id="79910" name="AutoShape 11"/>
          <p:cNvSpPr/>
          <p:nvPr/>
        </p:nvSpPr>
        <p:spPr>
          <a:xfrm>
            <a:off x="6391275" y="1928813"/>
            <a:ext cx="119063" cy="119062"/>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46" name="矩形 45"/>
          <p:cNvSpPr/>
          <p:nvPr/>
        </p:nvSpPr>
        <p:spPr bwMode="auto">
          <a:xfrm>
            <a:off x="7085013" y="2462213"/>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g</a:t>
            </a:r>
            <a:endParaRPr kumimoji="1" lang="zh-TW" altLang="en-US" sz="2000" b="0" i="1"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79912" name="AutoShape 11"/>
          <p:cNvSpPr/>
          <p:nvPr/>
        </p:nvSpPr>
        <p:spPr>
          <a:xfrm>
            <a:off x="5256213" y="3335338"/>
            <a:ext cx="119062" cy="117475"/>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913" name="Line 25"/>
          <p:cNvSpPr/>
          <p:nvPr/>
        </p:nvSpPr>
        <p:spPr>
          <a:xfrm rot="120000">
            <a:off x="4635500" y="2703513"/>
            <a:ext cx="709613" cy="661987"/>
          </a:xfrm>
          <a:prstGeom prst="line">
            <a:avLst/>
          </a:prstGeom>
          <a:ln w="25400" cap="flat" cmpd="sng">
            <a:solidFill>
              <a:schemeClr val="tx1"/>
            </a:solidFill>
            <a:prstDash val="solid"/>
            <a:headEnd type="none" w="med" len="med"/>
            <a:tailEnd type="none" w="med" len="med"/>
          </a:ln>
        </p:spPr>
      </p:sp>
      <p:sp>
        <p:nvSpPr>
          <p:cNvPr id="79914" name="Line 25"/>
          <p:cNvSpPr/>
          <p:nvPr/>
        </p:nvSpPr>
        <p:spPr>
          <a:xfrm flipV="1">
            <a:off x="5257800" y="1981200"/>
            <a:ext cx="1219200" cy="0"/>
          </a:xfrm>
          <a:prstGeom prst="line">
            <a:avLst/>
          </a:prstGeom>
          <a:ln w="25400" cap="flat" cmpd="sng">
            <a:solidFill>
              <a:schemeClr val="tx1"/>
            </a:solidFill>
            <a:prstDash val="solid"/>
            <a:headEnd type="none" w="med" len="med"/>
            <a:tailEnd type="none" w="med" len="med"/>
          </a:ln>
        </p:spPr>
      </p:sp>
      <p:sp>
        <p:nvSpPr>
          <p:cNvPr id="79915" name="Line 34"/>
          <p:cNvSpPr/>
          <p:nvPr/>
        </p:nvSpPr>
        <p:spPr>
          <a:xfrm>
            <a:off x="6469063" y="2005013"/>
            <a:ext cx="36512" cy="1447800"/>
          </a:xfrm>
          <a:prstGeom prst="line">
            <a:avLst/>
          </a:prstGeom>
          <a:ln w="25400" cap="flat" cmpd="sng">
            <a:solidFill>
              <a:schemeClr val="tx1"/>
            </a:solidFill>
            <a:prstDash val="solid"/>
            <a:headEnd type="none" w="med" len="med"/>
            <a:tailEnd type="none" w="med" len="med"/>
          </a:ln>
        </p:spPr>
      </p:sp>
      <p:sp>
        <p:nvSpPr>
          <p:cNvPr id="79916" name="AutoShape 11"/>
          <p:cNvSpPr/>
          <p:nvPr/>
        </p:nvSpPr>
        <p:spPr>
          <a:xfrm>
            <a:off x="6432550" y="3335338"/>
            <a:ext cx="119063" cy="117475"/>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79917" name="Line 25"/>
          <p:cNvSpPr/>
          <p:nvPr/>
        </p:nvSpPr>
        <p:spPr>
          <a:xfrm flipV="1">
            <a:off x="5332413" y="3403600"/>
            <a:ext cx="1219200" cy="0"/>
          </a:xfrm>
          <a:prstGeom prst="line">
            <a:avLst/>
          </a:prstGeom>
          <a:ln w="25400" cap="flat" cmpd="sng">
            <a:solidFill>
              <a:schemeClr val="tx1"/>
            </a:solidFill>
            <a:prstDash val="solid"/>
            <a:headEnd type="none" w="med" len="med"/>
            <a:tailEnd type="none" w="med" len="med"/>
          </a:ln>
        </p:spPr>
      </p:sp>
      <p:sp>
        <p:nvSpPr>
          <p:cNvPr id="79918" name="Line 25"/>
          <p:cNvSpPr/>
          <p:nvPr/>
        </p:nvSpPr>
        <p:spPr>
          <a:xfrm rot="120000" flipH="1">
            <a:off x="6553200" y="2684463"/>
            <a:ext cx="509588" cy="682625"/>
          </a:xfrm>
          <a:prstGeom prst="line">
            <a:avLst/>
          </a:prstGeom>
          <a:ln w="25400" cap="flat" cmpd="sng">
            <a:solidFill>
              <a:schemeClr val="tx1"/>
            </a:solidFill>
            <a:prstDash val="solid"/>
            <a:headEnd type="none" w="med" len="med"/>
            <a:tailEnd type="none" w="med" len="med"/>
          </a:ln>
        </p:spPr>
      </p:sp>
      <p:sp>
        <p:nvSpPr>
          <p:cNvPr id="43" name="矩形 42"/>
          <p:cNvSpPr/>
          <p:nvPr/>
        </p:nvSpPr>
        <p:spPr bwMode="auto">
          <a:xfrm>
            <a:off x="4265613" y="2386013"/>
            <a:ext cx="311150" cy="396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a</a:t>
            </a:r>
            <a:endParaRPr kumimoji="1" lang="zh-TW" altLang="en-US" sz="2000" b="0" i="1"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56" name="矩形 55"/>
          <p:cNvSpPr/>
          <p:nvPr/>
        </p:nvSpPr>
        <p:spPr>
          <a:xfrm>
            <a:off x="5638800" y="3657600"/>
            <a:ext cx="444500" cy="519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H</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0" name="手繪多邊形 59"/>
          <p:cNvSpPr/>
          <p:nvPr/>
        </p:nvSpPr>
        <p:spPr>
          <a:xfrm>
            <a:off x="4640263" y="1371600"/>
            <a:ext cx="2427288" cy="1314450"/>
          </a:xfrm>
          <a:custGeom>
            <a:avLst/>
            <a:gdLst>
              <a:gd name="connsiteX0" fmla="*/ 0 w 2427111"/>
              <a:gd name="connsiteY0" fmla="*/ 1315156 h 1315156"/>
              <a:gd name="connsiteX1" fmla="*/ 643467 w 2427111"/>
              <a:gd name="connsiteY1" fmla="*/ 186267 h 1315156"/>
              <a:gd name="connsiteX2" fmla="*/ 1851378 w 2427111"/>
              <a:gd name="connsiteY2" fmla="*/ 197556 h 1315156"/>
              <a:gd name="connsiteX3" fmla="*/ 2427111 w 2427111"/>
              <a:gd name="connsiteY3" fmla="*/ 1292578 h 1315156"/>
            </a:gdLst>
            <a:ahLst/>
            <a:cxnLst>
              <a:cxn ang="0">
                <a:pos x="connsiteX0" y="connsiteY0"/>
              </a:cxn>
              <a:cxn ang="0">
                <a:pos x="connsiteX1" y="connsiteY1"/>
              </a:cxn>
              <a:cxn ang="0">
                <a:pos x="connsiteX2" y="connsiteY2"/>
              </a:cxn>
              <a:cxn ang="0">
                <a:pos x="connsiteX3" y="connsiteY3"/>
              </a:cxn>
            </a:cxnLst>
            <a:rect l="l" t="t" r="r" b="b"/>
            <a:pathLst>
              <a:path w="2427111" h="1315156">
                <a:moveTo>
                  <a:pt x="0" y="1315156"/>
                </a:moveTo>
                <a:cubicBezTo>
                  <a:pt x="167452" y="843845"/>
                  <a:pt x="334904" y="372534"/>
                  <a:pt x="643467" y="186267"/>
                </a:cubicBezTo>
                <a:cubicBezTo>
                  <a:pt x="952030" y="0"/>
                  <a:pt x="1554104" y="13171"/>
                  <a:pt x="1851378" y="197556"/>
                </a:cubicBezTo>
                <a:cubicBezTo>
                  <a:pt x="2148652" y="381941"/>
                  <a:pt x="2287881" y="837259"/>
                  <a:pt x="2427111" y="1292578"/>
                </a:cubicBez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TW"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1" name="矩形 60"/>
          <p:cNvSpPr/>
          <p:nvPr/>
        </p:nvSpPr>
        <p:spPr>
          <a:xfrm>
            <a:off x="304800" y="4191000"/>
            <a:ext cx="3271838" cy="9540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G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has a 3-cycle </a:t>
            </a:r>
            <a:b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b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sym typeface="Symbol" panose="05050102010706020507"/>
              </a:rPr>
              <a:t></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Symbol" panose="05050102010706020507" pitchFamily="18" charset="2"/>
                <a:ea typeface="PMingLiU"/>
                <a:cs typeface="+mn-cs"/>
              </a:rPr>
              <a:t>c</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G</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sym typeface="Symbol" panose="05050102010706020507"/>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3</a:t>
            </a:r>
            <a:r>
              <a:rPr kumimoji="1" lang="zh-TW"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rPr>
              <a:t> </a:t>
            </a:r>
            <a:endParaRPr kumimoji="1" lang="zh-TW"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mn-cs"/>
            </a:endParaRPr>
          </a:p>
        </p:txBody>
      </p:sp>
      <p:sp>
        <p:nvSpPr>
          <p:cNvPr id="62" name="矩形 61"/>
          <p:cNvSpPr/>
          <p:nvPr/>
        </p:nvSpPr>
        <p:spPr>
          <a:xfrm>
            <a:off x="990600" y="5029200"/>
            <a:ext cx="2935288" cy="9540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G </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has a 3-coloring </a:t>
            </a:r>
            <a:b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b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sym typeface="Symbol" panose="05050102010706020507"/>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 </a:t>
            </a:r>
            <a:r>
              <a:rPr kumimoji="1" lang="en-US" altLang="zh-TW" sz="2800" b="0" i="0" u="none" strike="noStrike" kern="0" cap="none" spc="0" normalizeH="0" baseline="0" noProof="0" dirty="0">
                <a:ln>
                  <a:noFill/>
                </a:ln>
                <a:solidFill>
                  <a:srgbClr val="000000"/>
                </a:solidFill>
                <a:effectLst/>
                <a:uLnTx/>
                <a:uFillTx/>
                <a:latin typeface="Symbol" panose="05050102010706020507" pitchFamily="18" charset="2"/>
                <a:ea typeface="PMingLiU"/>
                <a:cs typeface="+mn-cs"/>
              </a:rPr>
              <a:t>c</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G</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sym typeface="Symbol" panose="05050102010706020507"/>
              </a:rPr>
              <a:t></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3</a:t>
            </a:r>
            <a:r>
              <a:rPr kumimoji="1" lang="zh-TW"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 </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3" name="矩形 62"/>
          <p:cNvSpPr/>
          <p:nvPr/>
        </p:nvSpPr>
        <p:spPr>
          <a:xfrm>
            <a:off x="990600" y="6019800"/>
            <a:ext cx="1781175" cy="5191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sym typeface="Symbol" panose="05050102010706020507"/>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 </a:t>
            </a:r>
            <a:r>
              <a:rPr kumimoji="1" lang="en-US" altLang="zh-TW" sz="2800" b="0" i="0" u="none" strike="noStrike" kern="0" cap="none" spc="0" normalizeH="0" baseline="0" noProof="0" dirty="0">
                <a:ln>
                  <a:noFill/>
                </a:ln>
                <a:solidFill>
                  <a:srgbClr val="000000"/>
                </a:solidFill>
                <a:effectLst/>
                <a:uLnTx/>
                <a:uFillTx/>
                <a:latin typeface="Symbol" panose="05050102010706020507" pitchFamily="18" charset="2"/>
                <a:ea typeface="PMingLiU"/>
                <a:cs typeface="+mn-cs"/>
              </a:rPr>
              <a:t>c</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G</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3</a:t>
            </a:r>
            <a:r>
              <a:rPr kumimoji="1" lang="zh-TW"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 </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64" name="矩形 63"/>
          <p:cNvSpPr/>
          <p:nvPr/>
        </p:nvSpPr>
        <p:spPr>
          <a:xfrm>
            <a:off x="4267200" y="4191000"/>
            <a:ext cx="3587750" cy="22272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Sol: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any 3-coloring for</a:t>
            </a:r>
            <a:b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b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H</a:t>
            </a:r>
            <a:r>
              <a:rPr kumimoji="1" lang="en-US" altLang="zh-TW" sz="2800" b="0" i="0" u="none" strike="noStrike" kern="0" cap="none" spc="0" normalizeH="0" baseline="0" noProof="0" dirty="0">
                <a:ln>
                  <a:noFill/>
                </a:ln>
                <a:solidFill>
                  <a:schemeClr val="tx1"/>
                </a:solidFill>
                <a:effectLst/>
                <a:uLnTx/>
                <a:uFillTx/>
                <a:latin typeface="Symbol" panose="05050102010706020507" pitchFamily="18" charset="2"/>
                <a:ea typeface="PMingLiU"/>
                <a:cs typeface="Times New Roman" panose="02020603050405020304" pitchFamily="18" charset="0"/>
              </a:rPr>
              <a:t>-</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err="1">
                <a:ln>
                  <a:noFill/>
                </a:ln>
                <a:solidFill>
                  <a:schemeClr val="tx1"/>
                </a:solidFill>
                <a:effectLst/>
                <a:uLnTx/>
                <a:uFillTx/>
                <a:latin typeface="Times New Roman" panose="02020603050405020304" pitchFamily="18" charset="0"/>
                <a:ea typeface="PMingLiU"/>
                <a:cs typeface="Times New Roman" panose="02020603050405020304" pitchFamily="18" charset="0"/>
              </a:rPr>
              <a:t>a</a:t>
            </a:r>
            <a:r>
              <a:rPr kumimoji="1" lang="en-US" altLang="zh-TW" sz="2800" b="0" i="0" u="none" strike="noStrike" kern="0" cap="none" spc="0" normalizeH="0" baseline="0" noProof="0" dirty="0" err="1">
                <a:ln>
                  <a:noFill/>
                </a:ln>
                <a:solidFill>
                  <a:schemeClr val="tx1"/>
                </a:solidFill>
                <a:effectLst/>
                <a:uLnTx/>
                <a:uFillTx/>
                <a:latin typeface="Times New Roman" panose="02020603050405020304" pitchFamily="18" charset="0"/>
                <a:ea typeface="PMingLiU"/>
                <a:cs typeface="Times New Roman" panose="02020603050405020304" pitchFamily="18" charset="0"/>
              </a:rPr>
              <a:t>,</a:t>
            </a:r>
            <a:r>
              <a:rPr kumimoji="1" lang="en-US" altLang="zh-TW" sz="2800" b="0" i="1" u="none" strike="noStrike" kern="0" cap="none" spc="0" normalizeH="0" baseline="0" noProof="0" dirty="0" err="1">
                <a:ln>
                  <a:noFill/>
                </a:ln>
                <a:solidFill>
                  <a:schemeClr val="tx1"/>
                </a:solidFill>
                <a:effectLst/>
                <a:uLnTx/>
                <a:uFillTx/>
                <a:latin typeface="Times New Roman" panose="02020603050405020304" pitchFamily="18" charset="0"/>
                <a:ea typeface="PMingLiU"/>
                <a:cs typeface="Times New Roman" panose="02020603050405020304" pitchFamily="18" charset="0"/>
              </a:rPr>
              <a:t>g</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gives the </a:t>
            </a:r>
            <a:b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b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same color to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a</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and </a:t>
            </a: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g</a:t>
            </a:r>
            <a:b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br>
            <a:r>
              <a:rPr kumimoji="1" lang="en-US" altLang="zh-TW" sz="2800" b="0" i="1"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rPr>
              <a:t>    </a:t>
            </a:r>
            <a:r>
              <a:rPr kumimoji="1" lang="en-US" altLang="zh-TW"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sym typeface="Symbol" panose="05050102010706020507"/>
              </a:rPr>
              <a:t> </a:t>
            </a:r>
            <a:r>
              <a:rPr kumimoji="1" lang="en-US" altLang="zh-TW" sz="2800" b="0" i="0" u="none" strike="noStrike" kern="0" cap="none" spc="0" normalizeH="0" baseline="0" noProof="0" dirty="0">
                <a:ln>
                  <a:noFill/>
                </a:ln>
                <a:solidFill>
                  <a:srgbClr val="000000"/>
                </a:solidFill>
                <a:effectLst/>
                <a:uLnTx/>
                <a:uFillTx/>
                <a:latin typeface="Symbol" panose="05050102010706020507" pitchFamily="18" charset="2"/>
                <a:ea typeface="PMingLiU"/>
                <a:cs typeface="+mn-cs"/>
              </a:rPr>
              <a:t>c</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H</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sym typeface="Symbol" panose="05050102010706020507"/>
              </a:rPr>
              <a:t>&gt;</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r>
              <a:rPr kumimoji="1" lang="zh-TW"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b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b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   </a:t>
            </a:r>
            <a:endParaRPr kumimoji="1" lang="zh-TW"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PMingLiU"/>
              <a:cs typeface="Times New Roman" panose="02020603050405020304" pitchFamily="18" charset="0"/>
            </a:endParaRPr>
          </a:p>
        </p:txBody>
      </p:sp>
      <p:sp>
        <p:nvSpPr>
          <p:cNvPr id="66" name="矩形 65"/>
          <p:cNvSpPr/>
          <p:nvPr/>
        </p:nvSpPr>
        <p:spPr>
          <a:xfrm>
            <a:off x="4419600" y="5943600"/>
            <a:ext cx="4343400" cy="519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sym typeface="Symbol" panose="05050102010706020507"/>
              </a:rPr>
              <a:t>4-coloring exists </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 </a:t>
            </a:r>
            <a:r>
              <a:rPr kumimoji="1" lang="en-US" altLang="zh-TW" sz="2800" b="0" i="0" u="none" strike="noStrike" kern="0" cap="none" spc="0" normalizeH="0" baseline="0" noProof="0" dirty="0">
                <a:ln>
                  <a:noFill/>
                </a:ln>
                <a:solidFill>
                  <a:srgbClr val="000000"/>
                </a:solidFill>
                <a:effectLst/>
                <a:uLnTx/>
                <a:uFillTx/>
                <a:latin typeface="Symbol" panose="05050102010706020507" pitchFamily="18" charset="2"/>
                <a:ea typeface="PMingLiU"/>
                <a:cs typeface="+mn-cs"/>
              </a:rPr>
              <a:t>c</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H</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sym typeface="Symbol" panose="05050102010706020507"/>
              </a:rPr>
              <a:t>=</a:t>
            </a:r>
            <a:r>
              <a:rPr kumimoji="1" lang="en-US" altLang="zh-TW"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4</a:t>
            </a:r>
            <a:r>
              <a:rPr kumimoji="1" lang="zh-TW"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a:t>
            </a:r>
            <a:endParaRPr kumimoji="1" lang="zh-TW"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PMingLiU" pitchFamily="18" charset="-12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 calcmode="lin" valueType="num">
                                      <p:cBhvr additive="base">
                                        <p:cTn id="55" dur="500" fill="hold"/>
                                        <p:tgtEl>
                                          <p:spTgt spid="62"/>
                                        </p:tgtEl>
                                        <p:attrNameLst>
                                          <p:attrName>ppt_x</p:attrName>
                                        </p:attrNameLst>
                                      </p:cBhvr>
                                      <p:tavLst>
                                        <p:tav tm="0">
                                          <p:val>
                                            <p:strVal val="#ppt_x"/>
                                          </p:val>
                                        </p:tav>
                                        <p:tav tm="100000">
                                          <p:val>
                                            <p:strVal val="#ppt_x"/>
                                          </p:val>
                                        </p:tav>
                                      </p:tavLst>
                                    </p:anim>
                                    <p:anim calcmode="lin" valueType="num">
                                      <p:cBhvr additive="base">
                                        <p:cTn id="56"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3"/>
                                        </p:tgtEl>
                                        <p:attrNameLst>
                                          <p:attrName>style.visibility</p:attrName>
                                        </p:attrNameLst>
                                      </p:cBhvr>
                                      <p:to>
                                        <p:strVal val="visible"/>
                                      </p:to>
                                    </p:set>
                                    <p:anim calcmode="lin" valueType="num">
                                      <p:cBhvr additive="base">
                                        <p:cTn id="61" dur="500" fill="hold"/>
                                        <p:tgtEl>
                                          <p:spTgt spid="63"/>
                                        </p:tgtEl>
                                        <p:attrNameLst>
                                          <p:attrName>ppt_x</p:attrName>
                                        </p:attrNameLst>
                                      </p:cBhvr>
                                      <p:tavLst>
                                        <p:tav tm="0">
                                          <p:val>
                                            <p:strVal val="#ppt_x"/>
                                          </p:val>
                                        </p:tav>
                                        <p:tav tm="100000">
                                          <p:val>
                                            <p:strVal val="#ppt_x"/>
                                          </p:val>
                                        </p:tav>
                                      </p:tavLst>
                                    </p:anim>
                                    <p:anim calcmode="lin" valueType="num">
                                      <p:cBhvr additive="base">
                                        <p:cTn id="62"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4"/>
                                        </p:tgtEl>
                                        <p:attrNameLst>
                                          <p:attrName>style.visibility</p:attrName>
                                        </p:attrNameLst>
                                      </p:cBhvr>
                                      <p:to>
                                        <p:strVal val="visible"/>
                                      </p:to>
                                    </p:set>
                                    <p:anim calcmode="lin" valueType="num">
                                      <p:cBhvr additive="base">
                                        <p:cTn id="67" dur="500" fill="hold"/>
                                        <p:tgtEl>
                                          <p:spTgt spid="64"/>
                                        </p:tgtEl>
                                        <p:attrNameLst>
                                          <p:attrName>ppt_x</p:attrName>
                                        </p:attrNameLst>
                                      </p:cBhvr>
                                      <p:tavLst>
                                        <p:tav tm="0">
                                          <p:val>
                                            <p:strVal val="#ppt_x"/>
                                          </p:val>
                                        </p:tav>
                                        <p:tav tm="100000">
                                          <p:val>
                                            <p:strVal val="#ppt_x"/>
                                          </p:val>
                                        </p:tav>
                                      </p:tavLst>
                                    </p:anim>
                                    <p:anim calcmode="lin" valueType="num">
                                      <p:cBhvr additive="base">
                                        <p:cTn id="68"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6"/>
                                        </p:tgtEl>
                                        <p:attrNameLst>
                                          <p:attrName>style.visibility</p:attrName>
                                        </p:attrNameLst>
                                      </p:cBhvr>
                                      <p:to>
                                        <p:strVal val="visible"/>
                                      </p:to>
                                    </p:set>
                                    <p:anim calcmode="lin" valueType="num">
                                      <p:cBhvr additive="base">
                                        <p:cTn id="73" dur="500" fill="hold"/>
                                        <p:tgtEl>
                                          <p:spTgt spid="66"/>
                                        </p:tgtEl>
                                        <p:attrNameLst>
                                          <p:attrName>ppt_x</p:attrName>
                                        </p:attrNameLst>
                                      </p:cBhvr>
                                      <p:tavLst>
                                        <p:tav tm="0">
                                          <p:val>
                                            <p:strVal val="#ppt_x"/>
                                          </p:val>
                                        </p:tav>
                                        <p:tav tm="100000">
                                          <p:val>
                                            <p:strVal val="#ppt_x"/>
                                          </p:val>
                                        </p:tav>
                                      </p:tavLst>
                                    </p:anim>
                                    <p:anim calcmode="lin" valueType="num">
                                      <p:cBhvr additive="base">
                                        <p:cTn id="74"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9" grpId="0"/>
      <p:bldP spid="30" grpId="0"/>
      <p:bldP spid="61" grpId="0"/>
      <p:bldP spid="62" grpId="0"/>
      <p:bldP spid="63" grpId="0"/>
      <p:bldP spid="64" grpId="0"/>
      <p:bldP spid="6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矩形 7"/>
          <p:cNvSpPr/>
          <p:nvPr/>
        </p:nvSpPr>
        <p:spPr>
          <a:xfrm>
            <a:off x="457200" y="533400"/>
            <a:ext cx="6324600" cy="106680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3200" b="1" i="0" u="none" strike="noStrike" kern="1200" cap="none" spc="0" normalizeH="0" baseline="0" noProof="0" dirty="0">
                <a:ln>
                  <a:noFill/>
                </a:ln>
                <a:solidFill>
                  <a:srgbClr val="008000"/>
                </a:solidFill>
                <a:effectLst/>
                <a:uLnTx/>
                <a:uFillTx/>
                <a:latin typeface="Arial" panose="020B0604020202020204" pitchFamily="34" charset="0"/>
                <a:ea typeface="PMingLiU" pitchFamily="18" charset="-120"/>
                <a:cs typeface="+mn-cs"/>
              </a:rPr>
              <a:t>Example 4: </a:t>
            </a:r>
            <a:r>
              <a:rPr kumimoji="1" lang="en-US" altLang="zh-TW" sz="3200" b="0" i="0" u="none" strike="noStrike" kern="0" cap="none" spc="0" normalizeH="0" baseline="0" noProof="0" dirty="0">
                <a:ln>
                  <a:noFill/>
                </a:ln>
                <a:solidFill>
                  <a:srgbClr val="000000"/>
                </a:solidFill>
                <a:effectLst/>
                <a:uLnTx/>
                <a:uFillTx/>
                <a:latin typeface="Symbol" panose="05050102010706020507" pitchFamily="18" charset="2"/>
                <a:ea typeface="PMingLiU"/>
                <a:cs typeface="+mn-cs"/>
              </a:rPr>
              <a:t>c</a:t>
            </a:r>
            <a:r>
              <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rPr>
              <a:t>(</a:t>
            </a:r>
            <a:r>
              <a:rPr kumimoji="1" lang="en-US" altLang="zh-TW" sz="3200" b="0" i="1" u="none" strike="noStrike" kern="0" cap="none" spc="0" normalizeH="0" baseline="0" noProof="0" dirty="0" err="1">
                <a:ln>
                  <a:noFill/>
                </a:ln>
                <a:solidFill>
                  <a:srgbClr val="000000"/>
                </a:solidFill>
                <a:effectLst/>
                <a:uLnTx/>
                <a:uFillTx/>
                <a:latin typeface="Times New Roman" panose="02020603050405020304" pitchFamily="18" charset="0"/>
                <a:ea typeface="PMingLiU"/>
                <a:cs typeface="+mn-cs"/>
              </a:rPr>
              <a:t>C</a:t>
            </a:r>
            <a:r>
              <a:rPr kumimoji="1" lang="en-US" altLang="zh-TW" sz="3200" b="0" i="1" u="none" strike="noStrike" kern="0" cap="none" spc="0" normalizeH="0" baseline="-25000" noProof="0" dirty="0" err="1">
                <a:ln>
                  <a:noFill/>
                </a:ln>
                <a:solidFill>
                  <a:srgbClr val="000000"/>
                </a:solidFill>
                <a:effectLst/>
                <a:uLnTx/>
                <a:uFillTx/>
                <a:latin typeface="Times New Roman" panose="02020603050405020304" pitchFamily="18" charset="0"/>
                <a:ea typeface="PMingLiU"/>
                <a:cs typeface="+mn-cs"/>
              </a:rPr>
              <a:t>n</a:t>
            </a:r>
            <a:r>
              <a:rPr kumimoji="1" lang="en-US" altLang="zh-TW" sz="32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    2</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 </a:t>
            </a:r>
            <a:r>
              <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rPr>
              <a:t>if</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 </a:t>
            </a:r>
            <a:r>
              <a:rPr kumimoji="1" lang="en-US" altLang="zh-TW" sz="32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n</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 </a:t>
            </a:r>
            <a:r>
              <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rPr>
              <a:t>is even</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a:t>
            </a:r>
            <a:br>
              <a:rPr kumimoji="1" lang="en-US" altLang="zh-TW" sz="32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br>
            <a:r>
              <a:rPr kumimoji="1" lang="en-US" altLang="zh-TW" sz="32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                                       3</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 </a:t>
            </a:r>
            <a:r>
              <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rPr>
              <a:t>if</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 </a:t>
            </a:r>
            <a:r>
              <a:rPr kumimoji="1" lang="en-US" altLang="zh-TW" sz="32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n</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 </a:t>
            </a:r>
            <a:r>
              <a:rPr kumimoji="1" lang="en-US" altLang="zh-TW" sz="3200" b="0" i="0" u="none" strike="noStrike" kern="0" cap="none" spc="0" normalizeH="0" baseline="0" noProof="0" dirty="0">
                <a:ln>
                  <a:noFill/>
                </a:ln>
                <a:solidFill>
                  <a:srgbClr val="000000"/>
                </a:solidFill>
                <a:effectLst/>
                <a:uLnTx/>
                <a:uFillTx/>
                <a:latin typeface="Arial" panose="020B0604020202020204"/>
                <a:ea typeface="PMingLiU"/>
                <a:cs typeface="+mn-cs"/>
              </a:rPr>
              <a:t>is odd</a:t>
            </a:r>
            <a:r>
              <a:rPr kumimoji="1" lang="en-US" altLang="zh-TW" sz="3200" b="0" i="1" u="none" strike="noStrike" kern="0" cap="none" spc="0" normalizeH="0" baseline="0" noProof="0" dirty="0">
                <a:ln>
                  <a:noFill/>
                </a:ln>
                <a:solidFill>
                  <a:srgbClr val="000000"/>
                </a:solidFill>
                <a:effectLst/>
                <a:uLnTx/>
                <a:uFillTx/>
                <a:latin typeface="Arial" panose="020B0604020202020204"/>
                <a:ea typeface="PMingLiU"/>
                <a:cs typeface="+mn-cs"/>
              </a:rPr>
              <a:t>.</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80899" name="投影片編號版面配置區 4"/>
          <p:cNvSpPr txBox="1">
            <a:spLocks noGrp="1"/>
          </p:cNvSpPr>
          <p:nvPr/>
        </p:nvSpPr>
        <p:spPr>
          <a:xfrm>
            <a:off x="6858000" y="6248400"/>
            <a:ext cx="2133600" cy="457200"/>
          </a:xfrm>
          <a:prstGeom prst="rect">
            <a:avLst/>
          </a:prstGeom>
          <a:noFill/>
          <a:ln w="9525">
            <a:noFill/>
          </a:ln>
        </p:spPr>
        <p:txBody>
          <a:bodyPr anchor="b"/>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Pct val="100000"/>
              <a:buNone/>
            </a:pPr>
            <a:r>
              <a:rPr lang="en-US" altLang="zh-TW" sz="1200" dirty="0">
                <a:latin typeface="Times New Roman" panose="02020603050405020304" pitchFamily="18" charset="0"/>
              </a:rPr>
              <a:t>Ch9-</a:t>
            </a:r>
            <a:fld id="{9A0DB2DC-4C9A-4742-B13C-FB6460FD3503}" type="slidenum">
              <a:rPr lang="en-US" altLang="zh-TW" sz="1200" dirty="0">
                <a:latin typeface="Times New Roman" panose="02020603050405020304" pitchFamily="18" charset="0"/>
              </a:rPr>
            </a:fld>
            <a:endParaRPr lang="en-US" altLang="zh-TW" sz="1200" dirty="0">
              <a:latin typeface="Times New Roman" panose="02020603050405020304" pitchFamily="18" charset="0"/>
            </a:endParaRPr>
          </a:p>
        </p:txBody>
      </p:sp>
      <p:sp>
        <p:nvSpPr>
          <p:cNvPr id="5" name="矩形 4"/>
          <p:cNvSpPr/>
          <p:nvPr/>
        </p:nvSpPr>
        <p:spPr>
          <a:xfrm>
            <a:off x="3962400" y="533400"/>
            <a:ext cx="533400" cy="10064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6000" b="0" i="0" u="none" strike="noStrike" kern="0" cap="none" spc="0" normalizeH="0" baseline="0" noProof="0" dirty="0">
                <a:ln>
                  <a:noFill/>
                </a:ln>
                <a:solidFill>
                  <a:srgbClr val="000000"/>
                </a:solidFill>
                <a:effectLst/>
                <a:uLnTx/>
                <a:uFillTx/>
                <a:latin typeface="Symbol" panose="05050102010706020507" pitchFamily="18" charset="2"/>
                <a:ea typeface="PMingLiU"/>
                <a:cs typeface="Times New Roman" panose="02020603050405020304" pitchFamily="18" charset="0"/>
              </a:rPr>
              <a:t>{</a:t>
            </a:r>
            <a:endParaRPr kumimoji="1" lang="zh-TW" altLang="en-US" sz="6000" b="0" i="0" u="none" strike="noStrike" kern="1200" cap="none" spc="0" normalizeH="0" baseline="0" noProof="0" dirty="0">
              <a:ln>
                <a:noFill/>
              </a:ln>
              <a:solidFill>
                <a:schemeClr val="tx1"/>
              </a:solidFill>
              <a:effectLst/>
              <a:uLnTx/>
              <a:uFillTx/>
              <a:latin typeface="Symbol" panose="05050102010706020507" pitchFamily="18" charset="2"/>
              <a:ea typeface="PMingLiU" pitchFamily="18" charset="-120"/>
              <a:cs typeface="Times New Roman" panose="02020603050405020304" pitchFamily="18" charset="0"/>
            </a:endParaRPr>
          </a:p>
        </p:txBody>
      </p:sp>
      <p:sp>
        <p:nvSpPr>
          <p:cNvPr id="7" name="矩形 6"/>
          <p:cNvSpPr/>
          <p:nvPr/>
        </p:nvSpPr>
        <p:spPr>
          <a:xfrm>
            <a:off x="457200" y="5943600"/>
            <a:ext cx="2665413" cy="461963"/>
          </a:xfrm>
          <a:prstGeom prst="rect">
            <a:avLst/>
          </a:prstGeom>
          <a:solidFill>
            <a:srgbClr val="FFFF99"/>
          </a:solidFill>
          <a:ln>
            <a:solidFill>
              <a:schemeClr val="tx1"/>
            </a:solidFill>
          </a:ln>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defRPr/>
            </a:pPr>
            <a:r>
              <a:rPr kumimoji="1" lang="en-US" altLang="zh-TW" sz="2400" b="1" i="0" u="none" strike="noStrike" kern="0" cap="none" spc="0" normalizeH="0" baseline="0" noProof="0" dirty="0">
                <a:ln>
                  <a:noFill/>
                </a:ln>
                <a:solidFill>
                  <a:srgbClr val="008000"/>
                </a:solidFill>
                <a:effectLst/>
                <a:uLnTx/>
                <a:uFillTx/>
                <a:latin typeface="Arial" panose="020B0604020202020204"/>
                <a:ea typeface="PMingLiU"/>
                <a:cs typeface="+mn-cs"/>
              </a:rPr>
              <a:t>Exercise: </a:t>
            </a:r>
            <a:r>
              <a:rPr kumimoji="1" lang="en-US" altLang="zh-TW" sz="2400" b="0" i="0" u="none" strike="noStrike" kern="0" cap="none" spc="0" normalizeH="0" baseline="0" noProof="0" dirty="0">
                <a:ln>
                  <a:noFill/>
                </a:ln>
                <a:solidFill>
                  <a:schemeClr val="tx1"/>
                </a:solidFill>
                <a:effectLst/>
                <a:uLnTx/>
                <a:uFillTx/>
                <a:latin typeface="Arial" panose="020B0604020202020204"/>
                <a:ea typeface="PMingLiU"/>
                <a:cs typeface="+mn-cs"/>
              </a:rPr>
              <a:t>8, 9, 15</a:t>
            </a:r>
            <a:endParaRPr kumimoji="1" lang="en-US" altLang="zh-TW" sz="2400" b="0" i="0" u="none" strike="noStrike" kern="0" cap="none" spc="0" normalizeH="0" baseline="0" noProof="0" dirty="0">
              <a:ln>
                <a:noFill/>
              </a:ln>
              <a:solidFill>
                <a:srgbClr val="000000"/>
              </a:solidFill>
              <a:effectLst/>
              <a:uLnTx/>
              <a:uFillTx/>
              <a:latin typeface="Arial" panose="020B0604020202020204"/>
              <a:ea typeface="PMingLiU"/>
              <a:cs typeface="+mn-cs"/>
            </a:endParaRPr>
          </a:p>
        </p:txBody>
      </p:sp>
      <p:sp>
        <p:nvSpPr>
          <p:cNvPr id="10" name="矩形 9"/>
          <p:cNvSpPr/>
          <p:nvPr/>
        </p:nvSpPr>
        <p:spPr>
          <a:xfrm>
            <a:off x="457200" y="4267200"/>
            <a:ext cx="7762875" cy="1384300"/>
          </a:xfrm>
          <a:prstGeom prst="rect">
            <a:avLst/>
          </a:prstGeom>
          <a:ln>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800" b="1" i="0" u="none" strike="noStrike" kern="0" cap="none" spc="0" normalizeH="0" baseline="0" noProof="0" dirty="0" err="1">
                <a:ln>
                  <a:noFill/>
                </a:ln>
                <a:solidFill>
                  <a:srgbClr val="008000"/>
                </a:solidFill>
                <a:effectLst/>
                <a:uLnTx/>
                <a:uFillTx/>
                <a:latin typeface="Arial" panose="020B0604020202020204"/>
                <a:ea typeface="PMingLiU"/>
                <a:cs typeface="+mn-cs"/>
              </a:rPr>
              <a:t>Thm</a:t>
            </a: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 1. (The Four Color Theorem)</a:t>
            </a:r>
            <a:b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br>
            <a:r>
              <a:rPr kumimoji="1" lang="en-US" altLang="zh-TW" sz="2800" b="1" i="0" u="none" strike="noStrike" kern="0" cap="none" spc="0" normalizeH="0" baseline="0" noProof="0" dirty="0">
                <a:ln>
                  <a:noFill/>
                </a:ln>
                <a:solidFill>
                  <a:srgbClr val="008000"/>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The chromatic number of a </a:t>
            </a:r>
            <a:r>
              <a:rPr kumimoji="1" lang="en-US" altLang="zh-TW" sz="2800" b="0" i="0" u="sng" strike="noStrike" kern="0" cap="none" spc="0" normalizeH="0" baseline="0" noProof="0" dirty="0">
                <a:ln>
                  <a:noFill/>
                </a:ln>
                <a:solidFill>
                  <a:schemeClr val="tx1"/>
                </a:solidFill>
                <a:effectLst/>
                <a:uLnTx/>
                <a:uFillTx/>
                <a:latin typeface="Arial" panose="020B0604020202020204"/>
                <a:ea typeface="PMingLiU"/>
                <a:cs typeface="+mn-cs"/>
              </a:rPr>
              <a:t>planar</a:t>
            </a: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 graph is no </a:t>
            </a:r>
            <a:b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chemeClr val="tx1"/>
                </a:solidFill>
                <a:effectLst/>
                <a:uLnTx/>
                <a:uFillTx/>
                <a:latin typeface="Arial" panose="020B0604020202020204"/>
                <a:ea typeface="PMingLiU"/>
                <a:cs typeface="+mn-cs"/>
              </a:rPr>
              <a:t>greater than four.</a:t>
            </a:r>
            <a:endParaRPr kumimoji="1" lang="zh-TW" altLang="en-US" sz="1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9" name="矩形 8"/>
          <p:cNvSpPr/>
          <p:nvPr/>
        </p:nvSpPr>
        <p:spPr bwMode="auto">
          <a:xfrm>
            <a:off x="4953000" y="16002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1" name="矩形 10"/>
          <p:cNvSpPr/>
          <p:nvPr/>
        </p:nvSpPr>
        <p:spPr bwMode="auto">
          <a:xfrm>
            <a:off x="6019800" y="16002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2" name="矩形 11"/>
          <p:cNvSpPr/>
          <p:nvPr/>
        </p:nvSpPr>
        <p:spPr bwMode="auto">
          <a:xfrm>
            <a:off x="4411663" y="271145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3</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3" name="矩形 12"/>
          <p:cNvSpPr/>
          <p:nvPr/>
        </p:nvSpPr>
        <p:spPr bwMode="auto">
          <a:xfrm>
            <a:off x="5562600" y="347345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2</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
        <p:nvSpPr>
          <p:cNvPr id="14" name="矩形 13"/>
          <p:cNvSpPr/>
          <p:nvPr/>
        </p:nvSpPr>
        <p:spPr bwMode="auto">
          <a:xfrm>
            <a:off x="6705600" y="2667000"/>
            <a:ext cx="312738" cy="396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2000" b="0" i="0" u="none" strike="noStrike" kern="0" cap="none" spc="0" normalizeH="0" baseline="0" noProof="0" dirty="0">
                <a:ln>
                  <a:noFill/>
                </a:ln>
                <a:solidFill>
                  <a:srgbClr val="000000"/>
                </a:solidFill>
                <a:effectLst/>
                <a:uLnTx/>
                <a:uFillTx/>
                <a:latin typeface="Times New Roman" panose="02020603050405020304" pitchFamily="18" charset="0"/>
                <a:ea typeface="PMingLiU"/>
                <a:cs typeface="Times New Roman" panose="02020603050405020304" pitchFamily="18" charset="0"/>
              </a:rPr>
              <a:t>1</a:t>
            </a:r>
            <a:endParaRPr kumimoji="1" lang="zh-TW" altLang="en-US" sz="20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grpSp>
        <p:nvGrpSpPr>
          <p:cNvPr id="2" name="群組 14"/>
          <p:cNvGrpSpPr/>
          <p:nvPr/>
        </p:nvGrpSpPr>
        <p:grpSpPr>
          <a:xfrm>
            <a:off x="4724400" y="1981200"/>
            <a:ext cx="2009775" cy="1535113"/>
            <a:chOff x="2438400" y="3581400"/>
            <a:chExt cx="2009775" cy="1534677"/>
          </a:xfrm>
        </p:grpSpPr>
        <p:sp>
          <p:nvSpPr>
            <p:cNvPr id="80910" name="Line 25"/>
            <p:cNvSpPr/>
            <p:nvPr/>
          </p:nvSpPr>
          <p:spPr>
            <a:xfrm rot="120000" flipH="1">
              <a:off x="2505724" y="3650894"/>
              <a:ext cx="369580" cy="799872"/>
            </a:xfrm>
            <a:prstGeom prst="line">
              <a:avLst/>
            </a:prstGeom>
            <a:ln w="25400" cap="flat" cmpd="sng">
              <a:solidFill>
                <a:schemeClr val="tx1"/>
              </a:solidFill>
              <a:prstDash val="solid"/>
              <a:headEnd type="none" w="med" len="med"/>
              <a:tailEnd type="none" w="med" len="med"/>
            </a:ln>
          </p:spPr>
        </p:sp>
        <p:sp>
          <p:nvSpPr>
            <p:cNvPr id="80911" name="AutoShape 11"/>
            <p:cNvSpPr/>
            <p:nvPr/>
          </p:nvSpPr>
          <p:spPr>
            <a:xfrm>
              <a:off x="2812949" y="3581400"/>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80912" name="AutoShape 11"/>
            <p:cNvSpPr/>
            <p:nvPr/>
          </p:nvSpPr>
          <p:spPr>
            <a:xfrm>
              <a:off x="2438400" y="4421335"/>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80913" name="AutoShape 11"/>
            <p:cNvSpPr/>
            <p:nvPr/>
          </p:nvSpPr>
          <p:spPr>
            <a:xfrm>
              <a:off x="3352800" y="4997306"/>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80914" name="AutoShape 11"/>
            <p:cNvSpPr/>
            <p:nvPr/>
          </p:nvSpPr>
          <p:spPr>
            <a:xfrm>
              <a:off x="4329372" y="4421335"/>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80915" name="Line 23"/>
            <p:cNvSpPr/>
            <p:nvPr/>
          </p:nvSpPr>
          <p:spPr>
            <a:xfrm rot="-120000" flipH="1" flipV="1">
              <a:off x="3894011" y="3649749"/>
              <a:ext cx="434696" cy="821992"/>
            </a:xfrm>
            <a:prstGeom prst="line">
              <a:avLst/>
            </a:prstGeom>
            <a:ln w="25400" cap="flat" cmpd="sng">
              <a:solidFill>
                <a:schemeClr val="tx1"/>
              </a:solidFill>
              <a:prstDash val="solid"/>
              <a:headEnd type="none" w="med" len="med"/>
              <a:tailEnd type="none" w="med" len="med"/>
            </a:ln>
          </p:spPr>
        </p:sp>
        <p:sp>
          <p:nvSpPr>
            <p:cNvPr id="80916" name="AutoShape 11"/>
            <p:cNvSpPr/>
            <p:nvPr/>
          </p:nvSpPr>
          <p:spPr>
            <a:xfrm>
              <a:off x="3803593" y="3581400"/>
              <a:ext cx="118803" cy="118771"/>
            </a:xfrm>
            <a:prstGeom prst="flowChartConnector">
              <a:avLst/>
            </a:prstGeom>
            <a:solidFill>
              <a:schemeClr val="tx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Pct val="100000"/>
                <a:buNone/>
              </a:pPr>
              <a:endParaRPr lang="zh-TW" altLang="en-US" sz="2000" dirty="0"/>
            </a:p>
          </p:txBody>
        </p:sp>
        <p:sp>
          <p:nvSpPr>
            <p:cNvPr id="80917" name="Line 25"/>
            <p:cNvSpPr/>
            <p:nvPr/>
          </p:nvSpPr>
          <p:spPr>
            <a:xfrm flipV="1">
              <a:off x="3428519" y="4463904"/>
              <a:ext cx="990600" cy="609601"/>
            </a:xfrm>
            <a:prstGeom prst="line">
              <a:avLst/>
            </a:prstGeom>
            <a:ln w="25400" cap="flat" cmpd="sng">
              <a:solidFill>
                <a:schemeClr val="tx1"/>
              </a:solidFill>
              <a:prstDash val="solid"/>
              <a:headEnd type="none" w="med" len="med"/>
              <a:tailEnd type="none" w="med" len="med"/>
            </a:ln>
          </p:spPr>
        </p:sp>
        <p:sp>
          <p:nvSpPr>
            <p:cNvPr id="80918" name="Line 25"/>
            <p:cNvSpPr/>
            <p:nvPr/>
          </p:nvSpPr>
          <p:spPr>
            <a:xfrm rot="120000" flipV="1">
              <a:off x="2895638" y="3641640"/>
              <a:ext cx="913842" cy="45719"/>
            </a:xfrm>
            <a:prstGeom prst="line">
              <a:avLst/>
            </a:prstGeom>
            <a:ln w="25400" cap="flat" cmpd="sng">
              <a:solidFill>
                <a:schemeClr val="tx1"/>
              </a:solidFill>
              <a:prstDash val="solid"/>
              <a:headEnd type="none" w="med" len="med"/>
              <a:tailEnd type="none" w="med" len="med"/>
            </a:ln>
          </p:spPr>
        </p:sp>
        <p:sp>
          <p:nvSpPr>
            <p:cNvPr id="80919" name="Line 25"/>
            <p:cNvSpPr/>
            <p:nvPr/>
          </p:nvSpPr>
          <p:spPr>
            <a:xfrm>
              <a:off x="2514118" y="4495706"/>
              <a:ext cx="914400" cy="609600"/>
            </a:xfrm>
            <a:prstGeom prst="line">
              <a:avLst/>
            </a:prstGeom>
            <a:ln w="25400" cap="flat" cmpd="sng">
              <a:solidFill>
                <a:schemeClr val="tx1"/>
              </a:solidFill>
              <a:prstDash val="solid"/>
              <a:headEnd type="none" w="med" len="med"/>
              <a:tailEnd type="none" w="med" len="med"/>
            </a:ln>
          </p:spPr>
        </p:sp>
      </p:grpSp>
      <p:sp>
        <p:nvSpPr>
          <p:cNvPr id="31" name="矩形 30"/>
          <p:cNvSpPr/>
          <p:nvPr/>
        </p:nvSpPr>
        <p:spPr>
          <a:xfrm>
            <a:off x="685800" y="2057400"/>
            <a:ext cx="2752725" cy="10160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TW" sz="3200" b="0" i="1" u="none" strike="noStrike" kern="0" cap="none" spc="0" normalizeH="0" baseline="0" noProof="0" dirty="0" err="1">
                <a:ln>
                  <a:noFill/>
                </a:ln>
                <a:solidFill>
                  <a:srgbClr val="000000"/>
                </a:solidFill>
                <a:effectLst/>
                <a:uLnTx/>
                <a:uFillTx/>
                <a:latin typeface="Times New Roman" panose="02020603050405020304" pitchFamily="18" charset="0"/>
                <a:ea typeface="PMingLiU"/>
                <a:cs typeface="+mn-cs"/>
              </a:rPr>
              <a:t>C</a:t>
            </a:r>
            <a:r>
              <a:rPr kumimoji="1" lang="en-US" altLang="zh-TW" sz="3200" b="0" i="1" u="none" strike="noStrike" kern="0" cap="none" spc="0" normalizeH="0" baseline="-25000" noProof="0" dirty="0" err="1">
                <a:ln>
                  <a:noFill/>
                </a:ln>
                <a:solidFill>
                  <a:srgbClr val="000000"/>
                </a:solidFill>
                <a:effectLst/>
                <a:uLnTx/>
                <a:uFillTx/>
                <a:latin typeface="Times New Roman" panose="02020603050405020304" pitchFamily="18" charset="0"/>
                <a:ea typeface="PMingLiU"/>
                <a:cs typeface="+mn-cs"/>
              </a:rPr>
              <a:t>n</a:t>
            </a:r>
            <a:r>
              <a:rPr kumimoji="1" lang="en-US" altLang="zh-TW" sz="32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is bipartite</a:t>
            </a:r>
            <a:b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b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when</a:t>
            </a:r>
            <a:r>
              <a:rPr kumimoji="1" lang="en-US" altLang="zh-TW" sz="2800" b="0" i="1" u="none" strike="noStrike" kern="0" cap="none" spc="0" normalizeH="0" baseline="0" noProof="0" dirty="0">
                <a:ln>
                  <a:noFill/>
                </a:ln>
                <a:solidFill>
                  <a:srgbClr val="000000"/>
                </a:solidFill>
                <a:effectLst/>
                <a:uLnTx/>
                <a:uFillTx/>
                <a:latin typeface="Times New Roman" panose="02020603050405020304" pitchFamily="18" charset="0"/>
                <a:ea typeface="PMingLiU"/>
                <a:cs typeface="+mn-cs"/>
              </a:rPr>
              <a:t> n</a:t>
            </a:r>
            <a:r>
              <a:rPr kumimoji="1" lang="en-US" altLang="zh-TW" sz="2800" b="0" i="1" u="none" strike="noStrike" kern="0" cap="none" spc="0" normalizeH="0" baseline="0" noProof="0" dirty="0">
                <a:ln>
                  <a:noFill/>
                </a:ln>
                <a:solidFill>
                  <a:srgbClr val="000000"/>
                </a:solidFill>
                <a:effectLst/>
                <a:uLnTx/>
                <a:uFillTx/>
                <a:latin typeface="Arial" panose="020B0604020202020204"/>
                <a:ea typeface="PMingLiU"/>
                <a:cs typeface="+mn-cs"/>
              </a:rPr>
              <a:t> </a:t>
            </a:r>
            <a:r>
              <a:rPr kumimoji="1" lang="en-US" altLang="zh-TW" sz="2800" b="0" i="0" u="none" strike="noStrike" kern="0" cap="none" spc="0" normalizeH="0" baseline="0" noProof="0" dirty="0">
                <a:ln>
                  <a:noFill/>
                </a:ln>
                <a:solidFill>
                  <a:srgbClr val="000000"/>
                </a:solidFill>
                <a:effectLst/>
                <a:uLnTx/>
                <a:uFillTx/>
                <a:latin typeface="Arial" panose="020B0604020202020204"/>
                <a:ea typeface="PMingLiU"/>
                <a:cs typeface="+mn-cs"/>
              </a:rPr>
              <a:t>is even. </a:t>
            </a:r>
            <a:endParaRPr kumimoji="1" lang="zh-TW" altLang="en-US" sz="2800" b="0" i="0" u="none" strike="noStrike" kern="1200" cap="none" spc="0" normalizeH="0" baseline="0" noProof="0" dirty="0">
              <a:ln>
                <a:noFill/>
              </a:ln>
              <a:solidFill>
                <a:schemeClr val="tx1"/>
              </a:solidFill>
              <a:effectLst/>
              <a:uLnTx/>
              <a:uFillTx/>
              <a:latin typeface="Arial" panose="020B0604020202020204" pitchFamily="34" charset="0"/>
              <a:ea typeface="PMingLiU" pitchFamily="18" charset="-12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9" grpId="0"/>
      <p:bldP spid="11" grpId="0"/>
      <p:bldP spid="12" grpId="0"/>
      <p:bldP spid="13" grpId="0"/>
      <p:bldP spid="14" grpId="0"/>
      <p:bldP spid="31" grpId="0"/>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tx1"/>
          </a:solidFill>
        </a:ln>
      </a:spPr>
      <a:bodyPr wrap="none">
        <a:spAutoFit/>
      </a:bodyPr>
      <a:lstStyle>
        <a:defPPr>
          <a:defRPr sz="2800" b="1" kern="0" dirty="0" err="1" smtClean="0">
            <a:solidFill>
              <a:srgbClr val="008000"/>
            </a:solidFill>
            <a:latin typeface="Arial" panose="020B0604020202020204"/>
            <a:ea typeface="PMingLiU"/>
          </a:defRPr>
        </a:defPPr>
      </a:lstStyle>
    </a:sp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22018</Words>
  <Application>WPS 演示</Application>
  <PresentationFormat/>
  <Paragraphs>2557</Paragraphs>
  <Slides>78</Slides>
  <Notes>64</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13</vt:i4>
      </vt:variant>
      <vt:variant>
        <vt:lpstr>幻灯片标题</vt:lpstr>
      </vt:variant>
      <vt:variant>
        <vt:i4>78</vt:i4>
      </vt:variant>
    </vt:vector>
  </HeadingPairs>
  <TitlesOfParts>
    <vt:vector size="110" baseType="lpstr">
      <vt:lpstr>Arial</vt:lpstr>
      <vt:lpstr>宋体</vt:lpstr>
      <vt:lpstr>Wingdings</vt:lpstr>
      <vt:lpstr>PMingLiU</vt:lpstr>
      <vt:lpstr>Arial</vt:lpstr>
      <vt:lpstr>PMingLiU</vt:lpstr>
      <vt:lpstr>Times New Roman</vt:lpstr>
      <vt:lpstr>MingLiU-ExtB</vt:lpstr>
      <vt:lpstr>Wingdings 2</vt:lpstr>
      <vt:lpstr>Symbol</vt:lpstr>
      <vt:lpstr>微软雅黑</vt:lpstr>
      <vt:lpstr>Arial Unicode MS</vt:lpstr>
      <vt:lpstr>PMingLiU</vt:lpstr>
      <vt:lpstr>Segoe Print</vt:lpstr>
      <vt:lpstr>Symbol</vt:lpstr>
      <vt:lpstr>AR MinchoL JIS</vt:lpstr>
      <vt:lpstr>Yu Gothic</vt:lpstr>
      <vt:lpstr>新宋体</vt:lpstr>
      <vt:lpstr>Pixel</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Outline</vt:lpstr>
      <vt:lpstr>§10.1 Graphs and Graph Models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§10.2 Graph Terminology and Special Types          of Graphs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§10.3 Representing Graphs and          Graph Isomorphism</vt:lpstr>
      <vt:lpstr>PowerPoint 演示文稿</vt:lpstr>
      <vt:lpstr>PowerPoint 演示文稿</vt:lpstr>
      <vt:lpstr>PowerPoint 演示文稿</vt:lpstr>
      <vt:lpstr>PowerPoint 演示文稿</vt:lpstr>
      <vt:lpstr>Graph Invariants under Isomorphism</vt:lpstr>
      <vt:lpstr>PowerPoint 演示文稿</vt:lpstr>
      <vt:lpstr>PowerPoint 演示文稿</vt:lpstr>
      <vt:lpstr>PowerPoint 演示文稿</vt:lpstr>
      <vt:lpstr>PowerPoint 演示文稿</vt:lpstr>
      <vt:lpstr>PowerPoint 演示文稿</vt:lpstr>
      <vt:lpstr>§10.4: Connectivity</vt:lpstr>
      <vt:lpstr>PowerPoint 演示文稿</vt:lpstr>
      <vt:lpstr>Paths in Directed Graphs</vt:lpstr>
      <vt:lpstr>PowerPoint 演示文稿</vt:lpstr>
      <vt:lpstr>PowerPoint 演示文稿</vt:lpstr>
      <vt:lpstr>Connectedness in Directed Graphs</vt:lpstr>
      <vt:lpstr>Paths and Isomorphism</vt:lpstr>
      <vt:lpstr>PowerPoint 演示文稿</vt:lpstr>
      <vt:lpstr>Counting Paths between Vertices</vt:lpstr>
      <vt:lpstr>PowerPoint 演示文稿</vt:lpstr>
      <vt:lpstr>The origin of Graph Theory </vt:lpstr>
      <vt:lpstr>PowerPoint 演示文稿</vt:lpstr>
      <vt:lpstr>PowerPoint 演示文稿</vt:lpstr>
      <vt:lpstr>Algorithm 1 (Constructing Euler Circuits.) </vt:lpstr>
      <vt:lpstr>PowerPoint 演示文稿</vt:lpstr>
      <vt:lpstr>Hamilton Paths and Circuits</vt:lpstr>
      <vt:lpstr>PowerPoint 演示文稿</vt:lpstr>
      <vt:lpstr>PowerPoint 演示文稿</vt:lpstr>
      <vt:lpstr>§10.6: Shortest-Path Problems</vt:lpstr>
      <vt:lpstr>PowerPoint 演示文稿</vt:lpstr>
      <vt:lpstr>Dijkstra’s Algorithm</vt:lpstr>
      <vt:lpstr>PowerPoint 演示文稿</vt:lpstr>
      <vt:lpstr>PowerPoint 演示文稿</vt:lpstr>
      <vt:lpstr>Floyd’s Algorithm (find the distance d(a, b)  a, b)</vt:lpstr>
      <vt:lpstr>PowerPoint 演示文稿</vt:lpstr>
      <vt:lpstr>§10.7: Planar Graphs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§10.8: Graph Coloring</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WPS_130272025</cp:lastModifiedBy>
  <cp:revision>509</cp:revision>
  <dcterms:created xsi:type="dcterms:W3CDTF">2019-03-11T06:30:00Z</dcterms:created>
  <dcterms:modified xsi:type="dcterms:W3CDTF">2019-06-06T09:37:10Z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2052-11.1.0.8751</vt:lpwstr>
  </property>
</Properties>
</file>