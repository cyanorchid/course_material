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0" r:id="rId2"/>
  </p:sldMasterIdLst>
  <p:notesMasterIdLst>
    <p:notesMasterId r:id="rId22"/>
  </p:notesMasterIdLst>
  <p:sldIdLst>
    <p:sldId id="256" r:id="rId3"/>
    <p:sldId id="323" r:id="rId4"/>
    <p:sldId id="321" r:id="rId5"/>
    <p:sldId id="320" r:id="rId6"/>
    <p:sldId id="324" r:id="rId7"/>
    <p:sldId id="344" r:id="rId8"/>
    <p:sldId id="346" r:id="rId9"/>
    <p:sldId id="345" r:id="rId10"/>
    <p:sldId id="291" r:id="rId11"/>
    <p:sldId id="340" r:id="rId12"/>
    <p:sldId id="350" r:id="rId13"/>
    <p:sldId id="351" r:id="rId14"/>
    <p:sldId id="349" r:id="rId15"/>
    <p:sldId id="341" r:id="rId16"/>
    <p:sldId id="342" r:id="rId17"/>
    <p:sldId id="352" r:id="rId18"/>
    <p:sldId id="353" r:id="rId19"/>
    <p:sldId id="354" r:id="rId20"/>
    <p:sldId id="277" r:id="rId2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6600"/>
    <a:srgbClr val="FF9900"/>
    <a:srgbClr val="A0E02C"/>
    <a:srgbClr val="C47500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>
      <p:cViewPr>
        <p:scale>
          <a:sx n="150" d="100"/>
          <a:sy n="150" d="100"/>
        </p:scale>
        <p:origin x="672" y="-19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824D4-204A-4A65-BB10-211231477A00}" type="datetimeFigureOut">
              <a:rPr lang="zh-CN" altLang="en-US" smtClean="0"/>
              <a:pPr/>
              <a:t>2020/9/6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14D20-20BC-4871-ADFA-6016EC1B766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354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14D20-20BC-4871-ADFA-6016EC1B7663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559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14D20-20BC-4871-ADFA-6016EC1B7663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237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14D20-20BC-4871-ADFA-6016EC1B7663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836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14D20-20BC-4871-ADFA-6016EC1B7663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523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14D20-20BC-4871-ADFA-6016EC1B7663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828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14D20-20BC-4871-ADFA-6016EC1B7663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08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14D20-20BC-4871-ADFA-6016EC1B7663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972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14D20-20BC-4871-ADFA-6016EC1B7663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8611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14D20-20BC-4871-ADFA-6016EC1B7663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266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14D20-20BC-4871-ADFA-6016EC1B7663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622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14D20-20BC-4871-ADFA-6016EC1B7663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980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14D20-20BC-4871-ADFA-6016EC1B7663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02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14D20-20BC-4871-ADFA-6016EC1B7663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275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14D20-20BC-4871-ADFA-6016EC1B7663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464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14D20-20BC-4871-ADFA-6016EC1B7663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594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6983B-9529-43DC-8814-A4F6093F2DD3}" type="datetime1">
              <a:rPr lang="zh-CN" altLang="en-US" smtClean="0"/>
              <a:pPr/>
              <a:t>2020/9/6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075599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A992-2035-4BE3-A8CC-13B8EC680DBE}" type="datetime1">
              <a:rPr lang="zh-CN" altLang="en-US" smtClean="0"/>
              <a:pPr/>
              <a:t>2020/9/6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83981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F0811-8922-46F9-8AEE-93A637303F65}" type="datetime1">
              <a:rPr lang="zh-CN" altLang="en-US" smtClean="0"/>
              <a:pPr/>
              <a:t>2020/9/6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03447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9F2F3-89E4-43E8-BDE2-79EAA3146D1A}" type="datetime1">
              <a:rPr lang="zh-CN" altLang="en-US" smtClean="0"/>
              <a:pPr/>
              <a:t>2020/9/6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6250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72952-E9B2-435F-BCE8-E065965DD608}" type="datetime1">
              <a:rPr lang="zh-CN" altLang="en-US" smtClean="0"/>
              <a:pPr/>
              <a:t>2020/9/6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39703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B9F44-70BD-4856-9D68-602E94CA54B6}" type="datetime1">
              <a:rPr lang="zh-CN" altLang="en-US" smtClean="0"/>
              <a:pPr/>
              <a:t>2020/9/6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21599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2639-9CC5-456B-9F3A-FCCE757D7A91}" type="datetime1">
              <a:rPr lang="zh-CN" altLang="en-US" smtClean="0"/>
              <a:pPr/>
              <a:t>2020/9/6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90290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696A5-EC38-4FD7-8946-93E69EB31D33}" type="datetime1">
              <a:rPr lang="zh-CN" altLang="en-US" smtClean="0"/>
              <a:pPr/>
              <a:t>2020/9/6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31793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CB777-56E4-486C-9F6D-BC4E4431035C}" type="datetime1">
              <a:rPr lang="zh-CN" altLang="en-US" smtClean="0"/>
              <a:pPr/>
              <a:t>2020/9/6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77983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748B9-A28C-4548-9DD6-B439A1551BD1}" type="datetime1">
              <a:rPr lang="zh-CN" altLang="en-US" smtClean="0"/>
              <a:pPr/>
              <a:t>2020/9/6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87442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CA60F-ADA9-4C98-ABCB-FEC7E700BEF0}" type="datetime1">
              <a:rPr lang="zh-CN" altLang="en-US" smtClean="0"/>
              <a:pPr/>
              <a:t>2020/9/6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16960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3BD0A9-B75B-4CC0-9656-F371A09063F3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CBD13-E2FF-4E02-9338-8A931EF6252F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07101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08BCD5-1A51-4325-855E-08A4EE5CC537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5C2AC9-3DD2-4E46-974C-52121D4F20CF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782172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557C4-2DDE-405E-8194-858358E2F942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9D28E-4F27-40D4-8BE7-E09DEE4B1FD0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49407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6D1CC-E480-49EE-AC1E-C7411B72C0AF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B079E-E897-4959-A54D-BFA37BA19A0F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100196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31906-664A-48A2-8319-5EDEDA99E524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D16E89-E3C3-4A3D-B8D8-CB384B9ED5E6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17227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67B42-BE3A-4367-AD54-986C8BA420E0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ECE7A9-C90E-4D55-98DF-7659D2815E9E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924532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0115FF-86EE-461C-B510-B210E8A72711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56EF02-6CD1-4A56-86AC-DB716909176E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43492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0AB4CF-4114-41C0-AFC6-CE5872DE4EB2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F26D30-2902-49D8-99F6-1DECFF1D6D1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0525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811969-546A-43C3-AD98-C14F28E21AD8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B4D8BD-7693-4547-937C-D0D8E64E9DEF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680241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487B9-8F18-4593-8378-45EAA2149532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58DA6-268F-4C40-A98D-1DAFCDAEA2EF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21952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E4427-6594-4CAB-B03A-5DD32222DC52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DFB60-ED7E-4F6D-8BF7-4DA9C3F43171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70639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EF1D7-B7E5-461A-A736-135DDAB584D6}" type="datetime1">
              <a:rPr lang="zh-CN" altLang="en-US" smtClean="0"/>
              <a:pPr/>
              <a:t>2020/9/6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900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ransition/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B3224E9-797A-4F6A-829F-45A9BC976657}" type="datetime1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2020/9/6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37C407E-CCC6-40F1-B187-B63B34B61BC8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535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wmf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wmf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21237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147937" y="3348281"/>
            <a:ext cx="3480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ln w="10541" cmpd="sng">
                  <a:solidFill>
                    <a:srgbClr val="FF3300"/>
                  </a:solidFill>
                  <a:prstDash val="solid"/>
                </a:ln>
                <a:solidFill>
                  <a:schemeClr val="accent6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itchFamily="34" charset="0"/>
              </a:rPr>
              <a:t>授课教师：杨文君</a:t>
            </a: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051720" y="1476653"/>
            <a:ext cx="6083717" cy="80021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r>
              <a:rPr lang="zh-CN" altLang="en-US" sz="4600" b="1" cap="all" dirty="0">
                <a:ln w="0"/>
                <a:solidFill>
                  <a:schemeClr val="accent6">
                    <a:lumMod val="75000"/>
                  </a:schemeClr>
                </a:solidFill>
                <a:effectLst>
                  <a:reflection blurRad="12700" stA="50000" endPos="50000" dist="5000" dir="5400000" sy="-100000" rotWithShape="0"/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化学反应速率与活化能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691"/>
          <a:stretch/>
        </p:blipFill>
        <p:spPr bwMode="auto">
          <a:xfrm>
            <a:off x="109365" y="2989684"/>
            <a:ext cx="190500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4" y="67444"/>
            <a:ext cx="19050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59"/>
          <a:stretch/>
        </p:blipFill>
        <p:spPr bwMode="auto">
          <a:xfrm>
            <a:off x="109364" y="5157192"/>
            <a:ext cx="1905000" cy="1629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2123728" y="2347724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2123728" y="2492896"/>
            <a:ext cx="5832648" cy="0"/>
          </a:xfrm>
          <a:prstGeom prst="line">
            <a:avLst/>
          </a:prstGeom>
          <a:ln w="1524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30701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626374" y="344127"/>
            <a:ext cx="480131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微软雅黑" pitchFamily="34" charset="-122"/>
                <a:ea typeface="微软雅黑" pitchFamily="34" charset="-122"/>
              </a:rPr>
              <a:t>化学反应速率与活化能</a:t>
            </a:r>
            <a:endParaRPr lang="zh-CN" altLang="en-US" sz="3600" b="1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宋体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接连接符 16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0" y="6093296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18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04203" y="1608012"/>
            <a:ext cx="73003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实验目的</a:t>
            </a:r>
            <a:endParaRPr lang="en-US" altLang="zh-CN" sz="32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实验原理</a:t>
            </a:r>
            <a:endParaRPr lang="en-US" altLang="zh-CN" sz="32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仪器与试剂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实验内容</a:t>
            </a:r>
            <a:endParaRPr lang="en-US" altLang="zh-CN" sz="32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3200" dirty="0"/>
              <a:t>数据处理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98732026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1160041" y="200809"/>
            <a:ext cx="20313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微软雅黑" pitchFamily="34" charset="-122"/>
                <a:ea typeface="微软雅黑" pitchFamily="34" charset="-122"/>
              </a:rPr>
              <a:t>实验目的</a:t>
            </a:r>
            <a:endParaRPr lang="zh-CN" altLang="en-US" sz="3600" b="1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宋体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接连接符 16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0" y="6093296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18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3865" y="1765126"/>
            <a:ext cx="78210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1</a:t>
            </a:r>
            <a:r>
              <a:rPr lang="zh-CN" altLang="en-US" sz="2800" b="1" dirty="0"/>
              <a:t>、了解浓度、温度和催化剂对反应速度的影响；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2</a:t>
            </a:r>
            <a:r>
              <a:rPr lang="zh-CN" altLang="en-US" sz="2800" b="1" dirty="0"/>
              <a:t>、测定过二硫酸铵与碘化钾反应的反应速率；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3</a:t>
            </a:r>
            <a:r>
              <a:rPr lang="zh-CN" altLang="en-US" sz="2800" b="1" dirty="0"/>
              <a:t>、学会计算反应级数、反应速率常数和反应    的活化能。</a:t>
            </a:r>
          </a:p>
        </p:txBody>
      </p:sp>
    </p:spTree>
    <p:extLst>
      <p:ext uri="{BB962C8B-B14F-4D97-AF65-F5344CB8AC3E}">
        <p14:creationId xmlns:p14="http://schemas.microsoft.com/office/powerpoint/2010/main" val="49486075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1160041" y="200809"/>
            <a:ext cx="20313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微软雅黑" pitchFamily="34" charset="-122"/>
                <a:ea typeface="微软雅黑" pitchFamily="34" charset="-122"/>
              </a:rPr>
              <a:t>实验原理</a:t>
            </a:r>
            <a:endParaRPr lang="zh-CN" altLang="en-US" sz="3600" b="1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宋体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接连接符 16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0" y="6093296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18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39552" y="1391745"/>
            <a:ext cx="8352927" cy="3529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304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2400" dirty="0"/>
              <a:t> 在水溶液中</a:t>
            </a:r>
            <a:r>
              <a:rPr lang="en-US" altLang="zh-CN" sz="2400" dirty="0">
                <a:cs typeface="Times New Roman" panose="02020603050405020304" pitchFamily="18" charset="0"/>
              </a:rPr>
              <a:t>S</a:t>
            </a:r>
            <a:r>
              <a:rPr lang="en-US" altLang="zh-CN" sz="24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cs typeface="Times New Roman" panose="02020603050405020304" pitchFamily="18" charset="0"/>
              </a:rPr>
              <a:t>O</a:t>
            </a:r>
            <a:r>
              <a:rPr lang="en-US" altLang="zh-CN" sz="2400" baseline="-30000" dirty="0">
                <a:cs typeface="Times New Roman" panose="02020603050405020304" pitchFamily="18" charset="0"/>
              </a:rPr>
              <a:t>8</a:t>
            </a:r>
            <a:r>
              <a:rPr lang="en-US" altLang="zh-CN" sz="2400" baseline="30000" dirty="0">
                <a:cs typeface="Times New Roman" panose="02020603050405020304" pitchFamily="18" charset="0"/>
              </a:rPr>
              <a:t>2</a:t>
            </a:r>
            <a:r>
              <a:rPr lang="zh-CN" altLang="en-US" sz="2400" baseline="30000" dirty="0"/>
              <a:t>－</a:t>
            </a:r>
            <a:r>
              <a:rPr lang="zh-CN" altLang="en-US" sz="2400" dirty="0"/>
              <a:t>与</a:t>
            </a:r>
            <a:r>
              <a:rPr lang="en-US" altLang="zh-CN" sz="2400" dirty="0">
                <a:cs typeface="Times New Roman" panose="02020603050405020304" pitchFamily="18" charset="0"/>
              </a:rPr>
              <a:t>I</a:t>
            </a:r>
            <a:r>
              <a:rPr lang="zh-CN" altLang="en-US" sz="2400" baseline="30000" dirty="0"/>
              <a:t>－</a:t>
            </a:r>
            <a:r>
              <a:rPr lang="zh-CN" altLang="en-US" sz="2400" dirty="0"/>
              <a:t>发生如下反应：</a:t>
            </a:r>
            <a:r>
              <a:rPr lang="zh-CN" altLang="en-US" sz="2400" dirty="0">
                <a:cs typeface="Times New Roman" panose="02020603050405020304" pitchFamily="18" charset="0"/>
              </a:rPr>
              <a:t>    </a:t>
            </a: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 dirty="0"/>
              <a:t>         </a:t>
            </a:r>
            <a:r>
              <a:rPr lang="en-US" altLang="zh-CN" sz="2400" dirty="0"/>
              <a:t>S</a:t>
            </a:r>
            <a:r>
              <a:rPr lang="en-US" altLang="zh-CN" sz="2400" baseline="-30000" dirty="0"/>
              <a:t>2</a:t>
            </a:r>
            <a:r>
              <a:rPr lang="en-US" altLang="zh-CN" sz="2400" dirty="0"/>
              <a:t>O</a:t>
            </a:r>
            <a:r>
              <a:rPr lang="en-US" altLang="zh-CN" sz="2400" baseline="-30000" dirty="0"/>
              <a:t>8</a:t>
            </a:r>
            <a:r>
              <a:rPr lang="en-US" altLang="zh-CN" sz="2400" baseline="30000" dirty="0"/>
              <a:t>2</a:t>
            </a:r>
            <a:r>
              <a:rPr lang="zh-CN" altLang="en-US" sz="24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2400" dirty="0"/>
              <a:t>+ 3I</a:t>
            </a:r>
            <a:r>
              <a:rPr lang="zh-CN" altLang="en-US" sz="24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3200" dirty="0">
                <a:latin typeface="宋体" panose="02010600030101010101" pitchFamily="2" charset="-122"/>
              </a:rPr>
              <a:t>==</a:t>
            </a:r>
            <a:r>
              <a:rPr lang="en-US" altLang="zh-CN" sz="2400" dirty="0"/>
              <a:t>2SO</a:t>
            </a:r>
            <a:r>
              <a:rPr lang="en-US" altLang="zh-CN" sz="2400" baseline="-30000" dirty="0"/>
              <a:t>4</a:t>
            </a:r>
            <a:r>
              <a:rPr lang="en-US" altLang="zh-CN" sz="2400" baseline="30000" dirty="0"/>
              <a:t>2</a:t>
            </a:r>
            <a:r>
              <a:rPr lang="zh-CN" altLang="en-US" sz="24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2400" dirty="0"/>
              <a:t>+I</a:t>
            </a:r>
            <a:r>
              <a:rPr lang="en-US" altLang="zh-CN" sz="2400" baseline="-30000" dirty="0"/>
              <a:t>3</a:t>
            </a:r>
            <a:r>
              <a:rPr lang="zh-CN" altLang="en-US" sz="2400" baseline="30000" dirty="0">
                <a:latin typeface="宋体" panose="02010600030101010101" pitchFamily="2" charset="-122"/>
              </a:rPr>
              <a:t>－</a:t>
            </a:r>
            <a:r>
              <a:rPr lang="zh-CN" altLang="en-US" sz="2400" dirty="0"/>
              <a:t>（慢）    </a:t>
            </a:r>
            <a:r>
              <a:rPr lang="en-US" altLang="zh-CN" sz="2400" dirty="0">
                <a:cs typeface="Times New Roman" panose="02020603050405020304" pitchFamily="18" charset="0"/>
              </a:rPr>
              <a:t>(1</a:t>
            </a:r>
            <a:r>
              <a:rPr lang="en-US" altLang="zh-CN" sz="2400" dirty="0"/>
              <a:t>)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 dirty="0"/>
              <a:t>设反应的速率方程可表示为：</a:t>
            </a:r>
            <a:endParaRPr lang="zh-CN" altLang="en-US" sz="2400" dirty="0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 dirty="0">
                <a:cs typeface="Times New Roman" panose="02020603050405020304" pitchFamily="18" charset="0"/>
              </a:rPr>
              <a:t>                       </a:t>
            </a:r>
            <a:r>
              <a:rPr lang="en-US" altLang="zh-CN" sz="2400" dirty="0">
                <a:cs typeface="Times New Roman" panose="02020603050405020304" pitchFamily="18" charset="0"/>
              </a:rPr>
              <a:t>v =</a:t>
            </a:r>
            <a:r>
              <a:rPr lang="en-US" altLang="zh-CN" sz="2400" i="1" dirty="0">
                <a:cs typeface="Times New Roman" panose="02020603050405020304" pitchFamily="18" charset="0"/>
              </a:rPr>
              <a:t>k </a:t>
            </a:r>
            <a:r>
              <a:rPr lang="en-US" altLang="zh-CN" sz="2400" dirty="0">
                <a:latin typeface="宋体" panose="02010600030101010101" pitchFamily="2" charset="-122"/>
              </a:rPr>
              <a:t>·C</a:t>
            </a:r>
            <a:r>
              <a:rPr lang="en-US" altLang="zh-CN" sz="2400" baseline="30000" dirty="0"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000" dirty="0"/>
              <a:t>S</a:t>
            </a:r>
            <a:r>
              <a:rPr lang="en-US" altLang="zh-CN" sz="2000" baseline="-30000" dirty="0"/>
              <a:t>2</a:t>
            </a:r>
            <a:r>
              <a:rPr lang="en-US" altLang="zh-CN" sz="2000" dirty="0"/>
              <a:t>O</a:t>
            </a:r>
            <a:r>
              <a:rPr lang="en-US" altLang="zh-CN" sz="2000" baseline="-30000" dirty="0"/>
              <a:t>8</a:t>
            </a:r>
            <a:r>
              <a:rPr lang="en-US" altLang="zh-CN" sz="2000" baseline="30000" dirty="0"/>
              <a:t>2</a:t>
            </a:r>
            <a:r>
              <a:rPr lang="zh-CN" altLang="en-US" sz="20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2400" dirty="0"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宋体" panose="02010600030101010101" pitchFamily="2" charset="-122"/>
              </a:rPr>
              <a:t>·C</a:t>
            </a:r>
            <a:r>
              <a:rPr lang="en-US" altLang="zh-CN" sz="2400" baseline="30000" dirty="0"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宋体" panose="02010600030101010101" pitchFamily="2" charset="-122"/>
              </a:rPr>
              <a:t>(I</a:t>
            </a:r>
            <a:r>
              <a:rPr lang="en-US" altLang="zh-CN" sz="2400" baseline="30000" dirty="0">
                <a:latin typeface="宋体" panose="02010600030101010101" pitchFamily="2" charset="-122"/>
              </a:rPr>
              <a:t>-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endParaRPr lang="en-US" altLang="zh-CN" sz="2400" dirty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400" dirty="0"/>
              <a:t>其中，</a:t>
            </a:r>
            <a:r>
              <a:rPr lang="en-US" altLang="zh-CN" sz="2400" dirty="0"/>
              <a:t>v</a:t>
            </a:r>
            <a:r>
              <a:rPr lang="zh-CN" altLang="en-US" sz="2400" dirty="0"/>
              <a:t>是反应速率，</a:t>
            </a:r>
            <a:r>
              <a:rPr lang="en-US" altLang="zh-CN" sz="2400" i="1" dirty="0">
                <a:cs typeface="Times New Roman" panose="02020603050405020304" pitchFamily="18" charset="0"/>
              </a:rPr>
              <a:t>k</a:t>
            </a:r>
            <a:r>
              <a:rPr lang="en-US" altLang="zh-CN" sz="2400" dirty="0">
                <a:cs typeface="Times New Roman" panose="02020603050405020304" pitchFamily="18" charset="0"/>
              </a:rPr>
              <a:t> </a:t>
            </a:r>
            <a:r>
              <a:rPr lang="zh-CN" altLang="en-US" sz="2400" dirty="0"/>
              <a:t>是速率常数，</a:t>
            </a:r>
            <a:r>
              <a:rPr lang="en-US" altLang="zh-CN" sz="2400" dirty="0">
                <a:cs typeface="Times New Roman" panose="02020603050405020304" pitchFamily="18" charset="0"/>
              </a:rPr>
              <a:t>C(</a:t>
            </a:r>
            <a:r>
              <a:rPr lang="en-US" altLang="zh-CN" dirty="0"/>
              <a:t>S</a:t>
            </a:r>
            <a:r>
              <a:rPr lang="en-US" altLang="zh-CN" baseline="-30000" dirty="0"/>
              <a:t>2</a:t>
            </a:r>
            <a:r>
              <a:rPr lang="en-US" altLang="zh-CN" dirty="0"/>
              <a:t>O</a:t>
            </a:r>
            <a:r>
              <a:rPr lang="en-US" altLang="zh-CN" baseline="-30000" dirty="0"/>
              <a:t>8</a:t>
            </a:r>
            <a:r>
              <a:rPr lang="en-US" altLang="zh-CN" baseline="30000" dirty="0"/>
              <a:t>2</a:t>
            </a:r>
            <a:r>
              <a:rPr lang="zh-CN" altLang="en-US" baseline="30000" dirty="0">
                <a:latin typeface="宋体" panose="02010600030101010101" pitchFamily="2" charset="-122"/>
              </a:rPr>
              <a:t>－</a:t>
            </a:r>
            <a:r>
              <a:rPr lang="en-US" altLang="zh-CN" sz="2400" dirty="0">
                <a:cs typeface="Times New Roman" panose="02020603050405020304" pitchFamily="18" charset="0"/>
              </a:rPr>
              <a:t>)</a:t>
            </a:r>
            <a:r>
              <a:rPr lang="zh-CN" altLang="en-US" sz="2400" dirty="0"/>
              <a:t>、         </a:t>
            </a:r>
            <a:r>
              <a:rPr lang="en-US" altLang="zh-CN" sz="2400" dirty="0"/>
              <a:t>C</a:t>
            </a:r>
            <a:r>
              <a:rPr lang="en-US" altLang="zh-CN" sz="2400" baseline="30000" dirty="0"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宋体" panose="02010600030101010101" pitchFamily="2" charset="-122"/>
              </a:rPr>
              <a:t>(I</a:t>
            </a:r>
            <a:r>
              <a:rPr lang="en-US" altLang="zh-CN" sz="2400" baseline="30000" dirty="0">
                <a:latin typeface="宋体" panose="02010600030101010101" pitchFamily="2" charset="-122"/>
              </a:rPr>
              <a:t>-</a:t>
            </a:r>
            <a:r>
              <a:rPr lang="zh-CN" altLang="en-US" sz="2400" dirty="0">
                <a:latin typeface="宋体" panose="02010600030101010101" pitchFamily="2" charset="-122"/>
              </a:rPr>
              <a:t>）是即时浓度，</a:t>
            </a:r>
            <a:r>
              <a:rPr lang="en-US" altLang="zh-CN" sz="2400" dirty="0">
                <a:latin typeface="宋体" panose="02010600030101010101" pitchFamily="2" charset="-122"/>
              </a:rPr>
              <a:t>m</a:t>
            </a:r>
            <a:r>
              <a:rPr lang="zh-CN" altLang="en-US" sz="2400" dirty="0"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</a:rPr>
              <a:t>n</a:t>
            </a:r>
            <a:r>
              <a:rPr lang="zh-CN" altLang="en-US" sz="2400" dirty="0">
                <a:latin typeface="宋体" panose="02010600030101010101" pitchFamily="2" charset="-122"/>
              </a:rPr>
              <a:t>之和为反应级数。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196668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1160041" y="200809"/>
            <a:ext cx="20313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微软雅黑" pitchFamily="34" charset="-122"/>
                <a:ea typeface="微软雅黑" pitchFamily="34" charset="-122"/>
              </a:rPr>
              <a:t>实验原理</a:t>
            </a:r>
            <a:endParaRPr lang="zh-CN" altLang="en-US" sz="3600" b="1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宋体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接连接符 16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0" y="6093296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18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4350" y="890605"/>
            <a:ext cx="8699650" cy="4622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dirty="0"/>
              <a:t> </a:t>
            </a:r>
            <a:r>
              <a:rPr lang="zh-CN" altLang="en-US" sz="3200" dirty="0"/>
              <a:t>通过实验能测定在单位时间内反应的平均速率，如果在</a:t>
            </a:r>
            <a:r>
              <a:rPr lang="zh-CN" altLang="en-US" sz="3200" dirty="0">
                <a:latin typeface="宋体" panose="02010600030101010101" pitchFamily="2" charset="-122"/>
              </a:rPr>
              <a:t>一定时间</a:t>
            </a:r>
            <a:r>
              <a:rPr lang="en-US" altLang="zh-CN" sz="3200" dirty="0" err="1"/>
              <a:t>Δ</a:t>
            </a:r>
            <a:r>
              <a:rPr lang="en-US" altLang="zh-CN" sz="3200" i="1" dirty="0" err="1"/>
              <a:t>t</a:t>
            </a:r>
            <a:r>
              <a:rPr lang="zh-CN" altLang="en-US" sz="3200" dirty="0"/>
              <a:t>内</a:t>
            </a:r>
            <a:r>
              <a:rPr lang="en-US" altLang="zh-CN" sz="3200" dirty="0"/>
              <a:t>S</a:t>
            </a:r>
            <a:r>
              <a:rPr lang="en-US" altLang="zh-CN" sz="3200" baseline="-30000" dirty="0"/>
              <a:t>2</a:t>
            </a:r>
            <a:r>
              <a:rPr lang="en-US" altLang="zh-CN" sz="3200" dirty="0"/>
              <a:t>O</a:t>
            </a:r>
            <a:r>
              <a:rPr lang="en-US" altLang="zh-CN" sz="3200" baseline="-30000" dirty="0"/>
              <a:t>8</a:t>
            </a:r>
            <a:r>
              <a:rPr lang="en-US" altLang="zh-CN" sz="3200" baseline="30000" dirty="0"/>
              <a:t>2</a:t>
            </a:r>
            <a:r>
              <a:rPr lang="zh-CN" altLang="en-US" sz="3200" baseline="30000" dirty="0">
                <a:latin typeface="宋体" panose="02010600030101010101" pitchFamily="2" charset="-122"/>
              </a:rPr>
              <a:t>－</a:t>
            </a:r>
            <a:r>
              <a:rPr lang="zh-CN" altLang="en-US" sz="3200" dirty="0">
                <a:latin typeface="宋体" panose="02010600030101010101" pitchFamily="2" charset="-122"/>
              </a:rPr>
              <a:t>浓度的改变量为</a:t>
            </a:r>
            <a:r>
              <a:rPr lang="en-US" altLang="zh-CN" sz="3200" dirty="0" err="1"/>
              <a:t>Δc</a:t>
            </a:r>
            <a:r>
              <a:rPr lang="en-US" altLang="zh-CN" sz="3200" dirty="0"/>
              <a:t>(S</a:t>
            </a:r>
            <a:r>
              <a:rPr lang="en-US" altLang="zh-CN" sz="3200" baseline="-30000" dirty="0"/>
              <a:t>2</a:t>
            </a:r>
            <a:r>
              <a:rPr lang="en-US" altLang="zh-CN" sz="3200" dirty="0"/>
              <a:t>O</a:t>
            </a:r>
            <a:r>
              <a:rPr lang="en-US" altLang="zh-CN" sz="3200" baseline="-30000" dirty="0"/>
              <a:t>8</a:t>
            </a:r>
            <a:r>
              <a:rPr lang="en-US" altLang="zh-CN" sz="3200" baseline="30000" dirty="0"/>
              <a:t>2</a:t>
            </a:r>
            <a:r>
              <a:rPr lang="zh-CN" altLang="en-US" sz="32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3200" dirty="0"/>
              <a:t>) </a:t>
            </a:r>
            <a:r>
              <a:rPr lang="zh-CN" altLang="en-US" sz="3200" dirty="0">
                <a:latin typeface="宋体" panose="02010600030101010101" pitchFamily="2" charset="-122"/>
              </a:rPr>
              <a:t>，则平均速率表示为：</a:t>
            </a:r>
          </a:p>
          <a:p>
            <a:pPr>
              <a:lnSpc>
                <a:spcPct val="120000"/>
              </a:lnSpc>
            </a:pPr>
            <a:r>
              <a:rPr lang="zh-CN" altLang="en-US" sz="3200" dirty="0"/>
              <a:t>                           </a:t>
            </a:r>
            <a:r>
              <a:rPr lang="en-US" altLang="zh-CN" sz="3200" dirty="0"/>
              <a:t>v</a:t>
            </a:r>
            <a:r>
              <a:rPr lang="zh-CN" altLang="en-US" sz="3200" baseline="-25000" dirty="0"/>
              <a:t>平</a:t>
            </a:r>
            <a:r>
              <a:rPr lang="zh-CN" altLang="en-US" sz="3200" dirty="0"/>
              <a:t>＝－</a:t>
            </a:r>
          </a:p>
          <a:p>
            <a:pPr>
              <a:lnSpc>
                <a:spcPct val="120000"/>
              </a:lnSpc>
            </a:pPr>
            <a:r>
              <a:rPr lang="zh-CN" altLang="en-US" sz="3200" dirty="0"/>
              <a:t>当</a:t>
            </a:r>
            <a:r>
              <a:rPr lang="en-US" altLang="zh-CN" sz="3200" dirty="0" err="1"/>
              <a:t>Δ</a:t>
            </a:r>
            <a:r>
              <a:rPr lang="en-US" altLang="zh-CN" sz="3200" i="1" dirty="0" err="1"/>
              <a:t>t</a:t>
            </a:r>
            <a:r>
              <a:rPr lang="en-US" altLang="zh-CN" sz="3200" i="1" dirty="0">
                <a:latin typeface="宋体" panose="02010600030101010101" pitchFamily="2" charset="-122"/>
              </a:rPr>
              <a:t>→</a:t>
            </a:r>
            <a:r>
              <a:rPr lang="en-US" altLang="zh-CN" sz="3200" i="1" dirty="0"/>
              <a:t> 0</a:t>
            </a:r>
            <a:r>
              <a:rPr lang="zh-CN" altLang="en-US" sz="3200" dirty="0"/>
              <a:t>时， </a:t>
            </a:r>
            <a:r>
              <a:rPr lang="en-US" altLang="zh-CN" sz="3200" dirty="0"/>
              <a:t>v</a:t>
            </a:r>
            <a:r>
              <a:rPr lang="zh-CN" altLang="en-US" sz="3200" dirty="0"/>
              <a:t>＝</a:t>
            </a:r>
            <a:r>
              <a:rPr lang="en-US" altLang="zh-CN" sz="3200" dirty="0" err="1"/>
              <a:t>lim</a:t>
            </a:r>
            <a:r>
              <a:rPr lang="en-US" altLang="zh-CN" sz="3200" dirty="0"/>
              <a:t> v</a:t>
            </a:r>
            <a:r>
              <a:rPr lang="zh-CN" altLang="en-US" sz="3200" baseline="-25000" dirty="0"/>
              <a:t>平</a:t>
            </a:r>
          </a:p>
          <a:p>
            <a:pPr>
              <a:lnSpc>
                <a:spcPct val="120000"/>
              </a:lnSpc>
            </a:pPr>
            <a:endParaRPr lang="zh-CN" altLang="en-US" sz="3200" baseline="-25000" dirty="0"/>
          </a:p>
          <a:p>
            <a:pPr>
              <a:lnSpc>
                <a:spcPct val="120000"/>
              </a:lnSpc>
            </a:pPr>
            <a:r>
              <a:rPr lang="zh-CN" altLang="en-US" sz="3200" dirty="0"/>
              <a:t>则有</a:t>
            </a:r>
            <a:r>
              <a:rPr lang="en-US" altLang="zh-CN" sz="3200" dirty="0">
                <a:cs typeface="Times New Roman" panose="02020603050405020304" pitchFamily="18" charset="0"/>
              </a:rPr>
              <a:t>v =</a:t>
            </a:r>
            <a:r>
              <a:rPr lang="en-US" altLang="zh-CN" sz="3200" i="1" dirty="0">
                <a:cs typeface="Times New Roman" panose="02020603050405020304" pitchFamily="18" charset="0"/>
              </a:rPr>
              <a:t>k </a:t>
            </a:r>
            <a:r>
              <a:rPr lang="en-US" altLang="zh-CN" sz="3200" dirty="0">
                <a:latin typeface="宋体" panose="02010600030101010101" pitchFamily="2" charset="-122"/>
              </a:rPr>
              <a:t>·C</a:t>
            </a:r>
            <a:r>
              <a:rPr lang="en-US" altLang="zh-CN" sz="3200" baseline="30000" dirty="0">
                <a:cs typeface="Times New Roman" panose="02020603050405020304" pitchFamily="18" charset="0"/>
              </a:rPr>
              <a:t>m</a:t>
            </a:r>
            <a:r>
              <a:rPr lang="en-US" altLang="zh-CN" sz="3200" dirty="0">
                <a:cs typeface="Times New Roman" panose="02020603050405020304" pitchFamily="18" charset="0"/>
              </a:rPr>
              <a:t>(s</a:t>
            </a:r>
            <a:r>
              <a:rPr lang="en-US" altLang="zh-CN" sz="32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cs typeface="Times New Roman" panose="02020603050405020304" pitchFamily="18" charset="0"/>
              </a:rPr>
              <a:t>o</a:t>
            </a:r>
            <a:r>
              <a:rPr lang="en-US" altLang="zh-CN" sz="3200" baseline="-30000" dirty="0">
                <a:cs typeface="Times New Roman" panose="02020603050405020304" pitchFamily="18" charset="0"/>
              </a:rPr>
              <a:t>8</a:t>
            </a:r>
            <a:r>
              <a:rPr lang="en-US" altLang="zh-CN" sz="3200" dirty="0">
                <a:cs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宋体" panose="02010600030101010101" pitchFamily="2" charset="-122"/>
              </a:rPr>
              <a:t>·C</a:t>
            </a:r>
            <a:r>
              <a:rPr lang="en-US" altLang="zh-CN" sz="3200" baseline="30000" dirty="0">
                <a:cs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宋体" panose="02010600030101010101" pitchFamily="2" charset="-122"/>
              </a:rPr>
              <a:t>(I</a:t>
            </a:r>
            <a:r>
              <a:rPr lang="en-US" altLang="zh-CN" sz="3200" baseline="30000" dirty="0">
                <a:latin typeface="宋体" panose="02010600030101010101" pitchFamily="2" charset="-122"/>
              </a:rPr>
              <a:t>-</a:t>
            </a:r>
            <a:r>
              <a:rPr lang="en-US" altLang="zh-CN" sz="3200" dirty="0">
                <a:latin typeface="宋体" panose="02010600030101010101" pitchFamily="2" charset="-122"/>
              </a:rPr>
              <a:t>)</a:t>
            </a:r>
            <a:r>
              <a:rPr lang="zh-CN" altLang="en-US" sz="3200" dirty="0">
                <a:latin typeface="宋体" panose="02010600030101010101" pitchFamily="2" charset="-122"/>
              </a:rPr>
              <a:t>＝－</a:t>
            </a:r>
          </a:p>
          <a:p>
            <a:pPr>
              <a:lnSpc>
                <a:spcPct val="120000"/>
              </a:lnSpc>
            </a:pPr>
            <a:r>
              <a:rPr lang="en-US" altLang="zh-CN" sz="3200" dirty="0" err="1"/>
              <a:t>Δ</a:t>
            </a:r>
            <a:r>
              <a:rPr lang="en-US" altLang="zh-CN" sz="3200" i="1" dirty="0" err="1"/>
              <a:t>t</a:t>
            </a:r>
            <a:r>
              <a:rPr lang="zh-CN" altLang="en-US" sz="3200" dirty="0"/>
              <a:t>用秒表测量。</a:t>
            </a: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65" r="61165"/>
          <a:stretch>
            <a:fillRect/>
          </a:stretch>
        </p:blipFill>
        <p:spPr bwMode="auto">
          <a:xfrm>
            <a:off x="4357699" y="2433637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65" r="61165"/>
          <a:stretch>
            <a:fillRect/>
          </a:stretch>
        </p:blipFill>
        <p:spPr bwMode="auto">
          <a:xfrm>
            <a:off x="6256515" y="4077072"/>
            <a:ext cx="1600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3417899" y="3621205"/>
            <a:ext cx="93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600" dirty="0" err="1"/>
              <a:t>Δ</a:t>
            </a:r>
            <a:r>
              <a:rPr lang="en-US" altLang="zh-CN" sz="1600" i="1" dirty="0" err="1"/>
              <a:t>t</a:t>
            </a:r>
            <a:r>
              <a:rPr lang="en-US" altLang="zh-CN" sz="1600" dirty="0">
                <a:latin typeface="宋体" panose="02010600030101010101" pitchFamily="2" charset="-122"/>
              </a:rPr>
              <a:t> →0</a:t>
            </a:r>
            <a:r>
              <a:rPr lang="en-US" altLang="zh-C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939007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1160041" y="200809"/>
            <a:ext cx="20313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微软雅黑" pitchFamily="34" charset="-122"/>
                <a:ea typeface="微软雅黑" pitchFamily="34" charset="-122"/>
              </a:rPr>
              <a:t>实验原理</a:t>
            </a:r>
            <a:endParaRPr lang="zh-CN" altLang="en-US" sz="3600" b="1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宋体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接连接符 16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0" y="6093296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18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263929" y="1117341"/>
            <a:ext cx="8616142" cy="54864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Tx/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          </a:t>
            </a:r>
            <a:r>
              <a:rPr lang="zh-CN" altLang="en-US" sz="2800" dirty="0"/>
              <a:t>为了测定在一定时间</a:t>
            </a:r>
            <a:r>
              <a:rPr lang="en-US" altLang="zh-CN" sz="2800" dirty="0" err="1">
                <a:cs typeface="Times New Roman" panose="02020603050405020304" pitchFamily="18" charset="0"/>
              </a:rPr>
              <a:t>Δ</a:t>
            </a:r>
            <a:r>
              <a:rPr lang="en-US" altLang="zh-CN" sz="2800" i="1" dirty="0" err="1">
                <a:cs typeface="Times New Roman" panose="02020603050405020304" pitchFamily="18" charset="0"/>
              </a:rPr>
              <a:t>t</a:t>
            </a:r>
            <a:r>
              <a:rPr lang="zh-CN" altLang="en-US" sz="2800" dirty="0"/>
              <a:t>内</a:t>
            </a:r>
            <a:r>
              <a:rPr lang="en-US" altLang="zh-CN" sz="2800" dirty="0"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cs typeface="Times New Roman" panose="02020603050405020304" pitchFamily="18" charset="0"/>
              </a:rPr>
              <a:t>O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8</a:t>
            </a:r>
            <a:r>
              <a:rPr lang="en-US" altLang="zh-CN" sz="2800" baseline="30000" dirty="0">
                <a:cs typeface="Times New Roman" panose="02020603050405020304" pitchFamily="18" charset="0"/>
              </a:rPr>
              <a:t>2</a:t>
            </a:r>
            <a:r>
              <a:rPr lang="zh-CN" altLang="en-US" sz="2800" baseline="30000" dirty="0"/>
              <a:t>－</a:t>
            </a:r>
            <a:r>
              <a:rPr lang="zh-CN" altLang="en-US" sz="2800" dirty="0"/>
              <a:t>浓度的改变量，在将</a:t>
            </a:r>
            <a:r>
              <a:rPr lang="en-US" altLang="zh-CN" sz="2800" dirty="0"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cs typeface="Times New Roman" panose="02020603050405020304" pitchFamily="18" charset="0"/>
              </a:rPr>
              <a:t>O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8</a:t>
            </a:r>
            <a:r>
              <a:rPr lang="en-US" altLang="zh-CN" sz="2800" baseline="30000" dirty="0">
                <a:cs typeface="Times New Roman" panose="02020603050405020304" pitchFamily="18" charset="0"/>
              </a:rPr>
              <a:t>2</a:t>
            </a:r>
            <a:r>
              <a:rPr lang="zh-CN" altLang="en-US" sz="2800" baseline="30000" dirty="0"/>
              <a:t>－</a:t>
            </a:r>
            <a:r>
              <a:rPr lang="zh-CN" altLang="en-US" sz="2800" dirty="0"/>
              <a:t>与</a:t>
            </a:r>
            <a:r>
              <a:rPr lang="en-US" altLang="zh-CN" sz="2800" dirty="0">
                <a:cs typeface="Times New Roman" panose="02020603050405020304" pitchFamily="18" charset="0"/>
              </a:rPr>
              <a:t>I</a:t>
            </a:r>
            <a:r>
              <a:rPr lang="zh-CN" altLang="en-US" sz="2800" baseline="30000" dirty="0"/>
              <a:t>－</a:t>
            </a:r>
            <a:r>
              <a:rPr lang="zh-CN" altLang="en-US" sz="2800" dirty="0"/>
              <a:t>混合的同时，加入定量的</a:t>
            </a:r>
            <a:r>
              <a:rPr lang="en-US" altLang="zh-CN" sz="2800" dirty="0">
                <a:cs typeface="Times New Roman" panose="02020603050405020304" pitchFamily="18" charset="0"/>
              </a:rPr>
              <a:t>Na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cs typeface="Times New Roman" panose="02020603050405020304" pitchFamily="18" charset="0"/>
              </a:rPr>
              <a:t>O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3</a:t>
            </a:r>
            <a:r>
              <a:rPr lang="zh-CN" altLang="en-US" sz="2800" dirty="0"/>
              <a:t>溶液和淀粉指示剂。这样在反应（</a:t>
            </a:r>
            <a:r>
              <a:rPr lang="en-US" altLang="zh-CN" sz="2800" dirty="0">
                <a:cs typeface="Times New Roman" panose="02020603050405020304" pitchFamily="18" charset="0"/>
              </a:rPr>
              <a:t>1</a:t>
            </a:r>
            <a:r>
              <a:rPr lang="zh-CN" altLang="en-US" sz="2800" dirty="0"/>
              <a:t>）进行的同时，也进行如下的反应：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zh-CN" altLang="en-US" sz="2800" dirty="0">
                <a:cs typeface="Times New Roman" panose="02020603050405020304" pitchFamily="18" charset="0"/>
              </a:rPr>
              <a:t>       </a:t>
            </a:r>
            <a:r>
              <a:rPr lang="en-US" altLang="zh-CN" sz="2800" dirty="0">
                <a:cs typeface="Times New Roman" panose="02020603050405020304" pitchFamily="18" charset="0"/>
              </a:rPr>
              <a:t>2S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cs typeface="Times New Roman" panose="02020603050405020304" pitchFamily="18" charset="0"/>
              </a:rPr>
              <a:t>O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3</a:t>
            </a:r>
            <a:r>
              <a:rPr lang="en-US" altLang="zh-CN" sz="2800" baseline="30000" dirty="0">
                <a:cs typeface="Times New Roman" panose="02020603050405020304" pitchFamily="18" charset="0"/>
              </a:rPr>
              <a:t>2</a:t>
            </a:r>
            <a:r>
              <a:rPr lang="zh-CN" altLang="en-US" sz="2800" baseline="30000" dirty="0"/>
              <a:t>－</a:t>
            </a:r>
            <a:r>
              <a:rPr lang="en-US" altLang="zh-CN" sz="2800" dirty="0">
                <a:cs typeface="Times New Roman" panose="02020603050405020304" pitchFamily="18" charset="0"/>
              </a:rPr>
              <a:t>+ I </a:t>
            </a:r>
            <a:r>
              <a:rPr lang="en-US" altLang="zh-CN" sz="2800" baseline="-25000" dirty="0">
                <a:cs typeface="Times New Roman" panose="02020603050405020304" pitchFamily="18" charset="0"/>
              </a:rPr>
              <a:t>3 </a:t>
            </a:r>
            <a:r>
              <a:rPr lang="zh-CN" altLang="en-US" sz="2800" baseline="30000" dirty="0"/>
              <a:t>－</a:t>
            </a:r>
            <a:r>
              <a:rPr lang="zh-CN" altLang="en-US" sz="2800" baseline="-30000" dirty="0">
                <a:cs typeface="Times New Roman" panose="02020603050405020304" pitchFamily="18" charset="0"/>
              </a:rPr>
              <a:t> </a:t>
            </a:r>
            <a:r>
              <a:rPr lang="zh-CN" altLang="en-US" sz="2800" dirty="0"/>
              <a:t>＝</a:t>
            </a:r>
            <a:r>
              <a:rPr lang="zh-CN" altLang="en-US" sz="2800" baseline="-30000" dirty="0">
                <a:latin typeface="宋体" panose="02010600030101010101" pitchFamily="2" charset="-122"/>
              </a:rPr>
              <a:t> </a:t>
            </a:r>
            <a:r>
              <a:rPr lang="en-US" altLang="zh-CN" sz="2800" dirty="0"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cs typeface="Times New Roman" panose="02020603050405020304" pitchFamily="18" charset="0"/>
              </a:rPr>
              <a:t>O</a:t>
            </a:r>
            <a:r>
              <a:rPr lang="en-US" altLang="zh-CN" sz="2800" baseline="-25000" dirty="0">
                <a:cs typeface="Times New Roman" panose="02020603050405020304" pitchFamily="18" charset="0"/>
              </a:rPr>
              <a:t>6</a:t>
            </a:r>
            <a:r>
              <a:rPr lang="en-US" altLang="zh-CN" sz="2800" baseline="30000" dirty="0">
                <a:cs typeface="Times New Roman" panose="02020603050405020304" pitchFamily="18" charset="0"/>
              </a:rPr>
              <a:t>2</a:t>
            </a:r>
            <a:r>
              <a:rPr lang="zh-CN" altLang="en-US" sz="2800" baseline="30000" dirty="0"/>
              <a:t>－</a:t>
            </a:r>
            <a:r>
              <a:rPr lang="en-US" altLang="zh-CN" sz="2800" dirty="0">
                <a:cs typeface="Times New Roman" panose="02020603050405020304" pitchFamily="18" charset="0"/>
              </a:rPr>
              <a:t>+ 3I</a:t>
            </a:r>
            <a:r>
              <a:rPr lang="zh-CN" altLang="en-US" sz="2800" baseline="30000" dirty="0"/>
              <a:t>－</a:t>
            </a:r>
            <a:r>
              <a:rPr lang="zh-CN" altLang="en-US" sz="2800" dirty="0">
                <a:cs typeface="Times New Roman" panose="02020603050405020304" pitchFamily="18" charset="0"/>
              </a:rPr>
              <a:t> （快）</a:t>
            </a:r>
            <a:r>
              <a:rPr lang="zh-CN" altLang="en-US" sz="2800" dirty="0"/>
              <a:t>（</a:t>
            </a:r>
            <a:r>
              <a:rPr lang="en-US" altLang="zh-CN" sz="2800" dirty="0"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cs typeface="Times New Roman" panose="02020603050405020304" pitchFamily="18" charset="0"/>
              </a:rPr>
              <a:t>）</a:t>
            </a:r>
          </a:p>
          <a:p>
            <a:pPr algn="just">
              <a:buFontTx/>
              <a:buNone/>
            </a:pPr>
            <a:r>
              <a:rPr lang="en-US" altLang="zh-CN" sz="2800" dirty="0"/>
              <a:t>            </a:t>
            </a:r>
            <a:r>
              <a:rPr lang="zh-CN" altLang="en-US" sz="2800" dirty="0"/>
              <a:t>反应（</a:t>
            </a:r>
            <a:r>
              <a:rPr lang="en-US" altLang="zh-CN" sz="2800" dirty="0">
                <a:cs typeface="Times New Roman" panose="02020603050405020304" pitchFamily="18" charset="0"/>
              </a:rPr>
              <a:t>2</a:t>
            </a:r>
            <a:r>
              <a:rPr lang="zh-CN" altLang="en-US" sz="2800" dirty="0"/>
              <a:t>）进行得很快，瞬间即可完成。而反应</a:t>
            </a:r>
            <a:r>
              <a:rPr lang="en-US" altLang="zh-CN" sz="2800" dirty="0">
                <a:cs typeface="Times New Roman" panose="02020603050405020304" pitchFamily="18" charset="0"/>
              </a:rPr>
              <a:t>(1)</a:t>
            </a:r>
            <a:r>
              <a:rPr lang="zh-CN" altLang="en-US" sz="2800" dirty="0"/>
              <a:t>却要比反应</a:t>
            </a:r>
            <a:r>
              <a:rPr lang="en-US" altLang="zh-CN" sz="2800" dirty="0">
                <a:cs typeface="Times New Roman" panose="02020603050405020304" pitchFamily="18" charset="0"/>
              </a:rPr>
              <a:t>(2)</a:t>
            </a:r>
            <a:r>
              <a:rPr lang="zh-CN" altLang="en-US" sz="2800" dirty="0"/>
              <a:t>慢得多。由反应</a:t>
            </a:r>
            <a:r>
              <a:rPr lang="en-US" altLang="zh-CN" sz="2800" dirty="0">
                <a:cs typeface="Times New Roman" panose="02020603050405020304" pitchFamily="18" charset="0"/>
              </a:rPr>
              <a:t>(1)</a:t>
            </a:r>
            <a:r>
              <a:rPr lang="zh-CN" altLang="en-US" sz="2800" dirty="0"/>
              <a:t>生成的</a:t>
            </a:r>
            <a:r>
              <a:rPr lang="en-US" altLang="zh-CN" sz="2800" dirty="0">
                <a:cs typeface="Times New Roman" panose="02020603050405020304" pitchFamily="18" charset="0"/>
              </a:rPr>
              <a:t>I </a:t>
            </a:r>
            <a:r>
              <a:rPr lang="en-US" altLang="zh-CN" sz="2800" baseline="-25000" dirty="0">
                <a:cs typeface="Times New Roman" panose="02020603050405020304" pitchFamily="18" charset="0"/>
              </a:rPr>
              <a:t>3 </a:t>
            </a:r>
            <a:r>
              <a:rPr lang="zh-CN" altLang="en-US" sz="2800" baseline="30000" dirty="0"/>
              <a:t>－</a:t>
            </a:r>
            <a:r>
              <a:rPr lang="zh-CN" altLang="en-US" sz="2800" dirty="0"/>
              <a:t>，立即与</a:t>
            </a:r>
            <a:r>
              <a:rPr lang="en-US" altLang="zh-CN" sz="2800" dirty="0"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cs typeface="Times New Roman" panose="02020603050405020304" pitchFamily="18" charset="0"/>
              </a:rPr>
              <a:t>O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3</a:t>
            </a:r>
            <a:r>
              <a:rPr lang="en-US" altLang="zh-CN" sz="2800" baseline="30000" dirty="0">
                <a:cs typeface="Times New Roman" panose="02020603050405020304" pitchFamily="18" charset="0"/>
              </a:rPr>
              <a:t>2</a:t>
            </a:r>
            <a:r>
              <a:rPr lang="zh-CN" altLang="en-US" sz="2800" baseline="30000" dirty="0"/>
              <a:t>－</a:t>
            </a:r>
            <a:r>
              <a:rPr lang="zh-CN" altLang="en-US" sz="2800" dirty="0"/>
              <a:t>反应，生成无色的</a:t>
            </a:r>
            <a:r>
              <a:rPr lang="en-US" altLang="zh-CN" sz="2800" dirty="0"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cs typeface="Times New Roman" panose="02020603050405020304" pitchFamily="18" charset="0"/>
              </a:rPr>
              <a:t>O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6</a:t>
            </a:r>
            <a:r>
              <a:rPr lang="en-US" altLang="zh-CN" sz="2800" baseline="30000" dirty="0">
                <a:cs typeface="Times New Roman" panose="02020603050405020304" pitchFamily="18" charset="0"/>
              </a:rPr>
              <a:t>2</a:t>
            </a:r>
            <a:r>
              <a:rPr lang="zh-CN" altLang="en-US" sz="2800" baseline="30000" dirty="0"/>
              <a:t>－</a:t>
            </a:r>
            <a:r>
              <a:rPr lang="zh-CN" altLang="en-US" sz="2800" dirty="0"/>
              <a:t>和</a:t>
            </a:r>
            <a:r>
              <a:rPr lang="en-US" altLang="zh-CN" sz="2800" dirty="0">
                <a:cs typeface="Times New Roman" panose="02020603050405020304" pitchFamily="18" charset="0"/>
              </a:rPr>
              <a:t>I</a:t>
            </a:r>
            <a:r>
              <a:rPr lang="zh-CN" altLang="en-US" sz="2800" baseline="30000" dirty="0"/>
              <a:t>－</a:t>
            </a:r>
            <a:r>
              <a:rPr lang="zh-CN" altLang="en-US" sz="2800" dirty="0"/>
              <a:t>。因此，在反应刚开始的一段时间内看不到 </a:t>
            </a:r>
            <a:r>
              <a:rPr lang="en-US" altLang="zh-CN" sz="2800" dirty="0">
                <a:cs typeface="Times New Roman" panose="02020603050405020304" pitchFamily="18" charset="0"/>
              </a:rPr>
              <a:t>I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3</a:t>
            </a:r>
            <a:r>
              <a:rPr lang="zh-CN" altLang="en-US" sz="2800" baseline="30000" dirty="0"/>
              <a:t>－</a:t>
            </a:r>
            <a:r>
              <a:rPr lang="zh-CN" altLang="en-US" sz="2800" dirty="0"/>
              <a:t>与淀粉所呈现的特有蓝色。当</a:t>
            </a:r>
            <a:r>
              <a:rPr lang="en-US" altLang="zh-CN" sz="2800" dirty="0"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cs typeface="Times New Roman" panose="02020603050405020304" pitchFamily="18" charset="0"/>
              </a:rPr>
              <a:t>O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3</a:t>
            </a:r>
            <a:r>
              <a:rPr lang="en-US" altLang="zh-CN" sz="2800" baseline="30000" dirty="0">
                <a:cs typeface="Times New Roman" panose="02020603050405020304" pitchFamily="18" charset="0"/>
              </a:rPr>
              <a:t>2</a:t>
            </a:r>
            <a:r>
              <a:rPr lang="zh-CN" altLang="en-US" sz="2800" baseline="30000" dirty="0"/>
              <a:t>－</a:t>
            </a:r>
            <a:r>
              <a:rPr lang="zh-CN" altLang="en-US" sz="2800" dirty="0"/>
              <a:t>耗尽时，由反应（</a:t>
            </a:r>
            <a:r>
              <a:rPr lang="en-US" altLang="zh-CN" sz="2800" dirty="0">
                <a:cs typeface="Times New Roman" panose="02020603050405020304" pitchFamily="18" charset="0"/>
              </a:rPr>
              <a:t>1</a:t>
            </a:r>
            <a:r>
              <a:rPr lang="zh-CN" altLang="en-US" sz="2800" dirty="0"/>
              <a:t>）继续生成的</a:t>
            </a:r>
            <a:r>
              <a:rPr lang="en-US" altLang="zh-CN" sz="2800" dirty="0">
                <a:cs typeface="Times New Roman" panose="02020603050405020304" pitchFamily="18" charset="0"/>
              </a:rPr>
              <a:t>I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3</a:t>
            </a:r>
            <a:r>
              <a:rPr lang="zh-CN" altLang="en-US" sz="2800" baseline="30000" dirty="0"/>
              <a:t>－</a:t>
            </a:r>
            <a:r>
              <a:rPr lang="zh-CN" altLang="en-US" sz="2800" dirty="0"/>
              <a:t>很快与淀粉作用而呈现蓝色。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9729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1160041" y="200809"/>
            <a:ext cx="20313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微软雅黑" pitchFamily="34" charset="-122"/>
                <a:ea typeface="微软雅黑" pitchFamily="34" charset="-122"/>
              </a:rPr>
              <a:t>实验原理</a:t>
            </a:r>
            <a:endParaRPr lang="zh-CN" altLang="en-US" sz="3600" b="1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宋体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接连接符 16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0" y="6093296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18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263929" y="1117341"/>
            <a:ext cx="8616142" cy="54864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endParaRPr lang="en-US" altLang="zh-CN" sz="2800" dirty="0">
              <a:cs typeface="Times New Roman" panose="02020603050405020304" pitchFamily="18" charset="0"/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411025" y="1189437"/>
            <a:ext cx="8286750" cy="55514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en-US" altLang="zh-CN" dirty="0">
                <a:latin typeface="宋体" panose="02010600030101010101" pitchFamily="2" charset="-122"/>
              </a:rPr>
              <a:t>    </a:t>
            </a:r>
            <a:r>
              <a:rPr lang="zh-CN" altLang="en-US" dirty="0">
                <a:latin typeface="宋体" panose="02010600030101010101" pitchFamily="2" charset="-122"/>
              </a:rPr>
              <a:t>由反应式</a:t>
            </a:r>
            <a:r>
              <a:rPr lang="en-US" altLang="zh-CN" dirty="0"/>
              <a:t>(1)</a:t>
            </a:r>
            <a:r>
              <a:rPr lang="zh-CN" altLang="en-US" dirty="0">
                <a:latin typeface="宋体" panose="02010600030101010101" pitchFamily="2" charset="-122"/>
              </a:rPr>
              <a:t>和</a:t>
            </a:r>
            <a:r>
              <a:rPr lang="en-US" altLang="zh-CN" dirty="0"/>
              <a:t>(2)</a:t>
            </a:r>
            <a:r>
              <a:rPr lang="zh-CN" altLang="en-US" dirty="0">
                <a:latin typeface="宋体" panose="02010600030101010101" pitchFamily="2" charset="-122"/>
              </a:rPr>
              <a:t>可以看出，</a:t>
            </a:r>
            <a:r>
              <a:rPr lang="en-US" altLang="zh-CN" dirty="0"/>
              <a:t>S</a:t>
            </a:r>
            <a:r>
              <a:rPr lang="en-US" altLang="zh-CN" baseline="-30000" dirty="0"/>
              <a:t>2</a:t>
            </a:r>
            <a:r>
              <a:rPr lang="en-US" altLang="zh-CN" dirty="0"/>
              <a:t>O</a:t>
            </a:r>
            <a:r>
              <a:rPr lang="en-US" altLang="zh-CN" baseline="-30000" dirty="0"/>
              <a:t>8</a:t>
            </a:r>
            <a:r>
              <a:rPr lang="en-US" altLang="zh-CN" baseline="30000" dirty="0"/>
              <a:t>2</a:t>
            </a:r>
            <a:r>
              <a:rPr lang="zh-CN" altLang="en-US" baseline="30000" dirty="0">
                <a:latin typeface="宋体" panose="02010600030101010101" pitchFamily="2" charset="-122"/>
              </a:rPr>
              <a:t>－</a:t>
            </a:r>
            <a:r>
              <a:rPr lang="zh-CN" altLang="en-US" dirty="0">
                <a:latin typeface="宋体" panose="02010600030101010101" pitchFamily="2" charset="-122"/>
              </a:rPr>
              <a:t>浓度减少量等于</a:t>
            </a:r>
            <a:r>
              <a:rPr lang="en-US" altLang="zh-CN" dirty="0"/>
              <a:t>S</a:t>
            </a:r>
            <a:r>
              <a:rPr lang="en-US" altLang="zh-CN" baseline="-30000" dirty="0"/>
              <a:t>2</a:t>
            </a:r>
            <a:r>
              <a:rPr lang="en-US" altLang="zh-CN" dirty="0"/>
              <a:t>O</a:t>
            </a:r>
            <a:r>
              <a:rPr lang="en-US" altLang="zh-CN" baseline="-30000" dirty="0"/>
              <a:t>3</a:t>
            </a:r>
            <a:r>
              <a:rPr lang="en-US" altLang="zh-CN" baseline="30000" dirty="0"/>
              <a:t>2</a:t>
            </a:r>
            <a:r>
              <a:rPr lang="zh-CN" altLang="en-US" baseline="30000" dirty="0">
                <a:latin typeface="宋体" panose="02010600030101010101" pitchFamily="2" charset="-122"/>
              </a:rPr>
              <a:t>－</a:t>
            </a:r>
            <a:r>
              <a:rPr lang="zh-CN" altLang="en-US" dirty="0">
                <a:latin typeface="宋体" panose="02010600030101010101" pitchFamily="2" charset="-122"/>
              </a:rPr>
              <a:t>浓度减少量的</a:t>
            </a:r>
            <a:r>
              <a:rPr lang="en-US" altLang="zh-CN" dirty="0"/>
              <a:t>1/2</a:t>
            </a:r>
            <a:r>
              <a:rPr lang="zh-CN" altLang="en-US" dirty="0"/>
              <a:t>。</a:t>
            </a:r>
          </a:p>
          <a:p>
            <a:pPr algn="just">
              <a:lnSpc>
                <a:spcPct val="130000"/>
              </a:lnSpc>
            </a:pPr>
            <a:r>
              <a:rPr lang="zh-CN" altLang="en-US" dirty="0"/>
              <a:t>        由于溶液呈现蓝色标志着</a:t>
            </a:r>
            <a:r>
              <a:rPr lang="en-US" altLang="zh-CN" dirty="0">
                <a:cs typeface="Times New Roman" panose="02020603050405020304" pitchFamily="18" charset="0"/>
              </a:rPr>
              <a:t>S</a:t>
            </a:r>
            <a:r>
              <a:rPr lang="en-US" altLang="zh-CN" baseline="-30000" dirty="0">
                <a:cs typeface="Times New Roman" panose="02020603050405020304" pitchFamily="18" charset="0"/>
              </a:rPr>
              <a:t>2</a:t>
            </a:r>
            <a:r>
              <a:rPr lang="en-US" altLang="zh-CN" dirty="0">
                <a:cs typeface="Times New Roman" panose="02020603050405020304" pitchFamily="18" charset="0"/>
              </a:rPr>
              <a:t>O</a:t>
            </a:r>
            <a:r>
              <a:rPr lang="en-US" altLang="zh-CN" baseline="-30000" dirty="0">
                <a:cs typeface="Times New Roman" panose="02020603050405020304" pitchFamily="18" charset="0"/>
              </a:rPr>
              <a:t>3</a:t>
            </a:r>
            <a:r>
              <a:rPr lang="en-US" altLang="zh-CN" baseline="30000" dirty="0">
                <a:cs typeface="Times New Roman" panose="02020603050405020304" pitchFamily="18" charset="0"/>
              </a:rPr>
              <a:t>2</a:t>
            </a:r>
            <a:r>
              <a:rPr lang="zh-CN" altLang="en-US" baseline="30000" dirty="0"/>
              <a:t>－</a:t>
            </a:r>
            <a:r>
              <a:rPr lang="zh-CN" altLang="en-US" dirty="0"/>
              <a:t>全部耗尽。所以，从反应开始到出现蓝色这段时间</a:t>
            </a:r>
            <a:r>
              <a:rPr lang="en-US" altLang="zh-CN" dirty="0" err="1">
                <a:cs typeface="Times New Roman" panose="02020603050405020304" pitchFamily="18" charset="0"/>
              </a:rPr>
              <a:t>Δ</a:t>
            </a:r>
            <a:r>
              <a:rPr lang="en-US" altLang="zh-CN" i="1" dirty="0" err="1">
                <a:cs typeface="Times New Roman" panose="02020603050405020304" pitchFamily="18" charset="0"/>
              </a:rPr>
              <a:t>t</a:t>
            </a:r>
            <a:r>
              <a:rPr lang="zh-CN" altLang="en-US" dirty="0"/>
              <a:t>内，</a:t>
            </a:r>
            <a:r>
              <a:rPr lang="en-US" altLang="zh-CN" dirty="0">
                <a:cs typeface="Times New Roman" panose="02020603050405020304" pitchFamily="18" charset="0"/>
              </a:rPr>
              <a:t>S</a:t>
            </a:r>
            <a:r>
              <a:rPr lang="en-US" altLang="zh-CN" baseline="-30000" dirty="0">
                <a:cs typeface="Times New Roman" panose="02020603050405020304" pitchFamily="18" charset="0"/>
              </a:rPr>
              <a:t>2</a:t>
            </a:r>
            <a:r>
              <a:rPr lang="en-US" altLang="zh-CN" dirty="0">
                <a:cs typeface="Times New Roman" panose="02020603050405020304" pitchFamily="18" charset="0"/>
              </a:rPr>
              <a:t>O</a:t>
            </a:r>
            <a:r>
              <a:rPr lang="en-US" altLang="zh-CN" baseline="-30000" dirty="0">
                <a:cs typeface="Times New Roman" panose="02020603050405020304" pitchFamily="18" charset="0"/>
              </a:rPr>
              <a:t>3</a:t>
            </a:r>
            <a:r>
              <a:rPr lang="en-US" altLang="zh-CN" baseline="30000" dirty="0">
                <a:cs typeface="Times New Roman" panose="02020603050405020304" pitchFamily="18" charset="0"/>
              </a:rPr>
              <a:t>2</a:t>
            </a:r>
            <a:r>
              <a:rPr lang="zh-CN" altLang="en-US" baseline="30000" dirty="0"/>
              <a:t>－</a:t>
            </a:r>
            <a:r>
              <a:rPr lang="zh-CN" altLang="en-US" dirty="0"/>
              <a:t>浓度的改变实际上就是</a:t>
            </a:r>
            <a:r>
              <a:rPr lang="en-US" altLang="zh-CN" dirty="0">
                <a:cs typeface="Times New Roman" panose="02020603050405020304" pitchFamily="18" charset="0"/>
              </a:rPr>
              <a:t>S</a:t>
            </a:r>
            <a:r>
              <a:rPr lang="en-US" altLang="zh-CN" baseline="-30000" dirty="0">
                <a:cs typeface="Times New Roman" panose="02020603050405020304" pitchFamily="18" charset="0"/>
              </a:rPr>
              <a:t>2</a:t>
            </a:r>
            <a:r>
              <a:rPr lang="en-US" altLang="zh-CN" dirty="0">
                <a:cs typeface="Times New Roman" panose="02020603050405020304" pitchFamily="18" charset="0"/>
              </a:rPr>
              <a:t>O</a:t>
            </a:r>
            <a:r>
              <a:rPr lang="en-US" altLang="zh-CN" baseline="-30000" dirty="0">
                <a:cs typeface="Times New Roman" panose="02020603050405020304" pitchFamily="18" charset="0"/>
              </a:rPr>
              <a:t>3</a:t>
            </a:r>
            <a:r>
              <a:rPr lang="en-US" altLang="zh-CN" baseline="30000" dirty="0">
                <a:cs typeface="Times New Roman" panose="02020603050405020304" pitchFamily="18" charset="0"/>
              </a:rPr>
              <a:t>2</a:t>
            </a:r>
            <a:r>
              <a:rPr lang="zh-CN" altLang="en-US" baseline="30000" dirty="0"/>
              <a:t>－</a:t>
            </a:r>
            <a:r>
              <a:rPr lang="zh-CN" altLang="en-US" dirty="0"/>
              <a:t>初始浓度。</a:t>
            </a:r>
          </a:p>
          <a:p>
            <a:pPr algn="just"/>
            <a:endParaRPr lang="zh-CN" altLang="en-US" dirty="0">
              <a:latin typeface="宋体" panose="02010600030101010101" pitchFamily="2" charset="-122"/>
            </a:endParaRPr>
          </a:p>
          <a:p>
            <a:endParaRPr lang="en-US" altLang="zh-CN" dirty="0"/>
          </a:p>
        </p:txBody>
      </p:sp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021552"/>
            <a:ext cx="6858000" cy="106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147357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1160041" y="200809"/>
            <a:ext cx="20313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微软雅黑" pitchFamily="34" charset="-122"/>
                <a:ea typeface="微软雅黑" pitchFamily="34" charset="-122"/>
              </a:rPr>
              <a:t>实验原理</a:t>
            </a:r>
            <a:endParaRPr lang="zh-CN" altLang="en-US" sz="3600" b="1" dirty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ea typeface="宋体" pitchFamily="2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接连接符 16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0" y="6093296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矩形 18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263929" y="1117341"/>
            <a:ext cx="8616142" cy="54864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Tx/>
              <a:buNone/>
            </a:pPr>
            <a:r>
              <a:rPr lang="en-US" altLang="zh-CN" dirty="0">
                <a:cs typeface="Times New Roman" panose="02020603050405020304" pitchFamily="18" charset="0"/>
              </a:rPr>
              <a:t>          </a:t>
            </a:r>
            <a:endParaRPr lang="en-US" altLang="zh-CN" sz="2800" dirty="0"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56467" y="1423696"/>
            <a:ext cx="7822232" cy="43273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由于每份混合液中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anose="02020603050405020304" pitchFamily="18" charset="0"/>
              </a:rPr>
              <a:t>S</a:t>
            </a:r>
            <a:r>
              <a:rPr kumimoji="1" lang="en-US" altLang="zh-CN" sz="3200" b="0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anose="02020603050405020304" pitchFamily="18" charset="0"/>
              </a:rPr>
              <a:t>2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anose="02020603050405020304" pitchFamily="18" charset="0"/>
              </a:rPr>
              <a:t>O</a:t>
            </a:r>
            <a:r>
              <a:rPr kumimoji="1" lang="en-US" altLang="zh-CN" sz="3200" b="0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anose="02020603050405020304" pitchFamily="18" charset="0"/>
              </a:rPr>
              <a:t>3</a:t>
            </a:r>
            <a:r>
              <a:rPr kumimoji="1" lang="en-US" altLang="zh-CN" sz="32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anose="02020603050405020304" pitchFamily="18" charset="0"/>
              </a:rPr>
              <a:t>2</a:t>
            </a:r>
            <a:r>
              <a:rPr kumimoji="1" lang="zh-CN" altLang="en-US" sz="32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－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的初始浓度都相同，因此</a:t>
            </a:r>
            <a:r>
              <a:rPr kumimoji="1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anose="02020603050405020304" pitchFamily="18" charset="0"/>
              </a:rPr>
              <a:t>Δ</a:t>
            </a:r>
            <a:r>
              <a:rPr kumimoji="1" lang="en-US" altLang="zh-CN" sz="3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anose="02020603050405020304" pitchFamily="18" charset="0"/>
              </a:rPr>
              <a:t>c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anose="02020603050405020304" pitchFamily="18" charset="0"/>
              </a:rPr>
              <a:t>(S</a:t>
            </a:r>
            <a:r>
              <a:rPr kumimoji="1" lang="en-US" altLang="zh-CN" sz="3200" b="0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anose="02020603050405020304" pitchFamily="18" charset="0"/>
              </a:rPr>
              <a:t>2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anose="02020603050405020304" pitchFamily="18" charset="0"/>
              </a:rPr>
              <a:t>O</a:t>
            </a:r>
            <a:r>
              <a:rPr kumimoji="1" lang="en-US" altLang="zh-CN" sz="3200" b="0" i="0" u="none" strike="noStrike" kern="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anose="02020603050405020304" pitchFamily="18" charset="0"/>
              </a:rPr>
              <a:t>8</a:t>
            </a:r>
            <a:r>
              <a:rPr kumimoji="1" lang="en-US" altLang="zh-CN" sz="32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anose="02020603050405020304" pitchFamily="18" charset="0"/>
              </a:rPr>
              <a:t>2</a:t>
            </a:r>
            <a:r>
              <a:rPr kumimoji="1" lang="zh-CN" altLang="en-US" sz="32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－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anose="02020603050405020304" pitchFamily="18" charset="0"/>
              </a:rPr>
              <a:t>)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也都是相同的。这样，只要记下从反应开始到溶液刚呈现蓝色所需的时间</a:t>
            </a:r>
            <a:r>
              <a:rPr kumimoji="1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anose="02020603050405020304" pitchFamily="18" charset="0"/>
              </a:rPr>
              <a:t>Δ</a:t>
            </a:r>
            <a:r>
              <a:rPr kumimoji="1" lang="en-US" altLang="zh-CN" sz="3200" b="0" i="1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Times New Roman" panose="02020603050405020304" pitchFamily="18" charset="0"/>
              </a:rPr>
              <a:t>t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，就可以求出初始反应速率。</a:t>
            </a: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/>
            </a:endParaRPr>
          </a:p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      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</a:rPr>
              <a:t>利用求得的反应速率，可计算出速率常数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k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</a:rPr>
              <a:t>和反应级数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m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/>
              </a:rPr>
              <a:t>、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n ,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确定速率方程。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0086523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33"/>
          <p:cNvSpPr txBox="1">
            <a:spLocks noChangeArrowheads="1"/>
          </p:cNvSpPr>
          <p:nvPr/>
        </p:nvSpPr>
        <p:spPr bwMode="auto">
          <a:xfrm>
            <a:off x="362359" y="260648"/>
            <a:ext cx="442566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3600" b="1" dirty="0">
                <a:solidFill>
                  <a:prstClr val="black"/>
                </a:solidFill>
                <a:latin typeface="Arial" charset="0"/>
                <a:ea typeface="微软雅黑" pitchFamily="34" charset="-122"/>
                <a:cs typeface="Arial" charset="0"/>
              </a:rPr>
              <a:t>仪器器皿与试剂</a:t>
            </a:r>
          </a:p>
        </p:txBody>
      </p:sp>
      <p:sp>
        <p:nvSpPr>
          <p:cNvPr id="27" name="矩形 26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直接连接符 14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-27664" y="6062157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2307" y="1638530"/>
            <a:ext cx="8354493" cy="2773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仪器：</a:t>
            </a:r>
            <a:r>
              <a:rPr lang="zh-CN" altLang="en-US" sz="2400" dirty="0"/>
              <a:t>秒表、温度计（</a:t>
            </a:r>
            <a:r>
              <a:rPr lang="en-US" altLang="zh-CN" sz="2400" dirty="0"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℃</a:t>
            </a:r>
            <a:r>
              <a:rPr lang="en-US" altLang="zh-CN" sz="2400" dirty="0">
                <a:cs typeface="Times New Roman" panose="02020603050405020304" pitchFamily="18" charset="0"/>
              </a:rPr>
              <a:t>~100</a:t>
            </a:r>
            <a:r>
              <a:rPr lang="en-US" altLang="zh-CN" sz="2400" dirty="0"/>
              <a:t>℃</a:t>
            </a:r>
            <a:r>
              <a:rPr lang="zh-CN" altLang="en-US" sz="2400" dirty="0"/>
              <a:t>）、烧杯、量筒、  </a:t>
            </a:r>
          </a:p>
          <a:p>
            <a:r>
              <a:rPr lang="zh-CN" altLang="en-US" sz="2400" dirty="0"/>
              <a:t>            试管、玻璃棒、电炉、石棉网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r>
              <a:rPr lang="zh-CN" altLang="en-US" sz="2400" b="1" dirty="0"/>
              <a:t>药品</a:t>
            </a:r>
            <a:r>
              <a:rPr lang="zh-CN" altLang="en-US" sz="2400" dirty="0"/>
              <a:t>：</a:t>
            </a:r>
          </a:p>
          <a:p>
            <a:pPr>
              <a:lnSpc>
                <a:spcPct val="130000"/>
              </a:lnSpc>
            </a:pPr>
            <a:r>
              <a:rPr lang="zh-CN" altLang="en-US" sz="2000" dirty="0">
                <a:cs typeface="Times New Roman" panose="02020603050405020304" pitchFamily="18" charset="0"/>
              </a:rPr>
              <a:t>                </a:t>
            </a:r>
            <a:r>
              <a:rPr lang="en-US" altLang="zh-CN" sz="2000" dirty="0">
                <a:cs typeface="Times New Roman" panose="02020603050405020304" pitchFamily="18" charset="0"/>
              </a:rPr>
              <a:t>(NH</a:t>
            </a:r>
            <a:r>
              <a:rPr lang="en-US" altLang="zh-CN" sz="2000" baseline="-30000" dirty="0"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cs typeface="Times New Roman" panose="02020603050405020304" pitchFamily="18" charset="0"/>
              </a:rPr>
              <a:t>)</a:t>
            </a:r>
            <a:r>
              <a:rPr lang="en-US" altLang="zh-CN" sz="20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cs typeface="Times New Roman" panose="02020603050405020304" pitchFamily="18" charset="0"/>
              </a:rPr>
              <a:t>S</a:t>
            </a:r>
            <a:r>
              <a:rPr lang="en-US" altLang="zh-CN" sz="20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cs typeface="Times New Roman" panose="02020603050405020304" pitchFamily="18" charset="0"/>
              </a:rPr>
              <a:t>O</a:t>
            </a:r>
            <a:r>
              <a:rPr lang="en-US" altLang="zh-CN" sz="2000" baseline="-30000" dirty="0">
                <a:cs typeface="Times New Roman" panose="02020603050405020304" pitchFamily="18" charset="0"/>
              </a:rPr>
              <a:t>8</a:t>
            </a:r>
            <a:r>
              <a:rPr lang="zh-CN" altLang="en-US" sz="2000" dirty="0"/>
              <a:t>（</a:t>
            </a:r>
            <a:r>
              <a:rPr lang="en-US" altLang="zh-CN" sz="2000" dirty="0">
                <a:cs typeface="Times New Roman" panose="02020603050405020304" pitchFamily="18" charset="0"/>
              </a:rPr>
              <a:t>0.20 </a:t>
            </a:r>
            <a:r>
              <a:rPr lang="en-US" altLang="zh-CN" sz="2000" dirty="0" err="1">
                <a:cs typeface="Times New Roman" panose="02020603050405020304" pitchFamily="18" charset="0"/>
              </a:rPr>
              <a:t>mol</a:t>
            </a:r>
            <a:r>
              <a:rPr lang="en-US" altLang="zh-CN" sz="20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·</a:t>
            </a:r>
            <a:r>
              <a:rPr lang="en-US" altLang="zh-CN" sz="2000" dirty="0" err="1">
                <a:cs typeface="Times New Roman" panose="02020603050405020304" pitchFamily="18" charset="0"/>
              </a:rPr>
              <a:t>L</a:t>
            </a:r>
            <a:r>
              <a:rPr lang="zh-CN" altLang="en-US" sz="20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2000" baseline="30000" dirty="0">
                <a:latin typeface="宋体" panose="02010600030101010101" pitchFamily="2" charset="-122"/>
              </a:rPr>
              <a:t>1</a:t>
            </a:r>
            <a:r>
              <a:rPr lang="zh-CN" altLang="en-US" sz="2000" dirty="0"/>
              <a:t>）、</a:t>
            </a:r>
            <a:r>
              <a:rPr lang="en-US" altLang="zh-CN" sz="2000" dirty="0">
                <a:cs typeface="Times New Roman" panose="02020603050405020304" pitchFamily="18" charset="0"/>
              </a:rPr>
              <a:t>KI</a:t>
            </a:r>
            <a:r>
              <a:rPr lang="zh-CN" altLang="en-US" sz="2000" dirty="0"/>
              <a:t>（</a:t>
            </a:r>
            <a:r>
              <a:rPr lang="en-US" altLang="zh-CN" sz="2000" dirty="0">
                <a:cs typeface="Times New Roman" panose="02020603050405020304" pitchFamily="18" charset="0"/>
              </a:rPr>
              <a:t>0.20 </a:t>
            </a:r>
            <a:r>
              <a:rPr lang="en-US" altLang="zh-CN" sz="2000" dirty="0" err="1">
                <a:cs typeface="Times New Roman" panose="02020603050405020304" pitchFamily="18" charset="0"/>
              </a:rPr>
              <a:t>mol</a:t>
            </a:r>
            <a:r>
              <a:rPr lang="en-US" altLang="zh-CN" sz="20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·</a:t>
            </a:r>
            <a:r>
              <a:rPr lang="en-US" altLang="zh-CN" sz="2000" dirty="0" err="1">
                <a:cs typeface="Times New Roman" panose="02020603050405020304" pitchFamily="18" charset="0"/>
              </a:rPr>
              <a:t>L</a:t>
            </a:r>
            <a:r>
              <a:rPr lang="zh-CN" altLang="en-US" sz="20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2000" baseline="30000" dirty="0">
                <a:latin typeface="宋体" panose="02010600030101010101" pitchFamily="2" charset="-122"/>
              </a:rPr>
              <a:t>1</a:t>
            </a:r>
            <a:r>
              <a:rPr lang="zh-CN" altLang="en-US" sz="2000" dirty="0"/>
              <a:t>）</a:t>
            </a:r>
          </a:p>
          <a:p>
            <a:pPr>
              <a:lnSpc>
                <a:spcPct val="130000"/>
              </a:lnSpc>
            </a:pPr>
            <a:r>
              <a:rPr lang="zh-CN" altLang="en-US" sz="2000" dirty="0"/>
              <a:t>                </a:t>
            </a:r>
            <a:r>
              <a:rPr lang="en-US" altLang="zh-CN" sz="2000" dirty="0">
                <a:cs typeface="Times New Roman" panose="02020603050405020304" pitchFamily="18" charset="0"/>
              </a:rPr>
              <a:t>KNO</a:t>
            </a:r>
            <a:r>
              <a:rPr lang="en-US" altLang="zh-CN" sz="2000" baseline="-30000" dirty="0">
                <a:cs typeface="Times New Roman" panose="02020603050405020304" pitchFamily="18" charset="0"/>
              </a:rPr>
              <a:t>3</a:t>
            </a:r>
            <a:r>
              <a:rPr lang="zh-CN" altLang="en-US" sz="2000" dirty="0"/>
              <a:t>（</a:t>
            </a:r>
            <a:r>
              <a:rPr lang="en-US" altLang="zh-CN" sz="2000" dirty="0">
                <a:cs typeface="Times New Roman" panose="02020603050405020304" pitchFamily="18" charset="0"/>
              </a:rPr>
              <a:t>0.20 </a:t>
            </a:r>
            <a:r>
              <a:rPr lang="en-US" altLang="zh-CN" sz="2000" dirty="0" err="1">
                <a:cs typeface="Times New Roman" panose="02020603050405020304" pitchFamily="18" charset="0"/>
              </a:rPr>
              <a:t>mol</a:t>
            </a:r>
            <a:r>
              <a:rPr lang="en-US" altLang="zh-CN" sz="20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·</a:t>
            </a:r>
            <a:r>
              <a:rPr lang="en-US" altLang="zh-CN" sz="2000" dirty="0" err="1">
                <a:cs typeface="Times New Roman" panose="02020603050405020304" pitchFamily="18" charset="0"/>
              </a:rPr>
              <a:t>L</a:t>
            </a:r>
            <a:r>
              <a:rPr lang="zh-CN" altLang="en-US" sz="20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2000" baseline="30000" dirty="0">
                <a:latin typeface="宋体" panose="02010600030101010101" pitchFamily="2" charset="-122"/>
              </a:rPr>
              <a:t>1</a:t>
            </a:r>
            <a:r>
              <a:rPr lang="zh-CN" altLang="en-US" sz="2000" dirty="0"/>
              <a:t>）、</a:t>
            </a:r>
            <a:r>
              <a:rPr lang="en-US" altLang="zh-CN" sz="2000" dirty="0">
                <a:cs typeface="Times New Roman" panose="02020603050405020304" pitchFamily="18" charset="0"/>
              </a:rPr>
              <a:t>Na</a:t>
            </a:r>
            <a:r>
              <a:rPr lang="en-US" altLang="zh-CN" sz="20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cs typeface="Times New Roman" panose="02020603050405020304" pitchFamily="18" charset="0"/>
              </a:rPr>
              <a:t>S</a:t>
            </a:r>
            <a:r>
              <a:rPr lang="en-US" altLang="zh-CN" sz="20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cs typeface="Times New Roman" panose="02020603050405020304" pitchFamily="18" charset="0"/>
              </a:rPr>
              <a:t>O</a:t>
            </a:r>
            <a:r>
              <a:rPr lang="en-US" altLang="zh-CN" sz="2000" baseline="-30000" dirty="0">
                <a:cs typeface="Times New Roman" panose="02020603050405020304" pitchFamily="18" charset="0"/>
              </a:rPr>
              <a:t>3</a:t>
            </a:r>
            <a:r>
              <a:rPr lang="zh-CN" altLang="en-US" sz="2000" dirty="0"/>
              <a:t>（</a:t>
            </a:r>
            <a:r>
              <a:rPr lang="en-US" altLang="zh-CN" sz="2000" dirty="0">
                <a:cs typeface="Times New Roman" panose="02020603050405020304" pitchFamily="18" charset="0"/>
              </a:rPr>
              <a:t>0.010 </a:t>
            </a:r>
            <a:r>
              <a:rPr lang="en-US" altLang="zh-CN" sz="2000" dirty="0" err="1">
                <a:cs typeface="Times New Roman" panose="02020603050405020304" pitchFamily="18" charset="0"/>
              </a:rPr>
              <a:t>mol</a:t>
            </a:r>
            <a:r>
              <a:rPr lang="en-US" altLang="zh-CN" sz="20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·</a:t>
            </a:r>
            <a:r>
              <a:rPr lang="en-US" altLang="zh-CN" sz="2000" dirty="0" err="1">
                <a:cs typeface="Times New Roman" panose="02020603050405020304" pitchFamily="18" charset="0"/>
              </a:rPr>
              <a:t>L</a:t>
            </a:r>
            <a:r>
              <a:rPr lang="zh-CN" altLang="en-US" sz="20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2000" baseline="30000" dirty="0">
                <a:latin typeface="宋体" panose="02010600030101010101" pitchFamily="2" charset="-122"/>
              </a:rPr>
              <a:t>1</a:t>
            </a:r>
            <a:r>
              <a:rPr lang="zh-CN" altLang="en-US" sz="2000" dirty="0"/>
              <a:t>）   </a:t>
            </a:r>
          </a:p>
          <a:p>
            <a:pPr>
              <a:lnSpc>
                <a:spcPct val="130000"/>
              </a:lnSpc>
            </a:pPr>
            <a:r>
              <a:rPr lang="zh-CN" altLang="en-US" sz="2000" dirty="0"/>
              <a:t>              （</a:t>
            </a:r>
            <a:r>
              <a:rPr lang="en-US" altLang="zh-CN" sz="2000" dirty="0">
                <a:cs typeface="Times New Roman" panose="02020603050405020304" pitchFamily="18" charset="0"/>
              </a:rPr>
              <a:t>NH</a:t>
            </a:r>
            <a:r>
              <a:rPr lang="en-US" altLang="zh-CN" sz="2000" baseline="-30000" dirty="0">
                <a:cs typeface="Times New Roman" panose="02020603050405020304" pitchFamily="18" charset="0"/>
              </a:rPr>
              <a:t>4</a:t>
            </a:r>
            <a:r>
              <a:rPr lang="en-US" altLang="zh-CN" sz="2000" dirty="0">
                <a:cs typeface="Times New Roman" panose="02020603050405020304" pitchFamily="18" charset="0"/>
              </a:rPr>
              <a:t>)</a:t>
            </a:r>
            <a:r>
              <a:rPr lang="en-US" altLang="zh-CN" sz="2000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cs typeface="Times New Roman" panose="02020603050405020304" pitchFamily="18" charset="0"/>
              </a:rPr>
              <a:t>SO</a:t>
            </a:r>
            <a:r>
              <a:rPr lang="en-US" altLang="zh-CN" sz="2000" baseline="-30000" dirty="0">
                <a:cs typeface="Times New Roman" panose="02020603050405020304" pitchFamily="18" charset="0"/>
              </a:rPr>
              <a:t>4</a:t>
            </a:r>
            <a:r>
              <a:rPr lang="zh-CN" altLang="en-US" sz="2000" dirty="0"/>
              <a:t>（</a:t>
            </a:r>
            <a:r>
              <a:rPr lang="en-US" altLang="zh-CN" sz="2000" dirty="0">
                <a:cs typeface="Times New Roman" panose="02020603050405020304" pitchFamily="18" charset="0"/>
              </a:rPr>
              <a:t>0.20 </a:t>
            </a:r>
            <a:r>
              <a:rPr lang="en-US" altLang="zh-CN" sz="2000" dirty="0" err="1">
                <a:cs typeface="Times New Roman" panose="02020603050405020304" pitchFamily="18" charset="0"/>
              </a:rPr>
              <a:t>mol</a:t>
            </a:r>
            <a:r>
              <a:rPr lang="en-US" altLang="zh-CN" sz="20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·</a:t>
            </a:r>
            <a:r>
              <a:rPr lang="en-US" altLang="zh-CN" sz="2000" dirty="0" err="1">
                <a:cs typeface="Times New Roman" panose="02020603050405020304" pitchFamily="18" charset="0"/>
              </a:rPr>
              <a:t>L</a:t>
            </a:r>
            <a:r>
              <a:rPr lang="zh-CN" altLang="en-US" sz="20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2000" baseline="30000" dirty="0">
                <a:latin typeface="宋体" panose="02010600030101010101" pitchFamily="2" charset="-122"/>
              </a:rPr>
              <a:t>1</a:t>
            </a:r>
            <a:r>
              <a:rPr lang="zh-CN" altLang="en-US" sz="2000" dirty="0"/>
              <a:t>）、</a:t>
            </a:r>
            <a:r>
              <a:rPr lang="en-US" altLang="zh-CN" sz="2000" dirty="0">
                <a:cs typeface="Times New Roman" panose="02020603050405020304" pitchFamily="18" charset="0"/>
              </a:rPr>
              <a:t>Cu (NO</a:t>
            </a:r>
            <a:r>
              <a:rPr lang="en-US" altLang="zh-CN" sz="2000" baseline="-30000" dirty="0"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cs typeface="Times New Roman" panose="02020603050405020304" pitchFamily="18" charset="0"/>
              </a:rPr>
              <a:t>)</a:t>
            </a:r>
            <a:r>
              <a:rPr lang="en-US" altLang="zh-CN" sz="2000" baseline="-30000" dirty="0">
                <a:cs typeface="Times New Roman" panose="02020603050405020304" pitchFamily="18" charset="0"/>
              </a:rPr>
              <a:t>2</a:t>
            </a:r>
            <a:r>
              <a:rPr lang="zh-CN" altLang="en-US" sz="2000" dirty="0"/>
              <a:t>（</a:t>
            </a:r>
            <a:r>
              <a:rPr lang="en-US" altLang="zh-CN" sz="2000" dirty="0">
                <a:cs typeface="Times New Roman" panose="02020603050405020304" pitchFamily="18" charset="0"/>
              </a:rPr>
              <a:t>0.020   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cs typeface="Times New Roman" panose="02020603050405020304" pitchFamily="18" charset="0"/>
              </a:rPr>
              <a:t>                 </a:t>
            </a:r>
            <a:r>
              <a:rPr lang="en-US" altLang="zh-CN" sz="2000" dirty="0" err="1">
                <a:cs typeface="Times New Roman" panose="02020603050405020304" pitchFamily="18" charset="0"/>
              </a:rPr>
              <a:t>mol</a:t>
            </a:r>
            <a:r>
              <a:rPr lang="en-US" altLang="zh-CN" sz="2000" dirty="0" err="1">
                <a:latin typeface="Courier New" panose="02070309020205020404" pitchFamily="49" charset="0"/>
                <a:cs typeface="Times New Roman" panose="02020603050405020304" pitchFamily="18" charset="0"/>
              </a:rPr>
              <a:t>·</a:t>
            </a:r>
            <a:r>
              <a:rPr lang="en-US" altLang="zh-CN" sz="2000" dirty="0" err="1">
                <a:cs typeface="Times New Roman" panose="02020603050405020304" pitchFamily="18" charset="0"/>
              </a:rPr>
              <a:t>L</a:t>
            </a:r>
            <a:r>
              <a:rPr lang="zh-CN" altLang="en-US" sz="24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2000" baseline="30000" dirty="0">
                <a:latin typeface="宋体" panose="02010600030101010101" pitchFamily="2" charset="-122"/>
              </a:rPr>
              <a:t>1</a:t>
            </a:r>
            <a:r>
              <a:rPr lang="zh-CN" altLang="en-US" sz="2000" dirty="0"/>
              <a:t>），淀粉溶液（</a:t>
            </a:r>
            <a:r>
              <a:rPr lang="en-US" altLang="zh-CN" sz="2000" dirty="0">
                <a:cs typeface="Times New Roman" panose="02020603050405020304" pitchFamily="18" charset="0"/>
              </a:rPr>
              <a:t>0.2 </a:t>
            </a:r>
            <a:r>
              <a:rPr lang="zh-CN" altLang="en-US" sz="2000" dirty="0"/>
              <a:t>％）</a:t>
            </a:r>
          </a:p>
        </p:txBody>
      </p:sp>
    </p:spTree>
    <p:extLst>
      <p:ext uri="{BB962C8B-B14F-4D97-AF65-F5344CB8AC3E}">
        <p14:creationId xmlns:p14="http://schemas.microsoft.com/office/powerpoint/2010/main" val="168071520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1179815" y="446137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prstClr val="black"/>
                </a:solidFill>
                <a:latin typeface="Arial" charset="0"/>
                <a:ea typeface="微软雅黑" pitchFamily="34" charset="-122"/>
                <a:cs typeface="Arial" charset="0"/>
              </a:rPr>
              <a:t>实验内容</a:t>
            </a:r>
          </a:p>
        </p:txBody>
      </p:sp>
      <p:sp>
        <p:nvSpPr>
          <p:cNvPr id="24" name="矩形 23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直接连接符 14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0" y="6093296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345083"/>
              </p:ext>
            </p:extLst>
          </p:nvPr>
        </p:nvGraphicFramePr>
        <p:xfrm>
          <a:off x="844729" y="2149377"/>
          <a:ext cx="7842071" cy="3938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870">
                  <a:extLst>
                    <a:ext uri="{9D8B030D-6E8A-4147-A177-3AD203B41FA5}">
                      <a16:colId xmlns:a16="http://schemas.microsoft.com/office/drawing/2014/main" val="1496861886"/>
                    </a:ext>
                  </a:extLst>
                </a:gridCol>
                <a:gridCol w="2103870">
                  <a:extLst>
                    <a:ext uri="{9D8B030D-6E8A-4147-A177-3AD203B41FA5}">
                      <a16:colId xmlns:a16="http://schemas.microsoft.com/office/drawing/2014/main" val="360028667"/>
                    </a:ext>
                  </a:extLst>
                </a:gridCol>
                <a:gridCol w="719637">
                  <a:extLst>
                    <a:ext uri="{9D8B030D-6E8A-4147-A177-3AD203B41FA5}">
                      <a16:colId xmlns:a16="http://schemas.microsoft.com/office/drawing/2014/main" val="3301120799"/>
                    </a:ext>
                  </a:extLst>
                </a:gridCol>
                <a:gridCol w="719637">
                  <a:extLst>
                    <a:ext uri="{9D8B030D-6E8A-4147-A177-3AD203B41FA5}">
                      <a16:colId xmlns:a16="http://schemas.microsoft.com/office/drawing/2014/main" val="3025546657"/>
                    </a:ext>
                  </a:extLst>
                </a:gridCol>
                <a:gridCol w="713065">
                  <a:extLst>
                    <a:ext uri="{9D8B030D-6E8A-4147-A177-3AD203B41FA5}">
                      <a16:colId xmlns:a16="http://schemas.microsoft.com/office/drawing/2014/main" val="2151000087"/>
                    </a:ext>
                  </a:extLst>
                </a:gridCol>
                <a:gridCol w="740996">
                  <a:extLst>
                    <a:ext uri="{9D8B030D-6E8A-4147-A177-3AD203B41FA5}">
                      <a16:colId xmlns:a16="http://schemas.microsoft.com/office/drawing/2014/main" val="2358594751"/>
                    </a:ext>
                  </a:extLst>
                </a:gridCol>
                <a:gridCol w="740996">
                  <a:extLst>
                    <a:ext uri="{9D8B030D-6E8A-4147-A177-3AD203B41FA5}">
                      <a16:colId xmlns:a16="http://schemas.microsoft.com/office/drawing/2014/main" val="149451718"/>
                    </a:ext>
                  </a:extLst>
                </a:gridCol>
              </a:tblGrid>
              <a:tr h="302968">
                <a:tc gridSpan="2"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实</a:t>
                      </a:r>
                      <a:r>
                        <a:rPr lang="en-US" sz="1050" kern="100" dirty="0">
                          <a:effectLst/>
                        </a:rPr>
                        <a:t>  </a:t>
                      </a:r>
                      <a:r>
                        <a:rPr lang="zh-CN" sz="1050" kern="100" dirty="0">
                          <a:effectLst/>
                        </a:rPr>
                        <a:t>验</a:t>
                      </a:r>
                      <a:r>
                        <a:rPr lang="en-US" sz="1050" kern="100" dirty="0">
                          <a:effectLst/>
                        </a:rPr>
                        <a:t>  </a:t>
                      </a:r>
                      <a:r>
                        <a:rPr lang="zh-CN" sz="1050" kern="100" dirty="0">
                          <a:effectLst/>
                        </a:rPr>
                        <a:t>编</a:t>
                      </a:r>
                      <a:r>
                        <a:rPr lang="en-US" sz="1050" kern="100" dirty="0">
                          <a:effectLst/>
                        </a:rPr>
                        <a:t>  </a:t>
                      </a:r>
                      <a:r>
                        <a:rPr lang="zh-CN" sz="1050" kern="100" dirty="0">
                          <a:effectLst/>
                        </a:rPr>
                        <a:t>号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Ⅰ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Ⅱ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Ⅲ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Ⅳ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Ⅴ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3416823"/>
                  </a:ext>
                </a:extLst>
              </a:tr>
              <a:tr h="302968">
                <a:tc rowSpan="6"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u="sng" kern="100" dirty="0">
                          <a:effectLst/>
                        </a:rPr>
                        <a:t>试剂用量</a:t>
                      </a:r>
                      <a:endParaRPr lang="zh-CN" sz="1050" kern="100" dirty="0">
                        <a:effectLst/>
                      </a:endParaRP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（</a:t>
                      </a:r>
                      <a:r>
                        <a:rPr lang="en-US" sz="1050" kern="100" dirty="0">
                          <a:effectLst/>
                        </a:rPr>
                        <a:t>cm</a:t>
                      </a:r>
                      <a:r>
                        <a:rPr lang="en-US" sz="1050" kern="100" baseline="30000" dirty="0">
                          <a:effectLst/>
                        </a:rPr>
                        <a:t>3</a:t>
                      </a:r>
                      <a:r>
                        <a:rPr lang="zh-CN" sz="1050" kern="100" dirty="0">
                          <a:effectLst/>
                        </a:rPr>
                        <a:t>）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0.20 mol</a:t>
                      </a:r>
                      <a:r>
                        <a:rPr lang="zh-CN" sz="1050" kern="100" dirty="0">
                          <a:effectLst/>
                        </a:rPr>
                        <a:t>·</a:t>
                      </a:r>
                      <a:r>
                        <a:rPr lang="en-US" sz="1050" kern="100" dirty="0">
                          <a:effectLst/>
                        </a:rPr>
                        <a:t>dm</a:t>
                      </a:r>
                      <a:r>
                        <a:rPr lang="en-US" sz="1050" kern="100" baseline="30000" dirty="0">
                          <a:effectLst/>
                        </a:rPr>
                        <a:t>-3</a:t>
                      </a:r>
                      <a:r>
                        <a:rPr lang="en-US" sz="1050" kern="100" dirty="0">
                          <a:effectLst/>
                        </a:rPr>
                        <a:t> KI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20.0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20.0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20.0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10.0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5.0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7816425"/>
                  </a:ext>
                </a:extLst>
              </a:tr>
              <a:tr h="3029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0.2% </a:t>
                      </a:r>
                      <a:r>
                        <a:rPr lang="zh-CN" sz="1050" kern="100" dirty="0">
                          <a:effectLst/>
                        </a:rPr>
                        <a:t>淀粉溶液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4.0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9934221"/>
                  </a:ext>
                </a:extLst>
              </a:tr>
              <a:tr h="3029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0.010mol</a:t>
                      </a:r>
                      <a:r>
                        <a:rPr lang="zh-CN" sz="1050" kern="100" dirty="0">
                          <a:effectLst/>
                        </a:rPr>
                        <a:t>·</a:t>
                      </a:r>
                      <a:r>
                        <a:rPr lang="en-US" sz="1050" kern="100" dirty="0">
                          <a:effectLst/>
                        </a:rPr>
                        <a:t>dm</a:t>
                      </a:r>
                      <a:r>
                        <a:rPr lang="en-US" sz="1050" kern="100" baseline="30000" dirty="0">
                          <a:effectLst/>
                        </a:rPr>
                        <a:t>-3</a:t>
                      </a:r>
                      <a:r>
                        <a:rPr lang="en-US" sz="1050" kern="100" dirty="0">
                          <a:effectLst/>
                        </a:rPr>
                        <a:t> Na</a:t>
                      </a:r>
                      <a:r>
                        <a:rPr lang="en-US" sz="1050" kern="100" baseline="-25000" dirty="0">
                          <a:effectLst/>
                        </a:rPr>
                        <a:t>2</a:t>
                      </a:r>
                      <a:r>
                        <a:rPr lang="en-US" sz="1050" kern="100" dirty="0">
                          <a:effectLst/>
                        </a:rPr>
                        <a:t>S</a:t>
                      </a:r>
                      <a:r>
                        <a:rPr lang="en-US" sz="1050" kern="100" baseline="-25000" dirty="0">
                          <a:effectLst/>
                        </a:rPr>
                        <a:t>2</a:t>
                      </a:r>
                      <a:r>
                        <a:rPr lang="en-US" sz="1050" kern="100" dirty="0">
                          <a:effectLst/>
                        </a:rPr>
                        <a:t>O</a:t>
                      </a:r>
                      <a:r>
                        <a:rPr lang="en-US" sz="1050" kern="100" baseline="-25000" dirty="0">
                          <a:effectLst/>
                        </a:rPr>
                        <a:t>3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8.0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8.0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8.0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8.0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8.0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2960540"/>
                  </a:ext>
                </a:extLst>
              </a:tr>
              <a:tr h="3029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0.20 mol</a:t>
                      </a:r>
                      <a:r>
                        <a:rPr lang="zh-CN" sz="1050" kern="100" dirty="0">
                          <a:effectLst/>
                        </a:rPr>
                        <a:t>·</a:t>
                      </a:r>
                      <a:r>
                        <a:rPr lang="en-US" sz="1050" kern="100" dirty="0">
                          <a:effectLst/>
                        </a:rPr>
                        <a:t>dm</a:t>
                      </a:r>
                      <a:r>
                        <a:rPr lang="en-US" sz="1050" kern="100" baseline="30000" dirty="0">
                          <a:effectLst/>
                        </a:rPr>
                        <a:t>-3</a:t>
                      </a:r>
                      <a:r>
                        <a:rPr lang="en-US" sz="1050" kern="100" dirty="0">
                          <a:effectLst/>
                        </a:rPr>
                        <a:t> KNO</a:t>
                      </a:r>
                      <a:r>
                        <a:rPr lang="en-US" sz="1050" kern="100" baseline="-25000" dirty="0">
                          <a:effectLst/>
                        </a:rPr>
                        <a:t>3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10.0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15.0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6978336"/>
                  </a:ext>
                </a:extLst>
              </a:tr>
              <a:tr h="3029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0.20mol</a:t>
                      </a:r>
                      <a:r>
                        <a:rPr lang="zh-CN" sz="1050" kern="100" dirty="0">
                          <a:effectLst/>
                        </a:rPr>
                        <a:t>·</a:t>
                      </a:r>
                      <a:r>
                        <a:rPr lang="en-US" sz="1050" kern="100" dirty="0">
                          <a:effectLst/>
                        </a:rPr>
                        <a:t>dm</a:t>
                      </a:r>
                      <a:r>
                        <a:rPr lang="en-US" sz="1050" kern="100" baseline="30000" dirty="0">
                          <a:effectLst/>
                        </a:rPr>
                        <a:t>-3</a:t>
                      </a:r>
                      <a:r>
                        <a:rPr lang="zh-CN" sz="1050" kern="100" dirty="0">
                          <a:effectLst/>
                        </a:rPr>
                        <a:t>（</a:t>
                      </a:r>
                      <a:r>
                        <a:rPr lang="en-US" sz="1050" kern="100" dirty="0">
                          <a:effectLst/>
                        </a:rPr>
                        <a:t>NH</a:t>
                      </a:r>
                      <a:r>
                        <a:rPr lang="en-US" sz="1050" kern="100" baseline="-25000" dirty="0">
                          <a:effectLst/>
                        </a:rPr>
                        <a:t>4</a:t>
                      </a:r>
                      <a:r>
                        <a:rPr lang="zh-CN" sz="1050" kern="100" dirty="0">
                          <a:effectLst/>
                        </a:rPr>
                        <a:t>）</a:t>
                      </a:r>
                      <a:r>
                        <a:rPr lang="en-US" sz="1050" kern="100" baseline="-25000" dirty="0">
                          <a:effectLst/>
                        </a:rPr>
                        <a:t>2</a:t>
                      </a:r>
                      <a:r>
                        <a:rPr lang="en-US" sz="1050" kern="100" dirty="0">
                          <a:effectLst/>
                        </a:rPr>
                        <a:t>SO</a:t>
                      </a:r>
                      <a:r>
                        <a:rPr lang="en-US" sz="1050" kern="100" baseline="-25000" dirty="0">
                          <a:effectLst/>
                        </a:rPr>
                        <a:t>4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10.0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15.0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0767850"/>
                  </a:ext>
                </a:extLst>
              </a:tr>
              <a:tr h="3029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0.20mol</a:t>
                      </a:r>
                      <a:r>
                        <a:rPr lang="zh-CN" sz="1050" kern="100" dirty="0">
                          <a:effectLst/>
                        </a:rPr>
                        <a:t>·</a:t>
                      </a:r>
                      <a:r>
                        <a:rPr lang="en-US" sz="1050" kern="100" dirty="0">
                          <a:effectLst/>
                        </a:rPr>
                        <a:t>dm</a:t>
                      </a:r>
                      <a:r>
                        <a:rPr lang="en-US" sz="1050" kern="100" baseline="30000" dirty="0">
                          <a:effectLst/>
                        </a:rPr>
                        <a:t>-3</a:t>
                      </a:r>
                      <a:r>
                        <a:rPr lang="zh-CN" sz="1050" kern="100" dirty="0">
                          <a:effectLst/>
                        </a:rPr>
                        <a:t>（</a:t>
                      </a:r>
                      <a:r>
                        <a:rPr lang="en-US" sz="1050" kern="100" dirty="0">
                          <a:effectLst/>
                        </a:rPr>
                        <a:t>NH</a:t>
                      </a:r>
                      <a:r>
                        <a:rPr lang="en-US" sz="1050" kern="100" baseline="-25000" dirty="0">
                          <a:effectLst/>
                        </a:rPr>
                        <a:t>4</a:t>
                      </a:r>
                      <a:r>
                        <a:rPr lang="zh-CN" sz="1050" kern="100" dirty="0">
                          <a:effectLst/>
                        </a:rPr>
                        <a:t>）</a:t>
                      </a:r>
                      <a:r>
                        <a:rPr lang="en-US" sz="1050" kern="100" baseline="-25000" dirty="0">
                          <a:effectLst/>
                        </a:rPr>
                        <a:t>2</a:t>
                      </a:r>
                      <a:r>
                        <a:rPr lang="en-US" sz="1050" kern="100" dirty="0">
                          <a:effectLst/>
                        </a:rPr>
                        <a:t>S</a:t>
                      </a:r>
                      <a:r>
                        <a:rPr lang="en-US" sz="1050" kern="100" baseline="-25000" dirty="0">
                          <a:effectLst/>
                        </a:rPr>
                        <a:t>2</a:t>
                      </a:r>
                      <a:r>
                        <a:rPr lang="en-US" sz="1050" kern="100" dirty="0">
                          <a:effectLst/>
                        </a:rPr>
                        <a:t>O</a:t>
                      </a:r>
                      <a:r>
                        <a:rPr lang="en-US" sz="1050" kern="100" baseline="-25000" dirty="0">
                          <a:effectLst/>
                        </a:rPr>
                        <a:t>8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20.0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10.0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5.0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20.0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20.0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7825000"/>
                  </a:ext>
                </a:extLst>
              </a:tr>
              <a:tr h="302968">
                <a:tc rowSpan="3"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1450"/>
                        </a:spcBef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混合液中反应的起始始浓度</a:t>
                      </a: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mol</a:t>
                      </a:r>
                      <a:r>
                        <a:rPr lang="zh-CN" sz="1050" kern="100">
                          <a:effectLst/>
                        </a:rPr>
                        <a:t>·</a:t>
                      </a:r>
                      <a:r>
                        <a:rPr lang="en-US" sz="1050" kern="100">
                          <a:effectLst/>
                        </a:rPr>
                        <a:t>dm</a:t>
                      </a:r>
                      <a:r>
                        <a:rPr lang="en-US" sz="1050" kern="100" baseline="30000">
                          <a:effectLst/>
                        </a:rPr>
                        <a:t>-3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3335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（</a:t>
                      </a:r>
                      <a:r>
                        <a:rPr lang="en-US" sz="1050" kern="100" dirty="0">
                          <a:effectLst/>
                        </a:rPr>
                        <a:t>NH</a:t>
                      </a:r>
                      <a:r>
                        <a:rPr lang="en-US" sz="1050" kern="100" baseline="-25000" dirty="0">
                          <a:effectLst/>
                        </a:rPr>
                        <a:t>4</a:t>
                      </a:r>
                      <a:r>
                        <a:rPr lang="zh-CN" sz="1050" kern="100" dirty="0">
                          <a:effectLst/>
                        </a:rPr>
                        <a:t>）</a:t>
                      </a:r>
                      <a:r>
                        <a:rPr lang="en-US" sz="1050" kern="100" baseline="-25000" dirty="0">
                          <a:effectLst/>
                        </a:rPr>
                        <a:t>2</a:t>
                      </a:r>
                      <a:r>
                        <a:rPr lang="en-US" sz="1050" kern="100" dirty="0">
                          <a:effectLst/>
                        </a:rPr>
                        <a:t>S</a:t>
                      </a:r>
                      <a:r>
                        <a:rPr lang="en-US" sz="1050" kern="100" baseline="-25000" dirty="0">
                          <a:effectLst/>
                        </a:rPr>
                        <a:t>2</a:t>
                      </a:r>
                      <a:r>
                        <a:rPr lang="en-US" sz="1050" kern="100" dirty="0">
                          <a:effectLst/>
                        </a:rPr>
                        <a:t>O</a:t>
                      </a:r>
                      <a:r>
                        <a:rPr lang="en-US" sz="1050" kern="100" baseline="-25000" dirty="0">
                          <a:effectLst/>
                        </a:rPr>
                        <a:t>8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0.0769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0.0323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r>
                        <a:rPr lang="en-US" altLang="zh-CN" sz="1050" kern="100" dirty="0">
                          <a:effectLst/>
                        </a:rPr>
                        <a:t>0.0161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r>
                        <a:rPr lang="en-US" altLang="zh-CN" sz="1050" kern="100" dirty="0">
                          <a:effectLst/>
                        </a:rPr>
                        <a:t>0.0769</a:t>
                      </a:r>
                      <a:endParaRPr lang="zh-CN" altLang="zh-CN" sz="1050" kern="100" dirty="0"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r>
                        <a:rPr lang="en-US" altLang="zh-CN" sz="1050" kern="100" dirty="0">
                          <a:effectLst/>
                        </a:rPr>
                        <a:t>0.0769</a:t>
                      </a:r>
                      <a:endParaRPr lang="zh-CN" altLang="zh-CN" sz="1050" kern="100" dirty="0"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0675444"/>
                  </a:ext>
                </a:extLst>
              </a:tr>
              <a:tr h="3029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3335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KI 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0.0769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r>
                        <a:rPr lang="en-US" altLang="zh-CN" sz="1050" kern="100" dirty="0">
                          <a:effectLst/>
                        </a:rPr>
                        <a:t>0.0769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r>
                        <a:rPr lang="en-US" altLang="zh-CN" sz="1050" kern="100" dirty="0">
                          <a:effectLst/>
                        </a:rPr>
                        <a:t> 0.0769</a:t>
                      </a:r>
                      <a:endParaRPr lang="zh-CN" altLang="zh-CN" sz="1050" kern="100" dirty="0"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r>
                        <a:rPr lang="en-US" altLang="zh-CN" sz="1050" kern="100" dirty="0">
                          <a:effectLst/>
                        </a:rPr>
                        <a:t>0.0323</a:t>
                      </a:r>
                      <a:endParaRPr lang="zh-CN" altLang="zh-CN" sz="1050" kern="100" dirty="0">
                        <a:effectLst/>
                        <a:latin typeface="Times New Roman" panose="02020603050405020304" pitchFamily="18" charset="0"/>
                        <a:ea typeface="+mn-e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0.0161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9161172"/>
                  </a:ext>
                </a:extLst>
              </a:tr>
              <a:tr h="30296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33350"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Na</a:t>
                      </a:r>
                      <a:r>
                        <a:rPr lang="en-US" sz="1050" kern="100" baseline="-25000" dirty="0">
                          <a:effectLst/>
                        </a:rPr>
                        <a:t>2</a:t>
                      </a:r>
                      <a:r>
                        <a:rPr lang="en-US" sz="1050" kern="100" dirty="0">
                          <a:effectLst/>
                        </a:rPr>
                        <a:t>S</a:t>
                      </a:r>
                      <a:r>
                        <a:rPr lang="en-US" sz="1050" kern="100" baseline="-25000" dirty="0">
                          <a:effectLst/>
                        </a:rPr>
                        <a:t>2</a:t>
                      </a:r>
                      <a:r>
                        <a:rPr lang="en-US" sz="1050" kern="100" dirty="0">
                          <a:effectLst/>
                        </a:rPr>
                        <a:t>O</a:t>
                      </a:r>
                      <a:r>
                        <a:rPr lang="en-US" sz="1050" kern="100" baseline="-25000" dirty="0">
                          <a:effectLst/>
                        </a:rPr>
                        <a:t>3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0.0015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0.0015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r>
                        <a:rPr lang="en-US" altLang="zh-CN" sz="1050" kern="100" dirty="0">
                          <a:effectLst/>
                        </a:rPr>
                        <a:t>0.0015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r>
                        <a:rPr lang="en-US" altLang="zh-CN" sz="1050" kern="100" dirty="0">
                          <a:effectLst/>
                        </a:rPr>
                        <a:t>0.0015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</a:t>
                      </a:r>
                      <a:r>
                        <a:rPr lang="en-US" altLang="zh-CN" sz="1050" kern="100" dirty="0">
                          <a:effectLst/>
                        </a:rPr>
                        <a:t>0.0015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6728058"/>
                  </a:ext>
                </a:extLst>
              </a:tr>
              <a:tr h="302968">
                <a:tc gridSpan="2"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反应时间</a:t>
                      </a:r>
                      <a:r>
                        <a:rPr lang="en-US" sz="1050" kern="100" dirty="0">
                          <a:effectLst/>
                        </a:rPr>
                        <a:t>△t/s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20.2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37.8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82 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39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75.5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5682761"/>
                  </a:ext>
                </a:extLst>
              </a:tr>
              <a:tr h="302968">
                <a:tc gridSpan="2"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S</a:t>
                      </a:r>
                      <a:r>
                        <a:rPr lang="en-US" sz="1050" kern="100" baseline="-25000" dirty="0">
                          <a:effectLst/>
                        </a:rPr>
                        <a:t>2</a:t>
                      </a:r>
                      <a:r>
                        <a:rPr lang="en-US" sz="1050" kern="100" dirty="0">
                          <a:effectLst/>
                        </a:rPr>
                        <a:t>O</a:t>
                      </a:r>
                      <a:r>
                        <a:rPr lang="en-US" sz="1050" kern="100" baseline="-25000" dirty="0">
                          <a:effectLst/>
                        </a:rPr>
                        <a:t>8</a:t>
                      </a:r>
                      <a:r>
                        <a:rPr lang="en-US" sz="1050" kern="100" baseline="30000" dirty="0">
                          <a:effectLst/>
                        </a:rPr>
                        <a:t>2-</a:t>
                      </a:r>
                      <a:r>
                        <a:rPr lang="zh-CN" sz="1050" kern="100" dirty="0">
                          <a:effectLst/>
                        </a:rPr>
                        <a:t>的浓度变化</a:t>
                      </a:r>
                      <a:r>
                        <a:rPr lang="en-US" sz="1050" kern="100" dirty="0">
                          <a:effectLst/>
                        </a:rPr>
                        <a:t> /mol</a:t>
                      </a:r>
                      <a:r>
                        <a:rPr lang="zh-CN" sz="1050" kern="100" dirty="0">
                          <a:effectLst/>
                        </a:rPr>
                        <a:t>·</a:t>
                      </a:r>
                      <a:r>
                        <a:rPr lang="en-US" sz="1050" kern="100" dirty="0">
                          <a:effectLst/>
                        </a:rPr>
                        <a:t>cm</a:t>
                      </a:r>
                      <a:r>
                        <a:rPr lang="en-US" sz="1050" kern="100" baseline="30000" dirty="0">
                          <a:effectLst/>
                        </a:rPr>
                        <a:t>-3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-0. 75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-</a:t>
                      </a:r>
                      <a:r>
                        <a:rPr lang="en-US" altLang="zh-CN" sz="1050" kern="100" dirty="0">
                          <a:effectLst/>
                        </a:rPr>
                        <a:t>0. 75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-</a:t>
                      </a:r>
                      <a:r>
                        <a:rPr lang="en-US" altLang="zh-CN" sz="1050" kern="100" dirty="0">
                          <a:effectLst/>
                        </a:rPr>
                        <a:t>0. 75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-</a:t>
                      </a:r>
                      <a:r>
                        <a:rPr lang="en-US" altLang="zh-CN" sz="1050" kern="100" dirty="0">
                          <a:effectLst/>
                        </a:rPr>
                        <a:t>0. 75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-</a:t>
                      </a:r>
                      <a:r>
                        <a:rPr lang="en-US" altLang="zh-CN" sz="1050" kern="100" dirty="0">
                          <a:effectLst/>
                        </a:rPr>
                        <a:t>0. 75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7025002"/>
                  </a:ext>
                </a:extLst>
              </a:tr>
              <a:tr h="302968">
                <a:tc gridSpan="2"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反应速率</a:t>
                      </a:r>
                      <a:r>
                        <a:rPr lang="en-US" sz="1050" kern="100" dirty="0">
                          <a:effectLst/>
                        </a:rPr>
                        <a:t>r</a:t>
                      </a:r>
                      <a:r>
                        <a:rPr lang="en-US" altLang="zh-CN" sz="1050" kern="100" dirty="0">
                          <a:effectLst/>
                        </a:rPr>
                        <a:t>/mol</a:t>
                      </a:r>
                      <a:r>
                        <a:rPr lang="zh-CN" altLang="zh-CN" sz="1050" kern="100" dirty="0">
                          <a:effectLst/>
                        </a:rPr>
                        <a:t>·</a:t>
                      </a:r>
                      <a:r>
                        <a:rPr lang="en-US" altLang="zh-CN" sz="1050" kern="100" dirty="0">
                          <a:effectLst/>
                        </a:rPr>
                        <a:t>cm</a:t>
                      </a:r>
                      <a:r>
                        <a:rPr lang="en-US" altLang="zh-CN" sz="1050" kern="100" baseline="30000" dirty="0">
                          <a:effectLst/>
                        </a:rPr>
                        <a:t>-3</a:t>
                      </a:r>
                      <a:r>
                        <a:rPr lang="zh-CN" altLang="zh-CN" sz="1050" kern="100" dirty="0">
                          <a:effectLst/>
                        </a:rPr>
                        <a:t>·</a:t>
                      </a:r>
                      <a:r>
                        <a:rPr lang="en-US" altLang="zh-CN" sz="1050" kern="100" dirty="0">
                          <a:effectLst/>
                        </a:rPr>
                        <a:t>s</a:t>
                      </a:r>
                      <a:r>
                        <a:rPr lang="en-US" altLang="zh-CN" sz="1050" kern="100" baseline="30000" dirty="0">
                          <a:effectLst/>
                        </a:rPr>
                        <a:t>-1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0.0371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0.0198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0.0091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0.0192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 0.00993</a:t>
                      </a:r>
                      <a:endParaRPr lang="zh-CN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3431793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179815" y="1157607"/>
            <a:ext cx="3206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宋体" panose="02010600030101010101" pitchFamily="2" charset="-122"/>
              </a:rPr>
              <a:t>（一）浓度对反应速率的影响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1350781" y="1631809"/>
            <a:ext cx="54899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宋体" panose="02010600030101010101" pitchFamily="2" charset="-122"/>
              </a:rPr>
              <a:t>表一  浓度对反应速率的影响    室温：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539968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1179815" y="446137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prstClr val="black"/>
                </a:solidFill>
                <a:latin typeface="Arial" charset="0"/>
                <a:ea typeface="微软雅黑" pitchFamily="34" charset="-122"/>
                <a:cs typeface="Arial" charset="0"/>
              </a:rPr>
              <a:t>实验内容</a:t>
            </a:r>
          </a:p>
        </p:txBody>
      </p:sp>
      <p:sp>
        <p:nvSpPr>
          <p:cNvPr id="24" name="矩形 23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直接连接符 14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-60314" y="2680695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30027" y="1311916"/>
            <a:ext cx="45432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宋体" panose="02010600030101010101" pitchFamily="2" charset="-122"/>
              </a:rPr>
              <a:t>（二）温度对反应速率的影响    室温：</a:t>
            </a:r>
            <a:r>
              <a:rPr lang="zh-CN" altLang="en-US" dirty="0"/>
              <a:t> </a:t>
            </a:r>
          </a:p>
        </p:txBody>
      </p:sp>
      <p:sp>
        <p:nvSpPr>
          <p:cNvPr id="3" name="矩形 2"/>
          <p:cNvSpPr/>
          <p:nvPr/>
        </p:nvSpPr>
        <p:spPr>
          <a:xfrm>
            <a:off x="971600" y="1900695"/>
            <a:ext cx="79496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 混合于大烧杯 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按表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实验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中的药品用量混合 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取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18" charset="0"/>
              </a:rPr>
              <a:t>20.0mL (NH</a:t>
            </a:r>
            <a:r>
              <a:rPr lang="en-US" altLang="zh-CN" b="1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="1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="1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b="1" baseline="-30000" dirty="0">
                <a:latin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溶液于小烧杯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③大、小烧杯同时冰水浴冷却至低于室温</a:t>
            </a:r>
            <a:r>
              <a:rPr lang="en-US" altLang="zh-CN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10℃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时，</a:t>
            </a:r>
            <a:r>
              <a:rPr lang="zh-CN" altLang="en-US" b="1" dirty="0">
                <a:latin typeface="宋体" panose="02010600030101010101" pitchFamily="2" charset="-122"/>
              </a:rPr>
              <a:t>迅速混合、计时并不</a:t>
            </a:r>
            <a:r>
              <a:rPr lang="zh-CN" altLang="en-US" b="1" dirty="0"/>
              <a:t>断搅拌。</a:t>
            </a: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④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当溶液刚出现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蓝色</a:t>
            </a:r>
            <a:r>
              <a:rPr lang="zh-CN" altLang="en-US" b="1" dirty="0">
                <a:latin typeface="宋体" panose="02010600030101010101" pitchFamily="2" charset="-122"/>
                <a:cs typeface="Times New Roman" panose="02020603050405020304" pitchFamily="18" charset="0"/>
              </a:rPr>
              <a:t>时，记录反应时间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162629" y="2880968"/>
            <a:ext cx="70380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同样方法在热水中进行高于室温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10℃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的实验。此实验编号记为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将此两次实验数据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和实验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的数据记入表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中进行比较。</a:t>
            </a:r>
            <a:endParaRPr lang="zh-CN" altLang="en-US" b="1" dirty="0">
              <a:ea typeface="楷体_GB2312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42442" y="3637356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/>
              <a:t>表</a:t>
            </a:r>
            <a:r>
              <a:rPr lang="en-US" altLang="zh-CN" b="1" dirty="0">
                <a:cs typeface="Times New Roman" panose="02020603050405020304" pitchFamily="18" charset="0"/>
              </a:rPr>
              <a:t>2  </a:t>
            </a:r>
            <a:r>
              <a:rPr lang="zh-CN" altLang="en-US" b="1" dirty="0"/>
              <a:t>温度对化学反应速率的影响</a:t>
            </a:r>
            <a:endParaRPr lang="zh-CN" altLang="en-US" dirty="0"/>
          </a:p>
        </p:txBody>
      </p:sp>
      <p:grpSp>
        <p:nvGrpSpPr>
          <p:cNvPr id="20" name="Group 51"/>
          <p:cNvGrpSpPr>
            <a:grpSpLocks/>
          </p:cNvGrpSpPr>
          <p:nvPr/>
        </p:nvGrpSpPr>
        <p:grpSpPr bwMode="auto">
          <a:xfrm>
            <a:off x="630027" y="4089276"/>
            <a:ext cx="8291263" cy="2172337"/>
            <a:chOff x="0" y="384"/>
            <a:chExt cx="3792" cy="1520"/>
          </a:xfrm>
        </p:grpSpPr>
        <p:grpSp>
          <p:nvGrpSpPr>
            <p:cNvPr id="21" name="Group 20"/>
            <p:cNvGrpSpPr>
              <a:grpSpLocks/>
            </p:cNvGrpSpPr>
            <p:nvPr/>
          </p:nvGrpSpPr>
          <p:grpSpPr bwMode="auto">
            <a:xfrm>
              <a:off x="0" y="384"/>
              <a:ext cx="948" cy="374"/>
              <a:chOff x="0" y="384"/>
              <a:chExt cx="948" cy="374"/>
            </a:xfrm>
          </p:grpSpPr>
          <p:sp>
            <p:nvSpPr>
              <p:cNvPr id="70" name="Rectangle 3"/>
              <p:cNvSpPr>
                <a:spLocks noChangeArrowheads="1"/>
              </p:cNvSpPr>
              <p:nvPr/>
            </p:nvSpPr>
            <p:spPr bwMode="auto">
              <a:xfrm>
                <a:off x="43" y="384"/>
                <a:ext cx="862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400" dirty="0"/>
              </a:p>
              <a:p>
                <a:pPr algn="ctr" eaLnBrk="1" hangingPunct="1"/>
                <a:r>
                  <a:rPr lang="zh-CN" altLang="en-US" sz="2000" dirty="0"/>
                  <a:t>实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/>
                  <a:t>验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/>
                  <a:t>编</a:t>
                </a:r>
                <a:r>
                  <a:rPr lang="zh-CN" altLang="en-US" sz="2000" dirty="0"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/>
                  <a:t>号</a:t>
                </a:r>
                <a:endParaRPr lang="zh-CN" altLang="en-US" sz="2000" dirty="0">
                  <a:latin typeface="宋体" panose="02010600030101010101" pitchFamily="2" charset="-122"/>
                </a:endParaRPr>
              </a:p>
              <a:p>
                <a:pPr algn="ctr"/>
                <a:endParaRPr lang="en-US" altLang="zh-CN" sz="2400" dirty="0"/>
              </a:p>
            </p:txBody>
          </p:sp>
          <p:sp>
            <p:nvSpPr>
              <p:cNvPr id="71" name="Rectangle 19"/>
              <p:cNvSpPr>
                <a:spLocks noChangeArrowheads="1"/>
              </p:cNvSpPr>
              <p:nvPr/>
            </p:nvSpPr>
            <p:spPr bwMode="auto">
              <a:xfrm>
                <a:off x="0" y="384"/>
                <a:ext cx="948" cy="37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2" name="Group 22"/>
            <p:cNvGrpSpPr>
              <a:grpSpLocks/>
            </p:cNvGrpSpPr>
            <p:nvPr/>
          </p:nvGrpSpPr>
          <p:grpSpPr bwMode="auto">
            <a:xfrm>
              <a:off x="948" y="384"/>
              <a:ext cx="948" cy="374"/>
              <a:chOff x="948" y="384"/>
              <a:chExt cx="948" cy="374"/>
            </a:xfrm>
          </p:grpSpPr>
          <p:sp>
            <p:nvSpPr>
              <p:cNvPr id="68" name="Rectangle 4"/>
              <p:cNvSpPr>
                <a:spLocks noChangeArrowheads="1"/>
              </p:cNvSpPr>
              <p:nvPr/>
            </p:nvSpPr>
            <p:spPr bwMode="auto">
              <a:xfrm>
                <a:off x="991" y="384"/>
                <a:ext cx="862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400">
                  <a:cs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US" altLang="zh-CN" sz="2000">
                    <a:cs typeface="Times New Roman" panose="02020603050405020304" pitchFamily="18" charset="0"/>
                  </a:rPr>
                  <a:t>6</a:t>
                </a:r>
                <a:endParaRPr lang="en-US" altLang="zh-CN" sz="2000">
                  <a:latin typeface="宋体" panose="02010600030101010101" pitchFamily="2" charset="-122"/>
                </a:endParaRPr>
              </a:p>
              <a:p>
                <a:pPr algn="ctr"/>
                <a:endParaRPr lang="en-US" altLang="zh-CN" sz="2000"/>
              </a:p>
            </p:txBody>
          </p:sp>
          <p:sp>
            <p:nvSpPr>
              <p:cNvPr id="69" name="Rectangle 21"/>
              <p:cNvSpPr>
                <a:spLocks noChangeArrowheads="1"/>
              </p:cNvSpPr>
              <p:nvPr/>
            </p:nvSpPr>
            <p:spPr bwMode="auto">
              <a:xfrm>
                <a:off x="948" y="384"/>
                <a:ext cx="948" cy="37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3" name="Group 24"/>
            <p:cNvGrpSpPr>
              <a:grpSpLocks/>
            </p:cNvGrpSpPr>
            <p:nvPr/>
          </p:nvGrpSpPr>
          <p:grpSpPr bwMode="auto">
            <a:xfrm>
              <a:off x="1896" y="384"/>
              <a:ext cx="948" cy="374"/>
              <a:chOff x="1896" y="384"/>
              <a:chExt cx="948" cy="374"/>
            </a:xfrm>
          </p:grpSpPr>
          <p:sp>
            <p:nvSpPr>
              <p:cNvPr id="66" name="Rectangle 5"/>
              <p:cNvSpPr>
                <a:spLocks noChangeArrowheads="1"/>
              </p:cNvSpPr>
              <p:nvPr/>
            </p:nvSpPr>
            <p:spPr bwMode="auto">
              <a:xfrm>
                <a:off x="1939" y="384"/>
                <a:ext cx="862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400" dirty="0">
                  <a:cs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US" altLang="zh-CN" sz="2000" dirty="0">
                    <a:cs typeface="Times New Roman" panose="02020603050405020304" pitchFamily="18" charset="0"/>
                  </a:rPr>
                  <a:t>4</a:t>
                </a:r>
                <a:endParaRPr lang="en-US" altLang="zh-CN" sz="2000" dirty="0">
                  <a:latin typeface="宋体" panose="02010600030101010101" pitchFamily="2" charset="-122"/>
                </a:endParaRPr>
              </a:p>
              <a:p>
                <a:pPr algn="ctr"/>
                <a:endParaRPr lang="en-US" altLang="zh-CN" sz="2400" dirty="0"/>
              </a:p>
            </p:txBody>
          </p:sp>
          <p:sp>
            <p:nvSpPr>
              <p:cNvPr id="67" name="Rectangle 23"/>
              <p:cNvSpPr>
                <a:spLocks noChangeArrowheads="1"/>
              </p:cNvSpPr>
              <p:nvPr/>
            </p:nvSpPr>
            <p:spPr bwMode="auto">
              <a:xfrm>
                <a:off x="1896" y="384"/>
                <a:ext cx="948" cy="37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2844" y="384"/>
              <a:ext cx="948" cy="374"/>
              <a:chOff x="2844" y="384"/>
              <a:chExt cx="948" cy="374"/>
            </a:xfrm>
          </p:grpSpPr>
          <p:sp>
            <p:nvSpPr>
              <p:cNvPr id="64" name="Rectangle 6"/>
              <p:cNvSpPr>
                <a:spLocks noChangeArrowheads="1"/>
              </p:cNvSpPr>
              <p:nvPr/>
            </p:nvSpPr>
            <p:spPr bwMode="auto">
              <a:xfrm>
                <a:off x="2887" y="384"/>
                <a:ext cx="862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400">
                  <a:cs typeface="Times New Roman" panose="02020603050405020304" pitchFamily="18" charset="0"/>
                </a:endParaRPr>
              </a:p>
              <a:p>
                <a:pPr algn="ctr" eaLnBrk="1" hangingPunct="1"/>
                <a:r>
                  <a:rPr lang="en-US" altLang="zh-CN" sz="2000">
                    <a:cs typeface="Times New Roman" panose="02020603050405020304" pitchFamily="18" charset="0"/>
                  </a:rPr>
                  <a:t>7</a:t>
                </a:r>
                <a:endParaRPr lang="en-US" altLang="zh-CN" sz="2000">
                  <a:latin typeface="宋体" panose="02010600030101010101" pitchFamily="2" charset="-122"/>
                </a:endParaRPr>
              </a:p>
              <a:p>
                <a:pPr algn="ctr"/>
                <a:endParaRPr lang="en-US" altLang="zh-CN" sz="2400"/>
              </a:p>
            </p:txBody>
          </p:sp>
          <p:sp>
            <p:nvSpPr>
              <p:cNvPr id="65" name="Rectangle 25"/>
              <p:cNvSpPr>
                <a:spLocks noChangeArrowheads="1"/>
              </p:cNvSpPr>
              <p:nvPr/>
            </p:nvSpPr>
            <p:spPr bwMode="auto">
              <a:xfrm>
                <a:off x="2844" y="384"/>
                <a:ext cx="948" cy="37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7" name="Group 28"/>
            <p:cNvGrpSpPr>
              <a:grpSpLocks/>
            </p:cNvGrpSpPr>
            <p:nvPr/>
          </p:nvGrpSpPr>
          <p:grpSpPr bwMode="auto">
            <a:xfrm>
              <a:off x="0" y="758"/>
              <a:ext cx="948" cy="384"/>
              <a:chOff x="0" y="758"/>
              <a:chExt cx="948" cy="384"/>
            </a:xfrm>
          </p:grpSpPr>
          <p:sp>
            <p:nvSpPr>
              <p:cNvPr id="62" name="Rectangle 7"/>
              <p:cNvSpPr>
                <a:spLocks noChangeArrowheads="1"/>
              </p:cNvSpPr>
              <p:nvPr/>
            </p:nvSpPr>
            <p:spPr bwMode="auto">
              <a:xfrm>
                <a:off x="43" y="758"/>
                <a:ext cx="86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400" dirty="0"/>
              </a:p>
              <a:p>
                <a:pPr algn="ctr" eaLnBrk="1" hangingPunct="1"/>
                <a:r>
                  <a:rPr lang="zh-CN" altLang="en-US" sz="2000" dirty="0"/>
                  <a:t>反应温度</a:t>
                </a:r>
                <a:r>
                  <a:rPr lang="en-US" altLang="zh-CN" sz="2000" i="1" dirty="0"/>
                  <a:t>t</a:t>
                </a:r>
                <a:r>
                  <a:rPr lang="en-US" altLang="zh-CN" sz="2000" dirty="0">
                    <a:cs typeface="Times New Roman" panose="02020603050405020304" pitchFamily="18" charset="0"/>
                  </a:rPr>
                  <a:t>/</a:t>
                </a:r>
                <a:r>
                  <a:rPr lang="en-US" altLang="zh-CN" sz="2000" dirty="0"/>
                  <a:t>℃</a:t>
                </a:r>
                <a:endParaRPr lang="en-US" altLang="zh-CN" sz="2000" dirty="0">
                  <a:latin typeface="宋体" panose="02010600030101010101" pitchFamily="2" charset="-122"/>
                </a:endParaRPr>
              </a:p>
              <a:p>
                <a:pPr algn="ctr"/>
                <a:endParaRPr lang="en-US" altLang="zh-CN" sz="2000" dirty="0"/>
              </a:p>
            </p:txBody>
          </p:sp>
          <p:sp>
            <p:nvSpPr>
              <p:cNvPr id="63" name="Rectangle 27"/>
              <p:cNvSpPr>
                <a:spLocks noChangeArrowheads="1"/>
              </p:cNvSpPr>
              <p:nvPr/>
            </p:nvSpPr>
            <p:spPr bwMode="auto">
              <a:xfrm>
                <a:off x="0" y="758"/>
                <a:ext cx="94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8" name="Group 30"/>
            <p:cNvGrpSpPr>
              <a:grpSpLocks/>
            </p:cNvGrpSpPr>
            <p:nvPr/>
          </p:nvGrpSpPr>
          <p:grpSpPr bwMode="auto">
            <a:xfrm>
              <a:off x="948" y="758"/>
              <a:ext cx="948" cy="384"/>
              <a:chOff x="948" y="758"/>
              <a:chExt cx="948" cy="384"/>
            </a:xfrm>
          </p:grpSpPr>
          <p:sp>
            <p:nvSpPr>
              <p:cNvPr id="60" name="Rectangle 8"/>
              <p:cNvSpPr>
                <a:spLocks noChangeArrowheads="1"/>
              </p:cNvSpPr>
              <p:nvPr/>
            </p:nvSpPr>
            <p:spPr bwMode="auto">
              <a:xfrm>
                <a:off x="991" y="758"/>
                <a:ext cx="86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 </a:t>
                </a:r>
                <a:endParaRPr lang="en-US" altLang="zh-CN" sz="2400" dirty="0">
                  <a:latin typeface="宋体" panose="02010600030101010101" pitchFamily="2" charset="-122"/>
                </a:endParaRPr>
              </a:p>
              <a:p>
                <a:pPr algn="ctr"/>
                <a:r>
                  <a:rPr lang="en-US" altLang="zh-CN" sz="2400" dirty="0"/>
                  <a:t>15</a:t>
                </a:r>
              </a:p>
            </p:txBody>
          </p:sp>
          <p:sp>
            <p:nvSpPr>
              <p:cNvPr id="61" name="Rectangle 29"/>
              <p:cNvSpPr>
                <a:spLocks noChangeArrowheads="1"/>
              </p:cNvSpPr>
              <p:nvPr/>
            </p:nvSpPr>
            <p:spPr bwMode="auto">
              <a:xfrm>
                <a:off x="948" y="758"/>
                <a:ext cx="94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9" name="Group 32"/>
            <p:cNvGrpSpPr>
              <a:grpSpLocks/>
            </p:cNvGrpSpPr>
            <p:nvPr/>
          </p:nvGrpSpPr>
          <p:grpSpPr bwMode="auto">
            <a:xfrm>
              <a:off x="1896" y="758"/>
              <a:ext cx="948" cy="384"/>
              <a:chOff x="1896" y="758"/>
              <a:chExt cx="948" cy="384"/>
            </a:xfrm>
          </p:grpSpPr>
          <p:sp>
            <p:nvSpPr>
              <p:cNvPr id="58" name="Rectangle 9"/>
              <p:cNvSpPr>
                <a:spLocks noChangeArrowheads="1"/>
              </p:cNvSpPr>
              <p:nvPr/>
            </p:nvSpPr>
            <p:spPr bwMode="auto">
              <a:xfrm>
                <a:off x="1939" y="758"/>
                <a:ext cx="86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dirty="0">
                    <a:latin typeface="Courier New" panose="02070309020205020404" pitchFamily="49" charset="0"/>
                  </a:rPr>
                  <a:t> </a:t>
                </a:r>
                <a:endParaRPr lang="en-US" altLang="zh-CN" sz="2400" dirty="0">
                  <a:latin typeface="宋体" panose="02010600030101010101" pitchFamily="2" charset="-122"/>
                </a:endParaRPr>
              </a:p>
              <a:p>
                <a:pPr algn="ctr"/>
                <a:r>
                  <a:rPr lang="en-US" altLang="zh-CN" sz="2400" dirty="0"/>
                  <a:t>25</a:t>
                </a:r>
              </a:p>
            </p:txBody>
          </p:sp>
          <p:sp>
            <p:nvSpPr>
              <p:cNvPr id="59" name="Rectangle 31"/>
              <p:cNvSpPr>
                <a:spLocks noChangeArrowheads="1"/>
              </p:cNvSpPr>
              <p:nvPr/>
            </p:nvSpPr>
            <p:spPr bwMode="auto">
              <a:xfrm>
                <a:off x="1896" y="758"/>
                <a:ext cx="94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0" name="Group 34"/>
            <p:cNvGrpSpPr>
              <a:grpSpLocks/>
            </p:cNvGrpSpPr>
            <p:nvPr/>
          </p:nvGrpSpPr>
          <p:grpSpPr bwMode="auto">
            <a:xfrm>
              <a:off x="2844" y="758"/>
              <a:ext cx="948" cy="384"/>
              <a:chOff x="2844" y="758"/>
              <a:chExt cx="948" cy="384"/>
            </a:xfrm>
          </p:grpSpPr>
          <p:sp>
            <p:nvSpPr>
              <p:cNvPr id="56" name="Rectangle 10"/>
              <p:cNvSpPr>
                <a:spLocks noChangeArrowheads="1"/>
              </p:cNvSpPr>
              <p:nvPr/>
            </p:nvSpPr>
            <p:spPr bwMode="auto">
              <a:xfrm>
                <a:off x="2887" y="758"/>
                <a:ext cx="862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dirty="0">
                    <a:latin typeface="Courier New" panose="02070309020205020404" pitchFamily="49" charset="0"/>
                  </a:rPr>
                  <a:t> </a:t>
                </a:r>
                <a:endParaRPr lang="en-US" altLang="zh-CN" sz="2400" dirty="0">
                  <a:latin typeface="宋体" panose="02010600030101010101" pitchFamily="2" charset="-122"/>
                </a:endParaRPr>
              </a:p>
              <a:p>
                <a:pPr algn="ctr"/>
                <a:r>
                  <a:rPr lang="en-US" altLang="zh-CN" sz="2400" dirty="0"/>
                  <a:t>35</a:t>
                </a:r>
              </a:p>
            </p:txBody>
          </p:sp>
          <p:sp>
            <p:nvSpPr>
              <p:cNvPr id="57" name="Rectangle 33"/>
              <p:cNvSpPr>
                <a:spLocks noChangeArrowheads="1"/>
              </p:cNvSpPr>
              <p:nvPr/>
            </p:nvSpPr>
            <p:spPr bwMode="auto">
              <a:xfrm>
                <a:off x="2844" y="758"/>
                <a:ext cx="948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1" name="Group 36"/>
            <p:cNvGrpSpPr>
              <a:grpSpLocks/>
            </p:cNvGrpSpPr>
            <p:nvPr/>
          </p:nvGrpSpPr>
          <p:grpSpPr bwMode="auto">
            <a:xfrm>
              <a:off x="0" y="1142"/>
              <a:ext cx="948" cy="374"/>
              <a:chOff x="0" y="1142"/>
              <a:chExt cx="948" cy="374"/>
            </a:xfrm>
          </p:grpSpPr>
          <p:sp>
            <p:nvSpPr>
              <p:cNvPr id="53" name="Rectangle 11"/>
              <p:cNvSpPr>
                <a:spLocks noChangeArrowheads="1"/>
              </p:cNvSpPr>
              <p:nvPr/>
            </p:nvSpPr>
            <p:spPr bwMode="auto">
              <a:xfrm>
                <a:off x="43" y="1142"/>
                <a:ext cx="862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en-US" altLang="zh-CN" sz="2400"/>
              </a:p>
              <a:p>
                <a:pPr algn="ctr" eaLnBrk="1" hangingPunct="1"/>
                <a:r>
                  <a:rPr lang="zh-CN" altLang="en-US" sz="2000"/>
                  <a:t>反应时间</a:t>
                </a:r>
              </a:p>
              <a:p>
                <a:pPr algn="ctr" eaLnBrk="1" hangingPunct="1"/>
                <a:r>
                  <a:rPr lang="en-US" altLang="zh-CN" sz="2000">
                    <a:cs typeface="Times New Roman" panose="02020603050405020304" pitchFamily="18" charset="0"/>
                  </a:rPr>
                  <a:t>Δ</a:t>
                </a:r>
                <a:r>
                  <a:rPr lang="en-US" altLang="zh-CN" sz="2000" i="1">
                    <a:cs typeface="Times New Roman" panose="02020603050405020304" pitchFamily="18" charset="0"/>
                  </a:rPr>
                  <a:t>t</a:t>
                </a:r>
                <a:r>
                  <a:rPr lang="en-US" altLang="zh-CN" sz="2000">
                    <a:cs typeface="Times New Roman" panose="02020603050405020304" pitchFamily="18" charset="0"/>
                  </a:rPr>
                  <a:t>/s</a:t>
                </a:r>
                <a:endParaRPr lang="en-US" altLang="zh-CN" sz="2000">
                  <a:latin typeface="宋体" panose="02010600030101010101" pitchFamily="2" charset="-122"/>
                </a:endParaRPr>
              </a:p>
              <a:p>
                <a:pPr algn="ctr"/>
                <a:endParaRPr lang="en-US" altLang="zh-CN" sz="2000"/>
              </a:p>
            </p:txBody>
          </p:sp>
          <p:sp>
            <p:nvSpPr>
              <p:cNvPr id="55" name="Rectangle 35"/>
              <p:cNvSpPr>
                <a:spLocks noChangeArrowheads="1"/>
              </p:cNvSpPr>
              <p:nvPr/>
            </p:nvSpPr>
            <p:spPr bwMode="auto">
              <a:xfrm>
                <a:off x="0" y="1142"/>
                <a:ext cx="948" cy="37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2" name="Group 38"/>
            <p:cNvGrpSpPr>
              <a:grpSpLocks/>
            </p:cNvGrpSpPr>
            <p:nvPr/>
          </p:nvGrpSpPr>
          <p:grpSpPr bwMode="auto">
            <a:xfrm>
              <a:off x="948" y="1142"/>
              <a:ext cx="948" cy="374"/>
              <a:chOff x="948" y="1142"/>
              <a:chExt cx="948" cy="374"/>
            </a:xfrm>
          </p:grpSpPr>
          <p:sp>
            <p:nvSpPr>
              <p:cNvPr id="51" name="Rectangle 12"/>
              <p:cNvSpPr>
                <a:spLocks noChangeArrowheads="1"/>
              </p:cNvSpPr>
              <p:nvPr/>
            </p:nvSpPr>
            <p:spPr bwMode="auto">
              <a:xfrm>
                <a:off x="991" y="1142"/>
                <a:ext cx="862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 </a:t>
                </a:r>
                <a:endParaRPr lang="en-US" altLang="zh-CN" sz="2400" dirty="0">
                  <a:latin typeface="宋体" panose="02010600030101010101" pitchFamily="2" charset="-122"/>
                </a:endParaRPr>
              </a:p>
              <a:p>
                <a:pPr algn="ctr"/>
                <a:r>
                  <a:rPr lang="en-US" altLang="zh-CN" sz="2400" dirty="0"/>
                  <a:t>72</a:t>
                </a:r>
              </a:p>
            </p:txBody>
          </p:sp>
          <p:sp>
            <p:nvSpPr>
              <p:cNvPr id="52" name="Rectangle 37"/>
              <p:cNvSpPr>
                <a:spLocks noChangeArrowheads="1"/>
              </p:cNvSpPr>
              <p:nvPr/>
            </p:nvSpPr>
            <p:spPr bwMode="auto">
              <a:xfrm>
                <a:off x="948" y="1142"/>
                <a:ext cx="948" cy="37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3" name="Group 40"/>
            <p:cNvGrpSpPr>
              <a:grpSpLocks/>
            </p:cNvGrpSpPr>
            <p:nvPr/>
          </p:nvGrpSpPr>
          <p:grpSpPr bwMode="auto">
            <a:xfrm>
              <a:off x="1896" y="1142"/>
              <a:ext cx="948" cy="374"/>
              <a:chOff x="1896" y="1142"/>
              <a:chExt cx="948" cy="374"/>
            </a:xfrm>
          </p:grpSpPr>
          <p:sp>
            <p:nvSpPr>
              <p:cNvPr id="49" name="Rectangle 13"/>
              <p:cNvSpPr>
                <a:spLocks noChangeArrowheads="1"/>
              </p:cNvSpPr>
              <p:nvPr/>
            </p:nvSpPr>
            <p:spPr bwMode="auto">
              <a:xfrm>
                <a:off x="1939" y="1142"/>
                <a:ext cx="862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 </a:t>
                </a:r>
                <a:endParaRPr lang="en-US" altLang="zh-CN" sz="2400" dirty="0">
                  <a:latin typeface="宋体" panose="02010600030101010101" pitchFamily="2" charset="-122"/>
                </a:endParaRPr>
              </a:p>
              <a:p>
                <a:pPr algn="ctr"/>
                <a:r>
                  <a:rPr lang="en-US" altLang="zh-CN" sz="2400" dirty="0"/>
                  <a:t>39</a:t>
                </a:r>
              </a:p>
            </p:txBody>
          </p:sp>
          <p:sp>
            <p:nvSpPr>
              <p:cNvPr id="50" name="Rectangle 39"/>
              <p:cNvSpPr>
                <a:spLocks noChangeArrowheads="1"/>
              </p:cNvSpPr>
              <p:nvPr/>
            </p:nvSpPr>
            <p:spPr bwMode="auto">
              <a:xfrm>
                <a:off x="1896" y="1142"/>
                <a:ext cx="948" cy="37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4" name="Group 42"/>
            <p:cNvGrpSpPr>
              <a:grpSpLocks/>
            </p:cNvGrpSpPr>
            <p:nvPr/>
          </p:nvGrpSpPr>
          <p:grpSpPr bwMode="auto">
            <a:xfrm>
              <a:off x="2844" y="1142"/>
              <a:ext cx="948" cy="374"/>
              <a:chOff x="2844" y="1142"/>
              <a:chExt cx="948" cy="374"/>
            </a:xfrm>
          </p:grpSpPr>
          <p:sp>
            <p:nvSpPr>
              <p:cNvPr id="47" name="Rectangle 14"/>
              <p:cNvSpPr>
                <a:spLocks noChangeArrowheads="1"/>
              </p:cNvSpPr>
              <p:nvPr/>
            </p:nvSpPr>
            <p:spPr bwMode="auto">
              <a:xfrm>
                <a:off x="2887" y="1142"/>
                <a:ext cx="862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 </a:t>
                </a:r>
                <a:endParaRPr lang="en-US" altLang="zh-CN" sz="2400" dirty="0">
                  <a:latin typeface="宋体" panose="02010600030101010101" pitchFamily="2" charset="-122"/>
                </a:endParaRPr>
              </a:p>
              <a:p>
                <a:pPr algn="ctr"/>
                <a:r>
                  <a:rPr lang="en-US" altLang="zh-CN" sz="2400" dirty="0"/>
                  <a:t>18</a:t>
                </a:r>
              </a:p>
            </p:txBody>
          </p:sp>
          <p:sp>
            <p:nvSpPr>
              <p:cNvPr id="48" name="Rectangle 41"/>
              <p:cNvSpPr>
                <a:spLocks noChangeArrowheads="1"/>
              </p:cNvSpPr>
              <p:nvPr/>
            </p:nvSpPr>
            <p:spPr bwMode="auto">
              <a:xfrm>
                <a:off x="2844" y="1142"/>
                <a:ext cx="948" cy="37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5" name="Group 44"/>
            <p:cNvGrpSpPr>
              <a:grpSpLocks/>
            </p:cNvGrpSpPr>
            <p:nvPr/>
          </p:nvGrpSpPr>
          <p:grpSpPr bwMode="auto">
            <a:xfrm>
              <a:off x="0" y="1516"/>
              <a:ext cx="949" cy="388"/>
              <a:chOff x="0" y="1516"/>
              <a:chExt cx="949" cy="388"/>
            </a:xfrm>
          </p:grpSpPr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87" y="1530"/>
                <a:ext cx="862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 sz="2400" dirty="0"/>
              </a:p>
              <a:p>
                <a:pPr algn="ctr" eaLnBrk="1" hangingPunct="1"/>
                <a:r>
                  <a:rPr lang="zh-CN" altLang="en-US" sz="2000" dirty="0"/>
                  <a:t>反应速率</a:t>
                </a:r>
                <a:r>
                  <a:rPr lang="en-US" altLang="zh-CN" sz="2000" dirty="0"/>
                  <a:t>v</a:t>
                </a:r>
                <a:r>
                  <a:rPr lang="zh-CN" altLang="en-US" sz="2000" dirty="0"/>
                  <a:t> ∕</a:t>
                </a:r>
                <a:r>
                  <a:rPr lang="en-US" altLang="zh-CN" sz="2000" kern="100" dirty="0"/>
                  <a:t>mol</a:t>
                </a:r>
                <a:r>
                  <a:rPr lang="zh-CN" altLang="zh-CN" sz="2000" kern="100" dirty="0"/>
                  <a:t>·</a:t>
                </a:r>
                <a:r>
                  <a:rPr lang="en-US" altLang="zh-CN" sz="2000" kern="100" dirty="0"/>
                  <a:t>cm</a:t>
                </a:r>
                <a:r>
                  <a:rPr lang="en-US" altLang="zh-CN" sz="2000" kern="100" baseline="30000" dirty="0"/>
                  <a:t>-3</a:t>
                </a:r>
                <a:r>
                  <a:rPr lang="zh-CN" altLang="zh-CN" sz="2000" kern="100" dirty="0"/>
                  <a:t>·</a:t>
                </a:r>
                <a:r>
                  <a:rPr lang="en-US" altLang="zh-CN" sz="2000" kern="100" dirty="0"/>
                  <a:t>s</a:t>
                </a:r>
                <a:r>
                  <a:rPr lang="en-US" altLang="zh-CN" sz="2000" kern="100" baseline="30000" dirty="0"/>
                  <a:t>-1</a:t>
                </a:r>
                <a:endParaRPr lang="en-US" altLang="zh-CN" sz="2400" dirty="0"/>
              </a:p>
            </p:txBody>
          </p:sp>
          <p:sp>
            <p:nvSpPr>
              <p:cNvPr id="46" name="Rectangle 43"/>
              <p:cNvSpPr>
                <a:spLocks noChangeArrowheads="1"/>
              </p:cNvSpPr>
              <p:nvPr/>
            </p:nvSpPr>
            <p:spPr bwMode="auto">
              <a:xfrm>
                <a:off x="0" y="1516"/>
                <a:ext cx="948" cy="37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6" name="Group 46"/>
            <p:cNvGrpSpPr>
              <a:grpSpLocks/>
            </p:cNvGrpSpPr>
            <p:nvPr/>
          </p:nvGrpSpPr>
          <p:grpSpPr bwMode="auto">
            <a:xfrm>
              <a:off x="948" y="1516"/>
              <a:ext cx="948" cy="374"/>
              <a:chOff x="948" y="1516"/>
              <a:chExt cx="948" cy="374"/>
            </a:xfrm>
          </p:grpSpPr>
          <p:sp>
            <p:nvSpPr>
              <p:cNvPr id="43" name="Rectangle 16"/>
              <p:cNvSpPr>
                <a:spLocks noChangeArrowheads="1"/>
              </p:cNvSpPr>
              <p:nvPr/>
            </p:nvSpPr>
            <p:spPr bwMode="auto">
              <a:xfrm>
                <a:off x="991" y="1516"/>
                <a:ext cx="862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0.00669 </a:t>
                </a:r>
                <a:endParaRPr lang="en-US" altLang="zh-CN" sz="2400" dirty="0">
                  <a:latin typeface="宋体" panose="02010600030101010101" pitchFamily="2" charset="-122"/>
                </a:endParaRPr>
              </a:p>
              <a:p>
                <a:pPr algn="ctr"/>
                <a:endParaRPr lang="en-US" altLang="zh-CN" sz="2400" dirty="0"/>
              </a:p>
            </p:txBody>
          </p:sp>
          <p:sp>
            <p:nvSpPr>
              <p:cNvPr id="44" name="Rectangle 45"/>
              <p:cNvSpPr>
                <a:spLocks noChangeArrowheads="1"/>
              </p:cNvSpPr>
              <p:nvPr/>
            </p:nvSpPr>
            <p:spPr bwMode="auto">
              <a:xfrm>
                <a:off x="948" y="1516"/>
                <a:ext cx="948" cy="37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7" name="Group 48"/>
            <p:cNvGrpSpPr>
              <a:grpSpLocks/>
            </p:cNvGrpSpPr>
            <p:nvPr/>
          </p:nvGrpSpPr>
          <p:grpSpPr bwMode="auto">
            <a:xfrm>
              <a:off x="1896" y="1516"/>
              <a:ext cx="948" cy="374"/>
              <a:chOff x="1896" y="1516"/>
              <a:chExt cx="948" cy="374"/>
            </a:xfrm>
          </p:grpSpPr>
          <p:sp>
            <p:nvSpPr>
              <p:cNvPr id="41" name="Rectangle 17"/>
              <p:cNvSpPr>
                <a:spLocks noChangeArrowheads="1"/>
              </p:cNvSpPr>
              <p:nvPr/>
            </p:nvSpPr>
            <p:spPr bwMode="auto">
              <a:xfrm>
                <a:off x="1939" y="1516"/>
                <a:ext cx="862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 0.0192</a:t>
                </a:r>
                <a:endParaRPr lang="en-US" altLang="zh-CN" sz="2400" dirty="0">
                  <a:latin typeface="宋体" panose="02010600030101010101" pitchFamily="2" charset="-122"/>
                </a:endParaRPr>
              </a:p>
              <a:p>
                <a:pPr algn="ctr"/>
                <a:endParaRPr lang="en-US" altLang="zh-CN" sz="2400" dirty="0"/>
              </a:p>
            </p:txBody>
          </p:sp>
          <p:sp>
            <p:nvSpPr>
              <p:cNvPr id="42" name="Rectangle 47"/>
              <p:cNvSpPr>
                <a:spLocks noChangeArrowheads="1"/>
              </p:cNvSpPr>
              <p:nvPr/>
            </p:nvSpPr>
            <p:spPr bwMode="auto">
              <a:xfrm>
                <a:off x="1896" y="1516"/>
                <a:ext cx="948" cy="37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8" name="Group 50"/>
            <p:cNvGrpSpPr>
              <a:grpSpLocks/>
            </p:cNvGrpSpPr>
            <p:nvPr/>
          </p:nvGrpSpPr>
          <p:grpSpPr bwMode="auto">
            <a:xfrm>
              <a:off x="2844" y="1516"/>
              <a:ext cx="948" cy="374"/>
              <a:chOff x="2844" y="1516"/>
              <a:chExt cx="948" cy="374"/>
            </a:xfrm>
          </p:grpSpPr>
          <p:sp>
            <p:nvSpPr>
              <p:cNvPr id="39" name="Rectangle 18"/>
              <p:cNvSpPr>
                <a:spLocks noChangeArrowheads="1"/>
              </p:cNvSpPr>
              <p:nvPr/>
            </p:nvSpPr>
            <p:spPr bwMode="auto">
              <a:xfrm>
                <a:off x="2887" y="1516"/>
                <a:ext cx="862" cy="3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400" dirty="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0.0417 </a:t>
                </a:r>
                <a:endParaRPr lang="en-US" altLang="zh-CN" sz="2400" dirty="0">
                  <a:latin typeface="宋体" panose="02010600030101010101" pitchFamily="2" charset="-122"/>
                </a:endParaRPr>
              </a:p>
              <a:p>
                <a:pPr algn="ctr"/>
                <a:endParaRPr lang="en-US" altLang="zh-CN" sz="2400" dirty="0"/>
              </a:p>
            </p:txBody>
          </p:sp>
          <p:sp>
            <p:nvSpPr>
              <p:cNvPr id="40" name="Rectangle 49"/>
              <p:cNvSpPr>
                <a:spLocks noChangeArrowheads="1"/>
              </p:cNvSpPr>
              <p:nvPr/>
            </p:nvSpPr>
            <p:spPr bwMode="auto">
              <a:xfrm>
                <a:off x="2844" y="1516"/>
                <a:ext cx="948" cy="37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855121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1179815" y="446137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prstClr val="black"/>
                </a:solidFill>
                <a:latin typeface="Arial" charset="0"/>
                <a:ea typeface="微软雅黑" pitchFamily="34" charset="-122"/>
                <a:cs typeface="Arial" charset="0"/>
              </a:rPr>
              <a:t>实验内容</a:t>
            </a:r>
          </a:p>
        </p:txBody>
      </p:sp>
      <p:sp>
        <p:nvSpPr>
          <p:cNvPr id="24" name="矩形 23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12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直接连接符 14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0" y="6093296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52" y="1442741"/>
            <a:ext cx="7773074" cy="1140051"/>
          </a:xfrm>
          <a:prstGeom prst="rect">
            <a:avLst/>
          </a:prstGeom>
        </p:spPr>
      </p:pic>
      <p:sp>
        <p:nvSpPr>
          <p:cNvPr id="21" name="Rectangle 3"/>
          <p:cNvSpPr>
            <a:spLocks noChangeArrowheads="1"/>
          </p:cNvSpPr>
          <p:nvPr/>
        </p:nvSpPr>
        <p:spPr bwMode="auto">
          <a:xfrm>
            <a:off x="971600" y="2920139"/>
            <a:ext cx="7543800" cy="2428357"/>
          </a:xfrm>
          <a:prstGeom prst="rect">
            <a:avLst/>
          </a:prstGeom>
          <a:noFill/>
          <a:ln w="50800">
            <a:solidFill>
              <a:srgbClr val="CC99FF"/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0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①</a:t>
            </a:r>
            <a:r>
              <a:rPr kumimoji="0" lang="en-US" altLang="zh-CN" sz="2400" b="1" dirty="0">
                <a:cs typeface="Times New Roman" panose="02020603050405020304" pitchFamily="18" charset="0"/>
              </a:rPr>
              <a:t> </a:t>
            </a:r>
            <a:r>
              <a:rPr kumimoji="0"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kumimoji="0"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按表</a:t>
            </a:r>
            <a:r>
              <a:rPr kumimoji="0"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kumimoji="0"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实验</a:t>
            </a:r>
            <a:r>
              <a:rPr kumimoji="0" lang="en-US" altLang="zh-CN" sz="2400" b="1" dirty="0">
                <a:solidFill>
                  <a:srgbClr val="FF0000"/>
                </a:solidFill>
              </a:rPr>
              <a:t>4</a:t>
            </a:r>
            <a:r>
              <a:rPr kumimoji="0"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中的药品用量混合 </a:t>
            </a:r>
            <a:r>
              <a:rPr kumimoji="0" lang="en-US" altLang="zh-CN" sz="2400" b="1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20000"/>
              </a:spcBef>
            </a:pPr>
            <a:endParaRPr kumimoji="0" lang="en-US" altLang="zh-CN" sz="7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spcAft>
                <a:spcPct val="50000"/>
              </a:spcAft>
            </a:pPr>
            <a:r>
              <a:rPr kumimoji="0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②</a:t>
            </a:r>
            <a:r>
              <a:rPr kumimoji="0" lang="zh-CN" altLang="en-US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加入</a:t>
            </a:r>
            <a:r>
              <a:rPr kumimoji="0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kumimoji="0" lang="zh-CN" altLang="en-US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滴</a:t>
            </a:r>
            <a:r>
              <a:rPr kumimoji="0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0.02mol</a:t>
            </a:r>
            <a:r>
              <a:rPr kumimoji="0" lang="en-US" altLang="zh-CN" b="1" dirty="0"/>
              <a:t>·L</a:t>
            </a:r>
            <a:r>
              <a:rPr kumimoji="0" lang="en-US" altLang="zh-CN" baseline="30000" dirty="0"/>
              <a:t>-1</a:t>
            </a:r>
            <a:r>
              <a:rPr kumimoji="0" lang="en-US" altLang="zh-CN" sz="2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Cu(NO</a:t>
            </a:r>
            <a:r>
              <a:rPr kumimoji="0" lang="en-US" altLang="zh-CN" sz="2400" b="1" i="1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3</a:t>
            </a:r>
            <a:r>
              <a:rPr kumimoji="0" lang="en-US" altLang="zh-CN" sz="2400" b="1" i="1" dirty="0">
                <a:solidFill>
                  <a:srgbClr val="000000"/>
                </a:solidFill>
                <a:cs typeface="Times New Roman" panose="02020603050405020304" pitchFamily="18" charset="0"/>
              </a:rPr>
              <a:t>)</a:t>
            </a:r>
            <a:r>
              <a:rPr kumimoji="0" lang="en-US" altLang="zh-CN" sz="2400" b="1" i="1" baseline="-30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kumimoji="0" lang="zh-CN" altLang="en-US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溶液，搅匀 </a:t>
            </a:r>
            <a:r>
              <a:rPr kumimoji="0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20000"/>
              </a:spcBef>
              <a:spcAft>
                <a:spcPct val="50000"/>
              </a:spcAft>
            </a:pPr>
            <a:endParaRPr kumimoji="0" lang="zh-CN" altLang="en-US" sz="200" b="1" dirty="0">
              <a:cs typeface="Times New Roman" panose="02020603050405020304" pitchFamily="18" charset="0"/>
            </a:endParaRPr>
          </a:p>
          <a:p>
            <a:pPr eaLnBrk="1" hangingPunct="1">
              <a:spcBef>
                <a:spcPct val="10000"/>
              </a:spcBef>
            </a:pPr>
            <a:r>
              <a:rPr kumimoji="0" lang="zh-CN" altLang="en-US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③迅速加入</a:t>
            </a:r>
            <a:r>
              <a:rPr kumimoji="0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20mL</a:t>
            </a:r>
            <a:r>
              <a:rPr kumimoji="0" lang="zh-CN" altLang="en-US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过二硫酸铵溶液，搅动、计时 </a:t>
            </a:r>
            <a:r>
              <a:rPr kumimoji="0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10000"/>
              </a:spcBef>
            </a:pPr>
            <a:endParaRPr kumimoji="0" lang="zh-CN" altLang="en-US" sz="1200" b="1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20000"/>
              </a:spcBef>
              <a:spcAft>
                <a:spcPct val="50000"/>
              </a:spcAft>
            </a:pPr>
            <a:r>
              <a:rPr kumimoji="0" lang="zh-CN" altLang="en-US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④与表</a:t>
            </a:r>
            <a:r>
              <a:rPr kumimoji="0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r>
              <a:rPr kumimoji="0" lang="zh-CN" altLang="en-US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中实验</a:t>
            </a:r>
            <a:r>
              <a:rPr kumimoji="0" lang="en-US" altLang="zh-CN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4 </a:t>
            </a:r>
            <a:r>
              <a:rPr kumimoji="0" lang="zh-CN" altLang="en-US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的反应速率定性地</a:t>
            </a:r>
            <a:r>
              <a:rPr kumimoji="0" lang="zh-CN" altLang="en-US" sz="2400" b="1" dirty="0">
                <a:cs typeface="Times New Roman" panose="02020603050405020304" pitchFamily="18" charset="0"/>
              </a:rPr>
              <a:t>比较，得出结论。</a:t>
            </a:r>
          </a:p>
        </p:txBody>
      </p:sp>
    </p:spTree>
    <p:extLst>
      <p:ext uri="{BB962C8B-B14F-4D97-AF65-F5344CB8AC3E}">
        <p14:creationId xmlns:p14="http://schemas.microsoft.com/office/powerpoint/2010/main" val="373156159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33"/>
          <p:cNvSpPr txBox="1">
            <a:spLocks noChangeArrowheads="1"/>
          </p:cNvSpPr>
          <p:nvPr/>
        </p:nvSpPr>
        <p:spPr bwMode="auto">
          <a:xfrm>
            <a:off x="362359" y="260648"/>
            <a:ext cx="442566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3600" b="1" dirty="0">
                <a:solidFill>
                  <a:prstClr val="black"/>
                </a:solidFill>
                <a:latin typeface="Arial" charset="0"/>
                <a:ea typeface="微软雅黑" pitchFamily="34" charset="-122"/>
                <a:cs typeface="Arial" charset="0"/>
              </a:rPr>
              <a:t>数据处理</a:t>
            </a:r>
          </a:p>
        </p:txBody>
      </p:sp>
      <p:sp>
        <p:nvSpPr>
          <p:cNvPr id="27" name="矩形 26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直接连接符 14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-27664" y="6062157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2307" y="1638530"/>
            <a:ext cx="8354493" cy="3884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400" dirty="0"/>
              <a:t>1</a:t>
            </a:r>
            <a:r>
              <a:rPr lang="zh-CN" altLang="en-US" sz="2400" dirty="0"/>
              <a:t>、</a:t>
            </a:r>
            <a:r>
              <a:rPr lang="zh-CN" altLang="en-US" sz="2400" b="1" dirty="0"/>
              <a:t>反应级数和反应速度常数的计算</a:t>
            </a:r>
          </a:p>
          <a:p>
            <a:pPr>
              <a:lnSpc>
                <a:spcPct val="115000"/>
              </a:lnSpc>
            </a:pPr>
            <a:r>
              <a:rPr lang="zh-CN" altLang="en-US" sz="2400" dirty="0"/>
              <a:t>将反应速率表示式</a:t>
            </a:r>
            <a:r>
              <a:rPr lang="en-US" altLang="zh-CN" sz="2400" dirty="0">
                <a:cs typeface="Times New Roman" panose="02020603050405020304" pitchFamily="18" charset="0"/>
              </a:rPr>
              <a:t>v =k </a:t>
            </a:r>
            <a:r>
              <a:rPr lang="en-US" altLang="zh-CN" sz="2400" dirty="0">
                <a:latin typeface="宋体" panose="02010600030101010101" pitchFamily="2" charset="-122"/>
              </a:rPr>
              <a:t>·C</a:t>
            </a:r>
            <a:r>
              <a:rPr lang="en-US" altLang="zh-CN" sz="2400" baseline="30000" dirty="0"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dirty="0"/>
              <a:t>S</a:t>
            </a:r>
            <a:r>
              <a:rPr lang="en-US" altLang="zh-CN" sz="2400" baseline="-30000" dirty="0"/>
              <a:t>2</a:t>
            </a:r>
            <a:r>
              <a:rPr lang="en-US" altLang="zh-CN" sz="2400" dirty="0"/>
              <a:t>O</a:t>
            </a:r>
            <a:r>
              <a:rPr lang="en-US" altLang="zh-CN" sz="2400" baseline="-30000" dirty="0"/>
              <a:t>8</a:t>
            </a:r>
            <a:r>
              <a:rPr lang="en-US" altLang="zh-CN" sz="2400" baseline="30000" dirty="0"/>
              <a:t>2</a:t>
            </a:r>
            <a:r>
              <a:rPr lang="zh-CN" altLang="en-US" sz="24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2400" dirty="0"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宋体" panose="02010600030101010101" pitchFamily="2" charset="-122"/>
              </a:rPr>
              <a:t>·C</a:t>
            </a:r>
            <a:r>
              <a:rPr lang="en-US" altLang="zh-CN" sz="2400" baseline="30000" dirty="0"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宋体" panose="02010600030101010101" pitchFamily="2" charset="-122"/>
              </a:rPr>
              <a:t>(I</a:t>
            </a:r>
            <a:r>
              <a:rPr lang="en-US" altLang="zh-CN" sz="2400" baseline="30000" dirty="0">
                <a:latin typeface="宋体" panose="02010600030101010101" pitchFamily="2" charset="-122"/>
              </a:rPr>
              <a:t>-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>
                <a:latin typeface="宋体" panose="02010600030101010101" pitchFamily="2" charset="-122"/>
              </a:rPr>
              <a:t>两边取对数：</a:t>
            </a:r>
            <a:r>
              <a:rPr lang="en-US" altLang="zh-CN" sz="2400" dirty="0" err="1">
                <a:latin typeface="宋体" panose="02010600030101010101" pitchFamily="2" charset="-122"/>
              </a:rPr>
              <a:t>lg</a:t>
            </a:r>
            <a:r>
              <a:rPr lang="en-US" altLang="zh-CN" sz="2400" dirty="0" err="1">
                <a:cs typeface="Times New Roman" panose="02020603050405020304" pitchFamily="18" charset="0"/>
              </a:rPr>
              <a:t>v</a:t>
            </a:r>
            <a:r>
              <a:rPr lang="en-US" altLang="zh-CN" sz="2400" dirty="0">
                <a:cs typeface="Times New Roman" panose="02020603050405020304" pitchFamily="18" charset="0"/>
              </a:rPr>
              <a:t>=</a:t>
            </a:r>
            <a:r>
              <a:rPr lang="en-US" altLang="zh-CN" sz="2400" dirty="0" err="1">
                <a:cs typeface="Times New Roman" panose="02020603050405020304" pitchFamily="18" charset="0"/>
              </a:rPr>
              <a:t>m</a:t>
            </a:r>
            <a:r>
              <a:rPr lang="en-US" altLang="zh-CN" sz="2400" dirty="0" err="1">
                <a:latin typeface="宋体" panose="02010600030101010101" pitchFamily="2" charset="-122"/>
              </a:rPr>
              <a:t>lgC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dirty="0"/>
              <a:t>S</a:t>
            </a:r>
            <a:r>
              <a:rPr lang="en-US" altLang="zh-CN" sz="2400" baseline="-30000" dirty="0"/>
              <a:t>2</a:t>
            </a:r>
            <a:r>
              <a:rPr lang="en-US" altLang="zh-CN" sz="2400" dirty="0"/>
              <a:t>O</a:t>
            </a:r>
            <a:r>
              <a:rPr lang="en-US" altLang="zh-CN" sz="2400" baseline="-30000" dirty="0"/>
              <a:t>8</a:t>
            </a:r>
            <a:r>
              <a:rPr lang="en-US" altLang="zh-CN" sz="2400" baseline="30000" dirty="0"/>
              <a:t>2</a:t>
            </a:r>
            <a:r>
              <a:rPr lang="zh-CN" altLang="en-US" sz="24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2400" dirty="0">
                <a:cs typeface="Times New Roman" panose="02020603050405020304" pitchFamily="18" charset="0"/>
              </a:rPr>
              <a:t>)+</a:t>
            </a:r>
            <a:r>
              <a:rPr lang="en-US" altLang="zh-CN" sz="2400" dirty="0" err="1">
                <a:cs typeface="Times New Roman" panose="02020603050405020304" pitchFamily="18" charset="0"/>
              </a:rPr>
              <a:t>n</a:t>
            </a:r>
            <a:r>
              <a:rPr lang="en-US" altLang="zh-CN" sz="2400" dirty="0" err="1">
                <a:latin typeface="宋体" panose="02010600030101010101" pitchFamily="2" charset="-122"/>
              </a:rPr>
              <a:t>lgC</a:t>
            </a:r>
            <a:r>
              <a:rPr lang="en-US" altLang="zh-CN" sz="2400" dirty="0">
                <a:latin typeface="宋体" panose="02010600030101010101" pitchFamily="2" charset="-122"/>
              </a:rPr>
              <a:t>(I</a:t>
            </a:r>
            <a:r>
              <a:rPr lang="en-US" altLang="zh-CN" sz="2400" baseline="30000" dirty="0">
                <a:latin typeface="宋体" panose="02010600030101010101" pitchFamily="2" charset="-122"/>
              </a:rPr>
              <a:t>-</a:t>
            </a:r>
            <a:r>
              <a:rPr lang="en-US" altLang="zh-CN" sz="2400" dirty="0">
                <a:latin typeface="宋体" panose="02010600030101010101" pitchFamily="2" charset="-122"/>
              </a:rPr>
              <a:t>)+</a:t>
            </a:r>
            <a:r>
              <a:rPr lang="en-US" altLang="zh-CN" sz="2400" dirty="0" err="1">
                <a:latin typeface="宋体" panose="02010600030101010101" pitchFamily="2" charset="-122"/>
              </a:rPr>
              <a:t>lg</a:t>
            </a:r>
            <a:r>
              <a:rPr lang="en-US" altLang="zh-CN" sz="2400" dirty="0" err="1">
                <a:cs typeface="Times New Roman" panose="02020603050405020304" pitchFamily="18" charset="0"/>
              </a:rPr>
              <a:t>k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en-US" altLang="zh-CN" sz="2400" dirty="0"/>
              <a:t>      </a:t>
            </a:r>
            <a:r>
              <a:rPr lang="zh-CN" altLang="en-US" sz="2400" dirty="0"/>
              <a:t>当</a:t>
            </a:r>
            <a:r>
              <a:rPr lang="en-US" altLang="zh-CN" sz="2400" dirty="0"/>
              <a:t>C</a:t>
            </a:r>
            <a:r>
              <a:rPr lang="en-US" altLang="zh-CN" sz="2400" dirty="0">
                <a:latin typeface="宋体" panose="02010600030101010101" pitchFamily="2" charset="-122"/>
              </a:rPr>
              <a:t>(I</a:t>
            </a:r>
            <a:r>
              <a:rPr lang="en-US" altLang="zh-CN" sz="2400" baseline="30000" dirty="0">
                <a:latin typeface="宋体" panose="02010600030101010101" pitchFamily="2" charset="-122"/>
              </a:rPr>
              <a:t>-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/>
              <a:t>不变时（即实验</a:t>
            </a:r>
            <a:r>
              <a:rPr lang="en-US" altLang="zh-CN" sz="2400" dirty="0"/>
              <a:t>1</a:t>
            </a:r>
            <a:r>
              <a:rPr lang="zh-CN" altLang="en-US" sz="2400" dirty="0"/>
              <a:t>，</a:t>
            </a:r>
            <a:r>
              <a:rPr lang="en-US" altLang="zh-CN" sz="24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3</a:t>
            </a:r>
            <a:r>
              <a:rPr lang="zh-CN" altLang="en-US" sz="2400" dirty="0"/>
              <a:t>），以</a:t>
            </a:r>
            <a:r>
              <a:rPr lang="en-US" altLang="zh-CN" sz="2400" dirty="0" err="1">
                <a:latin typeface="宋体" panose="02010600030101010101" pitchFamily="2" charset="-122"/>
              </a:rPr>
              <a:t>lg</a:t>
            </a:r>
            <a:r>
              <a:rPr lang="en-US" altLang="zh-CN" sz="2400" dirty="0" err="1">
                <a:cs typeface="Times New Roman" panose="02020603050405020304" pitchFamily="18" charset="0"/>
              </a:rPr>
              <a:t>v</a:t>
            </a:r>
            <a:r>
              <a:rPr lang="zh-CN" altLang="en-US" sz="2400" dirty="0"/>
              <a:t>对</a:t>
            </a:r>
            <a:r>
              <a:rPr lang="en-US" altLang="zh-CN" sz="2400" dirty="0" err="1">
                <a:latin typeface="宋体" panose="02010600030101010101" pitchFamily="2" charset="-122"/>
              </a:rPr>
              <a:t>lgC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dirty="0"/>
              <a:t>S</a:t>
            </a:r>
            <a:r>
              <a:rPr lang="en-US" altLang="zh-CN" sz="2400" baseline="-30000" dirty="0"/>
              <a:t>2</a:t>
            </a:r>
            <a:r>
              <a:rPr lang="en-US" altLang="zh-CN" sz="2400" dirty="0"/>
              <a:t>O</a:t>
            </a:r>
            <a:r>
              <a:rPr lang="en-US" altLang="zh-CN" sz="2400" baseline="-30000" dirty="0"/>
              <a:t>8</a:t>
            </a:r>
            <a:r>
              <a:rPr lang="en-US" altLang="zh-CN" sz="2400" baseline="30000" dirty="0"/>
              <a:t>2</a:t>
            </a:r>
            <a:r>
              <a:rPr lang="zh-CN" altLang="en-US" sz="24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2400" dirty="0">
                <a:cs typeface="Times New Roman" panose="02020603050405020304" pitchFamily="18" charset="0"/>
              </a:rPr>
              <a:t>)</a:t>
            </a:r>
            <a:r>
              <a:rPr lang="zh-CN" altLang="en-US" sz="2400" dirty="0"/>
              <a:t>作图，可得一直线，斜率即为</a:t>
            </a:r>
            <a:r>
              <a:rPr lang="en-US" altLang="zh-CN" sz="2400" dirty="0"/>
              <a:t>m</a:t>
            </a:r>
            <a:r>
              <a:rPr lang="zh-CN" altLang="en-US" sz="2400" dirty="0"/>
              <a:t>。</a:t>
            </a:r>
          </a:p>
          <a:p>
            <a:pPr>
              <a:lnSpc>
                <a:spcPct val="115000"/>
              </a:lnSpc>
            </a:pPr>
            <a:r>
              <a:rPr lang="zh-CN" altLang="en-US" sz="2400" dirty="0"/>
              <a:t>      同理，当</a:t>
            </a:r>
            <a:r>
              <a:rPr lang="en-US" altLang="zh-CN" sz="2400" dirty="0"/>
              <a:t>C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dirty="0"/>
              <a:t>S</a:t>
            </a:r>
            <a:r>
              <a:rPr lang="en-US" altLang="zh-CN" sz="2400" baseline="-30000" dirty="0"/>
              <a:t>2</a:t>
            </a:r>
            <a:r>
              <a:rPr lang="en-US" altLang="zh-CN" sz="2400" dirty="0"/>
              <a:t>O</a:t>
            </a:r>
            <a:r>
              <a:rPr lang="en-US" altLang="zh-CN" sz="2400" baseline="-30000" dirty="0"/>
              <a:t>8</a:t>
            </a:r>
            <a:r>
              <a:rPr lang="en-US" altLang="zh-CN" sz="2400" baseline="30000" dirty="0"/>
              <a:t>2</a:t>
            </a:r>
            <a:r>
              <a:rPr lang="zh-CN" altLang="en-US" sz="24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2400" dirty="0">
                <a:cs typeface="Times New Roman" panose="02020603050405020304" pitchFamily="18" charset="0"/>
              </a:rPr>
              <a:t>)</a:t>
            </a:r>
            <a:r>
              <a:rPr lang="zh-CN" altLang="en-US" sz="2400" dirty="0"/>
              <a:t>不变时（即实验</a:t>
            </a:r>
            <a:r>
              <a:rPr lang="en-US" altLang="zh-CN" sz="2400" dirty="0"/>
              <a:t>1</a:t>
            </a:r>
            <a:r>
              <a:rPr lang="zh-CN" altLang="en-US" sz="2400" dirty="0"/>
              <a:t>，</a:t>
            </a:r>
            <a:r>
              <a:rPr lang="en-US" altLang="zh-CN" sz="2400" dirty="0"/>
              <a:t>4</a:t>
            </a:r>
            <a:r>
              <a:rPr lang="zh-CN" altLang="en-US" sz="2400" dirty="0"/>
              <a:t>，</a:t>
            </a:r>
            <a:r>
              <a:rPr lang="en-US" altLang="zh-CN" sz="2400" dirty="0"/>
              <a:t>5</a:t>
            </a:r>
            <a:r>
              <a:rPr lang="zh-CN" altLang="en-US" sz="2400" dirty="0"/>
              <a:t>），以</a:t>
            </a:r>
            <a:r>
              <a:rPr lang="en-US" altLang="zh-CN" sz="2400" dirty="0" err="1">
                <a:latin typeface="宋体" panose="02010600030101010101" pitchFamily="2" charset="-122"/>
              </a:rPr>
              <a:t>lg</a:t>
            </a:r>
            <a:r>
              <a:rPr lang="en-US" altLang="zh-CN" sz="2400" dirty="0" err="1">
                <a:cs typeface="Times New Roman" panose="02020603050405020304" pitchFamily="18" charset="0"/>
              </a:rPr>
              <a:t>v</a:t>
            </a:r>
            <a:r>
              <a:rPr lang="zh-CN" altLang="en-US" sz="2400" dirty="0"/>
              <a:t>对</a:t>
            </a:r>
            <a:r>
              <a:rPr lang="en-US" altLang="zh-CN" sz="2400" dirty="0" err="1">
                <a:latin typeface="宋体" panose="02010600030101010101" pitchFamily="2" charset="-122"/>
              </a:rPr>
              <a:t>lgC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latin typeface="宋体" panose="02010600030101010101" pitchFamily="2" charset="-122"/>
              </a:rPr>
              <a:t>I</a:t>
            </a:r>
            <a:r>
              <a:rPr lang="en-US" altLang="zh-CN" sz="2400" baseline="30000" dirty="0">
                <a:latin typeface="宋体" panose="02010600030101010101" pitchFamily="2" charset="-122"/>
              </a:rPr>
              <a:t>-</a:t>
            </a:r>
            <a:r>
              <a:rPr lang="en-US" altLang="zh-CN" sz="2400" dirty="0">
                <a:cs typeface="Times New Roman" panose="02020603050405020304" pitchFamily="18" charset="0"/>
              </a:rPr>
              <a:t>)</a:t>
            </a:r>
            <a:r>
              <a:rPr lang="en-US" altLang="zh-CN" sz="2400" dirty="0"/>
              <a:t> </a:t>
            </a:r>
            <a:r>
              <a:rPr lang="zh-CN" altLang="en-US" sz="2400" dirty="0"/>
              <a:t>作图，可求得</a:t>
            </a:r>
            <a:r>
              <a:rPr lang="en-US" altLang="zh-CN" sz="2400" dirty="0"/>
              <a:t>n</a:t>
            </a:r>
            <a:r>
              <a:rPr lang="zh-CN" altLang="en-US" sz="2400" dirty="0"/>
              <a:t>。此反应的级数则为</a:t>
            </a:r>
            <a:r>
              <a:rPr lang="en-US" altLang="zh-CN" sz="2400" dirty="0"/>
              <a:t>m+ n</a:t>
            </a:r>
            <a:r>
              <a:rPr lang="zh-CN" altLang="en-US" sz="2400" dirty="0"/>
              <a:t>。</a:t>
            </a:r>
          </a:p>
          <a:p>
            <a:pPr>
              <a:lnSpc>
                <a:spcPct val="115000"/>
              </a:lnSpc>
            </a:pPr>
            <a:r>
              <a:rPr lang="zh-CN" altLang="en-US" sz="2400" dirty="0"/>
              <a:t>      将求得的</a:t>
            </a:r>
            <a:r>
              <a:rPr lang="en-US" altLang="zh-CN" sz="2400" dirty="0"/>
              <a:t>m</a:t>
            </a:r>
            <a:r>
              <a:rPr lang="zh-CN" altLang="en-US" sz="2400" dirty="0"/>
              <a:t>和</a:t>
            </a:r>
            <a:r>
              <a:rPr lang="en-US" altLang="zh-CN" sz="2400" dirty="0"/>
              <a:t>n</a:t>
            </a:r>
            <a:r>
              <a:rPr lang="zh-CN" altLang="en-US" sz="2400" dirty="0"/>
              <a:t>代</a:t>
            </a:r>
            <a:r>
              <a:rPr lang="en-US" altLang="zh-CN" sz="2400" dirty="0">
                <a:cs typeface="Times New Roman" panose="02020603050405020304" pitchFamily="18" charset="0"/>
              </a:rPr>
              <a:t>v =</a:t>
            </a:r>
            <a:r>
              <a:rPr lang="en-US" altLang="zh-CN" sz="2400" dirty="0" err="1">
                <a:cs typeface="Times New Roman" panose="02020603050405020304" pitchFamily="18" charset="0"/>
              </a:rPr>
              <a:t>k</a:t>
            </a:r>
            <a:r>
              <a:rPr lang="en-US" altLang="zh-CN" sz="2400" dirty="0" err="1">
                <a:latin typeface="宋体" panose="02010600030101010101" pitchFamily="2" charset="-122"/>
              </a:rPr>
              <a:t>·C</a:t>
            </a:r>
            <a:r>
              <a:rPr lang="en-US" altLang="zh-CN" sz="2400" baseline="30000" dirty="0" err="1"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cs typeface="Times New Roman" panose="02020603050405020304" pitchFamily="18" charset="0"/>
              </a:rPr>
              <a:t>(</a:t>
            </a:r>
            <a:r>
              <a:rPr lang="en-US" altLang="zh-CN" sz="2400" dirty="0"/>
              <a:t>S</a:t>
            </a:r>
            <a:r>
              <a:rPr lang="en-US" altLang="zh-CN" sz="2400" baseline="-30000" dirty="0"/>
              <a:t>2</a:t>
            </a:r>
            <a:r>
              <a:rPr lang="en-US" altLang="zh-CN" sz="2400" dirty="0"/>
              <a:t>O</a:t>
            </a:r>
            <a:r>
              <a:rPr lang="en-US" altLang="zh-CN" sz="2400" baseline="-30000" dirty="0"/>
              <a:t>8</a:t>
            </a:r>
            <a:r>
              <a:rPr lang="en-US" altLang="zh-CN" sz="2400" baseline="30000" dirty="0"/>
              <a:t>2</a:t>
            </a:r>
            <a:r>
              <a:rPr lang="zh-CN" altLang="en-US" sz="2400" baseline="30000" dirty="0">
                <a:latin typeface="宋体" panose="02010600030101010101" pitchFamily="2" charset="-122"/>
              </a:rPr>
              <a:t>－</a:t>
            </a:r>
            <a:r>
              <a:rPr lang="en-US" altLang="zh-CN" sz="2400" dirty="0">
                <a:cs typeface="Times New Roman" panose="02020603050405020304" pitchFamily="18" charset="0"/>
              </a:rPr>
              <a:t>)</a:t>
            </a:r>
            <a:r>
              <a:rPr lang="en-US" altLang="zh-CN" sz="2400" dirty="0">
                <a:latin typeface="宋体" panose="02010600030101010101" pitchFamily="2" charset="-122"/>
              </a:rPr>
              <a:t>·C</a:t>
            </a:r>
            <a:r>
              <a:rPr lang="en-US" altLang="zh-CN" sz="2400" baseline="30000" dirty="0"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宋体" panose="02010600030101010101" pitchFamily="2" charset="-122"/>
              </a:rPr>
              <a:t>(I</a:t>
            </a:r>
            <a:r>
              <a:rPr lang="en-US" altLang="zh-CN" sz="2400" baseline="30000" dirty="0">
                <a:latin typeface="宋体" panose="02010600030101010101" pitchFamily="2" charset="-122"/>
              </a:rPr>
              <a:t>-</a:t>
            </a:r>
            <a:r>
              <a:rPr lang="en-US" altLang="zh-CN" sz="2400" dirty="0">
                <a:latin typeface="宋体" panose="02010600030101010101" pitchFamily="2" charset="-122"/>
              </a:rPr>
              <a:t>)</a:t>
            </a:r>
            <a:r>
              <a:rPr lang="zh-CN" altLang="en-US" sz="2400" dirty="0"/>
              <a:t>即可求得反应速度常数</a:t>
            </a:r>
            <a:r>
              <a:rPr lang="en-US" altLang="zh-CN" sz="2400" dirty="0"/>
              <a:t>k</a:t>
            </a:r>
            <a:r>
              <a:rPr lang="zh-CN" altLang="en-US" sz="2400" dirty="0"/>
              <a:t>。将数据填入表</a:t>
            </a:r>
            <a:r>
              <a:rPr lang="en-US" altLang="zh-CN" sz="2400" dirty="0"/>
              <a:t>3</a:t>
            </a:r>
            <a:r>
              <a:rPr lang="zh-CN" altLang="en-US" sz="2400" dirty="0"/>
              <a:t>中。 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907868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971600" y="406405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prstClr val="black"/>
                </a:solidFill>
                <a:latin typeface="Arial" charset="0"/>
                <a:ea typeface="微软雅黑" pitchFamily="34" charset="-122"/>
                <a:cs typeface="Arial" charset="0"/>
              </a:rPr>
              <a:t>数据处理</a:t>
            </a:r>
          </a:p>
        </p:txBody>
      </p:sp>
      <p:sp>
        <p:nvSpPr>
          <p:cNvPr id="24" name="矩形 23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直接连接符 14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0" y="6093296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53" y="2270874"/>
            <a:ext cx="8522947" cy="3853006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184966" y="1148259"/>
            <a:ext cx="64807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表 </a:t>
            </a:r>
            <a:r>
              <a:rPr lang="en-US" altLang="zh-CN" sz="2800" dirty="0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3 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反应级数和反应速率常数</a:t>
            </a:r>
            <a:r>
              <a:rPr kumimoji="1" lang="en-US" altLang="zh-CN" sz="2800" i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的求算</a:t>
            </a:r>
          </a:p>
        </p:txBody>
      </p:sp>
      <p:sp>
        <p:nvSpPr>
          <p:cNvPr id="18" name="Rectangle 59"/>
          <p:cNvSpPr>
            <a:spLocks noChangeArrowheads="1"/>
          </p:cNvSpPr>
          <p:nvPr/>
        </p:nvSpPr>
        <p:spPr bwMode="auto">
          <a:xfrm>
            <a:off x="1902299" y="1632024"/>
            <a:ext cx="44164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dirty="0" err="1">
                <a:solidFill>
                  <a:srgbClr val="0000FF"/>
                </a:solidFill>
                <a:cs typeface="Times New Roman" panose="02020603050405020304" pitchFamily="18" charset="0"/>
              </a:rPr>
              <a:t>lg</a:t>
            </a:r>
            <a:r>
              <a:rPr kumimoji="0" lang="en-US" altLang="zh-CN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ν</a:t>
            </a:r>
            <a:r>
              <a:rPr kumimoji="0" lang="en-US" altLang="zh-CN" i="1" dirty="0">
                <a:solidFill>
                  <a:srgbClr val="0000FF"/>
                </a:solidFill>
                <a:cs typeface="Times New Roman" panose="02020603050405020304" pitchFamily="18" charset="0"/>
              </a:rPr>
              <a:t>=</a:t>
            </a:r>
            <a:r>
              <a:rPr kumimoji="0" lang="en-US" altLang="zh-CN" sz="2400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m</a:t>
            </a:r>
            <a:r>
              <a:rPr kumimoji="0" lang="en-US" altLang="zh-CN" dirty="0" err="1">
                <a:solidFill>
                  <a:srgbClr val="0000FF"/>
                </a:solidFill>
                <a:cs typeface="Times New Roman" panose="02020603050405020304" pitchFamily="18" charset="0"/>
              </a:rPr>
              <a:t>lg</a:t>
            </a:r>
            <a:r>
              <a:rPr kumimoji="0" lang="en-US" altLang="zh-CN" i="1" dirty="0">
                <a:solidFill>
                  <a:srgbClr val="0000FF"/>
                </a:solidFill>
                <a:cs typeface="Times New Roman" panose="02020603050405020304" pitchFamily="18" charset="0"/>
              </a:rPr>
              <a:t> c</a:t>
            </a:r>
            <a:r>
              <a:rPr kumimoji="0" lang="en-US" altLang="zh-CN" sz="3200" i="1" baseline="-30000" dirty="0">
                <a:solidFill>
                  <a:srgbClr val="0000FF"/>
                </a:solidFill>
                <a:cs typeface="Times New Roman" panose="02020603050405020304" pitchFamily="18" charset="0"/>
              </a:rPr>
              <a:t> S</a:t>
            </a:r>
            <a:r>
              <a:rPr kumimoji="0" lang="en-US" altLang="zh-CN" sz="1600" i="1" baseline="-30000" dirty="0">
                <a:solidFill>
                  <a:srgbClr val="0000FF"/>
                </a:solidFill>
                <a:cs typeface="Times New Roman" panose="02020603050405020304" pitchFamily="18" charset="0"/>
              </a:rPr>
              <a:t>2</a:t>
            </a:r>
            <a:r>
              <a:rPr kumimoji="0" lang="en-US" altLang="zh-CN" sz="3200" i="1" baseline="-30000" dirty="0">
                <a:solidFill>
                  <a:srgbClr val="0000FF"/>
                </a:solidFill>
                <a:cs typeface="Times New Roman" panose="02020603050405020304" pitchFamily="18" charset="0"/>
              </a:rPr>
              <a:t>O</a:t>
            </a:r>
            <a:r>
              <a:rPr kumimoji="0" lang="en-US" altLang="zh-CN" sz="1600" i="1" baseline="-30000" dirty="0">
                <a:solidFill>
                  <a:srgbClr val="0000FF"/>
                </a:solidFill>
                <a:cs typeface="Times New Roman" panose="02020603050405020304" pitchFamily="18" charset="0"/>
              </a:rPr>
              <a:t>8</a:t>
            </a:r>
            <a:r>
              <a:rPr kumimoji="0" lang="en-US" altLang="zh-CN" i="1" baseline="-300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1400" i="1" baseline="300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2 </a:t>
            </a:r>
            <a:r>
              <a:rPr kumimoji="0" lang="en-US" altLang="zh-CN" sz="1200" i="1" baseline="300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-</a:t>
            </a:r>
            <a:r>
              <a:rPr kumimoji="0" lang="en-US" altLang="zh-CN" sz="2000" i="1" baseline="300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zh-CN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+</a:t>
            </a:r>
            <a:r>
              <a:rPr kumimoji="0" lang="en-US" altLang="zh-CN" sz="20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2400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n</a:t>
            </a:r>
            <a:r>
              <a:rPr kumimoji="0" lang="en-US" altLang="zh-CN" dirty="0" err="1">
                <a:solidFill>
                  <a:srgbClr val="0000FF"/>
                </a:solidFill>
                <a:cs typeface="Times New Roman" panose="02020603050405020304" pitchFamily="18" charset="0"/>
              </a:rPr>
              <a:t>lg</a:t>
            </a:r>
            <a:r>
              <a:rPr kumimoji="0" lang="en-US" altLang="zh-CN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c</a:t>
            </a:r>
            <a:r>
              <a:rPr kumimoji="0" lang="en-US" altLang="zh-CN" sz="2400" i="1" baseline="-300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zh-CN" sz="2400" i="1" baseline="-30000" dirty="0">
                <a:solidFill>
                  <a:srgbClr val="0000FF"/>
                </a:solidFill>
                <a:cs typeface="Times New Roman" panose="02020603050405020304" pitchFamily="18" charset="0"/>
              </a:rPr>
              <a:t>I</a:t>
            </a:r>
            <a:r>
              <a:rPr kumimoji="0" lang="en-US" altLang="zh-CN" sz="1800" i="1" baseline="30000" dirty="0">
                <a:solidFill>
                  <a:srgbClr val="0000FF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kumimoji="0" lang="en-US" altLang="zh-CN" sz="2000" baseline="30000" dirty="0">
                <a:solidFill>
                  <a:srgbClr val="0000FF"/>
                </a:solidFill>
                <a:latin typeface="MS Gothic" panose="020B0609070205080204" pitchFamily="49" charset="-128"/>
                <a:ea typeface="MS Gothic" panose="020B0609070205080204" pitchFamily="49" charset="-128"/>
                <a:cs typeface="Times New Roman" panose="02020603050405020304" pitchFamily="18" charset="0"/>
              </a:rPr>
              <a:t>-</a:t>
            </a:r>
            <a:r>
              <a:rPr kumimoji="0" lang="en-US" altLang="zh-CN" sz="3200" baseline="-300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zh-CN" baseline="-30000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zh-CN" dirty="0">
                <a:solidFill>
                  <a:srgbClr val="0000FF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+</a:t>
            </a:r>
            <a:r>
              <a:rPr kumimoji="0" lang="en-US" altLang="zh-CN" dirty="0" err="1">
                <a:solidFill>
                  <a:srgbClr val="0000FF"/>
                </a:solidFill>
                <a:cs typeface="Times New Roman" panose="02020603050405020304" pitchFamily="18" charset="0"/>
              </a:rPr>
              <a:t>lg</a:t>
            </a:r>
            <a:r>
              <a:rPr kumimoji="0" lang="en-US" altLang="zh-CN" i="1" dirty="0" err="1">
                <a:solidFill>
                  <a:srgbClr val="0000FF"/>
                </a:solidFill>
                <a:cs typeface="Times New Roman" panose="02020603050405020304" pitchFamily="18" charset="0"/>
              </a:rPr>
              <a:t>k</a:t>
            </a:r>
            <a:r>
              <a:rPr kumimoji="0" lang="en-US" altLang="zh-CN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C8D8E20-38BD-4250-BA84-FBB5014F424A}"/>
              </a:ext>
            </a:extLst>
          </p:cNvPr>
          <p:cNvSpPr txBox="1"/>
          <p:nvPr/>
        </p:nvSpPr>
        <p:spPr>
          <a:xfrm>
            <a:off x="3522638" y="2972805"/>
            <a:ext cx="73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A19BB49-2D74-4B83-9CA3-B7188C3A3C92}"/>
              </a:ext>
            </a:extLst>
          </p:cNvPr>
          <p:cNvSpPr txBox="1"/>
          <p:nvPr/>
        </p:nvSpPr>
        <p:spPr>
          <a:xfrm>
            <a:off x="5076056" y="2982729"/>
            <a:ext cx="73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-5.04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F125AFE-C167-4E7D-B8DC-7F172F5797A4}"/>
              </a:ext>
            </a:extLst>
          </p:cNvPr>
          <p:cNvSpPr txBox="1"/>
          <p:nvPr/>
        </p:nvSpPr>
        <p:spPr>
          <a:xfrm>
            <a:off x="6331821" y="2954555"/>
            <a:ext cx="73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-4.72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6CD57F2-38BA-46FC-8305-2F8D3454ACE4}"/>
              </a:ext>
            </a:extLst>
          </p:cNvPr>
          <p:cNvSpPr txBox="1"/>
          <p:nvPr/>
        </p:nvSpPr>
        <p:spPr>
          <a:xfrm>
            <a:off x="7618464" y="2917790"/>
            <a:ext cx="956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-5.00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086E0D2-E400-4F7C-A7F6-86591F6D8A5D}"/>
              </a:ext>
            </a:extLst>
          </p:cNvPr>
          <p:cNvSpPr txBox="1"/>
          <p:nvPr/>
        </p:nvSpPr>
        <p:spPr>
          <a:xfrm>
            <a:off x="2370875" y="3537105"/>
            <a:ext cx="73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-1.11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7E73915-DC8E-4355-A4B0-30E96A63AE7E}"/>
              </a:ext>
            </a:extLst>
          </p:cNvPr>
          <p:cNvSpPr txBox="1"/>
          <p:nvPr/>
        </p:nvSpPr>
        <p:spPr>
          <a:xfrm>
            <a:off x="3635896" y="3509423"/>
            <a:ext cx="73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-1.49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EADED9A-6BE8-4E24-B98A-91449F681F29}"/>
              </a:ext>
            </a:extLst>
          </p:cNvPr>
          <p:cNvSpPr txBox="1"/>
          <p:nvPr/>
        </p:nvSpPr>
        <p:spPr>
          <a:xfrm>
            <a:off x="4940452" y="3472999"/>
            <a:ext cx="73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-1.79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E7ED4C7-4DE9-4431-A3D9-4775F721F669}"/>
              </a:ext>
            </a:extLst>
          </p:cNvPr>
          <p:cNvSpPr txBox="1"/>
          <p:nvPr/>
        </p:nvSpPr>
        <p:spPr>
          <a:xfrm>
            <a:off x="6318724" y="3534114"/>
            <a:ext cx="73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-1.11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217E8F0-93E6-46BB-A623-A4F8DBBC990F}"/>
              </a:ext>
            </a:extLst>
          </p:cNvPr>
          <p:cNvSpPr txBox="1"/>
          <p:nvPr/>
        </p:nvSpPr>
        <p:spPr>
          <a:xfrm>
            <a:off x="7705985" y="3472999"/>
            <a:ext cx="73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-1.11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532320E-EDD9-4871-9472-FD31AA825547}"/>
              </a:ext>
            </a:extLst>
          </p:cNvPr>
          <p:cNvSpPr txBox="1"/>
          <p:nvPr/>
        </p:nvSpPr>
        <p:spPr>
          <a:xfrm>
            <a:off x="3627601" y="2992590"/>
            <a:ext cx="80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-4.70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1A3AC66-E352-47D0-998B-5357928D5EEB}"/>
              </a:ext>
            </a:extLst>
          </p:cNvPr>
          <p:cNvSpPr txBox="1"/>
          <p:nvPr/>
        </p:nvSpPr>
        <p:spPr>
          <a:xfrm>
            <a:off x="2339750" y="4006471"/>
            <a:ext cx="73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-1.11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FC04B8A-C59E-479D-BA86-D9739DDA7470}"/>
              </a:ext>
            </a:extLst>
          </p:cNvPr>
          <p:cNvSpPr txBox="1"/>
          <p:nvPr/>
        </p:nvSpPr>
        <p:spPr>
          <a:xfrm>
            <a:off x="3634732" y="4020319"/>
            <a:ext cx="73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-1.11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7BA6558-016B-4E43-9545-22BAD3D2AD1F}"/>
              </a:ext>
            </a:extLst>
          </p:cNvPr>
          <p:cNvSpPr txBox="1"/>
          <p:nvPr/>
        </p:nvSpPr>
        <p:spPr>
          <a:xfrm>
            <a:off x="4940452" y="4029889"/>
            <a:ext cx="73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-1.11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B930393-5CE2-44EE-B524-656AABDAF23C}"/>
              </a:ext>
            </a:extLst>
          </p:cNvPr>
          <p:cNvSpPr txBox="1"/>
          <p:nvPr/>
        </p:nvSpPr>
        <p:spPr>
          <a:xfrm>
            <a:off x="6292641" y="3983701"/>
            <a:ext cx="73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4EF2F5E-362F-45A8-BA12-6DEB51938418}"/>
              </a:ext>
            </a:extLst>
          </p:cNvPr>
          <p:cNvSpPr txBox="1"/>
          <p:nvPr/>
        </p:nvSpPr>
        <p:spPr>
          <a:xfrm>
            <a:off x="7620000" y="4053306"/>
            <a:ext cx="73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3568EA6-8154-4B8F-BE77-8F3D95545AAA}"/>
              </a:ext>
            </a:extLst>
          </p:cNvPr>
          <p:cNvSpPr txBox="1"/>
          <p:nvPr/>
        </p:nvSpPr>
        <p:spPr>
          <a:xfrm>
            <a:off x="2263053" y="5528965"/>
            <a:ext cx="888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0.0135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D7819B2-5FB4-4814-AD81-2A31123CAFB3}"/>
              </a:ext>
            </a:extLst>
          </p:cNvPr>
          <p:cNvSpPr txBox="1"/>
          <p:nvPr/>
        </p:nvSpPr>
        <p:spPr>
          <a:xfrm>
            <a:off x="3672422" y="5549106"/>
            <a:ext cx="937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0.0188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EEBE209-5481-4EFE-9C52-9B86D6753E17}"/>
              </a:ext>
            </a:extLst>
          </p:cNvPr>
          <p:cNvSpPr txBox="1"/>
          <p:nvPr/>
        </p:nvSpPr>
        <p:spPr>
          <a:xfrm>
            <a:off x="4922933" y="5574206"/>
            <a:ext cx="925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0.0186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283B173-6EED-4F48-8579-26CAE3017979}"/>
              </a:ext>
            </a:extLst>
          </p:cNvPr>
          <p:cNvSpPr txBox="1"/>
          <p:nvPr/>
        </p:nvSpPr>
        <p:spPr>
          <a:xfrm>
            <a:off x="6331821" y="5556678"/>
            <a:ext cx="937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0.0197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FE129E1-40C9-4FCF-A7CC-A4A65410278F}"/>
              </a:ext>
            </a:extLst>
          </p:cNvPr>
          <p:cNvSpPr txBox="1"/>
          <p:nvPr/>
        </p:nvSpPr>
        <p:spPr>
          <a:xfrm>
            <a:off x="7619999" y="5539761"/>
            <a:ext cx="821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0.0234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B4709CC-5254-42B7-98AC-FD582E0A538E}"/>
              </a:ext>
            </a:extLst>
          </p:cNvPr>
          <p:cNvSpPr txBox="1"/>
          <p:nvPr/>
        </p:nvSpPr>
        <p:spPr>
          <a:xfrm>
            <a:off x="2339750" y="4506333"/>
            <a:ext cx="2103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1.1049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741D84A-6EB5-42E0-84D2-905A13B40F6F}"/>
              </a:ext>
            </a:extLst>
          </p:cNvPr>
          <p:cNvSpPr txBox="1"/>
          <p:nvPr/>
        </p:nvSpPr>
        <p:spPr>
          <a:xfrm>
            <a:off x="2309570" y="2979245"/>
            <a:ext cx="903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-4.43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7880AD0-70C8-4570-8774-BDA02753E8B9}"/>
              </a:ext>
            </a:extLst>
          </p:cNvPr>
          <p:cNvSpPr txBox="1"/>
          <p:nvPr/>
        </p:nvSpPr>
        <p:spPr>
          <a:xfrm>
            <a:off x="6318724" y="3998255"/>
            <a:ext cx="73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-1.49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BEE3053-C9FB-4712-A0C2-95CF39B85B27}"/>
              </a:ext>
            </a:extLst>
          </p:cNvPr>
          <p:cNvSpPr txBox="1"/>
          <p:nvPr/>
        </p:nvSpPr>
        <p:spPr>
          <a:xfrm>
            <a:off x="7705985" y="3966217"/>
            <a:ext cx="735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-1.79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391DB50-476B-42C6-B3DA-B9E7ED8CCD7A}"/>
              </a:ext>
            </a:extLst>
          </p:cNvPr>
          <p:cNvSpPr txBox="1"/>
          <p:nvPr/>
        </p:nvSpPr>
        <p:spPr>
          <a:xfrm>
            <a:off x="2339750" y="4864885"/>
            <a:ext cx="2103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1.1937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055629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179512" y="179065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prstClr val="black"/>
                </a:solidFill>
                <a:latin typeface="Arial" charset="0"/>
                <a:ea typeface="微软雅黑" pitchFamily="34" charset="-122"/>
                <a:cs typeface="Arial" charset="0"/>
              </a:rPr>
              <a:t>数据处理</a:t>
            </a:r>
          </a:p>
        </p:txBody>
      </p:sp>
      <p:sp>
        <p:nvSpPr>
          <p:cNvPr id="24" name="矩形 23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直接连接符 14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0" y="6093296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5576" y="1593466"/>
            <a:ext cx="7920880" cy="4659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反应速率常数</a:t>
            </a:r>
            <a:r>
              <a:rPr kumimoji="1" lang="en-US" altLang="zh-CN" sz="2800" i="1" kern="0" dirty="0">
                <a:solidFill>
                  <a:srgbClr val="000000"/>
                </a:solidFill>
                <a:latin typeface="Times New Roman"/>
                <a:ea typeface="宋体"/>
              </a:rPr>
              <a:t>k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与温度</a:t>
            </a:r>
            <a:r>
              <a:rPr kumimoji="1" lang="en-US" altLang="zh-CN" sz="2800" i="1" kern="0" dirty="0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之间的关系为：</a:t>
            </a:r>
          </a:p>
          <a:p>
            <a:pPr lvl="0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                  </a:t>
            </a:r>
            <a:r>
              <a:rPr kumimoji="1" lang="en-US" altLang="zh-CN" sz="2800" kern="0" dirty="0" err="1">
                <a:solidFill>
                  <a:srgbClr val="000000"/>
                </a:solidFill>
                <a:latin typeface="Times New Roman"/>
                <a:ea typeface="宋体"/>
              </a:rPr>
              <a:t>lg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kumimoji="1" lang="en-US" altLang="zh-CN" sz="2800" i="1" kern="0" dirty="0">
                <a:solidFill>
                  <a:srgbClr val="000000"/>
                </a:solidFill>
                <a:latin typeface="Times New Roman"/>
                <a:ea typeface="宋体"/>
              </a:rPr>
              <a:t>k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=A-</a:t>
            </a:r>
            <a:r>
              <a:rPr kumimoji="1" lang="en-US" altLang="zh-CN" sz="2800" kern="0" dirty="0" err="1">
                <a:solidFill>
                  <a:srgbClr val="000000"/>
                </a:solidFill>
                <a:latin typeface="Times New Roman"/>
                <a:ea typeface="宋体"/>
              </a:rPr>
              <a:t>E</a:t>
            </a:r>
            <a:r>
              <a:rPr kumimoji="1" lang="en-US" altLang="zh-CN" sz="2800" kern="0" baseline="-2500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/2.30RT</a:t>
            </a:r>
          </a:p>
          <a:p>
            <a:pPr lvl="0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       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式中</a:t>
            </a:r>
            <a:r>
              <a:rPr kumimoji="1" lang="en-US" altLang="zh-CN" sz="2800" kern="0" dirty="0" err="1">
                <a:solidFill>
                  <a:srgbClr val="000000"/>
                </a:solidFill>
                <a:latin typeface="Times New Roman"/>
                <a:ea typeface="宋体"/>
              </a:rPr>
              <a:t>E</a:t>
            </a:r>
            <a:r>
              <a:rPr kumimoji="1" lang="en-US" altLang="zh-CN" sz="2800" kern="0" baseline="-2500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为反应的活化能，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R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为摩尔气体常数，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为热力学温度。测出不同温度时的</a:t>
            </a:r>
            <a:r>
              <a:rPr kumimoji="1" lang="en-US" altLang="zh-CN" sz="2800" i="1" kern="0" dirty="0">
                <a:solidFill>
                  <a:srgbClr val="000000"/>
                </a:solidFill>
                <a:latin typeface="Times New Roman"/>
                <a:ea typeface="宋体"/>
              </a:rPr>
              <a:t>k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值，以</a:t>
            </a:r>
            <a:r>
              <a:rPr kumimoji="1" lang="en-US" altLang="zh-CN" sz="2800" kern="0" dirty="0" err="1">
                <a:solidFill>
                  <a:srgbClr val="000000"/>
                </a:solidFill>
                <a:latin typeface="Times New Roman"/>
                <a:ea typeface="宋体"/>
              </a:rPr>
              <a:t>lg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 </a:t>
            </a:r>
            <a:r>
              <a:rPr kumimoji="1" lang="en-US" altLang="zh-CN" sz="2800" i="1" kern="0" dirty="0">
                <a:solidFill>
                  <a:srgbClr val="000000"/>
                </a:solidFill>
                <a:latin typeface="Times New Roman"/>
                <a:ea typeface="宋体"/>
              </a:rPr>
              <a:t>k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对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1/T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作图，可得一直线。由直线斜率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(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等于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-</a:t>
            </a:r>
            <a:r>
              <a:rPr kumimoji="1" lang="en-US" altLang="zh-CN" sz="2800" kern="0" dirty="0" err="1">
                <a:solidFill>
                  <a:srgbClr val="000000"/>
                </a:solidFill>
                <a:latin typeface="Times New Roman"/>
                <a:ea typeface="宋体"/>
              </a:rPr>
              <a:t>E</a:t>
            </a:r>
            <a:r>
              <a:rPr kumimoji="1" lang="en-US" altLang="zh-CN" sz="2800" kern="0" baseline="-2500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/2.30R)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可求得反应的活化能</a:t>
            </a:r>
            <a:r>
              <a:rPr kumimoji="1" lang="en-US" altLang="zh-CN" sz="2800" kern="0" dirty="0" err="1">
                <a:solidFill>
                  <a:srgbClr val="000000"/>
                </a:solidFill>
                <a:latin typeface="Times New Roman"/>
                <a:ea typeface="宋体"/>
              </a:rPr>
              <a:t>E</a:t>
            </a:r>
            <a:r>
              <a:rPr kumimoji="1" lang="en-US" altLang="zh-CN" sz="2800" kern="0" baseline="-25000" dirty="0" err="1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kumimoji="1" lang="zh-CN" altLang="en-US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。</a:t>
            </a:r>
          </a:p>
          <a:p>
            <a:pPr lvl="0" fontAlgn="base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</a:pPr>
            <a:r>
              <a:rPr kumimoji="1" lang="zh-CN" altLang="en-US" sz="2800" b="1" kern="0" dirty="0">
                <a:solidFill>
                  <a:srgbClr val="000000"/>
                </a:solidFill>
                <a:latin typeface="Times New Roman"/>
                <a:ea typeface="宋体"/>
              </a:rPr>
              <a:t>注意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：凡是作直线求斜率的数据处理，也可以用两点坐标通过计算求得。</a:t>
            </a: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388491" y="1125315"/>
            <a:ext cx="77724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3200" b="1"/>
              <a:t>2</a:t>
            </a:r>
            <a:r>
              <a:rPr lang="zh-CN" altLang="en-US" sz="3200" b="1"/>
              <a:t>、反应活化能的计算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8369263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179512" y="179065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prstClr val="black"/>
                </a:solidFill>
                <a:latin typeface="Arial" charset="0"/>
                <a:ea typeface="微软雅黑" pitchFamily="34" charset="-122"/>
                <a:cs typeface="Arial" charset="0"/>
              </a:rPr>
              <a:t>数据处理</a:t>
            </a:r>
          </a:p>
        </p:txBody>
      </p:sp>
      <p:sp>
        <p:nvSpPr>
          <p:cNvPr id="24" name="矩形 23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直接连接符 14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0314" y="5805264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403179" y="1356164"/>
            <a:ext cx="7772400" cy="762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3200">
                <a:latin typeface="宋体" panose="02010600030101010101" pitchFamily="2" charset="-122"/>
              </a:rPr>
              <a:t>表</a:t>
            </a:r>
            <a:r>
              <a:rPr lang="en-US" altLang="zh-CN" sz="3200" dirty="0">
                <a:latin typeface="宋体" panose="02010600030101010101" pitchFamily="2" charset="-122"/>
              </a:rPr>
              <a:t>4   </a:t>
            </a:r>
            <a:r>
              <a:rPr lang="zh-CN" altLang="en-US" sz="3200" dirty="0">
                <a:latin typeface="宋体" panose="02010600030101010101" pitchFamily="2" charset="-122"/>
              </a:rPr>
              <a:t>活化能</a:t>
            </a:r>
            <a:r>
              <a:rPr lang="en-US" altLang="zh-CN" sz="3200" dirty="0" err="1">
                <a:latin typeface="宋体" panose="02010600030101010101" pitchFamily="2" charset="-122"/>
              </a:rPr>
              <a:t>E</a:t>
            </a:r>
            <a:r>
              <a:rPr lang="en-US" altLang="zh-CN" sz="3200" baseline="-25000" dirty="0" err="1">
                <a:latin typeface="宋体" panose="02010600030101010101" pitchFamily="2" charset="-122"/>
              </a:rPr>
              <a:t>a</a:t>
            </a:r>
            <a:r>
              <a:rPr lang="zh-CN" altLang="en-US" sz="3200" dirty="0">
                <a:latin typeface="宋体" panose="02010600030101010101" pitchFamily="2" charset="-122"/>
              </a:rPr>
              <a:t>的求算</a:t>
            </a:r>
            <a:endParaRPr lang="zh-CN" altLang="en-US" sz="3200" b="1" dirty="0"/>
          </a:p>
        </p:txBody>
      </p:sp>
      <p:graphicFrame>
        <p:nvGraphicFramePr>
          <p:cNvPr id="19" name="Group 18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0199539"/>
              </p:ext>
            </p:extLst>
          </p:nvPr>
        </p:nvGraphicFramePr>
        <p:xfrm>
          <a:off x="676999" y="2118164"/>
          <a:ext cx="7772400" cy="3614928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3892914130"/>
                    </a:ext>
                  </a:extLst>
                </a:gridCol>
                <a:gridCol w="1942962">
                  <a:extLst>
                    <a:ext uri="{9D8B030D-6E8A-4147-A177-3AD203B41FA5}">
                      <a16:colId xmlns:a16="http://schemas.microsoft.com/office/drawing/2014/main" val="3061851918"/>
                    </a:ext>
                  </a:extLst>
                </a:gridCol>
                <a:gridCol w="1943238">
                  <a:extLst>
                    <a:ext uri="{9D8B030D-6E8A-4147-A177-3AD203B41FA5}">
                      <a16:colId xmlns:a16="http://schemas.microsoft.com/office/drawing/2014/main" val="3755422418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983974900"/>
                    </a:ext>
                  </a:extLst>
                </a:gridCol>
              </a:tblGrid>
              <a:tr h="484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实验编号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982414"/>
                  </a:ext>
                </a:extLst>
              </a:tr>
              <a:tr h="4302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反应速率常数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endParaRPr kumimoji="1" lang="zh-CN" altLang="en-US" sz="20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0.0011 0.0107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0.0033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0.0197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0.0072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0.0427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909418"/>
                  </a:ext>
                </a:extLst>
              </a:tr>
              <a:tr h="4302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lg</a:t>
                      </a: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-2.959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-1.97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-2.481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-1.706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-2.143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-1.369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754552"/>
                  </a:ext>
                </a:extLst>
              </a:tr>
              <a:tr h="4286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1∕T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0.00319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0.00310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0.00300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48641"/>
                  </a:ext>
                </a:extLst>
              </a:tr>
              <a:tr h="457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活化能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60.6</a:t>
                      </a:r>
                      <a:r>
                        <a:rPr lang="en-US" altLang="zh-CN" dirty="0"/>
                        <a:t>kJ·moL</a:t>
                      </a:r>
                      <a:r>
                        <a:rPr lang="en-US" altLang="zh-CN" baseline="30000" dirty="0"/>
                        <a:t>-1</a:t>
                      </a: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183481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935041" y="6113082"/>
            <a:ext cx="50513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（备注：该反应的活化能理论值为</a:t>
            </a:r>
            <a:r>
              <a:rPr lang="en-US" altLang="zh-CN" dirty="0"/>
              <a:t>51.8kJ·moL</a:t>
            </a:r>
            <a:r>
              <a:rPr lang="en-US" altLang="zh-CN" baseline="30000" dirty="0"/>
              <a:t>-1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9538688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179512" y="179065"/>
            <a:ext cx="203132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prstClr val="black"/>
                </a:solidFill>
                <a:latin typeface="Arial" charset="0"/>
                <a:ea typeface="微软雅黑" pitchFamily="34" charset="-122"/>
                <a:cs typeface="Arial" charset="0"/>
              </a:rPr>
              <a:t>注意事项</a:t>
            </a:r>
          </a:p>
        </p:txBody>
      </p:sp>
      <p:sp>
        <p:nvSpPr>
          <p:cNvPr id="24" name="矩形 23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直接连接符 14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0" y="6093296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395536" y="1205602"/>
            <a:ext cx="8121263" cy="473482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1</a:t>
            </a:r>
            <a:r>
              <a:rPr lang="zh-CN" altLang="en-US" sz="2800" dirty="0"/>
              <a:t>、严格按照合理顺序混合药品；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2</a:t>
            </a:r>
            <a:r>
              <a:rPr lang="zh-CN" altLang="en-US" sz="2800" dirty="0"/>
              <a:t>、取用药品要用专用量筒，不可混用；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3</a:t>
            </a:r>
            <a:r>
              <a:rPr lang="zh-CN" altLang="en-US" sz="2800" dirty="0"/>
              <a:t>、加入 </a:t>
            </a:r>
            <a:r>
              <a:rPr lang="en-US" altLang="zh-CN" sz="2800" dirty="0">
                <a:cs typeface="Times New Roman" panose="02020603050405020304" pitchFamily="18" charset="0"/>
              </a:rPr>
              <a:t>(NH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cs typeface="Times New Roman" panose="02020603050405020304" pitchFamily="18" charset="0"/>
              </a:rPr>
              <a:t>)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cs typeface="Times New Roman" panose="02020603050405020304" pitchFamily="18" charset="0"/>
              </a:rPr>
              <a:t>S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cs typeface="Times New Roman" panose="02020603050405020304" pitchFamily="18" charset="0"/>
              </a:rPr>
              <a:t>O</a:t>
            </a:r>
            <a:r>
              <a:rPr lang="en-US" altLang="zh-CN" sz="2800" baseline="-30000" dirty="0">
                <a:cs typeface="Times New Roman" panose="02020603050405020304" pitchFamily="18" charset="0"/>
              </a:rPr>
              <a:t>8</a:t>
            </a:r>
            <a:r>
              <a:rPr lang="zh-CN" altLang="en-US" sz="2800" dirty="0">
                <a:cs typeface="Times New Roman" panose="02020603050405020304" pitchFamily="18" charset="0"/>
              </a:rPr>
              <a:t>溶液</a:t>
            </a:r>
            <a:r>
              <a:rPr lang="zh-CN" altLang="en-US" sz="2800" dirty="0"/>
              <a:t>的</a:t>
            </a:r>
            <a:r>
              <a:rPr lang="zh-CN" altLang="en-US" sz="2800" dirty="0">
                <a:cs typeface="Times New Roman" panose="02020603050405020304" pitchFamily="18" charset="0"/>
              </a:rPr>
              <a:t>同时</a:t>
            </a:r>
            <a:r>
              <a:rPr lang="zh-CN" altLang="en-US" sz="2800" dirty="0"/>
              <a:t>记录时间，</a:t>
            </a:r>
            <a:r>
              <a:rPr lang="zh-CN" altLang="en-US" sz="2800" dirty="0">
                <a:cs typeface="Times New Roman" panose="02020603050405020304" pitchFamily="18" charset="0"/>
              </a:rPr>
              <a:t>按动       秒表计时</a:t>
            </a:r>
            <a:r>
              <a:rPr lang="zh-CN" altLang="en-US" sz="2800" dirty="0"/>
              <a:t>；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cs typeface="Times New Roman" panose="02020603050405020304" pitchFamily="18" charset="0"/>
              </a:rPr>
              <a:t>4</a:t>
            </a:r>
            <a:r>
              <a:rPr lang="zh-CN" altLang="en-US" sz="2800" dirty="0"/>
              <a:t>、反应过程中要</a:t>
            </a:r>
            <a:r>
              <a:rPr lang="zh-CN" altLang="en-US" sz="2800" dirty="0">
                <a:cs typeface="Times New Roman" panose="02020603050405020304" pitchFamily="18" charset="0"/>
              </a:rPr>
              <a:t>用玻璃棒</a:t>
            </a:r>
            <a:r>
              <a:rPr lang="zh-CN" altLang="en-US" sz="2800" dirty="0"/>
              <a:t>不断</a:t>
            </a:r>
            <a:r>
              <a:rPr lang="zh-CN" altLang="en-US" sz="2800" dirty="0">
                <a:cs typeface="Times New Roman" panose="02020603050405020304" pitchFamily="18" charset="0"/>
              </a:rPr>
              <a:t>搅拌；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cs typeface="Times New Roman" panose="02020603050405020304" pitchFamily="18" charset="0"/>
              </a:rPr>
              <a:t>5</a:t>
            </a:r>
            <a:r>
              <a:rPr lang="zh-CN" altLang="en-US" sz="2800" dirty="0"/>
              <a:t>、认真</a:t>
            </a:r>
            <a:r>
              <a:rPr lang="zh-CN" altLang="en-US" sz="2800" dirty="0">
                <a:cs typeface="Times New Roman" panose="02020603050405020304" pitchFamily="18" charset="0"/>
              </a:rPr>
              <a:t>观察溶液，刚一出现蓝色立即停止计时</a:t>
            </a:r>
            <a:r>
              <a:rPr lang="zh-CN" altLang="en-US" sz="2800" dirty="0"/>
              <a:t>，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      </a:t>
            </a:r>
            <a:r>
              <a:rPr lang="zh-CN" altLang="en-US" sz="2800" dirty="0">
                <a:cs typeface="Times New Roman" panose="02020603050405020304" pitchFamily="18" charset="0"/>
              </a:rPr>
              <a:t>记录反应时间</a:t>
            </a:r>
            <a:r>
              <a:rPr lang="zh-CN" altLang="en-US" sz="2800" dirty="0"/>
              <a:t>；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cs typeface="Times New Roman" panose="02020603050405020304" pitchFamily="18" charset="0"/>
              </a:rPr>
              <a:t>6</a:t>
            </a:r>
            <a:r>
              <a:rPr lang="zh-CN" altLang="en-US" sz="2800" dirty="0"/>
              <a:t>、填好表</a:t>
            </a:r>
            <a:r>
              <a:rPr lang="en-US" altLang="zh-CN" sz="2800" dirty="0"/>
              <a:t>1</a:t>
            </a:r>
            <a:r>
              <a:rPr lang="zh-CN" altLang="en-US" sz="2800" dirty="0"/>
              <a:t>中的有关内容；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7</a:t>
            </a:r>
            <a:r>
              <a:rPr lang="zh-CN" altLang="en-US" sz="2800" dirty="0"/>
              <a:t>、严格按照升温方法操作；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8</a:t>
            </a:r>
            <a:r>
              <a:rPr lang="zh-CN" altLang="en-US" sz="2800" dirty="0"/>
              <a:t>、填写表</a:t>
            </a:r>
            <a:r>
              <a:rPr lang="en-US" altLang="zh-CN" sz="2800" dirty="0"/>
              <a:t>2</a:t>
            </a:r>
            <a:r>
              <a:rPr lang="zh-CN" altLang="en-US" sz="2800" dirty="0"/>
              <a:t>的有关内容；</a:t>
            </a:r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11794526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>
            <a:off x="179512" y="179065"/>
            <a:ext cx="156966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3600" b="1" dirty="0">
                <a:solidFill>
                  <a:prstClr val="black"/>
                </a:solidFill>
                <a:latin typeface="Arial" charset="0"/>
                <a:ea typeface="微软雅黑" pitchFamily="34" charset="-122"/>
                <a:cs typeface="Arial" charset="0"/>
              </a:rPr>
              <a:t>思考题</a:t>
            </a:r>
          </a:p>
        </p:txBody>
      </p:sp>
      <p:sp>
        <p:nvSpPr>
          <p:cNvPr id="24" name="矩形 23"/>
          <p:cNvSpPr/>
          <p:nvPr/>
        </p:nvSpPr>
        <p:spPr>
          <a:xfrm>
            <a:off x="-17601" y="908720"/>
            <a:ext cx="9144000" cy="7143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0" y="1052736"/>
            <a:ext cx="684076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38"/>
          <p:cNvSpPr>
            <a:spLocks noGrp="1"/>
          </p:cNvSpPr>
          <p:nvPr>
            <p:ph type="sldNum" sz="quarter" idx="12"/>
          </p:nvPr>
        </p:nvSpPr>
        <p:spPr>
          <a:xfrm>
            <a:off x="6553200" y="6284342"/>
            <a:ext cx="2133600" cy="365125"/>
          </a:xfrm>
        </p:spPr>
        <p:txBody>
          <a:bodyPr/>
          <a:lstStyle/>
          <a:p>
            <a:pPr>
              <a:defRPr/>
            </a:pPr>
            <a:fld id="{A9CD0653-B57C-402F-B171-F55E7EFC9E39}" type="slidenum">
              <a:rPr lang="zh-CN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2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957"/>
          <a:stretch/>
        </p:blipFill>
        <p:spPr bwMode="auto">
          <a:xfrm>
            <a:off x="96609" y="6093296"/>
            <a:ext cx="3611381" cy="59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27"/>
          <a:stretch/>
        </p:blipFill>
        <p:spPr bwMode="auto">
          <a:xfrm>
            <a:off x="3563888" y="6093296"/>
            <a:ext cx="3096344" cy="612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40"/>
          <a:stretch/>
        </p:blipFill>
        <p:spPr bwMode="auto">
          <a:xfrm>
            <a:off x="6660232" y="6093296"/>
            <a:ext cx="2423454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直接连接符 14"/>
          <p:cNvCxnSpPr/>
          <p:nvPr/>
        </p:nvCxnSpPr>
        <p:spPr>
          <a:xfrm>
            <a:off x="-17601" y="6679089"/>
            <a:ext cx="9161601" cy="0"/>
          </a:xfrm>
          <a:prstGeom prst="line">
            <a:avLst/>
          </a:prstGeom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0" y="6093296"/>
            <a:ext cx="9144000" cy="648072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/>
          <p:cNvSpPr/>
          <p:nvPr/>
        </p:nvSpPr>
        <p:spPr>
          <a:xfrm>
            <a:off x="2771800" y="6741368"/>
            <a:ext cx="6372199" cy="54864"/>
          </a:xfrm>
          <a:prstGeom prst="rect">
            <a:avLst/>
          </a:prstGeom>
          <a:solidFill>
            <a:srgbClr val="FF6600">
              <a:alpha val="73000"/>
            </a:srgbClr>
          </a:solidFill>
          <a:ln w="28575"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3568" y="1580386"/>
            <a:ext cx="7389293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kumimoji="1" lang="en-US" altLang="zh-CN" sz="2800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1.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反应液中为什么加入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KNO</a:t>
            </a:r>
            <a:r>
              <a:rPr kumimoji="1"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3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、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(NH</a:t>
            </a:r>
            <a:r>
              <a:rPr kumimoji="1"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4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kumimoji="1"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2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SO</a:t>
            </a:r>
            <a:r>
              <a:rPr kumimoji="1"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4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溶液？ 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2.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为什么要先加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KI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溶液再加（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NH</a:t>
            </a:r>
            <a:r>
              <a:rPr kumimoji="1"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4</a:t>
            </a:r>
            <a:r>
              <a:rPr kumimoji="1" lang="en-US" altLang="zh-CN" sz="2800" kern="0" dirty="0">
                <a:solidFill>
                  <a:srgbClr val="000000"/>
                </a:solidFill>
                <a:latin typeface="宋体" panose="02010600030101010101" pitchFamily="2" charset="-122"/>
                <a:ea typeface="宋体"/>
              </a:rPr>
              <a:t>)</a:t>
            </a:r>
            <a:r>
              <a:rPr kumimoji="1"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2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S</a:t>
            </a:r>
            <a:r>
              <a:rPr kumimoji="1"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2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O</a:t>
            </a:r>
            <a:r>
              <a:rPr kumimoji="1"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8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溶液？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3.(NH</a:t>
            </a:r>
            <a:r>
              <a:rPr kumimoji="1"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4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kumimoji="1"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2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S</a:t>
            </a:r>
            <a:r>
              <a:rPr kumimoji="1"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2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O</a:t>
            </a:r>
            <a:r>
              <a:rPr kumimoji="1"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8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缓慢加入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KI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等混合溶液中，对实验有何影响？ 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</a:pP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4.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催化剂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Cu(NO</a:t>
            </a:r>
            <a:r>
              <a:rPr kumimoji="1"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3</a:t>
            </a:r>
            <a:r>
              <a:rPr kumimoji="1"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)</a:t>
            </a:r>
            <a:r>
              <a:rPr kumimoji="1"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2</a:t>
            </a:r>
            <a:r>
              <a:rPr kumimoji="1"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为何能够加快该化学反应的速率？ </a:t>
            </a:r>
          </a:p>
        </p:txBody>
      </p:sp>
    </p:spTree>
    <p:extLst>
      <p:ext uri="{BB962C8B-B14F-4D97-AF65-F5344CB8AC3E}">
        <p14:creationId xmlns:p14="http://schemas.microsoft.com/office/powerpoint/2010/main" val="197412934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9512" y="1194881"/>
            <a:ext cx="3982846" cy="481796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454757" y="2204864"/>
            <a:ext cx="568924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8800" b="1" dirty="0">
                <a:ln w="11430">
                  <a:solidFill>
                    <a:srgbClr val="FF6600"/>
                  </a:solidFill>
                </a:ln>
                <a:solidFill>
                  <a:srgbClr val="FF66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谢谢大家！</a:t>
            </a:r>
          </a:p>
        </p:txBody>
      </p:sp>
      <p:sp>
        <p:nvSpPr>
          <p:cNvPr id="15" name="单圆角矩形 14"/>
          <p:cNvSpPr/>
          <p:nvPr/>
        </p:nvSpPr>
        <p:spPr>
          <a:xfrm>
            <a:off x="305122" y="6086720"/>
            <a:ext cx="7344000" cy="0"/>
          </a:xfrm>
          <a:prstGeom prst="round1Rect">
            <a:avLst/>
          </a:prstGeom>
          <a:solidFill>
            <a:srgbClr val="C475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3508</TotalTime>
  <Words>1640</Words>
  <Application>Microsoft Office PowerPoint</Application>
  <PresentationFormat>全屏显示(4:3)</PresentationFormat>
  <Paragraphs>288</Paragraphs>
  <Slides>19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MS Gothic</vt:lpstr>
      <vt:lpstr>黑体</vt:lpstr>
      <vt:lpstr>华文新魏</vt:lpstr>
      <vt:lpstr>楷体_GB2312</vt:lpstr>
      <vt:lpstr>宋体</vt:lpstr>
      <vt:lpstr>微软雅黑</vt:lpstr>
      <vt:lpstr>Arial</vt:lpstr>
      <vt:lpstr>Calibri</vt:lpstr>
      <vt:lpstr>Courier New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re ol</cp:lastModifiedBy>
  <cp:revision>324</cp:revision>
  <dcterms:modified xsi:type="dcterms:W3CDTF">2020-09-06T09:23:11Z</dcterms:modified>
</cp:coreProperties>
</file>