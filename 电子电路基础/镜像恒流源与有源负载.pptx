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4" r:id="rId4"/>
    <p:sldId id="263" r:id="rId5"/>
    <p:sldId id="258" r:id="rId6"/>
    <p:sldId id="259" r:id="rId7"/>
    <p:sldId id="260" r:id="rId8"/>
    <p:sldId id="261" r:id="rId9"/>
    <p:sldId id="262" r:id="rId10"/>
    <p:sldId id="265" r:id="rId11"/>
    <p:sldId id="266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543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9074D-1260-46CE-8D93-9A096C344B21}" type="datetimeFigureOut">
              <a:rPr lang="zh-CN" altLang="en-US" smtClean="0"/>
              <a:t>2020/4/17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6CD2B-AFD3-4AA4-ADB4-953E9146CF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227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9074D-1260-46CE-8D93-9A096C344B21}" type="datetimeFigureOut">
              <a:rPr lang="zh-CN" altLang="en-US" smtClean="0"/>
              <a:t>2020/4/17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6CD2B-AFD3-4AA4-ADB4-953E9146CF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269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9074D-1260-46CE-8D93-9A096C344B21}" type="datetimeFigureOut">
              <a:rPr lang="zh-CN" altLang="en-US" smtClean="0"/>
              <a:t>2020/4/17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6CD2B-AFD3-4AA4-ADB4-953E9146CF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171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9074D-1260-46CE-8D93-9A096C344B21}" type="datetimeFigureOut">
              <a:rPr lang="zh-CN" altLang="en-US" smtClean="0"/>
              <a:t>2020/4/17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6CD2B-AFD3-4AA4-ADB4-953E9146CF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86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9074D-1260-46CE-8D93-9A096C344B21}" type="datetimeFigureOut">
              <a:rPr lang="zh-CN" altLang="en-US" smtClean="0"/>
              <a:t>2020/4/17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6CD2B-AFD3-4AA4-ADB4-953E9146CF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290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9074D-1260-46CE-8D93-9A096C344B21}" type="datetimeFigureOut">
              <a:rPr lang="zh-CN" altLang="en-US" smtClean="0"/>
              <a:t>2020/4/17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6CD2B-AFD3-4AA4-ADB4-953E9146CF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966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9074D-1260-46CE-8D93-9A096C344B21}" type="datetimeFigureOut">
              <a:rPr lang="zh-CN" altLang="en-US" smtClean="0"/>
              <a:t>2020/4/17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6CD2B-AFD3-4AA4-ADB4-953E9146CF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0615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9074D-1260-46CE-8D93-9A096C344B21}" type="datetimeFigureOut">
              <a:rPr lang="zh-CN" altLang="en-US" smtClean="0"/>
              <a:t>2020/4/17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6CD2B-AFD3-4AA4-ADB4-953E9146CF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3176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9074D-1260-46CE-8D93-9A096C344B21}" type="datetimeFigureOut">
              <a:rPr lang="zh-CN" altLang="en-US" smtClean="0"/>
              <a:t>2020/4/17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6CD2B-AFD3-4AA4-ADB4-953E9146CF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12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9074D-1260-46CE-8D93-9A096C344B21}" type="datetimeFigureOut">
              <a:rPr lang="zh-CN" altLang="en-US" smtClean="0"/>
              <a:t>2020/4/17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6CD2B-AFD3-4AA4-ADB4-953E9146CF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818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9074D-1260-46CE-8D93-9A096C344B21}" type="datetimeFigureOut">
              <a:rPr lang="zh-CN" altLang="en-US" smtClean="0"/>
              <a:t>2020/4/17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6CD2B-AFD3-4AA4-ADB4-953E9146CF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156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9074D-1260-46CE-8D93-9A096C344B21}" type="datetimeFigureOut">
              <a:rPr lang="zh-CN" altLang="en-US" smtClean="0"/>
              <a:t>2020/4/17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6CD2B-AFD3-4AA4-ADB4-953E9146CF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0783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9074D-1260-46CE-8D93-9A096C344B21}" type="datetimeFigureOut">
              <a:rPr lang="zh-CN" altLang="en-US" smtClean="0"/>
              <a:t>2020/4/17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6CD2B-AFD3-4AA4-ADB4-953E9146CF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65065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9074D-1260-46CE-8D93-9A096C344B21}" type="datetimeFigureOut">
              <a:rPr lang="zh-CN" altLang="en-US" smtClean="0"/>
              <a:t>2020/4/17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6CD2B-AFD3-4AA4-ADB4-953E9146CF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163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9074D-1260-46CE-8D93-9A096C344B21}" type="datetimeFigureOut">
              <a:rPr lang="zh-CN" altLang="en-US" smtClean="0"/>
              <a:t>2020/4/17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6CD2B-AFD3-4AA4-ADB4-953E9146CF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71330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9074D-1260-46CE-8D93-9A096C344B21}" type="datetimeFigureOut">
              <a:rPr lang="zh-CN" altLang="en-US" smtClean="0"/>
              <a:t>2020/4/17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6CD2B-AFD3-4AA4-ADB4-953E9146CF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182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69074D-1260-46CE-8D93-9A096C344B21}" type="datetimeFigureOut">
              <a:rPr lang="zh-CN" altLang="en-US" smtClean="0"/>
              <a:t>2020/4/17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EA6CD2B-AFD3-4AA4-ADB4-953E9146CF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309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emf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6B1878-29F8-46B9-9914-188A06034B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4898" y="1047843"/>
            <a:ext cx="7766936" cy="1646302"/>
          </a:xfrm>
        </p:spPr>
        <p:txBody>
          <a:bodyPr/>
          <a:lstStyle/>
          <a:p>
            <a:r>
              <a:rPr lang="zh-CN" altLang="en-US" dirty="0"/>
              <a:t>镜像恒流源与有源负载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53080B3-A037-4C9B-B542-70A6907F86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zh-CN" altLang="en-US" dirty="0"/>
              <a:t>查找资料：罗霄</a:t>
            </a:r>
            <a:endParaRPr lang="en-US" altLang="zh-CN" dirty="0"/>
          </a:p>
          <a:p>
            <a:pPr algn="l"/>
            <a:r>
              <a:rPr lang="zh-CN" altLang="en-US" dirty="0"/>
              <a:t>参与讨论：罗霄、巫才昊、张志豪、彭瑞南</a:t>
            </a:r>
            <a:endParaRPr lang="en-US" altLang="zh-CN" dirty="0"/>
          </a:p>
          <a:p>
            <a:pPr algn="l"/>
            <a:r>
              <a:rPr lang="zh-CN" altLang="en-US" dirty="0"/>
              <a:t>主讲：张志豪</a:t>
            </a:r>
          </a:p>
        </p:txBody>
      </p:sp>
    </p:spTree>
    <p:extLst>
      <p:ext uri="{BB962C8B-B14F-4D97-AF65-F5344CB8AC3E}">
        <p14:creationId xmlns:p14="http://schemas.microsoft.com/office/powerpoint/2010/main" val="1128603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B09CB1-6877-4AD8-85A6-E53042F6C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由一般放大器引发的思考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ABF86F7-DBF4-40E2-A4FF-2812DD9E85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6551" y="1966775"/>
            <a:ext cx="3320587" cy="3881437"/>
          </a:xfr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F93AC488-1E96-49D4-B596-C95362714741}"/>
              </a:ext>
            </a:extLst>
          </p:cNvPr>
          <p:cNvSpPr txBox="1">
            <a:spLocks/>
          </p:cNvSpPr>
          <p:nvPr/>
        </p:nvSpPr>
        <p:spPr>
          <a:xfrm>
            <a:off x="677334" y="3331265"/>
            <a:ext cx="5418666" cy="12407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CN" altLang="en-US" dirty="0">
                <a:latin typeface="+mn-ea"/>
                <a:ea typeface="+mn-ea"/>
              </a:rPr>
              <a:t>为了增加输出电压，我们可以通过调整电压和电阻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73A41C2-3247-46BA-92E0-572295762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336" y="1966775"/>
            <a:ext cx="2381250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497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B09CB1-6877-4AD8-85A6-E53042F6C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由一般放大器引发的思考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ABF86F7-DBF4-40E2-A4FF-2812DD9E85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6551" y="1966775"/>
            <a:ext cx="3320587" cy="3881437"/>
          </a:xfr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F93AC488-1E96-49D4-B596-C95362714741}"/>
              </a:ext>
            </a:extLst>
          </p:cNvPr>
          <p:cNvSpPr txBox="1">
            <a:spLocks/>
          </p:cNvSpPr>
          <p:nvPr/>
        </p:nvSpPr>
        <p:spPr>
          <a:xfrm>
            <a:off x="677334" y="3331265"/>
            <a:ext cx="5418666" cy="12407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CN" altLang="en-US" dirty="0">
                <a:latin typeface="+mn-ea"/>
                <a:ea typeface="+mn-ea"/>
              </a:rPr>
              <a:t>但如果我们想要成百上千的放大倍数，又该怎么办？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73A41C2-3247-46BA-92E0-572295762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336" y="1966775"/>
            <a:ext cx="2381250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374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86C7BF-F5C0-4B6C-A9E3-7413D125B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对放大器的一些改进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9884885-92E3-45B6-95D8-2575F398BF1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354" y="2270850"/>
            <a:ext cx="2478949" cy="3051014"/>
          </a:xfrm>
        </p:spPr>
      </p:pic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E858DE2-0A52-40CD-B2BF-A4AF88930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4122" y="2230163"/>
            <a:ext cx="5221878" cy="38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3600" dirty="0">
                <a:latin typeface="+mn-ea"/>
              </a:rPr>
              <a:t>如果我们将电阻替换成恒流源，那么无论</a:t>
            </a:r>
            <a:r>
              <a:rPr lang="en-US" altLang="zh-CN" sz="3600" dirty="0">
                <a:latin typeface="+mn-ea"/>
              </a:rPr>
              <a:t>V</a:t>
            </a:r>
            <a:r>
              <a:rPr lang="en-US" altLang="zh-CN" sz="3600" baseline="-25000" dirty="0">
                <a:latin typeface="+mn-ea"/>
              </a:rPr>
              <a:t>CC</a:t>
            </a:r>
            <a:r>
              <a:rPr lang="zh-CN" altLang="en-US" sz="3600" dirty="0">
                <a:latin typeface="+mn-ea"/>
              </a:rPr>
              <a:t>到</a:t>
            </a:r>
            <a:r>
              <a:rPr lang="en-US" altLang="zh-CN" sz="3600" i="1" dirty="0" err="1">
                <a:latin typeface="+mn-ea"/>
              </a:rPr>
              <a:t>Vout</a:t>
            </a:r>
            <a:r>
              <a:rPr lang="zh-CN" altLang="en-US" sz="3600" dirty="0">
                <a:latin typeface="+mn-ea"/>
              </a:rPr>
              <a:t>的电压降多大，</a:t>
            </a:r>
            <a:r>
              <a:rPr lang="en-US" altLang="zh-CN" sz="3600" dirty="0">
                <a:latin typeface="+mn-ea"/>
              </a:rPr>
              <a:t> V</a:t>
            </a:r>
            <a:r>
              <a:rPr lang="en-US" altLang="zh-CN" sz="3600" baseline="-25000" dirty="0">
                <a:latin typeface="+mn-ea"/>
              </a:rPr>
              <a:t>CB</a:t>
            </a:r>
            <a:r>
              <a:rPr lang="zh-CN" altLang="en-US" sz="3600" dirty="0">
                <a:latin typeface="+mn-ea"/>
              </a:rPr>
              <a:t>的值可以很大，而输出信号摆幅也可以很大。</a:t>
            </a:r>
          </a:p>
        </p:txBody>
      </p:sp>
    </p:spTree>
    <p:extLst>
      <p:ext uri="{BB962C8B-B14F-4D97-AF65-F5344CB8AC3E}">
        <p14:creationId xmlns:p14="http://schemas.microsoft.com/office/powerpoint/2010/main" val="3750801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0B4341-FF9E-48FA-8D74-6EA1B0733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对恒流源的设计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5FF858-C994-4D1B-AD6F-480F5D0E3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从我们学过的知识来看，无论是</a:t>
            </a:r>
            <a:r>
              <a:rPr lang="en-US" altLang="zh-CN" sz="2800" dirty="0"/>
              <a:t>MOSFET</a:t>
            </a:r>
            <a:r>
              <a:rPr lang="zh-CN" altLang="en-US" sz="2800" dirty="0"/>
              <a:t>或者</a:t>
            </a:r>
            <a:r>
              <a:rPr lang="en-US" altLang="zh-CN" sz="2800" dirty="0"/>
              <a:t>BJT</a:t>
            </a:r>
            <a:r>
              <a:rPr lang="zh-CN" altLang="en-US" sz="2800" dirty="0"/>
              <a:t>，都可以当做恒流源来用，但我们在实际使用的过程中，由于温度、负载和电源的变化，恒流源的输出并不一定稳定</a:t>
            </a:r>
            <a:endParaRPr lang="en-US" altLang="zh-CN" sz="2800" dirty="0"/>
          </a:p>
          <a:p>
            <a:r>
              <a:rPr lang="zh-CN" altLang="en-US" sz="2800" dirty="0"/>
              <a:t>举个例子，</a:t>
            </a:r>
            <a:r>
              <a:rPr lang="en-US" altLang="zh-CN" sz="2800" dirty="0"/>
              <a:t>MOSFET</a:t>
            </a:r>
            <a:r>
              <a:rPr lang="zh-CN" altLang="en-US" sz="2800" dirty="0"/>
              <a:t>中的参数</a:t>
            </a:r>
            <a:r>
              <a:rPr lang="en-US" altLang="zh-CN" sz="2800" dirty="0"/>
              <a:t>K</a:t>
            </a:r>
            <a:r>
              <a:rPr lang="zh-CN" altLang="en-US" sz="2800" dirty="0"/>
              <a:t>，就和温度有关。如果随着</a:t>
            </a:r>
            <a:r>
              <a:rPr lang="en-US" altLang="zh-CN" sz="2800" dirty="0"/>
              <a:t>MOSFET</a:t>
            </a:r>
            <a:r>
              <a:rPr lang="zh-CN" altLang="en-US" sz="2800" dirty="0"/>
              <a:t>的使用，温度升高，恒流源电流会产生变化，影响使用的放大效果</a:t>
            </a:r>
          </a:p>
        </p:txBody>
      </p:sp>
    </p:spTree>
    <p:extLst>
      <p:ext uri="{BB962C8B-B14F-4D97-AF65-F5344CB8AC3E}">
        <p14:creationId xmlns:p14="http://schemas.microsoft.com/office/powerpoint/2010/main" val="1397438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68D4A4-FE47-4F71-BFFF-9AB7D14DB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稳定的偏置电流</a:t>
            </a:r>
            <a:r>
              <a:rPr lang="en-US" altLang="zh-CN" dirty="0"/>
              <a:t>——</a:t>
            </a:r>
            <a:r>
              <a:rPr lang="zh-CN" altLang="en-US" dirty="0"/>
              <a:t>镜像恒流源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77F0CD4-416F-4CA1-B6A6-B247A6385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0045" y="2408753"/>
            <a:ext cx="4185623" cy="3304117"/>
          </a:xfrm>
        </p:spPr>
        <p:txBody>
          <a:bodyPr/>
          <a:lstStyle/>
          <a:p>
            <a:r>
              <a:rPr lang="zh-CN" altLang="en-US" dirty="0"/>
              <a:t>两个配对的</a:t>
            </a:r>
            <a:r>
              <a:rPr lang="en-US" altLang="zh-CN" dirty="0"/>
              <a:t>NPN</a:t>
            </a:r>
            <a:r>
              <a:rPr lang="zh-CN" altLang="en-US" dirty="0"/>
              <a:t>型</a:t>
            </a:r>
            <a:r>
              <a:rPr lang="en-US" altLang="zh-CN" dirty="0"/>
              <a:t>BJT</a:t>
            </a:r>
            <a:r>
              <a:rPr lang="zh-CN" altLang="en-US" dirty="0"/>
              <a:t>构成的基本镜像恒流源，又称为电流镜。</a:t>
            </a:r>
            <a:r>
              <a:rPr lang="en-US" altLang="zh-CN" dirty="0"/>
              <a:t>V1</a:t>
            </a:r>
            <a:r>
              <a:rPr lang="zh-CN" altLang="en-US" dirty="0"/>
              <a:t>管的</a:t>
            </a:r>
            <a:r>
              <a:rPr lang="en-US" altLang="zh-CN" dirty="0"/>
              <a:t>C-B</a:t>
            </a:r>
            <a:r>
              <a:rPr lang="zh-CN" altLang="en-US" dirty="0"/>
              <a:t>间短路</a:t>
            </a:r>
            <a:r>
              <a:rPr lang="en-US" altLang="zh-CN" dirty="0"/>
              <a:t>,</a:t>
            </a:r>
            <a:r>
              <a:rPr lang="zh-CN" altLang="en-US" dirty="0"/>
              <a:t>相当于集电结短路</a:t>
            </a:r>
            <a:r>
              <a:rPr lang="en-US" altLang="zh-CN" dirty="0"/>
              <a:t>,</a:t>
            </a:r>
            <a:r>
              <a:rPr lang="zh-CN" altLang="en-US" dirty="0"/>
              <a:t>利用其发射结在电路中构成一只等效二极管。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电路左侧电阻上的电流为参考电流，</a:t>
            </a:r>
            <a:r>
              <a:rPr lang="en-US" altLang="zh-CN" dirty="0"/>
              <a:t>V2</a:t>
            </a:r>
            <a:r>
              <a:rPr lang="zh-CN" altLang="en-US" dirty="0"/>
              <a:t>管的集电极电流就是恒流源的输出电流</a:t>
            </a:r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0BA4782A-D3F8-4E8C-99EF-BDE5FB64E55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040" y="2408753"/>
            <a:ext cx="2748299" cy="3456435"/>
          </a:xfrm>
        </p:spPr>
      </p:pic>
    </p:spTree>
    <p:extLst>
      <p:ext uri="{BB962C8B-B14F-4D97-AF65-F5344CB8AC3E}">
        <p14:creationId xmlns:p14="http://schemas.microsoft.com/office/powerpoint/2010/main" val="1338093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6474E5-C7F2-4E8E-A4CE-EE315CD7D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镜像恒流源的特性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84B57BF1-9177-44C9-9C7B-5387C58F28A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31156" y="3134519"/>
            <a:ext cx="2276475" cy="1933575"/>
          </a:xfrm>
          <a:prstGeom prst="rect">
            <a:avLst/>
          </a:prstGeom>
        </p:spPr>
      </p:pic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67F8550-5048-4D70-87CC-1B52488E4E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5569" y="2160919"/>
            <a:ext cx="4184034" cy="3880773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由两个</a:t>
            </a:r>
            <a:r>
              <a:rPr lang="en-US" altLang="zh-CN" sz="2000" dirty="0"/>
              <a:t>BJT</a:t>
            </a:r>
            <a:r>
              <a:rPr lang="zh-CN" altLang="en-US" sz="2000" dirty="0"/>
              <a:t>相互配对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5068706-0A85-4C96-9619-004F718F9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8935" y="3134519"/>
            <a:ext cx="3334892" cy="229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159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F3AD58-85E0-4712-B2D2-72AC301CB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镜像恒流源的特性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23140E72-8EAB-4EB0-BA1F-2864AF3AB91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01993" y="2955159"/>
            <a:ext cx="3334801" cy="2292295"/>
          </a:xfrm>
          <a:prstGeom prst="rect">
            <a:avLst/>
          </a:prstGeom>
        </p:spPr>
      </p:pic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A25BCD2-DE00-40E2-AFA6-6EB611E7D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6672" y="2160590"/>
            <a:ext cx="4132057" cy="1114354"/>
          </a:xfrm>
        </p:spPr>
        <p:txBody>
          <a:bodyPr/>
          <a:lstStyle/>
          <a:p>
            <a:r>
              <a:rPr lang="zh-CN" altLang="en-US" dirty="0"/>
              <a:t>当          时，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000" dirty="0"/>
              <a:t>在课本中可以发现，  往往是</a:t>
            </a:r>
            <a:r>
              <a:rPr lang="en-US" altLang="zh-CN" sz="2000" dirty="0"/>
              <a:t>100</a:t>
            </a:r>
            <a:r>
              <a:rPr lang="zh-CN" altLang="en-US" sz="2000" dirty="0"/>
              <a:t>左右，所以这种近似是合理的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5418F6B-6833-4FE2-B28F-48F4FB6A8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856" y="2160589"/>
            <a:ext cx="707365" cy="36933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30C1E2A-4D4F-4E94-BF34-220A8B52CF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318" y="2129391"/>
            <a:ext cx="974656" cy="43172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CC4AE11-8D10-4435-A6C9-C1497C035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8940" y="2561118"/>
            <a:ext cx="293861" cy="39404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D341691-580A-4E5B-B69E-AB93923503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6673" y="4399859"/>
            <a:ext cx="2182882" cy="681397"/>
          </a:xfrm>
          <a:prstGeom prst="rect">
            <a:avLst/>
          </a:prstGeom>
        </p:spPr>
      </p:pic>
      <p:sp>
        <p:nvSpPr>
          <p:cNvPr id="13" name="内容占位符 4">
            <a:extLst>
              <a:ext uri="{FF2B5EF4-FFF2-40B4-BE49-F238E27FC236}">
                <a16:creationId xmlns:a16="http://schemas.microsoft.com/office/drawing/2014/main" id="{81627799-2F11-4D04-BA8B-83C1BF5433C1}"/>
              </a:ext>
            </a:extLst>
          </p:cNvPr>
          <p:cNvSpPr txBox="1">
            <a:spLocks/>
          </p:cNvSpPr>
          <p:nvPr/>
        </p:nvSpPr>
        <p:spPr>
          <a:xfrm>
            <a:off x="4801289" y="3445499"/>
            <a:ext cx="4132057" cy="1114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同理，由于</a:t>
            </a:r>
            <a:r>
              <a:rPr lang="en-US" altLang="zh-CN" sz="2000" dirty="0"/>
              <a:t>BE</a:t>
            </a:r>
            <a:r>
              <a:rPr lang="zh-CN" altLang="en-US" sz="2000" dirty="0"/>
              <a:t>两极的电压降基本稳定是</a:t>
            </a:r>
            <a:r>
              <a:rPr lang="en-US" altLang="zh-CN" sz="2000" dirty="0"/>
              <a:t>0.6V</a:t>
            </a:r>
            <a:r>
              <a:rPr lang="zh-CN" altLang="en-US" sz="2000" dirty="0"/>
              <a:t>，和外加电压相比很小，因此</a:t>
            </a:r>
            <a:endParaRPr lang="en-US" altLang="zh-CN" dirty="0"/>
          </a:p>
          <a:p>
            <a:pPr marL="0" indent="0">
              <a:buFont typeface="Wingdings 3" charset="2"/>
              <a:buNone/>
            </a:pPr>
            <a:endParaRPr lang="zh-CN" altLang="en-US" dirty="0"/>
          </a:p>
        </p:txBody>
      </p:sp>
      <p:sp>
        <p:nvSpPr>
          <p:cNvPr id="14" name="内容占位符 4">
            <a:extLst>
              <a:ext uri="{FF2B5EF4-FFF2-40B4-BE49-F238E27FC236}">
                <a16:creationId xmlns:a16="http://schemas.microsoft.com/office/drawing/2014/main" id="{5D88A5E8-11F5-4BEF-8EF6-3DD28A5D3FA6}"/>
              </a:ext>
            </a:extLst>
          </p:cNvPr>
          <p:cNvSpPr txBox="1">
            <a:spLocks/>
          </p:cNvSpPr>
          <p:nvPr/>
        </p:nvSpPr>
        <p:spPr>
          <a:xfrm>
            <a:off x="4975668" y="5247454"/>
            <a:ext cx="4132057" cy="1114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但是，这样的近似能够满足我们更精细的要求吗？</a:t>
            </a:r>
            <a:endParaRPr lang="en-US" altLang="zh-CN" sz="2000" dirty="0"/>
          </a:p>
          <a:p>
            <a:pPr marL="0" indent="0">
              <a:buFont typeface="Wingdings 3" charset="2"/>
              <a:buNone/>
            </a:pPr>
            <a:endParaRPr lang="en-US" altLang="zh-CN" sz="2000" dirty="0"/>
          </a:p>
          <a:p>
            <a:pPr marL="0" indent="0">
              <a:buFont typeface="Wingdings 3" charset="2"/>
              <a:buNone/>
            </a:pPr>
            <a:endParaRPr lang="en-US" altLang="zh-CN" dirty="0"/>
          </a:p>
          <a:p>
            <a:pPr marL="0" indent="0">
              <a:buFont typeface="Wingdings 3" charset="2"/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275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3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BDBA85-EA12-4D41-A2AC-CD771F924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继续改进</a:t>
            </a:r>
            <a:r>
              <a:rPr lang="en-US" altLang="zh-CN" dirty="0"/>
              <a:t>——</a:t>
            </a:r>
            <a:r>
              <a:rPr lang="zh-CN" altLang="en-US" dirty="0"/>
              <a:t>精密镜像恒流源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5DF665-4937-4472-9232-3DFB8A069F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将</a:t>
            </a:r>
            <a:r>
              <a:rPr lang="en-US" altLang="zh-CN" sz="2400" dirty="0"/>
              <a:t>CE</a:t>
            </a:r>
            <a:r>
              <a:rPr lang="zh-CN" altLang="en-US" sz="2400" dirty="0"/>
              <a:t>处的短路改为另一个一样的</a:t>
            </a:r>
            <a:r>
              <a:rPr lang="en-US" altLang="zh-CN" sz="2400" dirty="0"/>
              <a:t>BJT</a:t>
            </a:r>
            <a:r>
              <a:rPr lang="zh-CN" altLang="en-US" sz="2400" dirty="0"/>
              <a:t>进行连接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多说无益，用计算来证明</a:t>
            </a:r>
          </a:p>
        </p:txBody>
      </p:sp>
      <p:pic>
        <p:nvPicPr>
          <p:cNvPr id="11" name="内容占位符 10">
            <a:extLst>
              <a:ext uri="{FF2B5EF4-FFF2-40B4-BE49-F238E27FC236}">
                <a16:creationId xmlns:a16="http://schemas.microsoft.com/office/drawing/2014/main" id="{50D25716-383D-4B9E-B6A4-A8BB09F3373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2733" y="2160588"/>
            <a:ext cx="3118233" cy="3881437"/>
          </a:xfrm>
        </p:spPr>
      </p:pic>
    </p:spTree>
    <p:extLst>
      <p:ext uri="{BB962C8B-B14F-4D97-AF65-F5344CB8AC3E}">
        <p14:creationId xmlns:p14="http://schemas.microsoft.com/office/powerpoint/2010/main" val="34567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BDBA85-EA12-4D41-A2AC-CD771F924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继续改进</a:t>
            </a:r>
            <a:r>
              <a:rPr lang="en-US" altLang="zh-CN" dirty="0"/>
              <a:t>——</a:t>
            </a:r>
            <a:r>
              <a:rPr lang="zh-CN" altLang="en-US" dirty="0"/>
              <a:t>精密镜像恒流源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5DF665-4937-4472-9232-3DFB8A069F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sz="2400" dirty="0"/>
              <a:t>结果如下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虽然近似产生的误差被减少了，但是由于负载改变产生的误差它还没有办法解决，那该怎么办呢？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11" name="内容占位符 10">
            <a:extLst>
              <a:ext uri="{FF2B5EF4-FFF2-40B4-BE49-F238E27FC236}">
                <a16:creationId xmlns:a16="http://schemas.microsoft.com/office/drawing/2014/main" id="{50D25716-383D-4B9E-B6A4-A8BB09F3373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2733" y="2160588"/>
            <a:ext cx="3118233" cy="3881437"/>
          </a:xfr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6293C4C-2698-4E80-803E-C55847D56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2508801"/>
            <a:ext cx="4439286" cy="211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420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DEF48A-D43A-4D38-B0D7-E4E2D07A8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换种方法改进</a:t>
            </a:r>
            <a:r>
              <a:rPr lang="en-US" altLang="zh-CN" dirty="0"/>
              <a:t>——</a:t>
            </a:r>
            <a:r>
              <a:rPr lang="zh-CN" altLang="en-US" dirty="0"/>
              <a:t>高输出阻抗精密电流源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C85D5D-5DCA-4412-A567-A53839CCD0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换个地方把第三个</a:t>
            </a:r>
            <a:r>
              <a:rPr lang="en-US" altLang="zh-CN" dirty="0"/>
              <a:t>BJT</a:t>
            </a:r>
            <a:r>
              <a:rPr lang="zh-CN" altLang="en-US" dirty="0"/>
              <a:t>插入电路，在来一根导线使集电结短路，就会有神奇的效果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下面是定性分析（其实是不想算）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D1C74FCF-FC37-4361-9924-8B259AE19C1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3354" y="2159924"/>
            <a:ext cx="2864375" cy="3881437"/>
          </a:xfrm>
        </p:spPr>
      </p:pic>
    </p:spTree>
    <p:extLst>
      <p:ext uri="{BB962C8B-B14F-4D97-AF65-F5344CB8AC3E}">
        <p14:creationId xmlns:p14="http://schemas.microsoft.com/office/powerpoint/2010/main" val="3909903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DEF48A-D43A-4D38-B0D7-E4E2D07A8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换种方法改进</a:t>
            </a:r>
            <a:r>
              <a:rPr lang="en-US" altLang="zh-CN" dirty="0"/>
              <a:t>——</a:t>
            </a:r>
            <a:r>
              <a:rPr lang="zh-CN" altLang="en-US" dirty="0"/>
              <a:t>高输出阻抗精密电流源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C85D5D-5DCA-4412-A567-A53839CCD0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先看参考电流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可见它不随负载变化而变化</a:t>
            </a:r>
            <a:endParaRPr lang="en-US" altLang="zh-CN" dirty="0"/>
          </a:p>
          <a:p>
            <a:r>
              <a:rPr lang="zh-CN" altLang="en-US" dirty="0"/>
              <a:t>再分析输出电流的变化，假设负载变化导致输出电流上升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高级的自动反馈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D1C74FCF-FC37-4361-9924-8B259AE19C1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3354" y="2159924"/>
            <a:ext cx="2864375" cy="3881437"/>
          </a:xfr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18BC869-0CF9-4493-89C5-C7B350D56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2503212"/>
            <a:ext cx="2926454" cy="83718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4AB9236-5CE2-4C56-AA3B-D0AC9EFDA4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34" y="4417199"/>
            <a:ext cx="4497456" cy="102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524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E7DD10-8F94-4FC8-B034-F67891F22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726" y="2562639"/>
            <a:ext cx="8596668" cy="1320800"/>
          </a:xfrm>
        </p:spPr>
        <p:txBody>
          <a:bodyPr/>
          <a:lstStyle/>
          <a:p>
            <a:pPr algn="ctr"/>
            <a:r>
              <a:rPr lang="zh-CN" altLang="en-US" dirty="0"/>
              <a:t>感谢各位的观看</a:t>
            </a:r>
            <a:br>
              <a:rPr lang="en-US" altLang="zh-CN" dirty="0"/>
            </a:br>
            <a:r>
              <a:rPr lang="zh-CN" altLang="en-US" dirty="0"/>
              <a:t>大家晚安</a:t>
            </a:r>
          </a:p>
        </p:txBody>
      </p:sp>
    </p:spTree>
    <p:extLst>
      <p:ext uri="{BB962C8B-B14F-4D97-AF65-F5344CB8AC3E}">
        <p14:creationId xmlns:p14="http://schemas.microsoft.com/office/powerpoint/2010/main" val="3052346458"/>
      </p:ext>
    </p:extLst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248</TotalTime>
  <Words>471</Words>
  <Application>Microsoft Office PowerPoint</Application>
  <PresentationFormat>宽屏</PresentationFormat>
  <Paragraphs>58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华文新魏</vt:lpstr>
      <vt:lpstr>Arial</vt:lpstr>
      <vt:lpstr>Trebuchet MS</vt:lpstr>
      <vt:lpstr>Wingdings 3</vt:lpstr>
      <vt:lpstr>平面</vt:lpstr>
      <vt:lpstr>镜像恒流源与有源负载</vt:lpstr>
      <vt:lpstr>由一般放大器引发的思考</vt:lpstr>
      <vt:lpstr>由一般放大器引发的思考</vt:lpstr>
      <vt:lpstr>对放大器的一些改进</vt:lpstr>
      <vt:lpstr>对恒流源的设计</vt:lpstr>
      <vt:lpstr>稳定的偏置电流——镜像恒流源</vt:lpstr>
      <vt:lpstr>镜像恒流源的特性</vt:lpstr>
      <vt:lpstr>镜像恒流源的特性</vt:lpstr>
      <vt:lpstr>继续改进——精密镜像恒流源</vt:lpstr>
      <vt:lpstr>继续改进——精密镜像恒流源</vt:lpstr>
      <vt:lpstr>换种方法改进——高输出阻抗精密电流源</vt:lpstr>
      <vt:lpstr>换种方法改进——高输出阻抗精密电流源</vt:lpstr>
      <vt:lpstr>感谢各位的观看 大家晚安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镜像恒流源与有源负载</dc:title>
  <dc:creator>罗 霄</dc:creator>
  <cp:lastModifiedBy>re ol</cp:lastModifiedBy>
  <cp:revision>16</cp:revision>
  <dcterms:created xsi:type="dcterms:W3CDTF">2020-04-17T05:29:14Z</dcterms:created>
  <dcterms:modified xsi:type="dcterms:W3CDTF">2020-04-17T11:54:44Z</dcterms:modified>
</cp:coreProperties>
</file>