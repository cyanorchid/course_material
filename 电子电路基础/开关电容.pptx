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comment1.xml" ContentType="application/vnd.openxmlformats-officedocument.presentationml.comments+xml"/>
  <Override PartName="/ppt/notesSlides/notesSlide9.xml" ContentType="application/vnd.openxmlformats-officedocument.presentationml.notesSlide+xml"/>
  <Override PartName="/ppt/comments/comment2.xml" ContentType="application/vnd.openxmlformats-officedocument.presentationml.comments+xml"/>
  <Override PartName="/ppt/notesSlides/notesSlide10.xml" ContentType="application/vnd.openxmlformats-officedocument.presentationml.notesSlide+xml"/>
  <Override PartName="/ppt/comments/comment3.xml" ContentType="application/vnd.openxmlformats-officedocument.presentationml.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360" r:id="rId2"/>
    <p:sldId id="324" r:id="rId3"/>
    <p:sldId id="327" r:id="rId4"/>
    <p:sldId id="366" r:id="rId5"/>
    <p:sldId id="326" r:id="rId6"/>
    <p:sldId id="325" r:id="rId7"/>
    <p:sldId id="363" r:id="rId8"/>
    <p:sldId id="372" r:id="rId9"/>
    <p:sldId id="376" r:id="rId10"/>
    <p:sldId id="375" r:id="rId11"/>
    <p:sldId id="368" r:id="rId12"/>
    <p:sldId id="377" r:id="rId13"/>
    <p:sldId id="328" r:id="rId14"/>
    <p:sldId id="370" r:id="rId15"/>
    <p:sldId id="330" r:id="rId16"/>
  </p:sldIdLst>
  <p:sldSz cx="12192000" cy="6858000"/>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agun Vagun" initials="VV" lastIdx="1" clrIdx="0"/>
  <p:cmAuthor id="2" name="re ol" initials="ro" lastIdx="1" clrIdx="1">
    <p:extLst>
      <p:ext uri="{19B8F6BF-5375-455C-9EA6-DF929625EA0E}">
        <p15:presenceInfo xmlns:p15="http://schemas.microsoft.com/office/powerpoint/2012/main" userId="20326588dd5375d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E8F9E"/>
    <a:srgbClr val="79A6A0"/>
    <a:srgbClr val="CBBAA8"/>
    <a:srgbClr val="D6C9BB"/>
    <a:srgbClr val="FFFFFF"/>
    <a:srgbClr val="618695"/>
    <a:srgbClr val="233F6A"/>
    <a:srgbClr val="5A6D7D"/>
    <a:srgbClr val="87888B"/>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80" autoAdjust="0"/>
    <p:restoredTop sz="94932" autoAdjust="0"/>
  </p:normalViewPr>
  <p:slideViewPr>
    <p:cSldViewPr snapToGrid="0">
      <p:cViewPr varScale="1">
        <p:scale>
          <a:sx n="69" d="100"/>
          <a:sy n="69" d="100"/>
        </p:scale>
        <p:origin x="501" y="36"/>
      </p:cViewPr>
      <p:guideLst>
        <p:guide orient="horz" pos="2160"/>
        <p:guide pos="3840"/>
      </p:guideLst>
    </p:cSldViewPr>
  </p:slid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0-06-11T23:15:41.244" idx="1">
    <p:pos x="7680" y="862"/>
    <p:text/>
    <p:extLst>
      <p:ext uri="{C676402C-5697-4E1C-873F-D02D1690AC5C}">
        <p15:threadingInfo xmlns:p15="http://schemas.microsoft.com/office/powerpoint/2012/main" timeZoneBias="-4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2" dt="2020-06-11T23:15:41.244" idx="1">
    <p:pos x="7680" y="862"/>
    <p:text/>
    <p:extLst>
      <p:ext uri="{C676402C-5697-4E1C-873F-D02D1690AC5C}">
        <p15:threadingInfo xmlns:p15="http://schemas.microsoft.com/office/powerpoint/2012/main" timeZoneBias="-4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2" dt="2020-06-11T23:15:41.244" idx="1">
    <p:pos x="7680" y="862"/>
    <p:text/>
    <p:extLst>
      <p:ext uri="{C676402C-5697-4E1C-873F-D02D1690AC5C}">
        <p15:threadingInfo xmlns:p15="http://schemas.microsoft.com/office/powerpoint/2012/main" timeZoneBias="-480"/>
      </p:ext>
    </p:extLst>
  </p:cm>
</p:cmLst>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C7C8D6-8378-491C-A88C-F5C0F1DDB3DF}" type="datetimeFigureOut">
              <a:rPr lang="zh-CN" altLang="en-US" smtClean="0"/>
              <a:t>2020/6/12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681912-8CC0-4B9F-BE2A-5B54BD796BF3}" type="slidenum">
              <a:rPr lang="zh-CN" altLang="en-US" smtClean="0"/>
              <a:t>‹#›</a:t>
            </a:fld>
            <a:endParaRPr lang="zh-CN" altLang="en-US"/>
          </a:p>
        </p:txBody>
      </p:sp>
    </p:spTree>
    <p:extLst>
      <p:ext uri="{BB962C8B-B14F-4D97-AF65-F5344CB8AC3E}">
        <p14:creationId xmlns:p14="http://schemas.microsoft.com/office/powerpoint/2010/main" val="17021060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681912-8CC0-4B9F-BE2A-5B54BD796BF3}" type="slidenum">
              <a:rPr lang="zh-CN" altLang="en-US" smtClean="0"/>
              <a:t>1</a:t>
            </a:fld>
            <a:endParaRPr lang="zh-CN" altLang="en-US"/>
          </a:p>
        </p:txBody>
      </p:sp>
    </p:spTree>
    <p:extLst>
      <p:ext uri="{BB962C8B-B14F-4D97-AF65-F5344CB8AC3E}">
        <p14:creationId xmlns:p14="http://schemas.microsoft.com/office/powerpoint/2010/main" val="16117240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2681912-8CC0-4B9F-BE2A-5B54BD796BF3}" type="slidenum">
              <a:rPr lang="zh-CN" altLang="en-US" smtClean="0"/>
              <a:t>2</a:t>
            </a:fld>
            <a:endParaRPr lang="zh-CN" altLang="en-US"/>
          </a:p>
        </p:txBody>
      </p:sp>
    </p:spTree>
    <p:extLst>
      <p:ext uri="{BB962C8B-B14F-4D97-AF65-F5344CB8AC3E}">
        <p14:creationId xmlns:p14="http://schemas.microsoft.com/office/powerpoint/2010/main" val="15775131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2681912-8CC0-4B9F-BE2A-5B54BD796BF3}" type="slidenum">
              <a:rPr lang="zh-CN" altLang="en-US" smtClean="0"/>
              <a:t>3</a:t>
            </a:fld>
            <a:endParaRPr lang="zh-CN" altLang="en-US"/>
          </a:p>
        </p:txBody>
      </p:sp>
    </p:spTree>
    <p:extLst>
      <p:ext uri="{BB962C8B-B14F-4D97-AF65-F5344CB8AC3E}">
        <p14:creationId xmlns:p14="http://schemas.microsoft.com/office/powerpoint/2010/main" val="2225590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2681912-8CC0-4B9F-BE2A-5B54BD796BF3}" type="slidenum">
              <a:rPr lang="zh-CN" altLang="en-US" smtClean="0"/>
              <a:t>4</a:t>
            </a:fld>
            <a:endParaRPr lang="zh-CN" altLang="en-US"/>
          </a:p>
        </p:txBody>
      </p:sp>
    </p:spTree>
    <p:extLst>
      <p:ext uri="{BB962C8B-B14F-4D97-AF65-F5344CB8AC3E}">
        <p14:creationId xmlns:p14="http://schemas.microsoft.com/office/powerpoint/2010/main" val="26277263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2681912-8CC0-4B9F-BE2A-5B54BD796BF3}" type="slidenum">
              <a:rPr lang="zh-CN" altLang="en-US" smtClean="0"/>
              <a:t>5</a:t>
            </a:fld>
            <a:endParaRPr lang="zh-CN" altLang="en-US"/>
          </a:p>
        </p:txBody>
      </p:sp>
    </p:spTree>
    <p:extLst>
      <p:ext uri="{BB962C8B-B14F-4D97-AF65-F5344CB8AC3E}">
        <p14:creationId xmlns:p14="http://schemas.microsoft.com/office/powerpoint/2010/main" val="37315687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2681912-8CC0-4B9F-BE2A-5B54BD796BF3}" type="slidenum">
              <a:rPr lang="zh-CN" altLang="en-US" smtClean="0"/>
              <a:t>6</a:t>
            </a:fld>
            <a:endParaRPr lang="zh-CN" altLang="en-US"/>
          </a:p>
        </p:txBody>
      </p:sp>
    </p:spTree>
    <p:extLst>
      <p:ext uri="{BB962C8B-B14F-4D97-AF65-F5344CB8AC3E}">
        <p14:creationId xmlns:p14="http://schemas.microsoft.com/office/powerpoint/2010/main" val="19140181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2681912-8CC0-4B9F-BE2A-5B54BD796BF3}" type="slidenum">
              <a:rPr lang="zh-CN" altLang="en-US" smtClean="0"/>
              <a:t>7</a:t>
            </a:fld>
            <a:endParaRPr lang="zh-CN" altLang="en-US"/>
          </a:p>
        </p:txBody>
      </p:sp>
    </p:spTree>
    <p:extLst>
      <p:ext uri="{BB962C8B-B14F-4D97-AF65-F5344CB8AC3E}">
        <p14:creationId xmlns:p14="http://schemas.microsoft.com/office/powerpoint/2010/main" val="24386819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2681912-8CC0-4B9F-BE2A-5B54BD796BF3}" type="slidenum">
              <a:rPr lang="zh-CN" altLang="en-US" smtClean="0"/>
              <a:t>8</a:t>
            </a:fld>
            <a:endParaRPr lang="zh-CN" altLang="en-US"/>
          </a:p>
        </p:txBody>
      </p:sp>
    </p:spTree>
    <p:extLst>
      <p:ext uri="{BB962C8B-B14F-4D97-AF65-F5344CB8AC3E}">
        <p14:creationId xmlns:p14="http://schemas.microsoft.com/office/powerpoint/2010/main" val="36839458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2681912-8CC0-4B9F-BE2A-5B54BD796BF3}" type="slidenum">
              <a:rPr lang="zh-CN" altLang="en-US" smtClean="0"/>
              <a:t>9</a:t>
            </a:fld>
            <a:endParaRPr lang="zh-CN" altLang="en-US"/>
          </a:p>
        </p:txBody>
      </p:sp>
    </p:spTree>
    <p:extLst>
      <p:ext uri="{BB962C8B-B14F-4D97-AF65-F5344CB8AC3E}">
        <p14:creationId xmlns:p14="http://schemas.microsoft.com/office/powerpoint/2010/main" val="10039896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2681912-8CC0-4B9F-BE2A-5B54BD796BF3}" type="slidenum">
              <a:rPr lang="zh-CN" altLang="en-US" smtClean="0"/>
              <a:t>10</a:t>
            </a:fld>
            <a:endParaRPr lang="zh-CN" altLang="en-US"/>
          </a:p>
        </p:txBody>
      </p:sp>
    </p:spTree>
    <p:extLst>
      <p:ext uri="{BB962C8B-B14F-4D97-AF65-F5344CB8AC3E}">
        <p14:creationId xmlns:p14="http://schemas.microsoft.com/office/powerpoint/2010/main" val="41788782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2681912-8CC0-4B9F-BE2A-5B54BD796BF3}" type="slidenum">
              <a:rPr lang="zh-CN" altLang="en-US" smtClean="0"/>
              <a:t>11</a:t>
            </a:fld>
            <a:endParaRPr lang="zh-CN" altLang="en-US"/>
          </a:p>
        </p:txBody>
      </p:sp>
    </p:spTree>
    <p:extLst>
      <p:ext uri="{BB962C8B-B14F-4D97-AF65-F5344CB8AC3E}">
        <p14:creationId xmlns:p14="http://schemas.microsoft.com/office/powerpoint/2010/main" val="21960295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2681912-8CC0-4B9F-BE2A-5B54BD796BF3}" type="slidenum">
              <a:rPr lang="zh-CN" altLang="en-US" smtClean="0"/>
              <a:t>12</a:t>
            </a:fld>
            <a:endParaRPr lang="zh-CN" altLang="en-US"/>
          </a:p>
        </p:txBody>
      </p:sp>
    </p:spTree>
    <p:extLst>
      <p:ext uri="{BB962C8B-B14F-4D97-AF65-F5344CB8AC3E}">
        <p14:creationId xmlns:p14="http://schemas.microsoft.com/office/powerpoint/2010/main" val="21954153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2681912-8CC0-4B9F-BE2A-5B54BD796BF3}" type="slidenum">
              <a:rPr lang="zh-CN" altLang="en-US" smtClean="0"/>
              <a:t>13</a:t>
            </a:fld>
            <a:endParaRPr lang="zh-CN" altLang="en-US"/>
          </a:p>
        </p:txBody>
      </p:sp>
    </p:spTree>
    <p:extLst>
      <p:ext uri="{BB962C8B-B14F-4D97-AF65-F5344CB8AC3E}">
        <p14:creationId xmlns:p14="http://schemas.microsoft.com/office/powerpoint/2010/main" val="16509514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2681912-8CC0-4B9F-BE2A-5B54BD796BF3}" type="slidenum">
              <a:rPr lang="zh-CN" altLang="en-US" smtClean="0"/>
              <a:t>14</a:t>
            </a:fld>
            <a:endParaRPr lang="zh-CN" altLang="en-US"/>
          </a:p>
        </p:txBody>
      </p:sp>
    </p:spTree>
    <p:extLst>
      <p:ext uri="{BB962C8B-B14F-4D97-AF65-F5344CB8AC3E}">
        <p14:creationId xmlns:p14="http://schemas.microsoft.com/office/powerpoint/2010/main" val="3571720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2681912-8CC0-4B9F-BE2A-5B54BD796BF3}" type="slidenum">
              <a:rPr lang="zh-CN" altLang="en-US" smtClean="0"/>
              <a:t>15</a:t>
            </a:fld>
            <a:endParaRPr lang="zh-CN" altLang="en-US"/>
          </a:p>
        </p:txBody>
      </p:sp>
    </p:spTree>
    <p:extLst>
      <p:ext uri="{BB962C8B-B14F-4D97-AF65-F5344CB8AC3E}">
        <p14:creationId xmlns:p14="http://schemas.microsoft.com/office/powerpoint/2010/main" val="7671464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E4C556E-D11A-48D7-81C0-B1B5323EC136}" type="datetimeFigureOut">
              <a:rPr lang="zh-CN" altLang="en-US" smtClean="0"/>
              <a:t>2020/6/12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195263E-7865-4889-9FDE-7A423744D6B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E4C556E-D11A-48D7-81C0-B1B5323EC136}" type="datetimeFigureOut">
              <a:rPr lang="zh-CN" altLang="en-US" smtClean="0"/>
              <a:t>2020/6/12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195263E-7865-4889-9FDE-7A423744D6B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EE4C556E-D11A-48D7-81C0-B1B5323EC136}" type="datetimeFigureOut">
              <a:rPr lang="zh-CN" altLang="en-US" smtClean="0"/>
              <a:t>2020/6/12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195263E-7865-4889-9FDE-7A423744D6B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9" name="矩形 8"/>
          <p:cNvSpPr/>
          <p:nvPr userDrawn="1"/>
        </p:nvSpPr>
        <p:spPr>
          <a:xfrm>
            <a:off x="8526706" y="3647242"/>
            <a:ext cx="775136" cy="230832"/>
          </a:xfrm>
          <a:prstGeom prst="rect">
            <a:avLst/>
          </a:prstGeom>
        </p:spPr>
        <p:txBody>
          <a:bodyPr wrap="square">
            <a:spAutoFit/>
          </a:bodyPr>
          <a:lstStyle/>
          <a:p>
            <a:r>
              <a:rPr lang="en-US" altLang="zh-CN" sz="100" dirty="0">
                <a:solidFill>
                  <a:prstClr val="white"/>
                </a:solidFill>
                <a:latin typeface="Calibri"/>
                <a:ea typeface="宋体"/>
              </a:rPr>
              <a:t>PPT</a:t>
            </a:r>
            <a:r>
              <a:rPr lang="zh-CN" altLang="en-US" sz="100" dirty="0">
                <a:solidFill>
                  <a:prstClr val="white"/>
                </a:solidFill>
                <a:latin typeface="Calibri"/>
                <a:ea typeface="宋体"/>
              </a:rPr>
              <a:t>模板下载：</a:t>
            </a:r>
            <a:r>
              <a:rPr lang="en-US" altLang="zh-CN" sz="100" dirty="0">
                <a:solidFill>
                  <a:prstClr val="white"/>
                </a:solidFill>
                <a:latin typeface="Calibri"/>
                <a:ea typeface="宋体"/>
              </a:rPr>
              <a:t>www.1ppt.com/moban/          </a:t>
            </a:r>
            <a:r>
              <a:rPr lang="zh-CN" altLang="en-US" sz="100" dirty="0">
                <a:solidFill>
                  <a:prstClr val="white"/>
                </a:solidFill>
                <a:latin typeface="Calibri"/>
                <a:ea typeface="宋体"/>
              </a:rPr>
              <a:t>行业</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www.1ppt.com/hangye/ </a:t>
            </a:r>
          </a:p>
          <a:p>
            <a:r>
              <a:rPr lang="zh-CN" altLang="en-US" sz="100" dirty="0">
                <a:solidFill>
                  <a:prstClr val="white"/>
                </a:solidFill>
                <a:latin typeface="Calibri"/>
                <a:ea typeface="宋体"/>
              </a:rPr>
              <a:t>节日</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www.1ppt.com/jieri/          PPT</a:t>
            </a:r>
            <a:r>
              <a:rPr lang="zh-CN" altLang="en-US" sz="100" dirty="0">
                <a:solidFill>
                  <a:prstClr val="white"/>
                </a:solidFill>
                <a:latin typeface="Calibri"/>
                <a:ea typeface="宋体"/>
              </a:rPr>
              <a:t>素材：</a:t>
            </a:r>
            <a:r>
              <a:rPr lang="en-US" altLang="zh-CN" sz="100" dirty="0">
                <a:solidFill>
                  <a:prstClr val="white"/>
                </a:solidFill>
                <a:latin typeface="Calibri"/>
                <a:ea typeface="宋体"/>
              </a:rPr>
              <a:t>www.1ppt.com/sucai/</a:t>
            </a:r>
          </a:p>
          <a:p>
            <a:r>
              <a:rPr lang="en-US" altLang="zh-CN" sz="100" dirty="0">
                <a:solidFill>
                  <a:prstClr val="white"/>
                </a:solidFill>
                <a:latin typeface="Calibri"/>
                <a:ea typeface="宋体"/>
              </a:rPr>
              <a:t>PPT</a:t>
            </a:r>
            <a:r>
              <a:rPr lang="zh-CN" altLang="en-US" sz="100" dirty="0">
                <a:solidFill>
                  <a:prstClr val="white"/>
                </a:solidFill>
                <a:latin typeface="Calibri"/>
                <a:ea typeface="宋体"/>
              </a:rPr>
              <a:t>背景图片：</a:t>
            </a:r>
            <a:r>
              <a:rPr lang="en-US" altLang="zh-CN" sz="100" dirty="0">
                <a:solidFill>
                  <a:prstClr val="white"/>
                </a:solidFill>
                <a:latin typeface="Calibri"/>
                <a:ea typeface="宋体"/>
              </a:rPr>
              <a:t>www.1ppt.com/beijing/        PPT</a:t>
            </a:r>
            <a:r>
              <a:rPr lang="zh-CN" altLang="en-US" sz="100" dirty="0">
                <a:solidFill>
                  <a:prstClr val="white"/>
                </a:solidFill>
                <a:latin typeface="Calibri"/>
                <a:ea typeface="宋体"/>
              </a:rPr>
              <a:t>图表：</a:t>
            </a:r>
            <a:r>
              <a:rPr lang="en-US" altLang="zh-CN" sz="100" dirty="0">
                <a:solidFill>
                  <a:prstClr val="white"/>
                </a:solidFill>
                <a:latin typeface="Calibri"/>
                <a:ea typeface="宋体"/>
              </a:rPr>
              <a:t>www.1ppt.com/tubiao/      </a:t>
            </a:r>
          </a:p>
          <a:p>
            <a:r>
              <a:rPr lang="zh-CN" altLang="en-US" sz="100" dirty="0">
                <a:solidFill>
                  <a:prstClr val="white"/>
                </a:solidFill>
                <a:latin typeface="Calibri"/>
                <a:ea typeface="宋体"/>
              </a:rPr>
              <a:t>精美</a:t>
            </a:r>
            <a:r>
              <a:rPr lang="en-US" altLang="zh-CN" sz="100" dirty="0">
                <a:solidFill>
                  <a:prstClr val="white"/>
                </a:solidFill>
                <a:latin typeface="Calibri"/>
                <a:ea typeface="宋体"/>
              </a:rPr>
              <a:t>PPT</a:t>
            </a:r>
            <a:r>
              <a:rPr lang="zh-CN" altLang="en-US" sz="100" dirty="0">
                <a:solidFill>
                  <a:prstClr val="white"/>
                </a:solidFill>
                <a:latin typeface="Calibri"/>
                <a:ea typeface="宋体"/>
              </a:rPr>
              <a:t>下载：</a:t>
            </a:r>
            <a:r>
              <a:rPr lang="en-US" altLang="zh-CN" sz="100" dirty="0">
                <a:solidFill>
                  <a:prstClr val="white"/>
                </a:solidFill>
                <a:latin typeface="Calibri"/>
                <a:ea typeface="宋体"/>
              </a:rPr>
              <a:t>www.1ppt.com/xiazai/         PPT</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www.1ppt.com/powerpoint/      </a:t>
            </a:r>
          </a:p>
          <a:p>
            <a:r>
              <a:rPr lang="en-US" altLang="zh-CN" sz="100" dirty="0">
                <a:solidFill>
                  <a:prstClr val="white"/>
                </a:solidFill>
                <a:latin typeface="Calibri"/>
                <a:ea typeface="宋体"/>
              </a:rPr>
              <a:t>PPT</a:t>
            </a:r>
            <a:r>
              <a:rPr lang="zh-CN" altLang="en-US" sz="100" dirty="0">
                <a:solidFill>
                  <a:prstClr val="white"/>
                </a:solidFill>
                <a:latin typeface="Calibri"/>
                <a:ea typeface="宋体"/>
              </a:rPr>
              <a:t>课件：</a:t>
            </a:r>
            <a:r>
              <a:rPr lang="en-US" altLang="zh-CN" sz="100" dirty="0">
                <a:solidFill>
                  <a:prstClr val="white"/>
                </a:solidFill>
                <a:latin typeface="Calibri"/>
                <a:ea typeface="宋体"/>
              </a:rPr>
              <a:t>www.1ppt.com/kejian/             </a:t>
            </a:r>
            <a:r>
              <a:rPr lang="zh-CN" altLang="en-US" sz="100" dirty="0">
                <a:solidFill>
                  <a:prstClr val="white"/>
                </a:solidFill>
                <a:latin typeface="Calibri"/>
                <a:ea typeface="宋体"/>
              </a:rPr>
              <a:t>字体下载：</a:t>
            </a:r>
            <a:r>
              <a:rPr lang="en-US" altLang="zh-CN" sz="100" dirty="0">
                <a:solidFill>
                  <a:prstClr val="white"/>
                </a:solidFill>
                <a:latin typeface="Calibri"/>
                <a:ea typeface="宋体"/>
              </a:rPr>
              <a:t>www.1ppt.com/ziti/</a:t>
            </a:r>
          </a:p>
          <a:p>
            <a:r>
              <a:rPr lang="zh-CN" altLang="en-US" sz="100" dirty="0">
                <a:solidFill>
                  <a:prstClr val="white"/>
                </a:solidFill>
                <a:latin typeface="Calibri"/>
                <a:ea typeface="宋体"/>
              </a:rPr>
              <a:t>工作总结</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www.1ppt.com/xiazai/zongjie/ </a:t>
            </a:r>
            <a:r>
              <a:rPr lang="zh-CN" altLang="en-US" sz="100" dirty="0">
                <a:solidFill>
                  <a:prstClr val="white"/>
                </a:solidFill>
                <a:latin typeface="Calibri"/>
                <a:ea typeface="宋体"/>
              </a:rPr>
              <a:t>工作计划：</a:t>
            </a:r>
            <a:r>
              <a:rPr lang="en-US" altLang="zh-CN" sz="100" dirty="0">
                <a:solidFill>
                  <a:prstClr val="white"/>
                </a:solidFill>
                <a:latin typeface="Calibri"/>
                <a:ea typeface="宋体"/>
              </a:rPr>
              <a:t>www.1ppt.com/xiazai/jihua/</a:t>
            </a:r>
          </a:p>
          <a:p>
            <a:r>
              <a:rPr lang="zh-CN" altLang="en-US" sz="100" dirty="0">
                <a:solidFill>
                  <a:prstClr val="white"/>
                </a:solidFill>
                <a:latin typeface="Calibri"/>
                <a:ea typeface="宋体"/>
              </a:rPr>
              <a:t>商务</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www.1ppt.com/moban/shangwu/  </a:t>
            </a:r>
            <a:r>
              <a:rPr lang="zh-CN" altLang="en-US" sz="100" dirty="0">
                <a:solidFill>
                  <a:prstClr val="white"/>
                </a:solidFill>
                <a:latin typeface="Calibri"/>
                <a:ea typeface="宋体"/>
              </a:rPr>
              <a:t>个人简历</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www.1ppt.com/xiazai/jianli/  </a:t>
            </a:r>
          </a:p>
          <a:p>
            <a:r>
              <a:rPr lang="zh-CN" altLang="en-US" sz="100" dirty="0">
                <a:solidFill>
                  <a:prstClr val="white"/>
                </a:solidFill>
                <a:latin typeface="Calibri"/>
                <a:ea typeface="宋体"/>
              </a:rPr>
              <a:t>毕业答辩</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www.1ppt.com/xiazai/dabian/  </a:t>
            </a:r>
            <a:r>
              <a:rPr lang="zh-CN" altLang="en-US" sz="100" dirty="0">
                <a:solidFill>
                  <a:prstClr val="white"/>
                </a:solidFill>
                <a:latin typeface="Calibri"/>
                <a:ea typeface="宋体"/>
              </a:rPr>
              <a:t>工作汇报</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www.1ppt.com/xiazai/huibao/    </a:t>
            </a:r>
          </a:p>
          <a:p>
            <a:r>
              <a:rPr lang="en-US" altLang="zh-CN" sz="100" dirty="0">
                <a:solidFill>
                  <a:prstClr val="white"/>
                </a:solidFill>
                <a:latin typeface="Calibri"/>
                <a:ea typeface="宋体"/>
              </a:rPr>
              <a:t> </a:t>
            </a: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EE4C556E-D11A-48D7-81C0-B1B5323EC136}" type="datetimeFigureOut">
              <a:rPr lang="zh-CN" altLang="en-US" smtClean="0"/>
              <a:t>2020/6/12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195263E-7865-4889-9FDE-7A423744D6B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EE4C556E-D11A-48D7-81C0-B1B5323EC136}" type="datetimeFigureOut">
              <a:rPr lang="zh-CN" altLang="en-US" smtClean="0"/>
              <a:t>2020/6/12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195263E-7865-4889-9FDE-7A423744D6B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E4C556E-D11A-48D7-81C0-B1B5323EC136}" type="datetimeFigureOut">
              <a:rPr lang="zh-CN" altLang="en-US" smtClean="0"/>
              <a:t>2020/6/12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195263E-7865-4889-9FDE-7A423744D6B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E4C556E-D11A-48D7-81C0-B1B5323EC136}" type="datetimeFigureOut">
              <a:rPr lang="zh-CN" altLang="en-US" smtClean="0"/>
              <a:t>2020/6/12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195263E-7865-4889-9FDE-7A423744D6B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E4C556E-D11A-48D7-81C0-B1B5323EC136}" type="datetimeFigureOut">
              <a:rPr lang="zh-CN" altLang="en-US" smtClean="0"/>
              <a:t>2020/6/12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195263E-7865-4889-9FDE-7A423744D6B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E4C556E-D11A-48D7-81C0-B1B5323EC136}" type="datetimeFigureOut">
              <a:rPr lang="zh-CN" altLang="en-US" smtClean="0"/>
              <a:t>2020/6/12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195263E-7865-4889-9FDE-7A423744D6B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E4C556E-D11A-48D7-81C0-B1B5323EC136}" type="datetimeFigureOut">
              <a:rPr lang="zh-CN" altLang="en-US" smtClean="0"/>
              <a:t>2020/6/12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195263E-7865-4889-9FDE-7A423744D6B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E4C556E-D11A-48D7-81C0-B1B5323EC136}" type="datetimeFigureOut">
              <a:rPr lang="zh-CN" altLang="en-US" smtClean="0"/>
              <a:t>2020/6/12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195263E-7865-4889-9FDE-7A423744D6B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50000"/>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4C556E-D11A-48D7-81C0-B1B5323EC136}" type="datetimeFigureOut">
              <a:rPr lang="zh-CN" altLang="en-US" smtClean="0"/>
              <a:t>2020/6/12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95263E-7865-4889-9FDE-7A423744D6B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notesSlide" Target="../notesSlides/notesSlide8.xml"/><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comments" Target="../comments/comment1.xml"/><Relationship Id="rId4" Type="http://schemas.openxmlformats.org/officeDocument/2006/relationships/image" Target="../media/image5.png"/><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9.xml"/><Relationship Id="rId7" Type="http://schemas.openxmlformats.org/officeDocument/2006/relationships/image" Target="../media/image8.wmf"/><Relationship Id="rId12" Type="http://schemas.openxmlformats.org/officeDocument/2006/relationships/comments" Target="../comments/comment2.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2.bin"/><Relationship Id="rId11" Type="http://schemas.openxmlformats.org/officeDocument/2006/relationships/image" Target="../media/image10.wmf"/><Relationship Id="rId5" Type="http://schemas.openxmlformats.org/officeDocument/2006/relationships/image" Target="../media/image14.png"/><Relationship Id="rId10" Type="http://schemas.openxmlformats.org/officeDocument/2006/relationships/oleObject" Target="../embeddings/oleObject4.bin"/><Relationship Id="rId4" Type="http://schemas.openxmlformats.org/officeDocument/2006/relationships/image" Target="../media/image5.png"/><Relationship Id="rId9" Type="http://schemas.openxmlformats.org/officeDocument/2006/relationships/image" Target="../media/image9.wmf"/></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comments" Target="../comments/comment3.xml"/><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1.wmf"/><Relationship Id="rId5" Type="http://schemas.openxmlformats.org/officeDocument/2006/relationships/oleObject" Target="../embeddings/oleObject5.bin"/><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138023"/>
            <a:ext cx="12192000" cy="6858000"/>
          </a:xfrm>
          <a:prstGeom prst="rect">
            <a:avLst/>
          </a:prstGeom>
        </p:spPr>
      </p:pic>
      <p:sp>
        <p:nvSpPr>
          <p:cNvPr id="9" name="矩形 8"/>
          <p:cNvSpPr/>
          <p:nvPr/>
        </p:nvSpPr>
        <p:spPr>
          <a:xfrm>
            <a:off x="0" y="1277472"/>
            <a:ext cx="12192000" cy="2758980"/>
          </a:xfrm>
          <a:prstGeom prst="rect">
            <a:avLst/>
          </a:prstGeom>
          <a:solidFill>
            <a:srgbClr val="6E8F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8" name="矩形 7">
            <a:extLst>
              <a:ext uri="{FF2B5EF4-FFF2-40B4-BE49-F238E27FC236}">
                <a16:creationId xmlns:a16="http://schemas.microsoft.com/office/drawing/2014/main" id="{9FB22330-B644-43BA-A1F1-97696CB9A5F8}"/>
              </a:ext>
            </a:extLst>
          </p:cNvPr>
          <p:cNvSpPr/>
          <p:nvPr/>
        </p:nvSpPr>
        <p:spPr>
          <a:xfrm>
            <a:off x="2034844" y="2017842"/>
            <a:ext cx="8122312" cy="992579"/>
          </a:xfrm>
          <a:prstGeom prst="rect">
            <a:avLst/>
          </a:prstGeom>
        </p:spPr>
        <p:txBody>
          <a:bodyPr wrap="square" lIns="68580" tIns="34290" rIns="68580" bIns="34290">
            <a:spAutoFit/>
          </a:bodyPr>
          <a:lstStyle/>
          <a:p>
            <a:pPr algn="ctr">
              <a:defRPr/>
            </a:pPr>
            <a:r>
              <a:rPr lang="zh-CN" altLang="en-US" sz="6000" dirty="0">
                <a:solidFill>
                  <a:schemeClr val="bg1"/>
                </a:solidFill>
              </a:rPr>
              <a:t>开关电容滤波器</a:t>
            </a:r>
            <a:endParaRPr sz="6000" b="1" spc="225" dirty="0">
              <a:solidFill>
                <a:schemeClr val="bg1"/>
              </a:solidFill>
              <a:cs typeface="+mn-ea"/>
              <a:sym typeface="+mn-lt"/>
            </a:endParaRPr>
          </a:p>
        </p:txBody>
      </p:sp>
      <p:sp>
        <p:nvSpPr>
          <p:cNvPr id="3" name="文本框 2">
            <a:extLst>
              <a:ext uri="{FF2B5EF4-FFF2-40B4-BE49-F238E27FC236}">
                <a16:creationId xmlns:a16="http://schemas.microsoft.com/office/drawing/2014/main" id="{875D900F-D6FC-4C63-A5D8-CC12E68D07FE}"/>
              </a:ext>
            </a:extLst>
          </p:cNvPr>
          <p:cNvSpPr txBox="1"/>
          <p:nvPr/>
        </p:nvSpPr>
        <p:spPr>
          <a:xfrm>
            <a:off x="5187208" y="4591126"/>
            <a:ext cx="1525870" cy="584775"/>
          </a:xfrm>
          <a:prstGeom prst="rect">
            <a:avLst/>
          </a:prstGeom>
          <a:noFill/>
        </p:spPr>
        <p:txBody>
          <a:bodyPr wrap="square" rtlCol="0">
            <a:spAutoFit/>
          </a:bodyPr>
          <a:lstStyle/>
          <a:p>
            <a:r>
              <a:rPr lang="zh-CN" altLang="en-US" sz="3200" dirty="0"/>
              <a:t>第一组</a:t>
            </a:r>
          </a:p>
        </p:txBody>
      </p:sp>
    </p:spTree>
    <p:extLst>
      <p:ext uri="{BB962C8B-B14F-4D97-AF65-F5344CB8AC3E}">
        <p14:creationId xmlns:p14="http://schemas.microsoft.com/office/powerpoint/2010/main" val="4171456136"/>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right)">
                                      <p:cBhvr>
                                        <p:cTn id="11" dur="5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8"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rot="16200000" flipH="1" flipV="1">
            <a:off x="-427990" y="1787525"/>
            <a:ext cx="6845300" cy="3270250"/>
          </a:xfrm>
          <a:prstGeom prst="rect">
            <a:avLst/>
          </a:prstGeom>
          <a:solidFill>
            <a:srgbClr val="6E8F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矩形 26"/>
          <p:cNvSpPr/>
          <p:nvPr/>
        </p:nvSpPr>
        <p:spPr>
          <a:xfrm>
            <a:off x="1951160" y="2705123"/>
            <a:ext cx="1945945" cy="1177245"/>
          </a:xfrm>
          <a:prstGeom prst="rect">
            <a:avLst/>
          </a:prstGeom>
        </p:spPr>
        <p:txBody>
          <a:bodyPr wrap="square" lIns="68580" tIns="34290" rIns="68580" bIns="34290">
            <a:spAutoFit/>
          </a:bodyPr>
          <a:lstStyle/>
          <a:p>
            <a:pPr algn="ctr">
              <a:defRPr/>
            </a:pPr>
            <a:r>
              <a:rPr lang="zh-CN" altLang="en-US" sz="3600" spc="225" dirty="0">
                <a:solidFill>
                  <a:schemeClr val="bg1"/>
                </a:solidFill>
                <a:cs typeface="+mn-ea"/>
                <a:sym typeface="+mn-lt"/>
              </a:rPr>
              <a:t>目录</a:t>
            </a:r>
            <a:endParaRPr lang="en-US" altLang="zh-CN" sz="3600" spc="225" dirty="0">
              <a:solidFill>
                <a:schemeClr val="bg1"/>
              </a:solidFill>
              <a:cs typeface="+mn-ea"/>
              <a:sym typeface="+mn-lt"/>
            </a:endParaRPr>
          </a:p>
          <a:p>
            <a:pPr algn="ctr">
              <a:defRPr/>
            </a:pPr>
            <a:r>
              <a:rPr lang="en-US" altLang="zh-CN" sz="3600" spc="225" dirty="0">
                <a:solidFill>
                  <a:schemeClr val="bg1"/>
                </a:solidFill>
                <a:cs typeface="+mn-ea"/>
                <a:sym typeface="+mn-lt"/>
              </a:rPr>
              <a:t>content</a:t>
            </a:r>
            <a:endParaRPr sz="3600" spc="225" dirty="0">
              <a:solidFill>
                <a:schemeClr val="bg1"/>
              </a:solidFill>
              <a:cs typeface="+mn-ea"/>
              <a:sym typeface="+mn-lt"/>
            </a:endParaRPr>
          </a:p>
        </p:txBody>
      </p:sp>
      <p:sp>
        <p:nvSpPr>
          <p:cNvPr id="31" name="矩形 30"/>
          <p:cNvSpPr/>
          <p:nvPr/>
        </p:nvSpPr>
        <p:spPr>
          <a:xfrm>
            <a:off x="345241" y="1895153"/>
            <a:ext cx="2061391" cy="1838965"/>
          </a:xfrm>
          <a:prstGeom prst="rect">
            <a:avLst/>
          </a:prstGeom>
        </p:spPr>
        <p:txBody>
          <a:bodyPr wrap="square" lIns="68580" tIns="34290" rIns="68580" bIns="34290">
            <a:spAutoFit/>
          </a:bodyPr>
          <a:lstStyle/>
          <a:p>
            <a:pPr algn="ctr">
              <a:defRPr/>
            </a:pPr>
            <a:r>
              <a:rPr lang="zh-CN" altLang="en-US" sz="11500" spc="225" dirty="0">
                <a:solidFill>
                  <a:schemeClr val="bg1"/>
                </a:solidFill>
                <a:cs typeface="+mn-ea"/>
                <a:sym typeface="+mn-lt"/>
              </a:rPr>
              <a:t>“</a:t>
            </a:r>
          </a:p>
        </p:txBody>
      </p:sp>
      <p:sp>
        <p:nvSpPr>
          <p:cNvPr id="32" name="矩形 31"/>
          <p:cNvSpPr/>
          <p:nvPr/>
        </p:nvSpPr>
        <p:spPr>
          <a:xfrm>
            <a:off x="3632268" y="3790809"/>
            <a:ext cx="2061391" cy="1838965"/>
          </a:xfrm>
          <a:prstGeom prst="rect">
            <a:avLst/>
          </a:prstGeom>
        </p:spPr>
        <p:txBody>
          <a:bodyPr wrap="square" lIns="68580" tIns="34290" rIns="68580" bIns="34290">
            <a:spAutoFit/>
          </a:bodyPr>
          <a:lstStyle/>
          <a:p>
            <a:pPr algn="ctr">
              <a:defRPr/>
            </a:pPr>
            <a:r>
              <a:rPr lang="zh-CN" altLang="en-US" sz="11500" spc="225" dirty="0">
                <a:solidFill>
                  <a:schemeClr val="bg1"/>
                </a:solidFill>
                <a:cs typeface="+mn-ea"/>
                <a:sym typeface="+mn-lt"/>
              </a:rPr>
              <a:t>”</a:t>
            </a:r>
          </a:p>
        </p:txBody>
      </p:sp>
      <p:sp>
        <p:nvSpPr>
          <p:cNvPr id="34" name="矩形 33"/>
          <p:cNvSpPr/>
          <p:nvPr/>
        </p:nvSpPr>
        <p:spPr>
          <a:xfrm>
            <a:off x="7428466" y="1554888"/>
            <a:ext cx="1713623" cy="561692"/>
          </a:xfrm>
          <a:prstGeom prst="rect">
            <a:avLst/>
          </a:prstGeom>
        </p:spPr>
        <p:txBody>
          <a:bodyPr wrap="square" lIns="68580" tIns="34290" rIns="68580" bIns="34290">
            <a:spAutoFit/>
          </a:bodyPr>
          <a:lstStyle/>
          <a:p>
            <a:pPr>
              <a:defRPr/>
            </a:pPr>
            <a:r>
              <a:rPr lang="en-US" altLang="zh-CN" sz="3200" spc="225" dirty="0">
                <a:gradFill>
                  <a:gsLst>
                    <a:gs pos="64000">
                      <a:srgbClr val="618695"/>
                    </a:gs>
                    <a:gs pos="0">
                      <a:schemeClr val="bg1">
                        <a:alpha val="38000"/>
                      </a:schemeClr>
                    </a:gs>
                  </a:gsLst>
                  <a:lin ang="5340000" scaled="0"/>
                </a:gradFill>
                <a:cs typeface="+mn-ea"/>
                <a:sym typeface="+mn-lt"/>
              </a:rPr>
              <a:t>Part 01</a:t>
            </a:r>
          </a:p>
        </p:txBody>
      </p:sp>
      <p:sp>
        <p:nvSpPr>
          <p:cNvPr id="35" name="矩形 34"/>
          <p:cNvSpPr/>
          <p:nvPr/>
        </p:nvSpPr>
        <p:spPr>
          <a:xfrm>
            <a:off x="7374767" y="2049256"/>
            <a:ext cx="4817233" cy="623248"/>
          </a:xfrm>
          <a:prstGeom prst="rect">
            <a:avLst/>
          </a:prstGeom>
        </p:spPr>
        <p:txBody>
          <a:bodyPr wrap="square" lIns="68580" tIns="34290" rIns="68580" bIns="34290">
            <a:spAutoFit/>
          </a:bodyPr>
          <a:lstStyle/>
          <a:p>
            <a:pPr>
              <a:defRPr/>
            </a:pPr>
            <a:r>
              <a:rPr lang="zh-CN" altLang="en-US" sz="3600" dirty="0"/>
              <a:t>开关电容滤波器简介</a:t>
            </a:r>
            <a:endParaRPr lang="zh-CN" altLang="en-US" sz="3600" spc="225" dirty="0">
              <a:cs typeface="+mn-ea"/>
              <a:sym typeface="+mn-lt"/>
            </a:endParaRPr>
          </a:p>
        </p:txBody>
      </p:sp>
      <p:sp>
        <p:nvSpPr>
          <p:cNvPr id="40" name="矩形 39"/>
          <p:cNvSpPr/>
          <p:nvPr/>
        </p:nvSpPr>
        <p:spPr>
          <a:xfrm>
            <a:off x="7435616" y="2886026"/>
            <a:ext cx="1713623" cy="561692"/>
          </a:xfrm>
          <a:prstGeom prst="rect">
            <a:avLst/>
          </a:prstGeom>
        </p:spPr>
        <p:txBody>
          <a:bodyPr wrap="square" lIns="68580" tIns="34290" rIns="68580" bIns="34290">
            <a:spAutoFit/>
          </a:bodyPr>
          <a:lstStyle/>
          <a:p>
            <a:pPr>
              <a:defRPr/>
            </a:pPr>
            <a:r>
              <a:rPr lang="en-US" altLang="zh-CN" sz="3200" spc="225" dirty="0">
                <a:gradFill>
                  <a:gsLst>
                    <a:gs pos="64000">
                      <a:srgbClr val="618695"/>
                    </a:gs>
                    <a:gs pos="0">
                      <a:schemeClr val="bg1">
                        <a:alpha val="38000"/>
                      </a:schemeClr>
                    </a:gs>
                  </a:gsLst>
                  <a:lin ang="5340000" scaled="0"/>
                </a:gradFill>
                <a:cs typeface="+mn-ea"/>
                <a:sym typeface="+mn-lt"/>
              </a:rPr>
              <a:t>Part 02</a:t>
            </a:r>
          </a:p>
        </p:txBody>
      </p:sp>
      <p:sp>
        <p:nvSpPr>
          <p:cNvPr id="41" name="矩形 40"/>
          <p:cNvSpPr/>
          <p:nvPr/>
        </p:nvSpPr>
        <p:spPr>
          <a:xfrm>
            <a:off x="7381917" y="3380394"/>
            <a:ext cx="4712317" cy="623248"/>
          </a:xfrm>
          <a:prstGeom prst="rect">
            <a:avLst/>
          </a:prstGeom>
        </p:spPr>
        <p:txBody>
          <a:bodyPr wrap="square" lIns="68580" tIns="34290" rIns="68580" bIns="34290">
            <a:spAutoFit/>
          </a:bodyPr>
          <a:lstStyle/>
          <a:p>
            <a:pPr>
              <a:defRPr/>
            </a:pPr>
            <a:r>
              <a:rPr lang="zh-CN" altLang="en-US" sz="3600" spc="225" dirty="0">
                <a:cs typeface="+mn-ea"/>
                <a:sym typeface="+mn-lt"/>
              </a:rPr>
              <a:t>原理分析</a:t>
            </a:r>
          </a:p>
        </p:txBody>
      </p:sp>
      <p:sp>
        <p:nvSpPr>
          <p:cNvPr id="42" name="矩形 41"/>
          <p:cNvSpPr/>
          <p:nvPr/>
        </p:nvSpPr>
        <p:spPr>
          <a:xfrm>
            <a:off x="7482165" y="4306540"/>
            <a:ext cx="1713623" cy="561692"/>
          </a:xfrm>
          <a:prstGeom prst="rect">
            <a:avLst/>
          </a:prstGeom>
        </p:spPr>
        <p:txBody>
          <a:bodyPr wrap="square" lIns="68580" tIns="34290" rIns="68580" bIns="34290">
            <a:spAutoFit/>
          </a:bodyPr>
          <a:lstStyle/>
          <a:p>
            <a:pPr>
              <a:defRPr/>
            </a:pPr>
            <a:r>
              <a:rPr lang="en-US" altLang="zh-CN" sz="3200" spc="225" dirty="0">
                <a:gradFill>
                  <a:gsLst>
                    <a:gs pos="64000">
                      <a:srgbClr val="618695"/>
                    </a:gs>
                    <a:gs pos="0">
                      <a:schemeClr val="bg1">
                        <a:alpha val="38000"/>
                      </a:schemeClr>
                    </a:gs>
                  </a:gsLst>
                  <a:lin ang="5340000" scaled="0"/>
                </a:gradFill>
                <a:cs typeface="+mn-ea"/>
                <a:sym typeface="+mn-lt"/>
              </a:rPr>
              <a:t>Part 03</a:t>
            </a:r>
          </a:p>
        </p:txBody>
      </p:sp>
      <p:sp>
        <p:nvSpPr>
          <p:cNvPr id="43" name="矩形 42"/>
          <p:cNvSpPr/>
          <p:nvPr/>
        </p:nvSpPr>
        <p:spPr>
          <a:xfrm>
            <a:off x="7428466" y="4800908"/>
            <a:ext cx="3441057" cy="623248"/>
          </a:xfrm>
          <a:prstGeom prst="rect">
            <a:avLst/>
          </a:prstGeom>
        </p:spPr>
        <p:txBody>
          <a:bodyPr wrap="square" lIns="68580" tIns="34290" rIns="68580" bIns="34290">
            <a:spAutoFit/>
          </a:bodyPr>
          <a:lstStyle/>
          <a:p>
            <a:pPr>
              <a:defRPr/>
            </a:pPr>
            <a:r>
              <a:rPr lang="zh-CN" altLang="en-US" sz="3600" spc="225" dirty="0">
                <a:solidFill>
                  <a:schemeClr val="tx1">
                    <a:lumMod val="75000"/>
                    <a:lumOff val="25000"/>
                  </a:schemeClr>
                </a:solidFill>
                <a:cs typeface="+mn-ea"/>
                <a:sym typeface="+mn-lt"/>
              </a:rPr>
              <a:t>总结</a:t>
            </a:r>
            <a:endParaRPr sz="3600" spc="225" dirty="0">
              <a:solidFill>
                <a:schemeClr val="tx1">
                  <a:lumMod val="75000"/>
                  <a:lumOff val="25000"/>
                </a:schemeClr>
              </a:solidFill>
              <a:cs typeface="+mn-ea"/>
              <a:sym typeface="+mn-lt"/>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wipe(left)">
                                      <p:cBhvr>
                                        <p:cTn id="11" dur="500"/>
                                        <p:tgtEl>
                                          <p:spTgt spid="31"/>
                                        </p:tgtEl>
                                      </p:cBhvr>
                                    </p:animEffect>
                                  </p:childTnLst>
                                </p:cTn>
                              </p:par>
                            </p:childTnLst>
                          </p:cTn>
                        </p:par>
                        <p:par>
                          <p:cTn id="12" fill="hold">
                            <p:stCondLst>
                              <p:cond delay="1000"/>
                            </p:stCondLst>
                            <p:childTnLst>
                              <p:par>
                                <p:cTn id="13" presetID="22" presetClass="entr" presetSubtype="2" fill="hold" grpId="0"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wipe(right)">
                                      <p:cBhvr>
                                        <p:cTn id="15" dur="500"/>
                                        <p:tgtEl>
                                          <p:spTgt spid="32"/>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fade">
                                      <p:cBhvr>
                                        <p:cTn id="20" dur="1000"/>
                                        <p:tgtEl>
                                          <p:spTgt spid="34"/>
                                        </p:tgtEl>
                                      </p:cBhvr>
                                    </p:animEffect>
                                    <p:anim calcmode="lin" valueType="num">
                                      <p:cBhvr>
                                        <p:cTn id="21" dur="1000" fill="hold"/>
                                        <p:tgtEl>
                                          <p:spTgt spid="34"/>
                                        </p:tgtEl>
                                        <p:attrNameLst>
                                          <p:attrName>ppt_x</p:attrName>
                                        </p:attrNameLst>
                                      </p:cBhvr>
                                      <p:tavLst>
                                        <p:tav tm="0">
                                          <p:val>
                                            <p:strVal val="#ppt_x"/>
                                          </p:val>
                                        </p:tav>
                                        <p:tav tm="100000">
                                          <p:val>
                                            <p:strVal val="#ppt_x"/>
                                          </p:val>
                                        </p:tav>
                                      </p:tavLst>
                                    </p:anim>
                                    <p:anim calcmode="lin" valueType="num">
                                      <p:cBhvr>
                                        <p:cTn id="22" dur="1000" fill="hold"/>
                                        <p:tgtEl>
                                          <p:spTgt spid="34"/>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fade">
                                      <p:cBhvr>
                                        <p:cTn id="25" dur="1000"/>
                                        <p:tgtEl>
                                          <p:spTgt spid="35"/>
                                        </p:tgtEl>
                                      </p:cBhvr>
                                    </p:animEffect>
                                    <p:anim calcmode="lin" valueType="num">
                                      <p:cBhvr>
                                        <p:cTn id="26" dur="1000" fill="hold"/>
                                        <p:tgtEl>
                                          <p:spTgt spid="35"/>
                                        </p:tgtEl>
                                        <p:attrNameLst>
                                          <p:attrName>ppt_x</p:attrName>
                                        </p:attrNameLst>
                                      </p:cBhvr>
                                      <p:tavLst>
                                        <p:tav tm="0">
                                          <p:val>
                                            <p:strVal val="#ppt_x"/>
                                          </p:val>
                                        </p:tav>
                                        <p:tav tm="100000">
                                          <p:val>
                                            <p:strVal val="#ppt_x"/>
                                          </p:val>
                                        </p:tav>
                                      </p:tavLst>
                                    </p:anim>
                                    <p:anim calcmode="lin" valueType="num">
                                      <p:cBhvr>
                                        <p:cTn id="27" dur="1000" fill="hold"/>
                                        <p:tgtEl>
                                          <p:spTgt spid="35"/>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40"/>
                                        </p:tgtEl>
                                        <p:attrNameLst>
                                          <p:attrName>style.visibility</p:attrName>
                                        </p:attrNameLst>
                                      </p:cBhvr>
                                      <p:to>
                                        <p:strVal val="visible"/>
                                      </p:to>
                                    </p:set>
                                    <p:animEffect transition="in" filter="fade">
                                      <p:cBhvr>
                                        <p:cTn id="30" dur="1000"/>
                                        <p:tgtEl>
                                          <p:spTgt spid="40"/>
                                        </p:tgtEl>
                                      </p:cBhvr>
                                    </p:animEffect>
                                    <p:anim calcmode="lin" valueType="num">
                                      <p:cBhvr>
                                        <p:cTn id="31" dur="1000" fill="hold"/>
                                        <p:tgtEl>
                                          <p:spTgt spid="40"/>
                                        </p:tgtEl>
                                        <p:attrNameLst>
                                          <p:attrName>ppt_x</p:attrName>
                                        </p:attrNameLst>
                                      </p:cBhvr>
                                      <p:tavLst>
                                        <p:tav tm="0">
                                          <p:val>
                                            <p:strVal val="#ppt_x"/>
                                          </p:val>
                                        </p:tav>
                                        <p:tav tm="100000">
                                          <p:val>
                                            <p:strVal val="#ppt_x"/>
                                          </p:val>
                                        </p:tav>
                                      </p:tavLst>
                                    </p:anim>
                                    <p:anim calcmode="lin" valueType="num">
                                      <p:cBhvr>
                                        <p:cTn id="32" dur="1000" fill="hold"/>
                                        <p:tgtEl>
                                          <p:spTgt spid="40"/>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fade">
                                      <p:cBhvr>
                                        <p:cTn id="35" dur="1000"/>
                                        <p:tgtEl>
                                          <p:spTgt spid="41"/>
                                        </p:tgtEl>
                                      </p:cBhvr>
                                    </p:animEffect>
                                    <p:anim calcmode="lin" valueType="num">
                                      <p:cBhvr>
                                        <p:cTn id="36" dur="1000" fill="hold"/>
                                        <p:tgtEl>
                                          <p:spTgt spid="41"/>
                                        </p:tgtEl>
                                        <p:attrNameLst>
                                          <p:attrName>ppt_x</p:attrName>
                                        </p:attrNameLst>
                                      </p:cBhvr>
                                      <p:tavLst>
                                        <p:tav tm="0">
                                          <p:val>
                                            <p:strVal val="#ppt_x"/>
                                          </p:val>
                                        </p:tav>
                                        <p:tav tm="100000">
                                          <p:val>
                                            <p:strVal val="#ppt_x"/>
                                          </p:val>
                                        </p:tav>
                                      </p:tavLst>
                                    </p:anim>
                                    <p:anim calcmode="lin" valueType="num">
                                      <p:cBhvr>
                                        <p:cTn id="37" dur="1000" fill="hold"/>
                                        <p:tgtEl>
                                          <p:spTgt spid="41"/>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42"/>
                                        </p:tgtEl>
                                        <p:attrNameLst>
                                          <p:attrName>style.visibility</p:attrName>
                                        </p:attrNameLst>
                                      </p:cBhvr>
                                      <p:to>
                                        <p:strVal val="visible"/>
                                      </p:to>
                                    </p:set>
                                    <p:animEffect transition="in" filter="fade">
                                      <p:cBhvr>
                                        <p:cTn id="40" dur="1000"/>
                                        <p:tgtEl>
                                          <p:spTgt spid="42"/>
                                        </p:tgtEl>
                                      </p:cBhvr>
                                    </p:animEffect>
                                    <p:anim calcmode="lin" valueType="num">
                                      <p:cBhvr>
                                        <p:cTn id="41" dur="1000" fill="hold"/>
                                        <p:tgtEl>
                                          <p:spTgt spid="42"/>
                                        </p:tgtEl>
                                        <p:attrNameLst>
                                          <p:attrName>ppt_x</p:attrName>
                                        </p:attrNameLst>
                                      </p:cBhvr>
                                      <p:tavLst>
                                        <p:tav tm="0">
                                          <p:val>
                                            <p:strVal val="#ppt_x"/>
                                          </p:val>
                                        </p:tav>
                                        <p:tav tm="100000">
                                          <p:val>
                                            <p:strVal val="#ppt_x"/>
                                          </p:val>
                                        </p:tav>
                                      </p:tavLst>
                                    </p:anim>
                                    <p:anim calcmode="lin" valueType="num">
                                      <p:cBhvr>
                                        <p:cTn id="42" dur="1000" fill="hold"/>
                                        <p:tgtEl>
                                          <p:spTgt spid="42"/>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43"/>
                                        </p:tgtEl>
                                        <p:attrNameLst>
                                          <p:attrName>style.visibility</p:attrName>
                                        </p:attrNameLst>
                                      </p:cBhvr>
                                      <p:to>
                                        <p:strVal val="visible"/>
                                      </p:to>
                                    </p:set>
                                    <p:animEffect transition="in" filter="fade">
                                      <p:cBhvr>
                                        <p:cTn id="45" dur="1000"/>
                                        <p:tgtEl>
                                          <p:spTgt spid="43"/>
                                        </p:tgtEl>
                                      </p:cBhvr>
                                    </p:animEffect>
                                    <p:anim calcmode="lin" valueType="num">
                                      <p:cBhvr>
                                        <p:cTn id="46" dur="1000" fill="hold"/>
                                        <p:tgtEl>
                                          <p:spTgt spid="43"/>
                                        </p:tgtEl>
                                        <p:attrNameLst>
                                          <p:attrName>ppt_x</p:attrName>
                                        </p:attrNameLst>
                                      </p:cBhvr>
                                      <p:tavLst>
                                        <p:tav tm="0">
                                          <p:val>
                                            <p:strVal val="#ppt_x"/>
                                          </p:val>
                                        </p:tav>
                                        <p:tav tm="100000">
                                          <p:val>
                                            <p:strVal val="#ppt_x"/>
                                          </p:val>
                                        </p:tav>
                                      </p:tavLst>
                                    </p:anim>
                                    <p:anim calcmode="lin" valueType="num">
                                      <p:cBhvr>
                                        <p:cTn id="47"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1" grpId="0"/>
      <p:bldP spid="32" grpId="0"/>
      <p:bldP spid="34" grpId="0"/>
      <p:bldP spid="35" grpId="0"/>
      <p:bldP spid="40" grpId="0"/>
      <p:bldP spid="41" grpId="0"/>
      <p:bldP spid="42" grpId="0"/>
      <p:bldP spid="4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9" name="矩形 8"/>
          <p:cNvSpPr/>
          <p:nvPr/>
        </p:nvSpPr>
        <p:spPr>
          <a:xfrm>
            <a:off x="0" y="2049510"/>
            <a:ext cx="12192000" cy="2758980"/>
          </a:xfrm>
          <a:prstGeom prst="rect">
            <a:avLst/>
          </a:prstGeom>
          <a:solidFill>
            <a:srgbClr val="6E8F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平行四边形 1"/>
          <p:cNvSpPr/>
          <p:nvPr/>
        </p:nvSpPr>
        <p:spPr>
          <a:xfrm>
            <a:off x="1627773" y="1384300"/>
            <a:ext cx="3162300" cy="4089400"/>
          </a:xfrm>
          <a:prstGeom prst="parallelogram">
            <a:avLst/>
          </a:prstGeom>
          <a:solidFill>
            <a:srgbClr val="CBB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矩形 15"/>
          <p:cNvSpPr/>
          <p:nvPr/>
        </p:nvSpPr>
        <p:spPr>
          <a:xfrm>
            <a:off x="1976695" y="2049510"/>
            <a:ext cx="2464455" cy="2192908"/>
          </a:xfrm>
          <a:prstGeom prst="rect">
            <a:avLst/>
          </a:prstGeom>
        </p:spPr>
        <p:txBody>
          <a:bodyPr wrap="square" lIns="68580" tIns="34290" rIns="68580" bIns="34290">
            <a:spAutoFit/>
          </a:bodyPr>
          <a:lstStyle/>
          <a:p>
            <a:pPr algn="ctr">
              <a:defRPr/>
            </a:pPr>
            <a:r>
              <a:rPr lang="en-US" altLang="zh-CN" sz="13800" spc="225" dirty="0">
                <a:solidFill>
                  <a:schemeClr val="bg1"/>
                </a:solidFill>
                <a:cs typeface="+mn-ea"/>
                <a:sym typeface="+mn-lt"/>
              </a:rPr>
              <a:t>1</a:t>
            </a:r>
            <a:endParaRPr sz="13800" spc="225" dirty="0">
              <a:solidFill>
                <a:schemeClr val="bg1"/>
              </a:solidFill>
              <a:cs typeface="+mn-ea"/>
              <a:sym typeface="+mn-lt"/>
            </a:endParaRPr>
          </a:p>
        </p:txBody>
      </p:sp>
      <p:sp>
        <p:nvSpPr>
          <p:cNvPr id="17" name="矩形 16"/>
          <p:cNvSpPr/>
          <p:nvPr/>
        </p:nvSpPr>
        <p:spPr>
          <a:xfrm>
            <a:off x="4912339" y="2564838"/>
            <a:ext cx="5651888" cy="1915909"/>
          </a:xfrm>
          <a:prstGeom prst="rect">
            <a:avLst/>
          </a:prstGeom>
        </p:spPr>
        <p:txBody>
          <a:bodyPr wrap="square" lIns="68580" tIns="34290" rIns="68580" bIns="34290">
            <a:spAutoFit/>
          </a:bodyPr>
          <a:lstStyle/>
          <a:p>
            <a:pPr algn="ctr">
              <a:defRPr/>
            </a:pPr>
            <a:r>
              <a:rPr lang="zh-CN" altLang="en-US" sz="6000" dirty="0">
                <a:solidFill>
                  <a:schemeClr val="bg1"/>
                </a:solidFill>
              </a:rPr>
              <a:t>开关电容滤波器   简介</a:t>
            </a:r>
            <a:endParaRPr lang="zh-CN" altLang="en-US" sz="6000" spc="225" dirty="0">
              <a:solidFill>
                <a:schemeClr val="bg1"/>
              </a:solidFill>
              <a:cs typeface="+mn-ea"/>
              <a:sym typeface="+mn-lt"/>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right)">
                                      <p:cBhvr>
                                        <p:cTn id="11" dur="500"/>
                                        <p:tgtEl>
                                          <p:spTgt spid="16"/>
                                        </p:tgtEl>
                                      </p:cBhvr>
                                    </p:animEffect>
                                  </p:childTnLst>
                                </p:cTn>
                              </p:par>
                            </p:childTnLst>
                          </p:cTn>
                        </p:par>
                        <p:par>
                          <p:cTn id="12" fill="hold">
                            <p:stCondLst>
                              <p:cond delay="1000"/>
                            </p:stCondLst>
                            <p:childTnLst>
                              <p:par>
                                <p:cTn id="13" presetID="22" presetClass="entr" presetSubtype="2" fill="hold" grpId="0"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right)">
                                      <p:cBhvr>
                                        <p:cTn id="1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6" grpId="0"/>
      <p:bldP spid="1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3941737" y="299906"/>
            <a:ext cx="4308524" cy="561692"/>
          </a:xfrm>
          <a:prstGeom prst="rect">
            <a:avLst/>
          </a:prstGeom>
        </p:spPr>
        <p:txBody>
          <a:bodyPr wrap="square" lIns="68580" tIns="34290" rIns="68580" bIns="34290">
            <a:spAutoFit/>
          </a:bodyPr>
          <a:lstStyle/>
          <a:p>
            <a:pPr>
              <a:defRPr/>
            </a:pPr>
            <a:r>
              <a:rPr lang="zh-CN" altLang="en-US" sz="3200" b="1" dirty="0"/>
              <a:t>开关电容滤波器简介</a:t>
            </a:r>
            <a:endParaRPr lang="zh-CN" altLang="en-US" sz="3200" spc="225" dirty="0">
              <a:cs typeface="+mn-ea"/>
              <a:sym typeface="+mn-lt"/>
            </a:endParaRPr>
          </a:p>
        </p:txBody>
      </p:sp>
      <p:cxnSp>
        <p:nvCxnSpPr>
          <p:cNvPr id="5" name="直接连接符 4"/>
          <p:cNvCxnSpPr/>
          <p:nvPr/>
        </p:nvCxnSpPr>
        <p:spPr>
          <a:xfrm>
            <a:off x="5670548" y="977900"/>
            <a:ext cx="850902"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12004" y="1145596"/>
            <a:ext cx="4053913" cy="776603"/>
          </a:xfrm>
          <a:prstGeom prst="rect">
            <a:avLst/>
          </a:prstGeom>
          <a:solidFill>
            <a:srgbClr val="6E8F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6" name="矩形 5"/>
          <p:cNvSpPr/>
          <p:nvPr/>
        </p:nvSpPr>
        <p:spPr>
          <a:xfrm>
            <a:off x="584695" y="4248413"/>
            <a:ext cx="73625" cy="584775"/>
          </a:xfrm>
          <a:prstGeom prst="rect">
            <a:avLst/>
          </a:prstGeom>
          <a:solidFill>
            <a:srgbClr val="BCA8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3" name="文本框 12"/>
          <p:cNvSpPr txBox="1"/>
          <p:nvPr/>
        </p:nvSpPr>
        <p:spPr>
          <a:xfrm>
            <a:off x="1147368" y="1124526"/>
            <a:ext cx="3760896" cy="707886"/>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r>
              <a:rPr lang="zh-CN" altLang="en-US" sz="4000" dirty="0">
                <a:solidFill>
                  <a:schemeClr val="bg1"/>
                </a:solidFill>
                <a:latin typeface="宋体" panose="02010600030101010101" pitchFamily="2" charset="-122"/>
                <a:ea typeface="宋体" panose="02010600030101010101" pitchFamily="2" charset="-122"/>
              </a:rPr>
              <a:t>释义</a:t>
            </a:r>
            <a:endParaRPr lang="en-US" altLang="zh-CN" sz="4000" dirty="0">
              <a:solidFill>
                <a:schemeClr val="bg1"/>
              </a:solidFill>
              <a:latin typeface="宋体" panose="02010600030101010101" pitchFamily="2" charset="-122"/>
              <a:ea typeface="宋体" panose="02010600030101010101" pitchFamily="2" charset="-122"/>
            </a:endParaRPr>
          </a:p>
        </p:txBody>
      </p:sp>
      <p:sp>
        <p:nvSpPr>
          <p:cNvPr id="14" name="文本框 13">
            <a:extLst>
              <a:ext uri="{FF2B5EF4-FFF2-40B4-BE49-F238E27FC236}">
                <a16:creationId xmlns:a16="http://schemas.microsoft.com/office/drawing/2014/main" id="{FC1373A6-DBCD-492A-8406-8D7289213CE7}"/>
              </a:ext>
            </a:extLst>
          </p:cNvPr>
          <p:cNvSpPr txBox="1"/>
          <p:nvPr/>
        </p:nvSpPr>
        <p:spPr>
          <a:xfrm>
            <a:off x="764485" y="2613392"/>
            <a:ext cx="11017299" cy="3046988"/>
          </a:xfrm>
          <a:prstGeom prst="rect">
            <a:avLst/>
          </a:prstGeom>
          <a:noFill/>
        </p:spPr>
        <p:txBody>
          <a:bodyPr wrap="square" rtlCol="0">
            <a:spAutoFit/>
          </a:bodyPr>
          <a:lstStyle/>
          <a:p>
            <a:r>
              <a:rPr lang="zh-CN" altLang="en-US" sz="2400" dirty="0"/>
              <a:t>开关电容滤波器是指对模拟连续信号直接进行数据采样和处理的有源滤波器。它不含</a:t>
            </a:r>
            <a:r>
              <a:rPr lang="en-US" altLang="zh-CN" sz="2400" dirty="0"/>
              <a:t>A/D </a:t>
            </a:r>
            <a:r>
              <a:rPr lang="zh-CN" altLang="en-US" sz="2400" dirty="0"/>
              <a:t>和</a:t>
            </a:r>
            <a:r>
              <a:rPr lang="en-US" altLang="zh-CN" sz="2400" dirty="0"/>
              <a:t>D/A</a:t>
            </a:r>
            <a:r>
              <a:rPr lang="zh-CN" altLang="en-US" sz="2400" dirty="0"/>
              <a:t>变换环节，但它仍然是有源模拟滤波器。它广泛用于音频的通信系统中，通常做成单片集成电路，简称</a:t>
            </a:r>
            <a:r>
              <a:rPr lang="en-US" altLang="zh-CN" sz="2400" dirty="0"/>
              <a:t>SCF</a:t>
            </a:r>
            <a:r>
              <a:rPr lang="zh-CN" altLang="en-US" sz="2400" dirty="0"/>
              <a:t>。</a:t>
            </a:r>
            <a:endParaRPr lang="en-US" altLang="zh-CN" sz="2400" dirty="0"/>
          </a:p>
          <a:p>
            <a:endParaRPr lang="en-US" altLang="zh-CN" sz="2400" dirty="0"/>
          </a:p>
          <a:p>
            <a:endParaRPr lang="en-US" altLang="zh-CN" sz="2400" dirty="0"/>
          </a:p>
          <a:p>
            <a:r>
              <a:rPr lang="zh-CN" altLang="en-US" sz="2400" dirty="0"/>
              <a:t>在</a:t>
            </a:r>
            <a:r>
              <a:rPr lang="en-US" altLang="zh-CN" sz="2400" dirty="0"/>
              <a:t>MOS</a:t>
            </a:r>
            <a:r>
              <a:rPr lang="zh-CN" altLang="en-US" sz="2400" dirty="0"/>
              <a:t>工艺中，制造电阻要比制造电容难得多。有源滤波器主要由电阻、电容和运算放大器组成。</a:t>
            </a:r>
            <a:endParaRPr lang="en-US" altLang="zh-CN" sz="2400" dirty="0"/>
          </a:p>
          <a:p>
            <a:r>
              <a:rPr lang="zh-CN" altLang="en-US" sz="2400" dirty="0"/>
              <a:t>如果能把其中的电阻用电容加开关来代替，则构成了开关电容滤波器。</a:t>
            </a:r>
            <a:endParaRPr lang="en-US" altLang="zh-CN" sz="2400" dirty="0"/>
          </a:p>
        </p:txBody>
      </p:sp>
      <p:sp>
        <p:nvSpPr>
          <p:cNvPr id="17" name="矩形 16">
            <a:extLst>
              <a:ext uri="{FF2B5EF4-FFF2-40B4-BE49-F238E27FC236}">
                <a16:creationId xmlns:a16="http://schemas.microsoft.com/office/drawing/2014/main" id="{E9D0939C-9FA8-4D22-96B8-E76D6A809A22}"/>
              </a:ext>
            </a:extLst>
          </p:cNvPr>
          <p:cNvSpPr/>
          <p:nvPr/>
        </p:nvSpPr>
        <p:spPr>
          <a:xfrm>
            <a:off x="584695" y="2792918"/>
            <a:ext cx="73625" cy="584775"/>
          </a:xfrm>
          <a:prstGeom prst="rect">
            <a:avLst/>
          </a:prstGeom>
          <a:solidFill>
            <a:srgbClr val="BCA8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Tree>
    <p:extLst>
      <p:ext uri="{BB962C8B-B14F-4D97-AF65-F5344CB8AC3E}">
        <p14:creationId xmlns:p14="http://schemas.microsoft.com/office/powerpoint/2010/main" val="284705081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p:tgtEl>
                                          <p:spTgt spid="13"/>
                                        </p:tgtEl>
                                        <p:attrNameLst>
                                          <p:attrName>ppt_y</p:attrName>
                                        </p:attrNameLst>
                                      </p:cBhvr>
                                      <p:tavLst>
                                        <p:tav tm="0">
                                          <p:val>
                                            <p:strVal val="#ppt_y+#ppt_h*1.125000"/>
                                          </p:val>
                                        </p:tav>
                                        <p:tav tm="100000">
                                          <p:val>
                                            <p:strVal val="#ppt_y"/>
                                          </p:val>
                                        </p:tav>
                                      </p:tavLst>
                                    </p:anim>
                                    <p:animEffect transition="in" filter="wipe(up)">
                                      <p:cBhvr>
                                        <p:cTn id="8" dur="500"/>
                                        <p:tgtEl>
                                          <p:spTgt spid="13"/>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par>
                                <p:cTn id="15" presetID="22" presetClass="entr" presetSubtype="4"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down)">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13" grpId="0" bldLvl="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3665727" y="248863"/>
            <a:ext cx="4860544" cy="561692"/>
          </a:xfrm>
          <a:prstGeom prst="rect">
            <a:avLst/>
          </a:prstGeom>
        </p:spPr>
        <p:txBody>
          <a:bodyPr wrap="square" lIns="68580" tIns="34290" rIns="68580" bIns="34290">
            <a:spAutoFit/>
          </a:bodyPr>
          <a:lstStyle/>
          <a:p>
            <a:pPr algn="ctr">
              <a:defRPr/>
            </a:pPr>
            <a:r>
              <a:rPr lang="zh-CN" altLang="en-US" sz="3200" b="1" spc="225" dirty="0">
                <a:solidFill>
                  <a:schemeClr val="tx1">
                    <a:lumMod val="75000"/>
                    <a:lumOff val="25000"/>
                  </a:schemeClr>
                </a:solidFill>
                <a:cs typeface="+mn-ea"/>
                <a:sym typeface="+mn-lt"/>
              </a:rPr>
              <a:t>开关电容滤波器的分类</a:t>
            </a:r>
            <a:endParaRPr sz="3200" b="1" spc="225" dirty="0">
              <a:solidFill>
                <a:schemeClr val="tx1">
                  <a:lumMod val="75000"/>
                  <a:lumOff val="25000"/>
                </a:schemeClr>
              </a:solidFill>
              <a:cs typeface="+mn-ea"/>
              <a:sym typeface="+mn-lt"/>
            </a:endParaRPr>
          </a:p>
        </p:txBody>
      </p:sp>
      <p:cxnSp>
        <p:nvCxnSpPr>
          <p:cNvPr id="5" name="直接连接符 4"/>
          <p:cNvCxnSpPr/>
          <p:nvPr/>
        </p:nvCxnSpPr>
        <p:spPr>
          <a:xfrm>
            <a:off x="5670548" y="977900"/>
            <a:ext cx="850902"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4" name="椭圆 13"/>
          <p:cNvSpPr/>
          <p:nvPr/>
        </p:nvSpPr>
        <p:spPr>
          <a:xfrm>
            <a:off x="1581759" y="971949"/>
            <a:ext cx="3309526" cy="3178594"/>
          </a:xfrm>
          <a:prstGeom prst="ellipse">
            <a:avLst/>
          </a:prstGeom>
          <a:solidFill>
            <a:srgbClr val="6E8F9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cs typeface="+mn-ea"/>
              <a:sym typeface="+mn-lt"/>
            </a:endParaRPr>
          </a:p>
        </p:txBody>
      </p:sp>
      <p:sp>
        <p:nvSpPr>
          <p:cNvPr id="18" name="椭圆 17"/>
          <p:cNvSpPr/>
          <p:nvPr/>
        </p:nvSpPr>
        <p:spPr>
          <a:xfrm>
            <a:off x="7300713" y="971949"/>
            <a:ext cx="3182746" cy="3178590"/>
          </a:xfrm>
          <a:prstGeom prst="ellipse">
            <a:avLst/>
          </a:prstGeom>
          <a:solidFill>
            <a:srgbClr val="CBB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22" name="文本框 21"/>
          <p:cNvSpPr txBox="1"/>
          <p:nvPr/>
        </p:nvSpPr>
        <p:spPr>
          <a:xfrm>
            <a:off x="6521450" y="4824033"/>
            <a:ext cx="5138542" cy="1785104"/>
          </a:xfrm>
          <a:prstGeom prst="rect">
            <a:avLst/>
          </a:prstGeom>
          <a:noFill/>
        </p:spPr>
        <p:txBody>
          <a:bodyPr wrap="square" rtlCol="0">
            <a:spAutoFit/>
          </a:bodyPr>
          <a:lstStyle/>
          <a:p>
            <a:r>
              <a:rPr lang="zh-CN" altLang="en-US" dirty="0"/>
              <a:t>也是用</a:t>
            </a:r>
            <a:r>
              <a:rPr lang="en-US" altLang="zh-CN" dirty="0"/>
              <a:t>LC</a:t>
            </a:r>
            <a:r>
              <a:rPr lang="zh-CN" altLang="en-US" dirty="0"/>
              <a:t>滤波器为原型电路，但用开关电容等效元件替换模拟元件。电路工作时要求用“电压反向开关”控制电容网络中的电荷流动，使等效元件内部开关动作时元件所构成的环路中没有电荷流动。</a:t>
            </a:r>
            <a:endParaRPr lang="en-US" altLang="zh-CN" dirty="0"/>
          </a:p>
          <a:p>
            <a:r>
              <a:rPr lang="zh-CN" altLang="en-US" dirty="0"/>
              <a:t>也能保持无源</a:t>
            </a:r>
            <a:r>
              <a:rPr lang="en-US" altLang="zh-CN" dirty="0"/>
              <a:t>LC</a:t>
            </a:r>
            <a:r>
              <a:rPr lang="zh-CN" altLang="en-US" dirty="0"/>
              <a:t>网络的低灵敏度特性</a:t>
            </a:r>
            <a:endParaRPr lang="zh-CN" altLang="en-US" sz="2000" b="1" dirty="0">
              <a:latin typeface="宋体" panose="02010600030101010101" pitchFamily="2" charset="-122"/>
              <a:ea typeface="宋体" panose="02010600030101010101" pitchFamily="2" charset="-122"/>
            </a:endParaRPr>
          </a:p>
        </p:txBody>
      </p:sp>
      <p:pic>
        <p:nvPicPr>
          <p:cNvPr id="3" name="图片 2">
            <a:extLst>
              <a:ext uri="{FF2B5EF4-FFF2-40B4-BE49-F238E27FC236}">
                <a16:creationId xmlns:a16="http://schemas.microsoft.com/office/drawing/2014/main" id="{BCE24943-8CE4-48D0-B3CD-C763EB4C70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8111" y="1778297"/>
            <a:ext cx="2647950" cy="1571625"/>
          </a:xfrm>
          <a:prstGeom prst="rect">
            <a:avLst/>
          </a:prstGeom>
        </p:spPr>
      </p:pic>
      <p:pic>
        <p:nvPicPr>
          <p:cNvPr id="6" name="图片 5">
            <a:extLst>
              <a:ext uri="{FF2B5EF4-FFF2-40B4-BE49-F238E27FC236}">
                <a16:creationId xmlns:a16="http://schemas.microsoft.com/office/drawing/2014/main" id="{E99CDC6A-A141-424D-905B-B451F97ACD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97027" y="1534556"/>
            <a:ext cx="2564786" cy="1894444"/>
          </a:xfrm>
          <a:prstGeom prst="rect">
            <a:avLst/>
          </a:prstGeom>
        </p:spPr>
      </p:pic>
      <p:sp>
        <p:nvSpPr>
          <p:cNvPr id="19" name="文本框 18">
            <a:extLst>
              <a:ext uri="{FF2B5EF4-FFF2-40B4-BE49-F238E27FC236}">
                <a16:creationId xmlns:a16="http://schemas.microsoft.com/office/drawing/2014/main" id="{FD597C21-F52F-48E2-8F23-9C007C5E6387}"/>
              </a:ext>
            </a:extLst>
          </p:cNvPr>
          <p:cNvSpPr txBox="1"/>
          <p:nvPr/>
        </p:nvSpPr>
        <p:spPr>
          <a:xfrm>
            <a:off x="650396" y="4834707"/>
            <a:ext cx="4433438" cy="1508105"/>
          </a:xfrm>
          <a:prstGeom prst="rect">
            <a:avLst/>
          </a:prstGeom>
          <a:noFill/>
        </p:spPr>
        <p:txBody>
          <a:bodyPr wrap="square" rtlCol="0">
            <a:spAutoFit/>
          </a:bodyPr>
          <a:lstStyle/>
          <a:p>
            <a:r>
              <a:rPr lang="zh-CN" altLang="en-US" dirty="0"/>
              <a:t>有源滤波器跳耦电路的实现，是基于对无源</a:t>
            </a:r>
            <a:r>
              <a:rPr lang="en-US" altLang="zh-CN" dirty="0"/>
              <a:t>LC</a:t>
            </a:r>
            <a:r>
              <a:rPr lang="zh-CN" altLang="en-US" dirty="0"/>
              <a:t>梯形滤波器的模拟。这时跳耦电路的各支路分别对应于无源滤波器原型各支路，且其导纳都是以积分函数形式出现。</a:t>
            </a:r>
            <a:endParaRPr lang="en-US" altLang="zh-CN" dirty="0"/>
          </a:p>
          <a:p>
            <a:r>
              <a:rPr lang="zh-CN" altLang="en-US" sz="2000" dirty="0">
                <a:latin typeface="微软雅黑" panose="020B0503020204020204" pitchFamily="34" charset="-122"/>
                <a:ea typeface="微软雅黑" panose="020B0503020204020204" pitchFamily="34" charset="-122"/>
              </a:rPr>
              <a:t>保留了原型电路低灵敏度的特性。</a:t>
            </a:r>
          </a:p>
        </p:txBody>
      </p:sp>
      <p:sp>
        <p:nvSpPr>
          <p:cNvPr id="23" name="文本框 22">
            <a:extLst>
              <a:ext uri="{FF2B5EF4-FFF2-40B4-BE49-F238E27FC236}">
                <a16:creationId xmlns:a16="http://schemas.microsoft.com/office/drawing/2014/main" id="{EE844F5E-6064-4B47-B1E2-17A7601D2D44}"/>
              </a:ext>
            </a:extLst>
          </p:cNvPr>
          <p:cNvSpPr txBox="1"/>
          <p:nvPr/>
        </p:nvSpPr>
        <p:spPr>
          <a:xfrm>
            <a:off x="2235628" y="4255959"/>
            <a:ext cx="1000894" cy="369332"/>
          </a:xfrm>
          <a:prstGeom prst="rect">
            <a:avLst/>
          </a:prstGeom>
          <a:noFill/>
        </p:spPr>
        <p:txBody>
          <a:bodyPr wrap="square" rtlCol="0">
            <a:spAutoFit/>
          </a:bodyPr>
          <a:lstStyle/>
          <a:p>
            <a:r>
              <a:rPr lang="zh-CN" altLang="en-US" dirty="0"/>
              <a:t>跳耦型</a:t>
            </a:r>
          </a:p>
        </p:txBody>
      </p:sp>
      <p:sp>
        <p:nvSpPr>
          <p:cNvPr id="24" name="文本框 23">
            <a:extLst>
              <a:ext uri="{FF2B5EF4-FFF2-40B4-BE49-F238E27FC236}">
                <a16:creationId xmlns:a16="http://schemas.microsoft.com/office/drawing/2014/main" id="{BB6C92B8-024A-4065-9FCC-5B54E8E47C2A}"/>
              </a:ext>
            </a:extLst>
          </p:cNvPr>
          <p:cNvSpPr txBox="1"/>
          <p:nvPr/>
        </p:nvSpPr>
        <p:spPr>
          <a:xfrm>
            <a:off x="8130945" y="4244718"/>
            <a:ext cx="1825427" cy="369332"/>
          </a:xfrm>
          <a:prstGeom prst="rect">
            <a:avLst/>
          </a:prstGeom>
          <a:noFill/>
        </p:spPr>
        <p:txBody>
          <a:bodyPr wrap="square" rtlCol="0">
            <a:spAutoFit/>
          </a:bodyPr>
          <a:lstStyle/>
          <a:p>
            <a:r>
              <a:rPr lang="zh-CN" altLang="en-US" dirty="0"/>
              <a:t>电压反向开关型</a:t>
            </a:r>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3"/>
                                        </p:tgtEl>
                                        <p:attrNameLst>
                                          <p:attrName>style.visibility</p:attrName>
                                        </p:attrNameLst>
                                      </p:cBhvr>
                                      <p:to>
                                        <p:strVal val="visible"/>
                                      </p:to>
                                    </p:set>
                                    <p:anim calcmode="lin" valueType="num">
                                      <p:cBhvr additive="base">
                                        <p:cTn id="14" dur="500" fill="hold"/>
                                        <p:tgtEl>
                                          <p:spTgt spid="23"/>
                                        </p:tgtEl>
                                        <p:attrNameLst>
                                          <p:attrName>ppt_x</p:attrName>
                                        </p:attrNameLst>
                                      </p:cBhvr>
                                      <p:tavLst>
                                        <p:tav tm="0">
                                          <p:val>
                                            <p:strVal val="#ppt_x"/>
                                          </p:val>
                                        </p:tav>
                                        <p:tav tm="100000">
                                          <p:val>
                                            <p:strVal val="#ppt_x"/>
                                          </p:val>
                                        </p:tav>
                                      </p:tavLst>
                                    </p:anim>
                                    <p:anim calcmode="lin" valueType="num">
                                      <p:cBhvr additive="base">
                                        <p:cTn id="15" dur="500" fill="hold"/>
                                        <p:tgtEl>
                                          <p:spTgt spid="23"/>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anim calcmode="lin" valueType="num">
                                      <p:cBhvr additive="base">
                                        <p:cTn id="18" dur="500" fill="hold"/>
                                        <p:tgtEl>
                                          <p:spTgt spid="19"/>
                                        </p:tgtEl>
                                        <p:attrNameLst>
                                          <p:attrName>ppt_x</p:attrName>
                                        </p:attrNameLst>
                                      </p:cBhvr>
                                      <p:tavLst>
                                        <p:tav tm="0">
                                          <p:val>
                                            <p:strVal val="#ppt_x"/>
                                          </p:val>
                                        </p:tav>
                                        <p:tav tm="100000">
                                          <p:val>
                                            <p:strVal val="#ppt_x"/>
                                          </p:val>
                                        </p:tav>
                                      </p:tavLst>
                                    </p:anim>
                                    <p:anim calcmode="lin" valueType="num">
                                      <p:cBhvr additive="base">
                                        <p:cTn id="19"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24"/>
                                        </p:tgtEl>
                                        <p:attrNameLst>
                                          <p:attrName>style.visibility</p:attrName>
                                        </p:attrNameLst>
                                      </p:cBhvr>
                                      <p:to>
                                        <p:strVal val="visible"/>
                                      </p:to>
                                    </p:set>
                                    <p:anim calcmode="lin" valueType="num">
                                      <p:cBhvr additive="base">
                                        <p:cTn id="24" dur="500" fill="hold"/>
                                        <p:tgtEl>
                                          <p:spTgt spid="24"/>
                                        </p:tgtEl>
                                        <p:attrNameLst>
                                          <p:attrName>ppt_x</p:attrName>
                                        </p:attrNameLst>
                                      </p:cBhvr>
                                      <p:tavLst>
                                        <p:tav tm="0">
                                          <p:val>
                                            <p:strVal val="#ppt_x"/>
                                          </p:val>
                                        </p:tav>
                                        <p:tav tm="100000">
                                          <p:val>
                                            <p:strVal val="#ppt_x"/>
                                          </p:val>
                                        </p:tav>
                                      </p:tavLst>
                                    </p:anim>
                                    <p:anim calcmode="lin" valueType="num">
                                      <p:cBhvr additive="base">
                                        <p:cTn id="25" dur="500" fill="hold"/>
                                        <p:tgtEl>
                                          <p:spTgt spid="24"/>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 calcmode="lin" valueType="num">
                                      <p:cBhvr additive="base">
                                        <p:cTn id="28" dur="500" fill="hold"/>
                                        <p:tgtEl>
                                          <p:spTgt spid="22"/>
                                        </p:tgtEl>
                                        <p:attrNameLst>
                                          <p:attrName>ppt_x</p:attrName>
                                        </p:attrNameLst>
                                      </p:cBhvr>
                                      <p:tavLst>
                                        <p:tav tm="0">
                                          <p:val>
                                            <p:strVal val="#ppt_x"/>
                                          </p:val>
                                        </p:tav>
                                        <p:tav tm="100000">
                                          <p:val>
                                            <p:strVal val="#ppt_x"/>
                                          </p:val>
                                        </p:tav>
                                      </p:tavLst>
                                    </p:anim>
                                    <p:anim calcmode="lin" valueType="num">
                                      <p:cBhvr additive="base">
                                        <p:cTn id="29"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2" grpId="0"/>
      <p:bldP spid="19" grpId="0"/>
      <p:bldP spid="23" grpId="0"/>
      <p:bldP spid="2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9" name="矩形 8"/>
          <p:cNvSpPr/>
          <p:nvPr/>
        </p:nvSpPr>
        <p:spPr>
          <a:xfrm>
            <a:off x="0" y="2049510"/>
            <a:ext cx="12192000" cy="2758980"/>
          </a:xfrm>
          <a:prstGeom prst="rect">
            <a:avLst/>
          </a:prstGeom>
          <a:solidFill>
            <a:srgbClr val="6E8F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平行四边形 1"/>
          <p:cNvSpPr/>
          <p:nvPr/>
        </p:nvSpPr>
        <p:spPr>
          <a:xfrm>
            <a:off x="1627773" y="1384935"/>
            <a:ext cx="3162300" cy="4089400"/>
          </a:xfrm>
          <a:prstGeom prst="parallelogram">
            <a:avLst/>
          </a:prstGeom>
          <a:solidFill>
            <a:srgbClr val="CBB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矩形 15"/>
          <p:cNvSpPr/>
          <p:nvPr/>
        </p:nvSpPr>
        <p:spPr>
          <a:xfrm>
            <a:off x="1976695" y="2049510"/>
            <a:ext cx="2464455" cy="2192908"/>
          </a:xfrm>
          <a:prstGeom prst="rect">
            <a:avLst/>
          </a:prstGeom>
        </p:spPr>
        <p:txBody>
          <a:bodyPr wrap="square" lIns="68580" tIns="34290" rIns="68580" bIns="34290">
            <a:spAutoFit/>
          </a:bodyPr>
          <a:lstStyle/>
          <a:p>
            <a:pPr algn="ctr">
              <a:defRPr/>
            </a:pPr>
            <a:r>
              <a:rPr lang="en-US" altLang="zh-CN" sz="13800" spc="225" dirty="0">
                <a:solidFill>
                  <a:schemeClr val="bg1"/>
                </a:solidFill>
                <a:cs typeface="+mn-ea"/>
                <a:sym typeface="+mn-lt"/>
              </a:rPr>
              <a:t>2</a:t>
            </a:r>
            <a:endParaRPr sz="13800" spc="225" dirty="0">
              <a:solidFill>
                <a:schemeClr val="bg1"/>
              </a:solidFill>
              <a:cs typeface="+mn-ea"/>
              <a:sym typeface="+mn-lt"/>
            </a:endParaRPr>
          </a:p>
        </p:txBody>
      </p:sp>
      <p:sp>
        <p:nvSpPr>
          <p:cNvPr id="17" name="矩形 16"/>
          <p:cNvSpPr/>
          <p:nvPr/>
        </p:nvSpPr>
        <p:spPr>
          <a:xfrm>
            <a:off x="4901119" y="2742007"/>
            <a:ext cx="4047349" cy="807913"/>
          </a:xfrm>
          <a:prstGeom prst="rect">
            <a:avLst/>
          </a:prstGeom>
        </p:spPr>
        <p:txBody>
          <a:bodyPr wrap="square" lIns="68580" tIns="34290" rIns="68580" bIns="34290">
            <a:spAutoFit/>
          </a:bodyPr>
          <a:lstStyle/>
          <a:p>
            <a:pPr>
              <a:defRPr/>
            </a:pPr>
            <a:r>
              <a:rPr lang="zh-CN" altLang="en-US" sz="4800" spc="225" dirty="0">
                <a:solidFill>
                  <a:schemeClr val="bg1"/>
                </a:solidFill>
                <a:cs typeface="+mn-ea"/>
                <a:sym typeface="+mn-lt"/>
              </a:rPr>
              <a:t>原理分析</a:t>
            </a:r>
            <a:endParaRPr sz="4800" spc="225" dirty="0">
              <a:solidFill>
                <a:schemeClr val="bg1"/>
              </a:solidFill>
              <a:cs typeface="+mn-ea"/>
              <a:sym typeface="+mn-lt"/>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right)">
                                      <p:cBhvr>
                                        <p:cTn id="11" dur="500"/>
                                        <p:tgtEl>
                                          <p:spTgt spid="16"/>
                                        </p:tgtEl>
                                      </p:cBhvr>
                                    </p:animEffect>
                                  </p:childTnLst>
                                </p:cTn>
                              </p:par>
                            </p:childTnLst>
                          </p:cTn>
                        </p:par>
                        <p:par>
                          <p:cTn id="12" fill="hold">
                            <p:stCondLst>
                              <p:cond delay="1000"/>
                            </p:stCondLst>
                            <p:childTnLst>
                              <p:par>
                                <p:cTn id="13" presetID="22" presetClass="entr" presetSubtype="2" fill="hold" grpId="0"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right)">
                                      <p:cBhvr>
                                        <p:cTn id="1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6"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FB4617D3-F938-4675-8259-D9A64EE1FFEA}"/>
              </a:ext>
            </a:extLst>
          </p:cNvPr>
          <p:cNvSpPr/>
          <p:nvPr/>
        </p:nvSpPr>
        <p:spPr>
          <a:xfrm>
            <a:off x="0" y="1367784"/>
            <a:ext cx="12192000" cy="5115608"/>
          </a:xfrm>
          <a:prstGeom prst="rect">
            <a:avLst/>
          </a:prstGeom>
          <a:solidFill>
            <a:srgbClr val="6E8F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7" name="矩形 6"/>
          <p:cNvSpPr/>
          <p:nvPr/>
        </p:nvSpPr>
        <p:spPr>
          <a:xfrm>
            <a:off x="4986533" y="313648"/>
            <a:ext cx="1948638" cy="1054135"/>
          </a:xfrm>
          <a:prstGeom prst="rect">
            <a:avLst/>
          </a:prstGeom>
        </p:spPr>
        <p:txBody>
          <a:bodyPr wrap="square" lIns="68580" tIns="34290" rIns="68580" bIns="34290">
            <a:spAutoFit/>
          </a:bodyPr>
          <a:lstStyle/>
          <a:p>
            <a:pPr>
              <a:defRPr/>
            </a:pPr>
            <a:r>
              <a:rPr lang="zh-CN" altLang="en-US" sz="3200" spc="225" dirty="0">
                <a:cs typeface="+mn-ea"/>
                <a:sym typeface="+mn-lt"/>
              </a:rPr>
              <a:t>原理分析</a:t>
            </a:r>
          </a:p>
          <a:p>
            <a:pPr>
              <a:defRPr/>
            </a:pPr>
            <a:endParaRPr lang="zh-CN" altLang="en-US" sz="3200" spc="225" dirty="0">
              <a:solidFill>
                <a:schemeClr val="bg1"/>
              </a:solidFill>
              <a:cs typeface="+mn-ea"/>
              <a:sym typeface="+mn-lt"/>
            </a:endParaRPr>
          </a:p>
        </p:txBody>
      </p:sp>
      <p:cxnSp>
        <p:nvCxnSpPr>
          <p:cNvPr id="5" name="直接连接符 4"/>
          <p:cNvCxnSpPr/>
          <p:nvPr/>
        </p:nvCxnSpPr>
        <p:spPr>
          <a:xfrm>
            <a:off x="5670548" y="977900"/>
            <a:ext cx="850902"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4F5D5BB2-8242-4D2A-A150-33593EC23313}"/>
              </a:ext>
            </a:extLst>
          </p:cNvPr>
          <p:cNvSpPr/>
          <p:nvPr/>
        </p:nvSpPr>
        <p:spPr>
          <a:xfrm>
            <a:off x="1612341" y="2179346"/>
            <a:ext cx="8862205" cy="461665"/>
          </a:xfrm>
          <a:prstGeom prst="rect">
            <a:avLst/>
          </a:prstGeom>
        </p:spPr>
        <p:txBody>
          <a:bodyPr wrap="square">
            <a:spAutoFit/>
          </a:bodyPr>
          <a:lstStyle/>
          <a:p>
            <a:r>
              <a:rPr lang="zh-CN" altLang="en-US" sz="2400" dirty="0">
                <a:solidFill>
                  <a:schemeClr val="bg1"/>
                </a:solidFill>
              </a:rPr>
              <a:t>开关电容滤波器的核心：一个用开关、电容实现的可变电阻。</a:t>
            </a:r>
            <a:endParaRPr lang="zh-CN" altLang="en-US" sz="3600" dirty="0">
              <a:solidFill>
                <a:schemeClr val="bg1"/>
              </a:solidFill>
              <a:latin typeface="宋体" panose="02010600030101010101" pitchFamily="2" charset="-122"/>
              <a:ea typeface="宋体" panose="02010600030101010101" pitchFamily="2" charset="-122"/>
            </a:endParaRPr>
          </a:p>
        </p:txBody>
      </p:sp>
      <p:pic>
        <p:nvPicPr>
          <p:cNvPr id="2" name="图片 1">
            <a:extLst>
              <a:ext uri="{FF2B5EF4-FFF2-40B4-BE49-F238E27FC236}">
                <a16:creationId xmlns:a16="http://schemas.microsoft.com/office/drawing/2014/main" id="{268785CC-2A82-4E4A-8CFF-9DDCEA42DFE9}"/>
              </a:ext>
            </a:extLst>
          </p:cNvPr>
          <p:cNvPicPr>
            <a:picLocks noChangeAspect="1"/>
          </p:cNvPicPr>
          <p:nvPr/>
        </p:nvPicPr>
        <p:blipFill>
          <a:blip r:embed="rId3"/>
          <a:stretch>
            <a:fillRect/>
          </a:stretch>
        </p:blipFill>
        <p:spPr>
          <a:xfrm>
            <a:off x="6427288" y="3230088"/>
            <a:ext cx="3309962" cy="1800238"/>
          </a:xfrm>
          <a:prstGeom prst="rect">
            <a:avLst/>
          </a:prstGeom>
        </p:spPr>
      </p:pic>
      <p:pic>
        <p:nvPicPr>
          <p:cNvPr id="4" name="图片 3">
            <a:extLst>
              <a:ext uri="{FF2B5EF4-FFF2-40B4-BE49-F238E27FC236}">
                <a16:creationId xmlns:a16="http://schemas.microsoft.com/office/drawing/2014/main" id="{78DBF091-7926-4E98-91E9-8323B5D32CF4}"/>
              </a:ext>
            </a:extLst>
          </p:cNvPr>
          <p:cNvPicPr>
            <a:picLocks noChangeAspect="1"/>
          </p:cNvPicPr>
          <p:nvPr/>
        </p:nvPicPr>
        <p:blipFill>
          <a:blip r:embed="rId4"/>
          <a:stretch>
            <a:fillRect/>
          </a:stretch>
        </p:blipFill>
        <p:spPr>
          <a:xfrm>
            <a:off x="1390287" y="3311051"/>
            <a:ext cx="3233761" cy="1719275"/>
          </a:xfrm>
          <a:prstGeom prst="rect">
            <a:avLst/>
          </a:prstGeom>
        </p:spPr>
      </p:pic>
      <p:sp>
        <p:nvSpPr>
          <p:cNvPr id="6" name="箭头: 右 5">
            <a:extLst>
              <a:ext uri="{FF2B5EF4-FFF2-40B4-BE49-F238E27FC236}">
                <a16:creationId xmlns:a16="http://schemas.microsoft.com/office/drawing/2014/main" id="{A533B305-CCB2-44FE-A57F-8AA611ADDC51}"/>
              </a:ext>
            </a:extLst>
          </p:cNvPr>
          <p:cNvSpPr/>
          <p:nvPr/>
        </p:nvSpPr>
        <p:spPr>
          <a:xfrm>
            <a:off x="4986533" y="3986022"/>
            <a:ext cx="1227066" cy="369332"/>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55FCBD16-7B48-471B-95A4-846D840E15D1}"/>
                  </a:ext>
                </a:extLst>
              </p:cNvPr>
              <p:cNvSpPr txBox="1"/>
              <p:nvPr/>
            </p:nvSpPr>
            <p:spPr>
              <a:xfrm>
                <a:off x="442452" y="5185533"/>
                <a:ext cx="11456547" cy="707886"/>
              </a:xfrm>
              <a:prstGeom prst="rect">
                <a:avLst/>
              </a:prstGeom>
              <a:noFill/>
            </p:spPr>
            <p:txBody>
              <a:bodyPr wrap="square" rtlCol="0">
                <a:spAutoFit/>
              </a:bodyPr>
              <a:lstStyle/>
              <a:p>
                <a:r>
                  <a:rPr lang="zh-CN" altLang="en-US" sz="2000" dirty="0">
                    <a:solidFill>
                      <a:schemeClr val="bg1"/>
                    </a:solidFill>
                  </a:rPr>
                  <a:t>在外部时钟</a:t>
                </a:r>
                <a14:m>
                  <m:oMath xmlns:m="http://schemas.openxmlformats.org/officeDocument/2006/math">
                    <m:sSub>
                      <m:sSubPr>
                        <m:ctrlPr>
                          <a:rPr lang="zh-CN" altLang="en-US" sz="2000" i="1">
                            <a:solidFill>
                              <a:schemeClr val="bg1"/>
                            </a:solidFill>
                            <a:latin typeface="Cambria Math" panose="02040503050406030204" pitchFamily="18" charset="0"/>
                          </a:rPr>
                        </m:ctrlPr>
                      </m:sSubPr>
                      <m:e>
                        <m:r>
                          <a:rPr lang="zh-CN" altLang="en-US" sz="2000" i="1">
                            <a:solidFill>
                              <a:schemeClr val="bg1"/>
                            </a:solidFill>
                            <a:latin typeface="Cambria Math" panose="02040503050406030204" pitchFamily="18" charset="0"/>
                          </a:rPr>
                          <m:t>𝑓</m:t>
                        </m:r>
                      </m:e>
                      <m:sub>
                        <m:r>
                          <a:rPr lang="zh-CN" altLang="en-US" sz="2000" i="1">
                            <a:solidFill>
                              <a:schemeClr val="bg1"/>
                            </a:solidFill>
                            <a:latin typeface="Cambria Math" panose="02040503050406030204" pitchFamily="18" charset="0"/>
                          </a:rPr>
                          <m:t>𝐶𝐿𝐾</m:t>
                        </m:r>
                      </m:sub>
                    </m:sSub>
                  </m:oMath>
                </a14:m>
                <a:r>
                  <a:rPr lang="zh-CN" altLang="en-US" sz="2000" dirty="0">
                    <a:solidFill>
                      <a:schemeClr val="bg1"/>
                    </a:solidFill>
                  </a:rPr>
                  <a:t>作用下，形成两个开关控制信号</a:t>
                </a:r>
                <a:r>
                  <a:rPr lang="en-US" altLang="zh-CN" sz="2000" dirty="0">
                    <a:solidFill>
                      <a:schemeClr val="bg1"/>
                    </a:solidFill>
                  </a:rPr>
                  <a:t>——</a:t>
                </a:r>
                <a:r>
                  <a:rPr lang="zh-CN" altLang="en-US" sz="2000" dirty="0">
                    <a:solidFill>
                      <a:schemeClr val="bg1"/>
                    </a:solidFill>
                  </a:rPr>
                  <a:t>高电平对应开关闭合，低电平对应开关断开。往复之下，开关电容模块则可以视为一个电阻</a:t>
                </a:r>
                <a:r>
                  <a:rPr lang="en-US" altLang="zh-CN" sz="2000" dirty="0">
                    <a:solidFill>
                      <a:schemeClr val="bg1"/>
                    </a:solidFill>
                  </a:rPr>
                  <a:t>RSC</a:t>
                </a:r>
                <a:r>
                  <a:rPr lang="zh-CN" altLang="en-US" sz="2000" dirty="0">
                    <a:solidFill>
                      <a:schemeClr val="bg1"/>
                    </a:solidFill>
                  </a:rPr>
                  <a:t>，其阻值与外部时钟频率</a:t>
                </a:r>
                <a14:m>
                  <m:oMath xmlns:m="http://schemas.openxmlformats.org/officeDocument/2006/math">
                    <m:sSub>
                      <m:sSubPr>
                        <m:ctrlPr>
                          <a:rPr lang="zh-CN" altLang="en-US" sz="2000" i="1" smtClean="0">
                            <a:solidFill>
                              <a:schemeClr val="bg1"/>
                            </a:solidFill>
                            <a:latin typeface="Cambria Math" panose="02040503050406030204" pitchFamily="18" charset="0"/>
                          </a:rPr>
                        </m:ctrlPr>
                      </m:sSubPr>
                      <m:e>
                        <m:r>
                          <a:rPr lang="zh-CN" altLang="en-US" sz="2000" i="1">
                            <a:solidFill>
                              <a:schemeClr val="bg1"/>
                            </a:solidFill>
                            <a:latin typeface="Cambria Math" panose="02040503050406030204" pitchFamily="18" charset="0"/>
                          </a:rPr>
                          <m:t>𝑓</m:t>
                        </m:r>
                      </m:e>
                      <m:sub>
                        <m:r>
                          <a:rPr lang="zh-CN" altLang="en-US" sz="2000" i="1">
                            <a:solidFill>
                              <a:schemeClr val="bg1"/>
                            </a:solidFill>
                            <a:latin typeface="Cambria Math" panose="02040503050406030204" pitchFamily="18" charset="0"/>
                          </a:rPr>
                          <m:t>𝐶𝐿𝐾</m:t>
                        </m:r>
                      </m:sub>
                    </m:sSub>
                    <m:r>
                      <a:rPr lang="zh-CN" altLang="en-US" sz="2000" i="1">
                        <a:solidFill>
                          <a:schemeClr val="bg1"/>
                        </a:solidFill>
                        <a:latin typeface="Cambria Math" panose="02040503050406030204" pitchFamily="18" charset="0"/>
                      </a:rPr>
                      <m:t> </m:t>
                    </m:r>
                  </m:oMath>
                </a14:m>
                <a:r>
                  <a:rPr lang="zh-CN" altLang="en-US" sz="2000" dirty="0">
                    <a:solidFill>
                      <a:schemeClr val="bg1"/>
                    </a:solidFill>
                  </a:rPr>
                  <a:t>，电容</a:t>
                </a:r>
                <a:r>
                  <a:rPr lang="en-US" altLang="zh-CN" sz="2000" dirty="0">
                    <a:solidFill>
                      <a:schemeClr val="bg1"/>
                    </a:solidFill>
                  </a:rPr>
                  <a:t>C2</a:t>
                </a:r>
                <a:r>
                  <a:rPr lang="zh-CN" altLang="en-US" sz="2000" dirty="0">
                    <a:solidFill>
                      <a:schemeClr val="bg1"/>
                    </a:solidFill>
                  </a:rPr>
                  <a:t>相关：</a:t>
                </a:r>
              </a:p>
            </p:txBody>
          </p:sp>
        </mc:Choice>
        <mc:Fallback xmlns="">
          <p:sp>
            <p:nvSpPr>
              <p:cNvPr id="9" name="文本框 8">
                <a:extLst>
                  <a:ext uri="{FF2B5EF4-FFF2-40B4-BE49-F238E27FC236}">
                    <a16:creationId xmlns:a16="http://schemas.microsoft.com/office/drawing/2014/main" id="{55FCBD16-7B48-471B-95A4-846D840E15D1}"/>
                  </a:ext>
                </a:extLst>
              </p:cNvPr>
              <p:cNvSpPr txBox="1">
                <a:spLocks noRot="1" noChangeAspect="1" noMove="1" noResize="1" noEditPoints="1" noAdjustHandles="1" noChangeArrowheads="1" noChangeShapeType="1" noTextEdit="1"/>
              </p:cNvSpPr>
              <p:nvPr/>
            </p:nvSpPr>
            <p:spPr>
              <a:xfrm>
                <a:off x="442452" y="5185533"/>
                <a:ext cx="11456547" cy="707886"/>
              </a:xfrm>
              <a:prstGeom prst="rect">
                <a:avLst/>
              </a:prstGeom>
              <a:blipFill>
                <a:blip r:embed="rId5"/>
                <a:stretch>
                  <a:fillRect l="-585" t="-5172" b="-1465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1792321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wipe(left)">
                                      <p:cBhvr>
                                        <p:cTn id="1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FB4617D3-F938-4675-8259-D9A64EE1FFEA}"/>
              </a:ext>
            </a:extLst>
          </p:cNvPr>
          <p:cNvSpPr/>
          <p:nvPr/>
        </p:nvSpPr>
        <p:spPr>
          <a:xfrm>
            <a:off x="0" y="1367784"/>
            <a:ext cx="12192000" cy="5115608"/>
          </a:xfrm>
          <a:prstGeom prst="rect">
            <a:avLst/>
          </a:prstGeom>
          <a:solidFill>
            <a:srgbClr val="6E8F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7" name="矩形 6"/>
          <p:cNvSpPr/>
          <p:nvPr/>
        </p:nvSpPr>
        <p:spPr>
          <a:xfrm>
            <a:off x="4986533" y="313648"/>
            <a:ext cx="1948638" cy="1054135"/>
          </a:xfrm>
          <a:prstGeom prst="rect">
            <a:avLst/>
          </a:prstGeom>
        </p:spPr>
        <p:txBody>
          <a:bodyPr wrap="square" lIns="68580" tIns="34290" rIns="68580" bIns="34290">
            <a:spAutoFit/>
          </a:bodyPr>
          <a:lstStyle/>
          <a:p>
            <a:pPr>
              <a:defRPr/>
            </a:pPr>
            <a:r>
              <a:rPr lang="zh-CN" altLang="en-US" sz="3200" spc="225" dirty="0">
                <a:cs typeface="+mn-ea"/>
                <a:sym typeface="+mn-lt"/>
              </a:rPr>
              <a:t>原理分析</a:t>
            </a:r>
          </a:p>
          <a:p>
            <a:pPr>
              <a:defRPr/>
            </a:pPr>
            <a:endParaRPr lang="zh-CN" altLang="en-US" sz="3200" spc="225" dirty="0">
              <a:solidFill>
                <a:schemeClr val="bg1"/>
              </a:solidFill>
              <a:cs typeface="+mn-ea"/>
              <a:sym typeface="+mn-lt"/>
            </a:endParaRPr>
          </a:p>
        </p:txBody>
      </p:sp>
      <p:cxnSp>
        <p:nvCxnSpPr>
          <p:cNvPr id="5" name="直接连接符 4"/>
          <p:cNvCxnSpPr/>
          <p:nvPr/>
        </p:nvCxnSpPr>
        <p:spPr>
          <a:xfrm>
            <a:off x="5670548" y="977900"/>
            <a:ext cx="850902"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2" name="图片 1">
            <a:extLst>
              <a:ext uri="{FF2B5EF4-FFF2-40B4-BE49-F238E27FC236}">
                <a16:creationId xmlns:a16="http://schemas.microsoft.com/office/drawing/2014/main" id="{268785CC-2A82-4E4A-8CFF-9DDCEA42DFE9}"/>
              </a:ext>
            </a:extLst>
          </p:cNvPr>
          <p:cNvPicPr>
            <a:picLocks noChangeAspect="1"/>
          </p:cNvPicPr>
          <p:nvPr/>
        </p:nvPicPr>
        <p:blipFill>
          <a:blip r:embed="rId4"/>
          <a:stretch>
            <a:fillRect/>
          </a:stretch>
        </p:blipFill>
        <p:spPr>
          <a:xfrm>
            <a:off x="192868" y="3025469"/>
            <a:ext cx="3309962" cy="1800238"/>
          </a:xfrm>
          <a:prstGeom prst="rect">
            <a:avLst/>
          </a:prstGeom>
        </p:spPr>
      </p:pic>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F7679BDB-B495-4A11-94AF-BE21FCB378AF}"/>
                  </a:ext>
                </a:extLst>
              </p:cNvPr>
              <p:cNvSpPr/>
              <p:nvPr/>
            </p:nvSpPr>
            <p:spPr>
              <a:xfrm>
                <a:off x="5862733" y="2032035"/>
                <a:ext cx="3600140" cy="646331"/>
              </a:xfrm>
              <a:prstGeom prst="rect">
                <a:avLst/>
              </a:prstGeom>
            </p:spPr>
            <p:txBody>
              <a:bodyPr wrap="square">
                <a:spAutoFit/>
              </a:bodyPr>
              <a:lstStyle/>
              <a:p>
                <a14:m>
                  <m:oMath xmlns:m="http://schemas.openxmlformats.org/officeDocument/2006/math">
                    <m:sSub>
                      <m:sSubPr>
                        <m:ctrlPr>
                          <a:rPr lang="zh-CN" altLang="en-US" i="1" smtClean="0">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𝛷</m:t>
                        </m:r>
                      </m:e>
                      <m:sub>
                        <m:r>
                          <a:rPr lang="zh-CN" altLang="en-US" i="0">
                            <a:solidFill>
                              <a:schemeClr val="bg1"/>
                            </a:solidFill>
                            <a:latin typeface="Cambria Math" panose="02040503050406030204" pitchFamily="18" charset="0"/>
                          </a:rPr>
                          <m:t>1</m:t>
                        </m:r>
                      </m:sub>
                    </m:sSub>
                  </m:oMath>
                </a14:m>
                <a:r>
                  <a:rPr lang="zh-CN" altLang="en-US" dirty="0">
                    <a:solidFill>
                      <a:schemeClr val="bg1"/>
                    </a:solidFill>
                  </a:rPr>
                  <a:t>阶段，</a:t>
                </a:r>
                <a:r>
                  <a:rPr lang="en-US" altLang="zh-CN" dirty="0">
                    <a:solidFill>
                      <a:schemeClr val="bg1"/>
                    </a:solidFill>
                  </a:rPr>
                  <a:t>SW1</a:t>
                </a:r>
                <a:r>
                  <a:rPr lang="zh-CN" altLang="en-US" dirty="0">
                    <a:solidFill>
                      <a:schemeClr val="bg1"/>
                    </a:solidFill>
                  </a:rPr>
                  <a:t>关断，</a:t>
                </a:r>
                <a:r>
                  <a:rPr lang="en-US" altLang="zh-CN" dirty="0">
                    <a:solidFill>
                      <a:schemeClr val="bg1"/>
                    </a:solidFill>
                  </a:rPr>
                  <a:t>SW2</a:t>
                </a:r>
                <a:r>
                  <a:rPr lang="zh-CN" altLang="en-US" dirty="0">
                    <a:solidFill>
                      <a:schemeClr val="bg1"/>
                    </a:solidFill>
                  </a:rPr>
                  <a:t>打开</a:t>
                </a:r>
                <a:endParaRPr lang="en-US" altLang="zh-CN" dirty="0">
                  <a:solidFill>
                    <a:schemeClr val="bg1"/>
                  </a:solidFill>
                </a:endParaRPr>
              </a:p>
              <a:p>
                <a14:m>
                  <m:oMath xmlns:m="http://schemas.openxmlformats.org/officeDocument/2006/math">
                    <m:sSub>
                      <m:sSubPr>
                        <m:ctrlPr>
                          <a:rPr lang="zh-CN" altLang="en-US" i="1">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𝛷</m:t>
                        </m:r>
                      </m:e>
                      <m:sub>
                        <m:r>
                          <a:rPr lang="en-US" altLang="zh-CN" b="0" i="0" smtClean="0">
                            <a:solidFill>
                              <a:schemeClr val="bg1"/>
                            </a:solidFill>
                            <a:latin typeface="Cambria Math" panose="02040503050406030204" pitchFamily="18" charset="0"/>
                          </a:rPr>
                          <m:t>2</m:t>
                        </m:r>
                      </m:sub>
                    </m:sSub>
                  </m:oMath>
                </a14:m>
                <a:r>
                  <a:rPr lang="zh-CN" altLang="en-US" dirty="0">
                    <a:solidFill>
                      <a:schemeClr val="bg1"/>
                    </a:solidFill>
                  </a:rPr>
                  <a:t>阶段，</a:t>
                </a:r>
                <a:r>
                  <a:rPr lang="en-US" altLang="zh-CN" dirty="0">
                    <a:solidFill>
                      <a:schemeClr val="bg1"/>
                    </a:solidFill>
                  </a:rPr>
                  <a:t>SW1</a:t>
                </a:r>
                <a:r>
                  <a:rPr lang="zh-CN" altLang="en-US" dirty="0">
                    <a:solidFill>
                      <a:schemeClr val="bg1"/>
                    </a:solidFill>
                  </a:rPr>
                  <a:t>打开，</a:t>
                </a:r>
                <a:r>
                  <a:rPr lang="en-US" altLang="zh-CN" dirty="0">
                    <a:solidFill>
                      <a:schemeClr val="bg1"/>
                    </a:solidFill>
                  </a:rPr>
                  <a:t>SW2</a:t>
                </a:r>
                <a:r>
                  <a:rPr lang="zh-CN" altLang="en-US" dirty="0">
                    <a:solidFill>
                      <a:schemeClr val="bg1"/>
                    </a:solidFill>
                  </a:rPr>
                  <a:t>关断</a:t>
                </a:r>
                <a:endParaRPr lang="zh-CN" altLang="en-US" dirty="0"/>
              </a:p>
            </p:txBody>
          </p:sp>
        </mc:Choice>
        <mc:Fallback xmlns="">
          <p:sp>
            <p:nvSpPr>
              <p:cNvPr id="8" name="矩形 7">
                <a:extLst>
                  <a:ext uri="{FF2B5EF4-FFF2-40B4-BE49-F238E27FC236}">
                    <a16:creationId xmlns:a16="http://schemas.microsoft.com/office/drawing/2014/main" id="{F7679BDB-B495-4A11-94AF-BE21FCB378AF}"/>
                  </a:ext>
                </a:extLst>
              </p:cNvPr>
              <p:cNvSpPr>
                <a:spLocks noRot="1" noChangeAspect="1" noMove="1" noResize="1" noEditPoints="1" noAdjustHandles="1" noChangeArrowheads="1" noChangeShapeType="1" noTextEdit="1"/>
              </p:cNvSpPr>
              <p:nvPr/>
            </p:nvSpPr>
            <p:spPr>
              <a:xfrm>
                <a:off x="5862733" y="2032035"/>
                <a:ext cx="3600140" cy="646331"/>
              </a:xfrm>
              <a:prstGeom prst="rect">
                <a:avLst/>
              </a:prstGeom>
              <a:blipFill>
                <a:blip r:embed="rId5"/>
                <a:stretch>
                  <a:fillRect t="-4717" b="-141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9679AA27-0D6C-44DA-951B-77F5F5E7FEA7}"/>
                  </a:ext>
                </a:extLst>
              </p:cNvPr>
              <p:cNvSpPr txBox="1"/>
              <p:nvPr/>
            </p:nvSpPr>
            <p:spPr>
              <a:xfrm>
                <a:off x="4986533" y="2931550"/>
                <a:ext cx="4719484" cy="646331"/>
              </a:xfrm>
              <a:prstGeom prst="rect">
                <a:avLst/>
              </a:prstGeom>
              <a:noFill/>
            </p:spPr>
            <p:txBody>
              <a:bodyPr wrap="square" rtlCol="0">
                <a:spAutoFit/>
              </a:bodyPr>
              <a:lstStyle/>
              <a:p>
                <a:r>
                  <a:rPr lang="zh-CN" altLang="en-US" dirty="0">
                    <a:solidFill>
                      <a:schemeClr val="bg1"/>
                    </a:solidFill>
                  </a:rPr>
                  <a:t>在</a:t>
                </a:r>
                <a14:m>
                  <m:oMath xmlns:m="http://schemas.openxmlformats.org/officeDocument/2006/math">
                    <m:sSub>
                      <m:sSubPr>
                        <m:ctrlPr>
                          <a:rPr lang="zh-CN" altLang="en-US" i="1">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𝛷</m:t>
                        </m:r>
                      </m:e>
                      <m:sub>
                        <m:r>
                          <a:rPr lang="zh-CN" altLang="en-US">
                            <a:solidFill>
                              <a:schemeClr val="bg1"/>
                            </a:solidFill>
                            <a:latin typeface="Cambria Math" panose="02040503050406030204" pitchFamily="18" charset="0"/>
                          </a:rPr>
                          <m:t>1</m:t>
                        </m:r>
                      </m:sub>
                    </m:sSub>
                  </m:oMath>
                </a14:m>
                <a:r>
                  <a:rPr lang="zh-CN" altLang="en-US" dirty="0">
                    <a:solidFill>
                      <a:schemeClr val="bg1"/>
                    </a:solidFill>
                  </a:rPr>
                  <a:t>阶段，存在一个</a:t>
                </a:r>
                <a14:m>
                  <m:oMath xmlns:m="http://schemas.openxmlformats.org/officeDocument/2006/math">
                    <m:sSub>
                      <m:sSubPr>
                        <m:ctrlPr>
                          <a:rPr lang="zh-CN" altLang="en-US" i="1" smtClean="0">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𝑢</m:t>
                        </m:r>
                      </m:e>
                      <m:sub>
                        <m:r>
                          <a:rPr lang="zh-CN" altLang="en-US">
                            <a:solidFill>
                              <a:schemeClr val="bg1"/>
                            </a:solidFill>
                            <a:latin typeface="Cambria Math" panose="02040503050406030204" pitchFamily="18" charset="0"/>
                          </a:rPr>
                          <m:t>1</m:t>
                        </m:r>
                      </m:sub>
                    </m:sSub>
                  </m:oMath>
                </a14:m>
                <a:r>
                  <a:rPr lang="zh-CN" altLang="en-US" dirty="0">
                    <a:solidFill>
                      <a:schemeClr val="bg1"/>
                    </a:solidFill>
                  </a:rPr>
                  <a:t>给电容</a:t>
                </a:r>
                <a14:m>
                  <m:oMath xmlns:m="http://schemas.openxmlformats.org/officeDocument/2006/math">
                    <m:sSub>
                      <m:sSubPr>
                        <m:ctrlPr>
                          <a:rPr lang="zh-CN" altLang="en-US" i="1" smtClean="0">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𝐶</m:t>
                        </m:r>
                      </m:e>
                      <m:sub>
                        <m:r>
                          <a:rPr lang="zh-CN" altLang="en-US">
                            <a:solidFill>
                              <a:schemeClr val="bg1"/>
                            </a:solidFill>
                            <a:latin typeface="Cambria Math" panose="02040503050406030204" pitchFamily="18" charset="0"/>
                          </a:rPr>
                          <m:t>2</m:t>
                        </m:r>
                      </m:sub>
                    </m:sSub>
                  </m:oMath>
                </a14:m>
                <a:r>
                  <a:rPr lang="zh-CN" altLang="en-US" dirty="0">
                    <a:solidFill>
                      <a:schemeClr val="bg1"/>
                    </a:solidFill>
                  </a:rPr>
                  <a:t>充电的过程，</a:t>
                </a:r>
                <a:r>
                  <a:rPr lang="en-US" altLang="zh-CN" dirty="0">
                    <a:solidFill>
                      <a:schemeClr val="bg1"/>
                    </a:solidFill>
                  </a:rPr>
                  <a:t>C2</a:t>
                </a:r>
                <a:r>
                  <a:rPr lang="zh-CN" altLang="en-US" dirty="0">
                    <a:solidFill>
                      <a:schemeClr val="bg1"/>
                    </a:solidFill>
                  </a:rPr>
                  <a:t>得到电荷为：</a:t>
                </a:r>
              </a:p>
            </p:txBody>
          </p:sp>
        </mc:Choice>
        <mc:Fallback xmlns="">
          <p:sp>
            <p:nvSpPr>
              <p:cNvPr id="10" name="文本框 9">
                <a:extLst>
                  <a:ext uri="{FF2B5EF4-FFF2-40B4-BE49-F238E27FC236}">
                    <a16:creationId xmlns:a16="http://schemas.microsoft.com/office/drawing/2014/main" id="{9679AA27-0D6C-44DA-951B-77F5F5E7FEA7}"/>
                  </a:ext>
                </a:extLst>
              </p:cNvPr>
              <p:cNvSpPr txBox="1">
                <a:spLocks noRot="1" noChangeAspect="1" noMove="1" noResize="1" noEditPoints="1" noAdjustHandles="1" noChangeArrowheads="1" noChangeShapeType="1" noTextEdit="1"/>
              </p:cNvSpPr>
              <p:nvPr/>
            </p:nvSpPr>
            <p:spPr>
              <a:xfrm>
                <a:off x="4986533" y="2931550"/>
                <a:ext cx="4719484" cy="646331"/>
              </a:xfrm>
              <a:prstGeom prst="rect">
                <a:avLst/>
              </a:prstGeom>
              <a:blipFill>
                <a:blip r:embed="rId6"/>
                <a:stretch>
                  <a:fillRect l="-1034" t="-5660" r="-5814" b="-14151"/>
                </a:stretch>
              </a:blipFill>
            </p:spPr>
            <p:txBody>
              <a:bodyPr/>
              <a:lstStyle/>
              <a:p>
                <a:r>
                  <a:rPr lang="zh-CN" altLang="en-US">
                    <a:noFill/>
                  </a:rPr>
                  <a:t> </a:t>
                </a:r>
              </a:p>
            </p:txBody>
          </p:sp>
        </mc:Fallback>
      </mc:AlternateContent>
      <p:graphicFrame>
        <p:nvGraphicFramePr>
          <p:cNvPr id="3" name="对象 2">
            <a:extLst>
              <a:ext uri="{FF2B5EF4-FFF2-40B4-BE49-F238E27FC236}">
                <a16:creationId xmlns:a16="http://schemas.microsoft.com/office/drawing/2014/main" id="{9E9475B9-C2CF-4BCB-9051-F9F388EF23FC}"/>
              </a:ext>
            </a:extLst>
          </p:cNvPr>
          <p:cNvGraphicFramePr>
            <a:graphicFrameLocks noChangeAspect="1"/>
          </p:cNvGraphicFramePr>
          <p:nvPr>
            <p:extLst>
              <p:ext uri="{D42A27DB-BD31-4B8C-83A1-F6EECF244321}">
                <p14:modId xmlns:p14="http://schemas.microsoft.com/office/powerpoint/2010/main" val="3153760585"/>
              </p:ext>
            </p:extLst>
          </p:nvPr>
        </p:nvGraphicFramePr>
        <p:xfrm>
          <a:off x="5167835" y="3790764"/>
          <a:ext cx="1138575" cy="465780"/>
        </p:xfrm>
        <a:graphic>
          <a:graphicData uri="http://schemas.openxmlformats.org/presentationml/2006/ole">
            <mc:AlternateContent xmlns:mc="http://schemas.openxmlformats.org/markup-compatibility/2006">
              <mc:Choice xmlns:v="urn:schemas-microsoft-com:vml" Requires="v">
                <p:oleObj spid="_x0000_s1041" name="Equation" r:id="rId7" imgW="558720" imgH="228600" progId="Equation.DSMT4">
                  <p:embed/>
                </p:oleObj>
              </mc:Choice>
              <mc:Fallback>
                <p:oleObj name="Equation" r:id="rId7" imgW="558720" imgH="228600" progId="Equation.DSMT4">
                  <p:embed/>
                  <p:pic>
                    <p:nvPicPr>
                      <p:cNvPr id="0" name=""/>
                      <p:cNvPicPr/>
                      <p:nvPr/>
                    </p:nvPicPr>
                    <p:blipFill>
                      <a:blip r:embed="rId8"/>
                      <a:stretch>
                        <a:fillRect/>
                      </a:stretch>
                    </p:blipFill>
                    <p:spPr>
                      <a:xfrm>
                        <a:off x="5167835" y="3790764"/>
                        <a:ext cx="1138575" cy="46578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3CCB6924-17F7-4DC4-A8D9-8E25B182EF26}"/>
                  </a:ext>
                </a:extLst>
              </p:cNvPr>
              <p:cNvSpPr txBox="1"/>
              <p:nvPr/>
            </p:nvSpPr>
            <p:spPr>
              <a:xfrm>
                <a:off x="4986533" y="4333312"/>
                <a:ext cx="6357927" cy="1290866"/>
              </a:xfrm>
              <a:prstGeom prst="rect">
                <a:avLst/>
              </a:prstGeom>
              <a:noFill/>
            </p:spPr>
            <p:txBody>
              <a:bodyPr wrap="square" rtlCol="0">
                <a:spAutoFit/>
              </a:bodyPr>
              <a:lstStyle/>
              <a:p>
                <a:r>
                  <a:rPr lang="zh-CN" altLang="en-US" dirty="0">
                    <a:solidFill>
                      <a:schemeClr val="bg1"/>
                    </a:solidFill>
                  </a:rPr>
                  <a:t>在</a:t>
                </a:r>
                <a14:m>
                  <m:oMath xmlns:m="http://schemas.openxmlformats.org/officeDocument/2006/math">
                    <m:sSub>
                      <m:sSubPr>
                        <m:ctrlPr>
                          <a:rPr lang="zh-CN" altLang="en-US" i="1">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𝛷</m:t>
                        </m:r>
                      </m:e>
                      <m:sub>
                        <m:r>
                          <a:rPr lang="en-US" altLang="zh-CN" b="0" i="0" smtClean="0">
                            <a:solidFill>
                              <a:schemeClr val="bg1"/>
                            </a:solidFill>
                            <a:latin typeface="Cambria Math" panose="02040503050406030204" pitchFamily="18" charset="0"/>
                          </a:rPr>
                          <m:t>2</m:t>
                        </m:r>
                      </m:sub>
                    </m:sSub>
                  </m:oMath>
                </a14:m>
                <a:r>
                  <a:rPr lang="zh-CN" altLang="en-US" dirty="0">
                    <a:solidFill>
                      <a:schemeClr val="bg1"/>
                    </a:solidFill>
                  </a:rPr>
                  <a:t>阶段，电容</a:t>
                </a:r>
                <a14:m>
                  <m:oMath xmlns:m="http://schemas.openxmlformats.org/officeDocument/2006/math">
                    <m:sSub>
                      <m:sSubPr>
                        <m:ctrlPr>
                          <a:rPr lang="en-US" altLang="zh-CN" i="1" smtClean="0">
                            <a:solidFill>
                              <a:schemeClr val="bg1"/>
                            </a:solidFill>
                            <a:latin typeface="Cambria Math" panose="02040503050406030204" pitchFamily="18" charset="0"/>
                          </a:rPr>
                        </m:ctrlPr>
                      </m:sSubPr>
                      <m:e>
                        <m:r>
                          <m:rPr>
                            <m:nor/>
                          </m:rPr>
                          <a:rPr lang="en-US" altLang="zh-CN" dirty="0">
                            <a:solidFill>
                              <a:schemeClr val="bg1"/>
                            </a:solidFill>
                          </a:rPr>
                          <m:t>C</m:t>
                        </m:r>
                      </m:e>
                      <m:sub>
                        <m:r>
                          <m:rPr>
                            <m:nor/>
                          </m:rPr>
                          <a:rPr lang="en-US" altLang="zh-CN" dirty="0">
                            <a:solidFill>
                              <a:schemeClr val="bg1"/>
                            </a:solidFill>
                          </a:rPr>
                          <m:t>2</m:t>
                        </m:r>
                      </m:sub>
                    </m:sSub>
                  </m:oMath>
                </a14:m>
                <a:r>
                  <a:rPr lang="zh-CN" altLang="en-US" dirty="0">
                    <a:solidFill>
                      <a:schemeClr val="bg1"/>
                    </a:solidFill>
                  </a:rPr>
                  <a:t>通过</a:t>
                </a:r>
                <a:r>
                  <a:rPr lang="en-US" altLang="zh-CN" dirty="0">
                    <a:solidFill>
                      <a:schemeClr val="bg1"/>
                    </a:solidFill>
                  </a:rPr>
                  <a:t>SW2</a:t>
                </a:r>
                <a:r>
                  <a:rPr lang="zh-CN" altLang="en-US" dirty="0">
                    <a:solidFill>
                      <a:schemeClr val="bg1"/>
                    </a:solidFill>
                  </a:rPr>
                  <a:t>的闭合，接入到积分器运放的负输入端，电容</a:t>
                </a:r>
                <a14:m>
                  <m:oMath xmlns:m="http://schemas.openxmlformats.org/officeDocument/2006/math">
                    <m:sSub>
                      <m:sSubPr>
                        <m:ctrlPr>
                          <a:rPr lang="en-US" altLang="zh-CN" i="1">
                            <a:solidFill>
                              <a:schemeClr val="bg1"/>
                            </a:solidFill>
                            <a:latin typeface="Cambria Math" panose="02040503050406030204" pitchFamily="18" charset="0"/>
                          </a:rPr>
                        </m:ctrlPr>
                      </m:sSubPr>
                      <m:e>
                        <m:r>
                          <m:rPr>
                            <m:nor/>
                          </m:rPr>
                          <a:rPr lang="en-US" altLang="zh-CN" dirty="0">
                            <a:solidFill>
                              <a:schemeClr val="bg1"/>
                            </a:solidFill>
                          </a:rPr>
                          <m:t>C</m:t>
                        </m:r>
                      </m:e>
                      <m:sub>
                        <m:r>
                          <m:rPr>
                            <m:nor/>
                          </m:rPr>
                          <a:rPr lang="en-US" altLang="zh-CN" dirty="0">
                            <a:solidFill>
                              <a:schemeClr val="bg1"/>
                            </a:solidFill>
                          </a:rPr>
                          <m:t>2</m:t>
                        </m:r>
                      </m:sub>
                    </m:sSub>
                  </m:oMath>
                </a14:m>
                <a:r>
                  <a:rPr lang="zh-CN" altLang="en-US" dirty="0">
                    <a:solidFill>
                      <a:schemeClr val="bg1"/>
                    </a:solidFill>
                  </a:rPr>
                  <a:t>中的电荷，将迅速、全部转移给电容</a:t>
                </a:r>
                <a14:m>
                  <m:oMath xmlns:m="http://schemas.openxmlformats.org/officeDocument/2006/math">
                    <m:sSub>
                      <m:sSubPr>
                        <m:ctrlPr>
                          <a:rPr lang="en-US" altLang="zh-CN" i="1" smtClean="0">
                            <a:solidFill>
                              <a:schemeClr val="bg1"/>
                            </a:solidFill>
                            <a:latin typeface="Cambria Math" panose="02040503050406030204" pitchFamily="18" charset="0"/>
                          </a:rPr>
                        </m:ctrlPr>
                      </m:sSubPr>
                      <m:e>
                        <m:r>
                          <m:rPr>
                            <m:nor/>
                          </m:rPr>
                          <a:rPr lang="en-US" altLang="zh-CN" dirty="0">
                            <a:solidFill>
                              <a:schemeClr val="bg1"/>
                            </a:solidFill>
                          </a:rPr>
                          <m:t>C</m:t>
                        </m:r>
                      </m:e>
                      <m:sub>
                        <m:r>
                          <m:rPr>
                            <m:nor/>
                          </m:rPr>
                          <a:rPr lang="en-US" altLang="zh-CN" dirty="0">
                            <a:solidFill>
                              <a:schemeClr val="bg1"/>
                            </a:solidFill>
                          </a:rPr>
                          <m:t>1</m:t>
                        </m:r>
                      </m:sub>
                    </m:sSub>
                  </m:oMath>
                </a14:m>
                <a:r>
                  <a:rPr lang="zh-CN" altLang="en-US" dirty="0">
                    <a:solidFill>
                      <a:schemeClr val="bg1"/>
                    </a:solidFill>
                  </a:rPr>
                  <a:t>，使得</a:t>
                </a:r>
                <a14:m>
                  <m:oMath xmlns:m="http://schemas.openxmlformats.org/officeDocument/2006/math">
                    <m:sSub>
                      <m:sSubPr>
                        <m:ctrlPr>
                          <a:rPr lang="en-US" altLang="zh-CN" i="1">
                            <a:solidFill>
                              <a:schemeClr val="bg1"/>
                            </a:solidFill>
                            <a:latin typeface="Cambria Math" panose="02040503050406030204" pitchFamily="18" charset="0"/>
                          </a:rPr>
                        </m:ctrlPr>
                      </m:sSubPr>
                      <m:e>
                        <m:r>
                          <m:rPr>
                            <m:nor/>
                          </m:rPr>
                          <a:rPr lang="en-US" altLang="zh-CN" dirty="0">
                            <a:solidFill>
                              <a:schemeClr val="bg1"/>
                            </a:solidFill>
                          </a:rPr>
                          <m:t>C</m:t>
                        </m:r>
                      </m:e>
                      <m:sub>
                        <m:r>
                          <m:rPr>
                            <m:nor/>
                          </m:rPr>
                          <a:rPr lang="en-US" altLang="zh-CN" dirty="0">
                            <a:solidFill>
                              <a:schemeClr val="bg1"/>
                            </a:solidFill>
                          </a:rPr>
                          <m:t>2</m:t>
                        </m:r>
                      </m:sub>
                    </m:sSub>
                  </m:oMath>
                </a14:m>
                <a:r>
                  <a:rPr lang="zh-CN" altLang="en-US" dirty="0">
                    <a:solidFill>
                      <a:schemeClr val="bg1"/>
                    </a:solidFill>
                  </a:rPr>
                  <a:t>电压为</a:t>
                </a:r>
                <a:r>
                  <a:rPr lang="en-US" altLang="zh-CN" dirty="0">
                    <a:solidFill>
                      <a:schemeClr val="bg1"/>
                    </a:solidFill>
                  </a:rPr>
                  <a:t>0——</a:t>
                </a:r>
                <a:r>
                  <a:rPr lang="zh-CN" altLang="en-US" dirty="0">
                    <a:solidFill>
                      <a:schemeClr val="bg1"/>
                    </a:solidFill>
                  </a:rPr>
                  <a:t>运放负输入电位变为</a:t>
                </a:r>
                <a:r>
                  <a:rPr lang="en-US" altLang="zh-CN" dirty="0">
                    <a:solidFill>
                      <a:schemeClr val="bg1"/>
                    </a:solidFill>
                  </a:rPr>
                  <a:t>0V</a:t>
                </a:r>
                <a:r>
                  <a:rPr lang="zh-CN" altLang="en-US" dirty="0">
                    <a:solidFill>
                      <a:schemeClr val="bg1"/>
                    </a:solidFill>
                  </a:rPr>
                  <a:t>，这样才会虚短，当然</a:t>
                </a:r>
                <a14:m>
                  <m:oMath xmlns:m="http://schemas.openxmlformats.org/officeDocument/2006/math">
                    <m:sSub>
                      <m:sSubPr>
                        <m:ctrlPr>
                          <a:rPr lang="en-US" altLang="zh-CN" i="1">
                            <a:solidFill>
                              <a:schemeClr val="bg1"/>
                            </a:solidFill>
                            <a:latin typeface="Cambria Math" panose="02040503050406030204" pitchFamily="18" charset="0"/>
                          </a:rPr>
                        </m:ctrlPr>
                      </m:sSubPr>
                      <m:e>
                        <m:r>
                          <m:rPr>
                            <m:nor/>
                          </m:rPr>
                          <a:rPr lang="en-US" altLang="zh-CN" dirty="0">
                            <a:solidFill>
                              <a:schemeClr val="bg1"/>
                            </a:solidFill>
                          </a:rPr>
                          <m:t>C</m:t>
                        </m:r>
                      </m:e>
                      <m:sub>
                        <m:r>
                          <m:rPr>
                            <m:nor/>
                          </m:rPr>
                          <a:rPr lang="en-US" altLang="zh-CN" dirty="0">
                            <a:solidFill>
                              <a:schemeClr val="bg1"/>
                            </a:solidFill>
                          </a:rPr>
                          <m:t>2</m:t>
                        </m:r>
                      </m:sub>
                    </m:sSub>
                  </m:oMath>
                </a14:m>
                <a:r>
                  <a:rPr lang="zh-CN" altLang="en-US" dirty="0">
                    <a:solidFill>
                      <a:schemeClr val="bg1"/>
                    </a:solidFill>
                  </a:rPr>
                  <a:t>的电荷也变为</a:t>
                </a:r>
                <a:r>
                  <a:rPr lang="en-US" altLang="zh-CN" dirty="0">
                    <a:solidFill>
                      <a:schemeClr val="bg1"/>
                    </a:solidFill>
                  </a:rPr>
                  <a:t>0</a:t>
                </a:r>
                <a:r>
                  <a:rPr lang="zh-CN" altLang="en-US" dirty="0">
                    <a:solidFill>
                      <a:schemeClr val="bg1"/>
                    </a:solidFill>
                  </a:rPr>
                  <a:t>。</a:t>
                </a:r>
              </a:p>
            </p:txBody>
          </p:sp>
        </mc:Choice>
        <mc:Fallback xmlns="">
          <p:sp>
            <p:nvSpPr>
              <p:cNvPr id="4" name="文本框 3">
                <a:extLst>
                  <a:ext uri="{FF2B5EF4-FFF2-40B4-BE49-F238E27FC236}">
                    <a16:creationId xmlns:a16="http://schemas.microsoft.com/office/drawing/2014/main" id="{3CCB6924-17F7-4DC4-A8D9-8E25B182EF26}"/>
                  </a:ext>
                </a:extLst>
              </p:cNvPr>
              <p:cNvSpPr txBox="1">
                <a:spLocks noRot="1" noChangeAspect="1" noMove="1" noResize="1" noEditPoints="1" noAdjustHandles="1" noChangeArrowheads="1" noChangeShapeType="1" noTextEdit="1"/>
              </p:cNvSpPr>
              <p:nvPr/>
            </p:nvSpPr>
            <p:spPr>
              <a:xfrm>
                <a:off x="4986533" y="4333312"/>
                <a:ext cx="6357927" cy="1290866"/>
              </a:xfrm>
              <a:prstGeom prst="rect">
                <a:avLst/>
              </a:prstGeom>
              <a:blipFill>
                <a:blip r:embed="rId9"/>
                <a:stretch>
                  <a:fillRect l="-767" t="-2830" b="-471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5254753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wipe(left)">
                                      <p:cBhvr>
                                        <p:cTn id="1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FB4617D3-F938-4675-8259-D9A64EE1FFEA}"/>
              </a:ext>
            </a:extLst>
          </p:cNvPr>
          <p:cNvSpPr/>
          <p:nvPr/>
        </p:nvSpPr>
        <p:spPr>
          <a:xfrm>
            <a:off x="0" y="1367784"/>
            <a:ext cx="12192000" cy="5115608"/>
          </a:xfrm>
          <a:prstGeom prst="rect">
            <a:avLst/>
          </a:prstGeom>
          <a:solidFill>
            <a:srgbClr val="6E8F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7" name="矩形 6"/>
          <p:cNvSpPr/>
          <p:nvPr/>
        </p:nvSpPr>
        <p:spPr>
          <a:xfrm>
            <a:off x="4986533" y="313648"/>
            <a:ext cx="1948638" cy="1054135"/>
          </a:xfrm>
          <a:prstGeom prst="rect">
            <a:avLst/>
          </a:prstGeom>
        </p:spPr>
        <p:txBody>
          <a:bodyPr wrap="square" lIns="68580" tIns="34290" rIns="68580" bIns="34290">
            <a:spAutoFit/>
          </a:bodyPr>
          <a:lstStyle/>
          <a:p>
            <a:pPr>
              <a:defRPr/>
            </a:pPr>
            <a:r>
              <a:rPr lang="zh-CN" altLang="en-US" sz="3200" spc="225" dirty="0">
                <a:cs typeface="+mn-ea"/>
                <a:sym typeface="+mn-lt"/>
              </a:rPr>
              <a:t>原理分析</a:t>
            </a:r>
          </a:p>
          <a:p>
            <a:pPr>
              <a:defRPr/>
            </a:pPr>
            <a:endParaRPr lang="zh-CN" altLang="en-US" sz="3200" spc="225" dirty="0">
              <a:solidFill>
                <a:schemeClr val="bg1"/>
              </a:solidFill>
              <a:cs typeface="+mn-ea"/>
              <a:sym typeface="+mn-lt"/>
            </a:endParaRPr>
          </a:p>
        </p:txBody>
      </p:sp>
      <p:cxnSp>
        <p:nvCxnSpPr>
          <p:cNvPr id="5" name="直接连接符 4"/>
          <p:cNvCxnSpPr/>
          <p:nvPr/>
        </p:nvCxnSpPr>
        <p:spPr>
          <a:xfrm>
            <a:off x="5670548" y="977900"/>
            <a:ext cx="850902"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2" name="图片 1">
            <a:extLst>
              <a:ext uri="{FF2B5EF4-FFF2-40B4-BE49-F238E27FC236}">
                <a16:creationId xmlns:a16="http://schemas.microsoft.com/office/drawing/2014/main" id="{268785CC-2A82-4E4A-8CFF-9DDCEA42DFE9}"/>
              </a:ext>
            </a:extLst>
          </p:cNvPr>
          <p:cNvPicPr>
            <a:picLocks noChangeAspect="1"/>
          </p:cNvPicPr>
          <p:nvPr/>
        </p:nvPicPr>
        <p:blipFill>
          <a:blip r:embed="rId4"/>
          <a:stretch>
            <a:fillRect/>
          </a:stretch>
        </p:blipFill>
        <p:spPr>
          <a:xfrm>
            <a:off x="192868" y="3025469"/>
            <a:ext cx="3309962" cy="1800238"/>
          </a:xfrm>
          <a:prstGeom prst="rect">
            <a:avLst/>
          </a:prstGeom>
        </p:spPr>
      </p:pic>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9679AA27-0D6C-44DA-951B-77F5F5E7FEA7}"/>
                  </a:ext>
                </a:extLst>
              </p:cNvPr>
              <p:cNvSpPr txBox="1"/>
              <p:nvPr/>
            </p:nvSpPr>
            <p:spPr>
              <a:xfrm>
                <a:off x="4939338" y="2043404"/>
                <a:ext cx="4719484" cy="991233"/>
              </a:xfrm>
              <a:prstGeom prst="rect">
                <a:avLst/>
              </a:prstGeom>
              <a:noFill/>
            </p:spPr>
            <p:txBody>
              <a:bodyPr wrap="square" rtlCol="0">
                <a:spAutoFit/>
              </a:bodyPr>
              <a:lstStyle/>
              <a:p>
                <a:r>
                  <a:rPr lang="zh-CN" altLang="en-US" dirty="0">
                    <a:solidFill>
                      <a:schemeClr val="bg1"/>
                    </a:solidFill>
                  </a:rPr>
                  <a:t>这样，在一个完整的周期内，电容</a:t>
                </a:r>
                <a14:m>
                  <m:oMath xmlns:m="http://schemas.openxmlformats.org/officeDocument/2006/math">
                    <m:sSub>
                      <m:sSubPr>
                        <m:ctrlPr>
                          <a:rPr lang="en-US" altLang="zh-CN" i="1" smtClean="0">
                            <a:solidFill>
                              <a:schemeClr val="bg1"/>
                            </a:solidFill>
                            <a:latin typeface="Cambria Math" panose="02040503050406030204" pitchFamily="18" charset="0"/>
                          </a:rPr>
                        </m:ctrlPr>
                      </m:sSubPr>
                      <m:e>
                        <m:r>
                          <m:rPr>
                            <m:nor/>
                          </m:rPr>
                          <a:rPr lang="en-US" altLang="zh-CN" dirty="0">
                            <a:solidFill>
                              <a:schemeClr val="bg1"/>
                            </a:solidFill>
                          </a:rPr>
                          <m:t>C</m:t>
                        </m:r>
                      </m:e>
                      <m:sub>
                        <m:r>
                          <m:rPr>
                            <m:nor/>
                          </m:rPr>
                          <a:rPr lang="en-US" altLang="zh-CN" dirty="0">
                            <a:solidFill>
                              <a:schemeClr val="bg1"/>
                            </a:solidFill>
                          </a:rPr>
                          <m:t>2</m:t>
                        </m:r>
                      </m:sub>
                    </m:sSub>
                  </m:oMath>
                </a14:m>
                <a:r>
                  <a:rPr lang="zh-CN" altLang="en-US" dirty="0">
                    <a:solidFill>
                      <a:schemeClr val="bg1"/>
                    </a:solidFill>
                  </a:rPr>
                  <a:t>从</a:t>
                </a:r>
                <a14:m>
                  <m:oMath xmlns:m="http://schemas.openxmlformats.org/officeDocument/2006/math">
                    <m:sSub>
                      <m:sSubPr>
                        <m:ctrlPr>
                          <a:rPr lang="zh-CN" altLang="en-US" i="1">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𝑢</m:t>
                        </m:r>
                      </m:e>
                      <m:sub>
                        <m:r>
                          <a:rPr lang="zh-CN" altLang="en-US">
                            <a:solidFill>
                              <a:schemeClr val="bg1"/>
                            </a:solidFill>
                            <a:latin typeface="Cambria Math" panose="02040503050406030204" pitchFamily="18" charset="0"/>
                          </a:rPr>
                          <m:t>1</m:t>
                        </m:r>
                      </m:sub>
                    </m:sSub>
                  </m:oMath>
                </a14:m>
                <a:r>
                  <a:rPr lang="zh-CN" altLang="en-US" dirty="0">
                    <a:solidFill>
                      <a:schemeClr val="bg1"/>
                    </a:solidFill>
                  </a:rPr>
                  <a:t>转移走的电荷总量为</a:t>
                </a:r>
                <a14:m>
                  <m:oMath xmlns:m="http://schemas.openxmlformats.org/officeDocument/2006/math">
                    <m:sSub>
                      <m:sSubPr>
                        <m:ctrlPr>
                          <a:rPr lang="zh-CN" altLang="en-US" i="1">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𝑢</m:t>
                        </m:r>
                      </m:e>
                      <m:sub>
                        <m:r>
                          <a:rPr lang="zh-CN" altLang="en-US">
                            <a:solidFill>
                              <a:schemeClr val="bg1"/>
                            </a:solidFill>
                            <a:latin typeface="Cambria Math" panose="02040503050406030204" pitchFamily="18" charset="0"/>
                          </a:rPr>
                          <m:t>1</m:t>
                        </m:r>
                      </m:sub>
                    </m:sSub>
                    <m:sSub>
                      <m:sSubPr>
                        <m:ctrlPr>
                          <a:rPr lang="en-US" altLang="zh-CN" i="1">
                            <a:solidFill>
                              <a:schemeClr val="bg1"/>
                            </a:solidFill>
                            <a:latin typeface="Cambria Math" panose="02040503050406030204" pitchFamily="18" charset="0"/>
                          </a:rPr>
                        </m:ctrlPr>
                      </m:sSubPr>
                      <m:e>
                        <m:r>
                          <m:rPr>
                            <m:nor/>
                          </m:rPr>
                          <a:rPr lang="en-US" altLang="zh-CN" dirty="0">
                            <a:solidFill>
                              <a:schemeClr val="bg1"/>
                            </a:solidFill>
                          </a:rPr>
                          <m:t>C</m:t>
                        </m:r>
                      </m:e>
                      <m:sub>
                        <m:r>
                          <m:rPr>
                            <m:nor/>
                          </m:rPr>
                          <a:rPr lang="en-US" altLang="zh-CN" dirty="0">
                            <a:solidFill>
                              <a:schemeClr val="bg1"/>
                            </a:solidFill>
                          </a:rPr>
                          <m:t>2</m:t>
                        </m:r>
                      </m:sub>
                    </m:sSub>
                  </m:oMath>
                </a14:m>
                <a:r>
                  <a:rPr lang="zh-CN" altLang="en-US" dirty="0">
                    <a:solidFill>
                      <a:schemeClr val="bg1"/>
                    </a:solidFill>
                  </a:rPr>
                  <a:t>，如果频率为</a:t>
                </a:r>
                <a14:m>
                  <m:oMath xmlns:m="http://schemas.openxmlformats.org/officeDocument/2006/math">
                    <m:sSub>
                      <m:sSubPr>
                        <m:ctrlPr>
                          <a:rPr lang="zh-CN" altLang="en-US" i="1">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𝑓</m:t>
                        </m:r>
                      </m:e>
                      <m:sub>
                        <m:r>
                          <a:rPr lang="zh-CN" altLang="en-US" i="1">
                            <a:solidFill>
                              <a:schemeClr val="bg1"/>
                            </a:solidFill>
                            <a:latin typeface="Cambria Math" panose="02040503050406030204" pitchFamily="18" charset="0"/>
                          </a:rPr>
                          <m:t>𝐶𝐿𝐾</m:t>
                        </m:r>
                      </m:sub>
                    </m:sSub>
                    <m:r>
                      <a:rPr lang="zh-CN" altLang="en-US" i="1">
                        <a:solidFill>
                          <a:schemeClr val="bg1"/>
                        </a:solidFill>
                        <a:latin typeface="Cambria Math" panose="02040503050406030204" pitchFamily="18" charset="0"/>
                      </a:rPr>
                      <m:t> </m:t>
                    </m:r>
                  </m:oMath>
                </a14:m>
                <a:r>
                  <a:rPr lang="zh-CN" altLang="en-US" dirty="0">
                    <a:solidFill>
                      <a:schemeClr val="bg1"/>
                    </a:solidFill>
                  </a:rPr>
                  <a:t>，则</a:t>
                </a:r>
                <a:r>
                  <a:rPr lang="en-US" altLang="zh-CN" dirty="0">
                    <a:solidFill>
                      <a:schemeClr val="bg1"/>
                    </a:solidFill>
                  </a:rPr>
                  <a:t>1</a:t>
                </a:r>
                <a:r>
                  <a:rPr lang="zh-CN" altLang="en-US" dirty="0">
                    <a:solidFill>
                      <a:schemeClr val="bg1"/>
                    </a:solidFill>
                  </a:rPr>
                  <a:t>秒内，电容</a:t>
                </a:r>
                <a14:m>
                  <m:oMath xmlns:m="http://schemas.openxmlformats.org/officeDocument/2006/math">
                    <m:sSub>
                      <m:sSubPr>
                        <m:ctrlPr>
                          <a:rPr lang="en-US" altLang="zh-CN" i="1">
                            <a:solidFill>
                              <a:schemeClr val="bg1"/>
                            </a:solidFill>
                            <a:latin typeface="Cambria Math" panose="02040503050406030204" pitchFamily="18" charset="0"/>
                          </a:rPr>
                        </m:ctrlPr>
                      </m:sSubPr>
                      <m:e>
                        <m:r>
                          <m:rPr>
                            <m:nor/>
                          </m:rPr>
                          <a:rPr lang="en-US" altLang="zh-CN" dirty="0">
                            <a:solidFill>
                              <a:schemeClr val="bg1"/>
                            </a:solidFill>
                          </a:rPr>
                          <m:t>C</m:t>
                        </m:r>
                      </m:e>
                      <m:sub>
                        <m:r>
                          <m:rPr>
                            <m:nor/>
                          </m:rPr>
                          <a:rPr lang="en-US" altLang="zh-CN" dirty="0">
                            <a:solidFill>
                              <a:schemeClr val="bg1"/>
                            </a:solidFill>
                          </a:rPr>
                          <m:t>2</m:t>
                        </m:r>
                      </m:sub>
                    </m:sSub>
                  </m:oMath>
                </a14:m>
                <a:r>
                  <a:rPr lang="zh-CN" altLang="en-US" dirty="0">
                    <a:solidFill>
                      <a:schemeClr val="bg1"/>
                    </a:solidFill>
                  </a:rPr>
                  <a:t>从</a:t>
                </a:r>
                <a14:m>
                  <m:oMath xmlns:m="http://schemas.openxmlformats.org/officeDocument/2006/math">
                    <m:sSub>
                      <m:sSubPr>
                        <m:ctrlPr>
                          <a:rPr lang="zh-CN" altLang="en-US" i="1">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𝑢</m:t>
                        </m:r>
                      </m:e>
                      <m:sub>
                        <m:r>
                          <a:rPr lang="zh-CN" altLang="en-US">
                            <a:solidFill>
                              <a:schemeClr val="bg1"/>
                            </a:solidFill>
                            <a:latin typeface="Cambria Math" panose="02040503050406030204" pitchFamily="18" charset="0"/>
                          </a:rPr>
                          <m:t>1</m:t>
                        </m:r>
                      </m:sub>
                    </m:sSub>
                  </m:oMath>
                </a14:m>
                <a:r>
                  <a:rPr lang="zh-CN" altLang="en-US" dirty="0">
                    <a:solidFill>
                      <a:schemeClr val="bg1"/>
                    </a:solidFill>
                  </a:rPr>
                  <a:t>转移走的电荷总量为</a:t>
                </a:r>
                <a:r>
                  <a:rPr lang="zh-CN" altLang="en-US" dirty="0"/>
                  <a:t>：</a:t>
                </a:r>
                <a:endParaRPr lang="zh-CN" altLang="en-US" dirty="0">
                  <a:solidFill>
                    <a:schemeClr val="bg1"/>
                  </a:solidFill>
                </a:endParaRPr>
              </a:p>
            </p:txBody>
          </p:sp>
        </mc:Choice>
        <mc:Fallback xmlns="">
          <p:sp>
            <p:nvSpPr>
              <p:cNvPr id="10" name="文本框 9">
                <a:extLst>
                  <a:ext uri="{FF2B5EF4-FFF2-40B4-BE49-F238E27FC236}">
                    <a16:creationId xmlns:a16="http://schemas.microsoft.com/office/drawing/2014/main" id="{9679AA27-0D6C-44DA-951B-77F5F5E7FEA7}"/>
                  </a:ext>
                </a:extLst>
              </p:cNvPr>
              <p:cNvSpPr txBox="1">
                <a:spLocks noRot="1" noChangeAspect="1" noMove="1" noResize="1" noEditPoints="1" noAdjustHandles="1" noChangeArrowheads="1" noChangeShapeType="1" noTextEdit="1"/>
              </p:cNvSpPr>
              <p:nvPr/>
            </p:nvSpPr>
            <p:spPr>
              <a:xfrm>
                <a:off x="4939338" y="2043404"/>
                <a:ext cx="4719484" cy="991233"/>
              </a:xfrm>
              <a:prstGeom prst="rect">
                <a:avLst/>
              </a:prstGeom>
              <a:blipFill>
                <a:blip r:embed="rId5"/>
                <a:stretch>
                  <a:fillRect l="-1034" t="-3067" r="-5943" b="-6135"/>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3CCB6924-17F7-4DC4-A8D9-8E25B182EF26}"/>
              </a:ext>
            </a:extLst>
          </p:cNvPr>
          <p:cNvSpPr txBox="1"/>
          <p:nvPr/>
        </p:nvSpPr>
        <p:spPr>
          <a:xfrm>
            <a:off x="4939338" y="3890022"/>
            <a:ext cx="6357927" cy="369332"/>
          </a:xfrm>
          <a:prstGeom prst="rect">
            <a:avLst/>
          </a:prstGeom>
          <a:noFill/>
        </p:spPr>
        <p:txBody>
          <a:bodyPr wrap="square" rtlCol="0">
            <a:spAutoFit/>
          </a:bodyPr>
          <a:lstStyle/>
          <a:p>
            <a:r>
              <a:rPr lang="zh-CN" altLang="en-US" dirty="0">
                <a:solidFill>
                  <a:schemeClr val="bg1"/>
                </a:solidFill>
              </a:rPr>
              <a:t>在</a:t>
            </a:r>
            <a:r>
              <a:rPr lang="en-US" altLang="zh-CN" dirty="0">
                <a:solidFill>
                  <a:schemeClr val="bg1"/>
                </a:solidFill>
              </a:rPr>
              <a:t>1</a:t>
            </a:r>
            <a:r>
              <a:rPr lang="zh-CN" altLang="en-US" dirty="0">
                <a:solidFill>
                  <a:schemeClr val="bg1"/>
                </a:solidFill>
              </a:rPr>
              <a:t>秒内，转移给后续电路的电荷总量为：</a:t>
            </a:r>
          </a:p>
        </p:txBody>
      </p:sp>
      <p:graphicFrame>
        <p:nvGraphicFramePr>
          <p:cNvPr id="9" name="对象 8">
            <a:extLst>
              <a:ext uri="{FF2B5EF4-FFF2-40B4-BE49-F238E27FC236}">
                <a16:creationId xmlns:a16="http://schemas.microsoft.com/office/drawing/2014/main" id="{069D0D3D-F5D9-4FB3-A5A6-737FE98F67D1}"/>
              </a:ext>
            </a:extLst>
          </p:cNvPr>
          <p:cNvGraphicFramePr>
            <a:graphicFrameLocks noChangeAspect="1"/>
          </p:cNvGraphicFramePr>
          <p:nvPr>
            <p:extLst>
              <p:ext uri="{D42A27DB-BD31-4B8C-83A1-F6EECF244321}">
                <p14:modId xmlns:p14="http://schemas.microsoft.com/office/powerpoint/2010/main" val="2246564282"/>
              </p:ext>
            </p:extLst>
          </p:nvPr>
        </p:nvGraphicFramePr>
        <p:xfrm>
          <a:off x="4986533" y="3193373"/>
          <a:ext cx="1858830" cy="471253"/>
        </p:xfrm>
        <a:graphic>
          <a:graphicData uri="http://schemas.openxmlformats.org/presentationml/2006/ole">
            <mc:AlternateContent xmlns:mc="http://schemas.openxmlformats.org/markup-compatibility/2006">
              <mc:Choice xmlns:v="urn:schemas-microsoft-com:vml" Requires="v">
                <p:oleObj spid="_x0000_s2092" name="Equation" r:id="rId6" imgW="901440" imgH="228600" progId="Equation.DSMT4">
                  <p:embed/>
                </p:oleObj>
              </mc:Choice>
              <mc:Fallback>
                <p:oleObj name="Equation" r:id="rId6" imgW="901440" imgH="228600" progId="Equation.DSMT4">
                  <p:embed/>
                  <p:pic>
                    <p:nvPicPr>
                      <p:cNvPr id="0" name=""/>
                      <p:cNvPicPr/>
                      <p:nvPr/>
                    </p:nvPicPr>
                    <p:blipFill>
                      <a:blip r:embed="rId7"/>
                      <a:stretch>
                        <a:fillRect/>
                      </a:stretch>
                    </p:blipFill>
                    <p:spPr>
                      <a:xfrm>
                        <a:off x="4986533" y="3193373"/>
                        <a:ext cx="1858830" cy="471253"/>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9C15AA6B-B12C-44EB-8B4C-FB4C13C52F4B}"/>
              </a:ext>
            </a:extLst>
          </p:cNvPr>
          <p:cNvGraphicFramePr>
            <a:graphicFrameLocks noChangeAspect="1"/>
          </p:cNvGraphicFramePr>
          <p:nvPr>
            <p:extLst>
              <p:ext uri="{D42A27DB-BD31-4B8C-83A1-F6EECF244321}">
                <p14:modId xmlns:p14="http://schemas.microsoft.com/office/powerpoint/2010/main" val="1500361710"/>
              </p:ext>
            </p:extLst>
          </p:nvPr>
        </p:nvGraphicFramePr>
        <p:xfrm>
          <a:off x="4986533" y="4173106"/>
          <a:ext cx="3816404" cy="876741"/>
        </p:xfrm>
        <a:graphic>
          <a:graphicData uri="http://schemas.openxmlformats.org/presentationml/2006/ole">
            <mc:AlternateContent xmlns:mc="http://schemas.openxmlformats.org/markup-compatibility/2006">
              <mc:Choice xmlns:v="urn:schemas-microsoft-com:vml" Requires="v">
                <p:oleObj spid="_x0000_s2093" name="Equation" r:id="rId8" imgW="1879560" imgH="431640" progId="Equation.DSMT4">
                  <p:embed/>
                </p:oleObj>
              </mc:Choice>
              <mc:Fallback>
                <p:oleObj name="Equation" r:id="rId8" imgW="1879560" imgH="431640" progId="Equation.DSMT4">
                  <p:embed/>
                  <p:pic>
                    <p:nvPicPr>
                      <p:cNvPr id="0" name=""/>
                      <p:cNvPicPr/>
                      <p:nvPr/>
                    </p:nvPicPr>
                    <p:blipFill>
                      <a:blip r:embed="rId9"/>
                      <a:stretch>
                        <a:fillRect/>
                      </a:stretch>
                    </p:blipFill>
                    <p:spPr>
                      <a:xfrm>
                        <a:off x="4986533" y="4173106"/>
                        <a:ext cx="3816404" cy="876741"/>
                      </a:xfrm>
                      <a:prstGeom prst="rect">
                        <a:avLst/>
                      </a:prstGeom>
                    </p:spPr>
                  </p:pic>
                </p:oleObj>
              </mc:Fallback>
            </mc:AlternateContent>
          </a:graphicData>
        </a:graphic>
      </p:graphicFrame>
      <p:sp>
        <p:nvSpPr>
          <p:cNvPr id="12" name="文本框 11">
            <a:extLst>
              <a:ext uri="{FF2B5EF4-FFF2-40B4-BE49-F238E27FC236}">
                <a16:creationId xmlns:a16="http://schemas.microsoft.com/office/drawing/2014/main" id="{8E20A085-9AB1-4C6C-ADC0-3788DD442722}"/>
              </a:ext>
            </a:extLst>
          </p:cNvPr>
          <p:cNvSpPr txBox="1"/>
          <p:nvPr/>
        </p:nvSpPr>
        <p:spPr>
          <a:xfrm>
            <a:off x="4939338" y="5049847"/>
            <a:ext cx="5639784" cy="369332"/>
          </a:xfrm>
          <a:prstGeom prst="rect">
            <a:avLst/>
          </a:prstGeom>
          <a:noFill/>
        </p:spPr>
        <p:txBody>
          <a:bodyPr wrap="square" rtlCol="0">
            <a:spAutoFit/>
          </a:bodyPr>
          <a:lstStyle/>
          <a:p>
            <a:r>
              <a:rPr lang="zh-CN" altLang="en-US" dirty="0">
                <a:solidFill>
                  <a:schemeClr val="bg1"/>
                </a:solidFill>
              </a:rPr>
              <a:t>开关电容模块要模拟标准积分器，则两个电荷应相同：</a:t>
            </a:r>
          </a:p>
        </p:txBody>
      </p:sp>
      <p:graphicFrame>
        <p:nvGraphicFramePr>
          <p:cNvPr id="14" name="对象 13">
            <a:extLst>
              <a:ext uri="{FF2B5EF4-FFF2-40B4-BE49-F238E27FC236}">
                <a16:creationId xmlns:a16="http://schemas.microsoft.com/office/drawing/2014/main" id="{94A25546-4A1B-4269-88AF-7D3255E39E98}"/>
              </a:ext>
            </a:extLst>
          </p:cNvPr>
          <p:cNvGraphicFramePr>
            <a:graphicFrameLocks noChangeAspect="1"/>
          </p:cNvGraphicFramePr>
          <p:nvPr>
            <p:extLst>
              <p:ext uri="{D42A27DB-BD31-4B8C-83A1-F6EECF244321}">
                <p14:modId xmlns:p14="http://schemas.microsoft.com/office/powerpoint/2010/main" val="656225189"/>
              </p:ext>
            </p:extLst>
          </p:nvPr>
        </p:nvGraphicFramePr>
        <p:xfrm>
          <a:off x="4986533" y="5476952"/>
          <a:ext cx="1643253" cy="809389"/>
        </p:xfrm>
        <a:graphic>
          <a:graphicData uri="http://schemas.openxmlformats.org/presentationml/2006/ole">
            <mc:AlternateContent xmlns:mc="http://schemas.openxmlformats.org/markup-compatibility/2006">
              <mc:Choice xmlns:v="urn:schemas-microsoft-com:vml" Requires="v">
                <p:oleObj spid="_x0000_s2094" name="Equation" r:id="rId10" imgW="876240" imgH="431640" progId="Equation.DSMT4">
                  <p:embed/>
                </p:oleObj>
              </mc:Choice>
              <mc:Fallback>
                <p:oleObj name="Equation" r:id="rId10" imgW="876240" imgH="431640" progId="Equation.DSMT4">
                  <p:embed/>
                  <p:pic>
                    <p:nvPicPr>
                      <p:cNvPr id="0" name=""/>
                      <p:cNvPicPr/>
                      <p:nvPr/>
                    </p:nvPicPr>
                    <p:blipFill>
                      <a:blip r:embed="rId11"/>
                      <a:stretch>
                        <a:fillRect/>
                      </a:stretch>
                    </p:blipFill>
                    <p:spPr>
                      <a:xfrm>
                        <a:off x="4986533" y="5476952"/>
                        <a:ext cx="1643253" cy="809389"/>
                      </a:xfrm>
                      <a:prstGeom prst="rect">
                        <a:avLst/>
                      </a:prstGeom>
                    </p:spPr>
                  </p:pic>
                </p:oleObj>
              </mc:Fallback>
            </mc:AlternateContent>
          </a:graphicData>
        </a:graphic>
      </p:graphicFrame>
    </p:spTree>
    <p:extLst>
      <p:ext uri="{BB962C8B-B14F-4D97-AF65-F5344CB8AC3E}">
        <p14:creationId xmlns:p14="http://schemas.microsoft.com/office/powerpoint/2010/main" val="310298404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wipe(left)">
                                      <p:cBhvr>
                                        <p:cTn id="1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FB4617D3-F938-4675-8259-D9A64EE1FFEA}"/>
              </a:ext>
            </a:extLst>
          </p:cNvPr>
          <p:cNvSpPr/>
          <p:nvPr/>
        </p:nvSpPr>
        <p:spPr>
          <a:xfrm>
            <a:off x="-1" y="1367784"/>
            <a:ext cx="12192000" cy="5115608"/>
          </a:xfrm>
          <a:prstGeom prst="rect">
            <a:avLst/>
          </a:prstGeom>
          <a:solidFill>
            <a:srgbClr val="6E8F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7" name="矩形 6"/>
          <p:cNvSpPr/>
          <p:nvPr/>
        </p:nvSpPr>
        <p:spPr>
          <a:xfrm>
            <a:off x="4986533" y="313648"/>
            <a:ext cx="1948638" cy="1054135"/>
          </a:xfrm>
          <a:prstGeom prst="rect">
            <a:avLst/>
          </a:prstGeom>
        </p:spPr>
        <p:txBody>
          <a:bodyPr wrap="square" lIns="68580" tIns="34290" rIns="68580" bIns="34290">
            <a:spAutoFit/>
          </a:bodyPr>
          <a:lstStyle/>
          <a:p>
            <a:pPr>
              <a:defRPr/>
            </a:pPr>
            <a:r>
              <a:rPr lang="zh-CN" altLang="en-US" sz="3200" spc="225" dirty="0">
                <a:cs typeface="+mn-ea"/>
                <a:sym typeface="+mn-lt"/>
              </a:rPr>
              <a:t>原理分析</a:t>
            </a:r>
          </a:p>
          <a:p>
            <a:pPr>
              <a:defRPr/>
            </a:pPr>
            <a:endParaRPr lang="zh-CN" altLang="en-US" sz="3200" spc="225" dirty="0">
              <a:solidFill>
                <a:schemeClr val="bg1"/>
              </a:solidFill>
              <a:cs typeface="+mn-ea"/>
              <a:sym typeface="+mn-lt"/>
            </a:endParaRPr>
          </a:p>
        </p:txBody>
      </p:sp>
      <p:cxnSp>
        <p:nvCxnSpPr>
          <p:cNvPr id="5" name="直接连接符 4"/>
          <p:cNvCxnSpPr/>
          <p:nvPr/>
        </p:nvCxnSpPr>
        <p:spPr>
          <a:xfrm>
            <a:off x="5670548" y="977900"/>
            <a:ext cx="850902"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2" name="图片 1">
            <a:extLst>
              <a:ext uri="{FF2B5EF4-FFF2-40B4-BE49-F238E27FC236}">
                <a16:creationId xmlns:a16="http://schemas.microsoft.com/office/drawing/2014/main" id="{268785CC-2A82-4E4A-8CFF-9DDCEA42DFE9}"/>
              </a:ext>
            </a:extLst>
          </p:cNvPr>
          <p:cNvPicPr>
            <a:picLocks noChangeAspect="1"/>
          </p:cNvPicPr>
          <p:nvPr/>
        </p:nvPicPr>
        <p:blipFill>
          <a:blip r:embed="rId4"/>
          <a:stretch>
            <a:fillRect/>
          </a:stretch>
        </p:blipFill>
        <p:spPr>
          <a:xfrm>
            <a:off x="192868" y="3025469"/>
            <a:ext cx="3309962" cy="1800238"/>
          </a:xfrm>
          <a:prstGeom prst="rect">
            <a:avLst/>
          </a:prstGeom>
        </p:spPr>
      </p:pic>
      <p:graphicFrame>
        <p:nvGraphicFramePr>
          <p:cNvPr id="11" name="对象 10">
            <a:extLst>
              <a:ext uri="{FF2B5EF4-FFF2-40B4-BE49-F238E27FC236}">
                <a16:creationId xmlns:a16="http://schemas.microsoft.com/office/drawing/2014/main" id="{0F25E5A8-2B3F-4448-9E9A-72AC95807C7A}"/>
              </a:ext>
            </a:extLst>
          </p:cNvPr>
          <p:cNvGraphicFramePr>
            <a:graphicFrameLocks noChangeAspect="1"/>
          </p:cNvGraphicFramePr>
          <p:nvPr>
            <p:extLst>
              <p:ext uri="{D42A27DB-BD31-4B8C-83A1-F6EECF244321}">
                <p14:modId xmlns:p14="http://schemas.microsoft.com/office/powerpoint/2010/main" val="3491256332"/>
              </p:ext>
            </p:extLst>
          </p:nvPr>
        </p:nvGraphicFramePr>
        <p:xfrm>
          <a:off x="6272980" y="2180043"/>
          <a:ext cx="3232511" cy="1690852"/>
        </p:xfrm>
        <a:graphic>
          <a:graphicData uri="http://schemas.openxmlformats.org/presentationml/2006/ole">
            <mc:AlternateContent xmlns:mc="http://schemas.openxmlformats.org/markup-compatibility/2006">
              <mc:Choice xmlns:v="urn:schemas-microsoft-com:vml" Requires="v">
                <p:oleObj spid="_x0000_s3088" name="Equation" r:id="rId5" imgW="825480" imgH="431640" progId="Equation.DSMT4">
                  <p:embed/>
                </p:oleObj>
              </mc:Choice>
              <mc:Fallback>
                <p:oleObj name="Equation" r:id="rId5" imgW="825480" imgH="431640" progId="Equation.DSMT4">
                  <p:embed/>
                  <p:pic>
                    <p:nvPicPr>
                      <p:cNvPr id="0" name=""/>
                      <p:cNvPicPr/>
                      <p:nvPr/>
                    </p:nvPicPr>
                    <p:blipFill>
                      <a:blip r:embed="rId6"/>
                      <a:stretch>
                        <a:fillRect/>
                      </a:stretch>
                    </p:blipFill>
                    <p:spPr>
                      <a:xfrm>
                        <a:off x="6272980" y="2180043"/>
                        <a:ext cx="3232511" cy="1690852"/>
                      </a:xfrm>
                      <a:prstGeom prst="rect">
                        <a:avLst/>
                      </a:prstGeom>
                    </p:spPr>
                  </p:pic>
                </p:oleObj>
              </mc:Fallback>
            </mc:AlternateContent>
          </a:graphicData>
        </a:graphic>
      </p:graphicFrame>
      <p:sp>
        <p:nvSpPr>
          <p:cNvPr id="12" name="文本框 11">
            <a:extLst>
              <a:ext uri="{FF2B5EF4-FFF2-40B4-BE49-F238E27FC236}">
                <a16:creationId xmlns:a16="http://schemas.microsoft.com/office/drawing/2014/main" id="{144D2F57-E0DB-4A4E-B10A-662BAEF428FF}"/>
              </a:ext>
            </a:extLst>
          </p:cNvPr>
          <p:cNvSpPr txBox="1"/>
          <p:nvPr/>
        </p:nvSpPr>
        <p:spPr>
          <a:xfrm>
            <a:off x="5577548" y="4533319"/>
            <a:ext cx="5226829" cy="584775"/>
          </a:xfrm>
          <a:prstGeom prst="rect">
            <a:avLst/>
          </a:prstGeom>
          <a:noFill/>
        </p:spPr>
        <p:txBody>
          <a:bodyPr wrap="square" rtlCol="0">
            <a:spAutoFit/>
          </a:bodyPr>
          <a:lstStyle/>
          <a:p>
            <a:r>
              <a:rPr lang="zh-CN" altLang="en-US" sz="3200" dirty="0">
                <a:solidFill>
                  <a:schemeClr val="bg1"/>
                </a:solidFill>
              </a:rPr>
              <a:t>电阻阻值由时钟频率控制！</a:t>
            </a:r>
          </a:p>
        </p:txBody>
      </p:sp>
    </p:spTree>
    <p:extLst>
      <p:ext uri="{BB962C8B-B14F-4D97-AF65-F5344CB8AC3E}">
        <p14:creationId xmlns:p14="http://schemas.microsoft.com/office/powerpoint/2010/main" val="24915790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wipe(left)">
                                      <p:cBhvr>
                                        <p:cTn id="1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5167432" y="284790"/>
            <a:ext cx="1857134" cy="561692"/>
          </a:xfrm>
          <a:prstGeom prst="rect">
            <a:avLst/>
          </a:prstGeom>
        </p:spPr>
        <p:txBody>
          <a:bodyPr wrap="square" lIns="68580" tIns="34290" rIns="68580" bIns="34290">
            <a:spAutoFit/>
          </a:bodyPr>
          <a:lstStyle/>
          <a:p>
            <a:pPr>
              <a:defRPr/>
            </a:pPr>
            <a:r>
              <a:rPr lang="zh-CN" altLang="en-US" sz="3200" b="1" dirty="0"/>
              <a:t>原理分析</a:t>
            </a:r>
            <a:endParaRPr lang="zh-CN" altLang="en-US" sz="3200" spc="225" dirty="0">
              <a:cs typeface="+mn-ea"/>
              <a:sym typeface="+mn-lt"/>
            </a:endParaRPr>
          </a:p>
        </p:txBody>
      </p:sp>
      <p:cxnSp>
        <p:nvCxnSpPr>
          <p:cNvPr id="5" name="直接连接符 4"/>
          <p:cNvCxnSpPr/>
          <p:nvPr/>
        </p:nvCxnSpPr>
        <p:spPr>
          <a:xfrm>
            <a:off x="5670548" y="977900"/>
            <a:ext cx="850902"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165784" y="870414"/>
            <a:ext cx="4795804" cy="905889"/>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gn="dist">
              <a:lnSpc>
                <a:spcPct val="150000"/>
              </a:lnSpc>
            </a:pPr>
            <a:r>
              <a:rPr lang="zh-CN" altLang="en-US" sz="4000" b="1" dirty="0">
                <a:solidFill>
                  <a:schemeClr val="bg1"/>
                </a:solidFill>
                <a:cs typeface="+mn-ea"/>
                <a:sym typeface="+mn-lt"/>
              </a:rPr>
              <a:t>初始化函数</a:t>
            </a:r>
            <a:endParaRPr lang="en-US" sz="4000" b="1" dirty="0">
              <a:solidFill>
                <a:schemeClr val="bg1"/>
              </a:solidFill>
              <a:cs typeface="+mn-ea"/>
              <a:sym typeface="+mn-lt"/>
            </a:endParaRPr>
          </a:p>
        </p:txBody>
      </p:sp>
      <p:sp>
        <p:nvSpPr>
          <p:cNvPr id="17" name="矩形 16">
            <a:extLst>
              <a:ext uri="{FF2B5EF4-FFF2-40B4-BE49-F238E27FC236}">
                <a16:creationId xmlns:a16="http://schemas.microsoft.com/office/drawing/2014/main" id="{EF89167E-CFC2-4FED-AC69-C0CF5DDEF17E}"/>
              </a:ext>
            </a:extLst>
          </p:cNvPr>
          <p:cNvSpPr/>
          <p:nvPr/>
        </p:nvSpPr>
        <p:spPr>
          <a:xfrm>
            <a:off x="12004" y="1145596"/>
            <a:ext cx="4296335" cy="776603"/>
          </a:xfrm>
          <a:prstGeom prst="rect">
            <a:avLst/>
          </a:prstGeom>
          <a:solidFill>
            <a:srgbClr val="6E8F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19" name="文本框 18">
            <a:extLst>
              <a:ext uri="{FF2B5EF4-FFF2-40B4-BE49-F238E27FC236}">
                <a16:creationId xmlns:a16="http://schemas.microsoft.com/office/drawing/2014/main" id="{0FE4C084-6174-44D8-AD9C-C72B2AAA7158}"/>
              </a:ext>
            </a:extLst>
          </p:cNvPr>
          <p:cNvSpPr txBox="1"/>
          <p:nvPr/>
        </p:nvSpPr>
        <p:spPr>
          <a:xfrm>
            <a:off x="1504882" y="1045728"/>
            <a:ext cx="1310577" cy="707886"/>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r>
              <a:rPr lang="zh-CN" altLang="en-US" sz="4000" dirty="0">
                <a:solidFill>
                  <a:schemeClr val="bg1"/>
                </a:solidFill>
                <a:latin typeface="宋体" panose="02010600030101010101" pitchFamily="2" charset="-122"/>
                <a:ea typeface="宋体" panose="02010600030101010101" pitchFamily="2" charset="-122"/>
              </a:rPr>
              <a:t>小结</a:t>
            </a:r>
            <a:endParaRPr lang="en-US" altLang="zh-CN" sz="4000" dirty="0">
              <a:solidFill>
                <a:schemeClr val="bg1"/>
              </a:solidFill>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26" name="Rectangle 27">
                <a:extLst>
                  <a:ext uri="{FF2B5EF4-FFF2-40B4-BE49-F238E27FC236}">
                    <a16:creationId xmlns:a16="http://schemas.microsoft.com/office/drawing/2014/main" id="{51BE994D-FF6D-4B77-9625-96B0AA774B4A}"/>
                  </a:ext>
                </a:extLst>
              </p:cNvPr>
              <p:cNvSpPr/>
              <p:nvPr/>
            </p:nvSpPr>
            <p:spPr>
              <a:xfrm>
                <a:off x="705696" y="2584707"/>
                <a:ext cx="8072539" cy="1200329"/>
              </a:xfrm>
              <a:prstGeom prst="rect">
                <a:avLst/>
              </a:prstGeom>
            </p:spPr>
            <p:txBody>
              <a:bodyPr wrap="square">
                <a:spAutoFit/>
              </a:bodyPr>
              <a:lstStyle/>
              <a:p>
                <a:r>
                  <a:rPr lang="zh-CN" altLang="en-US" dirty="0"/>
                  <a:t>将开关电容积分器用于滤波器，形成开关电容滤波器。至此，我们能够用一个开关电容模块，形成一个可变时间常数的积分器，可以称之为开关电容积分器，其时间常数可以用外部提供的</a:t>
                </a:r>
                <a14:m>
                  <m:oMath xmlns:m="http://schemas.openxmlformats.org/officeDocument/2006/math">
                    <m:sSub>
                      <m:sSubPr>
                        <m:ctrlPr>
                          <a:rPr lang="zh-CN" altLang="en-US" i="1" smtClean="0">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𝑓</m:t>
                        </m:r>
                      </m:e>
                      <m:sub>
                        <m:r>
                          <a:rPr lang="zh-CN" altLang="en-US" i="1">
                            <a:solidFill>
                              <a:schemeClr val="tx1"/>
                            </a:solidFill>
                            <a:latin typeface="Cambria Math" panose="02040503050406030204" pitchFamily="18" charset="0"/>
                          </a:rPr>
                          <m:t>𝐶𝐿𝐾</m:t>
                        </m:r>
                      </m:sub>
                    </m:sSub>
                  </m:oMath>
                </a14:m>
                <a:r>
                  <a:rPr lang="zh-CN" altLang="en-US" dirty="0"/>
                  <a:t>控制。我们将其用于取代传统滤波器中的积分器，就可以用</a:t>
                </a:r>
                <a14:m>
                  <m:oMath xmlns:m="http://schemas.openxmlformats.org/officeDocument/2006/math">
                    <m:sSub>
                      <m:sSubPr>
                        <m:ctrlPr>
                          <a:rPr lang="zh-CN" altLang="en-US" i="1" smtClean="0">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𝑓</m:t>
                        </m:r>
                      </m:e>
                      <m:sub>
                        <m:r>
                          <a:rPr lang="zh-CN" altLang="en-US" i="1">
                            <a:solidFill>
                              <a:schemeClr val="tx1"/>
                            </a:solidFill>
                            <a:latin typeface="Cambria Math" panose="02040503050406030204" pitchFamily="18" charset="0"/>
                          </a:rPr>
                          <m:t>𝐶𝐿𝐾</m:t>
                        </m:r>
                      </m:sub>
                    </m:sSub>
                  </m:oMath>
                </a14:m>
                <a:r>
                  <a:rPr lang="zh-CN" altLang="en-US" dirty="0"/>
                  <a:t>控制滤波器的关键参数了。</a:t>
                </a:r>
                <a:endParaRPr lang="zh-CN" altLang="en-US" sz="2000" dirty="0">
                  <a:latin typeface="宋体" panose="02010600030101010101" pitchFamily="2" charset="-122"/>
                  <a:ea typeface="宋体" panose="02010600030101010101" pitchFamily="2" charset="-122"/>
                </a:endParaRPr>
              </a:p>
            </p:txBody>
          </p:sp>
        </mc:Choice>
        <mc:Fallback xmlns="">
          <p:sp>
            <p:nvSpPr>
              <p:cNvPr id="26" name="Rectangle 27">
                <a:extLst>
                  <a:ext uri="{FF2B5EF4-FFF2-40B4-BE49-F238E27FC236}">
                    <a16:creationId xmlns:a16="http://schemas.microsoft.com/office/drawing/2014/main" id="{51BE994D-FF6D-4B77-9625-96B0AA774B4A}"/>
                  </a:ext>
                </a:extLst>
              </p:cNvPr>
              <p:cNvSpPr>
                <a:spLocks noRot="1" noChangeAspect="1" noMove="1" noResize="1" noEditPoints="1" noAdjustHandles="1" noChangeArrowheads="1" noChangeShapeType="1" noTextEdit="1"/>
              </p:cNvSpPr>
              <p:nvPr/>
            </p:nvSpPr>
            <p:spPr>
              <a:xfrm>
                <a:off x="705696" y="2584707"/>
                <a:ext cx="8072539" cy="1200329"/>
              </a:xfrm>
              <a:prstGeom prst="rect">
                <a:avLst/>
              </a:prstGeom>
              <a:blipFill>
                <a:blip r:embed="rId3"/>
                <a:stretch>
                  <a:fillRect l="-680" t="-2538" r="-1964" b="-7614"/>
                </a:stretch>
              </a:blipFill>
            </p:spPr>
            <p:txBody>
              <a:bodyPr/>
              <a:lstStyle/>
              <a:p>
                <a:r>
                  <a:rPr lang="zh-CN" altLang="en-US">
                    <a:noFill/>
                  </a:rPr>
                  <a:t> </a:t>
                </a:r>
              </a:p>
            </p:txBody>
          </p:sp>
        </mc:Fallback>
      </mc:AlternateContent>
      <p:cxnSp>
        <p:nvCxnSpPr>
          <p:cNvPr id="32" name="直接连接符 31">
            <a:extLst>
              <a:ext uri="{FF2B5EF4-FFF2-40B4-BE49-F238E27FC236}">
                <a16:creationId xmlns:a16="http://schemas.microsoft.com/office/drawing/2014/main" id="{55479FF1-F9F4-4548-BE8B-4A8F5A687AB2}"/>
              </a:ext>
            </a:extLst>
          </p:cNvPr>
          <p:cNvCxnSpPr/>
          <p:nvPr/>
        </p:nvCxnSpPr>
        <p:spPr>
          <a:xfrm>
            <a:off x="583399" y="2584707"/>
            <a:ext cx="0" cy="517351"/>
          </a:xfrm>
          <a:prstGeom prst="line">
            <a:avLst/>
          </a:prstGeom>
          <a:ln w="28575">
            <a:solidFill>
              <a:srgbClr val="BCA890"/>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00B0D238-D4ED-461E-A961-3CCC8BAD2E47}"/>
              </a:ext>
            </a:extLst>
          </p:cNvPr>
          <p:cNvCxnSpPr/>
          <p:nvPr/>
        </p:nvCxnSpPr>
        <p:spPr>
          <a:xfrm>
            <a:off x="576863" y="4474299"/>
            <a:ext cx="0" cy="517351"/>
          </a:xfrm>
          <a:prstGeom prst="line">
            <a:avLst/>
          </a:prstGeom>
          <a:ln w="28575">
            <a:solidFill>
              <a:srgbClr val="BCA89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A1F9B693-833B-47CA-83CA-B1EA11EF023B}"/>
                  </a:ext>
                </a:extLst>
              </p:cNvPr>
              <p:cNvSpPr/>
              <p:nvPr/>
            </p:nvSpPr>
            <p:spPr>
              <a:xfrm>
                <a:off x="705695" y="4474299"/>
                <a:ext cx="8072529" cy="923330"/>
              </a:xfrm>
              <a:prstGeom prst="rect">
                <a:avLst/>
              </a:prstGeom>
            </p:spPr>
            <p:txBody>
              <a:bodyPr wrap="square">
                <a:spAutoFit/>
              </a:bodyPr>
              <a:lstStyle/>
              <a:p>
                <a:r>
                  <a:rPr lang="zh-CN" altLang="en-US" dirty="0">
                    <a:solidFill>
                      <a:srgbClr val="333333"/>
                    </a:solidFill>
                    <a:latin typeface="Microsoft yahei" panose="020B0503020204020204" pitchFamily="34" charset="-122"/>
                    <a:ea typeface="Microsoft yahei" panose="020B0503020204020204" pitchFamily="34" charset="-122"/>
                  </a:rPr>
                  <a:t>这就是开关电容滤波器的核心原理。只要传统滤波器中存在积分器，且积分时间常数会影响滤波器的关键参数，那么，用开关电容积分器代替它，就一定能够做出一个“用外部</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𝑓</m:t>
                        </m:r>
                      </m:e>
                      <m:sub>
                        <m:r>
                          <a:rPr lang="zh-CN" altLang="en-US" i="1">
                            <a:latin typeface="Cambria Math" panose="02040503050406030204" pitchFamily="18" charset="0"/>
                          </a:rPr>
                          <m:t>𝐶𝐿𝐾</m:t>
                        </m:r>
                      </m:sub>
                    </m:sSub>
                  </m:oMath>
                </a14:m>
                <a:r>
                  <a:rPr lang="zh-CN" altLang="en-US" dirty="0">
                    <a:solidFill>
                      <a:srgbClr val="333333"/>
                    </a:solidFill>
                    <a:latin typeface="Microsoft yahei" panose="020B0503020204020204" pitchFamily="34" charset="-122"/>
                    <a:ea typeface="Microsoft yahei" panose="020B0503020204020204" pitchFamily="34" charset="-122"/>
                  </a:rPr>
                  <a:t>控制截止频率”的程控滤波器，即开关电容滤波器。</a:t>
                </a:r>
                <a:endParaRPr lang="zh-CN" altLang="en-US" dirty="0"/>
              </a:p>
            </p:txBody>
          </p:sp>
        </mc:Choice>
        <mc:Fallback xmlns="">
          <p:sp>
            <p:nvSpPr>
              <p:cNvPr id="2" name="矩形 1">
                <a:extLst>
                  <a:ext uri="{FF2B5EF4-FFF2-40B4-BE49-F238E27FC236}">
                    <a16:creationId xmlns:a16="http://schemas.microsoft.com/office/drawing/2014/main" id="{A1F9B693-833B-47CA-83CA-B1EA11EF023B}"/>
                  </a:ext>
                </a:extLst>
              </p:cNvPr>
              <p:cNvSpPr>
                <a:spLocks noRot="1" noChangeAspect="1" noMove="1" noResize="1" noEditPoints="1" noAdjustHandles="1" noChangeArrowheads="1" noChangeShapeType="1" noTextEdit="1"/>
              </p:cNvSpPr>
              <p:nvPr/>
            </p:nvSpPr>
            <p:spPr>
              <a:xfrm>
                <a:off x="705695" y="4474299"/>
                <a:ext cx="8072529" cy="923330"/>
              </a:xfrm>
              <a:prstGeom prst="rect">
                <a:avLst/>
              </a:prstGeom>
              <a:blipFill>
                <a:blip r:embed="rId4"/>
                <a:stretch>
                  <a:fillRect l="-680" t="-3974" b="-993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682598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2" presetClass="entr" presetSubtype="4"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p:tgtEl>
                                          <p:spTgt spid="13"/>
                                        </p:tgtEl>
                                        <p:attrNameLst>
                                          <p:attrName>ppt_y</p:attrName>
                                        </p:attrNameLst>
                                      </p:cBhvr>
                                      <p:tavLst>
                                        <p:tav tm="0">
                                          <p:val>
                                            <p:strVal val="#ppt_y+#ppt_h*1.125000"/>
                                          </p:val>
                                        </p:tav>
                                        <p:tav tm="100000">
                                          <p:val>
                                            <p:strVal val="#ppt_y"/>
                                          </p:val>
                                        </p:tav>
                                      </p:tavLst>
                                    </p:anim>
                                    <p:animEffect transition="in" filter="wipe(up)">
                                      <p:cBhvr>
                                        <p:cTn id="14" dur="500"/>
                                        <p:tgtEl>
                                          <p:spTgt spid="13"/>
                                        </p:tgtEl>
                                      </p:cBhvr>
                                    </p:animEffect>
                                  </p:childTnLst>
                                </p:cTn>
                              </p:par>
                            </p:childTnLst>
                          </p:cTn>
                        </p:par>
                        <p:par>
                          <p:cTn id="15" fill="hold">
                            <p:stCondLst>
                              <p:cond delay="1500"/>
                            </p:stCondLst>
                            <p:childTnLst>
                              <p:par>
                                <p:cTn id="16" presetID="12" presetClass="entr" presetSubtype="4" fill="hold" grpId="0" nodeType="afterEffect">
                                  <p:stCondLst>
                                    <p:cond delay="0"/>
                                  </p:stCondLst>
                                  <p:childTnLst>
                                    <p:set>
                                      <p:cBhvr>
                                        <p:cTn id="17" dur="1" fill="hold">
                                          <p:stCondLst>
                                            <p:cond delay="0"/>
                                          </p:stCondLst>
                                        </p:cTn>
                                        <p:tgtEl>
                                          <p:spTgt spid="19"/>
                                        </p:tgtEl>
                                        <p:attrNameLst>
                                          <p:attrName>style.visibility</p:attrName>
                                        </p:attrNameLst>
                                      </p:cBhvr>
                                      <p:to>
                                        <p:strVal val="visible"/>
                                      </p:to>
                                    </p:set>
                                    <p:anim calcmode="lin" valueType="num">
                                      <p:cBhvr additive="base">
                                        <p:cTn id="18" dur="500"/>
                                        <p:tgtEl>
                                          <p:spTgt spid="19"/>
                                        </p:tgtEl>
                                        <p:attrNameLst>
                                          <p:attrName>ppt_y</p:attrName>
                                        </p:attrNameLst>
                                      </p:cBhvr>
                                      <p:tavLst>
                                        <p:tav tm="0">
                                          <p:val>
                                            <p:strVal val="#ppt_y+#ppt_h*1.125000"/>
                                          </p:val>
                                        </p:tav>
                                        <p:tav tm="100000">
                                          <p:val>
                                            <p:strVal val="#ppt_y"/>
                                          </p:val>
                                        </p:tav>
                                      </p:tavLst>
                                    </p:anim>
                                    <p:animEffect transition="in" filter="wipe(up)">
                                      <p:cBhvr>
                                        <p:cTn id="19" dur="500"/>
                                        <p:tgtEl>
                                          <p:spTgt spid="19"/>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 calcmode="lin" valueType="num">
                                      <p:cBhvr additive="base">
                                        <p:cTn id="24" dur="500" fill="hold"/>
                                        <p:tgtEl>
                                          <p:spTgt spid="17"/>
                                        </p:tgtEl>
                                        <p:attrNameLst>
                                          <p:attrName>ppt_x</p:attrName>
                                        </p:attrNameLst>
                                      </p:cBhvr>
                                      <p:tavLst>
                                        <p:tav tm="0">
                                          <p:val>
                                            <p:strVal val="#ppt_x"/>
                                          </p:val>
                                        </p:tav>
                                        <p:tav tm="100000">
                                          <p:val>
                                            <p:strVal val="#ppt_x"/>
                                          </p:val>
                                        </p:tav>
                                      </p:tavLst>
                                    </p:anim>
                                    <p:anim calcmode="lin" valueType="num">
                                      <p:cBhvr additive="base">
                                        <p:cTn id="25" dur="500" fill="hold"/>
                                        <p:tgtEl>
                                          <p:spTgt spid="17"/>
                                        </p:tgtEl>
                                        <p:attrNameLst>
                                          <p:attrName>ppt_y</p:attrName>
                                        </p:attrNameLst>
                                      </p:cBhvr>
                                      <p:tavLst>
                                        <p:tav tm="0">
                                          <p:val>
                                            <p:strVal val="1+#ppt_h/2"/>
                                          </p:val>
                                        </p:tav>
                                        <p:tav tm="100000">
                                          <p:val>
                                            <p:strVal val="#ppt_y"/>
                                          </p:val>
                                        </p:tav>
                                      </p:tavLst>
                                    </p:anim>
                                  </p:childTnLst>
                                </p:cTn>
                              </p:par>
                            </p:childTnLst>
                          </p:cTn>
                        </p:par>
                        <p:par>
                          <p:cTn id="26" fill="hold">
                            <p:stCondLst>
                              <p:cond delay="500"/>
                            </p:stCondLst>
                            <p:childTnLst>
                              <p:par>
                                <p:cTn id="27" presetID="2" presetClass="entr" presetSubtype="4" fill="hold" grpId="0" nodeType="afterEffect">
                                  <p:stCondLst>
                                    <p:cond delay="0"/>
                                  </p:stCondLst>
                                  <p:childTnLst>
                                    <p:set>
                                      <p:cBhvr>
                                        <p:cTn id="28" dur="1" fill="hold">
                                          <p:stCondLst>
                                            <p:cond delay="0"/>
                                          </p:stCondLst>
                                        </p:cTn>
                                        <p:tgtEl>
                                          <p:spTgt spid="26"/>
                                        </p:tgtEl>
                                        <p:attrNameLst>
                                          <p:attrName>style.visibility</p:attrName>
                                        </p:attrNameLst>
                                      </p:cBhvr>
                                      <p:to>
                                        <p:strVal val="visible"/>
                                      </p:to>
                                    </p:set>
                                    <p:anim calcmode="lin" valueType="num">
                                      <p:cBhvr additive="base">
                                        <p:cTn id="29" dur="500" fill="hold"/>
                                        <p:tgtEl>
                                          <p:spTgt spid="26"/>
                                        </p:tgtEl>
                                        <p:attrNameLst>
                                          <p:attrName>ppt_x</p:attrName>
                                        </p:attrNameLst>
                                      </p:cBhvr>
                                      <p:tavLst>
                                        <p:tav tm="0">
                                          <p:val>
                                            <p:strVal val="#ppt_x"/>
                                          </p:val>
                                        </p:tav>
                                        <p:tav tm="100000">
                                          <p:val>
                                            <p:strVal val="#ppt_x"/>
                                          </p:val>
                                        </p:tav>
                                      </p:tavLst>
                                    </p:anim>
                                    <p:anim calcmode="lin" valueType="num">
                                      <p:cBhvr additive="base">
                                        <p:cTn id="30" dur="500" fill="hold"/>
                                        <p:tgtEl>
                                          <p:spTgt spid="26"/>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2"/>
                                        </p:tgtEl>
                                        <p:attrNameLst>
                                          <p:attrName>style.visibility</p:attrName>
                                        </p:attrNameLst>
                                      </p:cBhvr>
                                      <p:to>
                                        <p:strVal val="visible"/>
                                      </p:to>
                                    </p:set>
                                    <p:anim calcmode="lin" valueType="num">
                                      <p:cBhvr additive="base">
                                        <p:cTn id="33" dur="500" fill="hold"/>
                                        <p:tgtEl>
                                          <p:spTgt spid="2"/>
                                        </p:tgtEl>
                                        <p:attrNameLst>
                                          <p:attrName>ppt_x</p:attrName>
                                        </p:attrNameLst>
                                      </p:cBhvr>
                                      <p:tavLst>
                                        <p:tav tm="0">
                                          <p:val>
                                            <p:strVal val="#ppt_x"/>
                                          </p:val>
                                        </p:tav>
                                        <p:tav tm="100000">
                                          <p:val>
                                            <p:strVal val="#ppt_x"/>
                                          </p:val>
                                        </p:tav>
                                      </p:tavLst>
                                    </p:anim>
                                    <p:anim calcmode="lin" valueType="num">
                                      <p:cBhvr additive="base">
                                        <p:cTn id="3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bldLvl="0"/>
      <p:bldP spid="17" grpId="0" bldLvl="0" animBg="1"/>
      <p:bldP spid="19" grpId="0" bldLvl="0"/>
      <p:bldP spid="26" grpId="0"/>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5167432" y="284790"/>
            <a:ext cx="1857134" cy="561692"/>
          </a:xfrm>
          <a:prstGeom prst="rect">
            <a:avLst/>
          </a:prstGeom>
        </p:spPr>
        <p:txBody>
          <a:bodyPr wrap="square" lIns="68580" tIns="34290" rIns="68580" bIns="34290">
            <a:spAutoFit/>
          </a:bodyPr>
          <a:lstStyle/>
          <a:p>
            <a:pPr>
              <a:defRPr/>
            </a:pPr>
            <a:r>
              <a:rPr lang="zh-CN" altLang="en-US" sz="3200" b="1" dirty="0"/>
              <a:t>原理分析</a:t>
            </a:r>
            <a:endParaRPr lang="zh-CN" altLang="en-US" sz="3200" spc="225" dirty="0">
              <a:cs typeface="+mn-ea"/>
              <a:sym typeface="+mn-lt"/>
            </a:endParaRPr>
          </a:p>
        </p:txBody>
      </p:sp>
      <p:cxnSp>
        <p:nvCxnSpPr>
          <p:cNvPr id="5" name="直接连接符 4"/>
          <p:cNvCxnSpPr/>
          <p:nvPr/>
        </p:nvCxnSpPr>
        <p:spPr>
          <a:xfrm>
            <a:off x="5670548" y="977900"/>
            <a:ext cx="850902"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165784" y="870414"/>
            <a:ext cx="4795804" cy="905889"/>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gn="dist">
              <a:lnSpc>
                <a:spcPct val="150000"/>
              </a:lnSpc>
            </a:pPr>
            <a:r>
              <a:rPr lang="zh-CN" altLang="en-US" sz="4000" b="1" dirty="0">
                <a:solidFill>
                  <a:schemeClr val="bg1"/>
                </a:solidFill>
                <a:cs typeface="+mn-ea"/>
                <a:sym typeface="+mn-lt"/>
              </a:rPr>
              <a:t>初始化函数</a:t>
            </a:r>
            <a:endParaRPr lang="en-US" sz="4000" b="1" dirty="0">
              <a:solidFill>
                <a:schemeClr val="bg1"/>
              </a:solidFill>
              <a:cs typeface="+mn-ea"/>
              <a:sym typeface="+mn-lt"/>
            </a:endParaRPr>
          </a:p>
        </p:txBody>
      </p:sp>
      <p:sp>
        <p:nvSpPr>
          <p:cNvPr id="17" name="矩形 16">
            <a:extLst>
              <a:ext uri="{FF2B5EF4-FFF2-40B4-BE49-F238E27FC236}">
                <a16:creationId xmlns:a16="http://schemas.microsoft.com/office/drawing/2014/main" id="{EF89167E-CFC2-4FED-AC69-C0CF5DDEF17E}"/>
              </a:ext>
            </a:extLst>
          </p:cNvPr>
          <p:cNvSpPr/>
          <p:nvPr/>
        </p:nvSpPr>
        <p:spPr>
          <a:xfrm>
            <a:off x="12004" y="1145596"/>
            <a:ext cx="4296335" cy="776603"/>
          </a:xfrm>
          <a:prstGeom prst="rect">
            <a:avLst/>
          </a:prstGeom>
          <a:solidFill>
            <a:srgbClr val="6E8F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19" name="文本框 18">
            <a:extLst>
              <a:ext uri="{FF2B5EF4-FFF2-40B4-BE49-F238E27FC236}">
                <a16:creationId xmlns:a16="http://schemas.microsoft.com/office/drawing/2014/main" id="{0FE4C084-6174-44D8-AD9C-C72B2AAA7158}"/>
              </a:ext>
            </a:extLst>
          </p:cNvPr>
          <p:cNvSpPr txBox="1"/>
          <p:nvPr/>
        </p:nvSpPr>
        <p:spPr>
          <a:xfrm>
            <a:off x="1504882" y="1045728"/>
            <a:ext cx="1310577" cy="707886"/>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r>
              <a:rPr lang="zh-CN" altLang="en-US" sz="4000" dirty="0">
                <a:solidFill>
                  <a:schemeClr val="bg1"/>
                </a:solidFill>
                <a:latin typeface="宋体" panose="02010600030101010101" pitchFamily="2" charset="-122"/>
                <a:ea typeface="宋体" panose="02010600030101010101" pitchFamily="2" charset="-122"/>
              </a:rPr>
              <a:t>实例</a:t>
            </a:r>
            <a:endParaRPr lang="en-US" altLang="zh-CN" sz="4000" dirty="0">
              <a:solidFill>
                <a:schemeClr val="bg1"/>
              </a:solidFill>
              <a:latin typeface="宋体" panose="02010600030101010101" pitchFamily="2" charset="-122"/>
              <a:ea typeface="宋体" panose="02010600030101010101" pitchFamily="2" charset="-122"/>
            </a:endParaRPr>
          </a:p>
        </p:txBody>
      </p:sp>
      <p:pic>
        <p:nvPicPr>
          <p:cNvPr id="3" name="图片 2">
            <a:extLst>
              <a:ext uri="{FF2B5EF4-FFF2-40B4-BE49-F238E27FC236}">
                <a16:creationId xmlns:a16="http://schemas.microsoft.com/office/drawing/2014/main" id="{BD239AC9-A585-4010-ABCA-B42369ACFC4B}"/>
              </a:ext>
            </a:extLst>
          </p:cNvPr>
          <p:cNvPicPr>
            <a:picLocks noChangeAspect="1"/>
          </p:cNvPicPr>
          <p:nvPr/>
        </p:nvPicPr>
        <p:blipFill>
          <a:blip r:embed="rId3"/>
          <a:stretch>
            <a:fillRect/>
          </a:stretch>
        </p:blipFill>
        <p:spPr>
          <a:xfrm>
            <a:off x="2643931" y="2103984"/>
            <a:ext cx="6904136" cy="4588976"/>
          </a:xfrm>
          <a:prstGeom prst="rect">
            <a:avLst/>
          </a:prstGeom>
        </p:spPr>
      </p:pic>
    </p:spTree>
    <p:extLst>
      <p:ext uri="{BB962C8B-B14F-4D97-AF65-F5344CB8AC3E}">
        <p14:creationId xmlns:p14="http://schemas.microsoft.com/office/powerpoint/2010/main" val="80756794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2" presetClass="entr" presetSubtype="4"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p:tgtEl>
                                          <p:spTgt spid="13"/>
                                        </p:tgtEl>
                                        <p:attrNameLst>
                                          <p:attrName>ppt_y</p:attrName>
                                        </p:attrNameLst>
                                      </p:cBhvr>
                                      <p:tavLst>
                                        <p:tav tm="0">
                                          <p:val>
                                            <p:strVal val="#ppt_y+#ppt_h*1.125000"/>
                                          </p:val>
                                        </p:tav>
                                        <p:tav tm="100000">
                                          <p:val>
                                            <p:strVal val="#ppt_y"/>
                                          </p:val>
                                        </p:tav>
                                      </p:tavLst>
                                    </p:anim>
                                    <p:animEffect transition="in" filter="wipe(up)">
                                      <p:cBhvr>
                                        <p:cTn id="14" dur="500"/>
                                        <p:tgtEl>
                                          <p:spTgt spid="13"/>
                                        </p:tgtEl>
                                      </p:cBhvr>
                                    </p:animEffect>
                                  </p:childTnLst>
                                </p:cTn>
                              </p:par>
                            </p:childTnLst>
                          </p:cTn>
                        </p:par>
                        <p:par>
                          <p:cTn id="15" fill="hold">
                            <p:stCondLst>
                              <p:cond delay="1500"/>
                            </p:stCondLst>
                            <p:childTnLst>
                              <p:par>
                                <p:cTn id="16" presetID="12" presetClass="entr" presetSubtype="4" fill="hold" grpId="0" nodeType="afterEffect">
                                  <p:stCondLst>
                                    <p:cond delay="0"/>
                                  </p:stCondLst>
                                  <p:childTnLst>
                                    <p:set>
                                      <p:cBhvr>
                                        <p:cTn id="17" dur="1" fill="hold">
                                          <p:stCondLst>
                                            <p:cond delay="0"/>
                                          </p:stCondLst>
                                        </p:cTn>
                                        <p:tgtEl>
                                          <p:spTgt spid="19"/>
                                        </p:tgtEl>
                                        <p:attrNameLst>
                                          <p:attrName>style.visibility</p:attrName>
                                        </p:attrNameLst>
                                      </p:cBhvr>
                                      <p:to>
                                        <p:strVal val="visible"/>
                                      </p:to>
                                    </p:set>
                                    <p:anim calcmode="lin" valueType="num">
                                      <p:cBhvr additive="base">
                                        <p:cTn id="18" dur="500"/>
                                        <p:tgtEl>
                                          <p:spTgt spid="19"/>
                                        </p:tgtEl>
                                        <p:attrNameLst>
                                          <p:attrName>ppt_y</p:attrName>
                                        </p:attrNameLst>
                                      </p:cBhvr>
                                      <p:tavLst>
                                        <p:tav tm="0">
                                          <p:val>
                                            <p:strVal val="#ppt_y+#ppt_h*1.125000"/>
                                          </p:val>
                                        </p:tav>
                                        <p:tav tm="100000">
                                          <p:val>
                                            <p:strVal val="#ppt_y"/>
                                          </p:val>
                                        </p:tav>
                                      </p:tavLst>
                                    </p:anim>
                                    <p:animEffect transition="in" filter="wipe(up)">
                                      <p:cBhvr>
                                        <p:cTn id="19" dur="500"/>
                                        <p:tgtEl>
                                          <p:spTgt spid="19"/>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 calcmode="lin" valueType="num">
                                      <p:cBhvr additive="base">
                                        <p:cTn id="24" dur="500" fill="hold"/>
                                        <p:tgtEl>
                                          <p:spTgt spid="17"/>
                                        </p:tgtEl>
                                        <p:attrNameLst>
                                          <p:attrName>ppt_x</p:attrName>
                                        </p:attrNameLst>
                                      </p:cBhvr>
                                      <p:tavLst>
                                        <p:tav tm="0">
                                          <p:val>
                                            <p:strVal val="#ppt_x"/>
                                          </p:val>
                                        </p:tav>
                                        <p:tav tm="100000">
                                          <p:val>
                                            <p:strVal val="#ppt_x"/>
                                          </p:val>
                                        </p:tav>
                                      </p:tavLst>
                                    </p:anim>
                                    <p:anim calcmode="lin" valueType="num">
                                      <p:cBhvr additive="base">
                                        <p:cTn id="25"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bldLvl="0"/>
      <p:bldP spid="17" grpId="0" bldLvl="0" animBg="1"/>
      <p:bldP spid="19" grpId="0" bldLvl="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9" name="矩形 8"/>
          <p:cNvSpPr/>
          <p:nvPr/>
        </p:nvSpPr>
        <p:spPr>
          <a:xfrm>
            <a:off x="0" y="2049510"/>
            <a:ext cx="12192000" cy="2758980"/>
          </a:xfrm>
          <a:prstGeom prst="rect">
            <a:avLst/>
          </a:prstGeom>
          <a:solidFill>
            <a:srgbClr val="6E8F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平行四边形 1"/>
          <p:cNvSpPr/>
          <p:nvPr/>
        </p:nvSpPr>
        <p:spPr>
          <a:xfrm>
            <a:off x="1627773" y="1384300"/>
            <a:ext cx="3162300" cy="4089400"/>
          </a:xfrm>
          <a:prstGeom prst="parallelogram">
            <a:avLst/>
          </a:prstGeom>
          <a:solidFill>
            <a:srgbClr val="CBB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矩形 15"/>
          <p:cNvSpPr/>
          <p:nvPr/>
        </p:nvSpPr>
        <p:spPr>
          <a:xfrm>
            <a:off x="1976695" y="2049510"/>
            <a:ext cx="2464455" cy="2192908"/>
          </a:xfrm>
          <a:prstGeom prst="rect">
            <a:avLst/>
          </a:prstGeom>
        </p:spPr>
        <p:txBody>
          <a:bodyPr wrap="square" lIns="68580" tIns="34290" rIns="68580" bIns="34290">
            <a:spAutoFit/>
          </a:bodyPr>
          <a:lstStyle/>
          <a:p>
            <a:pPr algn="ctr">
              <a:defRPr/>
            </a:pPr>
            <a:r>
              <a:rPr lang="en-US" altLang="zh-CN" sz="13800" spc="225" dirty="0">
                <a:solidFill>
                  <a:schemeClr val="bg1"/>
                </a:solidFill>
                <a:cs typeface="+mn-ea"/>
                <a:sym typeface="+mn-lt"/>
              </a:rPr>
              <a:t>3</a:t>
            </a:r>
            <a:endParaRPr sz="13800" spc="225" dirty="0">
              <a:solidFill>
                <a:schemeClr val="bg1"/>
              </a:solidFill>
              <a:cs typeface="+mn-ea"/>
              <a:sym typeface="+mn-lt"/>
            </a:endParaRPr>
          </a:p>
        </p:txBody>
      </p:sp>
      <p:sp>
        <p:nvSpPr>
          <p:cNvPr id="17" name="矩形 16"/>
          <p:cNvSpPr/>
          <p:nvPr/>
        </p:nvSpPr>
        <p:spPr>
          <a:xfrm>
            <a:off x="6662601" y="2755572"/>
            <a:ext cx="5651888" cy="992579"/>
          </a:xfrm>
          <a:prstGeom prst="rect">
            <a:avLst/>
          </a:prstGeom>
        </p:spPr>
        <p:txBody>
          <a:bodyPr wrap="square" lIns="68580" tIns="34290" rIns="68580" bIns="34290">
            <a:spAutoFit/>
          </a:bodyPr>
          <a:lstStyle/>
          <a:p>
            <a:pPr>
              <a:defRPr/>
            </a:pPr>
            <a:r>
              <a:rPr lang="zh-CN" altLang="en-US" sz="6000" spc="225" dirty="0">
                <a:solidFill>
                  <a:schemeClr val="bg1"/>
                </a:solidFill>
                <a:cs typeface="+mn-ea"/>
                <a:sym typeface="+mn-lt"/>
              </a:rPr>
              <a:t>总结</a:t>
            </a:r>
            <a:endParaRPr sz="6000" spc="225" dirty="0">
              <a:solidFill>
                <a:schemeClr val="bg1"/>
              </a:solidFill>
              <a:cs typeface="+mn-ea"/>
              <a:sym typeface="+mn-lt"/>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right)">
                                      <p:cBhvr>
                                        <p:cTn id="11" dur="500"/>
                                        <p:tgtEl>
                                          <p:spTgt spid="16"/>
                                        </p:tgtEl>
                                      </p:cBhvr>
                                    </p:animEffect>
                                  </p:childTnLst>
                                </p:cTn>
                              </p:par>
                            </p:childTnLst>
                          </p:cTn>
                        </p:par>
                        <p:par>
                          <p:cTn id="12" fill="hold">
                            <p:stCondLst>
                              <p:cond delay="1000"/>
                            </p:stCondLst>
                            <p:childTnLst>
                              <p:par>
                                <p:cTn id="13" presetID="22" presetClass="entr" presetSubtype="2" fill="hold" grpId="0"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right)">
                                      <p:cBhvr>
                                        <p:cTn id="1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6" grpId="0"/>
      <p:bldP spid="1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5544923" y="252704"/>
            <a:ext cx="1102151" cy="561692"/>
          </a:xfrm>
          <a:prstGeom prst="rect">
            <a:avLst/>
          </a:prstGeom>
        </p:spPr>
        <p:txBody>
          <a:bodyPr wrap="square" lIns="68580" tIns="34290" rIns="68580" bIns="34290">
            <a:spAutoFit/>
          </a:bodyPr>
          <a:lstStyle/>
          <a:p>
            <a:pPr>
              <a:defRPr/>
            </a:pPr>
            <a:r>
              <a:rPr lang="zh-CN" altLang="en-US" sz="3200" b="1" dirty="0"/>
              <a:t>总结</a:t>
            </a:r>
            <a:endParaRPr lang="zh-CN" altLang="en-US" sz="3200" spc="225" dirty="0">
              <a:cs typeface="+mn-ea"/>
              <a:sym typeface="+mn-lt"/>
            </a:endParaRPr>
          </a:p>
        </p:txBody>
      </p:sp>
      <p:cxnSp>
        <p:nvCxnSpPr>
          <p:cNvPr id="5" name="直接连接符 4"/>
          <p:cNvCxnSpPr/>
          <p:nvPr/>
        </p:nvCxnSpPr>
        <p:spPr>
          <a:xfrm>
            <a:off x="5670548" y="977900"/>
            <a:ext cx="850902"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165784" y="870414"/>
            <a:ext cx="4795804" cy="905889"/>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gn="dist">
              <a:lnSpc>
                <a:spcPct val="150000"/>
              </a:lnSpc>
            </a:pPr>
            <a:r>
              <a:rPr lang="zh-CN" altLang="en-US" sz="4000" b="1" dirty="0">
                <a:solidFill>
                  <a:schemeClr val="bg1"/>
                </a:solidFill>
                <a:cs typeface="+mn-ea"/>
                <a:sym typeface="+mn-lt"/>
              </a:rPr>
              <a:t>初始化函数</a:t>
            </a:r>
            <a:endParaRPr lang="en-US" sz="4000" b="1" dirty="0">
              <a:solidFill>
                <a:schemeClr val="bg1"/>
              </a:solidFill>
              <a:cs typeface="+mn-ea"/>
              <a:sym typeface="+mn-lt"/>
            </a:endParaRPr>
          </a:p>
        </p:txBody>
      </p:sp>
      <p:sp>
        <p:nvSpPr>
          <p:cNvPr id="17" name="矩形 16">
            <a:extLst>
              <a:ext uri="{FF2B5EF4-FFF2-40B4-BE49-F238E27FC236}">
                <a16:creationId xmlns:a16="http://schemas.microsoft.com/office/drawing/2014/main" id="{EF89167E-CFC2-4FED-AC69-C0CF5DDEF17E}"/>
              </a:ext>
            </a:extLst>
          </p:cNvPr>
          <p:cNvSpPr/>
          <p:nvPr/>
        </p:nvSpPr>
        <p:spPr>
          <a:xfrm>
            <a:off x="45663" y="1148554"/>
            <a:ext cx="4296335" cy="776603"/>
          </a:xfrm>
          <a:prstGeom prst="rect">
            <a:avLst/>
          </a:prstGeom>
          <a:solidFill>
            <a:srgbClr val="6E8F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19" name="文本框 18">
            <a:extLst>
              <a:ext uri="{FF2B5EF4-FFF2-40B4-BE49-F238E27FC236}">
                <a16:creationId xmlns:a16="http://schemas.microsoft.com/office/drawing/2014/main" id="{0FE4C084-6174-44D8-AD9C-C72B2AAA7158}"/>
              </a:ext>
            </a:extLst>
          </p:cNvPr>
          <p:cNvSpPr txBox="1"/>
          <p:nvPr/>
        </p:nvSpPr>
        <p:spPr>
          <a:xfrm>
            <a:off x="1523094" y="1125469"/>
            <a:ext cx="1341471" cy="707886"/>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r>
              <a:rPr lang="zh-CN" altLang="en-US" sz="4000" dirty="0">
                <a:solidFill>
                  <a:schemeClr val="bg1"/>
                </a:solidFill>
                <a:latin typeface="宋体" panose="02010600030101010101" pitchFamily="2" charset="-122"/>
                <a:ea typeface="宋体" panose="02010600030101010101" pitchFamily="2" charset="-122"/>
              </a:rPr>
              <a:t>特点</a:t>
            </a:r>
            <a:endParaRPr lang="en-US" altLang="zh-CN" sz="4000" dirty="0">
              <a:solidFill>
                <a:schemeClr val="bg1"/>
              </a:solidFill>
              <a:latin typeface="宋体" panose="02010600030101010101" pitchFamily="2" charset="-122"/>
              <a:ea typeface="宋体" panose="02010600030101010101" pitchFamily="2" charset="-122"/>
            </a:endParaRPr>
          </a:p>
        </p:txBody>
      </p:sp>
      <p:sp>
        <p:nvSpPr>
          <p:cNvPr id="21" name="矩形 20">
            <a:extLst>
              <a:ext uri="{FF2B5EF4-FFF2-40B4-BE49-F238E27FC236}">
                <a16:creationId xmlns:a16="http://schemas.microsoft.com/office/drawing/2014/main" id="{7330F3A7-A602-48D8-B60F-7E48FE23567A}"/>
              </a:ext>
            </a:extLst>
          </p:cNvPr>
          <p:cNvSpPr/>
          <p:nvPr/>
        </p:nvSpPr>
        <p:spPr>
          <a:xfrm>
            <a:off x="952500" y="2088410"/>
            <a:ext cx="10287000" cy="4385318"/>
          </a:xfrm>
          <a:prstGeom prst="rect">
            <a:avLst/>
          </a:prstGeom>
          <a:solidFill>
            <a:srgbClr val="CBBA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矩形 21">
            <a:extLst>
              <a:ext uri="{FF2B5EF4-FFF2-40B4-BE49-F238E27FC236}">
                <a16:creationId xmlns:a16="http://schemas.microsoft.com/office/drawing/2014/main" id="{2E2DA47A-9B52-4626-BF1E-83E76510B0E1}"/>
              </a:ext>
            </a:extLst>
          </p:cNvPr>
          <p:cNvSpPr/>
          <p:nvPr/>
        </p:nvSpPr>
        <p:spPr>
          <a:xfrm>
            <a:off x="803174" y="2193937"/>
            <a:ext cx="2061391" cy="1838965"/>
          </a:xfrm>
          <a:prstGeom prst="rect">
            <a:avLst/>
          </a:prstGeom>
        </p:spPr>
        <p:txBody>
          <a:bodyPr wrap="square" lIns="68580" tIns="34290" rIns="68580" bIns="34290">
            <a:spAutoFit/>
          </a:bodyPr>
          <a:lstStyle/>
          <a:p>
            <a:pPr algn="ctr">
              <a:defRPr/>
            </a:pPr>
            <a:r>
              <a:rPr lang="zh-CN" altLang="en-US" sz="11500" spc="225" dirty="0">
                <a:solidFill>
                  <a:schemeClr val="bg1"/>
                </a:solidFill>
                <a:cs typeface="+mn-ea"/>
                <a:sym typeface="+mn-lt"/>
              </a:rPr>
              <a:t>“</a:t>
            </a:r>
            <a:endParaRPr sz="11500" spc="225" dirty="0">
              <a:solidFill>
                <a:schemeClr val="bg1"/>
              </a:solidFill>
              <a:cs typeface="+mn-ea"/>
              <a:sym typeface="+mn-lt"/>
            </a:endParaRPr>
          </a:p>
        </p:txBody>
      </p:sp>
      <p:sp>
        <p:nvSpPr>
          <p:cNvPr id="24" name="矩形 23">
            <a:extLst>
              <a:ext uri="{FF2B5EF4-FFF2-40B4-BE49-F238E27FC236}">
                <a16:creationId xmlns:a16="http://schemas.microsoft.com/office/drawing/2014/main" id="{74E7E525-6BE3-4A3F-BF09-9ED56C4FC6A1}"/>
              </a:ext>
            </a:extLst>
          </p:cNvPr>
          <p:cNvSpPr/>
          <p:nvPr/>
        </p:nvSpPr>
        <p:spPr>
          <a:xfrm>
            <a:off x="9624605" y="5019035"/>
            <a:ext cx="2061391" cy="1838965"/>
          </a:xfrm>
          <a:prstGeom prst="rect">
            <a:avLst/>
          </a:prstGeom>
        </p:spPr>
        <p:txBody>
          <a:bodyPr wrap="square" lIns="68580" tIns="34290" rIns="68580" bIns="34290">
            <a:spAutoFit/>
          </a:bodyPr>
          <a:lstStyle/>
          <a:p>
            <a:pPr algn="ctr">
              <a:defRPr/>
            </a:pPr>
            <a:r>
              <a:rPr lang="en-US" sz="11500" spc="225" dirty="0">
                <a:solidFill>
                  <a:schemeClr val="bg1"/>
                </a:solidFill>
                <a:cs typeface="+mn-ea"/>
                <a:sym typeface="+mn-lt"/>
              </a:rPr>
              <a:t>”</a:t>
            </a:r>
            <a:endParaRPr sz="11500" spc="225" dirty="0">
              <a:solidFill>
                <a:schemeClr val="bg1"/>
              </a:solidFill>
              <a:cs typeface="+mn-ea"/>
              <a:sym typeface="+mn-lt"/>
            </a:endParaRPr>
          </a:p>
        </p:txBody>
      </p:sp>
      <p:sp>
        <p:nvSpPr>
          <p:cNvPr id="14" name="文本框 13">
            <a:extLst>
              <a:ext uri="{FF2B5EF4-FFF2-40B4-BE49-F238E27FC236}">
                <a16:creationId xmlns:a16="http://schemas.microsoft.com/office/drawing/2014/main" id="{34776958-67A4-4E7B-A8C1-1D0D07533166}"/>
              </a:ext>
            </a:extLst>
          </p:cNvPr>
          <p:cNvSpPr txBox="1"/>
          <p:nvPr/>
        </p:nvSpPr>
        <p:spPr>
          <a:xfrm>
            <a:off x="2482449" y="2709547"/>
            <a:ext cx="7569024" cy="3477875"/>
          </a:xfrm>
          <a:prstGeom prst="rect">
            <a:avLst/>
          </a:prstGeom>
          <a:noFill/>
        </p:spPr>
        <p:txBody>
          <a:bodyPr wrap="square" rtlCol="0">
            <a:spAutoFit/>
          </a:bodyPr>
          <a:lstStyle/>
          <a:p>
            <a:r>
              <a:rPr lang="en-US" altLang="zh-CN" sz="2400" dirty="0">
                <a:solidFill>
                  <a:schemeClr val="bg1"/>
                </a:solidFill>
              </a:rPr>
              <a:t>1</a:t>
            </a:r>
            <a:r>
              <a:rPr lang="zh-CN" altLang="en-US" sz="2400" dirty="0">
                <a:solidFill>
                  <a:schemeClr val="bg1"/>
                </a:solidFill>
              </a:rPr>
              <a:t>、当时钟频率一定时</a:t>
            </a:r>
            <a:r>
              <a:rPr lang="en-US" altLang="zh-CN" sz="2400" dirty="0">
                <a:solidFill>
                  <a:schemeClr val="bg1"/>
                </a:solidFill>
              </a:rPr>
              <a:t>,</a:t>
            </a:r>
            <a:r>
              <a:rPr lang="zh-CN" altLang="en-US" sz="2400" dirty="0">
                <a:solidFill>
                  <a:schemeClr val="bg1"/>
                </a:solidFill>
              </a:rPr>
              <a:t>其特性仅取决于电容。这种电容的比值精度可达</a:t>
            </a:r>
            <a:r>
              <a:rPr lang="en-US" altLang="zh-CN" sz="2400" dirty="0">
                <a:solidFill>
                  <a:schemeClr val="bg1"/>
                </a:solidFill>
              </a:rPr>
              <a:t>0.01%,</a:t>
            </a:r>
            <a:r>
              <a:rPr lang="zh-CN" altLang="en-US" sz="2400" dirty="0">
                <a:solidFill>
                  <a:schemeClr val="bg1"/>
                </a:solidFill>
              </a:rPr>
              <a:t>并且具有良好的温度稳定性；</a:t>
            </a:r>
            <a:endParaRPr lang="en-US" altLang="zh-CN" sz="2400" dirty="0">
              <a:solidFill>
                <a:schemeClr val="bg1"/>
              </a:solidFill>
            </a:endParaRPr>
          </a:p>
          <a:p>
            <a:br>
              <a:rPr lang="zh-CN" altLang="en-US" sz="2800" dirty="0">
                <a:solidFill>
                  <a:schemeClr val="bg1"/>
                </a:solidFill>
              </a:rPr>
            </a:br>
            <a:r>
              <a:rPr lang="en-US" altLang="zh-CN" sz="2400" dirty="0">
                <a:solidFill>
                  <a:schemeClr val="bg1"/>
                </a:solidFill>
              </a:rPr>
              <a:t>2</a:t>
            </a:r>
            <a:r>
              <a:rPr lang="zh-CN" altLang="en-US" sz="2400" dirty="0">
                <a:solidFill>
                  <a:schemeClr val="bg1"/>
                </a:solidFill>
              </a:rPr>
              <a:t>、当电路结构确定之后</a:t>
            </a:r>
            <a:r>
              <a:rPr lang="en-US" altLang="zh-CN" sz="2400" dirty="0">
                <a:solidFill>
                  <a:schemeClr val="bg1"/>
                </a:solidFill>
              </a:rPr>
              <a:t>,</a:t>
            </a:r>
            <a:r>
              <a:rPr lang="zh-CN" altLang="en-US" sz="2400" dirty="0">
                <a:solidFill>
                  <a:schemeClr val="bg1"/>
                </a:solidFill>
              </a:rPr>
              <a:t>开关电容滤波器的特性仅与时钟频率有关</a:t>
            </a:r>
            <a:r>
              <a:rPr lang="en-US" altLang="zh-CN" sz="2400" dirty="0">
                <a:solidFill>
                  <a:schemeClr val="bg1"/>
                </a:solidFill>
              </a:rPr>
              <a:t>,</a:t>
            </a:r>
            <a:r>
              <a:rPr lang="zh-CN" altLang="en-US" sz="2400" dirty="0">
                <a:solidFill>
                  <a:schemeClr val="bg1"/>
                </a:solidFill>
              </a:rPr>
              <a:t>改变时钟频率即可改变其滤波器特性；</a:t>
            </a:r>
            <a:endParaRPr lang="en-US" altLang="zh-CN" sz="2400" dirty="0">
              <a:solidFill>
                <a:schemeClr val="bg1"/>
              </a:solidFill>
            </a:endParaRPr>
          </a:p>
          <a:p>
            <a:br>
              <a:rPr lang="zh-CN" altLang="en-US" sz="2800" dirty="0">
                <a:solidFill>
                  <a:schemeClr val="bg1"/>
                </a:solidFill>
              </a:rPr>
            </a:br>
            <a:r>
              <a:rPr lang="en-US" altLang="zh-CN" sz="2400" dirty="0">
                <a:solidFill>
                  <a:schemeClr val="bg1"/>
                </a:solidFill>
              </a:rPr>
              <a:t>3</a:t>
            </a:r>
            <a:r>
              <a:rPr lang="zh-CN" altLang="en-US" sz="2400" dirty="0">
                <a:solidFill>
                  <a:schemeClr val="bg1"/>
                </a:solidFill>
              </a:rPr>
              <a:t>、开关电容滤波器可直接处理模拟信号</a:t>
            </a:r>
            <a:r>
              <a:rPr lang="en-US" altLang="zh-CN" sz="2400" dirty="0">
                <a:solidFill>
                  <a:schemeClr val="bg1"/>
                </a:solidFill>
              </a:rPr>
              <a:t>,</a:t>
            </a:r>
            <a:r>
              <a:rPr lang="zh-CN" altLang="en-US" sz="2400" dirty="0">
                <a:solidFill>
                  <a:schemeClr val="bg1"/>
                </a:solidFill>
              </a:rPr>
              <a:t>而不必像数字滤波器那样需要</a:t>
            </a:r>
            <a:r>
              <a:rPr lang="en-US" altLang="zh-CN" sz="2400" dirty="0">
                <a:solidFill>
                  <a:schemeClr val="bg1"/>
                </a:solidFill>
              </a:rPr>
              <a:t>A/D</a:t>
            </a:r>
            <a:r>
              <a:rPr lang="zh-CN" altLang="en-US" sz="2400" dirty="0">
                <a:solidFill>
                  <a:schemeClr val="bg1"/>
                </a:solidFill>
              </a:rPr>
              <a:t>、</a:t>
            </a:r>
            <a:r>
              <a:rPr lang="en-US" altLang="zh-CN" sz="2400" dirty="0">
                <a:solidFill>
                  <a:schemeClr val="bg1"/>
                </a:solidFill>
              </a:rPr>
              <a:t>D/A</a:t>
            </a:r>
            <a:r>
              <a:rPr lang="zh-CN" altLang="en-US" sz="2400" dirty="0">
                <a:solidFill>
                  <a:schemeClr val="bg1"/>
                </a:solidFill>
              </a:rPr>
              <a:t>变换</a:t>
            </a:r>
            <a:r>
              <a:rPr lang="en-US" altLang="zh-CN" sz="2400" dirty="0">
                <a:solidFill>
                  <a:schemeClr val="bg1"/>
                </a:solidFill>
              </a:rPr>
              <a:t>,</a:t>
            </a:r>
            <a:r>
              <a:rPr lang="zh-CN" altLang="en-US" sz="2400" dirty="0">
                <a:solidFill>
                  <a:schemeClr val="bg1"/>
                </a:solidFill>
              </a:rPr>
              <a:t>简化了电路设计：</a:t>
            </a:r>
            <a:br>
              <a:rPr lang="zh-CN" altLang="en-US" sz="2000" dirty="0"/>
            </a:br>
            <a:endParaRPr lang="zh-CN" altLang="en-US" sz="20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98191853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2" presetClass="entr" presetSubtype="4"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p:tgtEl>
                                          <p:spTgt spid="13"/>
                                        </p:tgtEl>
                                        <p:attrNameLst>
                                          <p:attrName>ppt_y</p:attrName>
                                        </p:attrNameLst>
                                      </p:cBhvr>
                                      <p:tavLst>
                                        <p:tav tm="0">
                                          <p:val>
                                            <p:strVal val="#ppt_y+#ppt_h*1.125000"/>
                                          </p:val>
                                        </p:tav>
                                        <p:tav tm="100000">
                                          <p:val>
                                            <p:strVal val="#ppt_y"/>
                                          </p:val>
                                        </p:tav>
                                      </p:tavLst>
                                    </p:anim>
                                    <p:animEffect transition="in" filter="wipe(up)">
                                      <p:cBhvr>
                                        <p:cTn id="14" dur="500"/>
                                        <p:tgtEl>
                                          <p:spTgt spid="13"/>
                                        </p:tgtEl>
                                      </p:cBhvr>
                                    </p:animEffect>
                                  </p:childTnLst>
                                </p:cTn>
                              </p:par>
                            </p:childTnLst>
                          </p:cTn>
                        </p:par>
                        <p:par>
                          <p:cTn id="15" fill="hold">
                            <p:stCondLst>
                              <p:cond delay="1500"/>
                            </p:stCondLst>
                            <p:childTnLst>
                              <p:par>
                                <p:cTn id="16" presetID="12" presetClass="entr" presetSubtype="4" fill="hold" grpId="0" nodeType="afterEffect">
                                  <p:stCondLst>
                                    <p:cond delay="0"/>
                                  </p:stCondLst>
                                  <p:childTnLst>
                                    <p:set>
                                      <p:cBhvr>
                                        <p:cTn id="17" dur="1" fill="hold">
                                          <p:stCondLst>
                                            <p:cond delay="0"/>
                                          </p:stCondLst>
                                        </p:cTn>
                                        <p:tgtEl>
                                          <p:spTgt spid="19"/>
                                        </p:tgtEl>
                                        <p:attrNameLst>
                                          <p:attrName>style.visibility</p:attrName>
                                        </p:attrNameLst>
                                      </p:cBhvr>
                                      <p:to>
                                        <p:strVal val="visible"/>
                                      </p:to>
                                    </p:set>
                                    <p:anim calcmode="lin" valueType="num">
                                      <p:cBhvr additive="base">
                                        <p:cTn id="18" dur="500"/>
                                        <p:tgtEl>
                                          <p:spTgt spid="19"/>
                                        </p:tgtEl>
                                        <p:attrNameLst>
                                          <p:attrName>ppt_y</p:attrName>
                                        </p:attrNameLst>
                                      </p:cBhvr>
                                      <p:tavLst>
                                        <p:tav tm="0">
                                          <p:val>
                                            <p:strVal val="#ppt_y+#ppt_h*1.125000"/>
                                          </p:val>
                                        </p:tav>
                                        <p:tav tm="100000">
                                          <p:val>
                                            <p:strVal val="#ppt_y"/>
                                          </p:val>
                                        </p:tav>
                                      </p:tavLst>
                                    </p:anim>
                                    <p:animEffect transition="in" filter="wipe(up)">
                                      <p:cBhvr>
                                        <p:cTn id="19" dur="500"/>
                                        <p:tgtEl>
                                          <p:spTgt spid="19"/>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 calcmode="lin" valueType="num">
                                      <p:cBhvr additive="base">
                                        <p:cTn id="24" dur="500" fill="hold"/>
                                        <p:tgtEl>
                                          <p:spTgt spid="17"/>
                                        </p:tgtEl>
                                        <p:attrNameLst>
                                          <p:attrName>ppt_x</p:attrName>
                                        </p:attrNameLst>
                                      </p:cBhvr>
                                      <p:tavLst>
                                        <p:tav tm="0">
                                          <p:val>
                                            <p:strVal val="#ppt_x"/>
                                          </p:val>
                                        </p:tav>
                                        <p:tav tm="100000">
                                          <p:val>
                                            <p:strVal val="#ppt_x"/>
                                          </p:val>
                                        </p:tav>
                                      </p:tavLst>
                                    </p:anim>
                                    <p:anim calcmode="lin" valueType="num">
                                      <p:cBhvr additive="base">
                                        <p:cTn id="25"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wipe(left)">
                                      <p:cBhvr>
                                        <p:cTn id="30" dur="500"/>
                                        <p:tgtEl>
                                          <p:spTgt spid="21"/>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wipe(left)">
                                      <p:cBhvr>
                                        <p:cTn id="34" dur="500"/>
                                        <p:tgtEl>
                                          <p:spTgt spid="22"/>
                                        </p:tgtEl>
                                      </p:cBhvr>
                                    </p:animEffect>
                                  </p:childTnLst>
                                </p:cTn>
                              </p:par>
                            </p:childTnLst>
                          </p:cTn>
                        </p:par>
                        <p:par>
                          <p:cTn id="35" fill="hold">
                            <p:stCondLst>
                              <p:cond delay="1000"/>
                            </p:stCondLst>
                            <p:childTnLst>
                              <p:par>
                                <p:cTn id="36" presetID="22" presetClass="entr" presetSubtype="8" fill="hold" grpId="0" nodeType="after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wipe(left)">
                                      <p:cBhvr>
                                        <p:cTn id="38" dur="500"/>
                                        <p:tgtEl>
                                          <p:spTgt spid="24"/>
                                        </p:tgtEl>
                                      </p:cBhvr>
                                    </p:animEffect>
                                  </p:childTnLst>
                                </p:cTn>
                              </p:par>
                            </p:childTnLst>
                          </p:cTn>
                        </p:par>
                        <p:par>
                          <p:cTn id="39" fill="hold">
                            <p:stCondLst>
                              <p:cond delay="1500"/>
                            </p:stCondLst>
                            <p:childTnLst>
                              <p:par>
                                <p:cTn id="40" presetID="22" presetClass="entr" presetSubtype="4" fill="hold" grpId="0" nodeType="after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down)">
                                      <p:cBhvr>
                                        <p:cTn id="4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bldLvl="0"/>
      <p:bldP spid="17" grpId="0" bldLvl="0" animBg="1"/>
      <p:bldP spid="19" grpId="0" bldLvl="0"/>
      <p:bldP spid="21" grpId="0" bldLvl="0" animBg="1"/>
      <p:bldP spid="22" grpId="0"/>
      <p:bldP spid="24" grpId="0"/>
      <p:bldP spid="1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7" name="矩形 16"/>
          <p:cNvSpPr/>
          <p:nvPr/>
        </p:nvSpPr>
        <p:spPr>
          <a:xfrm>
            <a:off x="2843212" y="2209413"/>
            <a:ext cx="6506508" cy="1084912"/>
          </a:xfrm>
          <a:prstGeom prst="rect">
            <a:avLst/>
          </a:prstGeom>
        </p:spPr>
        <p:txBody>
          <a:bodyPr wrap="square" lIns="68580" tIns="34290" rIns="68580" bIns="34290">
            <a:spAutoFit/>
          </a:bodyPr>
          <a:lstStyle/>
          <a:p>
            <a:pPr algn="ctr">
              <a:defRPr/>
            </a:pPr>
            <a:r>
              <a:rPr lang="zh-CN" altLang="en-US" sz="6600" spc="225" dirty="0">
                <a:solidFill>
                  <a:srgbClr val="6E8F9E"/>
                </a:solidFill>
                <a:latin typeface="方正粗谭黑简体" panose="02000000000000000000" pitchFamily="2" charset="-122"/>
                <a:ea typeface="方正粗谭黑简体" panose="02000000000000000000" pitchFamily="2" charset="-122"/>
                <a:cs typeface="+mn-ea"/>
                <a:sym typeface="+mn-lt"/>
              </a:rPr>
              <a:t>感谢聆听</a:t>
            </a:r>
          </a:p>
        </p:txBody>
      </p:sp>
      <p:sp>
        <p:nvSpPr>
          <p:cNvPr id="2" name="矩形 1"/>
          <p:cNvSpPr/>
          <p:nvPr/>
        </p:nvSpPr>
        <p:spPr>
          <a:xfrm>
            <a:off x="4966335" y="3505835"/>
            <a:ext cx="2259330" cy="622300"/>
          </a:xfrm>
          <a:prstGeom prst="rect">
            <a:avLst/>
          </a:prstGeom>
        </p:spPr>
        <p:txBody>
          <a:bodyPr wrap="square" lIns="68580" tIns="34290" rIns="68580" bIns="34290">
            <a:spAutoFit/>
          </a:bodyPr>
          <a:lstStyle/>
          <a:p>
            <a:pPr algn="dist">
              <a:defRPr/>
            </a:pPr>
            <a:r>
              <a:rPr lang="en-US" altLang="zh-CN" sz="3600" spc="225" dirty="0">
                <a:solidFill>
                  <a:srgbClr val="6E8F9E"/>
                </a:solidFill>
                <a:cs typeface="+mn-ea"/>
                <a:sym typeface="+mn-lt"/>
              </a:rPr>
              <a:t>THANKS</a:t>
            </a:r>
          </a:p>
        </p:txBody>
      </p:sp>
      <p:cxnSp>
        <p:nvCxnSpPr>
          <p:cNvPr id="5" name="直接连接符 4"/>
          <p:cNvCxnSpPr/>
          <p:nvPr/>
        </p:nvCxnSpPr>
        <p:spPr>
          <a:xfrm>
            <a:off x="3563620" y="3816985"/>
            <a:ext cx="113347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7499350" y="3816985"/>
            <a:ext cx="1133475"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right)">
                                      <p:cBhvr>
                                        <p:cTn id="7" dur="500"/>
                                        <p:tgtEl>
                                          <p:spTgt spid="17"/>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right)">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年终工作总结"/>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mxw2pnx5">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826</TotalTime>
  <Words>740</Words>
  <Application>Microsoft Office PowerPoint</Application>
  <PresentationFormat>宽屏</PresentationFormat>
  <Paragraphs>79</Paragraphs>
  <Slides>15</Slides>
  <Notes>15</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15</vt:i4>
      </vt:variant>
    </vt:vector>
  </HeadingPairs>
  <TitlesOfParts>
    <vt:vector size="25" baseType="lpstr">
      <vt:lpstr>Microsoft yahei</vt:lpstr>
      <vt:lpstr>等线</vt:lpstr>
      <vt:lpstr>方正粗谭黑简体</vt:lpstr>
      <vt:lpstr>宋体</vt:lpstr>
      <vt:lpstr>微软雅黑</vt:lpstr>
      <vt:lpstr>Arial</vt:lpstr>
      <vt:lpstr>Calibri</vt:lpstr>
      <vt:lpstr>Cambria Math</vt:lpstr>
      <vt:lpstr>第一PPT，www.1ppt.com</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工作总结汇报</dc:title>
  <dc:creator>第一PPT</dc:creator>
  <cp:keywords>www.1ppt.com</cp:keywords>
  <dc:description>www.1ppt.com</dc:description>
  <cp:lastModifiedBy>re ol</cp:lastModifiedBy>
  <cp:revision>186</cp:revision>
  <dcterms:created xsi:type="dcterms:W3CDTF">2019-07-04T08:14:00Z</dcterms:created>
  <dcterms:modified xsi:type="dcterms:W3CDTF">2020-06-12T11:46:41Z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2052-11.1.0.9175</vt:lpwstr>
  </property>
</Properties>
</file>