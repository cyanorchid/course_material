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3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4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hyperlink" Target="https://baike.baidu.com/item/%E6%B8%9D%E4%B8%AD%E5%8C%BA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589213" y="2514601"/>
            <a:ext cx="8915399" cy="798616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重庆抗战历史</a:t>
            </a:r>
            <a:r>
              <a:rPr lang="en-US" altLang="zh-CN" dirty="0"/>
              <a:t>——</a:t>
            </a:r>
            <a:r>
              <a:rPr lang="zh-CN" altLang="en-US" dirty="0"/>
              <a:t>防空洞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主讲人：曾晟来、罗霄</a:t>
            </a:r>
          </a:p>
        </p:txBody>
      </p:sp>
    </p:spTree>
    <p:extLst>
      <p:ext uri="{BB962C8B-B14F-4D97-AF65-F5344CB8AC3E}">
        <p14:creationId xmlns:p14="http://schemas.microsoft.com/office/powerpoint/2010/main" val="434786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防空洞的历史</a:t>
            </a:r>
            <a:r>
              <a:rPr lang="en-US" altLang="zh-CN" dirty="0"/>
              <a:t>——</a:t>
            </a:r>
            <a:r>
              <a:rPr lang="zh-CN" altLang="en-US" dirty="0"/>
              <a:t>大轰炸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589211" y="2133600"/>
            <a:ext cx="5022871" cy="433251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altLang="zh-CN" sz="1200" dirty="0"/>
          </a:p>
          <a:p>
            <a:r>
              <a:rPr lang="zh-CN" altLang="en-US" sz="1200" dirty="0"/>
              <a:t>在</a:t>
            </a:r>
            <a:r>
              <a:rPr lang="en-US" altLang="zh-CN" sz="1200" dirty="0"/>
              <a:t>1937</a:t>
            </a:r>
            <a:r>
              <a:rPr lang="zh-CN" altLang="en-US" sz="1200" dirty="0"/>
              <a:t>年</a:t>
            </a:r>
            <a:r>
              <a:rPr lang="en-US" altLang="zh-CN" sz="1200" dirty="0"/>
              <a:t>7</a:t>
            </a:r>
            <a:r>
              <a:rPr lang="zh-CN" altLang="en-US" sz="1200" dirty="0"/>
              <a:t>月七七事变之后，日军开始全面侵华。</a:t>
            </a:r>
            <a:r>
              <a:rPr lang="en-US" altLang="zh-CN" sz="1200" dirty="0"/>
              <a:t>1937</a:t>
            </a:r>
            <a:r>
              <a:rPr lang="zh-CN" altLang="en-US" sz="1200" dirty="0"/>
              <a:t>年</a:t>
            </a:r>
            <a:r>
              <a:rPr lang="en-US" altLang="zh-CN" sz="1200" dirty="0"/>
              <a:t>11</a:t>
            </a:r>
            <a:r>
              <a:rPr lang="zh-CN" altLang="en-US" sz="1200" dirty="0"/>
              <a:t>月，国民政府对日在淞沪抗战中失利，南京开始陷入危机，国民政府在</a:t>
            </a:r>
            <a:r>
              <a:rPr lang="en-US" altLang="zh-CN" sz="1200" dirty="0"/>
              <a:t>1937</a:t>
            </a:r>
            <a:r>
              <a:rPr lang="zh-CN" altLang="en-US" sz="1200" dirty="0"/>
              <a:t>年</a:t>
            </a:r>
            <a:r>
              <a:rPr lang="en-US" altLang="zh-CN" sz="1200" dirty="0"/>
              <a:t>11</a:t>
            </a:r>
            <a:r>
              <a:rPr lang="zh-CN" altLang="en-US" sz="1200" dirty="0"/>
              <a:t>月</a:t>
            </a:r>
            <a:r>
              <a:rPr lang="en-US" altLang="zh-CN" sz="1200" dirty="0"/>
              <a:t>20</a:t>
            </a:r>
            <a:r>
              <a:rPr lang="zh-CN" altLang="en-US" sz="1200" dirty="0"/>
              <a:t>日起迁往重庆作为陪都。</a:t>
            </a:r>
            <a:br>
              <a:rPr lang="zh-CN" altLang="en-US" sz="1200" dirty="0"/>
            </a:br>
            <a:r>
              <a:rPr lang="zh-CN" altLang="en-US" sz="1200" dirty="0"/>
              <a:t> </a:t>
            </a:r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en-US" sz="1200" dirty="0"/>
              <a:t> </a:t>
            </a:r>
            <a:r>
              <a:rPr lang="en-US" altLang="zh-CN" sz="1200" dirty="0"/>
              <a:t>1937</a:t>
            </a:r>
            <a:r>
              <a:rPr lang="zh-CN" altLang="en-US" sz="1200" dirty="0"/>
              <a:t>年</a:t>
            </a:r>
            <a:r>
              <a:rPr lang="en-US" altLang="zh-CN" sz="1200" dirty="0"/>
              <a:t>11</a:t>
            </a:r>
            <a:r>
              <a:rPr lang="zh-CN" altLang="en-US" sz="1200" dirty="0"/>
              <a:t>月，日本陆军发动全面战争不久即把无区别攻击列入军事操典。日军</a:t>
            </a:r>
            <a:r>
              <a:rPr lang="en-US" altLang="zh-CN" sz="1200" dirty="0"/>
              <a:t>1939 </a:t>
            </a:r>
            <a:r>
              <a:rPr lang="zh-CN" altLang="en-US" sz="1200" dirty="0"/>
              <a:t>年至</a:t>
            </a:r>
            <a:r>
              <a:rPr lang="en-US" altLang="zh-CN" sz="1200" dirty="0"/>
              <a:t>1941 </a:t>
            </a:r>
            <a:r>
              <a:rPr lang="zh-CN" altLang="en-US" sz="1200" dirty="0"/>
              <a:t>年对重庆市的无区别轰炸，就是在此“政略攻击”下实施的。</a:t>
            </a:r>
            <a:br>
              <a:rPr lang="en-US" altLang="zh-CN" sz="1200" dirty="0"/>
            </a:br>
            <a:endParaRPr lang="en-US" altLang="zh-CN" sz="1200" dirty="0"/>
          </a:p>
          <a:p>
            <a:endParaRPr lang="en-US" altLang="zh-CN" sz="1200" dirty="0"/>
          </a:p>
          <a:p>
            <a:endParaRPr lang="en-US" altLang="zh-CN" sz="1200" dirty="0"/>
          </a:p>
          <a:p>
            <a:r>
              <a:rPr lang="zh-CN" altLang="en-US" sz="1200" dirty="0"/>
              <a:t>从</a:t>
            </a:r>
            <a:r>
              <a:rPr lang="en-US" altLang="zh-CN" sz="1200" dirty="0"/>
              <a:t>1938</a:t>
            </a:r>
            <a:r>
              <a:rPr lang="zh-CN" altLang="en-US" sz="1200" dirty="0"/>
              <a:t>年</a:t>
            </a:r>
            <a:r>
              <a:rPr lang="en-US" altLang="zh-CN" sz="1200" dirty="0"/>
              <a:t>2</a:t>
            </a:r>
            <a:r>
              <a:rPr lang="zh-CN" altLang="en-US" sz="1200" dirty="0"/>
              <a:t>月</a:t>
            </a:r>
            <a:r>
              <a:rPr lang="en-US" altLang="zh-CN" sz="1200" dirty="0"/>
              <a:t>18</a:t>
            </a:r>
            <a:r>
              <a:rPr lang="zh-CN" altLang="en-US" sz="1200" dirty="0"/>
              <a:t>日到</a:t>
            </a:r>
            <a:r>
              <a:rPr lang="en-US" altLang="zh-CN" sz="1200" dirty="0"/>
              <a:t>1943</a:t>
            </a:r>
            <a:r>
              <a:rPr lang="zh-CN" altLang="en-US" sz="1200" dirty="0"/>
              <a:t>年</a:t>
            </a:r>
            <a:r>
              <a:rPr lang="en-US" altLang="zh-CN" sz="1200" dirty="0"/>
              <a:t>8</a:t>
            </a:r>
            <a:r>
              <a:rPr lang="zh-CN" altLang="en-US" sz="1200" dirty="0"/>
              <a:t>月</a:t>
            </a:r>
            <a:r>
              <a:rPr lang="en-US" altLang="zh-CN" sz="1200" dirty="0"/>
              <a:t>23</a:t>
            </a:r>
            <a:r>
              <a:rPr lang="zh-CN" altLang="en-US" sz="1200" dirty="0"/>
              <a:t>日，日本陆、海军航空部队遵照日本天皇和最高本部指令，联合对重庆展开航空进攻作战，为期</a:t>
            </a:r>
            <a:r>
              <a:rPr lang="en-US" altLang="zh-CN" sz="1200" dirty="0"/>
              <a:t>5</a:t>
            </a:r>
            <a:r>
              <a:rPr lang="zh-CN" altLang="en-US" sz="1200" dirty="0"/>
              <a:t>年半，史称重庆大轰炸。</a:t>
            </a:r>
            <a:endParaRPr lang="en-US" altLang="zh-CN" sz="1200" dirty="0"/>
          </a:p>
        </p:txBody>
      </p:sp>
      <p:pic>
        <p:nvPicPr>
          <p:cNvPr id="1026" name="Picture 2" descr="C:\Users\LuoWG\Documents\Tencent Files\1303161126\Image\C2C\]VR}N8P5R%N[4~X$TGJ9}%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897" y="2226585"/>
            <a:ext cx="2927029" cy="385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187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血淋淋的数据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在重庆大轰炸中，日机空袭重庆共达</a:t>
            </a:r>
            <a:r>
              <a:rPr lang="en-US" altLang="zh-CN" dirty="0"/>
              <a:t>218</a:t>
            </a:r>
            <a:r>
              <a:rPr lang="zh-CN" altLang="en-US" dirty="0"/>
              <a:t>次，出动飞机</a:t>
            </a:r>
            <a:r>
              <a:rPr lang="en-US" altLang="zh-CN" dirty="0"/>
              <a:t>9513</a:t>
            </a:r>
            <a:r>
              <a:rPr lang="zh-CN" altLang="en-US" dirty="0"/>
              <a:t>架次，投弹</a:t>
            </a:r>
            <a:r>
              <a:rPr lang="en-US" altLang="zh-CN" dirty="0"/>
              <a:t>21593</a:t>
            </a:r>
            <a:r>
              <a:rPr lang="zh-CN" altLang="en-US" dirty="0"/>
              <a:t>枚，炸死市民</a:t>
            </a:r>
            <a:r>
              <a:rPr lang="en-US" altLang="zh-CN" dirty="0"/>
              <a:t>11889</a:t>
            </a:r>
            <a:r>
              <a:rPr lang="zh-CN" altLang="en-US" dirty="0"/>
              <a:t>人、伤</a:t>
            </a:r>
            <a:r>
              <a:rPr lang="en-US" altLang="zh-CN" dirty="0"/>
              <a:t>14100</a:t>
            </a:r>
            <a:r>
              <a:rPr lang="zh-CN" altLang="en-US" dirty="0"/>
              <a:t>人，炸毁房屋</a:t>
            </a:r>
            <a:r>
              <a:rPr lang="en-US" altLang="zh-CN" dirty="0"/>
              <a:t>17608</a:t>
            </a:r>
            <a:r>
              <a:rPr lang="zh-CN" altLang="en-US" dirty="0"/>
              <a:t>幢，</a:t>
            </a:r>
            <a:r>
              <a:rPr lang="en-US" altLang="zh-CN" dirty="0"/>
              <a:t>30</a:t>
            </a:r>
            <a:r>
              <a:rPr lang="zh-CN" altLang="en-US" dirty="0"/>
              <a:t>所学校被炸。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1938</a:t>
            </a:r>
            <a:r>
              <a:rPr lang="zh-CN" altLang="en-US" dirty="0"/>
              <a:t>年初至</a:t>
            </a:r>
            <a:r>
              <a:rPr lang="en-US" altLang="zh-CN" dirty="0"/>
              <a:t>1938</a:t>
            </a:r>
            <a:r>
              <a:rPr lang="zh-CN" altLang="en-US" dirty="0"/>
              <a:t>年底，日本对重庆主要为试探性的轰炸，出动的轰炸机架次较少，多数为日本陆军航空队。</a:t>
            </a:r>
            <a:r>
              <a:rPr lang="en-US" altLang="zh-CN" dirty="0"/>
              <a:t>1938</a:t>
            </a:r>
            <a:r>
              <a:rPr lang="zh-CN" altLang="en-US" dirty="0"/>
              <a:t>年</a:t>
            </a:r>
            <a:r>
              <a:rPr lang="en-US" altLang="zh-CN" dirty="0"/>
              <a:t>10</a:t>
            </a:r>
            <a:r>
              <a:rPr lang="zh-CN" altLang="en-US" dirty="0"/>
              <a:t>月日军攻陷武汉后，日军在日本天皇的命令下开始对重庆实施战略轰炸。</a:t>
            </a:r>
            <a:r>
              <a:rPr lang="en-US" altLang="zh-CN" dirty="0"/>
              <a:t>1938</a:t>
            </a:r>
            <a:r>
              <a:rPr lang="zh-CN" altLang="en-US" dirty="0"/>
              <a:t>年</a:t>
            </a:r>
            <a:r>
              <a:rPr lang="en-US" altLang="zh-CN" dirty="0"/>
              <a:t>12</a:t>
            </a:r>
            <a:r>
              <a:rPr lang="zh-CN" altLang="en-US" dirty="0"/>
              <a:t>月底，由日本陆军对重庆开始实施战略轰炸。</a:t>
            </a:r>
            <a:r>
              <a:rPr lang="en-US" altLang="zh-CN" dirty="0"/>
              <a:t>1939</a:t>
            </a:r>
            <a:r>
              <a:rPr lang="zh-CN" altLang="en-US" dirty="0"/>
              <a:t>年</a:t>
            </a:r>
            <a:r>
              <a:rPr lang="en-US" altLang="zh-CN" dirty="0"/>
              <a:t>5</a:t>
            </a:r>
            <a:r>
              <a:rPr lang="zh-CN" altLang="en-US" dirty="0"/>
              <a:t>月，改以日本海军实行轰炸。</a:t>
            </a:r>
            <a:r>
              <a:rPr lang="en-US" altLang="zh-CN" dirty="0"/>
              <a:t>5</a:t>
            </a:r>
            <a:r>
              <a:rPr lang="zh-CN" altLang="en-US" dirty="0"/>
              <a:t>月</a:t>
            </a:r>
            <a:r>
              <a:rPr lang="en-US" altLang="zh-CN" dirty="0"/>
              <a:t>3</a:t>
            </a:r>
            <a:r>
              <a:rPr lang="zh-CN" altLang="en-US" dirty="0"/>
              <a:t>日及</a:t>
            </a:r>
            <a:r>
              <a:rPr lang="en-US" altLang="zh-CN" dirty="0"/>
              <a:t>5</a:t>
            </a:r>
            <a:r>
              <a:rPr lang="zh-CN" altLang="en-US" dirty="0"/>
              <a:t>月</a:t>
            </a:r>
            <a:r>
              <a:rPr lang="en-US" altLang="zh-CN" dirty="0"/>
              <a:t>4</a:t>
            </a:r>
            <a:r>
              <a:rPr lang="zh-CN" altLang="en-US" dirty="0"/>
              <a:t>日，日本轰炸机从武汉</a:t>
            </a:r>
            <a:r>
              <a:rPr lang="en-US" altLang="zh-CN" dirty="0"/>
              <a:t>W</a:t>
            </a:r>
            <a:r>
              <a:rPr lang="zh-CN" altLang="en-US" dirty="0"/>
              <a:t>基地起飞，对重庆市中心区进行连续轰炸，并且大量使用燃烧弹，此次轰炸称五三、五四大轰炸。</a:t>
            </a:r>
            <a:br>
              <a:rPr lang="zh-CN" altLang="en-US" dirty="0"/>
            </a:br>
            <a:endParaRPr lang="en-US" altLang="zh-CN" dirty="0"/>
          </a:p>
          <a:p>
            <a:r>
              <a:rPr lang="en-US" altLang="zh-CN" dirty="0"/>
              <a:t>1940</a:t>
            </a:r>
            <a:r>
              <a:rPr lang="zh-CN" altLang="en-US" dirty="0"/>
              <a:t>年</a:t>
            </a:r>
            <a:r>
              <a:rPr lang="en-US" altLang="zh-CN" dirty="0"/>
              <a:t>5</a:t>
            </a:r>
            <a:r>
              <a:rPr lang="zh-CN" altLang="en-US" dirty="0"/>
              <a:t>月，日本大本营发动</a:t>
            </a:r>
            <a:r>
              <a:rPr lang="en-US" altLang="zh-CN" dirty="0"/>
              <a:t>《101</a:t>
            </a:r>
            <a:r>
              <a:rPr lang="zh-CN" altLang="en-US" dirty="0"/>
              <a:t>号作战</a:t>
            </a:r>
            <a:r>
              <a:rPr lang="en-US" altLang="zh-CN" dirty="0"/>
              <a:t>》</a:t>
            </a:r>
            <a:r>
              <a:rPr lang="zh-CN" altLang="en-US" dirty="0"/>
              <a:t>，由陆、海军同时对中国后方进行轰炸，轰炸重庆的日机超过</a:t>
            </a:r>
            <a:r>
              <a:rPr lang="en-US" altLang="zh-CN" dirty="0"/>
              <a:t>2000</a:t>
            </a:r>
            <a:r>
              <a:rPr lang="zh-CN" altLang="en-US" dirty="0"/>
              <a:t>架次。</a:t>
            </a:r>
            <a:br>
              <a:rPr lang="en-US" altLang="zh-CN" dirty="0"/>
            </a:b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1374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F8CA1F-2DB0-416C-A142-940F95DCF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那些梦魇般的回忆</a:t>
            </a:r>
          </a:p>
        </p:txBody>
      </p:sp>
      <p:pic>
        <p:nvPicPr>
          <p:cNvPr id="15" name="内容占位符 14">
            <a:extLst>
              <a:ext uri="{FF2B5EF4-FFF2-40B4-BE49-F238E27FC236}">
                <a16:creationId xmlns:a16="http://schemas.microsoft.com/office/drawing/2014/main" id="{93975ECA-65C5-44D5-8A5E-F3F2677FC9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03379" y="2795616"/>
            <a:ext cx="3481235" cy="237957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8108FF98-420F-4A55-8B08-9D652B718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056" y="4873840"/>
            <a:ext cx="3552825" cy="150766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662CBB75-C789-402D-8399-F00D5D95D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836" y="4953001"/>
            <a:ext cx="3571875" cy="12573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1B8DFFCC-F777-49E0-8B32-5A04A4E876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9131" y="1872872"/>
            <a:ext cx="3317506" cy="228793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15FD9EF0-95A1-4311-A137-275177BD9F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987" y="1827182"/>
            <a:ext cx="3571875" cy="23336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6306971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人民的努力</a:t>
            </a:r>
            <a:r>
              <a:rPr lang="en-US" altLang="zh-CN" dirty="0"/>
              <a:t>——</a:t>
            </a:r>
            <a:r>
              <a:rPr lang="zh-CN" altLang="en-US" dirty="0"/>
              <a:t>防空洞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1937</a:t>
            </a:r>
            <a:r>
              <a:rPr lang="zh-CN" altLang="en-US" dirty="0"/>
              <a:t>年，重庆市防空避难设施</a:t>
            </a:r>
            <a:r>
              <a:rPr lang="en-US" altLang="zh-CN" dirty="0"/>
              <a:t>54</a:t>
            </a:r>
            <a:r>
              <a:rPr lang="zh-CN" altLang="en-US" dirty="0"/>
              <a:t>个，可容纳</a:t>
            </a:r>
            <a:r>
              <a:rPr lang="en-US" altLang="zh-CN" dirty="0"/>
              <a:t>7208</a:t>
            </a:r>
            <a:r>
              <a:rPr lang="zh-CN" altLang="en-US" dirty="0"/>
              <a:t>人，为重庆在册人口的</a:t>
            </a:r>
            <a:r>
              <a:rPr lang="en-US" altLang="zh-CN" dirty="0"/>
              <a:t>1%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1942</a:t>
            </a:r>
            <a:r>
              <a:rPr lang="zh-CN" altLang="en-US" dirty="0"/>
              <a:t>年，重庆防空洞</a:t>
            </a:r>
            <a:r>
              <a:rPr lang="en-US" altLang="zh-CN" dirty="0"/>
              <a:t>1603</a:t>
            </a:r>
            <a:r>
              <a:rPr lang="zh-CN" altLang="en-US" dirty="0"/>
              <a:t>个，平均每平方公里就有</a:t>
            </a:r>
            <a:r>
              <a:rPr lang="en-US" altLang="zh-CN" dirty="0"/>
              <a:t>178</a:t>
            </a:r>
            <a:r>
              <a:rPr lang="zh-CN" altLang="en-US" dirty="0"/>
              <a:t>个防空洞，基本可以容纳全部市民。短短</a:t>
            </a:r>
            <a:r>
              <a:rPr lang="en-US" altLang="zh-CN" dirty="0"/>
              <a:t>6</a:t>
            </a:r>
            <a:r>
              <a:rPr lang="zh-CN" altLang="en-US" dirty="0"/>
              <a:t>年间，重庆防空洞数量增加了</a:t>
            </a:r>
            <a:r>
              <a:rPr lang="en-US" altLang="zh-CN" dirty="0"/>
              <a:t>30</a:t>
            </a:r>
            <a:r>
              <a:rPr lang="zh-CN" altLang="en-US" dirty="0"/>
              <a:t>倍，容量增加近</a:t>
            </a:r>
            <a:r>
              <a:rPr lang="en-US" altLang="zh-CN" dirty="0"/>
              <a:t>60</a:t>
            </a:r>
            <a:r>
              <a:rPr lang="zh-CN" altLang="en-US" dirty="0"/>
              <a:t>倍。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防空洞也为当时的民族工业提供庇护。重庆纺织厂、报社、电风扇厂等纷纷将工厂搬进了防空洞，尤其是大量的兵工厂，更是在防空洞中日以继夜地生产武器，为抗战前线提供支持。</a:t>
            </a:r>
          </a:p>
        </p:txBody>
      </p:sp>
    </p:spTree>
    <p:extLst>
      <p:ext uri="{BB962C8B-B14F-4D97-AF65-F5344CB8AC3E}">
        <p14:creationId xmlns:p14="http://schemas.microsoft.com/office/powerpoint/2010/main" val="881200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12A40E-3679-49C8-8520-2CC3E98BD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重庆大轰炸惨案遗址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A50607-5676-433E-ACAB-EBF396D2E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“重庆大轰炸惨案遗址”位于重庆市</a:t>
            </a:r>
            <a:r>
              <a:rPr lang="zh-CN" altLang="en-US" dirty="0">
                <a:hlinkClick r:id="rId2"/>
              </a:rPr>
              <a:t>渝中区</a:t>
            </a:r>
            <a:r>
              <a:rPr lang="zh-CN" altLang="en-US" dirty="0"/>
              <a:t>磁器街，</a:t>
            </a:r>
            <a:r>
              <a:rPr lang="en-US" altLang="zh-CN" dirty="0"/>
              <a:t>1987</a:t>
            </a:r>
            <a:r>
              <a:rPr lang="zh-CN" altLang="en-US" dirty="0"/>
              <a:t>年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6</a:t>
            </a:r>
            <a:r>
              <a:rPr lang="zh-CN" altLang="en-US" dirty="0"/>
              <a:t>日，为纪念</a:t>
            </a:r>
            <a:r>
              <a:rPr lang="en-US" altLang="zh-CN" dirty="0"/>
              <a:t>"</a:t>
            </a:r>
            <a:r>
              <a:rPr lang="zh-CN" altLang="en-US" dirty="0"/>
              <a:t>七、七</a:t>
            </a:r>
            <a:r>
              <a:rPr lang="en-US" altLang="zh-CN" dirty="0"/>
              <a:t>"</a:t>
            </a:r>
            <a:r>
              <a:rPr lang="zh-CN" altLang="en-US" dirty="0"/>
              <a:t>事变</a:t>
            </a:r>
            <a:r>
              <a:rPr lang="en-US" altLang="zh-CN" dirty="0"/>
              <a:t>50</a:t>
            </a:r>
            <a:r>
              <a:rPr lang="zh-CN" altLang="en-US" dirty="0"/>
              <a:t>周年，</a:t>
            </a:r>
            <a:r>
              <a:rPr lang="en-US" altLang="zh-CN" dirty="0"/>
              <a:t>"</a:t>
            </a:r>
            <a:r>
              <a:rPr lang="zh-CN" altLang="en-US" dirty="0"/>
              <a:t>日本侵略者轰炸重庆纪事碑</a:t>
            </a:r>
            <a:r>
              <a:rPr lang="en-US" altLang="zh-CN" dirty="0"/>
              <a:t>"</a:t>
            </a:r>
            <a:r>
              <a:rPr lang="zh-CN" altLang="en-US" dirty="0"/>
              <a:t>落成仪式在此举行，并将该处列为重庆市文物保护单位。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E17612A-655F-4334-8FC6-E81090B3E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254" y="3567184"/>
            <a:ext cx="3559067" cy="234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030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现今的防空洞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2796248" cy="562099"/>
          </a:xfrm>
        </p:spPr>
        <p:txBody>
          <a:bodyPr/>
          <a:lstStyle/>
          <a:p>
            <a:r>
              <a:rPr lang="zh-CN" altLang="en-US" dirty="0"/>
              <a:t>你以为的：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3223913" cy="432910"/>
          </a:xfrm>
        </p:spPr>
        <p:txBody>
          <a:bodyPr/>
          <a:lstStyle/>
          <a:p>
            <a:r>
              <a:rPr lang="zh-CN" altLang="en-US" dirty="0"/>
              <a:t>实际上更多的：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836" y="2924299"/>
            <a:ext cx="3689268" cy="276695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117" y="2924299"/>
            <a:ext cx="4181494" cy="276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301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铭记历史，才能更好前进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尽管战争时期早已远去，但我们重庆人民从来不会忘记它。的确，现今防空洞已经失去了它的战时价值，但我们也不会让它如野草般被人遗忘。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我们将防空洞改成加油站、博物馆、交通隧道，尤其是</a:t>
            </a:r>
            <a:r>
              <a:rPr lang="en-US" altLang="zh-CN" dirty="0"/>
              <a:t>《</a:t>
            </a:r>
            <a:r>
              <a:rPr lang="zh-CN" altLang="en-US" dirty="0"/>
              <a:t>火锅英雄</a:t>
            </a:r>
            <a:r>
              <a:rPr lang="en-US" altLang="zh-CN" dirty="0"/>
              <a:t>》</a:t>
            </a:r>
            <a:r>
              <a:rPr lang="zh-CN" altLang="en-US" dirty="0"/>
              <a:t>中介绍的洞子火锅，更是吸引了无数人的目光。在大家的关注下，我们的历史得以铭记，防空洞本身也没有走向废弃。在一声声惊叹与佩服中，我们先辈的努力与牺牲，从来不曾被遗忘。</a:t>
            </a:r>
          </a:p>
        </p:txBody>
      </p:sp>
    </p:spTree>
    <p:extLst>
      <p:ext uri="{BB962C8B-B14F-4D97-AF65-F5344CB8AC3E}">
        <p14:creationId xmlns:p14="http://schemas.microsoft.com/office/powerpoint/2010/main" val="3161112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2371" y="2703615"/>
            <a:ext cx="6091650" cy="104898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6000" dirty="0"/>
              <a:t>谢谢大家！</a:t>
            </a:r>
          </a:p>
        </p:txBody>
      </p:sp>
    </p:spTree>
    <p:extLst>
      <p:ext uri="{BB962C8B-B14F-4D97-AF65-F5344CB8AC3E}">
        <p14:creationId xmlns:p14="http://schemas.microsoft.com/office/powerpoint/2010/main" val="1533196575"/>
      </p:ext>
    </p:extLst>
  </p:cSld>
  <p:clrMapOvr>
    <a:masterClrMapping/>
  </p:clrMapOvr>
</p:sld>
</file>

<file path=ppt/theme/theme1.xml><?xml version="1.0" encoding="utf-8"?>
<a:theme xmlns:a="http://schemas.openxmlformats.org/drawingml/2006/main" name="丝状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58</TotalTime>
  <Words>665</Words>
  <Application>Microsoft Office PowerPoint</Application>
  <PresentationFormat>宽屏</PresentationFormat>
  <Paragraphs>33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丝状</vt:lpstr>
      <vt:lpstr>重庆抗战历史——防空洞</vt:lpstr>
      <vt:lpstr>防空洞的历史——大轰炸</vt:lpstr>
      <vt:lpstr>血淋淋的数据</vt:lpstr>
      <vt:lpstr>那些梦魇般的回忆</vt:lpstr>
      <vt:lpstr>人民的努力——防空洞</vt:lpstr>
      <vt:lpstr>重庆大轰炸惨案遗址</vt:lpstr>
      <vt:lpstr>现今的防空洞</vt:lpstr>
      <vt:lpstr>铭记历史，才能更好前进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罗霄</dc:creator>
  <cp:lastModifiedBy>z sl</cp:lastModifiedBy>
  <cp:revision>6</cp:revision>
  <dcterms:created xsi:type="dcterms:W3CDTF">2020-05-12T12:26:03Z</dcterms:created>
  <dcterms:modified xsi:type="dcterms:W3CDTF">2020-05-13T02:25:32Z</dcterms:modified>
</cp:coreProperties>
</file>