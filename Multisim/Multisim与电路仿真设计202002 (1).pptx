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 id="2147483733" r:id="rId2"/>
    <p:sldMasterId id="2147484010" r:id="rId3"/>
  </p:sldMasterIdLst>
  <p:notesMasterIdLst>
    <p:notesMasterId r:id="rId52"/>
  </p:notesMasterIdLst>
  <p:handoutMasterIdLst>
    <p:handoutMasterId r:id="rId53"/>
  </p:handoutMasterIdLst>
  <p:sldIdLst>
    <p:sldId id="256" r:id="rId4"/>
    <p:sldId id="260" r:id="rId5"/>
    <p:sldId id="305" r:id="rId6"/>
    <p:sldId id="282" r:id="rId7"/>
    <p:sldId id="259" r:id="rId8"/>
    <p:sldId id="262" r:id="rId9"/>
    <p:sldId id="263" r:id="rId10"/>
    <p:sldId id="307" r:id="rId11"/>
    <p:sldId id="306" r:id="rId12"/>
    <p:sldId id="267" r:id="rId13"/>
    <p:sldId id="266" r:id="rId14"/>
    <p:sldId id="265" r:id="rId15"/>
    <p:sldId id="264" r:id="rId16"/>
    <p:sldId id="268" r:id="rId17"/>
    <p:sldId id="269" r:id="rId18"/>
    <p:sldId id="270" r:id="rId19"/>
    <p:sldId id="271" r:id="rId20"/>
    <p:sldId id="272" r:id="rId21"/>
    <p:sldId id="273" r:id="rId22"/>
    <p:sldId id="274" r:id="rId23"/>
    <p:sldId id="275" r:id="rId24"/>
    <p:sldId id="276" r:id="rId25"/>
    <p:sldId id="283" r:id="rId26"/>
    <p:sldId id="284" r:id="rId27"/>
    <p:sldId id="285" r:id="rId28"/>
    <p:sldId id="286" r:id="rId29"/>
    <p:sldId id="287" r:id="rId30"/>
    <p:sldId id="288" r:id="rId31"/>
    <p:sldId id="289" r:id="rId32"/>
    <p:sldId id="290" r:id="rId33"/>
    <p:sldId id="291" r:id="rId34"/>
    <p:sldId id="292" r:id="rId35"/>
    <p:sldId id="293" r:id="rId36"/>
    <p:sldId id="277" r:id="rId37"/>
    <p:sldId id="278" r:id="rId38"/>
    <p:sldId id="279" r:id="rId39"/>
    <p:sldId id="294" r:id="rId40"/>
    <p:sldId id="295" r:id="rId41"/>
    <p:sldId id="296" r:id="rId42"/>
    <p:sldId id="297" r:id="rId43"/>
    <p:sldId id="298" r:id="rId44"/>
    <p:sldId id="299" r:id="rId45"/>
    <p:sldId id="300" r:id="rId46"/>
    <p:sldId id="301" r:id="rId47"/>
    <p:sldId id="302" r:id="rId48"/>
    <p:sldId id="303" r:id="rId49"/>
    <p:sldId id="280" r:id="rId50"/>
    <p:sldId id="281" r:id="rId51"/>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1B6F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6" d="100"/>
          <a:sy n="86" d="100"/>
        </p:scale>
        <p:origin x="1524" y="78"/>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notesViewPr>
    <p:cSldViewPr>
      <p:cViewPr varScale="1">
        <p:scale>
          <a:sx n="81" d="100"/>
          <a:sy n="81" d="100"/>
        </p:scale>
        <p:origin x="-2088"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viewProps" Target="view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handoutMaster" Target="handoutMasters/handoutMaster1.xml"/><Relationship Id="rId5" Type="http://schemas.openxmlformats.org/officeDocument/2006/relationships/slide" Target="slides/slide2.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theme" Target="theme/theme1.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tableStyles" Target="tableStyles.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BBDA5E8-D1EA-4FCC-BFEB-3BD458FC368B}" type="datetimeFigureOut">
              <a:rPr lang="zh-CN" altLang="en-US" smtClean="0"/>
              <a:t>2020/2/21</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F241440-A063-486D-9BC9-AA7963B4CA5C}" type="slidenum">
              <a:rPr lang="zh-CN" altLang="en-US" smtClean="0"/>
              <a:t>‹#›</a:t>
            </a:fld>
            <a:endParaRPr lang="zh-CN" altLang="en-US"/>
          </a:p>
        </p:txBody>
      </p:sp>
    </p:spTree>
    <p:extLst>
      <p:ext uri="{BB962C8B-B14F-4D97-AF65-F5344CB8AC3E}">
        <p14:creationId xmlns:p14="http://schemas.microsoft.com/office/powerpoint/2010/main" val="34079429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595045A-3708-4275-9829-227342CC355C}" type="datetimeFigureOut">
              <a:rPr lang="zh-CN" altLang="en-US" smtClean="0"/>
              <a:t>2020/2/21</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83FD83-55CE-479E-96EE-ABC160D1F14D}" type="slidenum">
              <a:rPr lang="zh-CN" altLang="en-US" smtClean="0"/>
              <a:t>‹#›</a:t>
            </a:fld>
            <a:endParaRPr lang="zh-CN" altLang="en-US"/>
          </a:p>
        </p:txBody>
      </p:sp>
    </p:spTree>
    <p:extLst>
      <p:ext uri="{BB962C8B-B14F-4D97-AF65-F5344CB8AC3E}">
        <p14:creationId xmlns:p14="http://schemas.microsoft.com/office/powerpoint/2010/main" val="37426209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719D7B91-66C6-43D6-91EE-5A0E8E61168F}" type="datetimeFigureOut">
              <a:rPr lang="zh-CN" altLang="en-US" smtClean="0"/>
              <a:t>2020/2/21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69000F4-5069-4246-87D3-AB2FD963C237}" type="slidenum">
              <a:rPr lang="zh-CN" altLang="en-US" smtClean="0"/>
              <a:t>‹#›</a:t>
            </a:fld>
            <a:endParaRPr lang="zh-CN" altLang="en-US"/>
          </a:p>
        </p:txBody>
      </p:sp>
    </p:spTree>
    <p:extLst>
      <p:ext uri="{BB962C8B-B14F-4D97-AF65-F5344CB8AC3E}">
        <p14:creationId xmlns:p14="http://schemas.microsoft.com/office/powerpoint/2010/main" val="23830448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719D7B91-66C6-43D6-91EE-5A0E8E61168F}" type="datetimeFigureOut">
              <a:rPr lang="zh-CN" altLang="en-US" smtClean="0"/>
              <a:t>2020/2/21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69000F4-5069-4246-87D3-AB2FD963C237}" type="slidenum">
              <a:rPr lang="zh-CN" altLang="en-US" smtClean="0"/>
              <a:t>‹#›</a:t>
            </a:fld>
            <a:endParaRPr lang="zh-CN" altLang="en-US"/>
          </a:p>
        </p:txBody>
      </p:sp>
    </p:spTree>
    <p:extLst>
      <p:ext uri="{BB962C8B-B14F-4D97-AF65-F5344CB8AC3E}">
        <p14:creationId xmlns:p14="http://schemas.microsoft.com/office/powerpoint/2010/main" val="28830465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719D7B91-66C6-43D6-91EE-5A0E8E61168F}" type="datetimeFigureOut">
              <a:rPr lang="zh-CN" altLang="en-US" smtClean="0"/>
              <a:t>2020/2/21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69000F4-5069-4246-87D3-AB2FD963C237}" type="slidenum">
              <a:rPr lang="zh-CN" altLang="en-US" smtClean="0"/>
              <a:t>‹#›</a:t>
            </a:fld>
            <a:endParaRPr lang="zh-CN" altLang="en-US"/>
          </a:p>
        </p:txBody>
      </p:sp>
    </p:spTree>
    <p:extLst>
      <p:ext uri="{BB962C8B-B14F-4D97-AF65-F5344CB8AC3E}">
        <p14:creationId xmlns:p14="http://schemas.microsoft.com/office/powerpoint/2010/main" val="21553500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719D7B91-66C6-43D6-91EE-5A0E8E61168F}" type="datetimeFigureOut">
              <a:rPr lang="zh-CN" altLang="en-US" smtClean="0"/>
              <a:t>2020/2/21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69000F4-5069-4246-87D3-AB2FD963C237}" type="slidenum">
              <a:rPr lang="zh-CN" altLang="en-US" smtClean="0"/>
              <a:t>‹#›</a:t>
            </a:fld>
            <a:endParaRPr lang="zh-CN" altLang="en-US"/>
          </a:p>
        </p:txBody>
      </p:sp>
    </p:spTree>
    <p:extLst>
      <p:ext uri="{BB962C8B-B14F-4D97-AF65-F5344CB8AC3E}">
        <p14:creationId xmlns:p14="http://schemas.microsoft.com/office/powerpoint/2010/main" val="22161268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719D7B91-66C6-43D6-91EE-5A0E8E61168F}" type="datetimeFigureOut">
              <a:rPr lang="zh-CN" altLang="en-US" smtClean="0"/>
              <a:t>2020/2/21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369000F4-5069-4246-87D3-AB2FD963C237}" type="slidenum">
              <a:rPr lang="zh-CN" altLang="en-US" smtClean="0"/>
              <a:t>‹#›</a:t>
            </a:fld>
            <a:endParaRPr lang="zh-CN" altLang="en-US"/>
          </a:p>
        </p:txBody>
      </p:sp>
    </p:spTree>
    <p:extLst>
      <p:ext uri="{BB962C8B-B14F-4D97-AF65-F5344CB8AC3E}">
        <p14:creationId xmlns:p14="http://schemas.microsoft.com/office/powerpoint/2010/main" val="1976229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19D7B91-66C6-43D6-91EE-5A0E8E61168F}" type="datetimeFigureOut">
              <a:rPr lang="zh-CN" altLang="en-US" smtClean="0"/>
              <a:t>2020/2/21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369000F4-5069-4246-87D3-AB2FD963C237}" type="slidenum">
              <a:rPr lang="zh-CN" altLang="en-US" smtClean="0"/>
              <a:t>‹#›</a:t>
            </a:fld>
            <a:endParaRPr lang="zh-CN" altLang="en-US"/>
          </a:p>
        </p:txBody>
      </p:sp>
    </p:spTree>
    <p:extLst>
      <p:ext uri="{BB962C8B-B14F-4D97-AF65-F5344CB8AC3E}">
        <p14:creationId xmlns:p14="http://schemas.microsoft.com/office/powerpoint/2010/main" val="2368865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19D7B91-66C6-43D6-91EE-5A0E8E61168F}" type="datetimeFigureOut">
              <a:rPr lang="zh-CN" altLang="en-US" smtClean="0"/>
              <a:t>2020/2/21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369000F4-5069-4246-87D3-AB2FD963C237}" type="slidenum">
              <a:rPr lang="zh-CN" altLang="en-US" smtClean="0"/>
              <a:t>‹#›</a:t>
            </a:fld>
            <a:endParaRPr lang="zh-CN" altLang="en-US"/>
          </a:p>
        </p:txBody>
      </p:sp>
    </p:spTree>
    <p:extLst>
      <p:ext uri="{BB962C8B-B14F-4D97-AF65-F5344CB8AC3E}">
        <p14:creationId xmlns:p14="http://schemas.microsoft.com/office/powerpoint/2010/main" val="26831500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719D7B91-66C6-43D6-91EE-5A0E8E61168F}" type="datetimeFigureOut">
              <a:rPr lang="zh-CN" altLang="en-US" smtClean="0"/>
              <a:t>2020/2/21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69000F4-5069-4246-87D3-AB2FD963C237}" type="slidenum">
              <a:rPr lang="zh-CN" altLang="en-US" smtClean="0"/>
              <a:t>‹#›</a:t>
            </a:fld>
            <a:endParaRPr lang="zh-CN" altLang="en-US"/>
          </a:p>
        </p:txBody>
      </p:sp>
    </p:spTree>
    <p:extLst>
      <p:ext uri="{BB962C8B-B14F-4D97-AF65-F5344CB8AC3E}">
        <p14:creationId xmlns:p14="http://schemas.microsoft.com/office/powerpoint/2010/main" val="3806680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719D7B91-66C6-43D6-91EE-5A0E8E61168F}" type="datetimeFigureOut">
              <a:rPr lang="zh-CN" altLang="en-US" smtClean="0"/>
              <a:t>2020/2/21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69000F4-5069-4246-87D3-AB2FD963C237}" type="slidenum">
              <a:rPr lang="zh-CN" altLang="en-US" smtClean="0"/>
              <a:t>‹#›</a:t>
            </a:fld>
            <a:endParaRPr lang="zh-CN" altLang="en-US"/>
          </a:p>
        </p:txBody>
      </p:sp>
    </p:spTree>
    <p:extLst>
      <p:ext uri="{BB962C8B-B14F-4D97-AF65-F5344CB8AC3E}">
        <p14:creationId xmlns:p14="http://schemas.microsoft.com/office/powerpoint/2010/main" val="33633192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719D7B91-66C6-43D6-91EE-5A0E8E61168F}" type="datetimeFigureOut">
              <a:rPr lang="zh-CN" altLang="en-US" smtClean="0"/>
              <a:t>2020/2/21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69000F4-5069-4246-87D3-AB2FD963C237}" type="slidenum">
              <a:rPr lang="zh-CN" altLang="en-US" smtClean="0"/>
              <a:t>‹#›</a:t>
            </a:fld>
            <a:endParaRPr lang="zh-CN" altLang="en-US"/>
          </a:p>
        </p:txBody>
      </p:sp>
    </p:spTree>
    <p:extLst>
      <p:ext uri="{BB962C8B-B14F-4D97-AF65-F5344CB8AC3E}">
        <p14:creationId xmlns:p14="http://schemas.microsoft.com/office/powerpoint/2010/main" val="11286452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719D7B91-66C6-43D6-91EE-5A0E8E61168F}" type="datetimeFigureOut">
              <a:rPr lang="zh-CN" altLang="en-US" smtClean="0"/>
              <a:t>2020/2/21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69000F4-5069-4246-87D3-AB2FD963C237}" type="slidenum">
              <a:rPr lang="zh-CN" altLang="en-US" smtClean="0"/>
              <a:t>‹#›</a:t>
            </a:fld>
            <a:endParaRPr lang="zh-CN" altLang="en-US"/>
          </a:p>
        </p:txBody>
      </p:sp>
    </p:spTree>
    <p:extLst>
      <p:ext uri="{BB962C8B-B14F-4D97-AF65-F5344CB8AC3E}">
        <p14:creationId xmlns:p14="http://schemas.microsoft.com/office/powerpoint/2010/main" val="31553050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19D7B91-66C6-43D6-91EE-5A0E8E61168F}" type="datetimeFigureOut">
              <a:rPr lang="zh-CN" altLang="en-US" smtClean="0"/>
              <a:t>2020/2/21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369000F4-5069-4246-87D3-AB2FD963C237}" type="slidenum">
              <a:rPr lang="zh-CN" altLang="en-US" smtClean="0"/>
              <a:t>‹#›</a:t>
            </a:fld>
            <a:endParaRPr lang="zh-CN" altLang="en-US"/>
          </a:p>
        </p:txBody>
      </p:sp>
    </p:spTree>
    <p:extLst>
      <p:ext uri="{BB962C8B-B14F-4D97-AF65-F5344CB8AC3E}">
        <p14:creationId xmlns:p14="http://schemas.microsoft.com/office/powerpoint/2010/main" val="6113788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F3CD5121-4F22-4D7A-91F9-C1D9F627C227}" type="datetimeFigureOut">
              <a:rPr lang="zh-CN" altLang="en-US" smtClean="0"/>
              <a:t>2020/2/21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7DD3EE5-1764-45DE-A06A-0ECE58629BDE}" type="slidenum">
              <a:rPr lang="zh-CN" altLang="en-US" smtClean="0"/>
              <a:t>‹#›</a:t>
            </a:fld>
            <a:endParaRPr lang="zh-CN" altLang="en-US"/>
          </a:p>
        </p:txBody>
      </p:sp>
    </p:spTree>
    <p:extLst>
      <p:ext uri="{BB962C8B-B14F-4D97-AF65-F5344CB8AC3E}">
        <p14:creationId xmlns:p14="http://schemas.microsoft.com/office/powerpoint/2010/main" val="853890852"/>
      </p:ext>
    </p:extLst>
  </p:cSld>
  <p:clrMapOvr>
    <a:masterClrMapping/>
  </p:clrMapOvr>
  <p:transition spd="slow">
    <p:randomBar dir="vert"/>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3CD5121-4F22-4D7A-91F9-C1D9F627C227}" type="datetimeFigureOut">
              <a:rPr lang="zh-CN" altLang="en-US" smtClean="0"/>
              <a:t>2020/2/21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7DD3EE5-1764-45DE-A06A-0ECE58629BDE}" type="slidenum">
              <a:rPr lang="zh-CN" altLang="en-US" smtClean="0"/>
              <a:t>‹#›</a:t>
            </a:fld>
            <a:endParaRPr lang="zh-CN" altLang="en-US"/>
          </a:p>
        </p:txBody>
      </p:sp>
    </p:spTree>
    <p:extLst>
      <p:ext uri="{BB962C8B-B14F-4D97-AF65-F5344CB8AC3E}">
        <p14:creationId xmlns:p14="http://schemas.microsoft.com/office/powerpoint/2010/main" val="2899109666"/>
      </p:ext>
    </p:extLst>
  </p:cSld>
  <p:clrMapOvr>
    <a:masterClrMapping/>
  </p:clrMapOvr>
  <p:transition spd="slow">
    <p:randomBar dir="vert"/>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F3CD5121-4F22-4D7A-91F9-C1D9F627C227}" type="datetimeFigureOut">
              <a:rPr lang="zh-CN" altLang="en-US" smtClean="0"/>
              <a:t>2020/2/21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7DD3EE5-1764-45DE-A06A-0ECE58629BDE}" type="slidenum">
              <a:rPr lang="zh-CN" altLang="en-US" smtClean="0"/>
              <a:t>‹#›</a:t>
            </a:fld>
            <a:endParaRPr lang="zh-CN" altLang="en-US"/>
          </a:p>
        </p:txBody>
      </p:sp>
    </p:spTree>
    <p:extLst>
      <p:ext uri="{BB962C8B-B14F-4D97-AF65-F5344CB8AC3E}">
        <p14:creationId xmlns:p14="http://schemas.microsoft.com/office/powerpoint/2010/main" val="33350693"/>
      </p:ext>
    </p:extLst>
  </p:cSld>
  <p:clrMapOvr>
    <a:masterClrMapping/>
  </p:clrMapOvr>
  <p:transition spd="slow">
    <p:randomBar dir="vert"/>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F3CD5121-4F22-4D7A-91F9-C1D9F627C227}" type="datetimeFigureOut">
              <a:rPr lang="zh-CN" altLang="en-US" smtClean="0"/>
              <a:t>2020/2/21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7DD3EE5-1764-45DE-A06A-0ECE58629BDE}" type="slidenum">
              <a:rPr lang="zh-CN" altLang="en-US" smtClean="0"/>
              <a:t>‹#›</a:t>
            </a:fld>
            <a:endParaRPr lang="zh-CN" altLang="en-US"/>
          </a:p>
        </p:txBody>
      </p:sp>
    </p:spTree>
    <p:extLst>
      <p:ext uri="{BB962C8B-B14F-4D97-AF65-F5344CB8AC3E}">
        <p14:creationId xmlns:p14="http://schemas.microsoft.com/office/powerpoint/2010/main" val="1808514961"/>
      </p:ext>
    </p:extLst>
  </p:cSld>
  <p:clrMapOvr>
    <a:masterClrMapping/>
  </p:clrMapOvr>
  <p:transition spd="slow">
    <p:randomBar dir="vert"/>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F3CD5121-4F22-4D7A-91F9-C1D9F627C227}" type="datetimeFigureOut">
              <a:rPr lang="zh-CN" altLang="en-US" smtClean="0"/>
              <a:t>2020/2/21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B7DD3EE5-1764-45DE-A06A-0ECE58629BDE}" type="slidenum">
              <a:rPr lang="zh-CN" altLang="en-US" smtClean="0"/>
              <a:t>‹#›</a:t>
            </a:fld>
            <a:endParaRPr lang="zh-CN" altLang="en-US"/>
          </a:p>
        </p:txBody>
      </p:sp>
    </p:spTree>
    <p:extLst>
      <p:ext uri="{BB962C8B-B14F-4D97-AF65-F5344CB8AC3E}">
        <p14:creationId xmlns:p14="http://schemas.microsoft.com/office/powerpoint/2010/main" val="1425085148"/>
      </p:ext>
    </p:extLst>
  </p:cSld>
  <p:clrMapOvr>
    <a:masterClrMapping/>
  </p:clrMapOvr>
  <p:transition spd="slow">
    <p:randomBar dir="vert"/>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F3CD5121-4F22-4D7A-91F9-C1D9F627C227}" type="datetimeFigureOut">
              <a:rPr lang="zh-CN" altLang="en-US" smtClean="0"/>
              <a:t>2020/2/21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7DD3EE5-1764-45DE-A06A-0ECE58629BDE}" type="slidenum">
              <a:rPr lang="zh-CN" altLang="en-US" smtClean="0"/>
              <a:t>‹#›</a:t>
            </a:fld>
            <a:endParaRPr lang="zh-CN" altLang="en-US"/>
          </a:p>
        </p:txBody>
      </p:sp>
    </p:spTree>
    <p:extLst>
      <p:ext uri="{BB962C8B-B14F-4D97-AF65-F5344CB8AC3E}">
        <p14:creationId xmlns:p14="http://schemas.microsoft.com/office/powerpoint/2010/main" val="799718617"/>
      </p:ext>
    </p:extLst>
  </p:cSld>
  <p:clrMapOvr>
    <a:masterClrMapping/>
  </p:clrMapOvr>
  <p:transition spd="slow">
    <p:randomBar dir="vert"/>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3CD5121-4F22-4D7A-91F9-C1D9F627C227}" type="datetimeFigureOut">
              <a:rPr lang="zh-CN" altLang="en-US" smtClean="0"/>
              <a:t>2020/2/21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B7DD3EE5-1764-45DE-A06A-0ECE58629BDE}" type="slidenum">
              <a:rPr lang="zh-CN" altLang="en-US" smtClean="0"/>
              <a:t>‹#›</a:t>
            </a:fld>
            <a:endParaRPr lang="zh-CN" altLang="en-US"/>
          </a:p>
        </p:txBody>
      </p:sp>
    </p:spTree>
    <p:extLst>
      <p:ext uri="{BB962C8B-B14F-4D97-AF65-F5344CB8AC3E}">
        <p14:creationId xmlns:p14="http://schemas.microsoft.com/office/powerpoint/2010/main" val="3527784348"/>
      </p:ext>
    </p:extLst>
  </p:cSld>
  <p:clrMapOvr>
    <a:masterClrMapping/>
  </p:clrMapOvr>
  <p:transition spd="slow">
    <p:randomBar dir="vert"/>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F3CD5121-4F22-4D7A-91F9-C1D9F627C227}" type="datetimeFigureOut">
              <a:rPr lang="zh-CN" altLang="en-US" smtClean="0"/>
              <a:t>2020/2/21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7DD3EE5-1764-45DE-A06A-0ECE58629BDE}" type="slidenum">
              <a:rPr lang="zh-CN" altLang="en-US" smtClean="0"/>
              <a:t>‹#›</a:t>
            </a:fld>
            <a:endParaRPr lang="zh-CN" altLang="en-US"/>
          </a:p>
        </p:txBody>
      </p:sp>
    </p:spTree>
    <p:extLst>
      <p:ext uri="{BB962C8B-B14F-4D97-AF65-F5344CB8AC3E}">
        <p14:creationId xmlns:p14="http://schemas.microsoft.com/office/powerpoint/2010/main" val="325037650"/>
      </p:ext>
    </p:extLst>
  </p:cSld>
  <p:clrMapOvr>
    <a:masterClrMapping/>
  </p:clrMapOvr>
  <p:transition spd="slow">
    <p:randomBar dir="vert"/>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F3CD5121-4F22-4D7A-91F9-C1D9F627C227}" type="datetimeFigureOut">
              <a:rPr lang="zh-CN" altLang="en-US" smtClean="0"/>
              <a:t>2020/2/21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7DD3EE5-1764-45DE-A06A-0ECE58629BDE}" type="slidenum">
              <a:rPr lang="zh-CN" altLang="en-US" smtClean="0"/>
              <a:t>‹#›</a:t>
            </a:fld>
            <a:endParaRPr lang="zh-CN" altLang="en-US"/>
          </a:p>
        </p:txBody>
      </p:sp>
    </p:spTree>
    <p:extLst>
      <p:ext uri="{BB962C8B-B14F-4D97-AF65-F5344CB8AC3E}">
        <p14:creationId xmlns:p14="http://schemas.microsoft.com/office/powerpoint/2010/main" val="1905403684"/>
      </p:ext>
    </p:extLst>
  </p:cSld>
  <p:clrMapOvr>
    <a:masterClrMapping/>
  </p:clrMapOvr>
  <p:transition spd="slow">
    <p:randomBar dir="vert"/>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3CD5121-4F22-4D7A-91F9-C1D9F627C227}" type="datetimeFigureOut">
              <a:rPr lang="zh-CN" altLang="en-US" smtClean="0"/>
              <a:t>2020/2/21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7DD3EE5-1764-45DE-A06A-0ECE58629BDE}" type="slidenum">
              <a:rPr lang="zh-CN" altLang="en-US" smtClean="0"/>
              <a:t>‹#›</a:t>
            </a:fld>
            <a:endParaRPr lang="zh-CN" altLang="en-US"/>
          </a:p>
        </p:txBody>
      </p:sp>
    </p:spTree>
    <p:extLst>
      <p:ext uri="{BB962C8B-B14F-4D97-AF65-F5344CB8AC3E}">
        <p14:creationId xmlns:p14="http://schemas.microsoft.com/office/powerpoint/2010/main" val="2424295938"/>
      </p:ext>
    </p:extLst>
  </p:cSld>
  <p:clrMapOvr>
    <a:masterClrMapping/>
  </p:clrMapOvr>
  <p:transition spd="slow">
    <p:randomBar dir="vert"/>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3CD5121-4F22-4D7A-91F9-C1D9F627C227}" type="datetimeFigureOut">
              <a:rPr lang="zh-CN" altLang="en-US" smtClean="0"/>
              <a:t>2020/2/21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7DD3EE5-1764-45DE-A06A-0ECE58629BDE}" type="slidenum">
              <a:rPr lang="zh-CN" altLang="en-US" smtClean="0"/>
              <a:t>‹#›</a:t>
            </a:fld>
            <a:endParaRPr lang="zh-CN" altLang="en-US"/>
          </a:p>
        </p:txBody>
      </p:sp>
    </p:spTree>
    <p:extLst>
      <p:ext uri="{BB962C8B-B14F-4D97-AF65-F5344CB8AC3E}">
        <p14:creationId xmlns:p14="http://schemas.microsoft.com/office/powerpoint/2010/main" val="2031337278"/>
      </p:ext>
    </p:extLst>
  </p:cSld>
  <p:clrMapOvr>
    <a:masterClrMapping/>
  </p:clrMapOvr>
  <p:transition spd="slow">
    <p:randomBar dir="vert"/>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CE484E5E-C7CB-4500-92C4-84F33D48D559}" type="datetimeFigureOut">
              <a:rPr lang="zh-CN" altLang="en-US" smtClean="0"/>
              <a:t>2020/2/21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647B3E9-2C7D-4BA9-B98C-BD752D7E50E8}" type="slidenum">
              <a:rPr lang="zh-CN" altLang="en-US" smtClean="0"/>
              <a:t>‹#›</a:t>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6" y="1988840"/>
            <a:ext cx="8424935" cy="3744417"/>
          </a:xfrm>
        </p:spPr>
        <p:txBody>
          <a:bodyPr/>
          <a:lstStyle>
            <a:lvl1pPr>
              <a:defRPr sz="2800" b="1">
                <a:solidFill>
                  <a:schemeClr val="tx1"/>
                </a:solidFill>
              </a:defRPr>
            </a:lvl1pPr>
            <a:lvl2pPr>
              <a:defRPr sz="2400" b="1">
                <a:solidFill>
                  <a:schemeClr val="tx1"/>
                </a:solidFill>
              </a:defRPr>
            </a:lvl2pPr>
            <a:lvl3pPr>
              <a:defRPr sz="2400" b="1">
                <a:solidFill>
                  <a:schemeClr val="tx1"/>
                </a:solidFill>
              </a:defRPr>
            </a:lvl3pPr>
            <a:lvl4pPr>
              <a:defRPr sz="2000" b="1">
                <a:solidFill>
                  <a:schemeClr val="tx1"/>
                </a:solidFill>
              </a:defRPr>
            </a:lvl4pPr>
            <a:lvl5pPr>
              <a:defRPr sz="2000" b="1">
                <a:solidFill>
                  <a:schemeClr val="tx1"/>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p>
            <a:fld id="{CE484E5E-C7CB-4500-92C4-84F33D48D559}" type="datetimeFigureOut">
              <a:rPr lang="zh-CN" altLang="en-US" smtClean="0"/>
              <a:t>2020/2/21</a:t>
            </a:fld>
            <a:endParaRPr lang="zh-CN" altLang="en-US"/>
          </a:p>
        </p:txBody>
      </p:sp>
      <p:sp>
        <p:nvSpPr>
          <p:cNvPr id="5" name="Footer Placeholder 4"/>
          <p:cNvSpPr>
            <a:spLocks noGrp="1"/>
          </p:cNvSpPr>
          <p:nvPr>
            <p:ph type="ftr" sz="quarter" idx="11"/>
          </p:nvPr>
        </p:nvSpPr>
        <p:spPr>
          <a:xfrm>
            <a:off x="467544" y="6309320"/>
            <a:ext cx="1858082" cy="365125"/>
          </a:xfrm>
        </p:spPr>
        <p:txBody>
          <a:bodyPr/>
          <a:lstStyle>
            <a:lvl1pPr>
              <a:defRPr sz="1800" b="1">
                <a:latin typeface="隶书" panose="02010509060101010101" pitchFamily="49" charset="-122"/>
                <a:ea typeface="隶书" panose="02010509060101010101" pitchFamily="49" charset="-122"/>
              </a:defRPr>
            </a:lvl1pPr>
          </a:lstStyle>
          <a:p>
            <a:r>
              <a:rPr lang="zh-CN" altLang="en-US" dirty="0"/>
              <a:t>电子科技大学</a:t>
            </a:r>
          </a:p>
        </p:txBody>
      </p:sp>
      <p:sp>
        <p:nvSpPr>
          <p:cNvPr id="6" name="Slide Number Placeholder 5"/>
          <p:cNvSpPr>
            <a:spLocks noGrp="1"/>
          </p:cNvSpPr>
          <p:nvPr>
            <p:ph type="sldNum" sz="quarter" idx="12"/>
          </p:nvPr>
        </p:nvSpPr>
        <p:spPr/>
        <p:txBody>
          <a:bodyPr/>
          <a:lstStyle/>
          <a:p>
            <a:fld id="{6647B3E9-2C7D-4BA9-B98C-BD752D7E50E8}" type="slidenum">
              <a:rPr lang="zh-CN" altLang="en-US" smtClean="0"/>
              <a:t>‹#›</a:t>
            </a:fld>
            <a:endParaRPr lang="zh-CN" altLang="en-US"/>
          </a:p>
        </p:txBody>
      </p:sp>
      <p:sp>
        <p:nvSpPr>
          <p:cNvPr id="7" name="Title 6"/>
          <p:cNvSpPr>
            <a:spLocks noGrp="1"/>
          </p:cNvSpPr>
          <p:nvPr>
            <p:ph type="title"/>
          </p:nvPr>
        </p:nvSpPr>
        <p:spPr/>
        <p:txBody>
          <a:bodyPr>
            <a:normAutofit/>
          </a:bodyPr>
          <a:lstStyle>
            <a:lvl1pPr>
              <a:defRPr sz="4000"/>
            </a:lvl1pPr>
          </a:lstStyle>
          <a:p>
            <a:r>
              <a:rPr lang="zh-CN" altLang="en-US" dirty="0"/>
              <a:t>单击此处编辑母版标题样式</a:t>
            </a:r>
            <a:endParaRPr lang="en-US" dirty="0"/>
          </a:p>
        </p:txBody>
      </p:sp>
      <p:pic>
        <p:nvPicPr>
          <p:cNvPr id="8"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020272" y="5714093"/>
            <a:ext cx="1996083" cy="11231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CE484E5E-C7CB-4500-92C4-84F33D48D559}" type="datetimeFigureOut">
              <a:rPr lang="zh-CN" altLang="en-US" smtClean="0"/>
              <a:t>2020/2/21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647B3E9-2C7D-4BA9-B98C-BD752D7E50E8}" type="slidenum">
              <a:rPr lang="zh-CN" altLang="en-US" smtClean="0"/>
              <a:t>‹#›</a:t>
            </a:fld>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5" name="Date Placeholder 4"/>
          <p:cNvSpPr>
            <a:spLocks noGrp="1"/>
          </p:cNvSpPr>
          <p:nvPr>
            <p:ph type="dt" sz="half" idx="10"/>
          </p:nvPr>
        </p:nvSpPr>
        <p:spPr/>
        <p:txBody>
          <a:bodyPr/>
          <a:lstStyle/>
          <a:p>
            <a:fld id="{CE484E5E-C7CB-4500-92C4-84F33D48D559}" type="datetimeFigureOut">
              <a:rPr lang="zh-CN" altLang="en-US" smtClean="0"/>
              <a:t>2020/2/21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6647B3E9-2C7D-4BA9-B98C-BD752D7E50E8}" type="slidenum">
              <a:rPr lang="zh-CN" altLang="en-US" smtClean="0"/>
              <a:t>‹#›</a:t>
            </a:fld>
            <a:endParaRPr lang="zh-CN" altLang="en-US"/>
          </a:p>
        </p:txBody>
      </p:sp>
      <p:sp>
        <p:nvSpPr>
          <p:cNvPr id="9" name="Content Placeholder 8"/>
          <p:cNvSpPr>
            <a:spLocks noGrp="1"/>
          </p:cNvSpPr>
          <p:nvPr>
            <p:ph sz="quarter" idx="13"/>
          </p:nvPr>
        </p:nvSpPr>
        <p:spPr>
          <a:xfrm>
            <a:off x="676655" y="2679192"/>
            <a:ext cx="3822192" cy="34472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CE484E5E-C7CB-4500-92C4-84F33D48D559}" type="datetimeFigureOut">
              <a:rPr lang="zh-CN" altLang="en-US" smtClean="0"/>
              <a:t>2020/2/21</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6647B3E9-2C7D-4BA9-B98C-BD752D7E50E8}" type="slidenum">
              <a:rPr lang="zh-CN" altLang="en-US" smtClean="0"/>
              <a:t>‹#›</a:t>
            </a:fld>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Date Placeholder 2"/>
          <p:cNvSpPr>
            <a:spLocks noGrp="1"/>
          </p:cNvSpPr>
          <p:nvPr>
            <p:ph type="dt" sz="half" idx="10"/>
          </p:nvPr>
        </p:nvSpPr>
        <p:spPr/>
        <p:txBody>
          <a:bodyPr/>
          <a:lstStyle/>
          <a:p>
            <a:fld id="{CE484E5E-C7CB-4500-92C4-84F33D48D559}" type="datetimeFigureOut">
              <a:rPr lang="zh-CN" altLang="en-US" smtClean="0"/>
              <a:t>2020/2/21</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6647B3E9-2C7D-4BA9-B98C-BD752D7E50E8}" type="slidenum">
              <a:rPr lang="zh-CN" altLang="en-US" smtClean="0"/>
              <a:t>‹#›</a:t>
            </a:fld>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fld id="{CE484E5E-C7CB-4500-92C4-84F33D48D559}" type="datetimeFigureOut">
              <a:rPr lang="zh-CN" altLang="en-US" smtClean="0"/>
              <a:t>2020/2/21</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6647B3E9-2C7D-4BA9-B98C-BD752D7E50E8}" type="slidenum">
              <a:rPr lang="zh-CN" altLang="en-US" smtClean="0"/>
              <a:t>‹#›</a:t>
            </a:fld>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CE484E5E-C7CB-4500-92C4-84F33D48D559}" type="datetimeFigureOut">
              <a:rPr lang="zh-CN" altLang="en-US" smtClean="0"/>
              <a:t>2020/2/21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6647B3E9-2C7D-4BA9-B98C-BD752D7E50E8}" type="slidenum">
              <a:rPr lang="zh-CN" altLang="en-US" smtClean="0"/>
              <a:t>‹#›</a:t>
            </a:fld>
            <a:endParaRPr lang="zh-CN" altLang="en-US"/>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zh-CN" altLang="en-US"/>
              <a:t>单击此处编辑母版标题样式</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zh-CN" altLang="en-US"/>
              <a:t>单击此处编辑母版标题样式</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CE484E5E-C7CB-4500-92C4-84F33D48D559}" type="datetimeFigureOut">
              <a:rPr lang="zh-CN" altLang="en-US" smtClean="0"/>
              <a:t>2020/2/21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6647B3E9-2C7D-4BA9-B98C-BD752D7E50E8}" type="slidenum">
              <a:rPr lang="zh-CN" altLang="en-US" smtClean="0"/>
              <a:t>‹#›</a:t>
            </a:fld>
            <a:endParaRPr lang="zh-CN" altLang="en-US"/>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nvPr>
        </p:nvSpPr>
        <p:spPr/>
        <p:txBody>
          <a:bodyPr/>
          <a:lstStyle/>
          <a:p>
            <a:fld id="{CE484E5E-C7CB-4500-92C4-84F33D48D559}" type="datetimeFigureOut">
              <a:rPr lang="zh-CN" altLang="en-US" smtClean="0"/>
              <a:t>2020/2/21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647B3E9-2C7D-4BA9-B98C-BD752D7E50E8}" type="slidenum">
              <a:rPr lang="zh-CN" altLang="en-US" smtClean="0"/>
              <a:t>‹#›</a:t>
            </a:fld>
            <a:endParaRPr lang="zh-CN"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CE484E5E-C7CB-4500-92C4-84F33D48D559}" type="datetimeFigureOut">
              <a:rPr lang="zh-CN" altLang="en-US" smtClean="0"/>
              <a:t>2020/2/21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647B3E9-2C7D-4BA9-B98C-BD752D7E50E8}" type="slidenum">
              <a:rPr lang="zh-CN" altLang="en-US" smtClean="0"/>
              <a:t>‹#›</a:t>
            </a:fld>
            <a:endParaRPr lang="zh-CN" altLang="en-US"/>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CE484E5E-C7CB-4500-92C4-84F33D48D559}" type="datetimeFigureOut">
              <a:rPr lang="zh-CN" altLang="en-US" smtClean="0"/>
              <a:t>2020/2/21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647B3E9-2C7D-4BA9-B98C-BD752D7E50E8}" type="slidenum">
              <a:rPr lang="zh-CN" altLang="en-US" smtClean="0"/>
              <a:t>‹#›</a:t>
            </a:fld>
            <a:endParaRPr lang="zh-CN" altLang="en-US"/>
          </a:p>
        </p:txBody>
      </p:sp>
    </p:spTree>
    <p:extLst>
      <p:ext uri="{BB962C8B-B14F-4D97-AF65-F5344CB8AC3E}">
        <p14:creationId xmlns:p14="http://schemas.microsoft.com/office/powerpoint/2010/main" val="29574785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1.pn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theme" Target="../theme/theme3.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19D7B91-66C6-43D6-91EE-5A0E8E61168F}" type="datetimeFigureOut">
              <a:rPr lang="zh-CN" altLang="en-US" smtClean="0"/>
              <a:t>2020/2/21</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69000F4-5069-4246-87D3-AB2FD963C237}" type="slidenum">
              <a:rPr lang="zh-CN" altLang="en-US" smtClean="0"/>
              <a:t>‹#›</a:t>
            </a:fld>
            <a:endParaRPr lang="zh-CN" altLang="en-US"/>
          </a:p>
        </p:txBody>
      </p:sp>
    </p:spTree>
    <p:extLst>
      <p:ext uri="{BB962C8B-B14F-4D97-AF65-F5344CB8AC3E}">
        <p14:creationId xmlns:p14="http://schemas.microsoft.com/office/powerpoint/2010/main" val="537346934"/>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pattFill prst="pct5">
          <a:fgClr>
            <a:schemeClr val="bg2"/>
          </a:fgClr>
          <a:bgClr>
            <a:schemeClr val="bg1"/>
          </a:bgClr>
        </a:pattFill>
        <a:effectLst/>
      </p:bgPr>
    </p:bg>
    <p:spTree>
      <p:nvGrpSpPr>
        <p:cNvPr id="1" name=""/>
        <p:cNvGrpSpPr/>
        <p:nvPr/>
      </p:nvGrpSpPr>
      <p:grpSpPr>
        <a:xfrm>
          <a:off x="0" y="0"/>
          <a:ext cx="0" cy="0"/>
          <a:chOff x="0" y="0"/>
          <a:chExt cx="0" cy="0"/>
        </a:xfrm>
      </p:grpSpPr>
      <p:pic>
        <p:nvPicPr>
          <p:cNvPr id="1028" name="Picture 4"/>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6732240" y="5008755"/>
            <a:ext cx="2310801" cy="13001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457200" y="1600200"/>
            <a:ext cx="6347048" cy="3989039"/>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3CD5121-4F22-4D7A-91F9-C1D9F627C227}" type="datetimeFigureOut">
              <a:rPr lang="zh-CN" altLang="en-US" smtClean="0"/>
              <a:t>2020/2/21</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DD3EE5-1764-45DE-A06A-0ECE58629BDE}" type="slidenum">
              <a:rPr lang="zh-CN" altLang="en-US" smtClean="0"/>
              <a:t>‹#›</a:t>
            </a:fld>
            <a:endParaRPr lang="zh-CN" altLang="en-US"/>
          </a:p>
        </p:txBody>
      </p:sp>
    </p:spTree>
    <p:extLst>
      <p:ext uri="{BB962C8B-B14F-4D97-AF65-F5344CB8AC3E}">
        <p14:creationId xmlns:p14="http://schemas.microsoft.com/office/powerpoint/2010/main" val="651671698"/>
      </p:ext>
    </p:extLst>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Lst>
  <p:transition spd="slow">
    <p:randomBar dir="ver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fld id="{719D7B91-66C6-43D6-91EE-5A0E8E61168F}" type="datetimeFigureOut">
              <a:rPr lang="zh-CN" altLang="en-US" smtClean="0"/>
              <a:t>2020/2/21</a:t>
            </a:fld>
            <a:endParaRPr lang="zh-CN" altLang="en-US"/>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endParaRPr lang="zh-CN" altLang="en-US"/>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fld id="{369000F4-5069-4246-87D3-AB2FD963C237}" type="slidenum">
              <a:rPr lang="zh-CN" altLang="en-US" smtClean="0"/>
              <a:t>‹#›</a:t>
            </a:fld>
            <a:endParaRPr lang="zh-CN" altLang="en-US"/>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Tree>
  </p:cSld>
  <p:clrMap bg1="lt1" tx1="dk1" bg2="lt2" tx2="dk2" accent1="accent1" accent2="accent2" accent3="accent3" accent4="accent4" accent5="accent5" accent6="accent6" hlink="hlink" folHlink="folHlink"/>
  <p:sldLayoutIdLst>
    <p:sldLayoutId id="2147484011" r:id="rId1"/>
    <p:sldLayoutId id="2147484012" r:id="rId2"/>
    <p:sldLayoutId id="2147484013" r:id="rId3"/>
    <p:sldLayoutId id="2147484014" r:id="rId4"/>
    <p:sldLayoutId id="2147484015" r:id="rId5"/>
    <p:sldLayoutId id="2147484016" r:id="rId6"/>
    <p:sldLayoutId id="2147484017" r:id="rId7"/>
    <p:sldLayoutId id="2147484018" r:id="rId8"/>
    <p:sldLayoutId id="2147484019" r:id="rId9"/>
    <p:sldLayoutId id="2147484020" r:id="rId10"/>
    <p:sldLayoutId id="2147484021" r:id="rId11"/>
    <p:sldLayoutId id="2147483745" r:id="rId12"/>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0.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25.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png"/><Relationship Id="rId1" Type="http://schemas.openxmlformats.org/officeDocument/2006/relationships/slideLayout" Target="../slideLayouts/slideLayout2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5.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5.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5.xml"/></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5.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5.xml"/></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5.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5.xml"/></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5.xml"/></Relationships>
</file>

<file path=ppt/slides/_rels/slide3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5.xml"/></Relationships>
</file>

<file path=ppt/slides/_rels/slide3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5.xml"/></Relationships>
</file>

<file path=ppt/slides/_rels/slide3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5.xml"/></Relationships>
</file>

<file path=ppt/slides/_rels/slide3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5.xml"/></Relationships>
</file>

<file path=ppt/slides/_rels/slide3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5.xml"/></Relationships>
</file>

<file path=ppt/slides/_rels/slide3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5.xml"/></Relationships>
</file>

<file path=ppt/slides/_rels/slide3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5.xml"/></Relationships>
</file>

<file path=ppt/slides/_rels/slide3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5.xml"/></Relationships>
</file>

<file path=ppt/slides/_rels/slide4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5.xml"/></Relationships>
</file>

<file path=ppt/slides/_rels/slide4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5.xml"/></Relationships>
</file>

<file path=ppt/slides/_rels/slide4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5.xml"/></Relationships>
</file>

<file path=ppt/slides/_rels/slide4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5.xml"/></Relationships>
</file>

<file path=ppt/slides/_rels/slide4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5.xml"/></Relationships>
</file>

<file path=ppt/slides/_rels/slide4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5.xml"/></Relationships>
</file>

<file path=ppt/slides/_rels/slide4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5.xml"/></Relationships>
</file>

<file path=ppt/slides/_rels/slide4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5.xml"/></Relationships>
</file>

<file path=ppt/slides/_rels/slide4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emf"/><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4F330931-9EF5-4B20-BB25-7FA1BC1D8722}"/>
              </a:ext>
            </a:extLst>
          </p:cNvPr>
          <p:cNvSpPr/>
          <p:nvPr/>
        </p:nvSpPr>
        <p:spPr>
          <a:xfrm>
            <a:off x="2267744" y="1196752"/>
            <a:ext cx="4896544" cy="1569660"/>
          </a:xfrm>
          <a:prstGeom prst="rect">
            <a:avLst/>
          </a:prstGeom>
        </p:spPr>
        <p:txBody>
          <a:bodyPr wrap="square">
            <a:spAutoFit/>
          </a:bodyPr>
          <a:lstStyle/>
          <a:p>
            <a:pPr algn="ctr"/>
            <a:r>
              <a:rPr lang="en-US" altLang="zh-CN" sz="4800" b="1" dirty="0">
                <a:latin typeface="微软雅黑" panose="020B0503020204020204" pitchFamily="34" charset="-122"/>
                <a:ea typeface="微软雅黑" panose="020B0503020204020204" pitchFamily="34" charset="-122"/>
                <a:cs typeface="+mj-cs"/>
              </a:rPr>
              <a:t>Multisim</a:t>
            </a:r>
          </a:p>
          <a:p>
            <a:pPr algn="ctr"/>
            <a:r>
              <a:rPr lang="zh-CN" altLang="en-US" sz="4800" b="1" dirty="0">
                <a:latin typeface="微软雅黑" panose="020B0503020204020204" pitchFamily="34" charset="-122"/>
                <a:ea typeface="微软雅黑" panose="020B0503020204020204" pitchFamily="34" charset="-122"/>
                <a:cs typeface="+mj-cs"/>
              </a:rPr>
              <a:t>与电路仿真设计</a:t>
            </a:r>
            <a:endParaRPr lang="zh-CN" altLang="en-US" sz="2000" dirty="0"/>
          </a:p>
        </p:txBody>
      </p:sp>
      <p:sp>
        <p:nvSpPr>
          <p:cNvPr id="8" name="矩形 7">
            <a:extLst>
              <a:ext uri="{FF2B5EF4-FFF2-40B4-BE49-F238E27FC236}">
                <a16:creationId xmlns:a16="http://schemas.microsoft.com/office/drawing/2014/main" id="{21BC87C8-D446-4862-8AB9-B8B61149576A}"/>
              </a:ext>
            </a:extLst>
          </p:cNvPr>
          <p:cNvSpPr/>
          <p:nvPr/>
        </p:nvSpPr>
        <p:spPr>
          <a:xfrm>
            <a:off x="3054783" y="4653136"/>
            <a:ext cx="3898530" cy="584775"/>
          </a:xfrm>
          <a:prstGeom prst="rect">
            <a:avLst/>
          </a:prstGeom>
        </p:spPr>
        <p:txBody>
          <a:bodyPr wrap="square">
            <a:spAutoFit/>
          </a:bodyPr>
          <a:lstStyle/>
          <a:p>
            <a:r>
              <a:rPr lang="zh-CN" altLang="en-US" sz="3200" b="1" dirty="0">
                <a:latin typeface="微软雅黑" panose="020B0503020204020204" pitchFamily="34" charset="-122"/>
                <a:ea typeface="微软雅黑" panose="020B0503020204020204" pitchFamily="34" charset="-122"/>
                <a:cs typeface="+mj-cs"/>
              </a:rPr>
              <a:t>信息与通信工程学院</a:t>
            </a:r>
            <a:endParaRPr lang="zh-CN" altLang="en-US" sz="1200" dirty="0"/>
          </a:p>
        </p:txBody>
      </p:sp>
      <p:sp>
        <p:nvSpPr>
          <p:cNvPr id="9" name="矩形 8">
            <a:extLst>
              <a:ext uri="{FF2B5EF4-FFF2-40B4-BE49-F238E27FC236}">
                <a16:creationId xmlns:a16="http://schemas.microsoft.com/office/drawing/2014/main" id="{AED60A39-B132-4585-8071-342F932F5C30}"/>
              </a:ext>
            </a:extLst>
          </p:cNvPr>
          <p:cNvSpPr/>
          <p:nvPr/>
        </p:nvSpPr>
        <p:spPr>
          <a:xfrm>
            <a:off x="4499992" y="3861048"/>
            <a:ext cx="1008112" cy="461665"/>
          </a:xfrm>
          <a:prstGeom prst="rect">
            <a:avLst/>
          </a:prstGeom>
        </p:spPr>
        <p:txBody>
          <a:bodyPr wrap="square">
            <a:spAutoFit/>
          </a:bodyPr>
          <a:lstStyle/>
          <a:p>
            <a:r>
              <a:rPr lang="zh-CN" altLang="en-US" sz="2400" b="1" dirty="0">
                <a:latin typeface="微软雅黑" panose="020B0503020204020204" pitchFamily="34" charset="-122"/>
                <a:ea typeface="微软雅黑" panose="020B0503020204020204" pitchFamily="34" charset="-122"/>
                <a:cs typeface="+mj-cs"/>
              </a:rPr>
              <a:t>张</a:t>
            </a:r>
            <a:r>
              <a:rPr lang="zh-CN" altLang="en-US" sz="2400" b="1" dirty="0" smtClean="0">
                <a:latin typeface="微软雅黑" panose="020B0503020204020204" pitchFamily="34" charset="-122"/>
                <a:ea typeface="微软雅黑" panose="020B0503020204020204" pitchFamily="34" charset="-122"/>
                <a:cs typeface="+mj-cs"/>
              </a:rPr>
              <a:t>彪</a:t>
            </a:r>
            <a:endParaRPr lang="zh-CN" altLang="en-US" sz="1050" b="1" dirty="0"/>
          </a:p>
        </p:txBody>
      </p:sp>
    </p:spTree>
    <p:extLst>
      <p:ext uri="{BB962C8B-B14F-4D97-AF65-F5344CB8AC3E}">
        <p14:creationId xmlns:p14="http://schemas.microsoft.com/office/powerpoint/2010/main" val="252944820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实验要求</a:t>
            </a:r>
          </a:p>
        </p:txBody>
      </p:sp>
      <p:sp>
        <p:nvSpPr>
          <p:cNvPr id="6" name="文本框 5"/>
          <p:cNvSpPr txBox="1"/>
          <p:nvPr/>
        </p:nvSpPr>
        <p:spPr>
          <a:xfrm>
            <a:off x="457200" y="1700808"/>
            <a:ext cx="8422341" cy="4524315"/>
          </a:xfrm>
          <a:prstGeom prst="rect">
            <a:avLst/>
          </a:prstGeom>
          <a:noFill/>
        </p:spPr>
        <p:txBody>
          <a:bodyPr wrap="square" rtlCol="0">
            <a:spAutoFit/>
          </a:bodyPr>
          <a:lstStyle/>
          <a:p>
            <a:pPr>
              <a:lnSpc>
                <a:spcPct val="150000"/>
              </a:lnSpc>
            </a:pPr>
            <a:r>
              <a:rPr lang="zh-CN" altLang="en-US" sz="2400" dirty="0">
                <a:latin typeface="微软雅黑" panose="020B0503020204020204" pitchFamily="34" charset="-122"/>
                <a:ea typeface="微软雅黑" panose="020B0503020204020204" pitchFamily="34" charset="-122"/>
              </a:rPr>
              <a:t>一、实验前必须对实验内容所要求的预备知识充分预习；</a:t>
            </a:r>
            <a:endParaRPr lang="en-US" altLang="zh-CN" sz="2400" dirty="0">
              <a:latin typeface="微软雅黑" panose="020B0503020204020204" pitchFamily="34" charset="-122"/>
              <a:ea typeface="微软雅黑" panose="020B0503020204020204" pitchFamily="34" charset="-122"/>
            </a:endParaRPr>
          </a:p>
          <a:p>
            <a:pPr marL="542925" indent="-542925">
              <a:lnSpc>
                <a:spcPct val="150000"/>
              </a:lnSpc>
            </a:pPr>
            <a:r>
              <a:rPr lang="zh-CN" altLang="en-US" sz="2400" dirty="0">
                <a:latin typeface="微软雅黑" panose="020B0503020204020204" pitchFamily="34" charset="-122"/>
                <a:ea typeface="微软雅黑" panose="020B0503020204020204" pitchFamily="34" charset="-122"/>
              </a:rPr>
              <a:t>二、实验时，认真仔细完成实验内容，有问题向指导老师举手  提问； </a:t>
            </a:r>
            <a:endParaRPr lang="en-US" altLang="zh-CN" sz="2400" dirty="0">
              <a:latin typeface="微软雅黑" panose="020B0503020204020204" pitchFamily="34" charset="-122"/>
              <a:ea typeface="微软雅黑" panose="020B0503020204020204" pitchFamily="34" charset="-122"/>
            </a:endParaRPr>
          </a:p>
          <a:p>
            <a:pPr marL="542925" indent="-542925">
              <a:lnSpc>
                <a:spcPct val="150000"/>
              </a:lnSpc>
            </a:pPr>
            <a:r>
              <a:rPr lang="zh-CN" altLang="en-US" sz="2400" dirty="0">
                <a:latin typeface="微软雅黑" panose="020B0503020204020204" pitchFamily="34" charset="-122"/>
                <a:ea typeface="微软雅黑" panose="020B0503020204020204" pitchFamily="34" charset="-122"/>
              </a:rPr>
              <a:t>三、实验时注意观察，实验设备如有异常现象，及时报告老师，严禁私自乱动；</a:t>
            </a:r>
            <a:endParaRPr lang="en-US" altLang="zh-CN" sz="2400" dirty="0">
              <a:latin typeface="微软雅黑" panose="020B0503020204020204" pitchFamily="34" charset="-122"/>
              <a:ea typeface="微软雅黑" panose="020B0503020204020204" pitchFamily="34" charset="-122"/>
            </a:endParaRPr>
          </a:p>
          <a:p>
            <a:pPr>
              <a:lnSpc>
                <a:spcPct val="150000"/>
              </a:lnSpc>
            </a:pPr>
            <a:r>
              <a:rPr lang="zh-CN" altLang="en-US" sz="2400" dirty="0">
                <a:latin typeface="微软雅黑" panose="020B0503020204020204" pitchFamily="34" charset="-122"/>
                <a:ea typeface="微软雅黑" panose="020B0503020204020204" pitchFamily="34" charset="-122"/>
              </a:rPr>
              <a:t>四、实验过程中应仔细观察实验数据并加以记录；</a:t>
            </a:r>
            <a:endParaRPr lang="en-US" altLang="zh-CN" sz="2400" dirty="0">
              <a:latin typeface="微软雅黑" panose="020B0503020204020204" pitchFamily="34" charset="-122"/>
              <a:ea typeface="微软雅黑" panose="020B0503020204020204" pitchFamily="34" charset="-122"/>
            </a:endParaRPr>
          </a:p>
          <a:p>
            <a:pPr>
              <a:lnSpc>
                <a:spcPct val="150000"/>
              </a:lnSpc>
            </a:pPr>
            <a:r>
              <a:rPr lang="zh-CN" altLang="en-US" sz="2400" dirty="0">
                <a:latin typeface="微软雅黑" panose="020B0503020204020204" pitchFamily="34" charset="-122"/>
                <a:ea typeface="微软雅黑" panose="020B0503020204020204" pitchFamily="34" charset="-122"/>
              </a:rPr>
              <a:t>五、自觉保持实验室的肃静、整洁；</a:t>
            </a:r>
            <a:endParaRPr lang="en-US" altLang="zh-CN" sz="2400" dirty="0">
              <a:latin typeface="微软雅黑" panose="020B0503020204020204" pitchFamily="34" charset="-122"/>
              <a:ea typeface="微软雅黑" panose="020B0503020204020204" pitchFamily="34" charset="-122"/>
            </a:endParaRPr>
          </a:p>
          <a:p>
            <a:pPr>
              <a:lnSpc>
                <a:spcPct val="150000"/>
              </a:lnSpc>
            </a:pPr>
            <a:r>
              <a:rPr lang="zh-CN" altLang="en-US" sz="2400" dirty="0">
                <a:latin typeface="微软雅黑" panose="020B0503020204020204" pitchFamily="34" charset="-122"/>
                <a:ea typeface="微软雅黑" panose="020B0503020204020204" pitchFamily="34" charset="-122"/>
              </a:rPr>
              <a:t>六、实验后，必须认真做好实验报告，按时提交。</a:t>
            </a:r>
          </a:p>
        </p:txBody>
      </p:sp>
    </p:spTree>
    <p:extLst>
      <p:ext uri="{BB962C8B-B14F-4D97-AF65-F5344CB8AC3E}">
        <p14:creationId xmlns:p14="http://schemas.microsoft.com/office/powerpoint/2010/main" val="235543221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457200" y="338328"/>
            <a:ext cx="8115328" cy="714408"/>
          </a:xfrm>
        </p:spPr>
        <p:txBody>
          <a:bodyPr/>
          <a:lstStyle/>
          <a:p>
            <a:r>
              <a:rPr lang="zh-CN" altLang="en-US" dirty="0"/>
              <a:t>实验相关说明</a:t>
            </a:r>
          </a:p>
        </p:txBody>
      </p:sp>
      <p:sp>
        <p:nvSpPr>
          <p:cNvPr id="6" name="文本框 5"/>
          <p:cNvSpPr txBox="1"/>
          <p:nvPr/>
        </p:nvSpPr>
        <p:spPr>
          <a:xfrm>
            <a:off x="360829" y="1052736"/>
            <a:ext cx="8422341" cy="5632311"/>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一、上课地点科</a:t>
            </a:r>
            <a:r>
              <a:rPr kumimoji="0" lang="en-US" altLang="zh-CN" sz="2400" b="1"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B453</a:t>
            </a:r>
            <a:r>
              <a:rPr kumimoji="0" lang="zh-CN" altLang="en-US" sz="2400" b="1"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a:t>
            </a:r>
            <a:endParaRPr kumimoji="0" lang="en-US" altLang="zh-CN" sz="2400" b="1"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endParaRPr>
          </a:p>
          <a:p>
            <a:pPr marL="542925" marR="0" lvl="0" indent="-542925" algn="l" defTabSz="914400" rtl="0" eaLnBrk="1" fontAlgn="auto" latinLnBrk="0" hangingPunct="1">
              <a:lnSpc>
                <a:spcPct val="15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二、实验成绩构成：平时</a:t>
            </a:r>
            <a:r>
              <a:rPr kumimoji="0" lang="en-US" altLang="zh-CN" sz="2400" b="1"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30</a:t>
            </a:r>
            <a:r>
              <a:rPr kumimoji="0" lang="zh-CN" altLang="en-US" sz="2400" b="1"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分，实验报告</a:t>
            </a:r>
            <a:r>
              <a:rPr kumimoji="0" lang="en-US" altLang="zh-CN" sz="2400" b="1"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70</a:t>
            </a:r>
            <a:r>
              <a:rPr kumimoji="0" lang="zh-CN" altLang="en-US" sz="2400" b="1"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分； </a:t>
            </a:r>
            <a:endParaRPr kumimoji="0" lang="en-US" altLang="zh-CN" sz="2400" b="1"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endParaRPr>
          </a:p>
          <a:p>
            <a:pPr marL="542925" marR="0" lvl="0" indent="-542925" algn="l" defTabSz="914400" rtl="0" eaLnBrk="1" fontAlgn="auto" latinLnBrk="0" hangingPunct="1">
              <a:lnSpc>
                <a:spcPct val="15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三、每次实验课在结束时需亲自签到；</a:t>
            </a:r>
            <a:endParaRPr kumimoji="0" lang="en-US" altLang="zh-CN" sz="2400" b="1"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四、上交实验</a:t>
            </a:r>
            <a:r>
              <a:rPr kumimoji="0" lang="en-US" altLang="zh-CN" sz="2400" b="1"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2-8</a:t>
            </a:r>
            <a:r>
              <a:rPr kumimoji="0" lang="zh-CN" altLang="en-US" sz="2400" b="1"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共</a:t>
            </a:r>
            <a:r>
              <a:rPr kumimoji="0" lang="en-US" altLang="zh-CN" sz="2400" b="1"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7</a:t>
            </a:r>
            <a:r>
              <a:rPr kumimoji="0" lang="zh-CN" altLang="en-US" sz="2400" b="1"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个实验报告，每个报告占</a:t>
            </a:r>
            <a:r>
              <a:rPr kumimoji="0" lang="en-US" altLang="zh-CN" sz="2400" b="1"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10</a:t>
            </a:r>
            <a:r>
              <a:rPr kumimoji="0" lang="zh-CN" altLang="en-US" sz="2400" b="1"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分；</a:t>
            </a:r>
            <a:endParaRPr kumimoji="0" lang="en-US" altLang="zh-CN" sz="2400" b="1"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五、每个实验结束后</a:t>
            </a:r>
            <a:r>
              <a:rPr kumimoji="0" lang="en-US" altLang="zh-CN" sz="2400" b="1"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1</a:t>
            </a:r>
            <a:r>
              <a:rPr kumimoji="0" lang="zh-CN" altLang="en-US" sz="2400" b="1"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周之内上交实验报告（</a:t>
            </a:r>
            <a:r>
              <a:rPr kumimoji="0" lang="en-US" altLang="zh-CN" sz="2400" b="1" i="0" u="none" strike="noStrike" kern="1200" cap="none" spc="0" normalizeH="0" baseline="0" noProof="0" dirty="0" smtClean="0">
                <a:ln>
                  <a:noFill/>
                </a:ln>
                <a:solidFill>
                  <a:prstClr val="black"/>
                </a:solidFill>
                <a:effectLst/>
                <a:uLnTx/>
                <a:uFillTx/>
                <a:latin typeface="华文楷体" panose="02010600040101010101" pitchFamily="2" charset="-122"/>
                <a:ea typeface="华文楷体" panose="02010600040101010101" pitchFamily="2" charset="-122"/>
                <a:cs typeface="+mn-cs"/>
              </a:rPr>
              <a:t>word</a:t>
            </a:r>
            <a:r>
              <a:rPr kumimoji="0" lang="zh-CN" altLang="en-US" sz="2400" b="1" i="0" u="none" strike="noStrike" kern="1200" cap="none" spc="0" normalizeH="0" baseline="0" noProof="0" dirty="0" smtClean="0">
                <a:ln>
                  <a:noFill/>
                </a:ln>
                <a:solidFill>
                  <a:prstClr val="black"/>
                </a:solidFill>
                <a:effectLst/>
                <a:uLnTx/>
                <a:uFillTx/>
                <a:latin typeface="华文楷体" panose="02010600040101010101" pitchFamily="2" charset="-122"/>
                <a:ea typeface="华文楷体" panose="02010600040101010101" pitchFamily="2" charset="-122"/>
                <a:cs typeface="+mn-cs"/>
              </a:rPr>
              <a:t>或</a:t>
            </a:r>
            <a:r>
              <a:rPr kumimoji="0" lang="en-US" altLang="zh-CN" sz="2400" b="1" i="0" u="none" strike="noStrike" kern="1200" cap="none" spc="0" normalizeH="0" baseline="0" noProof="0" dirty="0" smtClean="0">
                <a:ln>
                  <a:noFill/>
                </a:ln>
                <a:solidFill>
                  <a:prstClr val="black"/>
                </a:solidFill>
                <a:effectLst/>
                <a:uLnTx/>
                <a:uFillTx/>
                <a:latin typeface="华文楷体" panose="02010600040101010101" pitchFamily="2" charset="-122"/>
                <a:ea typeface="华文楷体" panose="02010600040101010101" pitchFamily="2" charset="-122"/>
                <a:cs typeface="+mn-cs"/>
              </a:rPr>
              <a:t>PDF</a:t>
            </a:r>
            <a:r>
              <a:rPr kumimoji="0" lang="zh-CN" altLang="en-US" sz="2400" b="1" i="0" u="none" strike="noStrike" kern="1200" cap="none" spc="0" normalizeH="0" baseline="0" noProof="0" dirty="0" smtClean="0">
                <a:ln>
                  <a:noFill/>
                </a:ln>
                <a:solidFill>
                  <a:prstClr val="black"/>
                </a:solidFill>
                <a:effectLst/>
                <a:uLnTx/>
                <a:uFillTx/>
                <a:latin typeface="华文楷体" panose="02010600040101010101" pitchFamily="2" charset="-122"/>
                <a:ea typeface="华文楷体" panose="02010600040101010101" pitchFamily="2" charset="-122"/>
                <a:cs typeface="+mn-cs"/>
              </a:rPr>
              <a:t>电子版</a:t>
            </a:r>
            <a:r>
              <a:rPr kumimoji="0" lang="zh-CN" altLang="en-US" sz="2400" b="1"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    </a:t>
            </a:r>
            <a:endParaRPr kumimoji="0" lang="en-US" altLang="zh-CN" sz="2400" b="1"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lang="en-US" altLang="zh-CN" sz="2400" b="1" dirty="0">
                <a:solidFill>
                  <a:prstClr val="black"/>
                </a:solidFill>
                <a:latin typeface="华文楷体" panose="02010600040101010101" pitchFamily="2" charset="-122"/>
                <a:ea typeface="华文楷体" panose="02010600040101010101" pitchFamily="2" charset="-122"/>
              </a:rPr>
              <a:t>         </a:t>
            </a:r>
            <a:r>
              <a:rPr kumimoji="0" lang="zh-CN" altLang="en-US" sz="2400" b="1"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文件名：“学号</a:t>
            </a:r>
            <a:r>
              <a:rPr kumimoji="0" lang="en-US" altLang="zh-CN" sz="2400" b="1"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a:t>
            </a:r>
            <a:r>
              <a:rPr kumimoji="0" lang="zh-CN" altLang="en-US" sz="2400" b="1"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姓名</a:t>
            </a:r>
            <a:r>
              <a:rPr kumimoji="0" lang="en-US" altLang="zh-CN" sz="2400" b="1"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a:t>
            </a:r>
            <a:r>
              <a:rPr kumimoji="0" lang="en-US" altLang="zh-CN" sz="2400" b="1" i="0" u="none" strike="noStrike" kern="1200" cap="none" spc="0" normalizeH="0" baseline="0" noProof="0" dirty="0" err="1">
                <a:ln>
                  <a:noFill/>
                </a:ln>
                <a:solidFill>
                  <a:prstClr val="black"/>
                </a:solidFill>
                <a:effectLst/>
                <a:uLnTx/>
                <a:uFillTx/>
                <a:latin typeface="华文楷体" panose="02010600040101010101" pitchFamily="2" charset="-122"/>
                <a:ea typeface="华文楷体" panose="02010600040101010101" pitchFamily="2" charset="-122"/>
                <a:cs typeface="+mn-cs"/>
              </a:rPr>
              <a:t>Multisim</a:t>
            </a:r>
            <a:r>
              <a:rPr kumimoji="0" lang="zh-CN" altLang="en-US" sz="2400" b="1"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实验</a:t>
            </a:r>
            <a:r>
              <a:rPr kumimoji="0" lang="en-US" altLang="zh-CN" sz="2400" b="1"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8</a:t>
            </a:r>
            <a:r>
              <a:rPr kumimoji="0" lang="zh-CN" altLang="en-US" sz="2400" b="1"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a:t>
            </a:r>
            <a:endParaRPr kumimoji="0" lang="en-US" altLang="zh-CN" sz="2400" b="1"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endParaRPr>
          </a:p>
          <a:p>
            <a:pPr lvl="0">
              <a:lnSpc>
                <a:spcPct val="150000"/>
              </a:lnSpc>
            </a:pPr>
            <a:r>
              <a:rPr lang="zh-CN" altLang="en-US" sz="2400" b="1" dirty="0">
                <a:solidFill>
                  <a:prstClr val="black"/>
                </a:solidFill>
                <a:latin typeface="华文楷体" panose="02010600040101010101" pitchFamily="2" charset="-122"/>
              </a:rPr>
              <a:t>         邮箱</a:t>
            </a:r>
            <a:r>
              <a:rPr lang="zh-CN" altLang="en-US" sz="2400" b="1" dirty="0" smtClean="0">
                <a:solidFill>
                  <a:prstClr val="black"/>
                </a:solidFill>
                <a:latin typeface="华文楷体" panose="02010600040101010101" pitchFamily="2" charset="-122"/>
              </a:rPr>
              <a:t>地址：问助教</a:t>
            </a:r>
            <a:r>
              <a:rPr kumimoji="0" lang="zh-CN" altLang="en-US" sz="2400" b="1" i="0" u="none" strike="noStrike" kern="1200" cap="none" spc="0" normalizeH="0" baseline="0" noProof="0" dirty="0" smtClean="0">
                <a:ln>
                  <a:noFill/>
                </a:ln>
                <a:solidFill>
                  <a:prstClr val="black"/>
                </a:solidFill>
                <a:effectLst/>
                <a:uLnTx/>
                <a:uFillTx/>
                <a:latin typeface="华文楷体" panose="02010600040101010101" pitchFamily="2" charset="-122"/>
                <a:ea typeface="华文楷体" panose="02010600040101010101" pitchFamily="2" charset="-122"/>
                <a:cs typeface="+mn-cs"/>
              </a:rPr>
              <a:t>；</a:t>
            </a:r>
            <a:endParaRPr kumimoji="0" lang="en-US" altLang="zh-CN" sz="2400" b="1"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400" b="1" i="0" u="none" strike="noStrike" kern="1200" cap="none" spc="0" normalizeH="0" baseline="0" noProof="0" dirty="0" smtClean="0">
                <a:ln>
                  <a:noFill/>
                </a:ln>
                <a:solidFill>
                  <a:prstClr val="black"/>
                </a:solidFill>
                <a:effectLst/>
                <a:uLnTx/>
                <a:uFillTx/>
                <a:latin typeface="华文楷体" panose="02010600040101010101" pitchFamily="2" charset="-122"/>
                <a:ea typeface="华文楷体" panose="02010600040101010101" pitchFamily="2" charset="-122"/>
                <a:cs typeface="+mn-cs"/>
              </a:rPr>
              <a:t>六</a:t>
            </a:r>
            <a:r>
              <a:rPr kumimoji="0" lang="zh-CN" altLang="en-US" sz="2400" b="1"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、实验报告格式参照“实验报告参考模板”</a:t>
            </a:r>
            <a:r>
              <a:rPr kumimoji="0" lang="en-US" altLang="zh-CN" sz="2400" b="1"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七、课件下载</a:t>
            </a:r>
            <a:r>
              <a:rPr kumimoji="0" lang="zh-CN" altLang="en-US" sz="2400" b="1" i="0" u="none" strike="noStrike" kern="1200" cap="none" spc="0" normalizeH="0" baseline="0" noProof="0" dirty="0" smtClean="0">
                <a:ln>
                  <a:noFill/>
                </a:ln>
                <a:solidFill>
                  <a:prstClr val="black"/>
                </a:solidFill>
                <a:effectLst/>
                <a:uLnTx/>
                <a:uFillTx/>
                <a:latin typeface="华文楷体" panose="02010600040101010101" pitchFamily="2" charset="-122"/>
                <a:ea typeface="华文楷体" panose="02010600040101010101" pitchFamily="2" charset="-122"/>
                <a:cs typeface="+mn-cs"/>
              </a:rPr>
              <a:t>：</a:t>
            </a:r>
            <a:r>
              <a:rPr kumimoji="0" lang="en-US" altLang="zh-CN" sz="2400" b="1" i="0" u="none" strike="noStrike" kern="1200" cap="none" spc="0" normalizeH="0" baseline="0" noProof="0" dirty="0" smtClean="0">
                <a:ln>
                  <a:noFill/>
                </a:ln>
                <a:solidFill>
                  <a:prstClr val="black"/>
                </a:solidFill>
                <a:effectLst/>
                <a:uLnTx/>
                <a:uFillTx/>
                <a:latin typeface="华文楷体" panose="02010600040101010101" pitchFamily="2" charset="-122"/>
                <a:ea typeface="华文楷体" panose="02010600040101010101" pitchFamily="2" charset="-122"/>
                <a:cs typeface="+mn-cs"/>
              </a:rPr>
              <a:t>QQ</a:t>
            </a:r>
            <a:r>
              <a:rPr kumimoji="0" lang="zh-CN" altLang="en-US" sz="2400" b="1" i="0" u="none" strike="noStrike" kern="1200" cap="none" spc="0" normalizeH="0" baseline="0" noProof="0" dirty="0" smtClean="0">
                <a:ln>
                  <a:noFill/>
                </a:ln>
                <a:solidFill>
                  <a:prstClr val="black"/>
                </a:solidFill>
                <a:effectLst/>
                <a:uLnTx/>
                <a:uFillTx/>
                <a:latin typeface="华文楷体" panose="02010600040101010101" pitchFamily="2" charset="-122"/>
                <a:ea typeface="华文楷体" panose="02010600040101010101" pitchFamily="2" charset="-122"/>
                <a:cs typeface="+mn-cs"/>
              </a:rPr>
              <a:t>群文件。</a:t>
            </a:r>
            <a:endParaRPr kumimoji="0" lang="en-US" altLang="zh-CN" sz="2400" b="1"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endParaRPr>
          </a:p>
        </p:txBody>
      </p:sp>
    </p:spTree>
    <p:extLst>
      <p:ext uri="{BB962C8B-B14F-4D97-AF65-F5344CB8AC3E}">
        <p14:creationId xmlns:p14="http://schemas.microsoft.com/office/powerpoint/2010/main" val="207268509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2"/>
          <p:cNvSpPr>
            <a:spLocks noGrp="1"/>
          </p:cNvSpPr>
          <p:nvPr>
            <p:ph type="title"/>
          </p:nvPr>
        </p:nvSpPr>
        <p:spPr>
          <a:xfrm>
            <a:off x="493777" y="541108"/>
            <a:ext cx="8229600" cy="863137"/>
          </a:xfrm>
        </p:spPr>
        <p:txBody>
          <a:bodyPr>
            <a:normAutofit/>
          </a:bodyPr>
          <a:lstStyle/>
          <a:p>
            <a:r>
              <a:rPr lang="en-US" altLang="zh-CN" sz="4000" b="1" dirty="0">
                <a:latin typeface="微软雅黑" panose="020B0503020204020204" pitchFamily="34" charset="-122"/>
                <a:ea typeface="微软雅黑" panose="020B0503020204020204" pitchFamily="34" charset="-122"/>
              </a:rPr>
              <a:t>Multisim </a:t>
            </a:r>
            <a:r>
              <a:rPr lang="zh-CN" altLang="en-US" sz="4000" b="1" dirty="0">
                <a:latin typeface="微软雅黑" panose="020B0503020204020204" pitchFamily="34" charset="-122"/>
                <a:ea typeface="微软雅黑" panose="020B0503020204020204" pitchFamily="34" charset="-122"/>
              </a:rPr>
              <a:t>软件使用简介</a:t>
            </a:r>
          </a:p>
        </p:txBody>
      </p:sp>
      <p:sp>
        <p:nvSpPr>
          <p:cNvPr id="6" name="矩形 5"/>
          <p:cNvSpPr/>
          <p:nvPr/>
        </p:nvSpPr>
        <p:spPr>
          <a:xfrm>
            <a:off x="1259632" y="1844824"/>
            <a:ext cx="4032448" cy="461665"/>
          </a:xfrm>
          <a:prstGeom prst="rect">
            <a:avLst/>
          </a:prstGeom>
        </p:spPr>
        <p:txBody>
          <a:bodyPr wrap="square">
            <a:spAutoFit/>
          </a:bodyPr>
          <a:lstStyle/>
          <a:p>
            <a:r>
              <a:rPr lang="en-US" altLang="zh-CN" sz="2400" b="1" dirty="0">
                <a:latin typeface="微软雅黑" panose="020B0503020204020204" pitchFamily="34" charset="-122"/>
                <a:ea typeface="微软雅黑" panose="020B0503020204020204" pitchFamily="34" charset="-122"/>
              </a:rPr>
              <a:t>1</a:t>
            </a:r>
            <a:r>
              <a:rPr lang="zh-CN" altLang="zh-CN" sz="2400" b="1" dirty="0">
                <a:latin typeface="微软雅黑" panose="020B0503020204020204" pitchFamily="34" charset="-122"/>
                <a:ea typeface="微软雅黑" panose="020B0503020204020204" pitchFamily="34" charset="-122"/>
              </a:rPr>
              <a:t>、</a:t>
            </a:r>
            <a:r>
              <a:rPr lang="en-US" altLang="zh-CN" sz="2400" b="1" dirty="0">
                <a:latin typeface="微软雅黑" panose="020B0503020204020204" pitchFamily="34" charset="-122"/>
                <a:ea typeface="微软雅黑" panose="020B0503020204020204" pitchFamily="34" charset="-122"/>
              </a:rPr>
              <a:t>Multisim</a:t>
            </a:r>
            <a:r>
              <a:rPr lang="zh-CN" altLang="en-US" sz="2400" b="1" dirty="0">
                <a:latin typeface="微软雅黑" panose="020B0503020204020204" pitchFamily="34" charset="-122"/>
                <a:ea typeface="微软雅黑" panose="020B0503020204020204" pitchFamily="34" charset="-122"/>
              </a:rPr>
              <a:t>的发展历程</a:t>
            </a:r>
            <a:endParaRPr lang="zh-CN" altLang="zh-CN" sz="2400" b="1" dirty="0">
              <a:latin typeface="微软雅黑" panose="020B0503020204020204" pitchFamily="34" charset="-122"/>
              <a:ea typeface="微软雅黑" panose="020B0503020204020204" pitchFamily="34" charset="-122"/>
            </a:endParaRPr>
          </a:p>
        </p:txBody>
      </p:sp>
      <p:sp>
        <p:nvSpPr>
          <p:cNvPr id="7" name="矩形 6"/>
          <p:cNvSpPr/>
          <p:nvPr/>
        </p:nvSpPr>
        <p:spPr>
          <a:xfrm>
            <a:off x="1259631" y="2564904"/>
            <a:ext cx="3960441" cy="461665"/>
          </a:xfrm>
          <a:prstGeom prst="rect">
            <a:avLst/>
          </a:prstGeom>
        </p:spPr>
        <p:txBody>
          <a:bodyPr wrap="square">
            <a:spAutoFit/>
          </a:bodyPr>
          <a:lstStyle/>
          <a:p>
            <a:r>
              <a:rPr lang="en-US" altLang="zh-CN" sz="2400" b="1" dirty="0">
                <a:latin typeface="微软雅黑" panose="020B0503020204020204" pitchFamily="34" charset="-122"/>
                <a:ea typeface="微软雅黑" panose="020B0503020204020204" pitchFamily="34" charset="-122"/>
              </a:rPr>
              <a:t>2</a:t>
            </a:r>
            <a:r>
              <a:rPr lang="zh-CN" altLang="zh-CN" sz="2400" b="1" dirty="0">
                <a:latin typeface="微软雅黑" panose="020B0503020204020204" pitchFamily="34" charset="-122"/>
                <a:ea typeface="微软雅黑" panose="020B0503020204020204" pitchFamily="34" charset="-122"/>
              </a:rPr>
              <a:t>、</a:t>
            </a:r>
            <a:r>
              <a:rPr lang="en-US" altLang="zh-CN" sz="2400" b="1" dirty="0">
                <a:latin typeface="微软雅黑" panose="020B0503020204020204" pitchFamily="34" charset="-122"/>
                <a:ea typeface="微软雅黑" panose="020B0503020204020204" pitchFamily="34" charset="-122"/>
              </a:rPr>
              <a:t>Multisim</a:t>
            </a:r>
            <a:r>
              <a:rPr lang="zh-CN" altLang="en-US" sz="2400" b="1" dirty="0">
                <a:latin typeface="微软雅黑" panose="020B0503020204020204" pitchFamily="34" charset="-122"/>
                <a:ea typeface="微软雅黑" panose="020B0503020204020204" pitchFamily="34" charset="-122"/>
              </a:rPr>
              <a:t>的主要特点</a:t>
            </a:r>
            <a:endParaRPr lang="zh-CN" altLang="zh-CN" sz="2400" b="1" dirty="0">
              <a:latin typeface="微软雅黑" panose="020B0503020204020204" pitchFamily="34" charset="-122"/>
              <a:ea typeface="微软雅黑" panose="020B0503020204020204" pitchFamily="34" charset="-122"/>
            </a:endParaRPr>
          </a:p>
        </p:txBody>
      </p:sp>
      <p:sp>
        <p:nvSpPr>
          <p:cNvPr id="8" name="矩形 7"/>
          <p:cNvSpPr/>
          <p:nvPr/>
        </p:nvSpPr>
        <p:spPr>
          <a:xfrm>
            <a:off x="1259631" y="3308352"/>
            <a:ext cx="4176465" cy="461665"/>
          </a:xfrm>
          <a:prstGeom prst="rect">
            <a:avLst/>
          </a:prstGeom>
        </p:spPr>
        <p:txBody>
          <a:bodyPr wrap="square">
            <a:spAutoFit/>
          </a:bodyPr>
          <a:lstStyle/>
          <a:p>
            <a:r>
              <a:rPr lang="en-US" altLang="zh-CN" sz="2400" b="1" dirty="0">
                <a:latin typeface="微软雅黑" panose="020B0503020204020204" pitchFamily="34" charset="-122"/>
                <a:ea typeface="微软雅黑" panose="020B0503020204020204" pitchFamily="34" charset="-122"/>
              </a:rPr>
              <a:t>3</a:t>
            </a:r>
            <a:r>
              <a:rPr lang="zh-CN" altLang="zh-CN" sz="2400" b="1" dirty="0">
                <a:latin typeface="微软雅黑" panose="020B0503020204020204" pitchFamily="34" charset="-122"/>
                <a:ea typeface="微软雅黑" panose="020B0503020204020204" pitchFamily="34" charset="-122"/>
              </a:rPr>
              <a:t>、</a:t>
            </a:r>
            <a:r>
              <a:rPr lang="en-US" altLang="zh-CN" sz="2400" b="1" dirty="0">
                <a:latin typeface="微软雅黑" panose="020B0503020204020204" pitchFamily="34" charset="-122"/>
                <a:ea typeface="微软雅黑" panose="020B0503020204020204" pitchFamily="34" charset="-122"/>
              </a:rPr>
              <a:t>Multisim</a:t>
            </a:r>
            <a:r>
              <a:rPr lang="zh-CN" altLang="en-US" sz="2400" b="1" dirty="0">
                <a:latin typeface="微软雅黑" panose="020B0503020204020204" pitchFamily="34" charset="-122"/>
                <a:ea typeface="微软雅黑" panose="020B0503020204020204" pitchFamily="34" charset="-122"/>
              </a:rPr>
              <a:t>的基本操作</a:t>
            </a:r>
            <a:endParaRPr lang="zh-CN" altLang="zh-CN" sz="2400" b="1" dirty="0">
              <a:latin typeface="微软雅黑" panose="020B0503020204020204" pitchFamily="34" charset="-122"/>
              <a:ea typeface="微软雅黑" panose="020B0503020204020204" pitchFamily="34" charset="-122"/>
            </a:endParaRPr>
          </a:p>
        </p:txBody>
      </p:sp>
      <p:sp>
        <p:nvSpPr>
          <p:cNvPr id="9" name="矩形 8"/>
          <p:cNvSpPr/>
          <p:nvPr/>
        </p:nvSpPr>
        <p:spPr>
          <a:xfrm>
            <a:off x="1259630" y="4024368"/>
            <a:ext cx="4176465" cy="461665"/>
          </a:xfrm>
          <a:prstGeom prst="rect">
            <a:avLst/>
          </a:prstGeom>
        </p:spPr>
        <p:txBody>
          <a:bodyPr wrap="square">
            <a:spAutoFit/>
          </a:bodyPr>
          <a:lstStyle/>
          <a:p>
            <a:r>
              <a:rPr lang="en-US" altLang="zh-CN" sz="2400" b="1" dirty="0">
                <a:latin typeface="微软雅黑" panose="020B0503020204020204" pitchFamily="34" charset="-122"/>
                <a:ea typeface="微软雅黑" panose="020B0503020204020204" pitchFamily="34" charset="-122"/>
              </a:rPr>
              <a:t>4</a:t>
            </a:r>
            <a:r>
              <a:rPr lang="zh-CN" altLang="zh-CN" sz="2400" b="1" dirty="0">
                <a:latin typeface="微软雅黑" panose="020B0503020204020204" pitchFamily="34" charset="-122"/>
                <a:ea typeface="微软雅黑" panose="020B0503020204020204" pitchFamily="34" charset="-122"/>
              </a:rPr>
              <a:t>、</a:t>
            </a:r>
            <a:r>
              <a:rPr lang="en-US" altLang="zh-CN" sz="2400" b="1" dirty="0">
                <a:latin typeface="微软雅黑" panose="020B0503020204020204" pitchFamily="34" charset="-122"/>
                <a:ea typeface="微软雅黑" panose="020B0503020204020204" pitchFamily="34" charset="-122"/>
              </a:rPr>
              <a:t>Multisim</a:t>
            </a:r>
            <a:r>
              <a:rPr lang="zh-CN" altLang="en-US" sz="2400" b="1" dirty="0">
                <a:latin typeface="微软雅黑" panose="020B0503020204020204" pitchFamily="34" charset="-122"/>
                <a:ea typeface="微软雅黑" panose="020B0503020204020204" pitchFamily="34" charset="-122"/>
              </a:rPr>
              <a:t>的分析方法</a:t>
            </a:r>
            <a:endParaRPr lang="zh-CN" altLang="zh-CN" sz="2400" b="1" dirty="0">
              <a:latin typeface="微软雅黑" panose="020B0503020204020204" pitchFamily="34" charset="-122"/>
              <a:ea typeface="微软雅黑" panose="020B0503020204020204" pitchFamily="34" charset="-122"/>
            </a:endParaRPr>
          </a:p>
        </p:txBody>
      </p:sp>
      <p:sp>
        <p:nvSpPr>
          <p:cNvPr id="10" name="矩形 9"/>
          <p:cNvSpPr/>
          <p:nvPr/>
        </p:nvSpPr>
        <p:spPr>
          <a:xfrm>
            <a:off x="1238710" y="4770864"/>
            <a:ext cx="5688632" cy="461665"/>
          </a:xfrm>
          <a:prstGeom prst="rect">
            <a:avLst/>
          </a:prstGeom>
        </p:spPr>
        <p:txBody>
          <a:bodyPr wrap="square">
            <a:spAutoFit/>
          </a:bodyPr>
          <a:lstStyle/>
          <a:p>
            <a:r>
              <a:rPr lang="en-US" altLang="zh-CN" sz="2400" b="1" dirty="0">
                <a:latin typeface="微软雅黑" panose="020B0503020204020204" pitchFamily="34" charset="-122"/>
                <a:ea typeface="微软雅黑" panose="020B0503020204020204" pitchFamily="34" charset="-122"/>
              </a:rPr>
              <a:t>5</a:t>
            </a:r>
            <a:r>
              <a:rPr lang="zh-CN" altLang="zh-CN" sz="2400" b="1" dirty="0">
                <a:latin typeface="微软雅黑" panose="020B0503020204020204" pitchFamily="34" charset="-122"/>
                <a:ea typeface="微软雅黑" panose="020B0503020204020204" pitchFamily="34" charset="-122"/>
              </a:rPr>
              <a:t>、</a:t>
            </a:r>
            <a:r>
              <a:rPr lang="en-US" altLang="zh-CN" sz="2400" b="1" dirty="0">
                <a:latin typeface="微软雅黑" panose="020B0503020204020204" pitchFamily="34" charset="-122"/>
                <a:ea typeface="微软雅黑" panose="020B0503020204020204" pitchFamily="34" charset="-122"/>
              </a:rPr>
              <a:t>Multisim</a:t>
            </a:r>
            <a:r>
              <a:rPr lang="zh-CN" altLang="en-US" sz="2400" b="1" dirty="0">
                <a:latin typeface="微软雅黑" panose="020B0503020204020204" pitchFamily="34" charset="-122"/>
                <a:ea typeface="微软雅黑" panose="020B0503020204020204" pitchFamily="34" charset="-122"/>
              </a:rPr>
              <a:t>的虚拟仪器使用方法简介</a:t>
            </a:r>
            <a:endParaRPr lang="zh-CN" altLang="zh-CN"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93411393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直接箭头连接符 6"/>
          <p:cNvSpPr>
            <a:spLocks noChangeShapeType="1"/>
          </p:cNvSpPr>
          <p:nvPr/>
        </p:nvSpPr>
        <p:spPr bwMode="auto">
          <a:xfrm>
            <a:off x="414008" y="4581128"/>
            <a:ext cx="1512888" cy="88900"/>
          </a:xfrm>
          <a:prstGeom prst="straightConnector1">
            <a:avLst/>
          </a:prstGeom>
          <a:noFill/>
          <a:ln w="19050" cap="flat" cmpd="sng">
            <a:solidFill>
              <a:srgbClr val="3F3F3F"/>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7" name="椭圆 7"/>
          <p:cNvSpPr>
            <a:spLocks noChangeArrowheads="1"/>
          </p:cNvSpPr>
          <p:nvPr/>
        </p:nvSpPr>
        <p:spPr bwMode="auto">
          <a:xfrm>
            <a:off x="1928182" y="4550070"/>
            <a:ext cx="215900" cy="215900"/>
          </a:xfrm>
          <a:prstGeom prst="ellipse">
            <a:avLst/>
          </a:prstGeom>
          <a:solidFill>
            <a:srgbClr val="15939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8" name="直接箭头连接符 8"/>
          <p:cNvSpPr>
            <a:spLocks noChangeShapeType="1"/>
          </p:cNvSpPr>
          <p:nvPr/>
        </p:nvSpPr>
        <p:spPr bwMode="auto">
          <a:xfrm flipV="1">
            <a:off x="2123728" y="4274865"/>
            <a:ext cx="1565916" cy="384760"/>
          </a:xfrm>
          <a:prstGeom prst="straightConnector1">
            <a:avLst/>
          </a:prstGeom>
          <a:noFill/>
          <a:ln w="19050" cap="flat" cmpd="sng">
            <a:solidFill>
              <a:srgbClr val="3F3F3F"/>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9" name="椭圆 9"/>
          <p:cNvSpPr>
            <a:spLocks noChangeArrowheads="1"/>
          </p:cNvSpPr>
          <p:nvPr/>
        </p:nvSpPr>
        <p:spPr bwMode="auto">
          <a:xfrm>
            <a:off x="3642019" y="4125640"/>
            <a:ext cx="215900" cy="215900"/>
          </a:xfrm>
          <a:prstGeom prst="ellipse">
            <a:avLst/>
          </a:prstGeom>
          <a:solidFill>
            <a:srgbClr val="15939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0" name="直接箭头连接符 10"/>
          <p:cNvSpPr>
            <a:spLocks noChangeShapeType="1"/>
          </p:cNvSpPr>
          <p:nvPr/>
        </p:nvSpPr>
        <p:spPr bwMode="auto">
          <a:xfrm flipV="1">
            <a:off x="3848394" y="3285852"/>
            <a:ext cx="1601787" cy="908050"/>
          </a:xfrm>
          <a:prstGeom prst="straightConnector1">
            <a:avLst/>
          </a:prstGeom>
          <a:noFill/>
          <a:ln w="19050" cap="flat" cmpd="sng">
            <a:solidFill>
              <a:srgbClr val="3F3F3F"/>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 name="椭圆 11"/>
          <p:cNvSpPr>
            <a:spLocks noChangeArrowheads="1"/>
          </p:cNvSpPr>
          <p:nvPr/>
        </p:nvSpPr>
        <p:spPr bwMode="auto">
          <a:xfrm>
            <a:off x="5415256" y="3136627"/>
            <a:ext cx="215900" cy="215900"/>
          </a:xfrm>
          <a:prstGeom prst="ellipse">
            <a:avLst/>
          </a:prstGeom>
          <a:solidFill>
            <a:srgbClr val="15939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2" name="直接箭头连接符 12"/>
          <p:cNvSpPr>
            <a:spLocks noChangeShapeType="1"/>
          </p:cNvSpPr>
          <p:nvPr/>
        </p:nvSpPr>
        <p:spPr bwMode="auto">
          <a:xfrm flipV="1">
            <a:off x="5616869" y="2982054"/>
            <a:ext cx="1416641" cy="235535"/>
          </a:xfrm>
          <a:prstGeom prst="straightConnector1">
            <a:avLst/>
          </a:prstGeom>
          <a:noFill/>
          <a:ln w="19050" cap="flat" cmpd="sng">
            <a:solidFill>
              <a:srgbClr val="3F3F3F"/>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 name="椭圆 13"/>
          <p:cNvSpPr>
            <a:spLocks noChangeArrowheads="1"/>
          </p:cNvSpPr>
          <p:nvPr/>
        </p:nvSpPr>
        <p:spPr bwMode="auto">
          <a:xfrm>
            <a:off x="7019223" y="2847702"/>
            <a:ext cx="215900" cy="215900"/>
          </a:xfrm>
          <a:prstGeom prst="ellipse">
            <a:avLst/>
          </a:prstGeom>
          <a:solidFill>
            <a:srgbClr val="15939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4" name="直接箭头连接符 14"/>
          <p:cNvSpPr>
            <a:spLocks noChangeShapeType="1"/>
          </p:cNvSpPr>
          <p:nvPr/>
        </p:nvSpPr>
        <p:spPr bwMode="auto">
          <a:xfrm flipV="1">
            <a:off x="7235123" y="2674664"/>
            <a:ext cx="865269" cy="280988"/>
          </a:xfrm>
          <a:prstGeom prst="straightConnector1">
            <a:avLst/>
          </a:prstGeom>
          <a:noFill/>
          <a:ln w="19050" cap="flat" cmpd="sng">
            <a:solidFill>
              <a:srgbClr val="3F3F3F"/>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 name="圆角矩形标注 17"/>
          <p:cNvSpPr>
            <a:spLocks noChangeArrowheads="1"/>
          </p:cNvSpPr>
          <p:nvPr/>
        </p:nvSpPr>
        <p:spPr bwMode="auto">
          <a:xfrm>
            <a:off x="494144" y="3606589"/>
            <a:ext cx="2000251" cy="781694"/>
          </a:xfrm>
          <a:prstGeom prst="wedgeRoundRectCallout">
            <a:avLst>
              <a:gd name="adj1" fmla="val 26250"/>
              <a:gd name="adj2" fmla="val 64977"/>
              <a:gd name="adj3" fmla="val 16667"/>
            </a:avLst>
          </a:prstGeom>
          <a:solidFill>
            <a:srgbClr val="3FB1EE"/>
          </a:solidFill>
          <a:ln>
            <a:noFill/>
          </a:ln>
        </p:spPr>
        <p:txBody>
          <a:bodyPr anchor="ctr"/>
          <a:lstStyle/>
          <a:p>
            <a:pPr algn="ctr"/>
            <a:r>
              <a:rPr lang="zh-CN" altLang="en-US" sz="1600"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加拿大</a:t>
            </a:r>
            <a:r>
              <a:rPr lang="en-US" altLang="zh-CN" sz="1600"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IIT</a:t>
            </a:r>
            <a:r>
              <a:rPr lang="zh-CN" altLang="en-US" sz="1600"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公司</a:t>
            </a:r>
            <a:endParaRPr lang="en-US" altLang="zh-CN" sz="1600" dirty="0">
              <a:solidFill>
                <a:srgbClr val="FFFFFF"/>
              </a:solidFill>
              <a:latin typeface="微软雅黑" panose="020B0503020204020204" pitchFamily="34" charset="-122"/>
              <a:ea typeface="微软雅黑" panose="020B0503020204020204" pitchFamily="34" charset="-122"/>
              <a:sym typeface="宋体" panose="02010600030101010101" pitchFamily="2" charset="-122"/>
            </a:endParaRPr>
          </a:p>
          <a:p>
            <a:pPr algn="ctr"/>
            <a:r>
              <a:rPr lang="en-US" altLang="zh-CN" sz="1600"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EWB</a:t>
            </a:r>
            <a:r>
              <a:rPr lang="zh-CN" altLang="en-US" sz="1600"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软件</a:t>
            </a:r>
            <a:endParaRPr lang="en-US" altLang="zh-CN" sz="1600" dirty="0">
              <a:solidFill>
                <a:srgbClr val="FFFFFF"/>
              </a:solidFill>
              <a:latin typeface="微软雅黑" panose="020B0503020204020204" pitchFamily="34" charset="-122"/>
              <a:ea typeface="微软雅黑" panose="020B0503020204020204" pitchFamily="34" charset="-122"/>
              <a:sym typeface="宋体" panose="02010600030101010101" pitchFamily="2" charset="-122"/>
            </a:endParaRPr>
          </a:p>
          <a:p>
            <a:pPr algn="ctr"/>
            <a:r>
              <a:rPr lang="en-US" altLang="zh-CN" sz="1200"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Electronic Workbench</a:t>
            </a:r>
            <a:endParaRPr lang="zh-CN" altLang="zh-CN" dirty="0">
              <a:solidFill>
                <a:srgbClr val="FFFFFF"/>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20" name="圆角矩形标注 21"/>
          <p:cNvSpPr>
            <a:spLocks noChangeArrowheads="1"/>
          </p:cNvSpPr>
          <p:nvPr/>
        </p:nvSpPr>
        <p:spPr bwMode="auto">
          <a:xfrm>
            <a:off x="3797534" y="2111994"/>
            <a:ext cx="2120900" cy="906462"/>
          </a:xfrm>
          <a:prstGeom prst="wedgeRoundRectCallout">
            <a:avLst>
              <a:gd name="adj1" fmla="val 26273"/>
              <a:gd name="adj2" fmla="val 64847"/>
              <a:gd name="adj3" fmla="val 16667"/>
            </a:avLst>
          </a:prstGeom>
          <a:solidFill>
            <a:srgbClr val="3FB1EE"/>
          </a:solidFill>
          <a:ln>
            <a:noFill/>
          </a:ln>
        </p:spPr>
        <p:txBody>
          <a:bodyPr anchor="ctr"/>
          <a:lstStyle/>
          <a:p>
            <a:pPr algn="ctr"/>
            <a:r>
              <a:rPr lang="en-US" altLang="zh-CN"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NI</a:t>
            </a:r>
            <a:r>
              <a:rPr lang="zh-CN" altLang="en-US"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公司收购</a:t>
            </a:r>
            <a:r>
              <a:rPr lang="en-US" altLang="zh-CN"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IIT</a:t>
            </a:r>
          </a:p>
          <a:p>
            <a:pPr algn="ctr"/>
            <a:r>
              <a:rPr lang="en-US" altLang="zh-CN"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Multisim 9</a:t>
            </a:r>
          </a:p>
          <a:p>
            <a:pPr algn="ctr"/>
            <a:r>
              <a:rPr lang="zh-CN" altLang="en-US"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融入</a:t>
            </a:r>
            <a:r>
              <a:rPr lang="en-US" altLang="zh-CN" dirty="0" err="1">
                <a:solidFill>
                  <a:srgbClr val="FFFFFF"/>
                </a:solidFill>
                <a:latin typeface="微软雅黑" panose="020B0503020204020204" pitchFamily="34" charset="-122"/>
                <a:ea typeface="微软雅黑" panose="020B0503020204020204" pitchFamily="34" charset="-122"/>
                <a:sym typeface="宋体" panose="02010600030101010101" pitchFamily="2" charset="-122"/>
              </a:rPr>
              <a:t>Labview</a:t>
            </a:r>
            <a:endParaRPr lang="zh-CN" altLang="zh-CN" dirty="0">
              <a:solidFill>
                <a:srgbClr val="FFFFFF"/>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24" name="圆角矩形标注 25"/>
          <p:cNvSpPr>
            <a:spLocks noChangeArrowheads="1"/>
          </p:cNvSpPr>
          <p:nvPr/>
        </p:nvSpPr>
        <p:spPr bwMode="auto">
          <a:xfrm>
            <a:off x="3465660" y="4764954"/>
            <a:ext cx="1447740" cy="1739900"/>
          </a:xfrm>
          <a:prstGeom prst="wedgeRoundRectCallout">
            <a:avLst>
              <a:gd name="adj1" fmla="val -29417"/>
              <a:gd name="adj2" fmla="val -73384"/>
              <a:gd name="adj3" fmla="val 16667"/>
            </a:avLst>
          </a:prstGeom>
          <a:solidFill>
            <a:srgbClr val="3FB1EE"/>
          </a:solidFill>
          <a:ln>
            <a:noFill/>
          </a:ln>
        </p:spPr>
        <p:txBody>
          <a:bodyPr anchor="ctr"/>
          <a:lstStyle/>
          <a:p>
            <a:pPr algn="ctr"/>
            <a:endParaRPr lang="en-US" altLang="zh-CN" sz="1600" dirty="0">
              <a:solidFill>
                <a:srgbClr val="FFFFFF"/>
              </a:solidFill>
              <a:latin typeface="微软雅黑" panose="020B0503020204020204" pitchFamily="34" charset="-122"/>
              <a:ea typeface="微软雅黑" panose="020B0503020204020204" pitchFamily="34" charset="-122"/>
              <a:sym typeface="宋体" panose="02010600030101010101" pitchFamily="2" charset="-122"/>
            </a:endParaRPr>
          </a:p>
          <a:p>
            <a:pPr algn="ctr"/>
            <a:r>
              <a:rPr lang="en-US" altLang="zh-CN" sz="1600"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EWB5.0</a:t>
            </a:r>
          </a:p>
          <a:p>
            <a:pPr algn="ctr"/>
            <a:endParaRPr lang="en-US" altLang="zh-CN" sz="1600" dirty="0">
              <a:solidFill>
                <a:srgbClr val="FFFFFF"/>
              </a:solidFill>
              <a:latin typeface="微软雅黑" panose="020B0503020204020204" pitchFamily="34" charset="-122"/>
              <a:ea typeface="微软雅黑" panose="020B0503020204020204" pitchFamily="34" charset="-122"/>
              <a:sym typeface="宋体" panose="02010600030101010101" pitchFamily="2" charset="-122"/>
            </a:endParaRPr>
          </a:p>
          <a:p>
            <a:pPr algn="ctr"/>
            <a:r>
              <a:rPr lang="en-US" altLang="zh-CN" sz="1600"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Multisim</a:t>
            </a:r>
          </a:p>
          <a:p>
            <a:pPr algn="ctr"/>
            <a:r>
              <a:rPr lang="en-US" altLang="zh-CN" sz="1600" dirty="0" err="1">
                <a:solidFill>
                  <a:srgbClr val="FFFFFF"/>
                </a:solidFill>
                <a:latin typeface="微软雅黑" panose="020B0503020204020204" pitchFamily="34" charset="-122"/>
                <a:ea typeface="微软雅黑" panose="020B0503020204020204" pitchFamily="34" charset="-122"/>
                <a:sym typeface="宋体" panose="02010600030101010101" pitchFamily="2" charset="-122"/>
              </a:rPr>
              <a:t>Ultiboard</a:t>
            </a:r>
            <a:endParaRPr lang="en-US" altLang="zh-CN" sz="1600" dirty="0">
              <a:solidFill>
                <a:srgbClr val="FFFFFF"/>
              </a:solidFill>
              <a:latin typeface="微软雅黑" panose="020B0503020204020204" pitchFamily="34" charset="-122"/>
              <a:ea typeface="微软雅黑" panose="020B0503020204020204" pitchFamily="34" charset="-122"/>
              <a:sym typeface="宋体" panose="02010600030101010101" pitchFamily="2" charset="-122"/>
            </a:endParaRPr>
          </a:p>
          <a:p>
            <a:pPr algn="ctr"/>
            <a:r>
              <a:rPr lang="en-US" altLang="zh-CN" sz="1600" dirty="0" err="1">
                <a:solidFill>
                  <a:srgbClr val="FFFFFF"/>
                </a:solidFill>
                <a:latin typeface="微软雅黑" panose="020B0503020204020204" pitchFamily="34" charset="-122"/>
                <a:ea typeface="微软雅黑" panose="020B0503020204020204" pitchFamily="34" charset="-122"/>
                <a:sym typeface="宋体" panose="02010600030101010101" pitchFamily="2" charset="-122"/>
              </a:rPr>
              <a:t>Ultitoute</a:t>
            </a:r>
            <a:endParaRPr lang="en-US" altLang="zh-CN" sz="1600" dirty="0">
              <a:solidFill>
                <a:srgbClr val="FFFFFF"/>
              </a:solidFill>
              <a:latin typeface="微软雅黑" panose="020B0503020204020204" pitchFamily="34" charset="-122"/>
              <a:ea typeface="微软雅黑" panose="020B0503020204020204" pitchFamily="34" charset="-122"/>
              <a:sym typeface="宋体" panose="02010600030101010101" pitchFamily="2" charset="-122"/>
            </a:endParaRPr>
          </a:p>
          <a:p>
            <a:pPr algn="ctr"/>
            <a:r>
              <a:rPr lang="en-US" altLang="zh-CN" sz="1600" dirty="0" err="1">
                <a:solidFill>
                  <a:srgbClr val="FFFFFF"/>
                </a:solidFill>
                <a:latin typeface="微软雅黑" panose="020B0503020204020204" pitchFamily="34" charset="-122"/>
                <a:ea typeface="微软雅黑" panose="020B0503020204020204" pitchFamily="34" charset="-122"/>
                <a:sym typeface="宋体" panose="02010600030101010101" pitchFamily="2" charset="-122"/>
              </a:rPr>
              <a:t>Commsim</a:t>
            </a:r>
            <a:endParaRPr lang="en-US" altLang="zh-CN" sz="1600" dirty="0">
              <a:solidFill>
                <a:srgbClr val="FFFFFF"/>
              </a:solidFill>
              <a:latin typeface="微软雅黑" panose="020B0503020204020204" pitchFamily="34" charset="-122"/>
              <a:ea typeface="微软雅黑" panose="020B0503020204020204" pitchFamily="34" charset="-122"/>
              <a:sym typeface="宋体" panose="02010600030101010101" pitchFamily="2" charset="-122"/>
            </a:endParaRPr>
          </a:p>
          <a:p>
            <a:pPr algn="ctr"/>
            <a:endParaRPr lang="zh-CN" altLang="zh-CN" sz="1600" dirty="0">
              <a:solidFill>
                <a:srgbClr val="FFFFFF"/>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28" name="圆角矩形标注 31"/>
          <p:cNvSpPr>
            <a:spLocks noChangeArrowheads="1"/>
          </p:cNvSpPr>
          <p:nvPr/>
        </p:nvSpPr>
        <p:spPr bwMode="auto">
          <a:xfrm>
            <a:off x="6804248" y="3236640"/>
            <a:ext cx="1949097" cy="844550"/>
          </a:xfrm>
          <a:prstGeom prst="wedgeRoundRectCallout">
            <a:avLst>
              <a:gd name="adj1" fmla="val -31861"/>
              <a:gd name="adj2" fmla="val -69120"/>
              <a:gd name="adj3" fmla="val 16667"/>
            </a:avLst>
          </a:prstGeom>
          <a:solidFill>
            <a:srgbClr val="3FB1EE"/>
          </a:solidFill>
          <a:ln>
            <a:noFill/>
          </a:ln>
        </p:spPr>
        <p:txBody>
          <a:bodyPr anchor="ctr"/>
          <a:lstStyle/>
          <a:p>
            <a:pPr algn="ctr"/>
            <a:r>
              <a:rPr lang="zh-CN" altLang="en-US" sz="1600"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发布</a:t>
            </a:r>
            <a:r>
              <a:rPr lang="en-US" altLang="zh-CN" sz="1600"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NI</a:t>
            </a:r>
            <a:r>
              <a:rPr lang="zh-CN" altLang="en-US" sz="1600"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套件</a:t>
            </a:r>
            <a:endParaRPr lang="en-US" altLang="zh-CN" sz="1600" dirty="0">
              <a:solidFill>
                <a:srgbClr val="FFFFFF"/>
              </a:solidFill>
              <a:latin typeface="微软雅黑" panose="020B0503020204020204" pitchFamily="34" charset="-122"/>
              <a:ea typeface="微软雅黑" panose="020B0503020204020204" pitchFamily="34" charset="-122"/>
              <a:sym typeface="宋体" panose="02010600030101010101" pitchFamily="2" charset="-122"/>
            </a:endParaRPr>
          </a:p>
          <a:p>
            <a:pPr algn="ctr"/>
            <a:r>
              <a:rPr lang="en-US" altLang="zh-CN" sz="1600"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NI Multisim 10</a:t>
            </a:r>
          </a:p>
          <a:p>
            <a:pPr algn="ctr"/>
            <a:r>
              <a:rPr lang="en-US" altLang="zh-CN" sz="1600"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NI </a:t>
            </a:r>
            <a:r>
              <a:rPr lang="en-US" altLang="zh-CN" sz="1600" dirty="0" err="1">
                <a:solidFill>
                  <a:srgbClr val="FFFFFF"/>
                </a:solidFill>
                <a:latin typeface="微软雅黑" panose="020B0503020204020204" pitchFamily="34" charset="-122"/>
                <a:ea typeface="微软雅黑" panose="020B0503020204020204" pitchFamily="34" charset="-122"/>
                <a:sym typeface="宋体" panose="02010600030101010101" pitchFamily="2" charset="-122"/>
              </a:rPr>
              <a:t>Ultiboard</a:t>
            </a:r>
            <a:r>
              <a:rPr lang="en-US" altLang="zh-CN" sz="1600"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 10</a:t>
            </a:r>
            <a:endParaRPr lang="zh-CN" altLang="zh-CN" sz="1600" dirty="0">
              <a:solidFill>
                <a:srgbClr val="FFFFFF"/>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31" name="矩形 30"/>
          <p:cNvSpPr/>
          <p:nvPr/>
        </p:nvSpPr>
        <p:spPr>
          <a:xfrm>
            <a:off x="696418" y="692696"/>
            <a:ext cx="4753763" cy="584775"/>
          </a:xfrm>
          <a:prstGeom prst="rect">
            <a:avLst/>
          </a:prstGeom>
        </p:spPr>
        <p:txBody>
          <a:bodyPr wrap="square">
            <a:spAutoFit/>
          </a:bodyPr>
          <a:lstStyle/>
          <a:p>
            <a:r>
              <a:rPr lang="en-US" altLang="zh-CN" sz="3200" b="1" dirty="0">
                <a:latin typeface="微软雅黑" panose="020B0503020204020204" pitchFamily="34" charset="-122"/>
                <a:ea typeface="微软雅黑" panose="020B0503020204020204" pitchFamily="34" charset="-122"/>
              </a:rPr>
              <a:t>1</a:t>
            </a:r>
            <a:r>
              <a:rPr lang="zh-CN" altLang="zh-CN" sz="3200" b="1" dirty="0">
                <a:latin typeface="微软雅黑" panose="020B0503020204020204" pitchFamily="34" charset="-122"/>
                <a:ea typeface="微软雅黑" panose="020B0503020204020204" pitchFamily="34" charset="-122"/>
              </a:rPr>
              <a:t>、</a:t>
            </a:r>
            <a:r>
              <a:rPr lang="en-US" altLang="zh-CN" sz="3200" b="1" dirty="0">
                <a:latin typeface="微软雅黑" panose="020B0503020204020204" pitchFamily="34" charset="-122"/>
                <a:ea typeface="微软雅黑" panose="020B0503020204020204" pitchFamily="34" charset="-122"/>
              </a:rPr>
              <a:t>Multisim</a:t>
            </a:r>
            <a:r>
              <a:rPr lang="zh-CN" altLang="en-US" sz="3200" b="1" dirty="0">
                <a:latin typeface="微软雅黑" panose="020B0503020204020204" pitchFamily="34" charset="-122"/>
                <a:ea typeface="微软雅黑" panose="020B0503020204020204" pitchFamily="34" charset="-122"/>
              </a:rPr>
              <a:t>的发展历程</a:t>
            </a:r>
            <a:endParaRPr lang="zh-CN" altLang="zh-CN" sz="3200" b="1" dirty="0">
              <a:latin typeface="微软雅黑" panose="020B0503020204020204" pitchFamily="34" charset="-122"/>
              <a:ea typeface="微软雅黑" panose="020B0503020204020204" pitchFamily="34" charset="-122"/>
            </a:endParaRPr>
          </a:p>
        </p:txBody>
      </p:sp>
      <p:sp>
        <p:nvSpPr>
          <p:cNvPr id="32" name="文本框 31"/>
          <p:cNvSpPr txBox="1"/>
          <p:nvPr/>
        </p:nvSpPr>
        <p:spPr>
          <a:xfrm>
            <a:off x="1090959" y="4852470"/>
            <a:ext cx="1486304" cy="338554"/>
          </a:xfrm>
          <a:prstGeom prst="rect">
            <a:avLst/>
          </a:prstGeom>
          <a:noFill/>
        </p:spPr>
        <p:txBody>
          <a:bodyPr wrap="none" rtlCol="0">
            <a:spAutoFit/>
          </a:bodyPr>
          <a:lstStyle/>
          <a:p>
            <a:r>
              <a:rPr lang="en-US" altLang="zh-CN" sz="1600" dirty="0">
                <a:latin typeface="微软雅黑" panose="020B0503020204020204" pitchFamily="34" charset="-122"/>
                <a:ea typeface="微软雅黑" panose="020B0503020204020204" pitchFamily="34" charset="-122"/>
              </a:rPr>
              <a:t>20</a:t>
            </a:r>
            <a:r>
              <a:rPr lang="zh-CN" altLang="en-US" sz="1600" dirty="0">
                <a:latin typeface="微软雅黑" panose="020B0503020204020204" pitchFamily="34" charset="-122"/>
                <a:ea typeface="微软雅黑" panose="020B0503020204020204" pitchFamily="34" charset="-122"/>
              </a:rPr>
              <a:t>世纪</a:t>
            </a:r>
            <a:r>
              <a:rPr lang="en-US" altLang="zh-CN" sz="1600" dirty="0">
                <a:latin typeface="微软雅黑" panose="020B0503020204020204" pitchFamily="34" charset="-122"/>
                <a:ea typeface="微软雅黑" panose="020B0503020204020204" pitchFamily="34" charset="-122"/>
              </a:rPr>
              <a:t>80</a:t>
            </a:r>
            <a:r>
              <a:rPr lang="zh-CN" altLang="en-US" sz="1600" dirty="0">
                <a:latin typeface="微软雅黑" panose="020B0503020204020204" pitchFamily="34" charset="-122"/>
                <a:ea typeface="微软雅黑" panose="020B0503020204020204" pitchFamily="34" charset="-122"/>
              </a:rPr>
              <a:t>年代</a:t>
            </a:r>
          </a:p>
        </p:txBody>
      </p:sp>
      <p:sp>
        <p:nvSpPr>
          <p:cNvPr id="33" name="文本框 32"/>
          <p:cNvSpPr txBox="1"/>
          <p:nvPr/>
        </p:nvSpPr>
        <p:spPr>
          <a:xfrm>
            <a:off x="3334635" y="3761101"/>
            <a:ext cx="665567" cy="338554"/>
          </a:xfrm>
          <a:prstGeom prst="rect">
            <a:avLst/>
          </a:prstGeom>
          <a:noFill/>
        </p:spPr>
        <p:txBody>
          <a:bodyPr wrap="none" rtlCol="0">
            <a:spAutoFit/>
          </a:bodyPr>
          <a:lstStyle/>
          <a:p>
            <a:r>
              <a:rPr lang="en-US" altLang="zh-CN" sz="1600" dirty="0">
                <a:latin typeface="微软雅黑" panose="020B0503020204020204" pitchFamily="34" charset="-122"/>
                <a:ea typeface="微软雅黑" panose="020B0503020204020204" pitchFamily="34" charset="-122"/>
              </a:rPr>
              <a:t>1996</a:t>
            </a:r>
            <a:endParaRPr lang="zh-CN" altLang="en-US" sz="1600" dirty="0">
              <a:latin typeface="微软雅黑" panose="020B0503020204020204" pitchFamily="34" charset="-122"/>
              <a:ea typeface="微软雅黑" panose="020B0503020204020204" pitchFamily="34" charset="-122"/>
            </a:endParaRPr>
          </a:p>
        </p:txBody>
      </p:sp>
      <p:sp>
        <p:nvSpPr>
          <p:cNvPr id="34" name="文本框 33"/>
          <p:cNvSpPr txBox="1"/>
          <p:nvPr/>
        </p:nvSpPr>
        <p:spPr>
          <a:xfrm>
            <a:off x="5198944" y="3507100"/>
            <a:ext cx="665567" cy="338554"/>
          </a:xfrm>
          <a:prstGeom prst="rect">
            <a:avLst/>
          </a:prstGeom>
          <a:noFill/>
        </p:spPr>
        <p:txBody>
          <a:bodyPr wrap="none" rtlCol="0">
            <a:spAutoFit/>
          </a:bodyPr>
          <a:lstStyle/>
          <a:p>
            <a:r>
              <a:rPr lang="en-US" altLang="zh-CN" sz="1600" dirty="0">
                <a:latin typeface="微软雅黑" panose="020B0503020204020204" pitchFamily="34" charset="-122"/>
                <a:ea typeface="微软雅黑" panose="020B0503020204020204" pitchFamily="34" charset="-122"/>
              </a:rPr>
              <a:t>2005</a:t>
            </a:r>
            <a:endParaRPr lang="zh-CN" altLang="en-US" sz="1600" dirty="0">
              <a:latin typeface="微软雅黑" panose="020B0503020204020204" pitchFamily="34" charset="-122"/>
              <a:ea typeface="微软雅黑" panose="020B0503020204020204" pitchFamily="34" charset="-122"/>
            </a:endParaRPr>
          </a:p>
        </p:txBody>
      </p:sp>
      <p:sp>
        <p:nvSpPr>
          <p:cNvPr id="35" name="文本框 34"/>
          <p:cNvSpPr txBox="1"/>
          <p:nvPr/>
        </p:nvSpPr>
        <p:spPr>
          <a:xfrm>
            <a:off x="6794389" y="2508562"/>
            <a:ext cx="665567" cy="338554"/>
          </a:xfrm>
          <a:prstGeom prst="rect">
            <a:avLst/>
          </a:prstGeom>
          <a:noFill/>
        </p:spPr>
        <p:txBody>
          <a:bodyPr wrap="none" rtlCol="0">
            <a:spAutoFit/>
          </a:bodyPr>
          <a:lstStyle/>
          <a:p>
            <a:r>
              <a:rPr lang="en-US" altLang="zh-CN" sz="1600" dirty="0">
                <a:latin typeface="微软雅黑" panose="020B0503020204020204" pitchFamily="34" charset="-122"/>
                <a:ea typeface="微软雅黑" panose="020B0503020204020204" pitchFamily="34" charset="-122"/>
              </a:rPr>
              <a:t>2007</a:t>
            </a:r>
            <a:endParaRPr lang="zh-CN" altLang="en-US" sz="16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531720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p:cBhvr>
                                        <p:cTn id="7" dur="500"/>
                                        <p:tgtEl>
                                          <p:spTgt spid="6"/>
                                        </p:tgtEl>
                                      </p:cBhvr>
                                    </p:animEffect>
                                  </p:childTnLst>
                                </p:cTn>
                              </p:par>
                            </p:childTnLst>
                          </p:cTn>
                        </p:par>
                        <p:par>
                          <p:cTn id="8" fill="hold">
                            <p:stCondLst>
                              <p:cond delay="500"/>
                            </p:stCondLst>
                            <p:childTnLst>
                              <p:par>
                                <p:cTn id="9" presetID="21" presetClass="entr" presetSubtype="1"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p:cBhvr>
                                        <p:cTn id="11" dur="1000"/>
                                        <p:tgtEl>
                                          <p:spTgt spid="7"/>
                                        </p:tgtEl>
                                      </p:cBhvr>
                                    </p:animEffect>
                                  </p:childTnLst>
                                </p:cTn>
                              </p:par>
                            </p:childTnLst>
                          </p:cTn>
                        </p:par>
                        <p:par>
                          <p:cTn id="12" fill="hold">
                            <p:stCondLst>
                              <p:cond delay="1500"/>
                            </p:stCondLst>
                            <p:childTnLst>
                              <p:par>
                                <p:cTn id="13" presetID="22" presetClass="entr" presetSubtype="8" fill="hold"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p:cBhvr>
                                        <p:cTn id="15" dur="500"/>
                                        <p:tgtEl>
                                          <p:spTgt spid="8"/>
                                        </p:tgtEl>
                                      </p:cBhvr>
                                    </p:animEffect>
                                  </p:childTnLst>
                                </p:cTn>
                              </p:par>
                            </p:childTnLst>
                          </p:cTn>
                        </p:par>
                        <p:par>
                          <p:cTn id="16" fill="hold">
                            <p:stCondLst>
                              <p:cond delay="2000"/>
                            </p:stCondLst>
                            <p:childTnLst>
                              <p:par>
                                <p:cTn id="17" presetID="21" presetClass="entr" presetSubtype="1"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p:cBhvr>
                                        <p:cTn id="19" dur="1000"/>
                                        <p:tgtEl>
                                          <p:spTgt spid="9"/>
                                        </p:tgtEl>
                                      </p:cBhvr>
                                    </p:animEffect>
                                  </p:childTnLst>
                                </p:cTn>
                              </p:par>
                            </p:childTnLst>
                          </p:cTn>
                        </p:par>
                        <p:par>
                          <p:cTn id="20" fill="hold">
                            <p:stCondLst>
                              <p:cond delay="3000"/>
                            </p:stCondLst>
                            <p:childTnLst>
                              <p:par>
                                <p:cTn id="21" presetID="22" presetClass="entr" presetSubtype="8" fill="hold"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p:cBhvr>
                                        <p:cTn id="23" dur="500"/>
                                        <p:tgtEl>
                                          <p:spTgt spid="10"/>
                                        </p:tgtEl>
                                      </p:cBhvr>
                                    </p:animEffect>
                                  </p:childTnLst>
                                </p:cTn>
                              </p:par>
                            </p:childTnLst>
                          </p:cTn>
                        </p:par>
                        <p:par>
                          <p:cTn id="24" fill="hold">
                            <p:stCondLst>
                              <p:cond delay="3500"/>
                            </p:stCondLst>
                            <p:childTnLst>
                              <p:par>
                                <p:cTn id="25" presetID="21" presetClass="entr" presetSubtype="1" fill="hold" grpId="0" nodeType="afterEffect">
                                  <p:stCondLst>
                                    <p:cond delay="0"/>
                                  </p:stCondLst>
                                  <p:childTnLst>
                                    <p:set>
                                      <p:cBhvr>
                                        <p:cTn id="26" dur="1" fill="hold">
                                          <p:stCondLst>
                                            <p:cond delay="0"/>
                                          </p:stCondLst>
                                        </p:cTn>
                                        <p:tgtEl>
                                          <p:spTgt spid="11"/>
                                        </p:tgtEl>
                                        <p:attrNameLst>
                                          <p:attrName>style.visibility</p:attrName>
                                        </p:attrNameLst>
                                      </p:cBhvr>
                                      <p:to>
                                        <p:strVal val="visible"/>
                                      </p:to>
                                    </p:set>
                                    <p:animEffect>
                                      <p:cBhvr>
                                        <p:cTn id="27" dur="1000"/>
                                        <p:tgtEl>
                                          <p:spTgt spid="11"/>
                                        </p:tgtEl>
                                      </p:cBhvr>
                                    </p:animEffect>
                                  </p:childTnLst>
                                </p:cTn>
                              </p:par>
                            </p:childTnLst>
                          </p:cTn>
                        </p:par>
                        <p:par>
                          <p:cTn id="28" fill="hold">
                            <p:stCondLst>
                              <p:cond delay="4500"/>
                            </p:stCondLst>
                            <p:childTnLst>
                              <p:par>
                                <p:cTn id="29" presetID="22" presetClass="entr" presetSubtype="8" fill="hold" nodeType="afterEffect">
                                  <p:stCondLst>
                                    <p:cond delay="0"/>
                                  </p:stCondLst>
                                  <p:childTnLst>
                                    <p:set>
                                      <p:cBhvr>
                                        <p:cTn id="30" dur="1" fill="hold">
                                          <p:stCondLst>
                                            <p:cond delay="0"/>
                                          </p:stCondLst>
                                        </p:cTn>
                                        <p:tgtEl>
                                          <p:spTgt spid="12"/>
                                        </p:tgtEl>
                                        <p:attrNameLst>
                                          <p:attrName>style.visibility</p:attrName>
                                        </p:attrNameLst>
                                      </p:cBhvr>
                                      <p:to>
                                        <p:strVal val="visible"/>
                                      </p:to>
                                    </p:set>
                                    <p:animEffect>
                                      <p:cBhvr>
                                        <p:cTn id="31" dur="500"/>
                                        <p:tgtEl>
                                          <p:spTgt spid="12"/>
                                        </p:tgtEl>
                                      </p:cBhvr>
                                    </p:animEffect>
                                  </p:childTnLst>
                                </p:cTn>
                              </p:par>
                            </p:childTnLst>
                          </p:cTn>
                        </p:par>
                        <p:par>
                          <p:cTn id="32" fill="hold">
                            <p:stCondLst>
                              <p:cond delay="5000"/>
                            </p:stCondLst>
                            <p:childTnLst>
                              <p:par>
                                <p:cTn id="33" presetID="21" presetClass="entr" presetSubtype="1" fill="hold" grpId="0" nodeType="afterEffect">
                                  <p:stCondLst>
                                    <p:cond delay="0"/>
                                  </p:stCondLst>
                                  <p:childTnLst>
                                    <p:set>
                                      <p:cBhvr>
                                        <p:cTn id="34" dur="1" fill="hold">
                                          <p:stCondLst>
                                            <p:cond delay="0"/>
                                          </p:stCondLst>
                                        </p:cTn>
                                        <p:tgtEl>
                                          <p:spTgt spid="13"/>
                                        </p:tgtEl>
                                        <p:attrNameLst>
                                          <p:attrName>style.visibility</p:attrName>
                                        </p:attrNameLst>
                                      </p:cBhvr>
                                      <p:to>
                                        <p:strVal val="visible"/>
                                      </p:to>
                                    </p:set>
                                    <p:animEffect>
                                      <p:cBhvr>
                                        <p:cTn id="35" dur="1000"/>
                                        <p:tgtEl>
                                          <p:spTgt spid="13"/>
                                        </p:tgtEl>
                                      </p:cBhvr>
                                    </p:animEffect>
                                  </p:childTnLst>
                                </p:cTn>
                              </p:par>
                            </p:childTnLst>
                          </p:cTn>
                        </p:par>
                        <p:par>
                          <p:cTn id="36" fill="hold">
                            <p:stCondLst>
                              <p:cond delay="6000"/>
                            </p:stCondLst>
                            <p:childTnLst>
                              <p:par>
                                <p:cTn id="37" presetID="22" presetClass="entr" presetSubtype="8" fill="hold" nodeType="afterEffect">
                                  <p:stCondLst>
                                    <p:cond delay="0"/>
                                  </p:stCondLst>
                                  <p:childTnLst>
                                    <p:set>
                                      <p:cBhvr>
                                        <p:cTn id="38" dur="1" fill="hold">
                                          <p:stCondLst>
                                            <p:cond delay="0"/>
                                          </p:stCondLst>
                                        </p:cTn>
                                        <p:tgtEl>
                                          <p:spTgt spid="14"/>
                                        </p:tgtEl>
                                        <p:attrNameLst>
                                          <p:attrName>style.visibility</p:attrName>
                                        </p:attrNameLst>
                                      </p:cBhvr>
                                      <p:to>
                                        <p:strVal val="visible"/>
                                      </p:to>
                                    </p:set>
                                    <p:animEffect>
                                      <p:cBhvr>
                                        <p:cTn id="3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autoUpdateAnimBg="0"/>
      <p:bldP spid="9" grpId="0" bldLvl="0" animBg="1" autoUpdateAnimBg="0"/>
      <p:bldP spid="11" grpId="0" bldLvl="0" animBg="1" autoUpdateAnimBg="0"/>
      <p:bldP spid="13" grpId="0" bldLvl="0" animBg="1"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55576" y="692696"/>
            <a:ext cx="5040560" cy="584775"/>
          </a:xfrm>
          <a:prstGeom prst="rect">
            <a:avLst/>
          </a:prstGeom>
        </p:spPr>
        <p:txBody>
          <a:bodyPr wrap="square">
            <a:spAutoFit/>
          </a:bodyPr>
          <a:lstStyle/>
          <a:p>
            <a:r>
              <a:rPr lang="en-US" altLang="zh-CN" sz="3200" b="1" dirty="0">
                <a:latin typeface="微软雅黑" panose="020B0503020204020204" pitchFamily="34" charset="-122"/>
                <a:ea typeface="微软雅黑" panose="020B0503020204020204" pitchFamily="34" charset="-122"/>
              </a:rPr>
              <a:t>2</a:t>
            </a:r>
            <a:r>
              <a:rPr lang="zh-CN" altLang="zh-CN" sz="3200" b="1" dirty="0">
                <a:latin typeface="微软雅黑" panose="020B0503020204020204" pitchFamily="34" charset="-122"/>
                <a:ea typeface="微软雅黑" panose="020B0503020204020204" pitchFamily="34" charset="-122"/>
              </a:rPr>
              <a:t>、</a:t>
            </a:r>
            <a:r>
              <a:rPr lang="en-US" altLang="zh-CN" sz="3200" b="1" dirty="0">
                <a:latin typeface="微软雅黑" panose="020B0503020204020204" pitchFamily="34" charset="-122"/>
                <a:ea typeface="微软雅黑" panose="020B0503020204020204" pitchFamily="34" charset="-122"/>
              </a:rPr>
              <a:t>Multisim</a:t>
            </a:r>
            <a:r>
              <a:rPr lang="zh-CN" altLang="en-US" sz="3200" b="1" dirty="0">
                <a:latin typeface="微软雅黑" panose="020B0503020204020204" pitchFamily="34" charset="-122"/>
                <a:ea typeface="微软雅黑" panose="020B0503020204020204" pitchFamily="34" charset="-122"/>
              </a:rPr>
              <a:t>的主要特点</a:t>
            </a:r>
            <a:endParaRPr lang="zh-CN" altLang="zh-CN" sz="3200" b="1" dirty="0">
              <a:latin typeface="微软雅黑" panose="020B0503020204020204" pitchFamily="34" charset="-122"/>
              <a:ea typeface="微软雅黑" panose="020B0503020204020204" pitchFamily="34" charset="-122"/>
            </a:endParaRPr>
          </a:p>
        </p:txBody>
      </p:sp>
      <p:sp>
        <p:nvSpPr>
          <p:cNvPr id="5" name="内容占位符 2"/>
          <p:cNvSpPr>
            <a:spLocks noGrp="1"/>
          </p:cNvSpPr>
          <p:nvPr>
            <p:ph idx="1"/>
          </p:nvPr>
        </p:nvSpPr>
        <p:spPr>
          <a:xfrm>
            <a:off x="539552" y="1556792"/>
            <a:ext cx="8424936" cy="5040560"/>
          </a:xfrm>
        </p:spPr>
        <p:txBody>
          <a:bodyPr>
            <a:noAutofit/>
          </a:bodyPr>
          <a:lstStyle/>
          <a:p>
            <a:pPr eaLnBrk="1" hangingPunct="1">
              <a:lnSpc>
                <a:spcPct val="125000"/>
              </a:lnSpc>
              <a:defRPr/>
            </a:pPr>
            <a:r>
              <a:rPr lang="en-US" altLang="zh-CN" sz="2400" b="0" dirty="0">
                <a:latin typeface="微软雅黑" panose="020B0503020204020204" pitchFamily="34" charset="-122"/>
                <a:ea typeface="微软雅黑" panose="020B0503020204020204" pitchFamily="34" charset="-122"/>
              </a:rPr>
              <a:t>Multisim13.0</a:t>
            </a:r>
            <a:r>
              <a:rPr lang="zh-CN" altLang="en-US" sz="2400" b="0" dirty="0">
                <a:latin typeface="微软雅黑" panose="020B0503020204020204" pitchFamily="34" charset="-122"/>
                <a:ea typeface="微软雅黑" panose="020B0503020204020204" pitchFamily="34" charset="-122"/>
              </a:rPr>
              <a:t>是美国国家仪器</a:t>
            </a:r>
            <a:r>
              <a:rPr lang="en-US" altLang="zh-CN" sz="2400" b="0" dirty="0">
                <a:latin typeface="微软雅黑" panose="020B0503020204020204" pitchFamily="34" charset="-122"/>
                <a:ea typeface="微软雅黑" panose="020B0503020204020204" pitchFamily="34" charset="-122"/>
              </a:rPr>
              <a:t>(National Instruments</a:t>
            </a:r>
            <a:r>
              <a:rPr lang="zh-CN" altLang="zh-CN" sz="2400" b="0" dirty="0">
                <a:latin typeface="微软雅黑" panose="020B0503020204020204" pitchFamily="34" charset="-122"/>
                <a:ea typeface="微软雅黑" panose="020B0503020204020204" pitchFamily="34" charset="-122"/>
              </a:rPr>
              <a:t>，简称</a:t>
            </a:r>
            <a:r>
              <a:rPr lang="en-US" altLang="zh-CN" sz="2400" b="0" dirty="0">
                <a:latin typeface="微软雅黑" panose="020B0503020204020204" pitchFamily="34" charset="-122"/>
                <a:ea typeface="微软雅黑" panose="020B0503020204020204" pitchFamily="34" charset="-122"/>
              </a:rPr>
              <a:t>NI</a:t>
            </a:r>
            <a:r>
              <a:rPr lang="en-US" altLang="zh-CN" sz="2400" b="0" dirty="0" smtClean="0">
                <a:latin typeface="微软雅黑" panose="020B0503020204020204" pitchFamily="34" charset="-122"/>
                <a:ea typeface="微软雅黑" panose="020B0503020204020204" pitchFamily="34" charset="-122"/>
              </a:rPr>
              <a:t>)</a:t>
            </a:r>
            <a:r>
              <a:rPr lang="zh-CN" altLang="zh-CN" sz="2400" b="0" dirty="0" smtClean="0">
                <a:latin typeface="微软雅黑" panose="020B0503020204020204" pitchFamily="34" charset="-122"/>
                <a:ea typeface="微软雅黑" panose="020B0503020204020204" pitchFamily="34" charset="-122"/>
              </a:rPr>
              <a:t>推出</a:t>
            </a:r>
            <a:r>
              <a:rPr lang="zh-CN" altLang="zh-CN" sz="2400" b="0" dirty="0">
                <a:latin typeface="微软雅黑" panose="020B0503020204020204" pitchFamily="34" charset="-122"/>
                <a:ea typeface="微软雅黑" panose="020B0503020204020204" pitchFamily="34" charset="-122"/>
              </a:rPr>
              <a:t>的用于电路设计和电子教学仿真的专用版本</a:t>
            </a:r>
            <a:r>
              <a:rPr lang="zh-CN" altLang="en-US" sz="2400" b="0" dirty="0" smtClean="0">
                <a:latin typeface="微软雅黑" panose="020B0503020204020204" pitchFamily="34" charset="-122"/>
                <a:ea typeface="微软雅黑" panose="020B0503020204020204" pitchFamily="34" charset="-122"/>
              </a:rPr>
              <a:t>。</a:t>
            </a:r>
            <a:endParaRPr lang="en-US" altLang="zh-CN" sz="2400" b="0" dirty="0" smtClean="0">
              <a:latin typeface="微软雅黑" panose="020B0503020204020204" pitchFamily="34" charset="-122"/>
              <a:ea typeface="微软雅黑" panose="020B0503020204020204" pitchFamily="34" charset="-122"/>
            </a:endParaRPr>
          </a:p>
          <a:p>
            <a:pPr eaLnBrk="1" hangingPunct="1">
              <a:lnSpc>
                <a:spcPct val="125000"/>
              </a:lnSpc>
              <a:defRPr/>
            </a:pPr>
            <a:endParaRPr lang="en-US" altLang="zh-CN" sz="2400" b="0" dirty="0">
              <a:latin typeface="微软雅黑" panose="020B0503020204020204" pitchFamily="34" charset="-122"/>
              <a:ea typeface="微软雅黑" panose="020B0503020204020204" pitchFamily="34" charset="-122"/>
            </a:endParaRPr>
          </a:p>
          <a:p>
            <a:pPr eaLnBrk="1" hangingPunct="1">
              <a:lnSpc>
                <a:spcPct val="125000"/>
              </a:lnSpc>
              <a:defRPr/>
            </a:pPr>
            <a:r>
              <a:rPr lang="zh-CN" altLang="en-US" sz="2400" b="0" dirty="0" smtClean="0">
                <a:latin typeface="微软雅黑" panose="020B0503020204020204" pitchFamily="34" charset="-122"/>
                <a:ea typeface="微软雅黑" panose="020B0503020204020204" pitchFamily="34" charset="-122"/>
              </a:rPr>
              <a:t>特点</a:t>
            </a:r>
            <a:r>
              <a:rPr lang="zh-CN" altLang="en-US" sz="2400" b="0" dirty="0">
                <a:latin typeface="微软雅黑" panose="020B0503020204020204" pitchFamily="34" charset="-122"/>
                <a:ea typeface="微软雅黑" panose="020B0503020204020204" pitchFamily="34" charset="-122"/>
              </a:rPr>
              <a:t>：使用</a:t>
            </a:r>
            <a:r>
              <a:rPr lang="en-US" altLang="zh-CN" sz="2400" b="0" dirty="0" err="1">
                <a:latin typeface="微软雅黑" panose="020B0503020204020204" pitchFamily="34" charset="-122"/>
                <a:ea typeface="微软雅黑" panose="020B0503020204020204" pitchFamily="34" charset="-122"/>
              </a:rPr>
              <a:t>LabVIEW</a:t>
            </a:r>
            <a:r>
              <a:rPr lang="zh-CN" altLang="en-US" sz="2400" b="0" dirty="0">
                <a:latin typeface="微软雅黑" panose="020B0503020204020204" pitchFamily="34" charset="-122"/>
                <a:ea typeface="微软雅黑" panose="020B0503020204020204" pitchFamily="34" charset="-122"/>
              </a:rPr>
              <a:t>和</a:t>
            </a:r>
            <a:r>
              <a:rPr lang="en-US" altLang="zh-CN" sz="2400" b="0" dirty="0" err="1">
                <a:latin typeface="微软雅黑" panose="020B0503020204020204" pitchFamily="34" charset="-122"/>
                <a:ea typeface="微软雅黑" panose="020B0503020204020204" pitchFamily="34" charset="-122"/>
              </a:rPr>
              <a:t>Multisim</a:t>
            </a:r>
            <a:r>
              <a:rPr lang="zh-CN" altLang="en-US" sz="2400" b="0" dirty="0">
                <a:latin typeface="微软雅黑" panose="020B0503020204020204" pitchFamily="34" charset="-122"/>
                <a:ea typeface="微软雅黑" panose="020B0503020204020204" pitchFamily="34" charset="-122"/>
              </a:rPr>
              <a:t>实现数字电路和模拟电路的联合仿真；</a:t>
            </a:r>
            <a:r>
              <a:rPr lang="zh-CN" altLang="zh-CN" sz="2400" b="0" dirty="0">
                <a:latin typeface="微软雅黑" panose="020B0503020204020204" pitchFamily="34" charset="-122"/>
                <a:ea typeface="微软雅黑" panose="020B0503020204020204" pitchFamily="34" charset="-122"/>
              </a:rPr>
              <a:t>可以使用</a:t>
            </a:r>
            <a:r>
              <a:rPr lang="en-US" altLang="zh-CN" sz="2400" b="0" dirty="0" err="1">
                <a:latin typeface="微软雅黑" panose="020B0503020204020204" pitchFamily="34" charset="-122"/>
                <a:ea typeface="微软雅黑" panose="020B0503020204020204" pitchFamily="34" charset="-122"/>
              </a:rPr>
              <a:t>Multisim</a:t>
            </a:r>
            <a:r>
              <a:rPr lang="zh-CN" altLang="zh-CN" sz="2400" b="0" dirty="0">
                <a:latin typeface="微软雅黑" panose="020B0503020204020204" pitchFamily="34" charset="-122"/>
                <a:ea typeface="微软雅黑" panose="020B0503020204020204" pitchFamily="34" charset="-122"/>
              </a:rPr>
              <a:t>片段（</a:t>
            </a:r>
            <a:r>
              <a:rPr lang="en-US" altLang="zh-CN" sz="2400" b="0" dirty="0">
                <a:latin typeface="微软雅黑" panose="020B0503020204020204" pitchFamily="34" charset="-122"/>
                <a:ea typeface="微软雅黑" panose="020B0503020204020204" pitchFamily="34" charset="-122"/>
              </a:rPr>
              <a:t>Snippets</a:t>
            </a:r>
            <a:r>
              <a:rPr lang="zh-CN" altLang="zh-CN" sz="2400" b="0" dirty="0">
                <a:latin typeface="微软雅黑" panose="020B0503020204020204" pitchFamily="34" charset="-122"/>
                <a:ea typeface="微软雅黑" panose="020B0503020204020204" pitchFamily="34" charset="-122"/>
              </a:rPr>
              <a:t>）分享电路文件</a:t>
            </a:r>
            <a:r>
              <a:rPr lang="zh-CN" altLang="en-US" sz="2400" b="0" dirty="0">
                <a:latin typeface="微软雅黑" panose="020B0503020204020204" pitchFamily="34" charset="-122"/>
                <a:ea typeface="微软雅黑" panose="020B0503020204020204" pitchFamily="34" charset="-122"/>
              </a:rPr>
              <a:t>；</a:t>
            </a:r>
            <a:r>
              <a:rPr lang="zh-CN" altLang="zh-CN" sz="2400" b="0" dirty="0">
                <a:latin typeface="微软雅黑" panose="020B0503020204020204" pitchFamily="34" charset="-122"/>
                <a:ea typeface="微软雅黑" panose="020B0503020204020204" pitchFamily="34" charset="-122"/>
              </a:rPr>
              <a:t>新增</a:t>
            </a:r>
            <a:r>
              <a:rPr lang="en-US" altLang="zh-CN" sz="2400" b="0" dirty="0">
                <a:latin typeface="微软雅黑" panose="020B0503020204020204" pitchFamily="34" charset="-122"/>
                <a:ea typeface="微软雅黑" panose="020B0503020204020204" pitchFamily="34" charset="-122"/>
              </a:rPr>
              <a:t>Xilinx</a:t>
            </a:r>
            <a:r>
              <a:rPr lang="zh-CN" altLang="zh-CN" sz="2400" b="0" dirty="0">
                <a:latin typeface="微软雅黑" panose="020B0503020204020204" pitchFamily="34" charset="-122"/>
                <a:ea typeface="微软雅黑" panose="020B0503020204020204" pitchFamily="34" charset="-122"/>
              </a:rPr>
              <a:t>工具支持</a:t>
            </a:r>
            <a:r>
              <a:rPr lang="zh-CN" altLang="en-US" sz="2400" b="0" dirty="0">
                <a:latin typeface="微软雅黑" panose="020B0503020204020204" pitchFamily="34" charset="-122"/>
                <a:ea typeface="微软雅黑" panose="020B0503020204020204" pitchFamily="34" charset="-122"/>
              </a:rPr>
              <a:t>；</a:t>
            </a:r>
            <a:r>
              <a:rPr lang="zh-CN" altLang="zh-CN" sz="2400" b="0" dirty="0">
                <a:latin typeface="微软雅黑" panose="020B0503020204020204" pitchFamily="34" charset="-122"/>
                <a:ea typeface="微软雅黑" panose="020B0503020204020204" pitchFamily="34" charset="-122"/>
              </a:rPr>
              <a:t>全新的数据库改进</a:t>
            </a:r>
            <a:r>
              <a:rPr lang="zh-CN" altLang="en-US" sz="2400" b="0" dirty="0">
                <a:latin typeface="微软雅黑" panose="020B0503020204020204" pitchFamily="34" charset="-122"/>
                <a:ea typeface="微软雅黑" panose="020B0503020204020204" pitchFamily="34" charset="-122"/>
              </a:rPr>
              <a:t>；</a:t>
            </a:r>
            <a:r>
              <a:rPr lang="zh-CN" altLang="zh-CN" sz="2400" b="0" dirty="0">
                <a:latin typeface="微软雅黑" panose="020B0503020204020204" pitchFamily="34" charset="-122"/>
                <a:ea typeface="微软雅黑" panose="020B0503020204020204" pitchFamily="34" charset="-122"/>
              </a:rPr>
              <a:t>新增了超过</a:t>
            </a:r>
            <a:r>
              <a:rPr lang="en-US" altLang="zh-CN" sz="2400" b="0" dirty="0">
                <a:latin typeface="微软雅黑" panose="020B0503020204020204" pitchFamily="34" charset="-122"/>
                <a:ea typeface="微软雅黑" panose="020B0503020204020204" pitchFamily="34" charset="-122"/>
              </a:rPr>
              <a:t>2000</a:t>
            </a:r>
            <a:r>
              <a:rPr lang="zh-CN" altLang="zh-CN" sz="2400" b="0" dirty="0">
                <a:latin typeface="微软雅黑" panose="020B0503020204020204" pitchFamily="34" charset="-122"/>
                <a:ea typeface="微软雅黑" panose="020B0503020204020204" pitchFamily="34" charset="-122"/>
              </a:rPr>
              <a:t>个来自于亚诺德半导体、美国国家半导体、</a:t>
            </a:r>
            <a:r>
              <a:rPr lang="en-US" altLang="zh-CN" sz="2400" b="0" dirty="0">
                <a:latin typeface="微软雅黑" panose="020B0503020204020204" pitchFamily="34" charset="-122"/>
                <a:ea typeface="微软雅黑" panose="020B0503020204020204" pitchFamily="34" charset="-122"/>
              </a:rPr>
              <a:t>NXP</a:t>
            </a:r>
            <a:r>
              <a:rPr lang="zh-CN" altLang="zh-CN" sz="2400" b="0" dirty="0">
                <a:latin typeface="微软雅黑" panose="020B0503020204020204" pitchFamily="34" charset="-122"/>
                <a:ea typeface="微软雅黑" panose="020B0503020204020204" pitchFamily="34" charset="-122"/>
              </a:rPr>
              <a:t>和飞利浦等半导体厂商的全新数据库元件</a:t>
            </a:r>
            <a:r>
              <a:rPr lang="zh-CN" altLang="en-US" sz="2400" b="0" dirty="0">
                <a:latin typeface="微软雅黑" panose="020B0503020204020204" pitchFamily="34" charset="-122"/>
                <a:ea typeface="微软雅黑" panose="020B0503020204020204" pitchFamily="34" charset="-122"/>
              </a:rPr>
              <a:t>；</a:t>
            </a:r>
            <a:r>
              <a:rPr lang="zh-CN" altLang="zh-CN" sz="2400" b="0" dirty="0">
                <a:latin typeface="微软雅黑" panose="020B0503020204020204" pitchFamily="34" charset="-122"/>
                <a:ea typeface="微软雅黑" panose="020B0503020204020204" pitchFamily="34" charset="-122"/>
              </a:rPr>
              <a:t>超过</a:t>
            </a:r>
            <a:r>
              <a:rPr lang="en-US" altLang="zh-CN" sz="2400" b="0" dirty="0">
                <a:latin typeface="微软雅黑" panose="020B0503020204020204" pitchFamily="34" charset="-122"/>
                <a:ea typeface="微软雅黑" panose="020B0503020204020204" pitchFamily="34" charset="-122"/>
              </a:rPr>
              <a:t>90</a:t>
            </a:r>
            <a:r>
              <a:rPr lang="zh-CN" altLang="zh-CN" sz="2400" b="0" dirty="0">
                <a:latin typeface="微软雅黑" panose="020B0503020204020204" pitchFamily="34" charset="-122"/>
                <a:ea typeface="微软雅黑" panose="020B0503020204020204" pitchFamily="34" charset="-122"/>
              </a:rPr>
              <a:t>个全新的引脚精确的连接器使得</a:t>
            </a:r>
            <a:r>
              <a:rPr lang="en-US" altLang="zh-CN" sz="2400" b="0" dirty="0">
                <a:latin typeface="微软雅黑" panose="020B0503020204020204" pitchFamily="34" charset="-122"/>
                <a:ea typeface="微软雅黑" panose="020B0503020204020204" pitchFamily="34" charset="-122"/>
              </a:rPr>
              <a:t>NI</a:t>
            </a:r>
            <a:r>
              <a:rPr lang="zh-CN" altLang="zh-CN" sz="2400" b="0" dirty="0">
                <a:latin typeface="微软雅黑" panose="020B0503020204020204" pitchFamily="34" charset="-122"/>
                <a:ea typeface="微软雅黑" panose="020B0503020204020204" pitchFamily="34" charset="-122"/>
              </a:rPr>
              <a:t>硬件的自定制附件设计更加容易，全新的数字信号分析仪等</a:t>
            </a:r>
            <a:r>
              <a:rPr lang="zh-CN" altLang="en-US" sz="2400" b="0" dirty="0">
                <a:latin typeface="微软雅黑" panose="020B0503020204020204" pitchFamily="34" charset="-122"/>
                <a:ea typeface="微软雅黑" panose="020B0503020204020204" pitchFamily="34" charset="-122"/>
              </a:rPr>
              <a:t>。</a:t>
            </a:r>
            <a:endParaRPr lang="en-US" altLang="zh-CN" sz="2400" b="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86474405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597455" y="692696"/>
            <a:ext cx="5472608" cy="584775"/>
          </a:xfrm>
          <a:prstGeom prst="rect">
            <a:avLst/>
          </a:prstGeom>
        </p:spPr>
        <p:txBody>
          <a:bodyPr wrap="square">
            <a:spAutoFit/>
          </a:bodyPr>
          <a:lstStyle/>
          <a:p>
            <a:r>
              <a:rPr lang="en-US" altLang="zh-CN" sz="3200" b="1" dirty="0">
                <a:latin typeface="微软雅黑" panose="020B0503020204020204" pitchFamily="34" charset="-122"/>
                <a:ea typeface="微软雅黑" panose="020B0503020204020204" pitchFamily="34" charset="-122"/>
              </a:rPr>
              <a:t>3</a:t>
            </a:r>
            <a:r>
              <a:rPr lang="zh-CN" altLang="zh-CN" sz="3200" b="1" dirty="0">
                <a:latin typeface="微软雅黑" panose="020B0503020204020204" pitchFamily="34" charset="-122"/>
                <a:ea typeface="微软雅黑" panose="020B0503020204020204" pitchFamily="34" charset="-122"/>
              </a:rPr>
              <a:t>、</a:t>
            </a:r>
            <a:r>
              <a:rPr lang="en-US" altLang="zh-CN" sz="3200" b="1" dirty="0">
                <a:latin typeface="微软雅黑" panose="020B0503020204020204" pitchFamily="34" charset="-122"/>
                <a:ea typeface="微软雅黑" panose="020B0503020204020204" pitchFamily="34" charset="-122"/>
              </a:rPr>
              <a:t>Multisim</a:t>
            </a:r>
            <a:r>
              <a:rPr lang="zh-CN" altLang="en-US" sz="3200" b="1" dirty="0">
                <a:latin typeface="微软雅黑" panose="020B0503020204020204" pitchFamily="34" charset="-122"/>
                <a:ea typeface="微软雅黑" panose="020B0503020204020204" pitchFamily="34" charset="-122"/>
              </a:rPr>
              <a:t>的基本操作</a:t>
            </a:r>
            <a:endParaRPr lang="zh-CN" altLang="zh-CN" sz="3200" b="1" dirty="0">
              <a:latin typeface="微软雅黑" panose="020B0503020204020204" pitchFamily="34" charset="-122"/>
              <a:ea typeface="微软雅黑" panose="020B0503020204020204" pitchFamily="34" charset="-122"/>
            </a:endParaRPr>
          </a:p>
        </p:txBody>
      </p:sp>
      <p:sp>
        <p:nvSpPr>
          <p:cNvPr id="10" name="矩形 9"/>
          <p:cNvSpPr/>
          <p:nvPr/>
        </p:nvSpPr>
        <p:spPr>
          <a:xfrm>
            <a:off x="467544" y="1484784"/>
            <a:ext cx="8532440" cy="2862322"/>
          </a:xfrm>
          <a:prstGeom prst="rect">
            <a:avLst/>
          </a:prstGeom>
        </p:spPr>
        <p:txBody>
          <a:bodyPr wrap="square">
            <a:spAutoFit/>
          </a:bodyPr>
          <a:lstStyle/>
          <a:p>
            <a:pPr>
              <a:lnSpc>
                <a:spcPct val="125000"/>
              </a:lnSpc>
              <a:defRPr/>
            </a:pPr>
            <a:r>
              <a:rPr lang="zh-CN" altLang="en-US" sz="2400" b="1" dirty="0" smtClean="0">
                <a:latin typeface="微软雅黑" panose="020B0503020204020204" pitchFamily="34" charset="-122"/>
                <a:ea typeface="微软雅黑" panose="020B0503020204020204" pitchFamily="34" charset="-122"/>
              </a:rPr>
              <a:t>（</a:t>
            </a:r>
            <a:r>
              <a:rPr lang="en-US" altLang="zh-CN" sz="2400" b="1" dirty="0" smtClean="0">
                <a:latin typeface="微软雅黑" panose="020B0503020204020204" pitchFamily="34" charset="-122"/>
                <a:ea typeface="微软雅黑" panose="020B0503020204020204" pitchFamily="34" charset="-122"/>
              </a:rPr>
              <a:t>1</a:t>
            </a:r>
            <a:r>
              <a:rPr lang="zh-CN" altLang="en-US" sz="2400" b="1" dirty="0" smtClean="0">
                <a:latin typeface="微软雅黑" panose="020B0503020204020204" pitchFamily="34" charset="-122"/>
                <a:ea typeface="微软雅黑" panose="020B0503020204020204" pitchFamily="34" charset="-122"/>
              </a:rPr>
              <a:t>）</a:t>
            </a:r>
            <a:r>
              <a:rPr lang="en-US" altLang="zh-CN" sz="2400" b="1" dirty="0" smtClean="0">
                <a:latin typeface="微软雅黑" panose="020B0503020204020204" pitchFamily="34" charset="-122"/>
                <a:ea typeface="微软雅黑" panose="020B0503020204020204" pitchFamily="34" charset="-122"/>
              </a:rPr>
              <a:t> </a:t>
            </a:r>
            <a:r>
              <a:rPr lang="zh-CN" altLang="en-US" sz="2400" b="1" dirty="0" smtClean="0">
                <a:latin typeface="微软雅黑" panose="020B0503020204020204" pitchFamily="34" charset="-122"/>
                <a:ea typeface="微软雅黑" panose="020B0503020204020204" pitchFamily="34" charset="-122"/>
              </a:rPr>
              <a:t>启动软件</a:t>
            </a:r>
            <a:r>
              <a:rPr lang="zh-CN"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打开或新建电路图</a:t>
            </a:r>
            <a:endParaRPr lang="en-US" altLang="zh-CN" sz="2400" b="1" dirty="0" smtClean="0">
              <a:latin typeface="微软雅黑" panose="020B0503020204020204" pitchFamily="34" charset="-122"/>
              <a:ea typeface="微软雅黑" panose="020B0503020204020204" pitchFamily="34" charset="-122"/>
            </a:endParaRPr>
          </a:p>
          <a:p>
            <a:pPr>
              <a:lnSpc>
                <a:spcPct val="125000"/>
              </a:lnSpc>
              <a:defRPr/>
            </a:pPr>
            <a:r>
              <a:rPr lang="zh-CN" altLang="en-US" sz="2400" b="1" dirty="0" smtClean="0">
                <a:latin typeface="微软雅黑" panose="020B0503020204020204" pitchFamily="34" charset="-122"/>
                <a:ea typeface="微软雅黑" panose="020B0503020204020204" pitchFamily="34" charset="-122"/>
              </a:rPr>
              <a:t>（</a:t>
            </a:r>
            <a:r>
              <a:rPr lang="en-US" altLang="zh-CN" sz="2400" b="1" dirty="0" smtClean="0">
                <a:latin typeface="微软雅黑" panose="020B0503020204020204" pitchFamily="34" charset="-122"/>
                <a:ea typeface="微软雅黑" panose="020B0503020204020204" pitchFamily="34" charset="-122"/>
              </a:rPr>
              <a:t>2</a:t>
            </a:r>
            <a:r>
              <a:rPr lang="zh-CN" altLang="en-US" sz="2400" b="1" dirty="0" smtClean="0">
                <a:latin typeface="微软雅黑" panose="020B0503020204020204" pitchFamily="34" charset="-122"/>
                <a:ea typeface="微软雅黑" panose="020B0503020204020204" pitchFamily="34" charset="-122"/>
              </a:rPr>
              <a:t>）</a:t>
            </a:r>
            <a:r>
              <a:rPr lang="en-US" altLang="zh-CN" sz="2400" b="1" dirty="0" smtClean="0">
                <a:latin typeface="微软雅黑" panose="020B0503020204020204" pitchFamily="34" charset="-122"/>
                <a:ea typeface="微软雅黑" panose="020B0503020204020204" pitchFamily="34" charset="-122"/>
              </a:rPr>
              <a:t> </a:t>
            </a:r>
            <a:r>
              <a:rPr lang="zh-CN" altLang="en-US" sz="2400" b="1" dirty="0" smtClean="0">
                <a:latin typeface="微软雅黑" panose="020B0503020204020204" pitchFamily="34" charset="-122"/>
                <a:ea typeface="微软雅黑" panose="020B0503020204020204" pitchFamily="34" charset="-122"/>
              </a:rPr>
              <a:t>修改或画出电路图：放置元器件</a:t>
            </a:r>
            <a:r>
              <a:rPr lang="zh-CN"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连接电路</a:t>
            </a:r>
            <a:endParaRPr lang="en-US" altLang="zh-CN" sz="2400" b="1" dirty="0" smtClean="0">
              <a:latin typeface="微软雅黑" panose="020B0503020204020204" pitchFamily="34" charset="-122"/>
              <a:ea typeface="微软雅黑" panose="020B0503020204020204" pitchFamily="34" charset="-122"/>
            </a:endParaRPr>
          </a:p>
          <a:p>
            <a:pPr>
              <a:lnSpc>
                <a:spcPct val="125000"/>
              </a:lnSpc>
              <a:defRPr/>
            </a:pPr>
            <a:r>
              <a:rPr lang="zh-CN" altLang="en-US" sz="2400" b="1" dirty="0" smtClean="0">
                <a:latin typeface="微软雅黑" panose="020B0503020204020204" pitchFamily="34" charset="-122"/>
                <a:ea typeface="微软雅黑" panose="020B0503020204020204" pitchFamily="34" charset="-122"/>
              </a:rPr>
              <a:t>（</a:t>
            </a:r>
            <a:r>
              <a:rPr lang="en-US" altLang="zh-CN" sz="2400" b="1" dirty="0" smtClean="0">
                <a:latin typeface="微软雅黑" panose="020B0503020204020204" pitchFamily="34" charset="-122"/>
                <a:ea typeface="微软雅黑" panose="020B0503020204020204" pitchFamily="34" charset="-122"/>
              </a:rPr>
              <a:t>3</a:t>
            </a:r>
            <a:r>
              <a:rPr lang="zh-CN" altLang="en-US" sz="2400" b="1" dirty="0" smtClean="0">
                <a:latin typeface="微软雅黑" panose="020B0503020204020204" pitchFamily="34" charset="-122"/>
                <a:ea typeface="微软雅黑" panose="020B0503020204020204" pitchFamily="34" charset="-122"/>
              </a:rPr>
              <a:t>）</a:t>
            </a:r>
            <a:r>
              <a:rPr lang="en-US" altLang="zh-CN" sz="2400" b="1" dirty="0" smtClean="0">
                <a:latin typeface="微软雅黑" panose="020B0503020204020204" pitchFamily="34" charset="-122"/>
                <a:ea typeface="微软雅黑" panose="020B0503020204020204" pitchFamily="34" charset="-122"/>
              </a:rPr>
              <a:t> </a:t>
            </a:r>
            <a:r>
              <a:rPr lang="zh-CN" altLang="en-US" sz="2400" b="1" dirty="0" smtClean="0">
                <a:latin typeface="微软雅黑" panose="020B0503020204020204" pitchFamily="34" charset="-122"/>
                <a:ea typeface="微软雅黑" panose="020B0503020204020204" pitchFamily="34" charset="-122"/>
              </a:rPr>
              <a:t>仿真或分析电路</a:t>
            </a:r>
            <a:endParaRPr lang="en-US" altLang="zh-CN" sz="2400" b="1" dirty="0" smtClean="0">
              <a:latin typeface="微软雅黑" panose="020B0503020204020204" pitchFamily="34" charset="-122"/>
              <a:ea typeface="微软雅黑" panose="020B0503020204020204" pitchFamily="34" charset="-122"/>
            </a:endParaRPr>
          </a:p>
          <a:p>
            <a:pPr>
              <a:lnSpc>
                <a:spcPct val="125000"/>
              </a:lnSpc>
              <a:defRPr/>
            </a:pPr>
            <a:r>
              <a:rPr lang="en-US" altLang="zh-CN" sz="2400" b="1" dirty="0">
                <a:latin typeface="微软雅黑" panose="020B0503020204020204" pitchFamily="34" charset="-122"/>
                <a:ea typeface="微软雅黑" panose="020B0503020204020204" pitchFamily="34" charset="-122"/>
              </a:rPr>
              <a:t> </a:t>
            </a:r>
            <a:r>
              <a:rPr lang="en-US" altLang="zh-CN" sz="2400" b="1" dirty="0" smtClean="0">
                <a:latin typeface="微软雅黑" panose="020B0503020204020204" pitchFamily="34" charset="-122"/>
                <a:ea typeface="微软雅黑" panose="020B0503020204020204" pitchFamily="34" charset="-122"/>
              </a:rPr>
              <a:t>  ① </a:t>
            </a:r>
            <a:r>
              <a:rPr lang="zh-CN" altLang="en-US" sz="2400" b="1" dirty="0" smtClean="0">
                <a:latin typeface="微软雅黑" panose="020B0503020204020204" pitchFamily="34" charset="-122"/>
                <a:ea typeface="微软雅黑" panose="020B0503020204020204" pitchFamily="34" charset="-122"/>
              </a:rPr>
              <a:t>用虚拟仪器测试：电压、电流、功率、曲线、失真 </a:t>
            </a:r>
            <a:r>
              <a:rPr lang="en-US" altLang="zh-CN" sz="2400" b="1" dirty="0" smtClean="0">
                <a:latin typeface="微软雅黑" panose="020B0503020204020204" pitchFamily="34" charset="-122"/>
                <a:ea typeface="微软雅黑" panose="020B0503020204020204" pitchFamily="34" charset="-122"/>
              </a:rPr>
              <a:t>……</a:t>
            </a:r>
          </a:p>
          <a:p>
            <a:pPr>
              <a:lnSpc>
                <a:spcPct val="125000"/>
              </a:lnSpc>
              <a:defRPr/>
            </a:pPr>
            <a:r>
              <a:rPr lang="en-US" altLang="zh-CN" sz="2400" b="1" dirty="0" smtClean="0">
                <a:latin typeface="微软雅黑" panose="020B0503020204020204" pitchFamily="34" charset="-122"/>
                <a:ea typeface="微软雅黑" panose="020B0503020204020204" pitchFamily="34" charset="-122"/>
              </a:rPr>
              <a:t>   ②</a:t>
            </a:r>
            <a:r>
              <a:rPr lang="zh-CN" altLang="en-US" sz="2400" b="1" dirty="0" smtClean="0">
                <a:latin typeface="微软雅黑" panose="020B0503020204020204" pitchFamily="34" charset="-122"/>
                <a:ea typeface="微软雅黑" panose="020B0503020204020204" pitchFamily="34" charset="-122"/>
              </a:rPr>
              <a:t>或用分析方法分析电路：静态工作点、交流特性、</a:t>
            </a:r>
            <a:r>
              <a:rPr lang="zh-CN" altLang="en-US" sz="2400" b="1" dirty="0">
                <a:latin typeface="微软雅黑" panose="020B0503020204020204" pitchFamily="34" charset="-122"/>
                <a:ea typeface="微软雅黑" panose="020B0503020204020204" pitchFamily="34" charset="-122"/>
              </a:rPr>
              <a:t>传递函数、</a:t>
            </a:r>
            <a:r>
              <a:rPr lang="zh-CN" altLang="en-US" sz="2400" b="1" dirty="0" smtClean="0">
                <a:latin typeface="微软雅黑" panose="020B0503020204020204" pitchFamily="34" charset="-122"/>
                <a:ea typeface="微软雅黑" panose="020B0503020204020204" pitchFamily="34" charset="-122"/>
              </a:rPr>
              <a:t>失真分析、参数扫描、温度扫描 </a:t>
            </a:r>
            <a:r>
              <a:rPr lang="en-US" altLang="zh-CN" sz="2400" b="1" dirty="0" smtClean="0">
                <a:latin typeface="微软雅黑" panose="020B0503020204020204" pitchFamily="34" charset="-122"/>
                <a:ea typeface="微软雅黑" panose="020B0503020204020204" pitchFamily="34" charset="-122"/>
              </a:rPr>
              <a:t>……</a:t>
            </a:r>
            <a:endParaRPr lang="en-US" altLang="zh-CN"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02181428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1187624" y="404664"/>
            <a:ext cx="6336704" cy="5021273"/>
          </a:xfrm>
          <a:prstGeom prst="rect">
            <a:avLst/>
          </a:prstGeom>
        </p:spPr>
      </p:pic>
      <p:sp>
        <p:nvSpPr>
          <p:cNvPr id="3" name="矩形 2"/>
          <p:cNvSpPr/>
          <p:nvPr/>
        </p:nvSpPr>
        <p:spPr>
          <a:xfrm>
            <a:off x="3203848" y="5661248"/>
            <a:ext cx="5688632" cy="461665"/>
          </a:xfrm>
          <a:prstGeom prst="rect">
            <a:avLst/>
          </a:prstGeom>
        </p:spPr>
        <p:txBody>
          <a:bodyPr wrap="square">
            <a:spAutoFit/>
          </a:bodyPr>
          <a:lstStyle/>
          <a:p>
            <a:r>
              <a:rPr lang="en-US" altLang="zh-CN" sz="2400" b="1" dirty="0" smtClean="0">
                <a:latin typeface="微软雅黑" panose="020B0503020204020204" pitchFamily="34" charset="-122"/>
                <a:ea typeface="微软雅黑" panose="020B0503020204020204" pitchFamily="34" charset="-122"/>
              </a:rPr>
              <a:t>Multisim</a:t>
            </a:r>
            <a:r>
              <a:rPr lang="zh-CN" altLang="en-US" sz="2400" b="1" dirty="0" smtClean="0">
                <a:latin typeface="微软雅黑" panose="020B0503020204020204" pitchFamily="34" charset="-122"/>
                <a:ea typeface="微软雅黑" panose="020B0503020204020204" pitchFamily="34" charset="-122"/>
              </a:rPr>
              <a:t>仿真示例电路</a:t>
            </a:r>
            <a:endParaRPr lang="zh-CN" altLang="zh-CN"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138520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3083998" y="6316398"/>
            <a:ext cx="3264035" cy="369332"/>
          </a:xfrm>
          <a:prstGeom prst="rect">
            <a:avLst/>
          </a:prstGeom>
        </p:spPr>
        <p:txBody>
          <a:bodyPr wrap="none">
            <a:spAutoFit/>
          </a:bodyPr>
          <a:lstStyle/>
          <a:p>
            <a:pPr>
              <a:defRPr/>
            </a:pPr>
            <a:r>
              <a:rPr lang="zh-CN" altLang="en-US" dirty="0">
                <a:latin typeface="微软雅黑" panose="020B0503020204020204" pitchFamily="34" charset="-122"/>
                <a:ea typeface="微软雅黑" panose="020B0503020204020204" pitchFamily="34" charset="-122"/>
              </a:rPr>
              <a:t>图</a:t>
            </a:r>
            <a:r>
              <a:rPr lang="en-US" altLang="zh-CN" dirty="0">
                <a:latin typeface="微软雅黑" panose="020B0503020204020204" pitchFamily="34" charset="-122"/>
                <a:ea typeface="微软雅黑" panose="020B0503020204020204" pitchFamily="34" charset="-122"/>
              </a:rPr>
              <a:t>1 Multisim 13.0</a:t>
            </a:r>
            <a:r>
              <a:rPr lang="zh-CN" altLang="en-US" dirty="0">
                <a:latin typeface="微软雅黑" panose="020B0503020204020204" pitchFamily="34" charset="-122"/>
                <a:ea typeface="微软雅黑" panose="020B0503020204020204" pitchFamily="34" charset="-122"/>
              </a:rPr>
              <a:t>的基本界面</a:t>
            </a:r>
            <a:endParaRPr lang="en-US" altLang="zh-CN" dirty="0">
              <a:latin typeface="微软雅黑" panose="020B0503020204020204" pitchFamily="34" charset="-122"/>
              <a:ea typeface="微软雅黑" panose="020B0503020204020204" pitchFamily="34" charset="-122"/>
            </a:endParaRPr>
          </a:p>
        </p:txBody>
      </p:sp>
      <p:sp>
        <p:nvSpPr>
          <p:cNvPr id="10" name="矩形 9"/>
          <p:cNvSpPr/>
          <p:nvPr/>
        </p:nvSpPr>
        <p:spPr>
          <a:xfrm>
            <a:off x="755576" y="797343"/>
            <a:ext cx="7920880" cy="1862048"/>
          </a:xfrm>
          <a:prstGeom prst="rect">
            <a:avLst/>
          </a:prstGeom>
        </p:spPr>
        <p:txBody>
          <a:bodyPr wrap="square">
            <a:spAutoFit/>
          </a:bodyPr>
          <a:lstStyle/>
          <a:p>
            <a:pPr marL="342900" indent="-342900">
              <a:lnSpc>
                <a:spcPct val="125000"/>
              </a:lnSpc>
              <a:buFont typeface="Wingdings" panose="05000000000000000000" pitchFamily="2" charset="2"/>
              <a:buChar char="l"/>
              <a:defRPr/>
            </a:pPr>
            <a:r>
              <a:rPr lang="en-US" altLang="zh-CN" sz="2000" dirty="0">
                <a:latin typeface="微软雅黑" panose="020B0503020204020204" pitchFamily="34" charset="-122"/>
                <a:ea typeface="微软雅黑" panose="020B0503020204020204" pitchFamily="34" charset="-122"/>
              </a:rPr>
              <a:t>Multiuse 13.0</a:t>
            </a:r>
            <a:r>
              <a:rPr lang="zh-CN" altLang="en-US" sz="2000" dirty="0">
                <a:latin typeface="微软雅黑" panose="020B0503020204020204" pitchFamily="34" charset="-122"/>
                <a:ea typeface="微软雅黑" panose="020B0503020204020204" pitchFamily="34" charset="-122"/>
              </a:rPr>
              <a:t>的基本界面</a:t>
            </a:r>
            <a:endParaRPr lang="en-US" altLang="zh-CN" sz="2000" dirty="0">
              <a:latin typeface="微软雅黑" panose="020B0503020204020204" pitchFamily="34" charset="-122"/>
              <a:ea typeface="微软雅黑" panose="020B0503020204020204" pitchFamily="34" charset="-122"/>
            </a:endParaRPr>
          </a:p>
          <a:p>
            <a:pPr>
              <a:lnSpc>
                <a:spcPct val="125000"/>
              </a:lnSpc>
              <a:defRPr/>
            </a:pPr>
            <a:r>
              <a:rPr lang="en-US" altLang="zh-CN" dirty="0">
                <a:latin typeface="微软雅黑" panose="020B0503020204020204" pitchFamily="34" charset="-122"/>
                <a:ea typeface="微软雅黑" panose="020B0503020204020204" pitchFamily="34" charset="-122"/>
              </a:rPr>
              <a:t>     </a:t>
            </a:r>
            <a:r>
              <a:rPr lang="zh-CN" altLang="zh-CN" dirty="0">
                <a:latin typeface="微软雅黑" panose="020B0503020204020204" pitchFamily="34" charset="-122"/>
                <a:ea typeface="微软雅黑" panose="020B0503020204020204" pitchFamily="34" charset="-122"/>
              </a:rPr>
              <a:t>在</a:t>
            </a:r>
            <a:r>
              <a:rPr lang="en-US" altLang="zh-CN" dirty="0">
                <a:latin typeface="微软雅黑" panose="020B0503020204020204" pitchFamily="34" charset="-122"/>
                <a:ea typeface="微软雅黑" panose="020B0503020204020204" pitchFamily="34" charset="-122"/>
              </a:rPr>
              <a:t>Windows</a:t>
            </a:r>
            <a:r>
              <a:rPr lang="zh-CN" altLang="zh-CN" dirty="0">
                <a:latin typeface="微软雅黑" panose="020B0503020204020204" pitchFamily="34" charset="-122"/>
                <a:ea typeface="微软雅黑" panose="020B0503020204020204" pitchFamily="34" charset="-122"/>
              </a:rPr>
              <a:t>窗口的“开始”→“所有程序”→“</a:t>
            </a:r>
            <a:r>
              <a:rPr lang="en-US" altLang="zh-CN" dirty="0">
                <a:latin typeface="微软雅黑" panose="020B0503020204020204" pitchFamily="34" charset="-122"/>
                <a:ea typeface="微软雅黑" panose="020B0503020204020204" pitchFamily="34" charset="-122"/>
              </a:rPr>
              <a:t>National Instruments</a:t>
            </a:r>
            <a:r>
              <a:rPr lang="zh-CN" altLang="zh-CN"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Circuit Design Suite 12.0”下可以找到已经安装的电路仿真软件Multisim 13.0</a:t>
            </a:r>
            <a:r>
              <a:rPr lang="zh-CN" altLang="zh-CN" dirty="0">
                <a:latin typeface="微软雅黑" panose="020B0503020204020204" pitchFamily="34" charset="-122"/>
                <a:ea typeface="微软雅黑" panose="020B0503020204020204" pitchFamily="34" charset="-122"/>
              </a:rPr>
              <a:t>和</a:t>
            </a:r>
            <a:r>
              <a:rPr lang="en-US" altLang="zh-CN" dirty="0">
                <a:latin typeface="微软雅黑" panose="020B0503020204020204" pitchFamily="34" charset="-122"/>
                <a:ea typeface="微软雅黑" panose="020B0503020204020204" pitchFamily="34" charset="-122"/>
              </a:rPr>
              <a:t>PCB</a:t>
            </a:r>
            <a:r>
              <a:rPr lang="zh-CN" altLang="zh-CN" dirty="0">
                <a:latin typeface="微软雅黑" panose="020B0503020204020204" pitchFamily="34" charset="-122"/>
                <a:ea typeface="微软雅黑" panose="020B0503020204020204" pitchFamily="34" charset="-122"/>
              </a:rPr>
              <a:t>板制作软件</a:t>
            </a:r>
            <a:r>
              <a:rPr lang="en-US" altLang="zh-CN" dirty="0" err="1">
                <a:latin typeface="微软雅黑" panose="020B0503020204020204" pitchFamily="34" charset="-122"/>
                <a:ea typeface="微软雅黑" panose="020B0503020204020204" pitchFamily="34" charset="-122"/>
              </a:rPr>
              <a:t>Ultiboard</a:t>
            </a:r>
            <a:r>
              <a:rPr lang="en-US" altLang="zh-CN" dirty="0">
                <a:latin typeface="微软雅黑" panose="020B0503020204020204" pitchFamily="34" charset="-122"/>
                <a:ea typeface="微软雅黑" panose="020B0503020204020204" pitchFamily="34" charset="-122"/>
              </a:rPr>
              <a:t> 13.0</a:t>
            </a:r>
            <a:r>
              <a:rPr lang="zh-CN" altLang="zh-CN" dirty="0">
                <a:latin typeface="微软雅黑" panose="020B0503020204020204" pitchFamily="34" charset="-122"/>
                <a:ea typeface="微软雅黑" panose="020B0503020204020204" pitchFamily="34" charset="-122"/>
              </a:rPr>
              <a:t>。选择</a:t>
            </a:r>
            <a:r>
              <a:rPr lang="en-US" altLang="zh-CN" dirty="0">
                <a:latin typeface="微软雅黑" panose="020B0503020204020204" pitchFamily="34" charset="-122"/>
                <a:ea typeface="微软雅黑" panose="020B0503020204020204" pitchFamily="34" charset="-122"/>
              </a:rPr>
              <a:t>Multisim 13.0</a:t>
            </a:r>
            <a:r>
              <a:rPr lang="zh-CN" altLang="zh-CN" dirty="0">
                <a:latin typeface="微软雅黑" panose="020B0503020204020204" pitchFamily="34" charset="-122"/>
                <a:ea typeface="微软雅黑" panose="020B0503020204020204" pitchFamily="34" charset="-122"/>
              </a:rPr>
              <a:t>打开以后，其基本界面如图</a:t>
            </a:r>
            <a:r>
              <a:rPr lang="en-US" altLang="zh-CN" dirty="0">
                <a:latin typeface="微软雅黑" panose="020B0503020204020204" pitchFamily="34" charset="-122"/>
                <a:ea typeface="微软雅黑" panose="020B0503020204020204" pitchFamily="34" charset="-122"/>
              </a:rPr>
              <a:t>1</a:t>
            </a:r>
            <a:r>
              <a:rPr lang="zh-CN" altLang="zh-CN" dirty="0">
                <a:latin typeface="微软雅黑" panose="020B0503020204020204" pitchFamily="34" charset="-122"/>
                <a:ea typeface="微软雅黑" panose="020B0503020204020204" pitchFamily="34" charset="-122"/>
              </a:rPr>
              <a:t>所示</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2"/>
          <a:stretch>
            <a:fillRect/>
          </a:stretch>
        </p:blipFill>
        <p:spPr>
          <a:xfrm>
            <a:off x="2100350" y="2576124"/>
            <a:ext cx="5231329" cy="3740274"/>
          </a:xfrm>
          <a:prstGeom prst="rect">
            <a:avLst/>
          </a:prstGeom>
        </p:spPr>
      </p:pic>
    </p:spTree>
    <p:extLst>
      <p:ext uri="{BB962C8B-B14F-4D97-AF65-F5344CB8AC3E}">
        <p14:creationId xmlns:p14="http://schemas.microsoft.com/office/powerpoint/2010/main" val="222194903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064968" y="4680407"/>
            <a:ext cx="3102131" cy="369332"/>
          </a:xfrm>
          <a:prstGeom prst="rect">
            <a:avLst/>
          </a:prstGeom>
        </p:spPr>
        <p:txBody>
          <a:bodyPr wrap="none">
            <a:spAutoFit/>
          </a:bodyPr>
          <a:lstStyle/>
          <a:p>
            <a:pPr lvl="0">
              <a:buClr>
                <a:srgbClr val="31B6FD"/>
              </a:buClr>
              <a:defRPr/>
            </a:pPr>
            <a:r>
              <a:rPr lang="zh-CN" altLang="en-US" dirty="0">
                <a:solidFill>
                  <a:prstClr val="black"/>
                </a:solidFill>
                <a:latin typeface="微软雅黑" panose="020B0503020204020204" pitchFamily="34" charset="-122"/>
                <a:ea typeface="微软雅黑" panose="020B0503020204020204" pitchFamily="34" charset="-122"/>
              </a:rPr>
              <a:t>图</a:t>
            </a:r>
            <a:r>
              <a:rPr lang="en-US" altLang="zh-CN" dirty="0">
                <a:solidFill>
                  <a:prstClr val="black"/>
                </a:solidFill>
                <a:latin typeface="微软雅黑" panose="020B0503020204020204" pitchFamily="34" charset="-122"/>
                <a:ea typeface="微软雅黑" panose="020B0503020204020204" pitchFamily="34" charset="-122"/>
              </a:rPr>
              <a:t>2  Multisim 13.0</a:t>
            </a:r>
            <a:r>
              <a:rPr lang="zh-CN" altLang="en-US" dirty="0">
                <a:solidFill>
                  <a:prstClr val="black"/>
                </a:solidFill>
                <a:latin typeface="微软雅黑" panose="020B0503020204020204" pitchFamily="34" charset="-122"/>
                <a:ea typeface="微软雅黑" panose="020B0503020204020204" pitchFamily="34" charset="-122"/>
              </a:rPr>
              <a:t>的菜单栏</a:t>
            </a:r>
            <a:endParaRPr lang="en-US" altLang="zh-CN" sz="2800" dirty="0">
              <a:solidFill>
                <a:prstClr val="black"/>
              </a:solidFill>
              <a:latin typeface="微软雅黑" panose="020B0503020204020204" pitchFamily="34" charset="-122"/>
              <a:ea typeface="微软雅黑" panose="020B0503020204020204" pitchFamily="34" charset="-122"/>
            </a:endParaRPr>
          </a:p>
        </p:txBody>
      </p:sp>
      <p:pic>
        <p:nvPicPr>
          <p:cNvPr id="8" name="图片 7"/>
          <p:cNvPicPr>
            <a:picLocks noChangeAspect="1"/>
          </p:cNvPicPr>
          <p:nvPr/>
        </p:nvPicPr>
        <p:blipFill>
          <a:blip r:embed="rId2"/>
          <a:stretch>
            <a:fillRect/>
          </a:stretch>
        </p:blipFill>
        <p:spPr>
          <a:xfrm>
            <a:off x="1232346" y="3100596"/>
            <a:ext cx="6810375" cy="523875"/>
          </a:xfrm>
          <a:prstGeom prst="rect">
            <a:avLst/>
          </a:prstGeom>
        </p:spPr>
      </p:pic>
      <p:sp>
        <p:nvSpPr>
          <p:cNvPr id="10" name="矩形 9"/>
          <p:cNvSpPr/>
          <p:nvPr/>
        </p:nvSpPr>
        <p:spPr>
          <a:xfrm>
            <a:off x="933368" y="908720"/>
            <a:ext cx="7815096" cy="1515800"/>
          </a:xfrm>
          <a:prstGeom prst="rect">
            <a:avLst/>
          </a:prstGeom>
        </p:spPr>
        <p:txBody>
          <a:bodyPr wrap="square">
            <a:spAutoFit/>
          </a:bodyPr>
          <a:lstStyle/>
          <a:p>
            <a:pPr marL="342900" indent="-342900">
              <a:lnSpc>
                <a:spcPct val="125000"/>
              </a:lnSpc>
              <a:buFont typeface="Wingdings" panose="05000000000000000000" pitchFamily="2" charset="2"/>
              <a:buChar char="l"/>
              <a:defRPr/>
            </a:pPr>
            <a:r>
              <a:rPr lang="en-US" altLang="zh-CN" sz="2000" dirty="0">
                <a:latin typeface="微软雅黑" panose="020B0503020204020204" pitchFamily="34" charset="-122"/>
                <a:ea typeface="微软雅黑" panose="020B0503020204020204" pitchFamily="34" charset="-122"/>
              </a:rPr>
              <a:t>Multisim 13.0</a:t>
            </a:r>
            <a:r>
              <a:rPr lang="zh-CN" altLang="en-US" sz="2000" dirty="0">
                <a:latin typeface="微软雅黑" panose="020B0503020204020204" pitchFamily="34" charset="-122"/>
                <a:ea typeface="微软雅黑" panose="020B0503020204020204" pitchFamily="34" charset="-122"/>
              </a:rPr>
              <a:t>的菜单栏</a:t>
            </a:r>
            <a:endParaRPr lang="en-US" altLang="zh-CN" sz="2000" dirty="0">
              <a:latin typeface="微软雅黑" panose="020B0503020204020204" pitchFamily="34" charset="-122"/>
              <a:ea typeface="微软雅黑" panose="020B0503020204020204" pitchFamily="34" charset="-122"/>
            </a:endParaRPr>
          </a:p>
          <a:p>
            <a:pPr>
              <a:lnSpc>
                <a:spcPct val="125000"/>
              </a:lnSpc>
              <a:buFont typeface="Wingdings 2" panose="05020102010507070707" pitchFamily="18" charset="2"/>
              <a:buNone/>
              <a:defRPr/>
            </a:pPr>
            <a:r>
              <a:rPr lang="en-US" altLang="zh-CN" dirty="0">
                <a:latin typeface="微软雅黑" panose="020B0503020204020204" pitchFamily="34" charset="-122"/>
                <a:ea typeface="微软雅黑" panose="020B0503020204020204" pitchFamily="34" charset="-122"/>
              </a:rPr>
              <a:t>  </a:t>
            </a:r>
          </a:p>
          <a:p>
            <a:pPr>
              <a:lnSpc>
                <a:spcPct val="125000"/>
              </a:lnSpc>
              <a:buFont typeface="Wingdings 2" panose="05020102010507070707" pitchFamily="18" charset="2"/>
              <a:buNone/>
              <a:defRPr/>
            </a:pPr>
            <a:r>
              <a:rPr lang="en-US" altLang="zh-CN" dirty="0">
                <a:latin typeface="微软雅黑" panose="020B0503020204020204" pitchFamily="34" charset="-122"/>
                <a:ea typeface="微软雅黑" panose="020B0503020204020204" pitchFamily="34" charset="-122"/>
              </a:rPr>
              <a:t>     Multisim 13.0</a:t>
            </a:r>
            <a:r>
              <a:rPr lang="zh-CN" altLang="zh-CN" dirty="0">
                <a:latin typeface="微软雅黑" panose="020B0503020204020204" pitchFamily="34" charset="-122"/>
                <a:ea typeface="微软雅黑" panose="020B0503020204020204" pitchFamily="34" charset="-122"/>
              </a:rPr>
              <a:t>的菜单栏如图</a:t>
            </a:r>
            <a:r>
              <a:rPr lang="en-US" altLang="zh-CN" dirty="0">
                <a:latin typeface="微软雅黑" panose="020B0503020204020204" pitchFamily="34" charset="-122"/>
                <a:ea typeface="微软雅黑" panose="020B0503020204020204" pitchFamily="34" charset="-122"/>
              </a:rPr>
              <a:t>2</a:t>
            </a:r>
            <a:r>
              <a:rPr lang="zh-CN" altLang="zh-CN" dirty="0">
                <a:latin typeface="微软雅黑" panose="020B0503020204020204" pitchFamily="34" charset="-122"/>
                <a:ea typeface="微软雅黑" panose="020B0503020204020204" pitchFamily="34" charset="-122"/>
              </a:rPr>
              <a:t>所示</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它的顺序从左到右分别为：文件、编辑、视图、放置、微控制器、仿真、转换、工具、报告、选项、窗口、帮助。                 </a:t>
            </a:r>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9688447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899592" y="836712"/>
            <a:ext cx="7704856" cy="5463034"/>
          </a:xfrm>
          <a:prstGeom prst="rect">
            <a:avLst/>
          </a:prstGeom>
        </p:spPr>
        <p:txBody>
          <a:bodyPr wrap="square">
            <a:spAutoFit/>
          </a:bodyPr>
          <a:lstStyle/>
          <a:p>
            <a:pPr marL="342900" indent="-342900">
              <a:lnSpc>
                <a:spcPct val="125000"/>
              </a:lnSpc>
              <a:buFont typeface="Wingdings" panose="05000000000000000000" pitchFamily="2" charset="2"/>
              <a:buChar char="l"/>
              <a:defRPr/>
            </a:pPr>
            <a:r>
              <a:rPr lang="en-US" altLang="zh-CN" sz="2000" dirty="0">
                <a:latin typeface="微软雅黑" panose="020B0503020204020204" pitchFamily="34" charset="-122"/>
                <a:ea typeface="微软雅黑" panose="020B0503020204020204" pitchFamily="34" charset="-122"/>
              </a:rPr>
              <a:t>Multisim 13.0</a:t>
            </a:r>
            <a:r>
              <a:rPr lang="zh-CN" altLang="en-US" sz="2000" dirty="0">
                <a:latin typeface="微软雅黑" panose="020B0503020204020204" pitchFamily="34" charset="-122"/>
                <a:ea typeface="微软雅黑" panose="020B0503020204020204" pitchFamily="34" charset="-122"/>
              </a:rPr>
              <a:t>的工具栏</a:t>
            </a:r>
            <a:endParaRPr lang="en-US" altLang="zh-CN" sz="2000" dirty="0">
              <a:latin typeface="微软雅黑" panose="020B0503020204020204" pitchFamily="34" charset="-122"/>
              <a:ea typeface="微软雅黑" panose="020B0503020204020204" pitchFamily="34" charset="-122"/>
            </a:endParaRPr>
          </a:p>
          <a:p>
            <a:pPr>
              <a:defRPr/>
            </a:pPr>
            <a:r>
              <a:rPr lang="en-US" altLang="zh-CN" dirty="0">
                <a:latin typeface="微软雅黑" panose="020B0503020204020204" pitchFamily="34" charset="-122"/>
                <a:ea typeface="微软雅黑" panose="020B0503020204020204" pitchFamily="34" charset="-122"/>
              </a:rPr>
              <a:t>    </a:t>
            </a:r>
          </a:p>
          <a:p>
            <a:pPr>
              <a:defRPr/>
            </a:pPr>
            <a:r>
              <a:rPr lang="en-US" altLang="zh-CN" dirty="0">
                <a:latin typeface="微软雅黑" panose="020B0503020204020204" pitchFamily="34" charset="-122"/>
                <a:ea typeface="微软雅黑" panose="020B0503020204020204" pitchFamily="34" charset="-122"/>
              </a:rPr>
              <a:t>    1</a:t>
            </a:r>
            <a:r>
              <a:rPr lang="zh-CN" altLang="en-US" dirty="0">
                <a:latin typeface="微软雅黑" panose="020B0503020204020204" pitchFamily="34" charset="-122"/>
                <a:ea typeface="微软雅黑" panose="020B0503020204020204" pitchFamily="34" charset="-122"/>
              </a:rPr>
              <a:t>）</a:t>
            </a:r>
            <a:r>
              <a:rPr lang="zh-CN" altLang="zh-CN" dirty="0">
                <a:latin typeface="微软雅黑" panose="020B0503020204020204" pitchFamily="34" charset="-122"/>
                <a:ea typeface="微软雅黑" panose="020B0503020204020204" pitchFamily="34" charset="-122"/>
              </a:rPr>
              <a:t>标准工具栏</a:t>
            </a:r>
            <a:endParaRPr lang="en-US" altLang="zh-CN" dirty="0">
              <a:latin typeface="微软雅黑" panose="020B0503020204020204" pitchFamily="34" charset="-122"/>
              <a:ea typeface="微软雅黑" panose="020B0503020204020204" pitchFamily="34" charset="-122"/>
            </a:endParaRPr>
          </a:p>
          <a:p>
            <a:pPr>
              <a:defRPr/>
            </a:pPr>
            <a:endParaRPr lang="en-US" altLang="zh-CN" dirty="0">
              <a:latin typeface="微软雅黑" panose="020B0503020204020204" pitchFamily="34" charset="-122"/>
              <a:ea typeface="微软雅黑" panose="020B0503020204020204" pitchFamily="34" charset="-122"/>
            </a:endParaRPr>
          </a:p>
          <a:p>
            <a:pPr>
              <a:defRPr/>
            </a:pPr>
            <a:r>
              <a:rPr lang="en-US" altLang="zh-CN" dirty="0">
                <a:latin typeface="微软雅黑" panose="020B0503020204020204" pitchFamily="34" charset="-122"/>
                <a:ea typeface="微软雅黑" panose="020B0503020204020204" pitchFamily="34" charset="-122"/>
              </a:rPr>
              <a:t>    </a:t>
            </a:r>
          </a:p>
          <a:p>
            <a:pPr>
              <a:defRPr/>
            </a:pPr>
            <a:r>
              <a:rPr lang="en-US" altLang="zh-CN" dirty="0">
                <a:latin typeface="微软雅黑" panose="020B0503020204020204" pitchFamily="34" charset="-122"/>
                <a:ea typeface="微软雅黑" panose="020B0503020204020204" pitchFamily="34" charset="-122"/>
              </a:rPr>
              <a:t>    2</a:t>
            </a:r>
            <a:r>
              <a:rPr lang="zh-CN" altLang="en-US" dirty="0">
                <a:latin typeface="微软雅黑" panose="020B0503020204020204" pitchFamily="34" charset="-122"/>
                <a:ea typeface="微软雅黑" panose="020B0503020204020204" pitchFamily="34" charset="-122"/>
              </a:rPr>
              <a:t>）</a:t>
            </a:r>
            <a:r>
              <a:rPr lang="zh-CN" altLang="zh-CN" dirty="0">
                <a:latin typeface="微软雅黑" panose="020B0503020204020204" pitchFamily="34" charset="-122"/>
                <a:ea typeface="微软雅黑" panose="020B0503020204020204" pitchFamily="34" charset="-122"/>
              </a:rPr>
              <a:t>视图工具栏</a:t>
            </a:r>
            <a:endParaRPr lang="en-US" altLang="zh-CN" dirty="0">
              <a:latin typeface="微软雅黑" panose="020B0503020204020204" pitchFamily="34" charset="-122"/>
              <a:ea typeface="微软雅黑" panose="020B0503020204020204" pitchFamily="34" charset="-122"/>
            </a:endParaRPr>
          </a:p>
          <a:p>
            <a:pPr>
              <a:defRPr/>
            </a:pPr>
            <a:endParaRPr lang="en-US" altLang="zh-CN" dirty="0">
              <a:latin typeface="微软雅黑" panose="020B0503020204020204" pitchFamily="34" charset="-122"/>
              <a:ea typeface="微软雅黑" panose="020B0503020204020204" pitchFamily="34" charset="-122"/>
            </a:endParaRPr>
          </a:p>
          <a:p>
            <a:pPr>
              <a:defRPr/>
            </a:pPr>
            <a:endParaRPr lang="en-US" altLang="zh-CN" dirty="0">
              <a:latin typeface="微软雅黑" panose="020B0503020204020204" pitchFamily="34" charset="-122"/>
              <a:ea typeface="微软雅黑" panose="020B0503020204020204" pitchFamily="34" charset="-122"/>
            </a:endParaRPr>
          </a:p>
          <a:p>
            <a:pPr>
              <a:defRPr/>
            </a:pPr>
            <a:r>
              <a:rPr lang="en-US" altLang="zh-CN" dirty="0">
                <a:latin typeface="微软雅黑" panose="020B0503020204020204" pitchFamily="34" charset="-122"/>
                <a:ea typeface="微软雅黑" panose="020B0503020204020204" pitchFamily="34" charset="-122"/>
              </a:rPr>
              <a:t>    3</a:t>
            </a:r>
            <a:r>
              <a:rPr lang="zh-CN" altLang="en-US" dirty="0">
                <a:latin typeface="微软雅黑" panose="020B0503020204020204" pitchFamily="34" charset="-122"/>
                <a:ea typeface="微软雅黑" panose="020B0503020204020204" pitchFamily="34" charset="-122"/>
              </a:rPr>
              <a:t>）</a:t>
            </a:r>
            <a:r>
              <a:rPr lang="zh-CN" altLang="zh-CN" dirty="0">
                <a:latin typeface="微软雅黑" panose="020B0503020204020204" pitchFamily="34" charset="-122"/>
                <a:ea typeface="微软雅黑" panose="020B0503020204020204" pitchFamily="34" charset="-122"/>
              </a:rPr>
              <a:t>主工具栏</a:t>
            </a:r>
            <a:endParaRPr lang="en-US" altLang="zh-CN" dirty="0">
              <a:latin typeface="微软雅黑" panose="020B0503020204020204" pitchFamily="34" charset="-122"/>
              <a:ea typeface="微软雅黑" panose="020B0503020204020204" pitchFamily="34" charset="-122"/>
            </a:endParaRPr>
          </a:p>
          <a:p>
            <a:pPr>
              <a:defRPr/>
            </a:pPr>
            <a:endParaRPr lang="en-US" altLang="zh-CN" dirty="0">
              <a:latin typeface="微软雅黑" panose="020B0503020204020204" pitchFamily="34" charset="-122"/>
              <a:ea typeface="微软雅黑" panose="020B0503020204020204" pitchFamily="34" charset="-122"/>
            </a:endParaRPr>
          </a:p>
          <a:p>
            <a:pPr>
              <a:defRPr/>
            </a:pPr>
            <a:endParaRPr lang="en-US" altLang="zh-CN" dirty="0">
              <a:latin typeface="微软雅黑" panose="020B0503020204020204" pitchFamily="34" charset="-122"/>
              <a:ea typeface="微软雅黑" panose="020B0503020204020204" pitchFamily="34" charset="-122"/>
            </a:endParaRPr>
          </a:p>
          <a:p>
            <a:pPr>
              <a:defRPr/>
            </a:pPr>
            <a:r>
              <a:rPr lang="en-US" altLang="zh-CN" dirty="0">
                <a:latin typeface="微软雅黑" panose="020B0503020204020204" pitchFamily="34" charset="-122"/>
                <a:ea typeface="微软雅黑" panose="020B0503020204020204" pitchFamily="34" charset="-122"/>
              </a:rPr>
              <a:t>    4</a:t>
            </a:r>
            <a:r>
              <a:rPr lang="zh-CN" altLang="en-US" dirty="0">
                <a:latin typeface="微软雅黑" panose="020B0503020204020204" pitchFamily="34" charset="-122"/>
                <a:ea typeface="微软雅黑" panose="020B0503020204020204" pitchFamily="34" charset="-122"/>
              </a:rPr>
              <a:t>）</a:t>
            </a:r>
            <a:r>
              <a:rPr lang="zh-CN" altLang="zh-CN" dirty="0">
                <a:latin typeface="微软雅黑" panose="020B0503020204020204" pitchFamily="34" charset="-122"/>
                <a:ea typeface="微软雅黑" panose="020B0503020204020204" pitchFamily="34" charset="-122"/>
              </a:rPr>
              <a:t>仿真开关</a:t>
            </a:r>
            <a:endParaRPr lang="en-US" altLang="zh-CN" dirty="0">
              <a:latin typeface="微软雅黑" panose="020B0503020204020204" pitchFamily="34" charset="-122"/>
              <a:ea typeface="微软雅黑" panose="020B0503020204020204" pitchFamily="34" charset="-122"/>
            </a:endParaRPr>
          </a:p>
          <a:p>
            <a:pPr>
              <a:defRPr/>
            </a:pPr>
            <a:endParaRPr lang="en-US" altLang="zh-CN" dirty="0">
              <a:latin typeface="微软雅黑" panose="020B0503020204020204" pitchFamily="34" charset="-122"/>
              <a:ea typeface="微软雅黑" panose="020B0503020204020204" pitchFamily="34" charset="-122"/>
            </a:endParaRPr>
          </a:p>
          <a:p>
            <a:pPr>
              <a:defRPr/>
            </a:pPr>
            <a:endParaRPr lang="zh-CN" altLang="zh-CN" dirty="0">
              <a:latin typeface="微软雅黑" panose="020B0503020204020204" pitchFamily="34" charset="-122"/>
              <a:ea typeface="微软雅黑" panose="020B0503020204020204" pitchFamily="34" charset="-122"/>
            </a:endParaRPr>
          </a:p>
          <a:p>
            <a:pPr>
              <a:defRPr/>
            </a:pPr>
            <a:r>
              <a:rPr lang="en-US" altLang="zh-CN" dirty="0">
                <a:latin typeface="微软雅黑" panose="020B0503020204020204" pitchFamily="34" charset="-122"/>
                <a:ea typeface="微软雅黑" panose="020B0503020204020204" pitchFamily="34" charset="-122"/>
              </a:rPr>
              <a:t>    5</a:t>
            </a:r>
            <a:r>
              <a:rPr lang="zh-CN" altLang="en-US" dirty="0">
                <a:latin typeface="微软雅黑" panose="020B0503020204020204" pitchFamily="34" charset="-122"/>
                <a:ea typeface="微软雅黑" panose="020B0503020204020204" pitchFamily="34" charset="-122"/>
              </a:rPr>
              <a:t>）</a:t>
            </a:r>
            <a:r>
              <a:rPr lang="zh-CN" altLang="zh-CN" dirty="0">
                <a:latin typeface="微软雅黑" panose="020B0503020204020204" pitchFamily="34" charset="-122"/>
                <a:ea typeface="微软雅黑" panose="020B0503020204020204" pitchFamily="34" charset="-122"/>
              </a:rPr>
              <a:t>元件工具栏</a:t>
            </a:r>
            <a:endParaRPr lang="en-US" altLang="zh-CN" dirty="0">
              <a:latin typeface="微软雅黑" panose="020B0503020204020204" pitchFamily="34" charset="-122"/>
              <a:ea typeface="微软雅黑" panose="020B0503020204020204" pitchFamily="34" charset="-122"/>
            </a:endParaRPr>
          </a:p>
          <a:p>
            <a:pPr>
              <a:defRPr/>
            </a:pPr>
            <a:endParaRPr lang="en-US" altLang="zh-CN" dirty="0">
              <a:latin typeface="微软雅黑" panose="020B0503020204020204" pitchFamily="34" charset="-122"/>
              <a:ea typeface="微软雅黑" panose="020B0503020204020204" pitchFamily="34" charset="-122"/>
            </a:endParaRPr>
          </a:p>
          <a:p>
            <a:pPr>
              <a:defRPr/>
            </a:pPr>
            <a:endParaRPr lang="en-US" altLang="zh-CN" dirty="0">
              <a:latin typeface="微软雅黑" panose="020B0503020204020204" pitchFamily="34" charset="-122"/>
              <a:ea typeface="微软雅黑" panose="020B0503020204020204" pitchFamily="34" charset="-122"/>
            </a:endParaRPr>
          </a:p>
          <a:p>
            <a:pPr>
              <a:defRPr/>
            </a:pPr>
            <a:r>
              <a:rPr lang="en-US" altLang="zh-CN" dirty="0">
                <a:latin typeface="微软雅黑" panose="020B0503020204020204" pitchFamily="34" charset="-122"/>
                <a:ea typeface="微软雅黑" panose="020B0503020204020204" pitchFamily="34" charset="-122"/>
              </a:rPr>
              <a:t>    6</a:t>
            </a:r>
            <a:r>
              <a:rPr lang="zh-CN" altLang="en-US" dirty="0">
                <a:latin typeface="微软雅黑" panose="020B0503020204020204" pitchFamily="34" charset="-122"/>
                <a:ea typeface="微软雅黑" panose="020B0503020204020204" pitchFamily="34" charset="-122"/>
              </a:rPr>
              <a:t>）</a:t>
            </a:r>
            <a:r>
              <a:rPr lang="zh-CN" altLang="zh-CN" dirty="0">
                <a:latin typeface="微软雅黑" panose="020B0503020204020204" pitchFamily="34" charset="-122"/>
                <a:ea typeface="微软雅黑" panose="020B0503020204020204" pitchFamily="34" charset="-122"/>
              </a:rPr>
              <a:t>仪器工具栏</a:t>
            </a:r>
            <a:endParaRPr lang="en-US" altLang="zh-CN" dirty="0">
              <a:latin typeface="微软雅黑" panose="020B0503020204020204" pitchFamily="34" charset="-122"/>
              <a:ea typeface="微软雅黑" panose="020B0503020204020204" pitchFamily="34" charset="-122"/>
            </a:endParaRPr>
          </a:p>
          <a:p>
            <a:pPr>
              <a:defRPr/>
            </a:pPr>
            <a:endParaRPr lang="zh-CN" altLang="zh-CN" dirty="0">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2"/>
          <a:stretch>
            <a:fillRect/>
          </a:stretch>
        </p:blipFill>
        <p:spPr>
          <a:xfrm>
            <a:off x="2915816" y="1562060"/>
            <a:ext cx="2667000" cy="323850"/>
          </a:xfrm>
          <a:prstGeom prst="rect">
            <a:avLst/>
          </a:prstGeom>
        </p:spPr>
      </p:pic>
      <p:pic>
        <p:nvPicPr>
          <p:cNvPr id="6" name="图片 5"/>
          <p:cNvPicPr>
            <a:picLocks noChangeAspect="1"/>
          </p:cNvPicPr>
          <p:nvPr/>
        </p:nvPicPr>
        <p:blipFill>
          <a:blip r:embed="rId3"/>
          <a:stretch>
            <a:fillRect/>
          </a:stretch>
        </p:blipFill>
        <p:spPr>
          <a:xfrm>
            <a:off x="2915816" y="2372628"/>
            <a:ext cx="1266825" cy="285750"/>
          </a:xfrm>
          <a:prstGeom prst="rect">
            <a:avLst/>
          </a:prstGeom>
        </p:spPr>
      </p:pic>
      <p:pic>
        <p:nvPicPr>
          <p:cNvPr id="7" name="图片 6"/>
          <p:cNvPicPr>
            <a:picLocks noChangeAspect="1"/>
          </p:cNvPicPr>
          <p:nvPr/>
        </p:nvPicPr>
        <p:blipFill>
          <a:blip r:embed="rId4"/>
          <a:stretch>
            <a:fillRect/>
          </a:stretch>
        </p:blipFill>
        <p:spPr>
          <a:xfrm>
            <a:off x="2923621" y="3145096"/>
            <a:ext cx="4743450" cy="342900"/>
          </a:xfrm>
          <a:prstGeom prst="rect">
            <a:avLst/>
          </a:prstGeom>
        </p:spPr>
      </p:pic>
      <p:pic>
        <p:nvPicPr>
          <p:cNvPr id="8" name="图片 7"/>
          <p:cNvPicPr>
            <a:picLocks noChangeAspect="1"/>
          </p:cNvPicPr>
          <p:nvPr/>
        </p:nvPicPr>
        <p:blipFill>
          <a:blip r:embed="rId5"/>
          <a:stretch>
            <a:fillRect/>
          </a:stretch>
        </p:blipFill>
        <p:spPr>
          <a:xfrm>
            <a:off x="2903966" y="3968571"/>
            <a:ext cx="895350" cy="323850"/>
          </a:xfrm>
          <a:prstGeom prst="rect">
            <a:avLst/>
          </a:prstGeom>
        </p:spPr>
      </p:pic>
      <p:pic>
        <p:nvPicPr>
          <p:cNvPr id="9" name="图片 8"/>
          <p:cNvPicPr>
            <a:picLocks noChangeAspect="1"/>
          </p:cNvPicPr>
          <p:nvPr/>
        </p:nvPicPr>
        <p:blipFill>
          <a:blip r:embed="rId6"/>
          <a:stretch>
            <a:fillRect/>
          </a:stretch>
        </p:blipFill>
        <p:spPr>
          <a:xfrm>
            <a:off x="2903966" y="4814362"/>
            <a:ext cx="4219575" cy="304800"/>
          </a:xfrm>
          <a:prstGeom prst="rect">
            <a:avLst/>
          </a:prstGeom>
        </p:spPr>
      </p:pic>
      <p:pic>
        <p:nvPicPr>
          <p:cNvPr id="10" name="图片 9"/>
          <p:cNvPicPr>
            <a:picLocks noChangeAspect="1"/>
          </p:cNvPicPr>
          <p:nvPr/>
        </p:nvPicPr>
        <p:blipFill>
          <a:blip r:embed="rId7"/>
          <a:stretch>
            <a:fillRect/>
          </a:stretch>
        </p:blipFill>
        <p:spPr>
          <a:xfrm>
            <a:off x="2923621" y="5641103"/>
            <a:ext cx="5305425" cy="361950"/>
          </a:xfrm>
          <a:prstGeom prst="rect">
            <a:avLst/>
          </a:prstGeom>
        </p:spPr>
      </p:pic>
    </p:spTree>
    <p:extLst>
      <p:ext uri="{BB962C8B-B14F-4D97-AF65-F5344CB8AC3E}">
        <p14:creationId xmlns:p14="http://schemas.microsoft.com/office/powerpoint/2010/main" val="54753758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899592" y="764704"/>
            <a:ext cx="7776864" cy="400110"/>
          </a:xfrm>
          <a:prstGeom prst="rect">
            <a:avLst/>
          </a:prstGeom>
        </p:spPr>
        <p:txBody>
          <a:bodyPr wrap="square">
            <a:spAutoFit/>
          </a:bodyPr>
          <a:lstStyle/>
          <a:p>
            <a:pPr marL="285750" indent="-285750">
              <a:buFont typeface="Wingdings" panose="05000000000000000000" pitchFamily="2" charset="2"/>
              <a:buChar char="l"/>
            </a:pPr>
            <a:r>
              <a:rPr lang="en-US" altLang="zh-CN" dirty="0"/>
              <a:t> </a:t>
            </a:r>
            <a:r>
              <a:rPr lang="en-US" altLang="zh-CN" sz="2000" dirty="0">
                <a:latin typeface="微软雅黑" panose="020B0503020204020204" pitchFamily="34" charset="-122"/>
                <a:ea typeface="微软雅黑" panose="020B0503020204020204" pitchFamily="34" charset="-122"/>
              </a:rPr>
              <a:t>Multisim 13.0</a:t>
            </a:r>
            <a:r>
              <a:rPr lang="zh-CN" altLang="en-US" sz="2000" dirty="0">
                <a:latin typeface="微软雅黑" panose="020B0503020204020204" pitchFamily="34" charset="-122"/>
                <a:ea typeface="微软雅黑" panose="020B0503020204020204" pitchFamily="34" charset="-122"/>
              </a:rPr>
              <a:t>电路建立过程</a:t>
            </a:r>
            <a:r>
              <a:rPr lang="en-US" altLang="zh-CN" sz="2000" dirty="0">
                <a:latin typeface="微软雅黑" panose="020B0503020204020204" pitchFamily="34" charset="-122"/>
                <a:ea typeface="微软雅黑" panose="020B0503020204020204" pitchFamily="34" charset="-122"/>
              </a:rPr>
              <a:t>(</a:t>
            </a:r>
            <a:r>
              <a:rPr lang="zh-CN" altLang="en-US" sz="2000" dirty="0">
                <a:solidFill>
                  <a:sysClr val="windowText" lastClr="000000"/>
                </a:solidFill>
                <a:latin typeface="微软雅黑" panose="020B0503020204020204" pitchFamily="34" charset="-122"/>
                <a:ea typeface="微软雅黑" panose="020B0503020204020204" pitchFamily="34" charset="-122"/>
              </a:rPr>
              <a:t>实例：</a:t>
            </a:r>
            <a:r>
              <a:rPr lang="zh-CN" altLang="zh-CN" sz="2000" dirty="0">
                <a:solidFill>
                  <a:sysClr val="windowText" lastClr="000000"/>
                </a:solidFill>
                <a:latin typeface="微软雅黑" panose="020B0503020204020204" pitchFamily="34" charset="-122"/>
                <a:ea typeface="微软雅黑" panose="020B0503020204020204" pitchFamily="34" charset="-122"/>
              </a:rPr>
              <a:t>电阻串联分压电路</a:t>
            </a:r>
            <a:r>
              <a:rPr lang="en-US" altLang="zh-CN" sz="2000" dirty="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p:txBody>
      </p:sp>
      <p:sp>
        <p:nvSpPr>
          <p:cNvPr id="6" name="内容占位符 2"/>
          <p:cNvSpPr txBox="1">
            <a:spLocks/>
          </p:cNvSpPr>
          <p:nvPr/>
        </p:nvSpPr>
        <p:spPr bwMode="auto">
          <a:xfrm>
            <a:off x="1115616" y="1124744"/>
            <a:ext cx="7776864" cy="5733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600"/>
              </a:spcBef>
              <a:spcAft>
                <a:spcPct val="0"/>
              </a:spcAft>
              <a:buClr>
                <a:schemeClr val="tx2"/>
              </a:buClr>
              <a:buSzPct val="73000"/>
              <a:buFont typeface="Wingdings 2" panose="05020102010507070707" pitchFamily="18" charset="2"/>
              <a:buChar char=""/>
              <a:defRPr sz="2600" kern="1200">
                <a:solidFill>
                  <a:schemeClr val="tx1"/>
                </a:solidFill>
                <a:latin typeface="+mn-lt"/>
                <a:ea typeface="+mn-ea"/>
                <a:cs typeface="+mn-cs"/>
              </a:defRPr>
            </a:lvl1pPr>
            <a:lvl2pPr marL="520700" indent="-228600" algn="l" rtl="0" eaLnBrk="0" fontAlgn="base" hangingPunct="0">
              <a:spcBef>
                <a:spcPts val="500"/>
              </a:spcBef>
              <a:spcAft>
                <a:spcPct val="0"/>
              </a:spcAft>
              <a:buClr>
                <a:srgbClr val="F9B639"/>
              </a:buClr>
              <a:buSzPct val="80000"/>
              <a:buFont typeface="Wingdings 2" panose="05020102010507070707" pitchFamily="18" charset="2"/>
              <a:buChar char=""/>
              <a:defRPr sz="2300" kern="1200">
                <a:solidFill>
                  <a:srgbClr val="6C6C6C"/>
                </a:solidFill>
                <a:latin typeface="+mn-lt"/>
                <a:ea typeface="+mn-ea"/>
                <a:cs typeface="+mn-cs"/>
              </a:defRPr>
            </a:lvl2pPr>
            <a:lvl3pPr marL="758825" indent="-228600" algn="l" rtl="0" eaLnBrk="0" fontAlgn="base" hangingPunct="0">
              <a:spcBef>
                <a:spcPts val="400"/>
              </a:spcBef>
              <a:spcAft>
                <a:spcPct val="0"/>
              </a:spcAft>
              <a:buClr>
                <a:srgbClr val="F9B639"/>
              </a:buClr>
              <a:buSzPct val="60000"/>
              <a:buFont typeface="Wingdings" panose="05000000000000000000" pitchFamily="2" charset="2"/>
              <a:buChar char=""/>
              <a:defRPr sz="2000" kern="1200">
                <a:solidFill>
                  <a:schemeClr val="tx1"/>
                </a:solidFill>
                <a:latin typeface="+mn-lt"/>
                <a:ea typeface="+mn-ea"/>
                <a:cs typeface="+mn-cs"/>
              </a:defRPr>
            </a:lvl3pPr>
            <a:lvl4pPr marL="1004888" indent="-228600" algn="l" rtl="0" eaLnBrk="0" fontAlgn="base" hangingPunct="0">
              <a:spcBef>
                <a:spcPct val="20000"/>
              </a:spcBef>
              <a:spcAft>
                <a:spcPct val="0"/>
              </a:spcAft>
              <a:buClr>
                <a:srgbClr val="F9B639"/>
              </a:buClr>
              <a:buSzPct val="80000"/>
              <a:buFont typeface="Wingdings 2" panose="05020102010507070707" pitchFamily="18" charset="2"/>
              <a:buChar char=""/>
              <a:defRPr sz="2000" kern="1200">
                <a:solidFill>
                  <a:srgbClr val="6C6C6C"/>
                </a:solidFill>
                <a:latin typeface="+mn-lt"/>
                <a:ea typeface="+mn-ea"/>
                <a:cs typeface="+mn-cs"/>
              </a:defRPr>
            </a:lvl4pPr>
            <a:lvl5pPr marL="1279525" indent="-228600" algn="l" rtl="0" eaLnBrk="0" fontAlgn="base" hangingPunct="0">
              <a:spcBef>
                <a:spcPts val="400"/>
              </a:spcBef>
              <a:spcAft>
                <a:spcPct val="0"/>
              </a:spcAft>
              <a:buClr>
                <a:srgbClr val="F9B639"/>
              </a:buClr>
              <a:buSzPct val="70000"/>
              <a:buFont typeface="Wingdings" panose="05000000000000000000" pitchFamily="2" charset="2"/>
              <a:buChar char=""/>
              <a:defRPr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marR="0" lvl="0" indent="0" algn="l" defTabSz="914400" rtl="0" eaLnBrk="1" fontAlgn="base" latinLnBrk="0" hangingPunct="1">
              <a:lnSpc>
                <a:spcPct val="100000"/>
              </a:lnSpc>
              <a:spcBef>
                <a:spcPts val="600"/>
              </a:spcBef>
              <a:spcAft>
                <a:spcPct val="0"/>
              </a:spcAft>
              <a:buClr>
                <a:srgbClr val="B13F9A"/>
              </a:buClr>
              <a:buSzPct val="73000"/>
              <a:buNone/>
              <a:tabLst/>
              <a:defRPr/>
            </a:pPr>
            <a:r>
              <a:rPr kumimoji="0" lang="en-US" altLang="zh-CN" sz="18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1</a:t>
            </a:r>
            <a:r>
              <a:rPr kumimoji="0" lang="zh-CN" altLang="en-US" sz="18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a:t>
            </a:r>
            <a:r>
              <a:rPr kumimoji="0" lang="zh-CN" altLang="zh-CN" sz="1800" b="1"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选取元件。</a:t>
            </a:r>
          </a:p>
          <a:p>
            <a:pPr marL="0" marR="0" lvl="0" indent="0" algn="just"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r>
              <a:rPr kumimoji="0" lang="en-US" altLang="zh-CN" sz="18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     </a:t>
            </a:r>
            <a:r>
              <a:rPr kumimoji="0" lang="zh-CN" altLang="zh-CN" sz="18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一个</a:t>
            </a:r>
            <a:r>
              <a:rPr kumimoji="0" lang="en-US" altLang="zh-CN" sz="18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12V</a:t>
            </a:r>
            <a:r>
              <a:rPr kumimoji="0" lang="zh-CN" altLang="zh-CN" sz="18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电源，一个参考接地点，以及一个</a:t>
            </a:r>
            <a:r>
              <a:rPr kumimoji="0" lang="en-US" altLang="zh-CN" sz="18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20kΩ</a:t>
            </a:r>
            <a:r>
              <a:rPr kumimoji="0" lang="zh-CN" altLang="zh-CN" sz="18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电阻和一个</a:t>
            </a:r>
            <a:r>
              <a:rPr kumimoji="0" lang="en-US" altLang="zh-CN" sz="18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30kΩ</a:t>
            </a:r>
            <a:r>
              <a:rPr kumimoji="0" lang="zh-CN" altLang="zh-CN" sz="18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电阻。为建立该实验仿真电路，单击菜单栏中的</a:t>
            </a:r>
            <a:r>
              <a:rPr kumimoji="0" lang="en-US" altLang="zh-CN" sz="18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Place\Component</a:t>
            </a:r>
            <a:r>
              <a:rPr kumimoji="0" lang="zh-CN" altLang="zh-CN" sz="18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，弹出如图</a:t>
            </a:r>
            <a:r>
              <a:rPr kumimoji="0" lang="en-US" altLang="zh-CN" sz="18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3</a:t>
            </a:r>
            <a:r>
              <a:rPr kumimoji="0" lang="zh-CN" altLang="zh-CN" sz="18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所示的对话框。</a:t>
            </a:r>
            <a:endParaRPr kumimoji="0" lang="en-US" altLang="zh-CN" sz="18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endParaRPr>
          </a:p>
          <a:p>
            <a:pPr marL="0" marR="0" lvl="0" indent="0" algn="just"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20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just"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lang="en-US" altLang="zh-CN" sz="2000" dirty="0">
              <a:solidFill>
                <a:sysClr val="windowText" lastClr="000000"/>
              </a:solidFill>
              <a:latin typeface="Trebuchet MS"/>
              <a:ea typeface="华文新魏" panose="02010800040101010101" pitchFamily="2" charset="-122"/>
            </a:endParaRPr>
          </a:p>
          <a:p>
            <a:pPr marL="0" marR="0" lvl="0" indent="0" algn="just"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20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l"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r>
              <a:rPr kumimoji="0" lang="en-US" altLang="zh-CN" sz="14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rPr>
              <a:t>                                  </a:t>
            </a:r>
          </a:p>
          <a:p>
            <a:pPr marL="0" marR="0" lvl="0" indent="0" algn="ctr"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14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ctr"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14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ctr"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14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ctr"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14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ctr"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14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ctr"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14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ctr"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14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ctr"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lang="en-US" altLang="zh-CN" sz="1400" dirty="0">
              <a:solidFill>
                <a:sysClr val="windowText" lastClr="000000"/>
              </a:solidFill>
              <a:latin typeface="Trebuchet MS"/>
              <a:ea typeface="华文新魏" panose="02010800040101010101" pitchFamily="2" charset="-122"/>
            </a:endParaRPr>
          </a:p>
          <a:p>
            <a:pPr marL="0" marR="0" lvl="0" indent="0" algn="ctr"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14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ctr"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r>
              <a:rPr kumimoji="0" lang="zh-CN" altLang="zh-CN" sz="18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图</a:t>
            </a:r>
            <a:r>
              <a:rPr kumimoji="0" lang="en-US" altLang="zh-CN" sz="18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3  </a:t>
            </a:r>
            <a:r>
              <a:rPr kumimoji="0" lang="zh-CN" altLang="zh-CN" sz="18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放置元器件对话框 </a:t>
            </a:r>
            <a:endParaRPr kumimoji="0" lang="en-US" altLang="zh-CN" sz="18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endParaRPr>
          </a:p>
          <a:p>
            <a:pPr marL="0" marR="0" lvl="0" indent="0" algn="l"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14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l"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14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l"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20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l"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r>
              <a:rPr kumimoji="0" lang="en-US" altLang="zh-CN" sz="20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rPr>
              <a:t> </a:t>
            </a:r>
          </a:p>
          <a:p>
            <a:pPr marL="0" marR="0" lvl="0" indent="0" algn="l"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r>
              <a:rPr kumimoji="0" lang="en-US" altLang="zh-CN" sz="20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rPr>
              <a:t>        </a:t>
            </a:r>
            <a:endParaRPr kumimoji="0" lang="zh-CN" altLang="zh-CN" sz="20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l" defTabSz="914400" rtl="0" eaLnBrk="1" fontAlgn="base" latinLnBrk="0" hangingPunct="1">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1400" b="0" i="0" u="none" strike="noStrike" kern="1200" cap="none" spc="0" normalizeH="0" baseline="0" noProof="0" dirty="0">
              <a:ln>
                <a:noFill/>
              </a:ln>
              <a:solidFill>
                <a:sysClr val="windowText" lastClr="000000"/>
              </a:solidFill>
              <a:effectLst/>
              <a:uLnTx/>
              <a:uFillTx/>
              <a:latin typeface="新宋体" pitchFamily="49" charset="-122"/>
              <a:ea typeface="新宋体" pitchFamily="49" charset="-122"/>
              <a:cs typeface="+mn-cs"/>
            </a:endParaRPr>
          </a:p>
          <a:p>
            <a:pPr marL="0" marR="0" lvl="0" indent="0" algn="l" defTabSz="914400" rtl="0" eaLnBrk="1" fontAlgn="base" latinLnBrk="0" hangingPunct="1">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2000" b="0" i="0" u="none" strike="noStrike" kern="1200" cap="none" spc="0" normalizeH="0" baseline="0" noProof="0" dirty="0">
              <a:ln>
                <a:noFill/>
              </a:ln>
              <a:solidFill>
                <a:sysClr val="windowText" lastClr="000000"/>
              </a:solidFill>
              <a:effectLst/>
              <a:uLnTx/>
              <a:uFillTx/>
              <a:latin typeface="新宋体" pitchFamily="49" charset="-122"/>
              <a:ea typeface="新宋体" pitchFamily="49" charset="-122"/>
              <a:cs typeface="+mn-cs"/>
            </a:endParaRPr>
          </a:p>
          <a:p>
            <a:pPr marL="0" marR="0" lvl="0" indent="0" algn="l" defTabSz="914400" rtl="0" eaLnBrk="1" fontAlgn="base" latinLnBrk="0" hangingPunct="1">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2000" b="0" i="0" u="none" strike="noStrike" kern="1200" cap="none" spc="0" normalizeH="0" baseline="0" noProof="0" dirty="0">
              <a:ln>
                <a:noFill/>
              </a:ln>
              <a:solidFill>
                <a:sysClr val="windowText" lastClr="000000"/>
              </a:solidFill>
              <a:effectLst/>
              <a:uLnTx/>
              <a:uFillTx/>
              <a:latin typeface="新宋体" pitchFamily="49" charset="-122"/>
              <a:ea typeface="新宋体" pitchFamily="49" charset="-122"/>
              <a:cs typeface="+mn-cs"/>
            </a:endParaRPr>
          </a:p>
          <a:p>
            <a:pPr marL="0" marR="0" lvl="0" indent="0" algn="l" defTabSz="914400" rtl="0" eaLnBrk="1" fontAlgn="base" latinLnBrk="0" hangingPunct="1">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2000" b="0" i="0" u="none" strike="noStrike" kern="1200" cap="none" spc="0" normalizeH="0" baseline="0" noProof="0" dirty="0">
              <a:ln>
                <a:noFill/>
              </a:ln>
              <a:solidFill>
                <a:sysClr val="windowText" lastClr="000000"/>
              </a:solidFill>
              <a:effectLst/>
              <a:uLnTx/>
              <a:uFillTx/>
              <a:latin typeface="新宋体" pitchFamily="49" charset="-122"/>
              <a:ea typeface="新宋体" pitchFamily="49" charset="-122"/>
              <a:cs typeface="+mn-cs"/>
            </a:endParaRPr>
          </a:p>
          <a:p>
            <a:pPr marL="0" marR="0" lvl="0" indent="0" algn="l" defTabSz="914400" rtl="0" eaLnBrk="1" fontAlgn="base" latinLnBrk="0" hangingPunct="1">
              <a:lnSpc>
                <a:spcPct val="100000"/>
              </a:lnSpc>
              <a:spcBef>
                <a:spcPts val="600"/>
              </a:spcBef>
              <a:spcAft>
                <a:spcPct val="0"/>
              </a:spcAft>
              <a:buClr>
                <a:srgbClr val="B13F9A"/>
              </a:buClr>
              <a:buSzPct val="73000"/>
              <a:buFont typeface="Wingdings 2" panose="05020102010507070707" pitchFamily="18" charset="2"/>
              <a:buNone/>
              <a:tabLst/>
              <a:defRPr/>
            </a:pPr>
            <a:r>
              <a:rPr kumimoji="0" lang="en-US" altLang="zh-CN" sz="2000" b="0" i="0" u="none" strike="noStrike" kern="1200" cap="none" spc="0" normalizeH="0" baseline="0" noProof="0" dirty="0">
                <a:ln>
                  <a:noFill/>
                </a:ln>
                <a:solidFill>
                  <a:sysClr val="windowText" lastClr="000000"/>
                </a:solidFill>
                <a:effectLst/>
                <a:uLnTx/>
                <a:uFillTx/>
                <a:latin typeface="新宋体" pitchFamily="49" charset="-122"/>
                <a:ea typeface="新宋体" pitchFamily="49" charset="-122"/>
                <a:cs typeface="+mn-cs"/>
              </a:rPr>
              <a:t>              </a:t>
            </a:r>
            <a:endParaRPr kumimoji="0" lang="en-US" altLang="zh-CN" sz="20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l" defTabSz="914400" rtl="0" eaLnBrk="1" fontAlgn="base" latinLnBrk="0" hangingPunct="1">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20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l" defTabSz="914400" rtl="0" eaLnBrk="1" fontAlgn="base" latinLnBrk="0" hangingPunct="1">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2000" b="0" i="0" u="none" strike="noStrike" kern="1200" cap="none" spc="0" normalizeH="0" baseline="0" noProof="0" dirty="0">
              <a:ln>
                <a:noFill/>
              </a:ln>
              <a:solidFill>
                <a:sysClr val="windowText" lastClr="000000"/>
              </a:solidFill>
              <a:effectLst/>
              <a:uLnTx/>
              <a:uFillTx/>
              <a:latin typeface="新宋体" pitchFamily="49" charset="-122"/>
              <a:ea typeface="新宋体" pitchFamily="49" charset="-122"/>
              <a:cs typeface="+mn-cs"/>
            </a:endParaRPr>
          </a:p>
          <a:p>
            <a:pPr marL="0" marR="0" lvl="0" indent="0" algn="l" defTabSz="914400" rtl="0" eaLnBrk="1" fontAlgn="base" latinLnBrk="0" hangingPunct="1">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2000" b="0" i="0" u="none" strike="noStrike" kern="1200" cap="none" spc="0" normalizeH="0" baseline="0" noProof="0" dirty="0">
              <a:ln>
                <a:noFill/>
              </a:ln>
              <a:solidFill>
                <a:sysClr val="windowText" lastClr="000000"/>
              </a:solidFill>
              <a:effectLst/>
              <a:uLnTx/>
              <a:uFillTx/>
              <a:latin typeface="新宋体" pitchFamily="49" charset="-122"/>
              <a:ea typeface="新宋体" pitchFamily="49" charset="-122"/>
              <a:cs typeface="+mn-cs"/>
            </a:endParaRPr>
          </a:p>
          <a:p>
            <a:pPr marL="0" marR="0" lvl="0" indent="0" algn="l" defTabSz="914400" rtl="0" eaLnBrk="1" fontAlgn="base" latinLnBrk="0" hangingPunct="1">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2000" b="0" i="0" u="none" strike="noStrike" kern="1200" cap="none" spc="0" normalizeH="0" baseline="0" noProof="0" dirty="0">
              <a:ln>
                <a:noFill/>
              </a:ln>
              <a:solidFill>
                <a:sysClr val="windowText" lastClr="000000"/>
              </a:solidFill>
              <a:effectLst/>
              <a:uLnTx/>
              <a:uFillTx/>
              <a:latin typeface="新宋体" pitchFamily="49" charset="-122"/>
              <a:ea typeface="新宋体" pitchFamily="49" charset="-122"/>
              <a:cs typeface="+mn-cs"/>
            </a:endParaRPr>
          </a:p>
          <a:p>
            <a:pPr marL="0" marR="0" lvl="0" indent="0" algn="l" defTabSz="914400" rtl="0" eaLnBrk="1" fontAlgn="base" latinLnBrk="0" hangingPunct="1">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2000" b="0" i="0" u="none" strike="noStrike" kern="1200" cap="none" spc="0" normalizeH="0" baseline="0" noProof="0" dirty="0">
              <a:ln>
                <a:noFill/>
              </a:ln>
              <a:solidFill>
                <a:sysClr val="windowText" lastClr="000000"/>
              </a:solidFill>
              <a:effectLst/>
              <a:uLnTx/>
              <a:uFillTx/>
              <a:latin typeface="新宋体" pitchFamily="49" charset="-122"/>
              <a:ea typeface="新宋体" pitchFamily="49" charset="-122"/>
              <a:cs typeface="+mn-cs"/>
            </a:endParaRPr>
          </a:p>
          <a:p>
            <a:pPr marL="0" marR="0" lvl="0" indent="0" algn="l" defTabSz="914400" rtl="0" eaLnBrk="1" fontAlgn="base" latinLnBrk="0" hangingPunct="1">
              <a:lnSpc>
                <a:spcPct val="100000"/>
              </a:lnSpc>
              <a:spcBef>
                <a:spcPts val="600"/>
              </a:spcBef>
              <a:spcAft>
                <a:spcPct val="0"/>
              </a:spcAft>
              <a:buClr>
                <a:srgbClr val="B13F9A"/>
              </a:buClr>
              <a:buSzPct val="73000"/>
              <a:buFont typeface="Wingdings 2" panose="05020102010507070707" pitchFamily="18" charset="2"/>
              <a:buNone/>
              <a:tabLst/>
              <a:defRPr/>
            </a:pPr>
            <a:endParaRPr kumimoji="0" lang="zh-CN" altLang="en-US" sz="2000" b="0" i="0" u="none" strike="noStrike" kern="1200" cap="none" spc="0" normalizeH="0" baseline="0" noProof="0" dirty="0">
              <a:ln>
                <a:noFill/>
              </a:ln>
              <a:solidFill>
                <a:sysClr val="windowText" lastClr="000000"/>
              </a:solidFill>
              <a:effectLst/>
              <a:uLnTx/>
              <a:uFillTx/>
              <a:latin typeface="新宋体" pitchFamily="49" charset="-122"/>
              <a:ea typeface="新宋体" pitchFamily="49" charset="-122"/>
              <a:cs typeface="+mn-cs"/>
            </a:endParaRPr>
          </a:p>
        </p:txBody>
      </p:sp>
      <p:pic>
        <p:nvPicPr>
          <p:cNvPr id="8" name="图片 7"/>
          <p:cNvPicPr>
            <a:picLocks noChangeAspect="1"/>
          </p:cNvPicPr>
          <p:nvPr/>
        </p:nvPicPr>
        <p:blipFill>
          <a:blip r:embed="rId2"/>
          <a:stretch>
            <a:fillRect/>
          </a:stretch>
        </p:blipFill>
        <p:spPr>
          <a:xfrm>
            <a:off x="2843808" y="2276872"/>
            <a:ext cx="4079354" cy="4011365"/>
          </a:xfrm>
          <a:prstGeom prst="rect">
            <a:avLst/>
          </a:prstGeom>
        </p:spPr>
      </p:pic>
    </p:spTree>
    <p:extLst>
      <p:ext uri="{BB962C8B-B14F-4D97-AF65-F5344CB8AC3E}">
        <p14:creationId xmlns:p14="http://schemas.microsoft.com/office/powerpoint/2010/main" val="272758600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p:cNvSpPr txBox="1">
            <a:spLocks/>
          </p:cNvSpPr>
          <p:nvPr/>
        </p:nvSpPr>
        <p:spPr bwMode="auto">
          <a:xfrm>
            <a:off x="971600" y="692696"/>
            <a:ext cx="7632848" cy="5976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600"/>
              </a:spcBef>
              <a:spcAft>
                <a:spcPct val="0"/>
              </a:spcAft>
              <a:buClr>
                <a:schemeClr val="tx2"/>
              </a:buClr>
              <a:buSzPct val="73000"/>
              <a:buFont typeface="Wingdings 2" panose="05020102010507070707" pitchFamily="18" charset="2"/>
              <a:buChar char=""/>
              <a:defRPr sz="2600" kern="1200">
                <a:solidFill>
                  <a:schemeClr val="tx1"/>
                </a:solidFill>
                <a:latin typeface="+mn-lt"/>
                <a:ea typeface="+mn-ea"/>
                <a:cs typeface="+mn-cs"/>
              </a:defRPr>
            </a:lvl1pPr>
            <a:lvl2pPr marL="520700" indent="-228600" algn="l" rtl="0" eaLnBrk="0" fontAlgn="base" hangingPunct="0">
              <a:spcBef>
                <a:spcPts val="500"/>
              </a:spcBef>
              <a:spcAft>
                <a:spcPct val="0"/>
              </a:spcAft>
              <a:buClr>
                <a:srgbClr val="F9B639"/>
              </a:buClr>
              <a:buSzPct val="80000"/>
              <a:buFont typeface="Wingdings 2" panose="05020102010507070707" pitchFamily="18" charset="2"/>
              <a:buChar char=""/>
              <a:defRPr sz="2300" kern="1200">
                <a:solidFill>
                  <a:srgbClr val="6C6C6C"/>
                </a:solidFill>
                <a:latin typeface="+mn-lt"/>
                <a:ea typeface="+mn-ea"/>
                <a:cs typeface="+mn-cs"/>
              </a:defRPr>
            </a:lvl2pPr>
            <a:lvl3pPr marL="758825" indent="-228600" algn="l" rtl="0" eaLnBrk="0" fontAlgn="base" hangingPunct="0">
              <a:spcBef>
                <a:spcPts val="400"/>
              </a:spcBef>
              <a:spcAft>
                <a:spcPct val="0"/>
              </a:spcAft>
              <a:buClr>
                <a:srgbClr val="F9B639"/>
              </a:buClr>
              <a:buSzPct val="60000"/>
              <a:buFont typeface="Wingdings" panose="05000000000000000000" pitchFamily="2" charset="2"/>
              <a:buChar char=""/>
              <a:defRPr sz="2000" kern="1200">
                <a:solidFill>
                  <a:schemeClr val="tx1"/>
                </a:solidFill>
                <a:latin typeface="+mn-lt"/>
                <a:ea typeface="+mn-ea"/>
                <a:cs typeface="+mn-cs"/>
              </a:defRPr>
            </a:lvl3pPr>
            <a:lvl4pPr marL="1004888" indent="-228600" algn="l" rtl="0" eaLnBrk="0" fontAlgn="base" hangingPunct="0">
              <a:spcBef>
                <a:spcPct val="20000"/>
              </a:spcBef>
              <a:spcAft>
                <a:spcPct val="0"/>
              </a:spcAft>
              <a:buClr>
                <a:srgbClr val="F9B639"/>
              </a:buClr>
              <a:buSzPct val="80000"/>
              <a:buFont typeface="Wingdings 2" panose="05020102010507070707" pitchFamily="18" charset="2"/>
              <a:buChar char=""/>
              <a:defRPr sz="2000" kern="1200">
                <a:solidFill>
                  <a:srgbClr val="6C6C6C"/>
                </a:solidFill>
                <a:latin typeface="+mn-lt"/>
                <a:ea typeface="+mn-ea"/>
                <a:cs typeface="+mn-cs"/>
              </a:defRPr>
            </a:lvl4pPr>
            <a:lvl5pPr marL="1279525" indent="-228600" algn="l" rtl="0" eaLnBrk="0" fontAlgn="base" hangingPunct="0">
              <a:spcBef>
                <a:spcPts val="400"/>
              </a:spcBef>
              <a:spcAft>
                <a:spcPct val="0"/>
              </a:spcAft>
              <a:buClr>
                <a:srgbClr val="F9B639"/>
              </a:buClr>
              <a:buSzPct val="70000"/>
              <a:buFont typeface="Wingdings" panose="05000000000000000000" pitchFamily="2" charset="2"/>
              <a:buChar char=""/>
              <a:defRPr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lgn="just">
              <a:buClr>
                <a:srgbClr val="B13F9A"/>
              </a:buClr>
              <a:buNone/>
              <a:defRPr/>
            </a:pPr>
            <a:r>
              <a:rPr lang="zh-CN" altLang="en-US" sz="1800" dirty="0">
                <a:solidFill>
                  <a:sysClr val="windowText" lastClr="000000"/>
                </a:solidFill>
                <a:latin typeface="微软雅黑" panose="020B0503020204020204" pitchFamily="34" charset="-122"/>
                <a:ea typeface="微软雅黑" panose="020B0503020204020204" pitchFamily="34" charset="-122"/>
              </a:rPr>
              <a:t>    此对话框中包含</a:t>
            </a:r>
            <a:r>
              <a:rPr lang="en-US" altLang="zh-CN" sz="1800" dirty="0">
                <a:solidFill>
                  <a:sysClr val="windowText" lastClr="000000"/>
                </a:solidFill>
                <a:latin typeface="微软雅黑" panose="020B0503020204020204" pitchFamily="34" charset="-122"/>
                <a:ea typeface="微软雅黑" panose="020B0503020204020204" pitchFamily="34" charset="-122"/>
              </a:rPr>
              <a:t>Group</a:t>
            </a:r>
            <a:r>
              <a:rPr lang="zh-CN" altLang="zh-CN" sz="1800" dirty="0">
                <a:solidFill>
                  <a:sysClr val="windowText" lastClr="000000"/>
                </a:solidFill>
                <a:latin typeface="微软雅黑" panose="020B0503020204020204" pitchFamily="34" charset="-122"/>
                <a:ea typeface="微软雅黑" panose="020B0503020204020204" pitchFamily="34" charset="-122"/>
              </a:rPr>
              <a:t>下拉列表框</a:t>
            </a:r>
            <a:r>
              <a:rPr lang="zh-CN" altLang="en-US" sz="1800" dirty="0">
                <a:solidFill>
                  <a:sysClr val="windowText" lastClr="000000"/>
                </a:solidFill>
                <a:latin typeface="微软雅黑" panose="020B0503020204020204" pitchFamily="34" charset="-122"/>
                <a:ea typeface="微软雅黑" panose="020B0503020204020204" pitchFamily="34" charset="-122"/>
              </a:rPr>
              <a:t>，</a:t>
            </a:r>
            <a:r>
              <a:rPr lang="zh-CN" altLang="zh-CN" sz="1800" dirty="0">
                <a:solidFill>
                  <a:sysClr val="windowText" lastClr="000000"/>
                </a:solidFill>
                <a:latin typeface="微软雅黑" panose="020B0503020204020204" pitchFamily="34" charset="-122"/>
                <a:ea typeface="微软雅黑" panose="020B0503020204020204" pitchFamily="34" charset="-122"/>
              </a:rPr>
              <a:t>如图</a:t>
            </a:r>
            <a:r>
              <a:rPr lang="en-US" altLang="zh-CN" sz="1800" dirty="0">
                <a:solidFill>
                  <a:sysClr val="windowText" lastClr="000000"/>
                </a:solidFill>
                <a:latin typeface="微软雅黑" panose="020B0503020204020204" pitchFamily="34" charset="-122"/>
                <a:ea typeface="微软雅黑" panose="020B0503020204020204" pitchFamily="34" charset="-122"/>
              </a:rPr>
              <a:t>4</a:t>
            </a:r>
            <a:r>
              <a:rPr lang="zh-CN" altLang="zh-CN" sz="1800" dirty="0">
                <a:solidFill>
                  <a:sysClr val="windowText" lastClr="000000"/>
                </a:solidFill>
                <a:latin typeface="微软雅黑" panose="020B0503020204020204" pitchFamily="34" charset="-122"/>
                <a:ea typeface="微软雅黑" panose="020B0503020204020204" pitchFamily="34" charset="-122"/>
              </a:rPr>
              <a:t>所</a:t>
            </a:r>
            <a:r>
              <a:rPr lang="zh-CN" altLang="en-US" sz="1800" dirty="0">
                <a:solidFill>
                  <a:sysClr val="windowText" lastClr="000000"/>
                </a:solidFill>
                <a:latin typeface="微软雅黑" panose="020B0503020204020204" pitchFamily="34" charset="-122"/>
                <a:ea typeface="微软雅黑" panose="020B0503020204020204" pitchFamily="34" charset="-122"/>
              </a:rPr>
              <a:t>示。</a:t>
            </a:r>
            <a:r>
              <a:rPr lang="en-US" altLang="zh-CN" sz="1800" dirty="0">
                <a:solidFill>
                  <a:sysClr val="windowText" lastClr="000000"/>
                </a:solidFill>
                <a:latin typeface="微软雅黑" panose="020B0503020204020204" pitchFamily="34" charset="-122"/>
                <a:ea typeface="微软雅黑" panose="020B0503020204020204" pitchFamily="34" charset="-122"/>
              </a:rPr>
              <a:t>Group</a:t>
            </a:r>
            <a:r>
              <a:rPr lang="zh-CN" altLang="zh-CN" sz="1800" dirty="0">
                <a:solidFill>
                  <a:sysClr val="windowText" lastClr="000000"/>
                </a:solidFill>
                <a:latin typeface="微软雅黑" panose="020B0503020204020204" pitchFamily="34" charset="-122"/>
                <a:ea typeface="微软雅黑" panose="020B0503020204020204" pitchFamily="34" charset="-122"/>
              </a:rPr>
              <a:t>为某一元器件库中的各种不同族元件的集合。</a:t>
            </a:r>
            <a:r>
              <a:rPr lang="zh-CN" altLang="en-US" sz="1800" dirty="0">
                <a:solidFill>
                  <a:sysClr val="windowText" lastClr="000000"/>
                </a:solidFill>
                <a:latin typeface="微软雅黑" panose="020B0503020204020204" pitchFamily="34" charset="-122"/>
                <a:ea typeface="微软雅黑" panose="020B0503020204020204" pitchFamily="34" charset="-122"/>
              </a:rPr>
              <a:t>选取</a:t>
            </a:r>
            <a:r>
              <a:rPr lang="zh-CN" altLang="zh-CN" sz="1800" dirty="0">
                <a:solidFill>
                  <a:sysClr val="windowText" lastClr="000000"/>
                </a:solidFill>
                <a:latin typeface="微软雅黑" panose="020B0503020204020204" pitchFamily="34" charset="-122"/>
                <a:ea typeface="微软雅黑" panose="020B0503020204020204" pitchFamily="34" charset="-122"/>
              </a:rPr>
              <a:t>一个</a:t>
            </a:r>
            <a:r>
              <a:rPr lang="en-US" altLang="zh-CN" sz="1800" dirty="0">
                <a:solidFill>
                  <a:sysClr val="windowText" lastClr="000000"/>
                </a:solidFill>
                <a:latin typeface="微软雅黑" panose="020B0503020204020204" pitchFamily="34" charset="-122"/>
                <a:ea typeface="微软雅黑" panose="020B0503020204020204" pitchFamily="34" charset="-122"/>
              </a:rPr>
              <a:t>12V</a:t>
            </a:r>
            <a:r>
              <a:rPr lang="zh-CN" altLang="zh-CN" sz="1800" dirty="0">
                <a:solidFill>
                  <a:sysClr val="windowText" lastClr="000000"/>
                </a:solidFill>
                <a:latin typeface="微软雅黑" panose="020B0503020204020204" pitchFamily="34" charset="-122"/>
                <a:ea typeface="微软雅黑" panose="020B0503020204020204" pitchFamily="34" charset="-122"/>
              </a:rPr>
              <a:t>电源，一个参考接地点，以及一个</a:t>
            </a:r>
            <a:r>
              <a:rPr lang="en-US" altLang="zh-CN" sz="1800" dirty="0">
                <a:solidFill>
                  <a:sysClr val="windowText" lastClr="000000"/>
                </a:solidFill>
                <a:latin typeface="微软雅黑" panose="020B0503020204020204" pitchFamily="34" charset="-122"/>
                <a:ea typeface="微软雅黑" panose="020B0503020204020204" pitchFamily="34" charset="-122"/>
              </a:rPr>
              <a:t>20kΩ</a:t>
            </a:r>
            <a:r>
              <a:rPr lang="zh-CN" altLang="zh-CN" sz="1800" dirty="0">
                <a:solidFill>
                  <a:sysClr val="windowText" lastClr="000000"/>
                </a:solidFill>
                <a:latin typeface="微软雅黑" panose="020B0503020204020204" pitchFamily="34" charset="-122"/>
                <a:ea typeface="微软雅黑" panose="020B0503020204020204" pitchFamily="34" charset="-122"/>
              </a:rPr>
              <a:t>电阻和一个</a:t>
            </a:r>
            <a:r>
              <a:rPr lang="en-US" altLang="zh-CN" sz="1800" dirty="0">
                <a:solidFill>
                  <a:sysClr val="windowText" lastClr="000000"/>
                </a:solidFill>
                <a:latin typeface="微软雅黑" panose="020B0503020204020204" pitchFamily="34" charset="-122"/>
                <a:ea typeface="微软雅黑" panose="020B0503020204020204" pitchFamily="34" charset="-122"/>
              </a:rPr>
              <a:t>30kΩ</a:t>
            </a:r>
            <a:r>
              <a:rPr lang="zh-CN" altLang="zh-CN" sz="1800" dirty="0">
                <a:solidFill>
                  <a:sysClr val="windowText" lastClr="000000"/>
                </a:solidFill>
                <a:latin typeface="微软雅黑" panose="020B0503020204020204" pitchFamily="34" charset="-122"/>
                <a:ea typeface="微软雅黑" panose="020B0503020204020204" pitchFamily="34" charset="-122"/>
              </a:rPr>
              <a:t>电阻。为建立该实验仿真电路，单击菜单栏中的</a:t>
            </a:r>
            <a:r>
              <a:rPr lang="en-US" altLang="zh-CN" sz="1800" dirty="0">
                <a:solidFill>
                  <a:sysClr val="windowText" lastClr="000000"/>
                </a:solidFill>
                <a:latin typeface="微软雅黑" panose="020B0503020204020204" pitchFamily="34" charset="-122"/>
                <a:ea typeface="微软雅黑" panose="020B0503020204020204" pitchFamily="34" charset="-122"/>
              </a:rPr>
              <a:t>Place\Component</a:t>
            </a:r>
            <a:r>
              <a:rPr lang="zh-CN" altLang="zh-CN" sz="1800" dirty="0">
                <a:solidFill>
                  <a:sysClr val="windowText" lastClr="000000"/>
                </a:solidFill>
                <a:latin typeface="微软雅黑" panose="020B0503020204020204" pitchFamily="34" charset="-122"/>
                <a:ea typeface="微软雅黑" panose="020B0503020204020204" pitchFamily="34" charset="-122"/>
              </a:rPr>
              <a:t>，弹出如图</a:t>
            </a:r>
            <a:r>
              <a:rPr lang="en-US" altLang="zh-CN" sz="1800" dirty="0">
                <a:solidFill>
                  <a:sysClr val="windowText" lastClr="000000"/>
                </a:solidFill>
                <a:latin typeface="微软雅黑" panose="020B0503020204020204" pitchFamily="34" charset="-122"/>
                <a:ea typeface="微软雅黑" panose="020B0503020204020204" pitchFamily="34" charset="-122"/>
              </a:rPr>
              <a:t>4</a:t>
            </a:r>
            <a:r>
              <a:rPr lang="zh-CN" altLang="zh-CN" sz="1800" dirty="0">
                <a:solidFill>
                  <a:sysClr val="windowText" lastClr="000000"/>
                </a:solidFill>
                <a:latin typeface="微软雅黑" panose="020B0503020204020204" pitchFamily="34" charset="-122"/>
                <a:ea typeface="微软雅黑" panose="020B0503020204020204" pitchFamily="34" charset="-122"/>
              </a:rPr>
              <a:t>所示的对话框。</a:t>
            </a:r>
            <a:endParaRPr lang="en-US" altLang="zh-CN" sz="1800" dirty="0">
              <a:solidFill>
                <a:sysClr val="windowText" lastClr="000000"/>
              </a:solidFill>
              <a:latin typeface="微软雅黑" panose="020B0503020204020204" pitchFamily="34" charset="-122"/>
              <a:ea typeface="微软雅黑" panose="020B0503020204020204" pitchFamily="34" charset="-122"/>
            </a:endParaRPr>
          </a:p>
          <a:p>
            <a:pPr marL="0" marR="0" lvl="0" indent="0" algn="just"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20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just"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20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l"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r>
              <a:rPr kumimoji="0" lang="en-US" altLang="zh-CN" sz="14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rPr>
              <a:t>                                  </a:t>
            </a:r>
          </a:p>
          <a:p>
            <a:pPr marL="0" marR="0" lvl="0" indent="0" algn="ctr"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14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ctr"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lang="en-US" altLang="zh-CN" sz="1400" dirty="0">
              <a:solidFill>
                <a:sysClr val="windowText" lastClr="000000"/>
              </a:solidFill>
              <a:latin typeface="Trebuchet MS"/>
              <a:ea typeface="华文新魏" panose="02010800040101010101" pitchFamily="2" charset="-122"/>
            </a:endParaRPr>
          </a:p>
          <a:p>
            <a:pPr marL="0" marR="0" lvl="0" indent="0" algn="ctr"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14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ctr"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14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ctr"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14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ctr"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14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ctr"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14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ctr"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14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ctr"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14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ctr"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1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endParaRPr>
          </a:p>
          <a:p>
            <a:pPr marL="0" marR="0" lvl="0" indent="0" algn="ctr"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1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endParaRPr>
          </a:p>
          <a:p>
            <a:pPr marL="0" marR="0" lvl="0" indent="0" algn="ctr"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lang="en-US" altLang="zh-CN" sz="1400" dirty="0">
              <a:solidFill>
                <a:sysClr val="windowText" lastClr="000000"/>
              </a:solidFill>
              <a:latin typeface="微软雅黑" panose="020B0503020204020204" pitchFamily="34" charset="-122"/>
              <a:ea typeface="微软雅黑" panose="020B0503020204020204" pitchFamily="34" charset="-122"/>
            </a:endParaRPr>
          </a:p>
          <a:p>
            <a:pPr marL="0" marR="0" lvl="0" indent="0" algn="ctr"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r>
              <a:rPr kumimoji="0" lang="zh-CN" altLang="zh-CN" sz="1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图</a:t>
            </a:r>
            <a:r>
              <a:rPr kumimoji="0" lang="en-US" altLang="zh-CN" sz="1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4  Group</a:t>
            </a:r>
            <a:r>
              <a:rPr kumimoji="0" lang="zh-CN" altLang="zh-CN" sz="1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下拉列表框</a:t>
            </a:r>
            <a:endParaRPr kumimoji="0" lang="en-US" altLang="zh-CN" sz="1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endParaRPr>
          </a:p>
          <a:p>
            <a:pPr marL="0" marR="0" lvl="0" indent="0" algn="l"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14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l"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14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l"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20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l"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r>
              <a:rPr kumimoji="0" lang="en-US" altLang="zh-CN" sz="20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rPr>
              <a:t> </a:t>
            </a:r>
          </a:p>
          <a:p>
            <a:pPr marL="0" marR="0" lvl="0" indent="0" algn="l"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r>
              <a:rPr kumimoji="0" lang="en-US" altLang="zh-CN" sz="20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rPr>
              <a:t>        </a:t>
            </a:r>
            <a:endParaRPr kumimoji="0" lang="zh-CN" altLang="zh-CN" sz="20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l" defTabSz="914400" rtl="0" eaLnBrk="1" fontAlgn="base" latinLnBrk="0" hangingPunct="1">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1400" b="0" i="0" u="none" strike="noStrike" kern="1200" cap="none" spc="0" normalizeH="0" baseline="0" noProof="0" dirty="0">
              <a:ln>
                <a:noFill/>
              </a:ln>
              <a:solidFill>
                <a:sysClr val="windowText" lastClr="000000"/>
              </a:solidFill>
              <a:effectLst/>
              <a:uLnTx/>
              <a:uFillTx/>
              <a:latin typeface="新宋体" panose="02010609030101010101" pitchFamily="49" charset="-122"/>
              <a:ea typeface="新宋体" panose="02010609030101010101" pitchFamily="49" charset="-122"/>
              <a:cs typeface="+mn-cs"/>
            </a:endParaRPr>
          </a:p>
          <a:p>
            <a:pPr marL="0" marR="0" lvl="0" indent="0" algn="l" defTabSz="914400" rtl="0" eaLnBrk="1" fontAlgn="base" latinLnBrk="0" hangingPunct="1">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2000" b="0" i="0" u="none" strike="noStrike" kern="1200" cap="none" spc="0" normalizeH="0" baseline="0" noProof="0" dirty="0">
              <a:ln>
                <a:noFill/>
              </a:ln>
              <a:solidFill>
                <a:sysClr val="windowText" lastClr="000000"/>
              </a:solidFill>
              <a:effectLst/>
              <a:uLnTx/>
              <a:uFillTx/>
              <a:latin typeface="新宋体" panose="02010609030101010101" pitchFamily="49" charset="-122"/>
              <a:ea typeface="新宋体" panose="02010609030101010101" pitchFamily="49" charset="-122"/>
              <a:cs typeface="+mn-cs"/>
            </a:endParaRPr>
          </a:p>
          <a:p>
            <a:pPr marL="0" marR="0" lvl="0" indent="0" algn="l" defTabSz="914400" rtl="0" eaLnBrk="1" fontAlgn="base" latinLnBrk="0" hangingPunct="1">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2000" b="0" i="0" u="none" strike="noStrike" kern="1200" cap="none" spc="0" normalizeH="0" baseline="0" noProof="0" dirty="0">
              <a:ln>
                <a:noFill/>
              </a:ln>
              <a:solidFill>
                <a:sysClr val="windowText" lastClr="000000"/>
              </a:solidFill>
              <a:effectLst/>
              <a:uLnTx/>
              <a:uFillTx/>
              <a:latin typeface="新宋体" panose="02010609030101010101" pitchFamily="49" charset="-122"/>
              <a:ea typeface="新宋体" panose="02010609030101010101" pitchFamily="49" charset="-122"/>
              <a:cs typeface="+mn-cs"/>
            </a:endParaRPr>
          </a:p>
          <a:p>
            <a:pPr marL="0" marR="0" lvl="0" indent="0" algn="l" defTabSz="914400" rtl="0" eaLnBrk="1" fontAlgn="base" latinLnBrk="0" hangingPunct="1">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2000" b="0" i="0" u="none" strike="noStrike" kern="1200" cap="none" spc="0" normalizeH="0" baseline="0" noProof="0" dirty="0">
              <a:ln>
                <a:noFill/>
              </a:ln>
              <a:solidFill>
                <a:sysClr val="windowText" lastClr="000000"/>
              </a:solidFill>
              <a:effectLst/>
              <a:uLnTx/>
              <a:uFillTx/>
              <a:latin typeface="新宋体" panose="02010609030101010101" pitchFamily="49" charset="-122"/>
              <a:ea typeface="新宋体" panose="02010609030101010101" pitchFamily="49" charset="-122"/>
              <a:cs typeface="+mn-cs"/>
            </a:endParaRPr>
          </a:p>
          <a:p>
            <a:pPr marL="0" marR="0" lvl="0" indent="0" algn="l" defTabSz="914400" rtl="0" eaLnBrk="1" fontAlgn="base" latinLnBrk="0" hangingPunct="1">
              <a:lnSpc>
                <a:spcPct val="100000"/>
              </a:lnSpc>
              <a:spcBef>
                <a:spcPts val="600"/>
              </a:spcBef>
              <a:spcAft>
                <a:spcPct val="0"/>
              </a:spcAft>
              <a:buClr>
                <a:srgbClr val="B13F9A"/>
              </a:buClr>
              <a:buSzPct val="73000"/>
              <a:buFont typeface="Wingdings 2" panose="05020102010507070707" pitchFamily="18" charset="2"/>
              <a:buNone/>
              <a:tabLst/>
              <a:defRPr/>
            </a:pPr>
            <a:r>
              <a:rPr kumimoji="0" lang="en-US" altLang="zh-CN" sz="2000" b="0" i="0" u="none" strike="noStrike" kern="1200" cap="none" spc="0" normalizeH="0" baseline="0" noProof="0" dirty="0">
                <a:ln>
                  <a:noFill/>
                </a:ln>
                <a:solidFill>
                  <a:sysClr val="windowText" lastClr="000000"/>
                </a:solidFill>
                <a:effectLst/>
                <a:uLnTx/>
                <a:uFillTx/>
                <a:latin typeface="新宋体" panose="02010609030101010101" pitchFamily="49" charset="-122"/>
                <a:ea typeface="新宋体" panose="02010609030101010101" pitchFamily="49" charset="-122"/>
                <a:cs typeface="+mn-cs"/>
              </a:rPr>
              <a:t>              </a:t>
            </a:r>
            <a:endParaRPr kumimoji="0" lang="en-US" altLang="zh-CN" sz="20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l" defTabSz="914400" rtl="0" eaLnBrk="1" fontAlgn="base" latinLnBrk="0" hangingPunct="1">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20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l" defTabSz="914400" rtl="0" eaLnBrk="1" fontAlgn="base" latinLnBrk="0" hangingPunct="1">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2000" b="0" i="0" u="none" strike="noStrike" kern="1200" cap="none" spc="0" normalizeH="0" baseline="0" noProof="0" dirty="0">
              <a:ln>
                <a:noFill/>
              </a:ln>
              <a:solidFill>
                <a:sysClr val="windowText" lastClr="000000"/>
              </a:solidFill>
              <a:effectLst/>
              <a:uLnTx/>
              <a:uFillTx/>
              <a:latin typeface="新宋体" panose="02010609030101010101" pitchFamily="49" charset="-122"/>
              <a:ea typeface="新宋体" panose="02010609030101010101" pitchFamily="49" charset="-122"/>
              <a:cs typeface="+mn-cs"/>
            </a:endParaRPr>
          </a:p>
          <a:p>
            <a:pPr marL="0" marR="0" lvl="0" indent="0" algn="l" defTabSz="914400" rtl="0" eaLnBrk="1" fontAlgn="base" latinLnBrk="0" hangingPunct="1">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2000" b="0" i="0" u="none" strike="noStrike" kern="1200" cap="none" spc="0" normalizeH="0" baseline="0" noProof="0" dirty="0">
              <a:ln>
                <a:noFill/>
              </a:ln>
              <a:solidFill>
                <a:sysClr val="windowText" lastClr="000000"/>
              </a:solidFill>
              <a:effectLst/>
              <a:uLnTx/>
              <a:uFillTx/>
              <a:latin typeface="新宋体" panose="02010609030101010101" pitchFamily="49" charset="-122"/>
              <a:ea typeface="新宋体" panose="02010609030101010101" pitchFamily="49" charset="-122"/>
              <a:cs typeface="+mn-cs"/>
            </a:endParaRPr>
          </a:p>
          <a:p>
            <a:pPr marL="0" marR="0" lvl="0" indent="0" algn="l" defTabSz="914400" rtl="0" eaLnBrk="1" fontAlgn="base" latinLnBrk="0" hangingPunct="1">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2000" b="0" i="0" u="none" strike="noStrike" kern="1200" cap="none" spc="0" normalizeH="0" baseline="0" noProof="0" dirty="0">
              <a:ln>
                <a:noFill/>
              </a:ln>
              <a:solidFill>
                <a:sysClr val="windowText" lastClr="000000"/>
              </a:solidFill>
              <a:effectLst/>
              <a:uLnTx/>
              <a:uFillTx/>
              <a:latin typeface="新宋体" panose="02010609030101010101" pitchFamily="49" charset="-122"/>
              <a:ea typeface="新宋体" panose="02010609030101010101" pitchFamily="49" charset="-122"/>
              <a:cs typeface="+mn-cs"/>
            </a:endParaRPr>
          </a:p>
          <a:p>
            <a:pPr marL="0" marR="0" lvl="0" indent="0" algn="l" defTabSz="914400" rtl="0" eaLnBrk="1" fontAlgn="base" latinLnBrk="0" hangingPunct="1">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2000" b="0" i="0" u="none" strike="noStrike" kern="1200" cap="none" spc="0" normalizeH="0" baseline="0" noProof="0" dirty="0">
              <a:ln>
                <a:noFill/>
              </a:ln>
              <a:solidFill>
                <a:sysClr val="windowText" lastClr="000000"/>
              </a:solidFill>
              <a:effectLst/>
              <a:uLnTx/>
              <a:uFillTx/>
              <a:latin typeface="新宋体" panose="02010609030101010101" pitchFamily="49" charset="-122"/>
              <a:ea typeface="新宋体" panose="02010609030101010101" pitchFamily="49" charset="-122"/>
              <a:cs typeface="+mn-cs"/>
            </a:endParaRPr>
          </a:p>
          <a:p>
            <a:pPr marL="0" marR="0" lvl="0" indent="0" algn="l" defTabSz="914400" rtl="0" eaLnBrk="1" fontAlgn="base" latinLnBrk="0" hangingPunct="1">
              <a:lnSpc>
                <a:spcPct val="100000"/>
              </a:lnSpc>
              <a:spcBef>
                <a:spcPts val="600"/>
              </a:spcBef>
              <a:spcAft>
                <a:spcPct val="0"/>
              </a:spcAft>
              <a:buClr>
                <a:srgbClr val="B13F9A"/>
              </a:buClr>
              <a:buSzPct val="73000"/>
              <a:buFont typeface="Wingdings 2" panose="05020102010507070707" pitchFamily="18" charset="2"/>
              <a:buNone/>
              <a:tabLst/>
              <a:defRPr/>
            </a:pPr>
            <a:endParaRPr kumimoji="0" lang="zh-CN" altLang="en-US" sz="2000" b="0" i="0" u="none" strike="noStrike" kern="1200" cap="none" spc="0" normalizeH="0" baseline="0" noProof="0" dirty="0">
              <a:ln>
                <a:noFill/>
              </a:ln>
              <a:solidFill>
                <a:sysClr val="windowText" lastClr="000000"/>
              </a:solidFill>
              <a:effectLst/>
              <a:uLnTx/>
              <a:uFillTx/>
              <a:latin typeface="新宋体" panose="02010609030101010101" pitchFamily="49" charset="-122"/>
              <a:ea typeface="新宋体" panose="02010609030101010101" pitchFamily="49" charset="-122"/>
              <a:cs typeface="+mn-cs"/>
            </a:endParaRPr>
          </a:p>
        </p:txBody>
      </p:sp>
      <p:pic>
        <p:nvPicPr>
          <p:cNvPr id="5" name="Picture 2" descr="2015-05-31 13-04-5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07904" y="1916832"/>
            <a:ext cx="2109687" cy="4248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4181460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p:cNvSpPr txBox="1">
            <a:spLocks/>
          </p:cNvSpPr>
          <p:nvPr/>
        </p:nvSpPr>
        <p:spPr bwMode="auto">
          <a:xfrm>
            <a:off x="971600" y="484856"/>
            <a:ext cx="7776864" cy="6256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600"/>
              </a:spcBef>
              <a:spcAft>
                <a:spcPct val="0"/>
              </a:spcAft>
              <a:buClr>
                <a:schemeClr val="tx2"/>
              </a:buClr>
              <a:buSzPct val="73000"/>
              <a:buFont typeface="Wingdings 2" panose="05020102010507070707" pitchFamily="18" charset="2"/>
              <a:buChar char=""/>
              <a:defRPr sz="2600" kern="1200">
                <a:solidFill>
                  <a:schemeClr val="tx1"/>
                </a:solidFill>
                <a:latin typeface="+mn-lt"/>
                <a:ea typeface="+mn-ea"/>
                <a:cs typeface="+mn-cs"/>
              </a:defRPr>
            </a:lvl1pPr>
            <a:lvl2pPr marL="520700" indent="-228600" algn="l" rtl="0" eaLnBrk="0" fontAlgn="base" hangingPunct="0">
              <a:spcBef>
                <a:spcPts val="500"/>
              </a:spcBef>
              <a:spcAft>
                <a:spcPct val="0"/>
              </a:spcAft>
              <a:buClr>
                <a:srgbClr val="F9B639"/>
              </a:buClr>
              <a:buSzPct val="80000"/>
              <a:buFont typeface="Wingdings 2" panose="05020102010507070707" pitchFamily="18" charset="2"/>
              <a:buChar char=""/>
              <a:defRPr sz="2300" kern="1200">
                <a:solidFill>
                  <a:srgbClr val="6C6C6C"/>
                </a:solidFill>
                <a:latin typeface="+mn-lt"/>
                <a:ea typeface="+mn-ea"/>
                <a:cs typeface="+mn-cs"/>
              </a:defRPr>
            </a:lvl2pPr>
            <a:lvl3pPr marL="758825" indent="-228600" algn="l" rtl="0" eaLnBrk="0" fontAlgn="base" hangingPunct="0">
              <a:spcBef>
                <a:spcPts val="400"/>
              </a:spcBef>
              <a:spcAft>
                <a:spcPct val="0"/>
              </a:spcAft>
              <a:buClr>
                <a:srgbClr val="F9B639"/>
              </a:buClr>
              <a:buSzPct val="60000"/>
              <a:buFont typeface="Wingdings" panose="05000000000000000000" pitchFamily="2" charset="2"/>
              <a:buChar char=""/>
              <a:defRPr sz="2000" kern="1200">
                <a:solidFill>
                  <a:schemeClr val="tx1"/>
                </a:solidFill>
                <a:latin typeface="+mn-lt"/>
                <a:ea typeface="+mn-ea"/>
                <a:cs typeface="+mn-cs"/>
              </a:defRPr>
            </a:lvl3pPr>
            <a:lvl4pPr marL="1004888" indent="-228600" algn="l" rtl="0" eaLnBrk="0" fontAlgn="base" hangingPunct="0">
              <a:spcBef>
                <a:spcPct val="20000"/>
              </a:spcBef>
              <a:spcAft>
                <a:spcPct val="0"/>
              </a:spcAft>
              <a:buClr>
                <a:srgbClr val="F9B639"/>
              </a:buClr>
              <a:buSzPct val="80000"/>
              <a:buFont typeface="Wingdings 2" panose="05020102010507070707" pitchFamily="18" charset="2"/>
              <a:buChar char=""/>
              <a:defRPr sz="2000" kern="1200">
                <a:solidFill>
                  <a:srgbClr val="6C6C6C"/>
                </a:solidFill>
                <a:latin typeface="+mn-lt"/>
                <a:ea typeface="+mn-ea"/>
                <a:cs typeface="+mn-cs"/>
              </a:defRPr>
            </a:lvl4pPr>
            <a:lvl5pPr marL="1279525" indent="-228600" algn="l" rtl="0" eaLnBrk="0" fontAlgn="base" hangingPunct="0">
              <a:spcBef>
                <a:spcPts val="400"/>
              </a:spcBef>
              <a:spcAft>
                <a:spcPct val="0"/>
              </a:spcAft>
              <a:buClr>
                <a:srgbClr val="F9B639"/>
              </a:buClr>
              <a:buSzPct val="70000"/>
              <a:buFont typeface="Wingdings" panose="05000000000000000000" pitchFamily="2" charset="2"/>
              <a:buChar char=""/>
              <a:defRPr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marR="0" lvl="0" indent="0" algn="l" defTabSz="914400" rtl="0" eaLnBrk="1" fontAlgn="base" latinLnBrk="0" hangingPunct="1">
              <a:lnSpc>
                <a:spcPct val="100000"/>
              </a:lnSpc>
              <a:spcBef>
                <a:spcPts val="600"/>
              </a:spcBef>
              <a:spcAft>
                <a:spcPct val="0"/>
              </a:spcAft>
              <a:buClr>
                <a:srgbClr val="B13F9A"/>
              </a:buClr>
              <a:buSzPct val="73000"/>
              <a:buFont typeface="Wingdings 2" panose="05020102010507070707" pitchFamily="18" charset="2"/>
              <a:buNone/>
              <a:tabLst/>
              <a:defRPr/>
            </a:pPr>
            <a:r>
              <a:rPr kumimoji="0" lang="en-US" altLang="zh-CN" sz="20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2</a:t>
            </a:r>
            <a:r>
              <a:rPr kumimoji="0" lang="zh-CN" altLang="en-US" sz="20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a:t>
            </a:r>
            <a:r>
              <a:rPr kumimoji="0" lang="zh-CN" altLang="zh-CN" sz="20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连接元件之间的导线</a:t>
            </a:r>
            <a:endParaRPr kumimoji="0" lang="en-US" altLang="zh-CN" sz="20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endParaRPr>
          </a:p>
          <a:p>
            <a:pPr marL="0" marR="0" lvl="0" indent="0" algn="just"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r>
              <a:rPr kumimoji="0" lang="en-US" altLang="zh-CN" sz="20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     </a:t>
            </a:r>
            <a:r>
              <a:rPr kumimoji="0" lang="zh-CN" altLang="zh-CN" sz="20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待所有的元器件都已经放置于工作电路区后，开始连接导线。将鼠标移动到所要连接的器件的某个引脚上，鼠标指针会变成中间有实心黑点的十字型。单击左键后，再次移动鼠标，就会拖动出一条黑实线。将此黑实线移动到所要连接的其他元件的引脚时，再次单击鼠标，这时就会将两个元器件的引脚连接起来。</a:t>
            </a:r>
            <a:r>
              <a:rPr kumimoji="0" lang="zh-CN" altLang="en-US" sz="20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连接好的电路如图</a:t>
            </a:r>
            <a:r>
              <a:rPr kumimoji="0" lang="en-US" altLang="zh-CN" sz="20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5</a:t>
            </a:r>
            <a:r>
              <a:rPr kumimoji="0" lang="zh-CN" altLang="en-US" sz="20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所示。</a:t>
            </a:r>
            <a:endParaRPr kumimoji="0" lang="zh-CN" altLang="zh-CN" sz="20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endParaRPr>
          </a:p>
          <a:p>
            <a:pPr marL="0" marR="0" lvl="0" indent="0" algn="just"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20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l"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r>
              <a:rPr kumimoji="0" lang="en-US" altLang="zh-CN" sz="14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rPr>
              <a:t>                                  </a:t>
            </a:r>
          </a:p>
          <a:p>
            <a:pPr marL="0" marR="0" lvl="0" indent="0" algn="ctr"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14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ctr"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14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ctr"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14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ctr"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14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ctr"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14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ctr"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14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ctr"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lang="en-US" altLang="zh-CN" sz="1400" dirty="0">
              <a:solidFill>
                <a:sysClr val="windowText" lastClr="000000"/>
              </a:solidFill>
              <a:latin typeface="Trebuchet MS"/>
              <a:ea typeface="华文新魏" panose="02010800040101010101" pitchFamily="2" charset="-122"/>
            </a:endParaRPr>
          </a:p>
          <a:p>
            <a:pPr marL="0" marR="0" lvl="0" indent="0" algn="ctr"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18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endParaRPr>
          </a:p>
          <a:p>
            <a:pPr marL="0" marR="0" lvl="0" indent="0" algn="ctr"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lang="en-US" altLang="zh-CN" sz="1800" dirty="0">
              <a:solidFill>
                <a:sysClr val="windowText" lastClr="000000"/>
              </a:solidFill>
              <a:latin typeface="微软雅黑" panose="020B0503020204020204" pitchFamily="34" charset="-122"/>
              <a:ea typeface="微软雅黑" panose="020B0503020204020204" pitchFamily="34" charset="-122"/>
            </a:endParaRPr>
          </a:p>
          <a:p>
            <a:pPr marL="0" marR="0" lvl="0" indent="0" algn="ctr"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r>
              <a:rPr kumimoji="0" lang="zh-CN" altLang="zh-CN" sz="18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图</a:t>
            </a:r>
            <a:r>
              <a:rPr kumimoji="0" lang="en-US" altLang="zh-CN" sz="18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5  </a:t>
            </a:r>
            <a:r>
              <a:rPr kumimoji="0" lang="zh-CN" altLang="zh-CN" sz="18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电阻串联分压电路</a:t>
            </a:r>
            <a:endParaRPr kumimoji="0" lang="en-US" altLang="zh-CN" sz="18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endParaRPr>
          </a:p>
          <a:p>
            <a:pPr marL="0" marR="0" lvl="0" indent="0" algn="ctr"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14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l"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14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l"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14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l"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20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l"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r>
              <a:rPr kumimoji="0" lang="en-US" altLang="zh-CN" sz="20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rPr>
              <a:t> </a:t>
            </a:r>
          </a:p>
          <a:p>
            <a:pPr marL="0" marR="0" lvl="0" indent="0" algn="l"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r>
              <a:rPr kumimoji="0" lang="en-US" altLang="zh-CN" sz="20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rPr>
              <a:t>        </a:t>
            </a:r>
            <a:endParaRPr kumimoji="0" lang="zh-CN" altLang="zh-CN" sz="20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l" defTabSz="914400" rtl="0" eaLnBrk="1" fontAlgn="base" latinLnBrk="0" hangingPunct="1">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1400" b="0" i="0" u="none" strike="noStrike" kern="1200" cap="none" spc="0" normalizeH="0" baseline="0" noProof="0" dirty="0">
              <a:ln>
                <a:noFill/>
              </a:ln>
              <a:solidFill>
                <a:sysClr val="windowText" lastClr="000000"/>
              </a:solidFill>
              <a:effectLst/>
              <a:uLnTx/>
              <a:uFillTx/>
              <a:latin typeface="新宋体" panose="02010609030101010101" pitchFamily="49" charset="-122"/>
              <a:ea typeface="新宋体" panose="02010609030101010101" pitchFamily="49" charset="-122"/>
              <a:cs typeface="+mn-cs"/>
            </a:endParaRPr>
          </a:p>
          <a:p>
            <a:pPr marL="0" marR="0" lvl="0" indent="0" algn="l" defTabSz="914400" rtl="0" eaLnBrk="1" fontAlgn="base" latinLnBrk="0" hangingPunct="1">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2000" b="0" i="0" u="none" strike="noStrike" kern="1200" cap="none" spc="0" normalizeH="0" baseline="0" noProof="0" dirty="0">
              <a:ln>
                <a:noFill/>
              </a:ln>
              <a:solidFill>
                <a:sysClr val="windowText" lastClr="000000"/>
              </a:solidFill>
              <a:effectLst/>
              <a:uLnTx/>
              <a:uFillTx/>
              <a:latin typeface="新宋体" panose="02010609030101010101" pitchFamily="49" charset="-122"/>
              <a:ea typeface="新宋体" panose="02010609030101010101" pitchFamily="49" charset="-122"/>
              <a:cs typeface="+mn-cs"/>
            </a:endParaRPr>
          </a:p>
          <a:p>
            <a:pPr marL="0" marR="0" lvl="0" indent="0" algn="l" defTabSz="914400" rtl="0" eaLnBrk="1" fontAlgn="base" latinLnBrk="0" hangingPunct="1">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2000" b="0" i="0" u="none" strike="noStrike" kern="1200" cap="none" spc="0" normalizeH="0" baseline="0" noProof="0" dirty="0">
              <a:ln>
                <a:noFill/>
              </a:ln>
              <a:solidFill>
                <a:sysClr val="windowText" lastClr="000000"/>
              </a:solidFill>
              <a:effectLst/>
              <a:uLnTx/>
              <a:uFillTx/>
              <a:latin typeface="新宋体" panose="02010609030101010101" pitchFamily="49" charset="-122"/>
              <a:ea typeface="新宋体" panose="02010609030101010101" pitchFamily="49" charset="-122"/>
              <a:cs typeface="+mn-cs"/>
            </a:endParaRPr>
          </a:p>
          <a:p>
            <a:pPr marL="0" marR="0" lvl="0" indent="0" algn="l" defTabSz="914400" rtl="0" eaLnBrk="1" fontAlgn="base" latinLnBrk="0" hangingPunct="1">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2000" b="0" i="0" u="none" strike="noStrike" kern="1200" cap="none" spc="0" normalizeH="0" baseline="0" noProof="0" dirty="0">
              <a:ln>
                <a:noFill/>
              </a:ln>
              <a:solidFill>
                <a:sysClr val="windowText" lastClr="000000"/>
              </a:solidFill>
              <a:effectLst/>
              <a:uLnTx/>
              <a:uFillTx/>
              <a:latin typeface="新宋体" panose="02010609030101010101" pitchFamily="49" charset="-122"/>
              <a:ea typeface="新宋体" panose="02010609030101010101" pitchFamily="49" charset="-122"/>
              <a:cs typeface="+mn-cs"/>
            </a:endParaRPr>
          </a:p>
          <a:p>
            <a:pPr marL="0" marR="0" lvl="0" indent="0" algn="l" defTabSz="914400" rtl="0" eaLnBrk="1" fontAlgn="base" latinLnBrk="0" hangingPunct="1">
              <a:lnSpc>
                <a:spcPct val="100000"/>
              </a:lnSpc>
              <a:spcBef>
                <a:spcPts val="600"/>
              </a:spcBef>
              <a:spcAft>
                <a:spcPct val="0"/>
              </a:spcAft>
              <a:buClr>
                <a:srgbClr val="B13F9A"/>
              </a:buClr>
              <a:buSzPct val="73000"/>
              <a:buFont typeface="Wingdings 2" panose="05020102010507070707" pitchFamily="18" charset="2"/>
              <a:buNone/>
              <a:tabLst/>
              <a:defRPr/>
            </a:pPr>
            <a:r>
              <a:rPr kumimoji="0" lang="en-US" altLang="zh-CN" sz="2000" b="0" i="0" u="none" strike="noStrike" kern="1200" cap="none" spc="0" normalizeH="0" baseline="0" noProof="0" dirty="0">
                <a:ln>
                  <a:noFill/>
                </a:ln>
                <a:solidFill>
                  <a:sysClr val="windowText" lastClr="000000"/>
                </a:solidFill>
                <a:effectLst/>
                <a:uLnTx/>
                <a:uFillTx/>
                <a:latin typeface="新宋体" panose="02010609030101010101" pitchFamily="49" charset="-122"/>
                <a:ea typeface="新宋体" panose="02010609030101010101" pitchFamily="49" charset="-122"/>
                <a:cs typeface="+mn-cs"/>
              </a:rPr>
              <a:t>              </a:t>
            </a:r>
            <a:endParaRPr kumimoji="0" lang="en-US" altLang="zh-CN" sz="20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l" defTabSz="914400" rtl="0" eaLnBrk="1" fontAlgn="base" latinLnBrk="0" hangingPunct="1">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20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l" defTabSz="914400" rtl="0" eaLnBrk="1" fontAlgn="base" latinLnBrk="0" hangingPunct="1">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2000" b="0" i="0" u="none" strike="noStrike" kern="1200" cap="none" spc="0" normalizeH="0" baseline="0" noProof="0" dirty="0">
              <a:ln>
                <a:noFill/>
              </a:ln>
              <a:solidFill>
                <a:sysClr val="windowText" lastClr="000000"/>
              </a:solidFill>
              <a:effectLst/>
              <a:uLnTx/>
              <a:uFillTx/>
              <a:latin typeface="新宋体" panose="02010609030101010101" pitchFamily="49" charset="-122"/>
              <a:ea typeface="新宋体" panose="02010609030101010101" pitchFamily="49" charset="-122"/>
              <a:cs typeface="+mn-cs"/>
            </a:endParaRPr>
          </a:p>
          <a:p>
            <a:pPr marL="0" marR="0" lvl="0" indent="0" algn="l" defTabSz="914400" rtl="0" eaLnBrk="1" fontAlgn="base" latinLnBrk="0" hangingPunct="1">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2000" b="0" i="0" u="none" strike="noStrike" kern="1200" cap="none" spc="0" normalizeH="0" baseline="0" noProof="0" dirty="0">
              <a:ln>
                <a:noFill/>
              </a:ln>
              <a:solidFill>
                <a:sysClr val="windowText" lastClr="000000"/>
              </a:solidFill>
              <a:effectLst/>
              <a:uLnTx/>
              <a:uFillTx/>
              <a:latin typeface="新宋体" panose="02010609030101010101" pitchFamily="49" charset="-122"/>
              <a:ea typeface="新宋体" panose="02010609030101010101" pitchFamily="49" charset="-122"/>
              <a:cs typeface="+mn-cs"/>
            </a:endParaRPr>
          </a:p>
          <a:p>
            <a:pPr marL="0" marR="0" lvl="0" indent="0" algn="l" defTabSz="914400" rtl="0" eaLnBrk="1" fontAlgn="base" latinLnBrk="0" hangingPunct="1">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2000" b="0" i="0" u="none" strike="noStrike" kern="1200" cap="none" spc="0" normalizeH="0" baseline="0" noProof="0" dirty="0">
              <a:ln>
                <a:noFill/>
              </a:ln>
              <a:solidFill>
                <a:sysClr val="windowText" lastClr="000000"/>
              </a:solidFill>
              <a:effectLst/>
              <a:uLnTx/>
              <a:uFillTx/>
              <a:latin typeface="新宋体" panose="02010609030101010101" pitchFamily="49" charset="-122"/>
              <a:ea typeface="新宋体" panose="02010609030101010101" pitchFamily="49" charset="-122"/>
              <a:cs typeface="+mn-cs"/>
            </a:endParaRPr>
          </a:p>
          <a:p>
            <a:pPr marL="0" marR="0" lvl="0" indent="0" algn="l" defTabSz="914400" rtl="0" eaLnBrk="1" fontAlgn="base" latinLnBrk="0" hangingPunct="1">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2000" b="0" i="0" u="none" strike="noStrike" kern="1200" cap="none" spc="0" normalizeH="0" baseline="0" noProof="0" dirty="0">
              <a:ln>
                <a:noFill/>
              </a:ln>
              <a:solidFill>
                <a:sysClr val="windowText" lastClr="000000"/>
              </a:solidFill>
              <a:effectLst/>
              <a:uLnTx/>
              <a:uFillTx/>
              <a:latin typeface="新宋体" panose="02010609030101010101" pitchFamily="49" charset="-122"/>
              <a:ea typeface="新宋体" panose="02010609030101010101" pitchFamily="49" charset="-122"/>
              <a:cs typeface="+mn-cs"/>
            </a:endParaRPr>
          </a:p>
          <a:p>
            <a:pPr marL="0" marR="0" lvl="0" indent="0" algn="l" defTabSz="914400" rtl="0" eaLnBrk="1" fontAlgn="base" latinLnBrk="0" hangingPunct="1">
              <a:lnSpc>
                <a:spcPct val="100000"/>
              </a:lnSpc>
              <a:spcBef>
                <a:spcPts val="600"/>
              </a:spcBef>
              <a:spcAft>
                <a:spcPct val="0"/>
              </a:spcAft>
              <a:buClr>
                <a:srgbClr val="B13F9A"/>
              </a:buClr>
              <a:buSzPct val="73000"/>
              <a:buFont typeface="Wingdings 2" panose="05020102010507070707" pitchFamily="18" charset="2"/>
              <a:buNone/>
              <a:tabLst/>
              <a:defRPr/>
            </a:pPr>
            <a:endParaRPr kumimoji="0" lang="zh-CN" altLang="en-US" sz="2000" b="0" i="0" u="none" strike="noStrike" kern="1200" cap="none" spc="0" normalizeH="0" baseline="0" noProof="0" dirty="0">
              <a:ln>
                <a:noFill/>
              </a:ln>
              <a:solidFill>
                <a:sysClr val="windowText" lastClr="000000"/>
              </a:solidFill>
              <a:effectLst/>
              <a:uLnTx/>
              <a:uFillTx/>
              <a:latin typeface="新宋体" panose="02010609030101010101" pitchFamily="49" charset="-122"/>
              <a:ea typeface="新宋体" panose="02010609030101010101" pitchFamily="49" charset="-122"/>
              <a:cs typeface="+mn-cs"/>
            </a:endParaRPr>
          </a:p>
        </p:txBody>
      </p:sp>
      <p:pic>
        <p:nvPicPr>
          <p:cNvPr id="5" name="Picture 2" descr="2015-05-31 13-05-3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3728" y="2708920"/>
            <a:ext cx="4768530" cy="3312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1614533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p:cNvSpPr txBox="1">
            <a:spLocks/>
          </p:cNvSpPr>
          <p:nvPr/>
        </p:nvSpPr>
        <p:spPr bwMode="auto">
          <a:xfrm>
            <a:off x="1043608" y="908720"/>
            <a:ext cx="7239000" cy="545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600"/>
              </a:spcBef>
              <a:spcAft>
                <a:spcPct val="0"/>
              </a:spcAft>
              <a:buClr>
                <a:schemeClr val="tx2"/>
              </a:buClr>
              <a:buSzPct val="73000"/>
              <a:buFont typeface="Wingdings 2" panose="05020102010507070707" pitchFamily="18" charset="2"/>
              <a:buChar char=""/>
              <a:defRPr sz="2600" kern="1200">
                <a:solidFill>
                  <a:schemeClr val="tx1"/>
                </a:solidFill>
                <a:latin typeface="+mn-lt"/>
                <a:ea typeface="+mn-ea"/>
                <a:cs typeface="+mn-cs"/>
              </a:defRPr>
            </a:lvl1pPr>
            <a:lvl2pPr marL="520700" indent="-228600" algn="l" rtl="0" eaLnBrk="0" fontAlgn="base" hangingPunct="0">
              <a:spcBef>
                <a:spcPts val="500"/>
              </a:spcBef>
              <a:spcAft>
                <a:spcPct val="0"/>
              </a:spcAft>
              <a:buClr>
                <a:srgbClr val="F9B639"/>
              </a:buClr>
              <a:buSzPct val="80000"/>
              <a:buFont typeface="Wingdings 2" panose="05020102010507070707" pitchFamily="18" charset="2"/>
              <a:buChar char=""/>
              <a:defRPr sz="2300" kern="1200">
                <a:solidFill>
                  <a:srgbClr val="6C6C6C"/>
                </a:solidFill>
                <a:latin typeface="+mn-lt"/>
                <a:ea typeface="+mn-ea"/>
                <a:cs typeface="+mn-cs"/>
              </a:defRPr>
            </a:lvl2pPr>
            <a:lvl3pPr marL="758825" indent="-228600" algn="l" rtl="0" eaLnBrk="0" fontAlgn="base" hangingPunct="0">
              <a:spcBef>
                <a:spcPts val="400"/>
              </a:spcBef>
              <a:spcAft>
                <a:spcPct val="0"/>
              </a:spcAft>
              <a:buClr>
                <a:srgbClr val="F9B639"/>
              </a:buClr>
              <a:buSzPct val="60000"/>
              <a:buFont typeface="Wingdings" panose="05000000000000000000" pitchFamily="2" charset="2"/>
              <a:buChar char=""/>
              <a:defRPr sz="2000" kern="1200">
                <a:solidFill>
                  <a:schemeClr val="tx1"/>
                </a:solidFill>
                <a:latin typeface="+mn-lt"/>
                <a:ea typeface="+mn-ea"/>
                <a:cs typeface="+mn-cs"/>
              </a:defRPr>
            </a:lvl3pPr>
            <a:lvl4pPr marL="1004888" indent="-228600" algn="l" rtl="0" eaLnBrk="0" fontAlgn="base" hangingPunct="0">
              <a:spcBef>
                <a:spcPct val="20000"/>
              </a:spcBef>
              <a:spcAft>
                <a:spcPct val="0"/>
              </a:spcAft>
              <a:buClr>
                <a:srgbClr val="F9B639"/>
              </a:buClr>
              <a:buSzPct val="80000"/>
              <a:buFont typeface="Wingdings 2" panose="05020102010507070707" pitchFamily="18" charset="2"/>
              <a:buChar char=""/>
              <a:defRPr sz="2000" kern="1200">
                <a:solidFill>
                  <a:srgbClr val="6C6C6C"/>
                </a:solidFill>
                <a:latin typeface="+mn-lt"/>
                <a:ea typeface="+mn-ea"/>
                <a:cs typeface="+mn-cs"/>
              </a:defRPr>
            </a:lvl4pPr>
            <a:lvl5pPr marL="1279525" indent="-228600" algn="l" rtl="0" eaLnBrk="0" fontAlgn="base" hangingPunct="0">
              <a:spcBef>
                <a:spcPts val="400"/>
              </a:spcBef>
              <a:spcAft>
                <a:spcPct val="0"/>
              </a:spcAft>
              <a:buClr>
                <a:srgbClr val="F9B639"/>
              </a:buClr>
              <a:buSzPct val="70000"/>
              <a:buFont typeface="Wingdings" panose="05000000000000000000" pitchFamily="2" charset="2"/>
              <a:buChar char=""/>
              <a:defRPr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lgn="l" eaLnBrk="1" hangingPunct="1">
              <a:buClr>
                <a:srgbClr val="B13F9A"/>
              </a:buClr>
              <a:buNone/>
            </a:pPr>
            <a:r>
              <a:rPr lang="en-US" altLang="zh-CN" sz="2000" dirty="0">
                <a:solidFill>
                  <a:sysClr val="windowText" lastClr="000000"/>
                </a:solidFill>
                <a:latin typeface="微软雅黑" panose="020B0503020204020204" pitchFamily="34" charset="-122"/>
                <a:ea typeface="微软雅黑" panose="020B0503020204020204" pitchFamily="34" charset="-122"/>
              </a:rPr>
              <a:t>3</a:t>
            </a:r>
            <a:r>
              <a:rPr lang="zh-CN" altLang="en-US" sz="2000" dirty="0">
                <a:solidFill>
                  <a:sysClr val="windowText" lastClr="000000"/>
                </a:solidFill>
                <a:latin typeface="微软雅黑" panose="020B0503020204020204" pitchFamily="34" charset="-122"/>
                <a:ea typeface="微软雅黑" panose="020B0503020204020204" pitchFamily="34" charset="-122"/>
              </a:rPr>
              <a:t>）</a:t>
            </a:r>
            <a:r>
              <a:rPr lang="zh-CN" altLang="zh-CN" sz="2000" dirty="0">
                <a:solidFill>
                  <a:sysClr val="windowText" lastClr="000000"/>
                </a:solidFill>
                <a:latin typeface="微软雅黑" panose="020B0503020204020204" pitchFamily="34" charset="-122"/>
                <a:ea typeface="微软雅黑" panose="020B0503020204020204" pitchFamily="34" charset="-122"/>
              </a:rPr>
              <a:t>分析仿真电路</a:t>
            </a:r>
            <a:endParaRPr lang="en-US" altLang="zh-CN" sz="2000" dirty="0">
              <a:solidFill>
                <a:sysClr val="windowText" lastClr="000000"/>
              </a:solidFill>
              <a:latin typeface="微软雅黑" panose="020B0503020204020204" pitchFamily="34" charset="-122"/>
              <a:ea typeface="微软雅黑" panose="020B0503020204020204" pitchFamily="34" charset="-122"/>
            </a:endParaRPr>
          </a:p>
          <a:p>
            <a:pPr marL="0" indent="0" algn="l" eaLnBrk="0" hangingPunct="0">
              <a:buClr>
                <a:srgbClr val="B13F9A"/>
              </a:buClr>
              <a:buNone/>
            </a:pPr>
            <a:r>
              <a:rPr lang="en-US" altLang="zh-CN" sz="2000" dirty="0">
                <a:solidFill>
                  <a:sysClr val="windowText" lastClr="000000"/>
                </a:solidFill>
                <a:latin typeface="微软雅黑" panose="020B0503020204020204" pitchFamily="34" charset="-122"/>
                <a:ea typeface="微软雅黑" panose="020B0503020204020204" pitchFamily="34" charset="-122"/>
              </a:rPr>
              <a:t>    </a:t>
            </a:r>
            <a:r>
              <a:rPr lang="zh-CN" altLang="zh-CN" sz="2000" dirty="0">
                <a:solidFill>
                  <a:sysClr val="windowText" lastClr="000000"/>
                </a:solidFill>
                <a:latin typeface="微软雅黑" panose="020B0503020204020204" pitchFamily="34" charset="-122"/>
                <a:ea typeface="微软雅黑" panose="020B0503020204020204" pitchFamily="34" charset="-122"/>
              </a:rPr>
              <a:t>单击</a:t>
            </a:r>
            <a:r>
              <a:rPr lang="en-US" altLang="zh-CN" sz="2000" dirty="0">
                <a:solidFill>
                  <a:sysClr val="windowText" lastClr="000000"/>
                </a:solidFill>
                <a:latin typeface="微软雅黑" panose="020B0503020204020204" pitchFamily="34" charset="-122"/>
                <a:ea typeface="微软雅黑" panose="020B0503020204020204" pitchFamily="34" charset="-122"/>
              </a:rPr>
              <a:t>Simulate\Run</a:t>
            </a:r>
            <a:r>
              <a:rPr lang="zh-CN" altLang="zh-CN" sz="2000" dirty="0">
                <a:solidFill>
                  <a:sysClr val="windowText" lastClr="000000"/>
                </a:solidFill>
                <a:latin typeface="微软雅黑" panose="020B0503020204020204" pitchFamily="34" charset="-122"/>
                <a:ea typeface="微软雅黑" panose="020B0503020204020204" pitchFamily="34" charset="-122"/>
              </a:rPr>
              <a:t>开始仿真，结果如图</a:t>
            </a:r>
            <a:r>
              <a:rPr lang="en-US" altLang="zh-CN" sz="2000" dirty="0">
                <a:solidFill>
                  <a:sysClr val="windowText" lastClr="000000"/>
                </a:solidFill>
                <a:latin typeface="微软雅黑" panose="020B0503020204020204" pitchFamily="34" charset="-122"/>
                <a:ea typeface="微软雅黑" panose="020B0503020204020204" pitchFamily="34" charset="-122"/>
              </a:rPr>
              <a:t>6</a:t>
            </a:r>
            <a:r>
              <a:rPr lang="zh-CN" altLang="zh-CN" sz="2000" dirty="0">
                <a:solidFill>
                  <a:sysClr val="windowText" lastClr="000000"/>
                </a:solidFill>
                <a:latin typeface="微软雅黑" panose="020B0503020204020204" pitchFamily="34" charset="-122"/>
                <a:ea typeface="微软雅黑" panose="020B0503020204020204" pitchFamily="34" charset="-122"/>
              </a:rPr>
              <a:t>所示。</a:t>
            </a:r>
          </a:p>
          <a:p>
            <a:pPr marL="0" marR="0" lvl="0" indent="0" algn="just"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20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l"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r>
              <a:rPr kumimoji="0" lang="en-US" altLang="zh-CN" sz="14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rPr>
              <a:t>                                  </a:t>
            </a:r>
          </a:p>
          <a:p>
            <a:pPr marL="0" marR="0" lvl="0" indent="0" algn="ctr"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14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ctr"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14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ctr"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14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ctr"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lang="en-US" altLang="zh-CN" sz="1400" dirty="0">
              <a:solidFill>
                <a:sysClr val="windowText" lastClr="000000"/>
              </a:solidFill>
              <a:latin typeface="Trebuchet MS"/>
              <a:ea typeface="华文新魏" panose="02010800040101010101" pitchFamily="2" charset="-122"/>
            </a:endParaRPr>
          </a:p>
          <a:p>
            <a:pPr marL="0" marR="0" lvl="0" indent="0" algn="ctr"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14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ctr"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lang="en-US" altLang="zh-CN" sz="1400" dirty="0">
              <a:solidFill>
                <a:sysClr val="windowText" lastClr="000000"/>
              </a:solidFill>
              <a:latin typeface="Trebuchet MS"/>
              <a:ea typeface="华文新魏" panose="02010800040101010101" pitchFamily="2" charset="-122"/>
            </a:endParaRPr>
          </a:p>
          <a:p>
            <a:pPr marL="0" marR="0" lvl="0" indent="0" algn="ctr"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14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ctr"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lang="en-US" altLang="zh-CN" sz="1400" dirty="0">
              <a:solidFill>
                <a:sysClr val="windowText" lastClr="000000"/>
              </a:solidFill>
              <a:latin typeface="Trebuchet MS"/>
              <a:ea typeface="华文新魏" panose="02010800040101010101" pitchFamily="2" charset="-122"/>
            </a:endParaRPr>
          </a:p>
          <a:p>
            <a:pPr marL="0" marR="0" lvl="0" indent="0" algn="ctr"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14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ctr"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lang="en-US" altLang="zh-CN" sz="1400" dirty="0">
              <a:solidFill>
                <a:sysClr val="windowText" lastClr="000000"/>
              </a:solidFill>
              <a:latin typeface="Trebuchet MS"/>
              <a:ea typeface="华文新魏" panose="02010800040101010101" pitchFamily="2" charset="-122"/>
            </a:endParaRPr>
          </a:p>
          <a:p>
            <a:pPr marL="0" marR="0" lvl="0" indent="0" algn="ctr"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14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ctr"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14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ctr"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14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ctr"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r>
              <a:rPr kumimoji="0" lang="zh-CN" altLang="zh-CN" sz="16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图</a:t>
            </a:r>
            <a:r>
              <a:rPr kumimoji="0" lang="en-US" altLang="zh-CN" sz="16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6 </a:t>
            </a:r>
            <a:r>
              <a:rPr kumimoji="0" lang="zh-CN" altLang="zh-CN" sz="16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万用表面板</a:t>
            </a:r>
            <a:endParaRPr kumimoji="0" lang="en-US" altLang="zh-CN" sz="16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endParaRPr>
          </a:p>
          <a:p>
            <a:pPr marL="0" marR="0" lvl="0" indent="0" algn="l"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14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l"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14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l"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20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l"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r>
              <a:rPr kumimoji="0" lang="en-US" altLang="zh-CN" sz="20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rPr>
              <a:t> </a:t>
            </a:r>
          </a:p>
          <a:p>
            <a:pPr marL="0" marR="0" lvl="0" indent="0" algn="l"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r>
              <a:rPr kumimoji="0" lang="en-US" altLang="zh-CN" sz="20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rPr>
              <a:t>        </a:t>
            </a:r>
            <a:endParaRPr kumimoji="0" lang="zh-CN" altLang="zh-CN" sz="20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l" defTabSz="914400" rtl="0" eaLnBrk="1" fontAlgn="base" latinLnBrk="0" hangingPunct="1">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1400" b="0" i="0" u="none" strike="noStrike" kern="1200" cap="none" spc="0" normalizeH="0" baseline="0" noProof="0" dirty="0">
              <a:ln>
                <a:noFill/>
              </a:ln>
              <a:solidFill>
                <a:sysClr val="windowText" lastClr="000000"/>
              </a:solidFill>
              <a:effectLst/>
              <a:uLnTx/>
              <a:uFillTx/>
              <a:latin typeface="新宋体" panose="02010609030101010101" pitchFamily="49" charset="-122"/>
              <a:ea typeface="新宋体" panose="02010609030101010101" pitchFamily="49" charset="-122"/>
              <a:cs typeface="+mn-cs"/>
            </a:endParaRPr>
          </a:p>
          <a:p>
            <a:pPr marL="0" marR="0" lvl="0" indent="0" algn="l" defTabSz="914400" rtl="0" eaLnBrk="1" fontAlgn="base" latinLnBrk="0" hangingPunct="1">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2000" b="0" i="0" u="none" strike="noStrike" kern="1200" cap="none" spc="0" normalizeH="0" baseline="0" noProof="0" dirty="0">
              <a:ln>
                <a:noFill/>
              </a:ln>
              <a:solidFill>
                <a:sysClr val="windowText" lastClr="000000"/>
              </a:solidFill>
              <a:effectLst/>
              <a:uLnTx/>
              <a:uFillTx/>
              <a:latin typeface="新宋体" panose="02010609030101010101" pitchFamily="49" charset="-122"/>
              <a:ea typeface="新宋体" panose="02010609030101010101" pitchFamily="49" charset="-122"/>
              <a:cs typeface="+mn-cs"/>
            </a:endParaRPr>
          </a:p>
          <a:p>
            <a:pPr marL="0" marR="0" lvl="0" indent="0" algn="l" defTabSz="914400" rtl="0" eaLnBrk="1" fontAlgn="base" latinLnBrk="0" hangingPunct="1">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2000" b="0" i="0" u="none" strike="noStrike" kern="1200" cap="none" spc="0" normalizeH="0" baseline="0" noProof="0" dirty="0">
              <a:ln>
                <a:noFill/>
              </a:ln>
              <a:solidFill>
                <a:sysClr val="windowText" lastClr="000000"/>
              </a:solidFill>
              <a:effectLst/>
              <a:uLnTx/>
              <a:uFillTx/>
              <a:latin typeface="新宋体" panose="02010609030101010101" pitchFamily="49" charset="-122"/>
              <a:ea typeface="新宋体" panose="02010609030101010101" pitchFamily="49" charset="-122"/>
              <a:cs typeface="+mn-cs"/>
            </a:endParaRPr>
          </a:p>
          <a:p>
            <a:pPr marL="0" marR="0" lvl="0" indent="0" algn="l" defTabSz="914400" rtl="0" eaLnBrk="1" fontAlgn="base" latinLnBrk="0" hangingPunct="1">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2000" b="0" i="0" u="none" strike="noStrike" kern="1200" cap="none" spc="0" normalizeH="0" baseline="0" noProof="0" dirty="0">
              <a:ln>
                <a:noFill/>
              </a:ln>
              <a:solidFill>
                <a:sysClr val="windowText" lastClr="000000"/>
              </a:solidFill>
              <a:effectLst/>
              <a:uLnTx/>
              <a:uFillTx/>
              <a:latin typeface="新宋体" panose="02010609030101010101" pitchFamily="49" charset="-122"/>
              <a:ea typeface="新宋体" panose="02010609030101010101" pitchFamily="49" charset="-122"/>
              <a:cs typeface="+mn-cs"/>
            </a:endParaRPr>
          </a:p>
          <a:p>
            <a:pPr marL="0" marR="0" lvl="0" indent="0" algn="l" defTabSz="914400" rtl="0" eaLnBrk="1" fontAlgn="base" latinLnBrk="0" hangingPunct="1">
              <a:lnSpc>
                <a:spcPct val="100000"/>
              </a:lnSpc>
              <a:spcBef>
                <a:spcPts val="600"/>
              </a:spcBef>
              <a:spcAft>
                <a:spcPct val="0"/>
              </a:spcAft>
              <a:buClr>
                <a:srgbClr val="B13F9A"/>
              </a:buClr>
              <a:buSzPct val="73000"/>
              <a:buFont typeface="Wingdings 2" panose="05020102010507070707" pitchFamily="18" charset="2"/>
              <a:buNone/>
              <a:tabLst/>
              <a:defRPr/>
            </a:pPr>
            <a:r>
              <a:rPr kumimoji="0" lang="en-US" altLang="zh-CN" sz="2000" b="0" i="0" u="none" strike="noStrike" kern="1200" cap="none" spc="0" normalizeH="0" baseline="0" noProof="0" dirty="0">
                <a:ln>
                  <a:noFill/>
                </a:ln>
                <a:solidFill>
                  <a:sysClr val="windowText" lastClr="000000"/>
                </a:solidFill>
                <a:effectLst/>
                <a:uLnTx/>
                <a:uFillTx/>
                <a:latin typeface="新宋体" panose="02010609030101010101" pitchFamily="49" charset="-122"/>
                <a:ea typeface="新宋体" panose="02010609030101010101" pitchFamily="49" charset="-122"/>
                <a:cs typeface="+mn-cs"/>
              </a:rPr>
              <a:t>              </a:t>
            </a:r>
            <a:endParaRPr kumimoji="0" lang="en-US" altLang="zh-CN" sz="20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l" defTabSz="914400" rtl="0" eaLnBrk="1" fontAlgn="base" latinLnBrk="0" hangingPunct="1">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20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l" defTabSz="914400" rtl="0" eaLnBrk="1" fontAlgn="base" latinLnBrk="0" hangingPunct="1">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2000" b="0" i="0" u="none" strike="noStrike" kern="1200" cap="none" spc="0" normalizeH="0" baseline="0" noProof="0" dirty="0">
              <a:ln>
                <a:noFill/>
              </a:ln>
              <a:solidFill>
                <a:sysClr val="windowText" lastClr="000000"/>
              </a:solidFill>
              <a:effectLst/>
              <a:uLnTx/>
              <a:uFillTx/>
              <a:latin typeface="新宋体" panose="02010609030101010101" pitchFamily="49" charset="-122"/>
              <a:ea typeface="新宋体" panose="02010609030101010101" pitchFamily="49" charset="-122"/>
              <a:cs typeface="+mn-cs"/>
            </a:endParaRPr>
          </a:p>
          <a:p>
            <a:pPr marL="0" marR="0" lvl="0" indent="0" algn="l" defTabSz="914400" rtl="0" eaLnBrk="1" fontAlgn="base" latinLnBrk="0" hangingPunct="1">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2000" b="0" i="0" u="none" strike="noStrike" kern="1200" cap="none" spc="0" normalizeH="0" baseline="0" noProof="0" dirty="0">
              <a:ln>
                <a:noFill/>
              </a:ln>
              <a:solidFill>
                <a:sysClr val="windowText" lastClr="000000"/>
              </a:solidFill>
              <a:effectLst/>
              <a:uLnTx/>
              <a:uFillTx/>
              <a:latin typeface="新宋体" panose="02010609030101010101" pitchFamily="49" charset="-122"/>
              <a:ea typeface="新宋体" panose="02010609030101010101" pitchFamily="49" charset="-122"/>
              <a:cs typeface="+mn-cs"/>
            </a:endParaRPr>
          </a:p>
          <a:p>
            <a:pPr marL="0" marR="0" lvl="0" indent="0" algn="l" defTabSz="914400" rtl="0" eaLnBrk="1" fontAlgn="base" latinLnBrk="0" hangingPunct="1">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2000" b="0" i="0" u="none" strike="noStrike" kern="1200" cap="none" spc="0" normalizeH="0" baseline="0" noProof="0" dirty="0">
              <a:ln>
                <a:noFill/>
              </a:ln>
              <a:solidFill>
                <a:sysClr val="windowText" lastClr="000000"/>
              </a:solidFill>
              <a:effectLst/>
              <a:uLnTx/>
              <a:uFillTx/>
              <a:latin typeface="新宋体" panose="02010609030101010101" pitchFamily="49" charset="-122"/>
              <a:ea typeface="新宋体" panose="02010609030101010101" pitchFamily="49" charset="-122"/>
              <a:cs typeface="+mn-cs"/>
            </a:endParaRPr>
          </a:p>
          <a:p>
            <a:pPr marL="0" marR="0" lvl="0" indent="0" algn="l" defTabSz="914400" rtl="0" eaLnBrk="1" fontAlgn="base" latinLnBrk="0" hangingPunct="1">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2000" b="0" i="0" u="none" strike="noStrike" kern="1200" cap="none" spc="0" normalizeH="0" baseline="0" noProof="0" dirty="0">
              <a:ln>
                <a:noFill/>
              </a:ln>
              <a:solidFill>
                <a:sysClr val="windowText" lastClr="000000"/>
              </a:solidFill>
              <a:effectLst/>
              <a:uLnTx/>
              <a:uFillTx/>
              <a:latin typeface="新宋体" panose="02010609030101010101" pitchFamily="49" charset="-122"/>
              <a:ea typeface="新宋体" panose="02010609030101010101" pitchFamily="49" charset="-122"/>
              <a:cs typeface="+mn-cs"/>
            </a:endParaRPr>
          </a:p>
          <a:p>
            <a:pPr marL="0" marR="0" lvl="0" indent="0" algn="l" defTabSz="914400" rtl="0" eaLnBrk="1" fontAlgn="base" latinLnBrk="0" hangingPunct="1">
              <a:lnSpc>
                <a:spcPct val="100000"/>
              </a:lnSpc>
              <a:spcBef>
                <a:spcPts val="600"/>
              </a:spcBef>
              <a:spcAft>
                <a:spcPct val="0"/>
              </a:spcAft>
              <a:buClr>
                <a:srgbClr val="B13F9A"/>
              </a:buClr>
              <a:buSzPct val="73000"/>
              <a:buFont typeface="Wingdings 2" panose="05020102010507070707" pitchFamily="18" charset="2"/>
              <a:buNone/>
              <a:tabLst/>
              <a:defRPr/>
            </a:pPr>
            <a:endParaRPr kumimoji="0" lang="zh-CN" altLang="en-US" sz="2000" b="0" i="0" u="none" strike="noStrike" kern="1200" cap="none" spc="0" normalizeH="0" baseline="0" noProof="0" dirty="0">
              <a:ln>
                <a:noFill/>
              </a:ln>
              <a:solidFill>
                <a:sysClr val="windowText" lastClr="000000"/>
              </a:solidFill>
              <a:effectLst/>
              <a:uLnTx/>
              <a:uFillTx/>
              <a:latin typeface="新宋体" panose="02010609030101010101" pitchFamily="49" charset="-122"/>
              <a:ea typeface="新宋体" panose="02010609030101010101" pitchFamily="49" charset="-122"/>
              <a:cs typeface="+mn-cs"/>
            </a:endParaRPr>
          </a:p>
        </p:txBody>
      </p:sp>
      <p:pic>
        <p:nvPicPr>
          <p:cNvPr id="7" name="图片 6"/>
          <p:cNvPicPr>
            <a:picLocks noChangeAspect="1"/>
          </p:cNvPicPr>
          <p:nvPr/>
        </p:nvPicPr>
        <p:blipFill>
          <a:blip r:embed="rId2"/>
          <a:stretch>
            <a:fillRect/>
          </a:stretch>
        </p:blipFill>
        <p:spPr>
          <a:xfrm>
            <a:off x="2898912" y="2132856"/>
            <a:ext cx="3528392" cy="3477986"/>
          </a:xfrm>
          <a:prstGeom prst="rect">
            <a:avLst/>
          </a:prstGeom>
        </p:spPr>
      </p:pic>
    </p:spTree>
    <p:extLst>
      <p:ext uri="{BB962C8B-B14F-4D97-AF65-F5344CB8AC3E}">
        <p14:creationId xmlns:p14="http://schemas.microsoft.com/office/powerpoint/2010/main" val="284491938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71600" y="692696"/>
            <a:ext cx="7920880" cy="1708160"/>
          </a:xfrm>
          <a:prstGeom prst="rect">
            <a:avLst/>
          </a:prstGeom>
        </p:spPr>
        <p:txBody>
          <a:bodyPr wrap="square">
            <a:spAutoFit/>
          </a:bodyPr>
          <a:lstStyle/>
          <a:p>
            <a:pPr lvl="0" fontAlgn="base">
              <a:spcBef>
                <a:spcPts val="600"/>
              </a:spcBef>
              <a:spcAft>
                <a:spcPct val="0"/>
              </a:spcAft>
              <a:buClr>
                <a:srgbClr val="B13F9A"/>
              </a:buClr>
              <a:buSzPct val="73000"/>
            </a:pPr>
            <a:r>
              <a:rPr lang="en-US" altLang="zh-CN" sz="2000" dirty="0">
                <a:solidFill>
                  <a:sysClr val="windowText" lastClr="000000"/>
                </a:solidFill>
                <a:latin typeface="微软雅黑" panose="020B0503020204020204" pitchFamily="34" charset="-122"/>
                <a:ea typeface="微软雅黑" panose="020B0503020204020204" pitchFamily="34" charset="-122"/>
              </a:rPr>
              <a:t>4</a:t>
            </a:r>
            <a:r>
              <a:rPr lang="zh-CN" altLang="en-US" sz="2000" dirty="0">
                <a:solidFill>
                  <a:sysClr val="windowText" lastClr="000000"/>
                </a:solidFill>
                <a:latin typeface="微软雅黑" panose="020B0503020204020204" pitchFamily="34" charset="-122"/>
                <a:ea typeface="微软雅黑" panose="020B0503020204020204" pitchFamily="34" charset="-122"/>
              </a:rPr>
              <a:t>）</a:t>
            </a:r>
            <a:r>
              <a:rPr lang="zh-CN" altLang="zh-CN" sz="2000" dirty="0">
                <a:solidFill>
                  <a:sysClr val="windowText" lastClr="000000"/>
                </a:solidFill>
                <a:latin typeface="微软雅黑" panose="020B0503020204020204" pitchFamily="34" charset="-122"/>
                <a:ea typeface="微软雅黑" panose="020B0503020204020204" pitchFamily="34" charset="-122"/>
              </a:rPr>
              <a:t>保存电路</a:t>
            </a:r>
            <a:endParaRPr lang="en-US" altLang="zh-CN" sz="2000" dirty="0">
              <a:solidFill>
                <a:sysClr val="windowText" lastClr="000000"/>
              </a:solidFill>
              <a:latin typeface="微软雅黑" panose="020B0503020204020204" pitchFamily="34" charset="-122"/>
              <a:ea typeface="微软雅黑" panose="020B0503020204020204" pitchFamily="34" charset="-122"/>
            </a:endParaRPr>
          </a:p>
          <a:p>
            <a:pPr lvl="0" eaLnBrk="0" fontAlgn="base" hangingPunct="0">
              <a:spcBef>
                <a:spcPts val="600"/>
              </a:spcBef>
              <a:spcAft>
                <a:spcPct val="0"/>
              </a:spcAft>
              <a:buClr>
                <a:srgbClr val="B13F9A"/>
              </a:buClr>
              <a:buSzPct val="73000"/>
            </a:pPr>
            <a:r>
              <a:rPr lang="en-US" altLang="zh-CN" sz="2000" dirty="0">
                <a:solidFill>
                  <a:sysClr val="windowText" lastClr="000000"/>
                </a:solidFill>
                <a:latin typeface="微软雅黑" panose="020B0503020204020204" pitchFamily="34" charset="-122"/>
                <a:ea typeface="微软雅黑" panose="020B0503020204020204" pitchFamily="34" charset="-122"/>
              </a:rPr>
              <a:t>     </a:t>
            </a:r>
            <a:r>
              <a:rPr lang="zh-CN" altLang="zh-CN" sz="2000" dirty="0">
                <a:solidFill>
                  <a:sysClr val="windowText" lastClr="000000"/>
                </a:solidFill>
                <a:latin typeface="微软雅黑" panose="020B0503020204020204" pitchFamily="34" charset="-122"/>
                <a:ea typeface="微软雅黑" panose="020B0503020204020204" pitchFamily="34" charset="-122"/>
              </a:rPr>
              <a:t>创建电路、编辑电路、仿真分析等工作完成后，可以将电路文件存盘。存盘的方法与其他</a:t>
            </a:r>
            <a:r>
              <a:rPr lang="en-US" altLang="zh-CN" sz="2000" dirty="0">
                <a:solidFill>
                  <a:sysClr val="windowText" lastClr="000000"/>
                </a:solidFill>
                <a:latin typeface="微软雅黑" panose="020B0503020204020204" pitchFamily="34" charset="-122"/>
                <a:ea typeface="微软雅黑" panose="020B0503020204020204" pitchFamily="34" charset="-122"/>
              </a:rPr>
              <a:t>Windows</a:t>
            </a:r>
            <a:r>
              <a:rPr lang="zh-CN" altLang="zh-CN" sz="2000" dirty="0">
                <a:solidFill>
                  <a:sysClr val="windowText" lastClr="000000"/>
                </a:solidFill>
                <a:latin typeface="微软雅黑" panose="020B0503020204020204" pitchFamily="34" charset="-122"/>
                <a:ea typeface="微软雅黑" panose="020B0503020204020204" pitchFamily="34" charset="-122"/>
              </a:rPr>
              <a:t>应用软件一样，第一次保存新创建的电路文件时，默认的文件名为</a:t>
            </a:r>
            <a:r>
              <a:rPr lang="en-US" altLang="zh-CN" sz="2000" dirty="0">
                <a:solidFill>
                  <a:sysClr val="windowText" lastClr="000000"/>
                </a:solidFill>
                <a:latin typeface="微软雅黑" panose="020B0503020204020204" pitchFamily="34" charset="-122"/>
                <a:ea typeface="微软雅黑" panose="020B0503020204020204" pitchFamily="34" charset="-122"/>
              </a:rPr>
              <a:t>Design1.ms13</a:t>
            </a:r>
            <a:r>
              <a:rPr lang="zh-CN" altLang="zh-CN" sz="2000" dirty="0">
                <a:solidFill>
                  <a:sysClr val="windowText" lastClr="000000"/>
                </a:solidFill>
                <a:latin typeface="微软雅黑" panose="020B0503020204020204" pitchFamily="34" charset="-122"/>
                <a:ea typeface="微软雅黑" panose="020B0503020204020204" pitchFamily="34" charset="-122"/>
              </a:rPr>
              <a:t>，当然，也可以更改文件名和存放路径。</a:t>
            </a:r>
          </a:p>
        </p:txBody>
      </p:sp>
      <p:sp>
        <p:nvSpPr>
          <p:cNvPr id="5" name="矩形 4"/>
          <p:cNvSpPr/>
          <p:nvPr/>
        </p:nvSpPr>
        <p:spPr>
          <a:xfrm>
            <a:off x="971600" y="2492896"/>
            <a:ext cx="7920880" cy="1400383"/>
          </a:xfrm>
          <a:prstGeom prst="rect">
            <a:avLst/>
          </a:prstGeom>
        </p:spPr>
        <p:txBody>
          <a:bodyPr wrap="square">
            <a:spAutoFit/>
          </a:bodyPr>
          <a:lstStyle/>
          <a:p>
            <a:pPr lvl="0" fontAlgn="base">
              <a:spcBef>
                <a:spcPts val="600"/>
              </a:spcBef>
              <a:spcAft>
                <a:spcPct val="0"/>
              </a:spcAft>
              <a:buClr>
                <a:srgbClr val="B13F9A"/>
              </a:buClr>
              <a:buSzPct val="73000"/>
            </a:pPr>
            <a:r>
              <a:rPr lang="en-US" altLang="zh-CN" sz="2000" dirty="0">
                <a:solidFill>
                  <a:sysClr val="windowText" lastClr="000000"/>
                </a:solidFill>
                <a:latin typeface="微软雅黑" panose="020B0503020204020204" pitchFamily="34" charset="-122"/>
                <a:ea typeface="微软雅黑" panose="020B0503020204020204" pitchFamily="34" charset="-122"/>
              </a:rPr>
              <a:t>5</a:t>
            </a:r>
            <a:r>
              <a:rPr lang="zh-CN" altLang="en-US" sz="2000" dirty="0">
                <a:solidFill>
                  <a:sysClr val="windowText" lastClr="000000"/>
                </a:solidFill>
                <a:latin typeface="微软雅黑" panose="020B0503020204020204" pitchFamily="34" charset="-122"/>
                <a:ea typeface="微软雅黑" panose="020B0503020204020204" pitchFamily="34" charset="-122"/>
              </a:rPr>
              <a:t>）</a:t>
            </a:r>
            <a:r>
              <a:rPr lang="zh-CN" altLang="zh-CN" sz="2000" dirty="0">
                <a:solidFill>
                  <a:sysClr val="windowText" lastClr="000000"/>
                </a:solidFill>
                <a:latin typeface="微软雅黑" panose="020B0503020204020204" pitchFamily="34" charset="-122"/>
                <a:ea typeface="微软雅黑" panose="020B0503020204020204" pitchFamily="34" charset="-122"/>
              </a:rPr>
              <a:t>扩展条</a:t>
            </a:r>
            <a:r>
              <a:rPr lang="en-US" altLang="zh-CN" sz="2000" dirty="0">
                <a:solidFill>
                  <a:sysClr val="windowText" lastClr="000000"/>
                </a:solidFill>
                <a:latin typeface="微软雅黑" panose="020B0503020204020204" pitchFamily="34" charset="-122"/>
                <a:ea typeface="微软雅黑" panose="020B0503020204020204" pitchFamily="34" charset="-122"/>
              </a:rPr>
              <a:t>Spreadsheet View</a:t>
            </a:r>
            <a:r>
              <a:rPr lang="zh-CN" altLang="zh-CN" sz="2000" dirty="0">
                <a:solidFill>
                  <a:sysClr val="windowText" lastClr="000000"/>
                </a:solidFill>
                <a:latin typeface="微软雅黑" panose="020B0503020204020204" pitchFamily="34" charset="-122"/>
                <a:ea typeface="微软雅黑" panose="020B0503020204020204" pitchFamily="34" charset="-122"/>
              </a:rPr>
              <a:t>（电路元件属性视窗）的应用</a:t>
            </a:r>
            <a:endParaRPr lang="en-US" altLang="zh-CN" sz="2000" dirty="0">
              <a:solidFill>
                <a:sysClr val="windowText" lastClr="000000"/>
              </a:solidFill>
              <a:latin typeface="微软雅黑" panose="020B0503020204020204" pitchFamily="34" charset="-122"/>
              <a:ea typeface="微软雅黑" panose="020B0503020204020204" pitchFamily="34" charset="-122"/>
            </a:endParaRPr>
          </a:p>
          <a:p>
            <a:pPr lvl="0" eaLnBrk="0" fontAlgn="base" hangingPunct="0">
              <a:spcBef>
                <a:spcPts val="600"/>
              </a:spcBef>
              <a:spcAft>
                <a:spcPct val="0"/>
              </a:spcAft>
              <a:buClr>
                <a:srgbClr val="B13F9A"/>
              </a:buClr>
              <a:buSzPct val="73000"/>
            </a:pPr>
            <a:r>
              <a:rPr lang="en-US" altLang="zh-CN" sz="2000" dirty="0">
                <a:solidFill>
                  <a:sysClr val="windowText" lastClr="000000"/>
                </a:solidFill>
                <a:latin typeface="微软雅黑" panose="020B0503020204020204" pitchFamily="34" charset="-122"/>
                <a:ea typeface="微软雅黑" panose="020B0503020204020204" pitchFamily="34" charset="-122"/>
              </a:rPr>
              <a:t>     </a:t>
            </a:r>
            <a:r>
              <a:rPr lang="zh-CN" altLang="zh-CN" sz="2000" dirty="0">
                <a:solidFill>
                  <a:sysClr val="windowText" lastClr="000000"/>
                </a:solidFill>
                <a:latin typeface="微软雅黑" panose="020B0503020204020204" pitchFamily="34" charset="-122"/>
                <a:ea typeface="微软雅黑" panose="020B0503020204020204" pitchFamily="34" charset="-122"/>
              </a:rPr>
              <a:t>在</a:t>
            </a:r>
            <a:r>
              <a:rPr lang="en-US" altLang="zh-CN" sz="2000" dirty="0">
                <a:solidFill>
                  <a:sysClr val="windowText" lastClr="000000"/>
                </a:solidFill>
                <a:latin typeface="微软雅黑" panose="020B0503020204020204" pitchFamily="34" charset="-122"/>
                <a:ea typeface="微软雅黑" panose="020B0503020204020204" pitchFamily="34" charset="-122"/>
              </a:rPr>
              <a:t>Multisim</a:t>
            </a:r>
            <a:r>
              <a:rPr lang="zh-CN" altLang="zh-CN" sz="2000" dirty="0">
                <a:solidFill>
                  <a:sysClr val="windowText" lastClr="000000"/>
                </a:solidFill>
                <a:latin typeface="微软雅黑" panose="020B0503020204020204" pitchFamily="34" charset="-122"/>
                <a:ea typeface="微软雅黑" panose="020B0503020204020204" pitchFamily="34" charset="-122"/>
              </a:rPr>
              <a:t>系列软件不同版本中创建一个电路以后，可以通过电路元件属性视窗来查看电路元件的属性，单击</a:t>
            </a:r>
            <a:r>
              <a:rPr lang="en-US" altLang="zh-CN" sz="2000" dirty="0">
                <a:solidFill>
                  <a:sysClr val="windowText" lastClr="000000"/>
                </a:solidFill>
                <a:latin typeface="微软雅黑" panose="020B0503020204020204" pitchFamily="34" charset="-122"/>
                <a:ea typeface="微软雅黑" panose="020B0503020204020204" pitchFamily="34" charset="-122"/>
              </a:rPr>
              <a:t>Spreadsheet View</a:t>
            </a:r>
            <a:r>
              <a:rPr lang="zh-CN" altLang="zh-CN" sz="2000" dirty="0">
                <a:solidFill>
                  <a:sysClr val="windowText" lastClr="000000"/>
                </a:solidFill>
                <a:latin typeface="微软雅黑" panose="020B0503020204020204" pitchFamily="34" charset="-122"/>
                <a:ea typeface="微软雅黑" panose="020B0503020204020204" pitchFamily="34" charset="-122"/>
              </a:rPr>
              <a:t>窗口中的</a:t>
            </a:r>
            <a:r>
              <a:rPr lang="en-US" altLang="zh-CN" sz="2000" dirty="0">
                <a:solidFill>
                  <a:sysClr val="windowText" lastClr="000000"/>
                </a:solidFill>
                <a:latin typeface="微软雅黑" panose="020B0503020204020204" pitchFamily="34" charset="-122"/>
                <a:ea typeface="微软雅黑" panose="020B0503020204020204" pitchFamily="34" charset="-122"/>
              </a:rPr>
              <a:t>Components</a:t>
            </a:r>
            <a:r>
              <a:rPr lang="zh-CN" altLang="zh-CN" sz="2000" dirty="0">
                <a:solidFill>
                  <a:sysClr val="windowText" lastClr="000000"/>
                </a:solidFill>
                <a:latin typeface="微软雅黑" panose="020B0503020204020204" pitchFamily="34" charset="-122"/>
                <a:ea typeface="微软雅黑" panose="020B0503020204020204" pitchFamily="34" charset="-122"/>
              </a:rPr>
              <a:t>标签，结果如图</a:t>
            </a:r>
            <a:r>
              <a:rPr lang="en-US" altLang="zh-CN" sz="2000" dirty="0">
                <a:solidFill>
                  <a:sysClr val="windowText" lastClr="000000"/>
                </a:solidFill>
                <a:latin typeface="微软雅黑" panose="020B0503020204020204" pitchFamily="34" charset="-122"/>
                <a:ea typeface="微软雅黑" panose="020B0503020204020204" pitchFamily="34" charset="-122"/>
              </a:rPr>
              <a:t>7</a:t>
            </a:r>
            <a:r>
              <a:rPr lang="zh-CN" altLang="zh-CN" sz="2000" dirty="0">
                <a:solidFill>
                  <a:sysClr val="windowText" lastClr="000000"/>
                </a:solidFill>
                <a:latin typeface="微软雅黑" panose="020B0503020204020204" pitchFamily="34" charset="-122"/>
                <a:ea typeface="微软雅黑" panose="020B0503020204020204" pitchFamily="34" charset="-122"/>
              </a:rPr>
              <a:t>所示。</a:t>
            </a:r>
          </a:p>
        </p:txBody>
      </p:sp>
      <p:sp>
        <p:nvSpPr>
          <p:cNvPr id="7" name="矩形 6"/>
          <p:cNvSpPr/>
          <p:nvPr/>
        </p:nvSpPr>
        <p:spPr>
          <a:xfrm>
            <a:off x="3630241" y="6237312"/>
            <a:ext cx="2603598" cy="369332"/>
          </a:xfrm>
          <a:prstGeom prst="rect">
            <a:avLst/>
          </a:prstGeom>
        </p:spPr>
        <p:txBody>
          <a:bodyPr wrap="none">
            <a:spAutoFit/>
          </a:bodyPr>
          <a:lstStyle/>
          <a:p>
            <a:pPr algn="ctr"/>
            <a:r>
              <a:rPr lang="zh-CN" altLang="zh-CN" dirty="0">
                <a:latin typeface="微软雅黑" panose="020B0503020204020204" pitchFamily="34" charset="-122"/>
                <a:ea typeface="微软雅黑" panose="020B0503020204020204" pitchFamily="34" charset="-122"/>
              </a:rPr>
              <a:t>图</a:t>
            </a:r>
            <a:r>
              <a:rPr lang="en-US" altLang="zh-CN" dirty="0">
                <a:latin typeface="微软雅黑" panose="020B0503020204020204" pitchFamily="34" charset="-122"/>
                <a:ea typeface="微软雅黑" panose="020B0503020204020204" pitchFamily="34" charset="-122"/>
              </a:rPr>
              <a:t>7   </a:t>
            </a:r>
            <a:r>
              <a:rPr lang="zh-CN" altLang="zh-CN" dirty="0">
                <a:latin typeface="微软雅黑" panose="020B0503020204020204" pitchFamily="34" charset="-122"/>
                <a:ea typeface="微软雅黑" panose="020B0503020204020204" pitchFamily="34" charset="-122"/>
              </a:rPr>
              <a:t>电路元件属性视窗</a:t>
            </a:r>
            <a:endParaRPr lang="en-US" altLang="zh-CN" dirty="0">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2"/>
          <a:stretch>
            <a:fillRect/>
          </a:stretch>
        </p:blipFill>
        <p:spPr>
          <a:xfrm>
            <a:off x="923357" y="3955332"/>
            <a:ext cx="7992888" cy="2089592"/>
          </a:xfrm>
          <a:prstGeom prst="rect">
            <a:avLst/>
          </a:prstGeom>
        </p:spPr>
      </p:pic>
    </p:spTree>
    <p:extLst>
      <p:ext uri="{BB962C8B-B14F-4D97-AF65-F5344CB8AC3E}">
        <p14:creationId xmlns:p14="http://schemas.microsoft.com/office/powerpoint/2010/main" val="158694640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p:cNvSpPr txBox="1">
            <a:spLocks/>
          </p:cNvSpPr>
          <p:nvPr/>
        </p:nvSpPr>
        <p:spPr bwMode="auto">
          <a:xfrm>
            <a:off x="467544" y="620688"/>
            <a:ext cx="8388424" cy="6048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600"/>
              </a:spcBef>
              <a:spcAft>
                <a:spcPct val="0"/>
              </a:spcAft>
              <a:buClr>
                <a:schemeClr val="tx2"/>
              </a:buClr>
              <a:buSzPct val="73000"/>
              <a:buFont typeface="Wingdings 2" panose="05020102010507070707" pitchFamily="18" charset="2"/>
              <a:buChar char=""/>
              <a:defRPr sz="2600" kern="1200">
                <a:solidFill>
                  <a:schemeClr val="tx1"/>
                </a:solidFill>
                <a:latin typeface="+mn-lt"/>
                <a:ea typeface="+mn-ea"/>
                <a:cs typeface="+mn-cs"/>
              </a:defRPr>
            </a:lvl1pPr>
            <a:lvl2pPr marL="520700" indent="-228600" algn="l" rtl="0" eaLnBrk="0" fontAlgn="base" hangingPunct="0">
              <a:spcBef>
                <a:spcPts val="500"/>
              </a:spcBef>
              <a:spcAft>
                <a:spcPct val="0"/>
              </a:spcAft>
              <a:buClr>
                <a:srgbClr val="F9B639"/>
              </a:buClr>
              <a:buSzPct val="80000"/>
              <a:buFont typeface="Wingdings 2" panose="05020102010507070707" pitchFamily="18" charset="2"/>
              <a:buChar char=""/>
              <a:defRPr sz="2300" kern="1200">
                <a:solidFill>
                  <a:srgbClr val="6C6C6C"/>
                </a:solidFill>
                <a:latin typeface="+mn-lt"/>
                <a:ea typeface="+mn-ea"/>
                <a:cs typeface="+mn-cs"/>
              </a:defRPr>
            </a:lvl2pPr>
            <a:lvl3pPr marL="758825" indent="-228600" algn="l" rtl="0" eaLnBrk="0" fontAlgn="base" hangingPunct="0">
              <a:spcBef>
                <a:spcPts val="400"/>
              </a:spcBef>
              <a:spcAft>
                <a:spcPct val="0"/>
              </a:spcAft>
              <a:buClr>
                <a:srgbClr val="F9B639"/>
              </a:buClr>
              <a:buSzPct val="60000"/>
              <a:buFont typeface="Wingdings" panose="05000000000000000000" pitchFamily="2" charset="2"/>
              <a:buChar char=""/>
              <a:defRPr sz="2000" kern="1200">
                <a:solidFill>
                  <a:schemeClr val="tx1"/>
                </a:solidFill>
                <a:latin typeface="+mn-lt"/>
                <a:ea typeface="+mn-ea"/>
                <a:cs typeface="+mn-cs"/>
              </a:defRPr>
            </a:lvl3pPr>
            <a:lvl4pPr marL="1004888" indent="-228600" algn="l" rtl="0" eaLnBrk="0" fontAlgn="base" hangingPunct="0">
              <a:spcBef>
                <a:spcPct val="20000"/>
              </a:spcBef>
              <a:spcAft>
                <a:spcPct val="0"/>
              </a:spcAft>
              <a:buClr>
                <a:srgbClr val="F9B639"/>
              </a:buClr>
              <a:buSzPct val="80000"/>
              <a:buFont typeface="Wingdings 2" panose="05020102010507070707" pitchFamily="18" charset="2"/>
              <a:buChar char=""/>
              <a:defRPr sz="2000" kern="1200">
                <a:solidFill>
                  <a:srgbClr val="6C6C6C"/>
                </a:solidFill>
                <a:latin typeface="+mn-lt"/>
                <a:ea typeface="+mn-ea"/>
                <a:cs typeface="+mn-cs"/>
              </a:defRPr>
            </a:lvl4pPr>
            <a:lvl5pPr marL="1279525" indent="-228600" algn="l" rtl="0" eaLnBrk="0" fontAlgn="base" hangingPunct="0">
              <a:spcBef>
                <a:spcPts val="400"/>
              </a:spcBef>
              <a:spcAft>
                <a:spcPct val="0"/>
              </a:spcAft>
              <a:buClr>
                <a:srgbClr val="F9B639"/>
              </a:buClr>
              <a:buSzPct val="70000"/>
              <a:buFont typeface="Wingdings" panose="05000000000000000000" pitchFamily="2" charset="2"/>
              <a:buChar char=""/>
              <a:defRPr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marR="0" indent="0" eaLnBrk="1" hangingPunct="1">
              <a:lnSpc>
                <a:spcPct val="100000"/>
              </a:lnSpc>
              <a:buClr>
                <a:srgbClr val="B13F9A"/>
              </a:buClr>
              <a:buFont typeface="Wingdings 2" panose="05020102010507070707" pitchFamily="18" charset="2"/>
              <a:buNone/>
              <a:tabLst/>
              <a:defRPr/>
            </a:pPr>
            <a:r>
              <a:rPr lang="zh-CN" altLang="en-US" sz="2000" dirty="0">
                <a:solidFill>
                  <a:sysClr val="windowText" lastClr="000000"/>
                </a:solidFill>
                <a:latin typeface="微软雅黑" panose="020B0503020204020204" pitchFamily="34" charset="-122"/>
                <a:ea typeface="微软雅黑" panose="020B0503020204020204" pitchFamily="34" charset="-122"/>
              </a:rPr>
              <a:t>      将</a:t>
            </a:r>
            <a:r>
              <a:rPr lang="zh-CN" altLang="zh-CN" sz="2000" dirty="0">
                <a:solidFill>
                  <a:sysClr val="windowText" lastClr="000000"/>
                </a:solidFill>
                <a:latin typeface="微软雅黑" panose="020B0503020204020204" pitchFamily="34" charset="-122"/>
                <a:ea typeface="微软雅黑" panose="020B0503020204020204" pitchFamily="34" charset="-122"/>
              </a:rPr>
              <a:t>鼠标指向电路元件属性视窗中的</a:t>
            </a:r>
            <a:r>
              <a:rPr lang="en-US" altLang="zh-CN" sz="2000" dirty="0">
                <a:solidFill>
                  <a:sysClr val="windowText" lastClr="000000"/>
                </a:solidFill>
                <a:latin typeface="微软雅黑" panose="020B0503020204020204" pitchFamily="34" charset="-122"/>
                <a:ea typeface="微软雅黑" panose="020B0503020204020204" pitchFamily="34" charset="-122"/>
              </a:rPr>
              <a:t>Component</a:t>
            </a:r>
            <a:r>
              <a:rPr lang="zh-CN" altLang="zh-CN" sz="2000" dirty="0">
                <a:solidFill>
                  <a:sysClr val="windowText" lastClr="000000"/>
                </a:solidFill>
                <a:latin typeface="微软雅黑" panose="020B0503020204020204" pitchFamily="34" charset="-122"/>
                <a:ea typeface="微软雅黑" panose="020B0503020204020204" pitchFamily="34" charset="-122"/>
              </a:rPr>
              <a:t>标签的</a:t>
            </a:r>
            <a:r>
              <a:rPr lang="en-US" altLang="zh-CN" sz="2000" dirty="0">
                <a:solidFill>
                  <a:sysClr val="windowText" lastClr="000000"/>
                </a:solidFill>
                <a:latin typeface="微软雅黑" panose="020B0503020204020204" pitchFamily="34" charset="-122"/>
                <a:ea typeface="微软雅黑" panose="020B0503020204020204" pitchFamily="34" charset="-122"/>
              </a:rPr>
              <a:t>Value</a:t>
            </a:r>
            <a:r>
              <a:rPr lang="zh-CN" altLang="zh-CN" sz="2000" dirty="0">
                <a:solidFill>
                  <a:sysClr val="windowText" lastClr="000000"/>
                </a:solidFill>
                <a:latin typeface="微软雅黑" panose="020B0503020204020204" pitchFamily="34" charset="-122"/>
                <a:ea typeface="微软雅黑" panose="020B0503020204020204" pitchFamily="34" charset="-122"/>
              </a:rPr>
              <a:t>选项后，双击</a:t>
            </a:r>
            <a:r>
              <a:rPr lang="en-US" altLang="zh-CN" sz="2000" dirty="0">
                <a:solidFill>
                  <a:sysClr val="windowText" lastClr="000000"/>
                </a:solidFill>
                <a:latin typeface="微软雅黑" panose="020B0503020204020204" pitchFamily="34" charset="-122"/>
                <a:ea typeface="微软雅黑" panose="020B0503020204020204" pitchFamily="34" charset="-122"/>
              </a:rPr>
              <a:t>12V</a:t>
            </a:r>
            <a:r>
              <a:rPr lang="zh-CN" altLang="zh-CN" sz="2000" dirty="0">
                <a:solidFill>
                  <a:sysClr val="windowText" lastClr="000000"/>
                </a:solidFill>
                <a:latin typeface="微软雅黑" panose="020B0503020204020204" pitchFamily="34" charset="-122"/>
                <a:ea typeface="微软雅黑" panose="020B0503020204020204" pitchFamily="34" charset="-122"/>
              </a:rPr>
              <a:t>字体，弹出如图</a:t>
            </a:r>
            <a:r>
              <a:rPr lang="en-US" altLang="zh-CN" sz="2000" dirty="0">
                <a:solidFill>
                  <a:sysClr val="windowText" lastClr="000000"/>
                </a:solidFill>
                <a:latin typeface="微软雅黑" panose="020B0503020204020204" pitchFamily="34" charset="-122"/>
                <a:ea typeface="微软雅黑" panose="020B0503020204020204" pitchFamily="34" charset="-122"/>
              </a:rPr>
              <a:t>8</a:t>
            </a:r>
            <a:r>
              <a:rPr lang="zh-CN" altLang="zh-CN" sz="2000" dirty="0">
                <a:solidFill>
                  <a:sysClr val="windowText" lastClr="000000"/>
                </a:solidFill>
                <a:latin typeface="微软雅黑" panose="020B0503020204020204" pitchFamily="34" charset="-122"/>
                <a:ea typeface="微软雅黑" panose="020B0503020204020204" pitchFamily="34" charset="-122"/>
              </a:rPr>
              <a:t>所示的对话框。在</a:t>
            </a:r>
            <a:r>
              <a:rPr lang="zh-CN" altLang="en-US" sz="2000" dirty="0">
                <a:solidFill>
                  <a:sysClr val="windowText" lastClr="000000"/>
                </a:solidFill>
                <a:latin typeface="微软雅黑" panose="020B0503020204020204" pitchFamily="34" charset="-122"/>
                <a:ea typeface="微软雅黑" panose="020B0503020204020204" pitchFamily="34" charset="-122"/>
              </a:rPr>
              <a:t>该</a:t>
            </a:r>
            <a:r>
              <a:rPr lang="zh-CN" altLang="zh-CN" sz="2000" dirty="0">
                <a:solidFill>
                  <a:sysClr val="windowText" lastClr="000000"/>
                </a:solidFill>
                <a:latin typeface="微软雅黑" panose="020B0503020204020204" pitchFamily="34" charset="-122"/>
                <a:ea typeface="微软雅黑" panose="020B0503020204020204" pitchFamily="34" charset="-122"/>
              </a:rPr>
              <a:t>对话框中，选中</a:t>
            </a:r>
            <a:r>
              <a:rPr lang="en-US" altLang="zh-CN" sz="2000" dirty="0">
                <a:solidFill>
                  <a:sysClr val="windowText" lastClr="000000"/>
                </a:solidFill>
                <a:latin typeface="微软雅黑" panose="020B0503020204020204" pitchFamily="34" charset="-122"/>
                <a:ea typeface="微软雅黑" panose="020B0503020204020204" pitchFamily="34" charset="-122"/>
              </a:rPr>
              <a:t>Value</a:t>
            </a:r>
            <a:r>
              <a:rPr lang="zh-CN" altLang="zh-CN" sz="2000" dirty="0">
                <a:solidFill>
                  <a:sysClr val="windowText" lastClr="000000"/>
                </a:solidFill>
                <a:latin typeface="微软雅黑" panose="020B0503020204020204" pitchFamily="34" charset="-122"/>
                <a:ea typeface="微软雅黑" panose="020B0503020204020204" pitchFamily="34" charset="-122"/>
              </a:rPr>
              <a:t>标签。在该对话框中可以根据需要输入电源的大小（</a:t>
            </a:r>
            <a:r>
              <a:rPr lang="en-US" altLang="zh-CN" sz="2000" dirty="0">
                <a:solidFill>
                  <a:sysClr val="windowText" lastClr="000000"/>
                </a:solidFill>
                <a:latin typeface="微软雅黑" panose="020B0503020204020204" pitchFamily="34" charset="-122"/>
                <a:ea typeface="微软雅黑" panose="020B0503020204020204" pitchFamily="34" charset="-122"/>
              </a:rPr>
              <a:t>Voltage</a:t>
            </a:r>
            <a:r>
              <a:rPr lang="zh-CN" altLang="zh-CN" sz="2000" dirty="0">
                <a:solidFill>
                  <a:sysClr val="windowText" lastClr="000000"/>
                </a:solidFill>
                <a:latin typeface="微软雅黑" panose="020B0503020204020204" pitchFamily="34" charset="-122"/>
                <a:ea typeface="微软雅黑" panose="020B0503020204020204" pitchFamily="34" charset="-122"/>
              </a:rPr>
              <a:t>）以及交流分析的幅度、相位（</a:t>
            </a:r>
            <a:r>
              <a:rPr lang="en-US" altLang="zh-CN" sz="2000" dirty="0">
                <a:solidFill>
                  <a:sysClr val="windowText" lastClr="000000"/>
                </a:solidFill>
                <a:latin typeface="微软雅黑" panose="020B0503020204020204" pitchFamily="34" charset="-122"/>
                <a:ea typeface="微软雅黑" panose="020B0503020204020204" pitchFamily="34" charset="-122"/>
              </a:rPr>
              <a:t>Magnitude/Phase</a:t>
            </a:r>
            <a:r>
              <a:rPr lang="zh-CN" altLang="zh-CN" sz="2000" dirty="0">
                <a:solidFill>
                  <a:sysClr val="windowText" lastClr="000000"/>
                </a:solidFill>
                <a:latin typeface="微软雅黑" panose="020B0503020204020204" pitchFamily="34" charset="-122"/>
                <a:ea typeface="微软雅黑" panose="020B0503020204020204" pitchFamily="34" charset="-122"/>
              </a:rPr>
              <a:t>）等参数。本例中，在</a:t>
            </a:r>
            <a:r>
              <a:rPr lang="en-US" altLang="zh-CN" sz="2000" dirty="0">
                <a:solidFill>
                  <a:sysClr val="windowText" lastClr="000000"/>
                </a:solidFill>
                <a:latin typeface="微软雅黑" panose="020B0503020204020204" pitchFamily="34" charset="-122"/>
                <a:ea typeface="微软雅黑" panose="020B0503020204020204" pitchFamily="34" charset="-122"/>
              </a:rPr>
              <a:t>Voltage</a:t>
            </a:r>
            <a:r>
              <a:rPr lang="zh-CN" altLang="zh-CN" sz="2000" dirty="0">
                <a:solidFill>
                  <a:sysClr val="windowText" lastClr="000000"/>
                </a:solidFill>
                <a:latin typeface="微软雅黑" panose="020B0503020204020204" pitchFamily="34" charset="-122"/>
                <a:ea typeface="微软雅黑" panose="020B0503020204020204" pitchFamily="34" charset="-122"/>
              </a:rPr>
              <a:t>项中填入</a:t>
            </a:r>
            <a:r>
              <a:rPr lang="en-US" altLang="zh-CN" sz="2000" dirty="0">
                <a:solidFill>
                  <a:sysClr val="windowText" lastClr="000000"/>
                </a:solidFill>
                <a:latin typeface="微软雅黑" panose="020B0503020204020204" pitchFamily="34" charset="-122"/>
                <a:ea typeface="微软雅黑" panose="020B0503020204020204" pitchFamily="34" charset="-122"/>
              </a:rPr>
              <a:t>50V</a:t>
            </a:r>
            <a:r>
              <a:rPr lang="zh-CN" altLang="zh-CN" sz="2000" dirty="0">
                <a:solidFill>
                  <a:sysClr val="windowText" lastClr="000000"/>
                </a:solidFill>
                <a:latin typeface="微软雅黑" panose="020B0503020204020204" pitchFamily="34" charset="-122"/>
                <a:ea typeface="微软雅黑" panose="020B0503020204020204" pitchFamily="34" charset="-122"/>
              </a:rPr>
              <a:t>，然后单击</a:t>
            </a:r>
            <a:r>
              <a:rPr lang="en-US" altLang="zh-CN" sz="2000" dirty="0">
                <a:solidFill>
                  <a:sysClr val="windowText" lastClr="000000"/>
                </a:solidFill>
                <a:latin typeface="微软雅黑" panose="020B0503020204020204" pitchFamily="34" charset="-122"/>
                <a:ea typeface="微软雅黑" panose="020B0503020204020204" pitchFamily="34" charset="-122"/>
              </a:rPr>
              <a:t>OK</a:t>
            </a:r>
            <a:r>
              <a:rPr lang="zh-CN" altLang="zh-CN" sz="2000" dirty="0">
                <a:solidFill>
                  <a:sysClr val="windowText" lastClr="000000"/>
                </a:solidFill>
                <a:latin typeface="微软雅黑" panose="020B0503020204020204" pitchFamily="34" charset="-122"/>
                <a:ea typeface="微软雅黑" panose="020B0503020204020204" pitchFamily="34" charset="-122"/>
              </a:rPr>
              <a:t>按钮，退出该对话框。</a:t>
            </a:r>
          </a:p>
          <a:p>
            <a:pPr marL="0" marR="0" lvl="0" indent="0" algn="l"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20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l"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r>
              <a:rPr kumimoji="0" lang="en-US" altLang="zh-CN" sz="14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rPr>
              <a:t>                                  </a:t>
            </a:r>
          </a:p>
          <a:p>
            <a:pPr marL="0" marR="0" lvl="0" indent="0" algn="ctr"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14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ctr"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14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ctr"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14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ctr"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14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ctr"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14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ctr"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14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ctr"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14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ctr"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14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ctr"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lang="en-US" altLang="zh-CN" sz="1400" dirty="0">
              <a:solidFill>
                <a:sysClr val="windowText" lastClr="000000"/>
              </a:solidFill>
              <a:latin typeface="Trebuchet MS"/>
              <a:ea typeface="华文新魏" panose="02010800040101010101" pitchFamily="2" charset="-122"/>
            </a:endParaRPr>
          </a:p>
          <a:p>
            <a:pPr marL="0" marR="0" lvl="0" indent="0" algn="ctr"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14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indent="0" algn="ctr" eaLnBrk="0" hangingPunct="0">
              <a:lnSpc>
                <a:spcPct val="100000"/>
              </a:lnSpc>
              <a:buClr>
                <a:srgbClr val="B13F9A"/>
              </a:buClr>
              <a:buFont typeface="Wingdings 2" panose="05020102010507070707" pitchFamily="18" charset="2"/>
              <a:buNone/>
              <a:tabLst/>
              <a:defRPr/>
            </a:pPr>
            <a:endParaRPr lang="en-US" altLang="zh-CN" sz="2000" dirty="0">
              <a:solidFill>
                <a:sysClr val="windowText" lastClr="000000"/>
              </a:solidFill>
              <a:latin typeface="微软雅黑" panose="020B0503020204020204" pitchFamily="34" charset="-122"/>
              <a:ea typeface="微软雅黑" panose="020B0503020204020204" pitchFamily="34" charset="-122"/>
            </a:endParaRPr>
          </a:p>
          <a:p>
            <a:pPr marL="0" marR="0" indent="0" algn="ctr" eaLnBrk="0" hangingPunct="0">
              <a:lnSpc>
                <a:spcPct val="100000"/>
              </a:lnSpc>
              <a:buClr>
                <a:srgbClr val="B13F9A"/>
              </a:buClr>
              <a:buFont typeface="Wingdings 2" panose="05020102010507070707" pitchFamily="18" charset="2"/>
              <a:buNone/>
              <a:tabLst/>
              <a:defRPr/>
            </a:pPr>
            <a:r>
              <a:rPr lang="zh-CN" altLang="zh-CN" sz="2000" dirty="0">
                <a:solidFill>
                  <a:sysClr val="windowText" lastClr="000000"/>
                </a:solidFill>
                <a:latin typeface="微软雅黑" panose="020B0503020204020204" pitchFamily="34" charset="-122"/>
                <a:ea typeface="微软雅黑" panose="020B0503020204020204" pitchFamily="34" charset="-122"/>
              </a:rPr>
              <a:t>图</a:t>
            </a:r>
            <a:r>
              <a:rPr lang="en-US" altLang="zh-CN" sz="2000" dirty="0">
                <a:solidFill>
                  <a:sysClr val="windowText" lastClr="000000"/>
                </a:solidFill>
                <a:latin typeface="微软雅黑" panose="020B0503020204020204" pitchFamily="34" charset="-122"/>
                <a:ea typeface="微软雅黑" panose="020B0503020204020204" pitchFamily="34" charset="-122"/>
              </a:rPr>
              <a:t>8 </a:t>
            </a:r>
            <a:r>
              <a:rPr lang="zh-CN" altLang="zh-CN" sz="2000" dirty="0">
                <a:solidFill>
                  <a:sysClr val="windowText" lastClr="000000"/>
                </a:solidFill>
                <a:latin typeface="微软雅黑" panose="020B0503020204020204" pitchFamily="34" charset="-122"/>
                <a:ea typeface="微软雅黑" panose="020B0503020204020204" pitchFamily="34" charset="-122"/>
              </a:rPr>
              <a:t>通过电路元件属性视窗设置电源属性</a:t>
            </a:r>
          </a:p>
          <a:p>
            <a:pPr marL="0" marR="0" lvl="0" indent="0" algn="ctr"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14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ctr"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14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ctr"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14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l"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14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l"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14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l"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20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l"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r>
              <a:rPr kumimoji="0" lang="en-US" altLang="zh-CN" sz="20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rPr>
              <a:t> </a:t>
            </a:r>
          </a:p>
          <a:p>
            <a:pPr marL="0" marR="0" lvl="0" indent="0" algn="l"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r>
              <a:rPr kumimoji="0" lang="en-US" altLang="zh-CN" sz="20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rPr>
              <a:t>        </a:t>
            </a:r>
            <a:endParaRPr kumimoji="0" lang="zh-CN" altLang="zh-CN" sz="20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l" defTabSz="914400" rtl="0" eaLnBrk="1" fontAlgn="base" latinLnBrk="0" hangingPunct="1">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1400" b="0" i="0" u="none" strike="noStrike" kern="1200" cap="none" spc="0" normalizeH="0" baseline="0" noProof="0" dirty="0">
              <a:ln>
                <a:noFill/>
              </a:ln>
              <a:solidFill>
                <a:sysClr val="windowText" lastClr="000000"/>
              </a:solidFill>
              <a:effectLst/>
              <a:uLnTx/>
              <a:uFillTx/>
              <a:latin typeface="新宋体" panose="02010609030101010101" pitchFamily="49" charset="-122"/>
              <a:ea typeface="新宋体" panose="02010609030101010101" pitchFamily="49" charset="-122"/>
              <a:cs typeface="+mn-cs"/>
            </a:endParaRPr>
          </a:p>
          <a:p>
            <a:pPr marL="0" marR="0" lvl="0" indent="0" algn="l" defTabSz="914400" rtl="0" eaLnBrk="1" fontAlgn="base" latinLnBrk="0" hangingPunct="1">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2000" b="0" i="0" u="none" strike="noStrike" kern="1200" cap="none" spc="0" normalizeH="0" baseline="0" noProof="0" dirty="0">
              <a:ln>
                <a:noFill/>
              </a:ln>
              <a:solidFill>
                <a:sysClr val="windowText" lastClr="000000"/>
              </a:solidFill>
              <a:effectLst/>
              <a:uLnTx/>
              <a:uFillTx/>
              <a:latin typeface="新宋体" panose="02010609030101010101" pitchFamily="49" charset="-122"/>
              <a:ea typeface="新宋体" panose="02010609030101010101" pitchFamily="49" charset="-122"/>
              <a:cs typeface="+mn-cs"/>
            </a:endParaRPr>
          </a:p>
          <a:p>
            <a:pPr marL="0" marR="0" lvl="0" indent="0" algn="l" defTabSz="914400" rtl="0" eaLnBrk="1" fontAlgn="base" latinLnBrk="0" hangingPunct="1">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2000" b="0" i="0" u="none" strike="noStrike" kern="1200" cap="none" spc="0" normalizeH="0" baseline="0" noProof="0" dirty="0">
              <a:ln>
                <a:noFill/>
              </a:ln>
              <a:solidFill>
                <a:sysClr val="windowText" lastClr="000000"/>
              </a:solidFill>
              <a:effectLst/>
              <a:uLnTx/>
              <a:uFillTx/>
              <a:latin typeface="新宋体" panose="02010609030101010101" pitchFamily="49" charset="-122"/>
              <a:ea typeface="新宋体" panose="02010609030101010101" pitchFamily="49" charset="-122"/>
              <a:cs typeface="+mn-cs"/>
            </a:endParaRPr>
          </a:p>
          <a:p>
            <a:pPr marL="0" marR="0" lvl="0" indent="0" algn="l" defTabSz="914400" rtl="0" eaLnBrk="1" fontAlgn="base" latinLnBrk="0" hangingPunct="1">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2000" b="0" i="0" u="none" strike="noStrike" kern="1200" cap="none" spc="0" normalizeH="0" baseline="0" noProof="0" dirty="0">
              <a:ln>
                <a:noFill/>
              </a:ln>
              <a:solidFill>
                <a:sysClr val="windowText" lastClr="000000"/>
              </a:solidFill>
              <a:effectLst/>
              <a:uLnTx/>
              <a:uFillTx/>
              <a:latin typeface="新宋体" panose="02010609030101010101" pitchFamily="49" charset="-122"/>
              <a:ea typeface="新宋体" panose="02010609030101010101" pitchFamily="49" charset="-122"/>
              <a:cs typeface="+mn-cs"/>
            </a:endParaRPr>
          </a:p>
          <a:p>
            <a:pPr marL="0" marR="0" lvl="0" indent="0" algn="l" defTabSz="914400" rtl="0" eaLnBrk="1" fontAlgn="base" latinLnBrk="0" hangingPunct="1">
              <a:lnSpc>
                <a:spcPct val="100000"/>
              </a:lnSpc>
              <a:spcBef>
                <a:spcPts val="600"/>
              </a:spcBef>
              <a:spcAft>
                <a:spcPct val="0"/>
              </a:spcAft>
              <a:buClr>
                <a:srgbClr val="B13F9A"/>
              </a:buClr>
              <a:buSzPct val="73000"/>
              <a:buFont typeface="Wingdings 2" panose="05020102010507070707" pitchFamily="18" charset="2"/>
              <a:buNone/>
              <a:tabLst/>
              <a:defRPr/>
            </a:pPr>
            <a:r>
              <a:rPr kumimoji="0" lang="en-US" altLang="zh-CN" sz="2000" b="0" i="0" u="none" strike="noStrike" kern="1200" cap="none" spc="0" normalizeH="0" baseline="0" noProof="0" dirty="0">
                <a:ln>
                  <a:noFill/>
                </a:ln>
                <a:solidFill>
                  <a:sysClr val="windowText" lastClr="000000"/>
                </a:solidFill>
                <a:effectLst/>
                <a:uLnTx/>
                <a:uFillTx/>
                <a:latin typeface="新宋体" panose="02010609030101010101" pitchFamily="49" charset="-122"/>
                <a:ea typeface="新宋体" panose="02010609030101010101" pitchFamily="49" charset="-122"/>
                <a:cs typeface="+mn-cs"/>
              </a:rPr>
              <a:t>              </a:t>
            </a:r>
            <a:endParaRPr kumimoji="0" lang="en-US" altLang="zh-CN" sz="20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l" defTabSz="914400" rtl="0" eaLnBrk="1" fontAlgn="base" latinLnBrk="0" hangingPunct="1">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20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l" defTabSz="914400" rtl="0" eaLnBrk="1" fontAlgn="base" latinLnBrk="0" hangingPunct="1">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2000" b="0" i="0" u="none" strike="noStrike" kern="1200" cap="none" spc="0" normalizeH="0" baseline="0" noProof="0" dirty="0">
              <a:ln>
                <a:noFill/>
              </a:ln>
              <a:solidFill>
                <a:sysClr val="windowText" lastClr="000000"/>
              </a:solidFill>
              <a:effectLst/>
              <a:uLnTx/>
              <a:uFillTx/>
              <a:latin typeface="新宋体" panose="02010609030101010101" pitchFamily="49" charset="-122"/>
              <a:ea typeface="新宋体" panose="02010609030101010101" pitchFamily="49" charset="-122"/>
              <a:cs typeface="+mn-cs"/>
            </a:endParaRPr>
          </a:p>
          <a:p>
            <a:pPr marL="0" marR="0" lvl="0" indent="0" algn="l" defTabSz="914400" rtl="0" eaLnBrk="1" fontAlgn="base" latinLnBrk="0" hangingPunct="1">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2000" b="0" i="0" u="none" strike="noStrike" kern="1200" cap="none" spc="0" normalizeH="0" baseline="0" noProof="0" dirty="0">
              <a:ln>
                <a:noFill/>
              </a:ln>
              <a:solidFill>
                <a:sysClr val="windowText" lastClr="000000"/>
              </a:solidFill>
              <a:effectLst/>
              <a:uLnTx/>
              <a:uFillTx/>
              <a:latin typeface="新宋体" panose="02010609030101010101" pitchFamily="49" charset="-122"/>
              <a:ea typeface="新宋体" panose="02010609030101010101" pitchFamily="49" charset="-122"/>
              <a:cs typeface="+mn-cs"/>
            </a:endParaRPr>
          </a:p>
          <a:p>
            <a:pPr marL="0" marR="0" lvl="0" indent="0" algn="l" defTabSz="914400" rtl="0" eaLnBrk="1" fontAlgn="base" latinLnBrk="0" hangingPunct="1">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2000" b="0" i="0" u="none" strike="noStrike" kern="1200" cap="none" spc="0" normalizeH="0" baseline="0" noProof="0" dirty="0">
              <a:ln>
                <a:noFill/>
              </a:ln>
              <a:solidFill>
                <a:sysClr val="windowText" lastClr="000000"/>
              </a:solidFill>
              <a:effectLst/>
              <a:uLnTx/>
              <a:uFillTx/>
              <a:latin typeface="新宋体" panose="02010609030101010101" pitchFamily="49" charset="-122"/>
              <a:ea typeface="新宋体" panose="02010609030101010101" pitchFamily="49" charset="-122"/>
              <a:cs typeface="+mn-cs"/>
            </a:endParaRPr>
          </a:p>
          <a:p>
            <a:pPr marL="0" marR="0" lvl="0" indent="0" algn="l" defTabSz="914400" rtl="0" eaLnBrk="1" fontAlgn="base" latinLnBrk="0" hangingPunct="1">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2000" b="0" i="0" u="none" strike="noStrike" kern="1200" cap="none" spc="0" normalizeH="0" baseline="0" noProof="0" dirty="0">
              <a:ln>
                <a:noFill/>
              </a:ln>
              <a:solidFill>
                <a:sysClr val="windowText" lastClr="000000"/>
              </a:solidFill>
              <a:effectLst/>
              <a:uLnTx/>
              <a:uFillTx/>
              <a:latin typeface="新宋体" panose="02010609030101010101" pitchFamily="49" charset="-122"/>
              <a:ea typeface="新宋体" panose="02010609030101010101" pitchFamily="49" charset="-122"/>
              <a:cs typeface="+mn-cs"/>
            </a:endParaRPr>
          </a:p>
          <a:p>
            <a:pPr marL="0" marR="0" lvl="0" indent="0" algn="l" defTabSz="914400" rtl="0" eaLnBrk="1" fontAlgn="base" latinLnBrk="0" hangingPunct="1">
              <a:lnSpc>
                <a:spcPct val="100000"/>
              </a:lnSpc>
              <a:spcBef>
                <a:spcPts val="600"/>
              </a:spcBef>
              <a:spcAft>
                <a:spcPct val="0"/>
              </a:spcAft>
              <a:buClr>
                <a:srgbClr val="B13F9A"/>
              </a:buClr>
              <a:buSzPct val="73000"/>
              <a:buFont typeface="Wingdings 2" panose="05020102010507070707" pitchFamily="18" charset="2"/>
              <a:buNone/>
              <a:tabLst/>
              <a:defRPr/>
            </a:pPr>
            <a:endParaRPr kumimoji="0" lang="zh-CN" altLang="en-US" sz="2000" b="0" i="0" u="none" strike="noStrike" kern="1200" cap="none" spc="0" normalizeH="0" baseline="0" noProof="0" dirty="0">
              <a:ln>
                <a:noFill/>
              </a:ln>
              <a:solidFill>
                <a:sysClr val="windowText" lastClr="000000"/>
              </a:solidFill>
              <a:effectLst/>
              <a:uLnTx/>
              <a:uFillTx/>
              <a:latin typeface="新宋体" panose="02010609030101010101" pitchFamily="49" charset="-122"/>
              <a:ea typeface="新宋体" panose="02010609030101010101" pitchFamily="49" charset="-122"/>
              <a:cs typeface="+mn-cs"/>
            </a:endParaRPr>
          </a:p>
        </p:txBody>
      </p:sp>
      <p:pic>
        <p:nvPicPr>
          <p:cNvPr id="5" name="Picture 2" descr="2015-05-31 13-17-0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5816" y="2204864"/>
            <a:ext cx="3168352" cy="3774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9672130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p:cNvSpPr txBox="1">
            <a:spLocks/>
          </p:cNvSpPr>
          <p:nvPr/>
        </p:nvSpPr>
        <p:spPr bwMode="auto">
          <a:xfrm>
            <a:off x="457200" y="332656"/>
            <a:ext cx="8291264" cy="6525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600"/>
              </a:spcBef>
              <a:spcAft>
                <a:spcPct val="0"/>
              </a:spcAft>
              <a:buClr>
                <a:schemeClr val="tx2"/>
              </a:buClr>
              <a:buSzPct val="73000"/>
              <a:buFont typeface="Wingdings 2" panose="05020102010507070707" pitchFamily="18" charset="2"/>
              <a:buChar char=""/>
              <a:defRPr sz="2600" kern="1200">
                <a:solidFill>
                  <a:schemeClr val="tx1"/>
                </a:solidFill>
                <a:latin typeface="+mn-lt"/>
                <a:ea typeface="+mn-ea"/>
                <a:cs typeface="+mn-cs"/>
              </a:defRPr>
            </a:lvl1pPr>
            <a:lvl2pPr marL="520700" indent="-228600" algn="l" rtl="0" eaLnBrk="0" fontAlgn="base" hangingPunct="0">
              <a:spcBef>
                <a:spcPts val="500"/>
              </a:spcBef>
              <a:spcAft>
                <a:spcPct val="0"/>
              </a:spcAft>
              <a:buClr>
                <a:srgbClr val="F9B639"/>
              </a:buClr>
              <a:buSzPct val="80000"/>
              <a:buFont typeface="Wingdings 2" panose="05020102010507070707" pitchFamily="18" charset="2"/>
              <a:buChar char=""/>
              <a:defRPr sz="2300" kern="1200">
                <a:solidFill>
                  <a:srgbClr val="6C6C6C"/>
                </a:solidFill>
                <a:latin typeface="+mn-lt"/>
                <a:ea typeface="+mn-ea"/>
                <a:cs typeface="+mn-cs"/>
              </a:defRPr>
            </a:lvl2pPr>
            <a:lvl3pPr marL="758825" indent="-228600" algn="l" rtl="0" eaLnBrk="0" fontAlgn="base" hangingPunct="0">
              <a:spcBef>
                <a:spcPts val="400"/>
              </a:spcBef>
              <a:spcAft>
                <a:spcPct val="0"/>
              </a:spcAft>
              <a:buClr>
                <a:srgbClr val="F9B639"/>
              </a:buClr>
              <a:buSzPct val="60000"/>
              <a:buFont typeface="Wingdings" panose="05000000000000000000" pitchFamily="2" charset="2"/>
              <a:buChar char=""/>
              <a:defRPr sz="2000" kern="1200">
                <a:solidFill>
                  <a:schemeClr val="tx1"/>
                </a:solidFill>
                <a:latin typeface="+mn-lt"/>
                <a:ea typeface="+mn-ea"/>
                <a:cs typeface="+mn-cs"/>
              </a:defRPr>
            </a:lvl3pPr>
            <a:lvl4pPr marL="1004888" indent="-228600" algn="l" rtl="0" eaLnBrk="0" fontAlgn="base" hangingPunct="0">
              <a:spcBef>
                <a:spcPct val="20000"/>
              </a:spcBef>
              <a:spcAft>
                <a:spcPct val="0"/>
              </a:spcAft>
              <a:buClr>
                <a:srgbClr val="F9B639"/>
              </a:buClr>
              <a:buSzPct val="80000"/>
              <a:buFont typeface="Wingdings 2" panose="05020102010507070707" pitchFamily="18" charset="2"/>
              <a:buChar char=""/>
              <a:defRPr sz="2000" kern="1200">
                <a:solidFill>
                  <a:srgbClr val="6C6C6C"/>
                </a:solidFill>
                <a:latin typeface="+mn-lt"/>
                <a:ea typeface="+mn-ea"/>
                <a:cs typeface="+mn-cs"/>
              </a:defRPr>
            </a:lvl4pPr>
            <a:lvl5pPr marL="1279525" indent="-228600" algn="l" rtl="0" eaLnBrk="0" fontAlgn="base" hangingPunct="0">
              <a:spcBef>
                <a:spcPts val="400"/>
              </a:spcBef>
              <a:spcAft>
                <a:spcPct val="0"/>
              </a:spcAft>
              <a:buClr>
                <a:srgbClr val="F9B639"/>
              </a:buClr>
              <a:buSzPct val="70000"/>
              <a:buFont typeface="Wingdings" panose="05000000000000000000" pitchFamily="2" charset="2"/>
              <a:buChar char=""/>
              <a:defRPr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lvl="0" indent="0" eaLnBrk="1" hangingPunct="1">
              <a:lnSpc>
                <a:spcPct val="125000"/>
              </a:lnSpc>
              <a:buClr>
                <a:srgbClr val="B13F9A"/>
              </a:buClr>
              <a:buNone/>
            </a:pPr>
            <a:r>
              <a:rPr lang="en-US" altLang="zh-CN" sz="2000" dirty="0">
                <a:solidFill>
                  <a:sysClr val="windowText" lastClr="000000"/>
                </a:solidFill>
                <a:latin typeface="微软雅黑" panose="020B0503020204020204" pitchFamily="34" charset="-122"/>
                <a:ea typeface="微软雅黑" panose="020B0503020204020204" pitchFamily="34" charset="-122"/>
              </a:rPr>
              <a:t>       Spreadsheet View</a:t>
            </a:r>
            <a:r>
              <a:rPr lang="zh-CN" altLang="zh-CN" sz="2000" dirty="0">
                <a:solidFill>
                  <a:sysClr val="windowText" lastClr="000000"/>
                </a:solidFill>
                <a:latin typeface="微软雅黑" panose="020B0503020204020204" pitchFamily="34" charset="-122"/>
                <a:ea typeface="微软雅黑" panose="020B0503020204020204" pitchFamily="34" charset="-122"/>
              </a:rPr>
              <a:t>还提供了电路元件的定位、替换的便捷操作，在图</a:t>
            </a:r>
            <a:r>
              <a:rPr lang="en-US" altLang="zh-CN" sz="2000" dirty="0">
                <a:solidFill>
                  <a:sysClr val="windowText" lastClr="000000"/>
                </a:solidFill>
                <a:latin typeface="微软雅黑" panose="020B0503020204020204" pitchFamily="34" charset="-122"/>
                <a:ea typeface="微软雅黑" panose="020B0503020204020204" pitchFamily="34" charset="-122"/>
              </a:rPr>
              <a:t>7</a:t>
            </a:r>
            <a:r>
              <a:rPr lang="zh-CN" altLang="zh-CN" sz="2000" dirty="0">
                <a:solidFill>
                  <a:sysClr val="windowText" lastClr="000000"/>
                </a:solidFill>
                <a:latin typeface="微软雅黑" panose="020B0503020204020204" pitchFamily="34" charset="-122"/>
                <a:ea typeface="微软雅黑" panose="020B0503020204020204" pitchFamily="34" charset="-122"/>
              </a:rPr>
              <a:t>中，选中电路元件</a:t>
            </a:r>
            <a:r>
              <a:rPr lang="en-US" altLang="zh-CN" sz="2000" dirty="0">
                <a:solidFill>
                  <a:sysClr val="windowText" lastClr="000000"/>
                </a:solidFill>
                <a:latin typeface="微软雅黑" panose="020B0503020204020204" pitchFamily="34" charset="-122"/>
                <a:ea typeface="微软雅黑" panose="020B0503020204020204" pitchFamily="34" charset="-122"/>
              </a:rPr>
              <a:t>V1</a:t>
            </a:r>
            <a:r>
              <a:rPr lang="zh-CN" altLang="zh-CN" sz="2000" dirty="0">
                <a:solidFill>
                  <a:sysClr val="windowText" lastClr="000000"/>
                </a:solidFill>
                <a:latin typeface="微软雅黑" panose="020B0503020204020204" pitchFamily="34" charset="-122"/>
                <a:ea typeface="微软雅黑" panose="020B0503020204020204" pitchFamily="34" charset="-122"/>
              </a:rPr>
              <a:t>后，</a:t>
            </a:r>
            <a:r>
              <a:rPr lang="en-US" altLang="zh-CN" sz="2000" dirty="0">
                <a:solidFill>
                  <a:sysClr val="windowText" lastClr="000000"/>
                </a:solidFill>
                <a:latin typeface="微软雅黑" panose="020B0503020204020204" pitchFamily="34" charset="-122"/>
                <a:ea typeface="微软雅黑" panose="020B0503020204020204" pitchFamily="34" charset="-122"/>
              </a:rPr>
              <a:t>Spreadsheet View</a:t>
            </a:r>
            <a:r>
              <a:rPr lang="zh-CN" altLang="zh-CN" sz="2000" dirty="0">
                <a:solidFill>
                  <a:sysClr val="windowText" lastClr="000000"/>
                </a:solidFill>
                <a:latin typeface="微软雅黑" panose="020B0503020204020204" pitchFamily="34" charset="-122"/>
                <a:ea typeface="微软雅黑" panose="020B0503020204020204" pitchFamily="34" charset="-122"/>
              </a:rPr>
              <a:t>窗口上方的</a:t>
            </a:r>
            <a:r>
              <a:rPr lang="en-US" altLang="zh-CN" sz="2000" dirty="0">
                <a:solidFill>
                  <a:sysClr val="windowText" lastClr="000000"/>
                </a:solidFill>
                <a:latin typeface="微软雅黑" panose="020B0503020204020204" pitchFamily="34" charset="-122"/>
                <a:ea typeface="微软雅黑" panose="020B0503020204020204" pitchFamily="34" charset="-122"/>
              </a:rPr>
              <a:t>3</a:t>
            </a:r>
            <a:r>
              <a:rPr lang="zh-CN" altLang="zh-CN" sz="2000" dirty="0">
                <a:solidFill>
                  <a:sysClr val="windowText" lastClr="000000"/>
                </a:solidFill>
                <a:latin typeface="微软雅黑" panose="020B0503020204020204" pitchFamily="34" charset="-122"/>
                <a:ea typeface="微软雅黑" panose="020B0503020204020204" pitchFamily="34" charset="-122"/>
              </a:rPr>
              <a:t>个按钮将被激活，此时如果单击第</a:t>
            </a:r>
            <a:r>
              <a:rPr lang="en-US" altLang="zh-CN" sz="2000" dirty="0">
                <a:solidFill>
                  <a:sysClr val="windowText" lastClr="000000"/>
                </a:solidFill>
                <a:latin typeface="微软雅黑" panose="020B0503020204020204" pitchFamily="34" charset="-122"/>
                <a:ea typeface="微软雅黑" panose="020B0503020204020204" pitchFamily="34" charset="-122"/>
              </a:rPr>
              <a:t>1</a:t>
            </a:r>
            <a:r>
              <a:rPr lang="zh-CN" altLang="zh-CN" sz="2000" dirty="0">
                <a:solidFill>
                  <a:sysClr val="windowText" lastClr="000000"/>
                </a:solidFill>
                <a:latin typeface="微软雅黑" panose="020B0503020204020204" pitchFamily="34" charset="-122"/>
                <a:ea typeface="微软雅黑" panose="020B0503020204020204" pitchFamily="34" charset="-122"/>
              </a:rPr>
              <a:t>个按钮（绿底白色向右指的箭头），则在电路工作区中元件</a:t>
            </a:r>
            <a:r>
              <a:rPr lang="en-US" altLang="zh-CN" sz="2000" dirty="0">
                <a:solidFill>
                  <a:sysClr val="windowText" lastClr="000000"/>
                </a:solidFill>
                <a:latin typeface="微软雅黑" panose="020B0503020204020204" pitchFamily="34" charset="-122"/>
                <a:ea typeface="微软雅黑" panose="020B0503020204020204" pitchFamily="34" charset="-122"/>
              </a:rPr>
              <a:t>V1</a:t>
            </a:r>
            <a:r>
              <a:rPr lang="zh-CN" altLang="zh-CN" sz="2000" dirty="0">
                <a:solidFill>
                  <a:sysClr val="windowText" lastClr="000000"/>
                </a:solidFill>
                <a:latin typeface="微软雅黑" panose="020B0503020204020204" pitchFamily="34" charset="-122"/>
                <a:ea typeface="微软雅黑" panose="020B0503020204020204" pitchFamily="34" charset="-122"/>
              </a:rPr>
              <a:t>将被突出选中；单击第</a:t>
            </a:r>
            <a:r>
              <a:rPr lang="en-US" altLang="zh-CN" sz="2000" dirty="0">
                <a:solidFill>
                  <a:sysClr val="windowText" lastClr="000000"/>
                </a:solidFill>
                <a:latin typeface="微软雅黑" panose="020B0503020204020204" pitchFamily="34" charset="-122"/>
                <a:ea typeface="微软雅黑" panose="020B0503020204020204" pitchFamily="34" charset="-122"/>
              </a:rPr>
              <a:t>2</a:t>
            </a:r>
            <a:r>
              <a:rPr lang="zh-CN" altLang="zh-CN" sz="2000" dirty="0">
                <a:solidFill>
                  <a:sysClr val="windowText" lastClr="000000"/>
                </a:solidFill>
                <a:latin typeface="微软雅黑" panose="020B0503020204020204" pitchFamily="34" charset="-122"/>
                <a:ea typeface="微软雅黑" panose="020B0503020204020204" pitchFamily="34" charset="-122"/>
              </a:rPr>
              <a:t>个按钮后，将弹出图</a:t>
            </a:r>
            <a:r>
              <a:rPr lang="en-US" altLang="zh-CN" sz="2000" dirty="0">
                <a:solidFill>
                  <a:sysClr val="windowText" lastClr="000000"/>
                </a:solidFill>
                <a:latin typeface="微软雅黑" panose="020B0503020204020204" pitchFamily="34" charset="-122"/>
                <a:ea typeface="微软雅黑" panose="020B0503020204020204" pitchFamily="34" charset="-122"/>
              </a:rPr>
              <a:t>9</a:t>
            </a:r>
            <a:r>
              <a:rPr lang="zh-CN" altLang="zh-CN" sz="2000" dirty="0">
                <a:solidFill>
                  <a:sysClr val="windowText" lastClr="000000"/>
                </a:solidFill>
                <a:latin typeface="微软雅黑" panose="020B0503020204020204" pitchFamily="34" charset="-122"/>
                <a:ea typeface="微软雅黑" panose="020B0503020204020204" pitchFamily="34" charset="-122"/>
              </a:rPr>
              <a:t>选择电源的对话框，用户可以根据自身需要来更换元件；单击第</a:t>
            </a:r>
            <a:r>
              <a:rPr lang="en-US" altLang="zh-CN" sz="2000" dirty="0">
                <a:solidFill>
                  <a:sysClr val="windowText" lastClr="000000"/>
                </a:solidFill>
                <a:latin typeface="微软雅黑" panose="020B0503020204020204" pitchFamily="34" charset="-122"/>
                <a:ea typeface="微软雅黑" panose="020B0503020204020204" pitchFamily="34" charset="-122"/>
              </a:rPr>
              <a:t>3</a:t>
            </a:r>
            <a:r>
              <a:rPr lang="zh-CN" altLang="zh-CN" sz="2000" dirty="0">
                <a:solidFill>
                  <a:sysClr val="windowText" lastClr="000000"/>
                </a:solidFill>
                <a:latin typeface="微软雅黑" panose="020B0503020204020204" pitchFamily="34" charset="-122"/>
                <a:ea typeface="微软雅黑" panose="020B0503020204020204" pitchFamily="34" charset="-122"/>
              </a:rPr>
              <a:t>个按钮可以选中所有的电路元件，然后选择</a:t>
            </a:r>
            <a:r>
              <a:rPr lang="en-US" altLang="zh-CN" sz="2000" dirty="0">
                <a:solidFill>
                  <a:sysClr val="windowText" lastClr="000000"/>
                </a:solidFill>
                <a:latin typeface="微软雅黑" panose="020B0503020204020204" pitchFamily="34" charset="-122"/>
                <a:ea typeface="微软雅黑" panose="020B0503020204020204" pitchFamily="34" charset="-122"/>
              </a:rPr>
              <a:t>Export</a:t>
            </a:r>
            <a:r>
              <a:rPr lang="zh-CN" altLang="zh-CN" sz="2000" dirty="0">
                <a:solidFill>
                  <a:sysClr val="windowText" lastClr="000000"/>
                </a:solidFill>
                <a:latin typeface="微软雅黑" panose="020B0503020204020204" pitchFamily="34" charset="-122"/>
                <a:ea typeface="微软雅黑" panose="020B0503020204020204" pitchFamily="34" charset="-122"/>
              </a:rPr>
              <a:t>菜单中的</a:t>
            </a:r>
            <a:r>
              <a:rPr lang="en-US" altLang="zh-CN" sz="2000" dirty="0">
                <a:solidFill>
                  <a:sysClr val="windowText" lastClr="000000"/>
                </a:solidFill>
                <a:latin typeface="微软雅黑" panose="020B0503020204020204" pitchFamily="34" charset="-122"/>
                <a:ea typeface="微软雅黑" panose="020B0503020204020204" pitchFamily="34" charset="-122"/>
              </a:rPr>
              <a:t>Export to Excel</a:t>
            </a:r>
            <a:r>
              <a:rPr lang="zh-CN" altLang="zh-CN" sz="2000" dirty="0">
                <a:solidFill>
                  <a:sysClr val="windowText" lastClr="000000"/>
                </a:solidFill>
                <a:latin typeface="微软雅黑" panose="020B0503020204020204" pitchFamily="34" charset="-122"/>
                <a:ea typeface="微软雅黑" panose="020B0503020204020204" pitchFamily="34" charset="-122"/>
              </a:rPr>
              <a:t>项，可以把电路元件清单转化成文本文档。</a:t>
            </a:r>
            <a:endParaRPr lang="en-US" altLang="zh-CN" sz="2000" dirty="0">
              <a:solidFill>
                <a:sysClr val="windowText" lastClr="000000"/>
              </a:solidFill>
              <a:latin typeface="微软雅黑" panose="020B0503020204020204" pitchFamily="34" charset="-122"/>
              <a:ea typeface="微软雅黑" panose="020B0503020204020204" pitchFamily="34" charset="-122"/>
            </a:endParaRPr>
          </a:p>
          <a:p>
            <a:pPr marL="0" marR="0" lvl="0" indent="0" algn="l"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20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l"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20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l"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20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l"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20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l"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20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l"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20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l"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20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ctr"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14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ctr"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lang="en-US" altLang="zh-CN" sz="1400" dirty="0">
              <a:solidFill>
                <a:sysClr val="windowText" lastClr="000000"/>
              </a:solidFill>
              <a:latin typeface="Trebuchet MS"/>
              <a:ea typeface="华文新魏" panose="02010800040101010101" pitchFamily="2" charset="-122"/>
            </a:endParaRPr>
          </a:p>
          <a:p>
            <a:pPr marL="0" marR="0" lvl="0" indent="0" algn="ctr"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1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endParaRPr>
          </a:p>
          <a:p>
            <a:pPr marL="0" marR="0" lvl="0" indent="0" algn="ctr"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r>
              <a:rPr kumimoji="0" lang="zh-CN" altLang="en-US" sz="1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图</a:t>
            </a:r>
            <a:r>
              <a:rPr kumimoji="0" lang="en-US" altLang="zh-CN" sz="1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9 </a:t>
            </a:r>
            <a:r>
              <a:rPr kumimoji="0" lang="zh-CN" altLang="zh-CN" sz="1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选择电源对话框</a:t>
            </a:r>
            <a:endParaRPr kumimoji="0" lang="en-US" altLang="zh-CN" sz="1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endParaRPr>
          </a:p>
          <a:p>
            <a:pPr marL="0" marR="0" lvl="0" indent="0" algn="ctr"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zh-CN" altLang="zh-CN" sz="14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l"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20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l"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r>
              <a:rPr kumimoji="0" lang="zh-CN" altLang="en-US" sz="20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rPr>
              <a:t>                              </a:t>
            </a:r>
            <a:endParaRPr kumimoji="0" lang="zh-CN" altLang="zh-CN" sz="20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p:txBody>
      </p:sp>
      <p:pic>
        <p:nvPicPr>
          <p:cNvPr id="6" name="图片 5"/>
          <p:cNvPicPr>
            <a:picLocks noChangeAspect="1"/>
          </p:cNvPicPr>
          <p:nvPr/>
        </p:nvPicPr>
        <p:blipFill>
          <a:blip r:embed="rId2"/>
          <a:stretch>
            <a:fillRect/>
          </a:stretch>
        </p:blipFill>
        <p:spPr>
          <a:xfrm>
            <a:off x="4211960" y="3089975"/>
            <a:ext cx="3528392" cy="3469586"/>
          </a:xfrm>
          <a:prstGeom prst="rect">
            <a:avLst/>
          </a:prstGeom>
        </p:spPr>
      </p:pic>
      <p:pic>
        <p:nvPicPr>
          <p:cNvPr id="2" name="图片 1"/>
          <p:cNvPicPr>
            <a:picLocks noChangeAspect="1"/>
          </p:cNvPicPr>
          <p:nvPr/>
        </p:nvPicPr>
        <p:blipFill>
          <a:blip r:embed="rId3"/>
          <a:stretch>
            <a:fillRect/>
          </a:stretch>
        </p:blipFill>
        <p:spPr>
          <a:xfrm>
            <a:off x="2443123" y="3089975"/>
            <a:ext cx="1521450" cy="1760000"/>
          </a:xfrm>
          <a:prstGeom prst="rect">
            <a:avLst/>
          </a:prstGeom>
        </p:spPr>
      </p:pic>
    </p:spTree>
    <p:extLst>
      <p:ext uri="{BB962C8B-B14F-4D97-AF65-F5344CB8AC3E}">
        <p14:creationId xmlns:p14="http://schemas.microsoft.com/office/powerpoint/2010/main" val="144159669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51520" y="332656"/>
            <a:ext cx="4032448" cy="461665"/>
          </a:xfrm>
          <a:prstGeom prst="rect">
            <a:avLst/>
          </a:prstGeom>
        </p:spPr>
        <p:txBody>
          <a:bodyPr wrap="square">
            <a:spAutoFit/>
          </a:bodyPr>
          <a:lstStyle/>
          <a:p>
            <a:r>
              <a:rPr lang="en-US" altLang="zh-CN" sz="2400" b="1" dirty="0">
                <a:latin typeface="微软雅黑" panose="020B0503020204020204" pitchFamily="34" charset="-122"/>
                <a:ea typeface="微软雅黑" panose="020B0503020204020204" pitchFamily="34" charset="-122"/>
              </a:rPr>
              <a:t>4</a:t>
            </a:r>
            <a:r>
              <a:rPr lang="zh-CN" altLang="zh-CN" sz="2400" b="1" dirty="0">
                <a:latin typeface="微软雅黑" panose="020B0503020204020204" pitchFamily="34" charset="-122"/>
                <a:ea typeface="微软雅黑" panose="020B0503020204020204" pitchFamily="34" charset="-122"/>
              </a:rPr>
              <a:t>、</a:t>
            </a:r>
            <a:r>
              <a:rPr lang="en-US" altLang="zh-CN" sz="2400" b="1" dirty="0">
                <a:latin typeface="微软雅黑" panose="020B0503020204020204" pitchFamily="34" charset="-122"/>
                <a:ea typeface="微软雅黑" panose="020B0503020204020204" pitchFamily="34" charset="-122"/>
              </a:rPr>
              <a:t>Multisim</a:t>
            </a:r>
            <a:r>
              <a:rPr lang="zh-CN" altLang="en-US" sz="2400" b="1" dirty="0">
                <a:latin typeface="微软雅黑" panose="020B0503020204020204" pitchFamily="34" charset="-122"/>
                <a:ea typeface="微软雅黑" panose="020B0503020204020204" pitchFamily="34" charset="-122"/>
              </a:rPr>
              <a:t>的分析方法</a:t>
            </a:r>
            <a:endParaRPr lang="zh-CN" altLang="zh-CN" sz="2400" b="1" dirty="0">
              <a:latin typeface="微软雅黑" panose="020B0503020204020204" pitchFamily="34" charset="-122"/>
              <a:ea typeface="微软雅黑" panose="020B0503020204020204" pitchFamily="34" charset="-122"/>
            </a:endParaRPr>
          </a:p>
        </p:txBody>
      </p:sp>
      <p:sp>
        <p:nvSpPr>
          <p:cNvPr id="5" name="矩形 4"/>
          <p:cNvSpPr/>
          <p:nvPr/>
        </p:nvSpPr>
        <p:spPr>
          <a:xfrm>
            <a:off x="755576" y="980728"/>
            <a:ext cx="7848872" cy="1200329"/>
          </a:xfrm>
          <a:prstGeom prst="rect">
            <a:avLst/>
          </a:prstGeom>
        </p:spPr>
        <p:txBody>
          <a:bodyPr wrap="square">
            <a:spAutoFit/>
          </a:bodyPr>
          <a:lstStyle/>
          <a:p>
            <a:pPr>
              <a:defRPr/>
            </a:pPr>
            <a:r>
              <a:rPr lang="en-US" altLang="zh-CN" dirty="0">
                <a:latin typeface="微软雅黑" panose="020B0503020204020204" pitchFamily="34" charset="-122"/>
                <a:ea typeface="微软雅黑" panose="020B0503020204020204" pitchFamily="34" charset="-122"/>
              </a:rPr>
              <a:t>       Multisim 13.0</a:t>
            </a:r>
            <a:r>
              <a:rPr lang="zh-CN" altLang="zh-CN" dirty="0">
                <a:latin typeface="微软雅黑" panose="020B0503020204020204" pitchFamily="34" charset="-122"/>
                <a:ea typeface="微软雅黑" panose="020B0503020204020204" pitchFamily="34" charset="-122"/>
              </a:rPr>
              <a:t>具有丰富的电路所需要的仿真与分析功能</a:t>
            </a:r>
            <a:r>
              <a:rPr lang="zh-CN" altLang="en-US" dirty="0">
                <a:latin typeface="微软雅黑" panose="020B0503020204020204" pitchFamily="34" charset="-122"/>
                <a:ea typeface="微软雅黑" panose="020B0503020204020204" pitchFamily="34" charset="-122"/>
              </a:rPr>
              <a:t>，</a:t>
            </a:r>
            <a:r>
              <a:rPr lang="zh-CN" altLang="zh-CN" dirty="0">
                <a:latin typeface="微软雅黑" panose="020B0503020204020204" pitchFamily="34" charset="-122"/>
                <a:ea typeface="微软雅黑" panose="020B0503020204020204" pitchFamily="34" charset="-122"/>
              </a:rPr>
              <a:t>其中包括了</a:t>
            </a:r>
            <a:r>
              <a:rPr lang="en-US" altLang="zh-CN" dirty="0">
                <a:latin typeface="微软雅黑" panose="020B0503020204020204" pitchFamily="34" charset="-122"/>
                <a:ea typeface="微软雅黑" panose="020B0503020204020204" pitchFamily="34" charset="-122"/>
              </a:rPr>
              <a:t>19</a:t>
            </a:r>
            <a:r>
              <a:rPr lang="zh-CN" altLang="zh-CN" dirty="0">
                <a:latin typeface="微软雅黑" panose="020B0503020204020204" pitchFamily="34" charset="-122"/>
                <a:ea typeface="微软雅黑" panose="020B0503020204020204" pitchFamily="34" charset="-122"/>
              </a:rPr>
              <a:t>个分析命令</a:t>
            </a:r>
            <a:r>
              <a:rPr lang="zh-CN" altLang="en-US" dirty="0">
                <a:latin typeface="微软雅黑" panose="020B0503020204020204" pitchFamily="34" charset="-122"/>
                <a:ea typeface="微软雅黑" panose="020B0503020204020204" pitchFamily="34" charset="-122"/>
              </a:rPr>
              <a:t>，</a:t>
            </a:r>
            <a:r>
              <a:rPr lang="zh-CN" altLang="zh-CN" dirty="0">
                <a:latin typeface="微软雅黑" panose="020B0503020204020204" pitchFamily="34" charset="-122"/>
                <a:ea typeface="微软雅黑" panose="020B0503020204020204" pitchFamily="34" charset="-122"/>
              </a:rPr>
              <a:t>分别为：</a:t>
            </a:r>
            <a:endParaRPr lang="en-US" altLang="zh-CN" dirty="0">
              <a:latin typeface="微软雅黑" panose="020B0503020204020204" pitchFamily="34" charset="-122"/>
              <a:ea typeface="微软雅黑" panose="020B0503020204020204" pitchFamily="34" charset="-122"/>
            </a:endParaRPr>
          </a:p>
          <a:p>
            <a:pPr>
              <a:defRPr/>
            </a:pPr>
            <a:r>
              <a:rPr lang="zh-CN" altLang="en-US" dirty="0">
                <a:latin typeface="微软雅黑" panose="020B0503020204020204" pitchFamily="34" charset="-122"/>
                <a:ea typeface="微软雅黑" panose="020B0503020204020204" pitchFamily="34" charset="-122"/>
              </a:rPr>
              <a:t>      对于这些分析方法，我们选取部分分析方法进行举例说明，其余的分析方法请同学们在实验中结合相关理论知识进行学习验证。</a:t>
            </a:r>
            <a:endParaRPr lang="en-US" altLang="zh-CN" dirty="0">
              <a:latin typeface="微软雅黑" panose="020B0503020204020204" pitchFamily="34" charset="-122"/>
              <a:ea typeface="微软雅黑" panose="020B0503020204020204" pitchFamily="34" charset="-122"/>
            </a:endParaRPr>
          </a:p>
        </p:txBody>
      </p:sp>
      <p:graphicFrame>
        <p:nvGraphicFramePr>
          <p:cNvPr id="6" name="表格 5"/>
          <p:cNvGraphicFramePr>
            <a:graphicFrameLocks noGrp="1"/>
          </p:cNvGraphicFramePr>
          <p:nvPr>
            <p:extLst>
              <p:ext uri="{D42A27DB-BD31-4B8C-83A1-F6EECF244321}">
                <p14:modId xmlns:p14="http://schemas.microsoft.com/office/powerpoint/2010/main" val="3809393713"/>
              </p:ext>
            </p:extLst>
          </p:nvPr>
        </p:nvGraphicFramePr>
        <p:xfrm>
          <a:off x="251520" y="2420888"/>
          <a:ext cx="8640959" cy="3312368"/>
        </p:xfrm>
        <a:graphic>
          <a:graphicData uri="http://schemas.openxmlformats.org/drawingml/2006/table">
            <a:tbl>
              <a:tblPr firstRow="1" bandRow="1">
                <a:tableStyleId>{5C22544A-7EE6-4342-B048-85BDC9FD1C3A}</a:tableStyleId>
              </a:tblPr>
              <a:tblGrid>
                <a:gridCol w="1049837">
                  <a:extLst>
                    <a:ext uri="{9D8B030D-6E8A-4147-A177-3AD203B41FA5}">
                      <a16:colId xmlns:a16="http://schemas.microsoft.com/office/drawing/2014/main" val="231239031"/>
                    </a:ext>
                  </a:extLst>
                </a:gridCol>
                <a:gridCol w="1830482">
                  <a:extLst>
                    <a:ext uri="{9D8B030D-6E8A-4147-A177-3AD203B41FA5}">
                      <a16:colId xmlns:a16="http://schemas.microsoft.com/office/drawing/2014/main" val="1292177511"/>
                    </a:ext>
                  </a:extLst>
                </a:gridCol>
                <a:gridCol w="1440160">
                  <a:extLst>
                    <a:ext uri="{9D8B030D-6E8A-4147-A177-3AD203B41FA5}">
                      <a16:colId xmlns:a16="http://schemas.microsoft.com/office/drawing/2014/main" val="4020441738"/>
                    </a:ext>
                  </a:extLst>
                </a:gridCol>
                <a:gridCol w="1440160">
                  <a:extLst>
                    <a:ext uri="{9D8B030D-6E8A-4147-A177-3AD203B41FA5}">
                      <a16:colId xmlns:a16="http://schemas.microsoft.com/office/drawing/2014/main" val="2355958451"/>
                    </a:ext>
                  </a:extLst>
                </a:gridCol>
                <a:gridCol w="1440160">
                  <a:extLst>
                    <a:ext uri="{9D8B030D-6E8A-4147-A177-3AD203B41FA5}">
                      <a16:colId xmlns:a16="http://schemas.microsoft.com/office/drawing/2014/main" val="1374742289"/>
                    </a:ext>
                  </a:extLst>
                </a:gridCol>
                <a:gridCol w="1440160">
                  <a:extLst>
                    <a:ext uri="{9D8B030D-6E8A-4147-A177-3AD203B41FA5}">
                      <a16:colId xmlns:a16="http://schemas.microsoft.com/office/drawing/2014/main" val="941662347"/>
                    </a:ext>
                  </a:extLst>
                </a:gridCol>
              </a:tblGrid>
              <a:tr h="974226">
                <a:tc rowSpan="4">
                  <a:txBody>
                    <a:bodyPr/>
                    <a:lstStyle/>
                    <a:p>
                      <a:pPr algn="ctr"/>
                      <a:r>
                        <a:rPr lang="zh-CN" altLang="en-US" dirty="0">
                          <a:solidFill>
                            <a:schemeClr val="tx1"/>
                          </a:solidFill>
                          <a:latin typeface="微软雅黑" panose="020B0503020204020204" pitchFamily="34" charset="-122"/>
                          <a:ea typeface="微软雅黑" panose="020B0503020204020204" pitchFamily="34" charset="-122"/>
                        </a:rPr>
                        <a:t>分析方法分类</a:t>
                      </a:r>
                    </a:p>
                  </a:txBody>
                  <a:tcPr anchor="ctr" anchorCtr="1">
                    <a:solidFill>
                      <a:srgbClr val="CDE5FE"/>
                    </a:solidFill>
                  </a:tcPr>
                </a:tc>
                <a:tc>
                  <a:txBody>
                    <a:bodyPr/>
                    <a:lstStyle/>
                    <a:p>
                      <a:pPr algn="ctr"/>
                      <a:r>
                        <a:rPr lang="zh-CN" altLang="zh-CN" dirty="0">
                          <a:solidFill>
                            <a:srgbClr val="FF0000"/>
                          </a:solidFill>
                          <a:latin typeface="微软雅黑" panose="020B0503020204020204" pitchFamily="34" charset="-122"/>
                          <a:ea typeface="微软雅黑" panose="020B0503020204020204" pitchFamily="34" charset="-122"/>
                        </a:rPr>
                        <a:t>静态工作点分析</a:t>
                      </a:r>
                      <a:endParaRPr lang="zh-CN" altLang="en-US" dirty="0">
                        <a:solidFill>
                          <a:srgbClr val="FF0000"/>
                        </a:solidFill>
                      </a:endParaRPr>
                    </a:p>
                  </a:txBody>
                  <a:tcPr anchor="ctr" anchorCtr="1"/>
                </a:tc>
                <a:tc>
                  <a:txBody>
                    <a:bodyPr/>
                    <a:lstStyle/>
                    <a:p>
                      <a:pPr marL="0" algn="ctr" defTabSz="914400" rtl="0" eaLnBrk="1" latinLnBrk="0" hangingPunct="1"/>
                      <a:r>
                        <a:rPr lang="zh-CN" altLang="zh-CN" sz="1800" b="1" kern="1200" dirty="0">
                          <a:solidFill>
                            <a:srgbClr val="FF0000"/>
                          </a:solidFill>
                          <a:latin typeface="微软雅黑" panose="020B0503020204020204" pitchFamily="34" charset="-122"/>
                          <a:ea typeface="微软雅黑" panose="020B0503020204020204" pitchFamily="34" charset="-122"/>
                          <a:cs typeface="+mn-cs"/>
                        </a:rPr>
                        <a:t>交流分析</a:t>
                      </a:r>
                      <a:endParaRPr lang="zh-CN" altLang="en-US" sz="1800" b="1" kern="1200" dirty="0">
                        <a:solidFill>
                          <a:srgbClr val="FF0000"/>
                        </a:solidFill>
                        <a:latin typeface="微软雅黑" panose="020B0503020204020204" pitchFamily="34" charset="-122"/>
                        <a:ea typeface="微软雅黑" panose="020B0503020204020204" pitchFamily="34" charset="-122"/>
                        <a:cs typeface="+mn-cs"/>
                      </a:endParaRPr>
                    </a:p>
                  </a:txBody>
                  <a:tcPr anchor="ctr" anchorCtr="1"/>
                </a:tc>
                <a:tc>
                  <a:txBody>
                    <a:bodyPr/>
                    <a:lstStyle/>
                    <a:p>
                      <a:pPr algn="ctr"/>
                      <a:r>
                        <a:rPr lang="zh-CN" altLang="zh-CN" dirty="0">
                          <a:solidFill>
                            <a:srgbClr val="FF0000"/>
                          </a:solidFill>
                          <a:latin typeface="微软雅黑" panose="020B0503020204020204" pitchFamily="34" charset="-122"/>
                          <a:ea typeface="微软雅黑" panose="020B0503020204020204" pitchFamily="34" charset="-122"/>
                        </a:rPr>
                        <a:t>单一频率</a:t>
                      </a:r>
                      <a:endParaRPr lang="en-US" altLang="zh-CN" dirty="0">
                        <a:solidFill>
                          <a:srgbClr val="FF0000"/>
                        </a:solidFill>
                        <a:latin typeface="微软雅黑" panose="020B0503020204020204" pitchFamily="34" charset="-122"/>
                        <a:ea typeface="微软雅黑" panose="020B0503020204020204" pitchFamily="34" charset="-122"/>
                      </a:endParaRPr>
                    </a:p>
                    <a:p>
                      <a:pPr algn="ctr"/>
                      <a:r>
                        <a:rPr lang="zh-CN" altLang="zh-CN" dirty="0">
                          <a:solidFill>
                            <a:srgbClr val="FF0000"/>
                          </a:solidFill>
                          <a:latin typeface="微软雅黑" panose="020B0503020204020204" pitchFamily="34" charset="-122"/>
                          <a:ea typeface="微软雅黑" panose="020B0503020204020204" pitchFamily="34" charset="-122"/>
                        </a:rPr>
                        <a:t>交流分析</a:t>
                      </a:r>
                      <a:endParaRPr lang="zh-CN" altLang="en-US" dirty="0">
                        <a:solidFill>
                          <a:srgbClr val="FF0000"/>
                        </a:solidFill>
                      </a:endParaRPr>
                    </a:p>
                  </a:txBody>
                  <a:tcPr anchor="ctr" anchorCtr="1"/>
                </a:tc>
                <a:tc>
                  <a:txBody>
                    <a:bodyPr/>
                    <a:lstStyle/>
                    <a:p>
                      <a:pPr algn="ctr"/>
                      <a:r>
                        <a:rPr lang="zh-CN" altLang="zh-CN" dirty="0">
                          <a:solidFill>
                            <a:srgbClr val="FF0000"/>
                          </a:solidFill>
                          <a:latin typeface="微软雅黑" panose="020B0503020204020204" pitchFamily="34" charset="-122"/>
                          <a:ea typeface="微软雅黑" panose="020B0503020204020204" pitchFamily="34" charset="-122"/>
                        </a:rPr>
                        <a:t>瞬态分析</a:t>
                      </a:r>
                      <a:endParaRPr lang="zh-CN" altLang="en-US" dirty="0">
                        <a:solidFill>
                          <a:srgbClr val="FF0000"/>
                        </a:solidFill>
                      </a:endParaRPr>
                    </a:p>
                  </a:txBody>
                  <a:tcPr anchor="ctr" anchorCtr="1"/>
                </a:tc>
                <a:tc>
                  <a:txBody>
                    <a:bodyPr/>
                    <a:lstStyle/>
                    <a:p>
                      <a:pPr algn="ctr"/>
                      <a:r>
                        <a:rPr lang="zh-CN" altLang="zh-CN" dirty="0">
                          <a:latin typeface="微软雅黑" panose="020B0503020204020204" pitchFamily="34" charset="-122"/>
                          <a:ea typeface="微软雅黑" panose="020B0503020204020204" pitchFamily="34" charset="-122"/>
                        </a:rPr>
                        <a:t>傅里叶分析</a:t>
                      </a:r>
                      <a:endParaRPr lang="zh-CN" altLang="en-US" dirty="0"/>
                    </a:p>
                  </a:txBody>
                  <a:tcPr anchor="ctr" anchorCtr="1"/>
                </a:tc>
                <a:extLst>
                  <a:ext uri="{0D108BD9-81ED-4DB2-BD59-A6C34878D82A}">
                    <a16:rowId xmlns:a16="http://schemas.microsoft.com/office/drawing/2014/main" val="2082859175"/>
                  </a:ext>
                </a:extLst>
              </a:tr>
              <a:tr h="681958">
                <a:tc vMerge="1">
                  <a:txBody>
                    <a:bodyPr/>
                    <a:lstStyle/>
                    <a:p>
                      <a:endParaRPr lang="zh-CN" altLang="en-US" dirty="0"/>
                    </a:p>
                  </a:txBody>
                  <a:tcPr/>
                </a:tc>
                <a:tc>
                  <a:txBody>
                    <a:bodyPr/>
                    <a:lstStyle/>
                    <a:p>
                      <a:pPr algn="ctr"/>
                      <a:r>
                        <a:rPr lang="zh-CN" altLang="zh-CN" dirty="0">
                          <a:latin typeface="微软雅黑" panose="020B0503020204020204" pitchFamily="34" charset="-122"/>
                          <a:ea typeface="微软雅黑" panose="020B0503020204020204" pitchFamily="34" charset="-122"/>
                        </a:rPr>
                        <a:t>噪声分析</a:t>
                      </a:r>
                      <a:endParaRPr lang="zh-CN" altLang="en-US" dirty="0"/>
                    </a:p>
                  </a:txBody>
                  <a:tcPr anchor="ctr" anchorCtr="1"/>
                </a:tc>
                <a:tc>
                  <a:txBody>
                    <a:bodyPr/>
                    <a:lstStyle/>
                    <a:p>
                      <a:pPr algn="ctr"/>
                      <a:r>
                        <a:rPr lang="zh-CN" altLang="zh-CN" dirty="0">
                          <a:latin typeface="微软雅黑" panose="020B0503020204020204" pitchFamily="34" charset="-122"/>
                          <a:ea typeface="微软雅黑" panose="020B0503020204020204" pitchFamily="34" charset="-122"/>
                        </a:rPr>
                        <a:t>噪声系数</a:t>
                      </a:r>
                      <a:endParaRPr lang="en-US" altLang="zh-CN" dirty="0">
                        <a:latin typeface="微软雅黑" panose="020B0503020204020204" pitchFamily="34" charset="-122"/>
                        <a:ea typeface="微软雅黑" panose="020B0503020204020204" pitchFamily="34" charset="-122"/>
                      </a:endParaRPr>
                    </a:p>
                    <a:p>
                      <a:pPr algn="ctr"/>
                      <a:r>
                        <a:rPr lang="zh-CN" altLang="zh-CN" dirty="0">
                          <a:latin typeface="微软雅黑" panose="020B0503020204020204" pitchFamily="34" charset="-122"/>
                          <a:ea typeface="微软雅黑" panose="020B0503020204020204" pitchFamily="34" charset="-122"/>
                        </a:rPr>
                        <a:t>分析</a:t>
                      </a:r>
                      <a:endParaRPr lang="zh-CN" altLang="en-US" dirty="0"/>
                    </a:p>
                  </a:txBody>
                  <a:tcPr anchor="ctr" anchorCtr="1"/>
                </a:tc>
                <a:tc>
                  <a:txBody>
                    <a:bodyPr/>
                    <a:lstStyle/>
                    <a:p>
                      <a:pPr marL="0" algn="ctr" defTabSz="914400" rtl="0" eaLnBrk="1" latinLnBrk="0" hangingPunct="1"/>
                      <a:r>
                        <a:rPr lang="zh-CN" altLang="zh-CN" sz="1800" b="1" kern="1200" dirty="0">
                          <a:solidFill>
                            <a:srgbClr val="FF0000"/>
                          </a:solidFill>
                          <a:latin typeface="微软雅黑" panose="020B0503020204020204" pitchFamily="34" charset="-122"/>
                          <a:ea typeface="微软雅黑" panose="020B0503020204020204" pitchFamily="34" charset="-122"/>
                          <a:cs typeface="+mn-cs"/>
                        </a:rPr>
                        <a:t>直流扫描</a:t>
                      </a:r>
                      <a:endParaRPr lang="en-US" altLang="zh-CN" sz="1800" b="1" kern="1200" dirty="0">
                        <a:solidFill>
                          <a:srgbClr val="FF0000"/>
                        </a:solidFill>
                        <a:latin typeface="微软雅黑" panose="020B0503020204020204" pitchFamily="34" charset="-122"/>
                        <a:ea typeface="微软雅黑" panose="020B0503020204020204" pitchFamily="34" charset="-122"/>
                        <a:cs typeface="+mn-cs"/>
                      </a:endParaRPr>
                    </a:p>
                    <a:p>
                      <a:pPr marL="0" algn="ctr" defTabSz="914400" rtl="0" eaLnBrk="1" latinLnBrk="0" hangingPunct="1"/>
                      <a:r>
                        <a:rPr lang="zh-CN" altLang="zh-CN" sz="1800" b="1" kern="1200" dirty="0">
                          <a:solidFill>
                            <a:srgbClr val="FF0000"/>
                          </a:solidFill>
                          <a:latin typeface="微软雅黑" panose="020B0503020204020204" pitchFamily="34" charset="-122"/>
                          <a:ea typeface="微软雅黑" panose="020B0503020204020204" pitchFamily="34" charset="-122"/>
                          <a:cs typeface="+mn-cs"/>
                        </a:rPr>
                        <a:t>分析</a:t>
                      </a:r>
                      <a:endParaRPr lang="zh-CN" altLang="en-US" sz="1800" b="1" kern="1200" dirty="0">
                        <a:solidFill>
                          <a:srgbClr val="FF0000"/>
                        </a:solidFill>
                        <a:latin typeface="微软雅黑" panose="020B0503020204020204" pitchFamily="34" charset="-122"/>
                        <a:ea typeface="微软雅黑" panose="020B0503020204020204" pitchFamily="34" charset="-122"/>
                        <a:cs typeface="+mn-cs"/>
                      </a:endParaRPr>
                    </a:p>
                  </a:txBody>
                  <a:tcPr anchor="ctr" anchorCtr="1"/>
                </a:tc>
                <a:tc>
                  <a:txBody>
                    <a:bodyPr/>
                    <a:lstStyle/>
                    <a:p>
                      <a:pPr marL="0" algn="ctr" defTabSz="914400" rtl="0" eaLnBrk="1" latinLnBrk="0" hangingPunct="1"/>
                      <a:r>
                        <a:rPr lang="zh-CN" altLang="zh-CN" sz="1800" b="1" kern="1200" dirty="0">
                          <a:solidFill>
                            <a:srgbClr val="FF0000"/>
                          </a:solidFill>
                          <a:latin typeface="微软雅黑" panose="020B0503020204020204" pitchFamily="34" charset="-122"/>
                          <a:ea typeface="微软雅黑" panose="020B0503020204020204" pitchFamily="34" charset="-122"/>
                          <a:cs typeface="+mn-cs"/>
                        </a:rPr>
                        <a:t>参数扫描</a:t>
                      </a:r>
                      <a:endParaRPr lang="en-US" altLang="zh-CN" sz="1800" b="1" kern="1200" dirty="0">
                        <a:solidFill>
                          <a:srgbClr val="FF0000"/>
                        </a:solidFill>
                        <a:latin typeface="微软雅黑" panose="020B0503020204020204" pitchFamily="34" charset="-122"/>
                        <a:ea typeface="微软雅黑" panose="020B0503020204020204" pitchFamily="34" charset="-122"/>
                        <a:cs typeface="+mn-cs"/>
                      </a:endParaRPr>
                    </a:p>
                    <a:p>
                      <a:pPr marL="0" algn="ctr" defTabSz="914400" rtl="0" eaLnBrk="1" latinLnBrk="0" hangingPunct="1"/>
                      <a:r>
                        <a:rPr lang="zh-CN" altLang="zh-CN" sz="1800" b="1" kern="1200" dirty="0">
                          <a:solidFill>
                            <a:srgbClr val="FF0000"/>
                          </a:solidFill>
                          <a:latin typeface="微软雅黑" panose="020B0503020204020204" pitchFamily="34" charset="-122"/>
                          <a:ea typeface="微软雅黑" panose="020B0503020204020204" pitchFamily="34" charset="-122"/>
                          <a:cs typeface="+mn-cs"/>
                        </a:rPr>
                        <a:t>分析</a:t>
                      </a:r>
                      <a:endParaRPr lang="zh-CN" altLang="en-US" sz="1800" b="1" kern="1200" dirty="0">
                        <a:solidFill>
                          <a:srgbClr val="FF0000"/>
                        </a:solidFill>
                        <a:latin typeface="微软雅黑" panose="020B0503020204020204" pitchFamily="34" charset="-122"/>
                        <a:ea typeface="微软雅黑" panose="020B0503020204020204" pitchFamily="34" charset="-122"/>
                        <a:cs typeface="+mn-cs"/>
                      </a:endParaRPr>
                    </a:p>
                  </a:txBody>
                  <a:tcPr anchor="ctr" anchorCtr="1"/>
                </a:tc>
                <a:tc>
                  <a:txBody>
                    <a:bodyPr/>
                    <a:lstStyle/>
                    <a:p>
                      <a:pPr algn="ctr"/>
                      <a:r>
                        <a:rPr lang="zh-CN" altLang="zh-CN" dirty="0">
                          <a:latin typeface="微软雅黑" panose="020B0503020204020204" pitchFamily="34" charset="-122"/>
                          <a:ea typeface="微软雅黑" panose="020B0503020204020204" pitchFamily="34" charset="-122"/>
                        </a:rPr>
                        <a:t>零点极点</a:t>
                      </a:r>
                      <a:endParaRPr lang="en-US" altLang="zh-CN" dirty="0">
                        <a:latin typeface="微软雅黑" panose="020B0503020204020204" pitchFamily="34" charset="-122"/>
                        <a:ea typeface="微软雅黑" panose="020B0503020204020204" pitchFamily="34" charset="-122"/>
                      </a:endParaRPr>
                    </a:p>
                    <a:p>
                      <a:pPr algn="ctr"/>
                      <a:r>
                        <a:rPr lang="zh-CN" altLang="zh-CN" dirty="0">
                          <a:latin typeface="微软雅黑" panose="020B0503020204020204" pitchFamily="34" charset="-122"/>
                          <a:ea typeface="微软雅黑" panose="020B0503020204020204" pitchFamily="34" charset="-122"/>
                        </a:rPr>
                        <a:t>分析</a:t>
                      </a:r>
                      <a:endParaRPr lang="zh-CN" altLang="en-US" dirty="0"/>
                    </a:p>
                  </a:txBody>
                  <a:tcPr anchor="ctr" anchorCtr="1"/>
                </a:tc>
                <a:extLst>
                  <a:ext uri="{0D108BD9-81ED-4DB2-BD59-A6C34878D82A}">
                    <a16:rowId xmlns:a16="http://schemas.microsoft.com/office/drawing/2014/main" val="2035238268"/>
                  </a:ext>
                </a:extLst>
              </a:tr>
              <a:tr h="681958">
                <a:tc vMerge="1">
                  <a:txBody>
                    <a:bodyPr/>
                    <a:lstStyle/>
                    <a:p>
                      <a:endParaRPr lang="zh-CN" altLang="en-US" dirty="0"/>
                    </a:p>
                  </a:txBody>
                  <a:tcPr/>
                </a:tc>
                <a:tc>
                  <a:txBody>
                    <a:bodyPr/>
                    <a:lstStyle/>
                    <a:p>
                      <a:pPr marL="0" algn="ctr" defTabSz="914400" rtl="0" eaLnBrk="1" latinLnBrk="0" hangingPunct="1"/>
                      <a:r>
                        <a:rPr lang="zh-CN" altLang="zh-CN" sz="1800" b="1" kern="1200" dirty="0">
                          <a:solidFill>
                            <a:srgbClr val="FF0000"/>
                          </a:solidFill>
                          <a:latin typeface="微软雅黑" panose="020B0503020204020204" pitchFamily="34" charset="-122"/>
                          <a:ea typeface="微软雅黑" panose="020B0503020204020204" pitchFamily="34" charset="-122"/>
                          <a:cs typeface="+mn-cs"/>
                        </a:rPr>
                        <a:t>失真分析</a:t>
                      </a:r>
                      <a:endParaRPr lang="zh-CN" altLang="en-US" sz="1800" b="1" kern="1200" dirty="0">
                        <a:solidFill>
                          <a:srgbClr val="FF0000"/>
                        </a:solidFill>
                        <a:latin typeface="微软雅黑" panose="020B0503020204020204" pitchFamily="34" charset="-122"/>
                        <a:ea typeface="微软雅黑" panose="020B0503020204020204" pitchFamily="34" charset="-122"/>
                        <a:cs typeface="+mn-cs"/>
                      </a:endParaRPr>
                    </a:p>
                  </a:txBody>
                  <a:tcPr anchor="ctr" anchorCtr="1">
                    <a:solidFill>
                      <a:srgbClr val="31B6FD"/>
                    </a:solidFill>
                  </a:tcPr>
                </a:tc>
                <a:tc>
                  <a:txBody>
                    <a:bodyPr/>
                    <a:lstStyle/>
                    <a:p>
                      <a:pPr algn="ctr"/>
                      <a:r>
                        <a:rPr lang="zh-CN" altLang="zh-CN" dirty="0">
                          <a:latin typeface="微软雅黑" panose="020B0503020204020204" pitchFamily="34" charset="-122"/>
                          <a:ea typeface="微软雅黑" panose="020B0503020204020204" pitchFamily="34" charset="-122"/>
                        </a:rPr>
                        <a:t>灵敏度分析</a:t>
                      </a:r>
                      <a:endParaRPr lang="zh-CN" altLang="en-US" dirty="0"/>
                    </a:p>
                  </a:txBody>
                  <a:tcPr anchor="ctr" anchorCtr="1">
                    <a:solidFill>
                      <a:srgbClr val="31B6FD"/>
                    </a:solidFill>
                  </a:tcPr>
                </a:tc>
                <a:tc>
                  <a:txBody>
                    <a:bodyPr/>
                    <a:lstStyle/>
                    <a:p>
                      <a:pPr algn="ctr"/>
                      <a:r>
                        <a:rPr lang="zh-CN" altLang="zh-CN" dirty="0">
                          <a:latin typeface="微软雅黑" panose="020B0503020204020204" pitchFamily="34" charset="-122"/>
                          <a:ea typeface="微软雅黑" panose="020B0503020204020204" pitchFamily="34" charset="-122"/>
                        </a:rPr>
                        <a:t>温度扫描</a:t>
                      </a:r>
                      <a:endParaRPr lang="en-US" altLang="zh-CN" dirty="0">
                        <a:latin typeface="微软雅黑" panose="020B0503020204020204" pitchFamily="34" charset="-122"/>
                        <a:ea typeface="微软雅黑" panose="020B0503020204020204" pitchFamily="34" charset="-122"/>
                      </a:endParaRPr>
                    </a:p>
                    <a:p>
                      <a:pPr algn="ctr"/>
                      <a:r>
                        <a:rPr lang="zh-CN" altLang="zh-CN" dirty="0">
                          <a:latin typeface="微软雅黑" panose="020B0503020204020204" pitchFamily="34" charset="-122"/>
                          <a:ea typeface="微软雅黑" panose="020B0503020204020204" pitchFamily="34" charset="-122"/>
                        </a:rPr>
                        <a:t>分析</a:t>
                      </a:r>
                      <a:endParaRPr lang="zh-CN" altLang="en-US" dirty="0"/>
                    </a:p>
                  </a:txBody>
                  <a:tcPr anchor="ctr" anchorCtr="1">
                    <a:solidFill>
                      <a:srgbClr val="31B6FD"/>
                    </a:solidFill>
                  </a:tcPr>
                </a:tc>
                <a:tc>
                  <a:txBody>
                    <a:bodyPr/>
                    <a:lstStyle/>
                    <a:p>
                      <a:pPr marL="0" algn="ctr" defTabSz="914400" rtl="0" eaLnBrk="1" latinLnBrk="0" hangingPunct="1"/>
                      <a:r>
                        <a:rPr lang="zh-CN" altLang="zh-CN" sz="1800" b="1" kern="1200" dirty="0">
                          <a:solidFill>
                            <a:srgbClr val="FF0000"/>
                          </a:solidFill>
                          <a:latin typeface="微软雅黑" panose="020B0503020204020204" pitchFamily="34" charset="-122"/>
                          <a:ea typeface="微软雅黑" panose="020B0503020204020204" pitchFamily="34" charset="-122"/>
                          <a:cs typeface="+mn-cs"/>
                        </a:rPr>
                        <a:t>传递函数</a:t>
                      </a:r>
                      <a:endParaRPr lang="en-US" altLang="zh-CN" sz="1800" b="1" kern="1200" dirty="0">
                        <a:solidFill>
                          <a:srgbClr val="FF0000"/>
                        </a:solidFill>
                        <a:latin typeface="微软雅黑" panose="020B0503020204020204" pitchFamily="34" charset="-122"/>
                        <a:ea typeface="微软雅黑" panose="020B0503020204020204" pitchFamily="34" charset="-122"/>
                        <a:cs typeface="+mn-cs"/>
                      </a:endParaRPr>
                    </a:p>
                    <a:p>
                      <a:pPr marL="0" algn="ctr" defTabSz="914400" rtl="0" eaLnBrk="1" latinLnBrk="0" hangingPunct="1"/>
                      <a:r>
                        <a:rPr lang="zh-CN" altLang="zh-CN" sz="1800" b="1" kern="1200" dirty="0">
                          <a:solidFill>
                            <a:srgbClr val="FF0000"/>
                          </a:solidFill>
                          <a:latin typeface="微软雅黑" panose="020B0503020204020204" pitchFamily="34" charset="-122"/>
                          <a:ea typeface="微软雅黑" panose="020B0503020204020204" pitchFamily="34" charset="-122"/>
                          <a:cs typeface="+mn-cs"/>
                        </a:rPr>
                        <a:t>分析</a:t>
                      </a:r>
                      <a:endParaRPr lang="zh-CN" altLang="en-US" sz="1800" b="1" kern="1200" dirty="0">
                        <a:solidFill>
                          <a:srgbClr val="FF0000"/>
                        </a:solidFill>
                        <a:latin typeface="微软雅黑" panose="020B0503020204020204" pitchFamily="34" charset="-122"/>
                        <a:ea typeface="微软雅黑" panose="020B0503020204020204" pitchFamily="34" charset="-122"/>
                        <a:cs typeface="+mn-cs"/>
                      </a:endParaRPr>
                    </a:p>
                  </a:txBody>
                  <a:tcPr anchor="ctr" anchorCtr="1">
                    <a:solidFill>
                      <a:srgbClr val="31B6FD"/>
                    </a:solidFill>
                  </a:tcPr>
                </a:tc>
                <a:tc>
                  <a:txBody>
                    <a:bodyPr/>
                    <a:lstStyle/>
                    <a:p>
                      <a:pPr algn="ctr"/>
                      <a:r>
                        <a:rPr lang="zh-CN" altLang="zh-CN" dirty="0">
                          <a:latin typeface="微软雅黑" panose="020B0503020204020204" pitchFamily="34" charset="-122"/>
                          <a:ea typeface="微软雅黑" panose="020B0503020204020204" pitchFamily="34" charset="-122"/>
                        </a:rPr>
                        <a:t>最坏情况</a:t>
                      </a:r>
                      <a:endParaRPr lang="en-US" altLang="zh-CN" dirty="0">
                        <a:latin typeface="微软雅黑" panose="020B0503020204020204" pitchFamily="34" charset="-122"/>
                        <a:ea typeface="微软雅黑" panose="020B0503020204020204" pitchFamily="34" charset="-122"/>
                      </a:endParaRPr>
                    </a:p>
                    <a:p>
                      <a:pPr algn="ctr"/>
                      <a:r>
                        <a:rPr lang="zh-CN" altLang="zh-CN" dirty="0">
                          <a:latin typeface="微软雅黑" panose="020B0503020204020204" pitchFamily="34" charset="-122"/>
                          <a:ea typeface="微软雅黑" panose="020B0503020204020204" pitchFamily="34" charset="-122"/>
                        </a:rPr>
                        <a:t>分析</a:t>
                      </a:r>
                      <a:endParaRPr lang="zh-CN" altLang="en-US" dirty="0"/>
                    </a:p>
                  </a:txBody>
                  <a:tcPr anchor="ctr" anchorCtr="1">
                    <a:solidFill>
                      <a:srgbClr val="31B6FD"/>
                    </a:solidFill>
                  </a:tcPr>
                </a:tc>
                <a:extLst>
                  <a:ext uri="{0D108BD9-81ED-4DB2-BD59-A6C34878D82A}">
                    <a16:rowId xmlns:a16="http://schemas.microsoft.com/office/drawing/2014/main" val="2164068140"/>
                  </a:ext>
                </a:extLst>
              </a:tr>
              <a:tr h="974226">
                <a:tc vMerge="1">
                  <a:txBody>
                    <a:bodyPr/>
                    <a:lstStyle/>
                    <a:p>
                      <a:endParaRPr lang="zh-CN" altLang="en-US" dirty="0"/>
                    </a:p>
                  </a:txBody>
                  <a:tcPr/>
                </a:tc>
                <a:tc>
                  <a:txBody>
                    <a:bodyPr/>
                    <a:lstStyle/>
                    <a:p>
                      <a:pPr algn="ctr"/>
                      <a:r>
                        <a:rPr lang="zh-CN" altLang="zh-CN" dirty="0">
                          <a:latin typeface="微软雅黑" panose="020B0503020204020204" pitchFamily="34" charset="-122"/>
                          <a:ea typeface="微软雅黑" panose="020B0503020204020204" pitchFamily="34" charset="-122"/>
                        </a:rPr>
                        <a:t>蒙特卡洛分析</a:t>
                      </a:r>
                      <a:endParaRPr lang="zh-CN" altLang="en-US" dirty="0"/>
                    </a:p>
                  </a:txBody>
                  <a:tcPr anchor="ctr" anchorCtr="1"/>
                </a:tc>
                <a:tc>
                  <a:txBody>
                    <a:bodyPr/>
                    <a:lstStyle/>
                    <a:p>
                      <a:pPr algn="ctr"/>
                      <a:r>
                        <a:rPr lang="zh-CN" altLang="zh-CN" dirty="0">
                          <a:latin typeface="微软雅黑" panose="020B0503020204020204" pitchFamily="34" charset="-122"/>
                          <a:ea typeface="微软雅黑" panose="020B0503020204020204" pitchFamily="34" charset="-122"/>
                        </a:rPr>
                        <a:t>布线宽度</a:t>
                      </a:r>
                      <a:endParaRPr lang="en-US" altLang="zh-CN" dirty="0">
                        <a:latin typeface="微软雅黑" panose="020B0503020204020204" pitchFamily="34" charset="-122"/>
                        <a:ea typeface="微软雅黑" panose="020B0503020204020204" pitchFamily="34" charset="-122"/>
                      </a:endParaRPr>
                    </a:p>
                    <a:p>
                      <a:pPr algn="ctr"/>
                      <a:r>
                        <a:rPr lang="zh-CN" altLang="zh-CN" dirty="0">
                          <a:latin typeface="微软雅黑" panose="020B0503020204020204" pitchFamily="34" charset="-122"/>
                          <a:ea typeface="微软雅黑" panose="020B0503020204020204" pitchFamily="34" charset="-122"/>
                        </a:rPr>
                        <a:t>分析</a:t>
                      </a:r>
                      <a:endParaRPr lang="zh-CN" altLang="en-US" dirty="0"/>
                    </a:p>
                  </a:txBody>
                  <a:tcPr anchor="ctr" anchorCtr="1"/>
                </a:tc>
                <a:tc>
                  <a:txBody>
                    <a:bodyPr/>
                    <a:lstStyle/>
                    <a:p>
                      <a:pPr algn="ctr"/>
                      <a:r>
                        <a:rPr lang="zh-CN" altLang="zh-CN" dirty="0">
                          <a:latin typeface="微软雅黑" panose="020B0503020204020204" pitchFamily="34" charset="-122"/>
                          <a:ea typeface="微软雅黑" panose="020B0503020204020204" pitchFamily="34" charset="-122"/>
                        </a:rPr>
                        <a:t>批处理分析</a:t>
                      </a:r>
                      <a:endParaRPr lang="zh-CN" altLang="en-US" dirty="0"/>
                    </a:p>
                  </a:txBody>
                  <a:tcPr anchor="ctr" anchorCtr="1"/>
                </a:tc>
                <a:tc>
                  <a:txBody>
                    <a:bodyPr/>
                    <a:lstStyle/>
                    <a:p>
                      <a:pPr algn="ctr"/>
                      <a:r>
                        <a:rPr lang="zh-CN" altLang="zh-CN" dirty="0">
                          <a:latin typeface="微软雅黑" panose="020B0503020204020204" pitchFamily="34" charset="-122"/>
                          <a:ea typeface="微软雅黑" panose="020B0503020204020204" pitchFamily="34" charset="-122"/>
                        </a:rPr>
                        <a:t>用户自定义分析</a:t>
                      </a:r>
                      <a:endParaRPr lang="zh-CN" altLang="en-US" dirty="0"/>
                    </a:p>
                  </a:txBody>
                  <a:tcPr anchor="ctr" anchorCtr="1"/>
                </a:tc>
                <a:tc>
                  <a:txBody>
                    <a:bodyPr/>
                    <a:lstStyle/>
                    <a:p>
                      <a:pPr algn="ctr"/>
                      <a:endParaRPr lang="zh-CN" altLang="en-US" dirty="0"/>
                    </a:p>
                  </a:txBody>
                  <a:tcPr anchor="ctr" anchorCtr="1"/>
                </a:tc>
                <a:extLst>
                  <a:ext uri="{0D108BD9-81ED-4DB2-BD59-A6C34878D82A}">
                    <a16:rowId xmlns:a16="http://schemas.microsoft.com/office/drawing/2014/main" val="2695422982"/>
                  </a:ext>
                </a:extLst>
              </a:tr>
            </a:tbl>
          </a:graphicData>
        </a:graphic>
      </p:graphicFrame>
    </p:spTree>
    <p:extLst>
      <p:ext uri="{BB962C8B-B14F-4D97-AF65-F5344CB8AC3E}">
        <p14:creationId xmlns:p14="http://schemas.microsoft.com/office/powerpoint/2010/main" val="79388931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2"/>
          <p:cNvSpPr>
            <a:spLocks noGrp="1"/>
          </p:cNvSpPr>
          <p:nvPr>
            <p:ph idx="1"/>
          </p:nvPr>
        </p:nvSpPr>
        <p:spPr>
          <a:xfrm>
            <a:off x="467544" y="620688"/>
            <a:ext cx="8147248" cy="936104"/>
          </a:xfrm>
        </p:spPr>
        <p:txBody>
          <a:bodyPr>
            <a:normAutofit fontScale="92500"/>
          </a:bodyPr>
          <a:lstStyle/>
          <a:p>
            <a:pPr marL="0" indent="0">
              <a:lnSpc>
                <a:spcPct val="125000"/>
              </a:lnSpc>
              <a:buFont typeface="Wingdings 2" panose="05020102010507070707" pitchFamily="18" charset="2"/>
              <a:buNone/>
              <a:defRPr/>
            </a:pPr>
            <a:r>
              <a:rPr lang="en-US" altLang="zh-CN" sz="1800" dirty="0">
                <a:latin typeface="微软雅黑" panose="020B0503020204020204" pitchFamily="34" charset="-122"/>
                <a:ea typeface="微软雅黑" panose="020B0503020204020204" pitchFamily="34" charset="-122"/>
              </a:rPr>
              <a:t>     1</a:t>
            </a:r>
            <a:r>
              <a:rPr lang="zh-CN" altLang="en-US" sz="1800" dirty="0">
                <a:latin typeface="微软雅黑" panose="020B0503020204020204" pitchFamily="34" charset="-122"/>
                <a:ea typeface="微软雅黑" panose="020B0503020204020204" pitchFamily="34" charset="-122"/>
              </a:rPr>
              <a:t>）</a:t>
            </a:r>
            <a:r>
              <a:rPr lang="zh-CN" altLang="zh-CN" sz="1800" dirty="0">
                <a:latin typeface="微软雅黑" panose="020B0503020204020204" pitchFamily="34" charset="-122"/>
                <a:ea typeface="微软雅黑" panose="020B0503020204020204" pitchFamily="34" charset="-122"/>
              </a:rPr>
              <a:t>直流静态工作点分析</a:t>
            </a:r>
            <a:r>
              <a:rPr lang="zh-CN" altLang="en-US" sz="1800" dirty="0">
                <a:latin typeface="微软雅黑" panose="020B0503020204020204" pitchFamily="34" charset="-122"/>
                <a:ea typeface="微软雅黑" panose="020B0503020204020204" pitchFamily="34" charset="-122"/>
              </a:rPr>
              <a:t>方法（以单管基本放大电路实例）。</a:t>
            </a:r>
            <a:endParaRPr lang="en-US" altLang="zh-CN" sz="1800" dirty="0">
              <a:latin typeface="微软雅黑" panose="020B0503020204020204" pitchFamily="34" charset="-122"/>
              <a:ea typeface="微软雅黑" panose="020B0503020204020204" pitchFamily="34" charset="-122"/>
            </a:endParaRPr>
          </a:p>
          <a:p>
            <a:pPr marL="0" indent="0">
              <a:lnSpc>
                <a:spcPct val="125000"/>
              </a:lnSpc>
              <a:buFont typeface="Wingdings 2" panose="05020102010507070707" pitchFamily="18" charset="2"/>
              <a:buNone/>
              <a:defRPr/>
            </a:pPr>
            <a:r>
              <a:rPr lang="en-US" altLang="zh-CN" sz="1800" b="0" dirty="0">
                <a:latin typeface="微软雅黑" panose="020B0503020204020204" pitchFamily="34" charset="-122"/>
                <a:ea typeface="微软雅黑" panose="020B0503020204020204" pitchFamily="34" charset="-122"/>
              </a:rPr>
              <a:t>          </a:t>
            </a:r>
            <a:r>
              <a:rPr lang="zh-CN" altLang="zh-CN" sz="1800" b="0" dirty="0">
                <a:latin typeface="微软雅黑" panose="020B0503020204020204" pitchFamily="34" charset="-122"/>
                <a:ea typeface="微软雅黑" panose="020B0503020204020204" pitchFamily="34" charset="-122"/>
              </a:rPr>
              <a:t>电路如图</a:t>
            </a:r>
            <a:r>
              <a:rPr lang="en-US" altLang="zh-CN" sz="1800" b="0" dirty="0">
                <a:latin typeface="微软雅黑" panose="020B0503020204020204" pitchFamily="34" charset="-122"/>
                <a:ea typeface="微软雅黑" panose="020B0503020204020204" pitchFamily="34" charset="-122"/>
              </a:rPr>
              <a:t>10</a:t>
            </a:r>
            <a:r>
              <a:rPr lang="zh-CN" altLang="zh-CN" sz="1800" b="0" dirty="0">
                <a:latin typeface="微软雅黑" panose="020B0503020204020204" pitchFamily="34" charset="-122"/>
                <a:ea typeface="微软雅黑" panose="020B0503020204020204" pitchFamily="34" charset="-122"/>
              </a:rPr>
              <a:t>所示，此电路为单管基本放大电路。其中晶体管采用</a:t>
            </a:r>
            <a:r>
              <a:rPr lang="en-US" altLang="zh-CN" sz="1800" b="0" dirty="0">
                <a:latin typeface="微软雅黑" panose="020B0503020204020204" pitchFamily="34" charset="-122"/>
                <a:ea typeface="微软雅黑" panose="020B0503020204020204" pitchFamily="34" charset="-122"/>
              </a:rPr>
              <a:t>2N2222A</a:t>
            </a:r>
            <a:r>
              <a:rPr lang="zh-CN" altLang="zh-CN" sz="1800" b="0" dirty="0">
                <a:latin typeface="微软雅黑" panose="020B0503020204020204" pitchFamily="34" charset="-122"/>
                <a:ea typeface="微软雅黑" panose="020B0503020204020204" pitchFamily="34" charset="-122"/>
              </a:rPr>
              <a:t>。</a:t>
            </a:r>
            <a:endParaRPr lang="en-US" altLang="zh-CN" sz="2400" dirty="0"/>
          </a:p>
          <a:p>
            <a:pPr marL="0" indent="0" eaLnBrk="1" hangingPunct="1">
              <a:buFont typeface="Wingdings 2" panose="05020102010507070707" pitchFamily="18" charset="2"/>
              <a:buNone/>
              <a:defRPr/>
            </a:pPr>
            <a:endParaRPr lang="en-US" altLang="zh-CN" sz="2400" dirty="0"/>
          </a:p>
          <a:p>
            <a:pPr marL="0" indent="0" eaLnBrk="1" hangingPunct="1">
              <a:buFont typeface="Wingdings 2" panose="05020102010507070707" pitchFamily="18" charset="2"/>
              <a:buNone/>
              <a:defRPr/>
            </a:pPr>
            <a:endParaRPr lang="en-US" altLang="zh-CN" sz="2400" dirty="0"/>
          </a:p>
          <a:p>
            <a:pPr marL="0" indent="0" eaLnBrk="1" hangingPunct="1">
              <a:buFont typeface="Wingdings 2" panose="05020102010507070707" pitchFamily="18" charset="2"/>
              <a:buNone/>
              <a:defRPr/>
            </a:pPr>
            <a:endParaRPr lang="en-US" altLang="zh-CN" sz="2400" dirty="0"/>
          </a:p>
          <a:p>
            <a:pPr marL="0" indent="0" eaLnBrk="1" hangingPunct="1">
              <a:buFont typeface="Wingdings 2" panose="05020102010507070707" pitchFamily="18" charset="2"/>
              <a:buNone/>
              <a:defRPr/>
            </a:pPr>
            <a:endParaRPr lang="en-US" altLang="zh-CN" sz="2400" dirty="0"/>
          </a:p>
          <a:p>
            <a:pPr marL="0" indent="0" eaLnBrk="1" hangingPunct="1">
              <a:buFont typeface="Wingdings 2" panose="05020102010507070707" pitchFamily="18" charset="2"/>
              <a:buNone/>
              <a:defRPr/>
            </a:pPr>
            <a:endParaRPr lang="en-US" altLang="zh-CN" sz="2400" dirty="0"/>
          </a:p>
          <a:p>
            <a:pPr marL="0" indent="0" eaLnBrk="1" hangingPunct="1">
              <a:buFont typeface="Wingdings 2" panose="05020102010507070707" pitchFamily="18" charset="2"/>
              <a:buNone/>
              <a:defRPr/>
            </a:pPr>
            <a:endParaRPr lang="en-US" altLang="zh-CN" sz="2400" dirty="0"/>
          </a:p>
          <a:p>
            <a:pPr marL="0" indent="0" eaLnBrk="1" hangingPunct="1">
              <a:buFont typeface="Wingdings 2" panose="05020102010507070707" pitchFamily="18" charset="2"/>
              <a:buNone/>
              <a:defRPr/>
            </a:pPr>
            <a:endParaRPr lang="en-US" altLang="zh-CN" sz="2400" dirty="0"/>
          </a:p>
          <a:p>
            <a:pPr marL="0" indent="0" eaLnBrk="1" hangingPunct="1">
              <a:buFont typeface="Wingdings 2" panose="05020102010507070707" pitchFamily="18" charset="2"/>
              <a:buNone/>
              <a:defRPr/>
            </a:pPr>
            <a:endParaRPr lang="en-US" altLang="zh-CN" dirty="0"/>
          </a:p>
        </p:txBody>
      </p:sp>
      <p:pic>
        <p:nvPicPr>
          <p:cNvPr id="9" name="图片 8"/>
          <p:cNvPicPr>
            <a:picLocks noChangeAspect="1"/>
          </p:cNvPicPr>
          <p:nvPr/>
        </p:nvPicPr>
        <p:blipFill>
          <a:blip r:embed="rId2"/>
          <a:stretch>
            <a:fillRect/>
          </a:stretch>
        </p:blipFill>
        <p:spPr>
          <a:xfrm>
            <a:off x="1691680" y="1628800"/>
            <a:ext cx="5461992" cy="4326399"/>
          </a:xfrm>
          <a:prstGeom prst="rect">
            <a:avLst/>
          </a:prstGeom>
        </p:spPr>
      </p:pic>
      <p:sp>
        <p:nvSpPr>
          <p:cNvPr id="10" name="矩形 9"/>
          <p:cNvSpPr/>
          <p:nvPr/>
        </p:nvSpPr>
        <p:spPr>
          <a:xfrm>
            <a:off x="2255168" y="6124654"/>
            <a:ext cx="4572000" cy="369332"/>
          </a:xfrm>
          <a:prstGeom prst="rect">
            <a:avLst/>
          </a:prstGeom>
        </p:spPr>
        <p:txBody>
          <a:bodyPr>
            <a:spAutoFit/>
          </a:bodyPr>
          <a:lstStyle/>
          <a:p>
            <a:pPr algn="ctr">
              <a:defRPr/>
            </a:pPr>
            <a:r>
              <a:rPr lang="zh-CN" altLang="en-US" dirty="0">
                <a:latin typeface="微软雅黑" panose="020B0503020204020204" pitchFamily="34" charset="-122"/>
                <a:ea typeface="微软雅黑" panose="020B0503020204020204" pitchFamily="34" charset="-122"/>
              </a:rPr>
              <a:t>图</a:t>
            </a:r>
            <a:r>
              <a:rPr lang="en-US" altLang="zh-CN" dirty="0">
                <a:latin typeface="微软雅黑" panose="020B0503020204020204" pitchFamily="34" charset="-122"/>
                <a:ea typeface="微软雅黑" panose="020B0503020204020204" pitchFamily="34" charset="-122"/>
              </a:rPr>
              <a:t>10 </a:t>
            </a:r>
            <a:r>
              <a:rPr lang="zh-CN" altLang="en-US" dirty="0">
                <a:latin typeface="微软雅黑" panose="020B0503020204020204" pitchFamily="34" charset="-122"/>
                <a:ea typeface="微软雅黑" panose="020B0503020204020204" pitchFamily="34" charset="-122"/>
              </a:rPr>
              <a:t>单管基本放大电路</a:t>
            </a:r>
            <a:endParaRPr lang="zh-CN" altLang="zh-CN" sz="32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19342358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79512" y="332656"/>
            <a:ext cx="8712968" cy="2225225"/>
          </a:xfrm>
          <a:prstGeom prst="rect">
            <a:avLst/>
          </a:prstGeom>
        </p:spPr>
        <p:txBody>
          <a:bodyPr wrap="square">
            <a:spAutoFit/>
          </a:bodyPr>
          <a:lstStyle/>
          <a:p>
            <a:pPr>
              <a:lnSpc>
                <a:spcPct val="125000"/>
              </a:lnSpc>
              <a:spcBef>
                <a:spcPct val="20000"/>
              </a:spcBef>
              <a:buClr>
                <a:schemeClr val="accent1"/>
              </a:buClr>
              <a:buSzPct val="100000"/>
              <a:defRPr/>
            </a:pPr>
            <a:r>
              <a:rPr lang="en-US" altLang="zh-CN" dirty="0">
                <a:latin typeface="微软雅黑" panose="020B0503020204020204" pitchFamily="34" charset="-122"/>
                <a:ea typeface="微软雅黑" panose="020B0503020204020204" pitchFamily="34" charset="-122"/>
              </a:rPr>
              <a:t>      </a:t>
            </a:r>
            <a:r>
              <a:rPr lang="zh-CN" altLang="zh-CN" dirty="0">
                <a:latin typeface="微软雅黑" panose="020B0503020204020204" pitchFamily="34" charset="-122"/>
                <a:ea typeface="微软雅黑" panose="020B0503020204020204" pitchFamily="34" charset="-122"/>
              </a:rPr>
              <a:t>直流工作点分析（</a:t>
            </a:r>
            <a:r>
              <a:rPr lang="en-US" altLang="zh-CN" dirty="0">
                <a:latin typeface="微软雅黑" panose="020B0503020204020204" pitchFamily="34" charset="-122"/>
                <a:ea typeface="微软雅黑" panose="020B0503020204020204" pitchFamily="34" charset="-122"/>
              </a:rPr>
              <a:t>DC Operating Point Analysis</a:t>
            </a:r>
            <a:r>
              <a:rPr lang="zh-CN" altLang="zh-CN" dirty="0">
                <a:latin typeface="微软雅黑" panose="020B0503020204020204" pitchFamily="34" charset="-122"/>
                <a:ea typeface="微软雅黑" panose="020B0503020204020204" pitchFamily="34" charset="-122"/>
              </a:rPr>
              <a:t>）是最基本的电路分析，通常是为了判断电路的静态工作点是否设置合适，如果设置不合适，会导致电路不能正常工作。在进行直流工作点分析时，电路中的交流信号将自动设为</a:t>
            </a:r>
            <a:r>
              <a:rPr lang="en-US" altLang="zh-CN" dirty="0">
                <a:latin typeface="微软雅黑" panose="020B0503020204020204" pitchFamily="34" charset="-122"/>
                <a:ea typeface="微软雅黑" panose="020B0503020204020204" pitchFamily="34" charset="-122"/>
              </a:rPr>
              <a:t>0</a:t>
            </a:r>
            <a:r>
              <a:rPr lang="zh-CN" altLang="zh-CN" dirty="0">
                <a:latin typeface="微软雅黑" panose="020B0503020204020204" pitchFamily="34" charset="-122"/>
                <a:ea typeface="微软雅黑" panose="020B0503020204020204" pitchFamily="34" charset="-122"/>
              </a:rPr>
              <a:t>，电容被视为开路，电感被视为短路，数字元件被当成一个大电阻来处理。</a:t>
            </a:r>
            <a:endParaRPr lang="en-US" altLang="zh-CN" dirty="0">
              <a:latin typeface="微软雅黑" panose="020B0503020204020204" pitchFamily="34" charset="-122"/>
              <a:ea typeface="微软雅黑" panose="020B0503020204020204" pitchFamily="34" charset="-122"/>
            </a:endParaRPr>
          </a:p>
          <a:p>
            <a:pPr>
              <a:lnSpc>
                <a:spcPct val="125000"/>
              </a:lnSpc>
              <a:spcBef>
                <a:spcPct val="20000"/>
              </a:spcBef>
              <a:buClr>
                <a:schemeClr val="accent1"/>
              </a:buClr>
              <a:buSzPct val="100000"/>
              <a:defRPr/>
            </a:pPr>
            <a:r>
              <a:rPr lang="zh-CN" altLang="en-US" dirty="0">
                <a:latin typeface="微软雅黑" panose="020B0503020204020204" pitchFamily="34" charset="-122"/>
                <a:ea typeface="微软雅黑" panose="020B0503020204020204" pitchFamily="34" charset="-122"/>
              </a:rPr>
              <a:t>     启动菜单命令</a:t>
            </a:r>
            <a:r>
              <a:rPr lang="en-US" altLang="zh-CN" dirty="0">
                <a:latin typeface="微软雅黑" panose="020B0503020204020204" pitchFamily="34" charset="-122"/>
                <a:ea typeface="微软雅黑" panose="020B0503020204020204" pitchFamily="34" charset="-122"/>
              </a:rPr>
              <a:t>Simulate/Analyses/DC operating point</a:t>
            </a:r>
            <a:r>
              <a:rPr lang="zh-CN" altLang="en-US" dirty="0">
                <a:latin typeface="微软雅黑" panose="020B0503020204020204" pitchFamily="34" charset="-122"/>
                <a:ea typeface="微软雅黑" panose="020B0503020204020204" pitchFamily="34" charset="-122"/>
              </a:rPr>
              <a:t>，进入静态工作点分析对话框，如图</a:t>
            </a:r>
            <a:r>
              <a:rPr lang="en-US" altLang="zh-CN" dirty="0">
                <a:latin typeface="微软雅黑" panose="020B0503020204020204" pitchFamily="34" charset="-122"/>
                <a:ea typeface="微软雅黑" panose="020B0503020204020204" pitchFamily="34" charset="-122"/>
              </a:rPr>
              <a:t>11</a:t>
            </a:r>
            <a:r>
              <a:rPr lang="zh-CN" altLang="en-US" dirty="0">
                <a:latin typeface="微软雅黑" panose="020B0503020204020204" pitchFamily="34" charset="-122"/>
                <a:ea typeface="微软雅黑" panose="020B0503020204020204" pitchFamily="34" charset="-122"/>
              </a:rPr>
              <a:t>所示。对话框包括</a:t>
            </a:r>
            <a:r>
              <a:rPr lang="en-US" altLang="zh-CN" dirty="0">
                <a:latin typeface="微软雅黑" panose="020B0503020204020204" pitchFamily="34" charset="-122"/>
                <a:ea typeface="微软雅黑" panose="020B0503020204020204" pitchFamily="34" charset="-122"/>
              </a:rPr>
              <a:t>Output</a:t>
            </a:r>
            <a:r>
              <a:rPr lang="zh-CN" altLang="en-US" dirty="0">
                <a:latin typeface="微软雅黑" panose="020B0503020204020204" pitchFamily="34" charset="-122"/>
                <a:ea typeface="微软雅黑" panose="020B0503020204020204" pitchFamily="34" charset="-122"/>
              </a:rPr>
              <a:t>页、</a:t>
            </a:r>
            <a:r>
              <a:rPr lang="en-US" altLang="zh-CN" dirty="0">
                <a:latin typeface="微软雅黑" panose="020B0503020204020204" pitchFamily="34" charset="-122"/>
                <a:ea typeface="微软雅黑" panose="020B0503020204020204" pitchFamily="34" charset="-122"/>
              </a:rPr>
              <a:t>Analysis Options</a:t>
            </a:r>
            <a:r>
              <a:rPr lang="zh-CN" altLang="en-US" dirty="0">
                <a:latin typeface="微软雅黑" panose="020B0503020204020204" pitchFamily="34" charset="-122"/>
                <a:ea typeface="微软雅黑" panose="020B0503020204020204" pitchFamily="34" charset="-122"/>
              </a:rPr>
              <a:t>页和</a:t>
            </a:r>
            <a:r>
              <a:rPr lang="en-US" altLang="zh-CN" dirty="0">
                <a:latin typeface="微软雅黑" panose="020B0503020204020204" pitchFamily="34" charset="-122"/>
                <a:ea typeface="微软雅黑" panose="020B0503020204020204" pitchFamily="34" charset="-122"/>
              </a:rPr>
              <a:t>Summary</a:t>
            </a:r>
            <a:r>
              <a:rPr lang="zh-CN" altLang="en-US" dirty="0">
                <a:latin typeface="微软雅黑" panose="020B0503020204020204" pitchFamily="34" charset="-122"/>
                <a:ea typeface="微软雅黑" panose="020B0503020204020204" pitchFamily="34" charset="-122"/>
              </a:rPr>
              <a:t>页。</a:t>
            </a:r>
            <a:endParaRPr lang="zh-CN" altLang="zh-CN" dirty="0">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2"/>
          <a:stretch>
            <a:fillRect/>
          </a:stretch>
        </p:blipFill>
        <p:spPr>
          <a:xfrm>
            <a:off x="2905346" y="2557880"/>
            <a:ext cx="3322838" cy="3651885"/>
          </a:xfrm>
          <a:prstGeom prst="rect">
            <a:avLst/>
          </a:prstGeom>
        </p:spPr>
      </p:pic>
      <p:sp>
        <p:nvSpPr>
          <p:cNvPr id="6" name="矩形 5"/>
          <p:cNvSpPr/>
          <p:nvPr/>
        </p:nvSpPr>
        <p:spPr>
          <a:xfrm>
            <a:off x="2466019" y="6309320"/>
            <a:ext cx="4572000" cy="369332"/>
          </a:xfrm>
          <a:prstGeom prst="rect">
            <a:avLst/>
          </a:prstGeom>
        </p:spPr>
        <p:txBody>
          <a:bodyPr>
            <a:spAutoFit/>
          </a:bodyPr>
          <a:lstStyle/>
          <a:p>
            <a:pPr algn="ctr">
              <a:defRPr/>
            </a:pPr>
            <a:r>
              <a:rPr lang="zh-CN" altLang="en-US" dirty="0">
                <a:latin typeface="微软雅黑" panose="020B0503020204020204" pitchFamily="34" charset="-122"/>
                <a:ea typeface="微软雅黑" panose="020B0503020204020204" pitchFamily="34" charset="-122"/>
              </a:rPr>
              <a:t>图</a:t>
            </a:r>
            <a:r>
              <a:rPr lang="en-US" altLang="zh-CN" dirty="0">
                <a:latin typeface="微软雅黑" panose="020B0503020204020204" pitchFamily="34" charset="-122"/>
                <a:ea typeface="微软雅黑" panose="020B0503020204020204" pitchFamily="34" charset="-122"/>
              </a:rPr>
              <a:t>11</a:t>
            </a:r>
            <a:r>
              <a:rPr lang="zh-CN" altLang="zh-CN" dirty="0">
                <a:latin typeface="微软雅黑" panose="020B0503020204020204" pitchFamily="34" charset="-122"/>
                <a:ea typeface="微软雅黑" panose="020B0503020204020204" pitchFamily="34" charset="-122"/>
              </a:rPr>
              <a:t>静态工作点分析对话框</a:t>
            </a:r>
            <a:endParaRPr lang="zh-CN" altLang="zh-CN" sz="32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42120713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1835696" y="1916832"/>
            <a:ext cx="5571530" cy="3997417"/>
          </a:xfrm>
          <a:prstGeom prst="rect">
            <a:avLst/>
          </a:prstGeom>
        </p:spPr>
      </p:pic>
      <p:sp>
        <p:nvSpPr>
          <p:cNvPr id="5" name="矩形 4"/>
          <p:cNvSpPr/>
          <p:nvPr/>
        </p:nvSpPr>
        <p:spPr>
          <a:xfrm>
            <a:off x="251520" y="548680"/>
            <a:ext cx="8640960" cy="1108060"/>
          </a:xfrm>
          <a:prstGeom prst="rect">
            <a:avLst/>
          </a:prstGeom>
        </p:spPr>
        <p:txBody>
          <a:bodyPr wrap="square">
            <a:spAutoFit/>
          </a:bodyPr>
          <a:lstStyle/>
          <a:p>
            <a:pPr>
              <a:lnSpc>
                <a:spcPct val="125000"/>
              </a:lnSpc>
              <a:spcBef>
                <a:spcPct val="20000"/>
              </a:spcBef>
              <a:buClr>
                <a:schemeClr val="accent1"/>
              </a:buClr>
              <a:buSzPct val="100000"/>
              <a:defRPr/>
            </a:pPr>
            <a:r>
              <a:rPr lang="en-US" altLang="zh-CN" dirty="0">
                <a:latin typeface="微软雅黑" panose="020B0503020204020204" pitchFamily="34" charset="-122"/>
                <a:ea typeface="微软雅黑" panose="020B0503020204020204" pitchFamily="34" charset="-122"/>
              </a:rPr>
              <a:t>    </a:t>
            </a:r>
            <a:r>
              <a:rPr lang="zh-CN" altLang="zh-CN" dirty="0">
                <a:latin typeface="微软雅黑" panose="020B0503020204020204" pitchFamily="34" charset="-122"/>
                <a:ea typeface="微软雅黑" panose="020B0503020204020204" pitchFamily="34" charset="-122"/>
              </a:rPr>
              <a:t>当设定完成后，按图</a:t>
            </a:r>
            <a:r>
              <a:rPr lang="en-US" altLang="zh-CN" dirty="0">
                <a:latin typeface="微软雅黑" panose="020B0503020204020204" pitchFamily="34" charset="-122"/>
                <a:ea typeface="微软雅黑" panose="020B0503020204020204" pitchFamily="34" charset="-122"/>
              </a:rPr>
              <a:t>2</a:t>
            </a:r>
            <a:r>
              <a:rPr lang="zh-CN" altLang="zh-CN" dirty="0">
                <a:latin typeface="微软雅黑" panose="020B0503020204020204" pitchFamily="34" charset="-122"/>
                <a:ea typeface="微软雅黑" panose="020B0503020204020204" pitchFamily="34" charset="-122"/>
              </a:rPr>
              <a:t>所示对话框下面的“</a:t>
            </a:r>
            <a:r>
              <a:rPr lang="en-US" altLang="zh-CN" dirty="0">
                <a:latin typeface="微软雅黑" panose="020B0503020204020204" pitchFamily="34" charset="-122"/>
                <a:ea typeface="微软雅黑" panose="020B0503020204020204" pitchFamily="34" charset="-122"/>
              </a:rPr>
              <a:t>Simulate</a:t>
            </a:r>
            <a:r>
              <a:rPr lang="zh-CN" altLang="zh-CN" dirty="0">
                <a:latin typeface="微软雅黑" panose="020B0503020204020204" pitchFamily="34" charset="-122"/>
                <a:ea typeface="微软雅黑" panose="020B0503020204020204" pitchFamily="34" charset="-122"/>
              </a:rPr>
              <a:t>”按钮即可进行分析。分析结果如图</a:t>
            </a:r>
            <a:r>
              <a:rPr lang="en-US" altLang="zh-CN" dirty="0">
                <a:latin typeface="微软雅黑" panose="020B0503020204020204" pitchFamily="34" charset="-122"/>
                <a:ea typeface="微软雅黑" panose="020B0503020204020204" pitchFamily="34" charset="-122"/>
              </a:rPr>
              <a:t>12</a:t>
            </a:r>
            <a:r>
              <a:rPr lang="zh-CN" altLang="zh-CN" dirty="0">
                <a:latin typeface="微软雅黑" panose="020B0503020204020204" pitchFamily="34" charset="-122"/>
                <a:ea typeface="微软雅黑" panose="020B0503020204020204" pitchFamily="34" charset="-122"/>
              </a:rPr>
              <a:t>所示。在该分析结果图中，可以对分析结果进行一般的文档操作，例如保存、打印等。</a:t>
            </a:r>
            <a:endParaRPr lang="en-US" altLang="zh-CN" dirty="0">
              <a:latin typeface="微软雅黑" panose="020B0503020204020204" pitchFamily="34" charset="-122"/>
              <a:ea typeface="微软雅黑" panose="020B0503020204020204" pitchFamily="34" charset="-122"/>
            </a:endParaRPr>
          </a:p>
        </p:txBody>
      </p:sp>
      <p:sp>
        <p:nvSpPr>
          <p:cNvPr id="6" name="矩形 5"/>
          <p:cNvSpPr/>
          <p:nvPr/>
        </p:nvSpPr>
        <p:spPr>
          <a:xfrm>
            <a:off x="2880423" y="6208125"/>
            <a:ext cx="2969083" cy="369332"/>
          </a:xfrm>
          <a:prstGeom prst="rect">
            <a:avLst/>
          </a:prstGeom>
        </p:spPr>
        <p:txBody>
          <a:bodyPr wrap="none">
            <a:spAutoFit/>
          </a:bodyPr>
          <a:lstStyle/>
          <a:p>
            <a:pPr algn="ctr"/>
            <a:r>
              <a:rPr lang="zh-CN" altLang="en-US" dirty="0">
                <a:latin typeface="微软雅黑" panose="020B0503020204020204" pitchFamily="34" charset="-122"/>
                <a:ea typeface="微软雅黑" panose="020B0503020204020204" pitchFamily="34" charset="-122"/>
              </a:rPr>
              <a:t>图</a:t>
            </a:r>
            <a:r>
              <a:rPr lang="en-US" altLang="zh-CN" dirty="0">
                <a:latin typeface="微软雅黑" panose="020B0503020204020204" pitchFamily="34" charset="-122"/>
                <a:ea typeface="微软雅黑" panose="020B0503020204020204" pitchFamily="34" charset="-122"/>
              </a:rPr>
              <a:t>12   </a:t>
            </a:r>
            <a:r>
              <a:rPr lang="zh-CN" altLang="zh-CN" dirty="0">
                <a:latin typeface="微软雅黑" panose="020B0503020204020204" pitchFamily="34" charset="-122"/>
                <a:ea typeface="微软雅黑" panose="020B0503020204020204" pitchFamily="34" charset="-122"/>
              </a:rPr>
              <a:t>静态工作点分析结果</a:t>
            </a:r>
            <a:endParaRPr lang="zh-CN" altLang="zh-CN" sz="32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5378431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p:cNvSpPr>
            <a:spLocks noGrp="1"/>
          </p:cNvSpPr>
          <p:nvPr>
            <p:ph idx="1"/>
          </p:nvPr>
        </p:nvSpPr>
        <p:spPr>
          <a:xfrm>
            <a:off x="899592" y="476673"/>
            <a:ext cx="7239000" cy="1224135"/>
          </a:xfrm>
        </p:spPr>
        <p:txBody>
          <a:bodyPr>
            <a:normAutofit lnSpcReduction="10000"/>
          </a:bodyPr>
          <a:lstStyle/>
          <a:p>
            <a:pPr marL="0" indent="0">
              <a:lnSpc>
                <a:spcPct val="125000"/>
              </a:lnSpc>
              <a:buNone/>
              <a:defRPr/>
            </a:pPr>
            <a:r>
              <a:rPr lang="en-US" altLang="zh-CN" sz="1700" dirty="0">
                <a:latin typeface="微软雅黑" panose="020B0503020204020204" pitchFamily="34" charset="-122"/>
                <a:ea typeface="微软雅黑" panose="020B0503020204020204" pitchFamily="34" charset="-122"/>
              </a:rPr>
              <a:t>2</a:t>
            </a:r>
            <a:r>
              <a:rPr lang="zh-CN" altLang="en-US" sz="1700" dirty="0">
                <a:latin typeface="微软雅黑" panose="020B0503020204020204" pitchFamily="34" charset="-122"/>
                <a:ea typeface="微软雅黑" panose="020B0503020204020204" pitchFamily="34" charset="-122"/>
              </a:rPr>
              <a:t>）交流</a:t>
            </a:r>
            <a:r>
              <a:rPr lang="zh-CN" altLang="zh-CN" sz="1700" dirty="0">
                <a:latin typeface="微软雅黑" panose="020B0503020204020204" pitchFamily="34" charset="-122"/>
                <a:ea typeface="微软雅黑" panose="020B0503020204020204" pitchFamily="34" charset="-122"/>
              </a:rPr>
              <a:t>分析</a:t>
            </a:r>
            <a:endParaRPr lang="en-US" altLang="zh-CN" sz="1700" dirty="0">
              <a:latin typeface="微软雅黑" panose="020B0503020204020204" pitchFamily="34" charset="-122"/>
              <a:ea typeface="微软雅黑" panose="020B0503020204020204" pitchFamily="34" charset="-122"/>
            </a:endParaRPr>
          </a:p>
          <a:p>
            <a:pPr marL="0" indent="0" algn="just" eaLnBrk="1" hangingPunct="1">
              <a:lnSpc>
                <a:spcPct val="125000"/>
              </a:lnSpc>
              <a:buFont typeface="Wingdings 2" pitchFamily="18" charset="2"/>
              <a:buNone/>
            </a:pPr>
            <a:r>
              <a:rPr lang="en-US" altLang="zh-CN" sz="2400" dirty="0"/>
              <a:t>      </a:t>
            </a:r>
            <a:r>
              <a:rPr lang="zh-CN" altLang="zh-CN" sz="1800" b="0" dirty="0">
                <a:latin typeface="微软雅黑" panose="020B0503020204020204" pitchFamily="34" charset="-122"/>
                <a:ea typeface="微软雅黑" panose="020B0503020204020204" pitchFamily="34" charset="-122"/>
              </a:rPr>
              <a:t>启动菜单命令</a:t>
            </a:r>
            <a:r>
              <a:rPr lang="en-US" altLang="zh-CN" sz="1800" b="0" dirty="0">
                <a:latin typeface="微软雅黑" panose="020B0503020204020204" pitchFamily="34" charset="-122"/>
                <a:ea typeface="微软雅黑" panose="020B0503020204020204" pitchFamily="34" charset="-122"/>
              </a:rPr>
              <a:t>Simulate/Analyses/AC Analysis</a:t>
            </a:r>
            <a:r>
              <a:rPr lang="zh-CN" altLang="zh-CN" sz="1800" b="0" dirty="0">
                <a:latin typeface="微软雅黑" panose="020B0503020204020204" pitchFamily="34" charset="-122"/>
                <a:ea typeface="微软雅黑" panose="020B0503020204020204" pitchFamily="34" charset="-122"/>
              </a:rPr>
              <a:t>，进入交流分析对话框，如图</a:t>
            </a:r>
            <a:r>
              <a:rPr lang="en-US" altLang="zh-CN" sz="1800" b="0" dirty="0">
                <a:latin typeface="微软雅黑" panose="020B0503020204020204" pitchFamily="34" charset="-122"/>
                <a:ea typeface="微软雅黑" panose="020B0503020204020204" pitchFamily="34" charset="-122"/>
              </a:rPr>
              <a:t>13</a:t>
            </a:r>
            <a:r>
              <a:rPr lang="zh-CN" altLang="zh-CN" sz="1800" b="0" dirty="0">
                <a:latin typeface="微软雅黑" panose="020B0503020204020204" pitchFamily="34" charset="-122"/>
                <a:ea typeface="微软雅黑" panose="020B0503020204020204" pitchFamily="34" charset="-122"/>
              </a:rPr>
              <a:t>所示。</a:t>
            </a:r>
            <a:endParaRPr lang="en-US" altLang="zh-CN" dirty="0"/>
          </a:p>
        </p:txBody>
      </p:sp>
      <p:sp>
        <p:nvSpPr>
          <p:cNvPr id="2" name="矩形 1"/>
          <p:cNvSpPr/>
          <p:nvPr/>
        </p:nvSpPr>
        <p:spPr>
          <a:xfrm>
            <a:off x="3150940" y="6237312"/>
            <a:ext cx="2736304" cy="369332"/>
          </a:xfrm>
          <a:prstGeom prst="rect">
            <a:avLst/>
          </a:prstGeom>
        </p:spPr>
        <p:txBody>
          <a:bodyPr wrap="square">
            <a:spAutoFit/>
          </a:bodyPr>
          <a:lstStyle/>
          <a:p>
            <a:r>
              <a:rPr lang="zh-CN" altLang="en-US" dirty="0">
                <a:latin typeface="微软雅黑" panose="020B0503020204020204" pitchFamily="34" charset="-122"/>
                <a:ea typeface="微软雅黑" panose="020B0503020204020204" pitchFamily="34" charset="-122"/>
              </a:rPr>
              <a:t>图</a:t>
            </a:r>
            <a:r>
              <a:rPr lang="en-US" altLang="zh-CN" dirty="0">
                <a:latin typeface="微软雅黑" panose="020B0503020204020204" pitchFamily="34" charset="-122"/>
                <a:ea typeface="微软雅黑" panose="020B0503020204020204" pitchFamily="34" charset="-122"/>
              </a:rPr>
              <a:t>13   </a:t>
            </a:r>
            <a:r>
              <a:rPr lang="zh-CN" altLang="zh-CN" dirty="0">
                <a:latin typeface="微软雅黑" panose="020B0503020204020204" pitchFamily="34" charset="-122"/>
                <a:ea typeface="微软雅黑" panose="020B0503020204020204" pitchFamily="34" charset="-122"/>
              </a:rPr>
              <a:t>交流分析对话框</a:t>
            </a:r>
            <a:endParaRPr lang="en-US" altLang="zh-CN" dirty="0">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2"/>
          <a:stretch>
            <a:fillRect/>
          </a:stretch>
        </p:blipFill>
        <p:spPr>
          <a:xfrm>
            <a:off x="2500060" y="1700808"/>
            <a:ext cx="4038064" cy="4437938"/>
          </a:xfrm>
          <a:prstGeom prst="rect">
            <a:avLst/>
          </a:prstGeom>
        </p:spPr>
      </p:pic>
    </p:spTree>
    <p:extLst>
      <p:ext uri="{BB962C8B-B14F-4D97-AF65-F5344CB8AC3E}">
        <p14:creationId xmlns:p14="http://schemas.microsoft.com/office/powerpoint/2010/main" val="997613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p:cNvSpPr>
            <a:spLocks noGrp="1"/>
          </p:cNvSpPr>
          <p:nvPr>
            <p:ph idx="1"/>
          </p:nvPr>
        </p:nvSpPr>
        <p:spPr>
          <a:xfrm>
            <a:off x="395536" y="980728"/>
            <a:ext cx="8352928" cy="5472608"/>
          </a:xfrm>
        </p:spPr>
        <p:txBody>
          <a:bodyPr>
            <a:noAutofit/>
          </a:bodyPr>
          <a:lstStyle/>
          <a:p>
            <a:pPr marL="0" indent="0" algn="just">
              <a:lnSpc>
                <a:spcPct val="125000"/>
              </a:lnSpc>
              <a:buFont typeface="Wingdings 2" panose="05020102010507070707" pitchFamily="18" charset="2"/>
              <a:buNone/>
              <a:defRPr/>
            </a:pPr>
            <a:r>
              <a:rPr lang="en-US" altLang="zh-CN" sz="1800" b="0" dirty="0">
                <a:latin typeface="微软雅黑" panose="020B0503020204020204" pitchFamily="34" charset="-122"/>
                <a:ea typeface="微软雅黑" panose="020B0503020204020204" pitchFamily="34" charset="-122"/>
              </a:rPr>
              <a:t>       </a:t>
            </a:r>
            <a:r>
              <a:rPr lang="zh-CN" altLang="zh-CN" sz="1800" b="0" dirty="0">
                <a:latin typeface="微软雅黑" panose="020B0503020204020204" pitchFamily="34" charset="-122"/>
                <a:ea typeface="微软雅黑" panose="020B0503020204020204" pitchFamily="34" charset="-122"/>
              </a:rPr>
              <a:t>其中包括</a:t>
            </a:r>
            <a:r>
              <a:rPr lang="en-US" altLang="zh-CN" sz="1800" b="0" dirty="0">
                <a:latin typeface="微软雅黑" panose="020B0503020204020204" pitchFamily="34" charset="-122"/>
                <a:ea typeface="微软雅黑" panose="020B0503020204020204" pitchFamily="34" charset="-122"/>
              </a:rPr>
              <a:t>4</a:t>
            </a:r>
            <a:r>
              <a:rPr lang="zh-CN" altLang="zh-CN" sz="1800" b="0" dirty="0">
                <a:latin typeface="微软雅黑" panose="020B0503020204020204" pitchFamily="34" charset="-122"/>
                <a:ea typeface="微软雅黑" panose="020B0503020204020204" pitchFamily="34" charset="-122"/>
              </a:rPr>
              <a:t>个选项卡</a:t>
            </a:r>
            <a:r>
              <a:rPr lang="zh-CN" altLang="en-US" sz="1800" b="0" dirty="0">
                <a:latin typeface="微软雅黑" panose="020B0503020204020204" pitchFamily="34" charset="-122"/>
                <a:ea typeface="微软雅黑" panose="020B0503020204020204" pitchFamily="34" charset="-122"/>
              </a:rPr>
              <a:t>，</a:t>
            </a:r>
            <a:r>
              <a:rPr lang="zh-CN" altLang="zh-CN" sz="1800" b="0" dirty="0">
                <a:latin typeface="微软雅黑" panose="020B0503020204020204" pitchFamily="34" charset="-122"/>
                <a:ea typeface="微软雅黑" panose="020B0503020204020204" pitchFamily="34" charset="-122"/>
              </a:rPr>
              <a:t>除了</a:t>
            </a:r>
            <a:r>
              <a:rPr lang="en-US" altLang="zh-CN" sz="1800" b="0" dirty="0">
                <a:latin typeface="微软雅黑" panose="020B0503020204020204" pitchFamily="34" charset="-122"/>
                <a:ea typeface="微软雅黑" panose="020B0503020204020204" pitchFamily="34" charset="-122"/>
              </a:rPr>
              <a:t>Frequency parameters</a:t>
            </a:r>
            <a:r>
              <a:rPr lang="zh-CN" altLang="zh-CN" sz="1800" b="0" dirty="0">
                <a:latin typeface="微软雅黑" panose="020B0503020204020204" pitchFamily="34" charset="-122"/>
                <a:ea typeface="微软雅黑" panose="020B0503020204020204" pitchFamily="34" charset="-122"/>
              </a:rPr>
              <a:t>选项卡外，其余均与静态工作点的设定一样。</a:t>
            </a:r>
            <a:r>
              <a:rPr lang="en-US" altLang="zh-CN" sz="1800" b="0" dirty="0">
                <a:latin typeface="微软雅黑" panose="020B0503020204020204" pitchFamily="34" charset="-122"/>
                <a:ea typeface="微软雅黑" panose="020B0503020204020204" pitchFamily="34" charset="-122"/>
              </a:rPr>
              <a:t>Frequency parameters</a:t>
            </a:r>
            <a:r>
              <a:rPr lang="zh-CN" altLang="zh-CN" sz="1800" b="0" dirty="0">
                <a:latin typeface="微软雅黑" panose="020B0503020204020204" pitchFamily="34" charset="-122"/>
                <a:ea typeface="微软雅黑" panose="020B0503020204020204" pitchFamily="34" charset="-122"/>
              </a:rPr>
              <a:t>选项卡包括下列</a:t>
            </a:r>
            <a:r>
              <a:rPr lang="en-US" altLang="zh-CN" sz="1800" b="0" dirty="0">
                <a:latin typeface="微软雅黑" panose="020B0503020204020204" pitchFamily="34" charset="-122"/>
                <a:ea typeface="微软雅黑" panose="020B0503020204020204" pitchFamily="34" charset="-122"/>
              </a:rPr>
              <a:t>6</a:t>
            </a:r>
            <a:r>
              <a:rPr lang="zh-CN" altLang="zh-CN" sz="1800" b="0" dirty="0">
                <a:latin typeface="微软雅黑" panose="020B0503020204020204" pitchFamily="34" charset="-122"/>
                <a:ea typeface="微软雅黑" panose="020B0503020204020204" pitchFamily="34" charset="-122"/>
              </a:rPr>
              <a:t>个项目：</a:t>
            </a:r>
          </a:p>
          <a:p>
            <a:pPr algn="just">
              <a:lnSpc>
                <a:spcPct val="125000"/>
              </a:lnSpc>
              <a:buFont typeface="Wingdings" pitchFamily="2" charset="2"/>
              <a:buChar char="Ø"/>
              <a:defRPr/>
            </a:pPr>
            <a:r>
              <a:rPr lang="en-US" altLang="zh-CN" sz="1800" b="0" dirty="0">
                <a:latin typeface="微软雅黑" panose="020B0503020204020204" pitchFamily="34" charset="-122"/>
                <a:ea typeface="微软雅黑" panose="020B0503020204020204" pitchFamily="34" charset="-122"/>
              </a:rPr>
              <a:t>Start frequency</a:t>
            </a:r>
            <a:r>
              <a:rPr lang="zh-CN" altLang="zh-CN" sz="1800" b="0" dirty="0">
                <a:latin typeface="微软雅黑" panose="020B0503020204020204" pitchFamily="34" charset="-122"/>
                <a:ea typeface="微软雅黑" panose="020B0503020204020204" pitchFamily="34" charset="-122"/>
              </a:rPr>
              <a:t>（</a:t>
            </a:r>
            <a:r>
              <a:rPr lang="en-US" altLang="zh-CN" sz="1800" b="0" dirty="0">
                <a:latin typeface="微软雅黑" panose="020B0503020204020204" pitchFamily="34" charset="-122"/>
                <a:ea typeface="微软雅黑" panose="020B0503020204020204" pitchFamily="34" charset="-122"/>
              </a:rPr>
              <a:t>FSTART</a:t>
            </a:r>
            <a:r>
              <a:rPr lang="zh-CN" altLang="zh-CN" sz="1800" b="0" dirty="0">
                <a:latin typeface="微软雅黑" panose="020B0503020204020204" pitchFamily="34" charset="-122"/>
                <a:ea typeface="微软雅黑" panose="020B0503020204020204" pitchFamily="34" charset="-122"/>
              </a:rPr>
              <a:t>）：设定交流分析的起始频率。</a:t>
            </a:r>
          </a:p>
          <a:p>
            <a:pPr algn="just">
              <a:lnSpc>
                <a:spcPct val="125000"/>
              </a:lnSpc>
              <a:buFont typeface="Wingdings" pitchFamily="2" charset="2"/>
              <a:buChar char="Ø"/>
              <a:defRPr/>
            </a:pPr>
            <a:r>
              <a:rPr lang="en-US" altLang="zh-CN" sz="1800" b="0" dirty="0">
                <a:latin typeface="微软雅黑" panose="020B0503020204020204" pitchFamily="34" charset="-122"/>
                <a:ea typeface="微软雅黑" panose="020B0503020204020204" pitchFamily="34" charset="-122"/>
              </a:rPr>
              <a:t>Stop frequency</a:t>
            </a:r>
            <a:r>
              <a:rPr lang="zh-CN" altLang="zh-CN" sz="1800" b="0" dirty="0">
                <a:latin typeface="微软雅黑" panose="020B0503020204020204" pitchFamily="34" charset="-122"/>
                <a:ea typeface="微软雅黑" panose="020B0503020204020204" pitchFamily="34" charset="-122"/>
              </a:rPr>
              <a:t>（</a:t>
            </a:r>
            <a:r>
              <a:rPr lang="en-US" altLang="zh-CN" sz="1800" b="0" dirty="0">
                <a:latin typeface="微软雅黑" panose="020B0503020204020204" pitchFamily="34" charset="-122"/>
                <a:ea typeface="微软雅黑" panose="020B0503020204020204" pitchFamily="34" charset="-122"/>
              </a:rPr>
              <a:t>FSTOP</a:t>
            </a:r>
            <a:r>
              <a:rPr lang="zh-CN" altLang="zh-CN" sz="1800" b="0" dirty="0">
                <a:latin typeface="微软雅黑" panose="020B0503020204020204" pitchFamily="34" charset="-122"/>
                <a:ea typeface="微软雅黑" panose="020B0503020204020204" pitchFamily="34" charset="-122"/>
              </a:rPr>
              <a:t>）：设定交流分析的终止频率。</a:t>
            </a:r>
          </a:p>
          <a:p>
            <a:pPr algn="just">
              <a:lnSpc>
                <a:spcPct val="125000"/>
              </a:lnSpc>
              <a:buFont typeface="Wingdings" pitchFamily="2" charset="2"/>
              <a:buChar char="Ø"/>
              <a:defRPr/>
            </a:pPr>
            <a:r>
              <a:rPr lang="en-US" altLang="zh-CN" sz="1800" b="0" dirty="0">
                <a:latin typeface="微软雅黑" panose="020B0503020204020204" pitchFamily="34" charset="-122"/>
                <a:ea typeface="微软雅黑" panose="020B0503020204020204" pitchFamily="34" charset="-122"/>
              </a:rPr>
              <a:t>Sweep type</a:t>
            </a:r>
            <a:r>
              <a:rPr lang="zh-CN" altLang="zh-CN" sz="1800" b="0" dirty="0">
                <a:latin typeface="微软雅黑" panose="020B0503020204020204" pitchFamily="34" charset="-122"/>
                <a:ea typeface="微软雅黑" panose="020B0503020204020204" pitchFamily="34" charset="-122"/>
              </a:rPr>
              <a:t>：设定交流分析的扫描方式</a:t>
            </a:r>
            <a:r>
              <a:rPr lang="zh-CN" altLang="en-US" sz="1800" b="0" dirty="0">
                <a:latin typeface="微软雅黑" panose="020B0503020204020204" pitchFamily="34" charset="-122"/>
                <a:ea typeface="微软雅黑" panose="020B0503020204020204" pitchFamily="34" charset="-122"/>
              </a:rPr>
              <a:t>：</a:t>
            </a:r>
            <a:endParaRPr lang="en-US" altLang="zh-CN" sz="1800" b="0" dirty="0">
              <a:latin typeface="微软雅黑" panose="020B0503020204020204" pitchFamily="34" charset="-122"/>
              <a:ea typeface="微软雅黑" panose="020B0503020204020204" pitchFamily="34" charset="-122"/>
            </a:endParaRPr>
          </a:p>
          <a:p>
            <a:pPr marL="0" indent="0" algn="just">
              <a:lnSpc>
                <a:spcPct val="125000"/>
              </a:lnSpc>
              <a:buNone/>
              <a:defRPr/>
            </a:pPr>
            <a:r>
              <a:rPr lang="en-US" altLang="zh-CN" sz="1800" b="0" dirty="0">
                <a:latin typeface="微软雅黑" panose="020B0503020204020204" pitchFamily="34" charset="-122"/>
                <a:ea typeface="微软雅黑" panose="020B0503020204020204" pitchFamily="34" charset="-122"/>
              </a:rPr>
              <a:t>                          Decade</a:t>
            </a:r>
            <a:r>
              <a:rPr lang="zh-CN" altLang="zh-CN" sz="1800" b="0" dirty="0">
                <a:latin typeface="微软雅黑" panose="020B0503020204020204" pitchFamily="34" charset="-122"/>
                <a:ea typeface="微软雅黑" panose="020B0503020204020204" pitchFamily="34" charset="-122"/>
              </a:rPr>
              <a:t>（十倍频扫描）</a:t>
            </a:r>
            <a:r>
              <a:rPr lang="zh-CN" altLang="en-US" sz="1800" b="0" dirty="0">
                <a:latin typeface="微软雅黑" panose="020B0503020204020204" pitchFamily="34" charset="-122"/>
                <a:ea typeface="微软雅黑" panose="020B0503020204020204" pitchFamily="34" charset="-122"/>
              </a:rPr>
              <a:t>；</a:t>
            </a:r>
            <a:endParaRPr lang="en-US" altLang="zh-CN" sz="1800" b="0" dirty="0">
              <a:latin typeface="微软雅黑" panose="020B0503020204020204" pitchFamily="34" charset="-122"/>
              <a:ea typeface="微软雅黑" panose="020B0503020204020204" pitchFamily="34" charset="-122"/>
            </a:endParaRPr>
          </a:p>
          <a:p>
            <a:pPr marL="0" indent="0" algn="just">
              <a:lnSpc>
                <a:spcPct val="125000"/>
              </a:lnSpc>
              <a:buNone/>
              <a:defRPr/>
            </a:pPr>
            <a:r>
              <a:rPr lang="en-US" altLang="zh-CN" sz="1800" b="0" dirty="0">
                <a:latin typeface="微软雅黑" panose="020B0503020204020204" pitchFamily="34" charset="-122"/>
                <a:ea typeface="微软雅黑" panose="020B0503020204020204" pitchFamily="34" charset="-122"/>
              </a:rPr>
              <a:t>                          Octave</a:t>
            </a:r>
            <a:r>
              <a:rPr lang="zh-CN" altLang="zh-CN" sz="1800" b="0" dirty="0">
                <a:latin typeface="微软雅黑" panose="020B0503020204020204" pitchFamily="34" charset="-122"/>
                <a:ea typeface="微软雅黑" panose="020B0503020204020204" pitchFamily="34" charset="-122"/>
              </a:rPr>
              <a:t>（八倍频扫描）</a:t>
            </a:r>
            <a:r>
              <a:rPr lang="zh-CN" altLang="en-US" sz="1800" b="0" dirty="0">
                <a:latin typeface="微软雅黑" panose="020B0503020204020204" pitchFamily="34" charset="-122"/>
                <a:ea typeface="微软雅黑" panose="020B0503020204020204" pitchFamily="34" charset="-122"/>
              </a:rPr>
              <a:t>；</a:t>
            </a:r>
            <a:endParaRPr lang="en-US" altLang="zh-CN" sz="1800" b="0" dirty="0">
              <a:latin typeface="微软雅黑" panose="020B0503020204020204" pitchFamily="34" charset="-122"/>
              <a:ea typeface="微软雅黑" panose="020B0503020204020204" pitchFamily="34" charset="-122"/>
            </a:endParaRPr>
          </a:p>
          <a:p>
            <a:pPr marL="0" indent="0" algn="just">
              <a:lnSpc>
                <a:spcPct val="125000"/>
              </a:lnSpc>
              <a:buNone/>
              <a:defRPr/>
            </a:pPr>
            <a:r>
              <a:rPr lang="en-US" altLang="zh-CN" sz="1800" b="0" dirty="0">
                <a:latin typeface="微软雅黑" panose="020B0503020204020204" pitchFamily="34" charset="-122"/>
                <a:ea typeface="微软雅黑" panose="020B0503020204020204" pitchFamily="34" charset="-122"/>
              </a:rPr>
              <a:t>                          Linear</a:t>
            </a:r>
            <a:r>
              <a:rPr lang="zh-CN" altLang="zh-CN" sz="1800" b="0" dirty="0">
                <a:latin typeface="微软雅黑" panose="020B0503020204020204" pitchFamily="34" charset="-122"/>
                <a:ea typeface="微软雅黑" panose="020B0503020204020204" pitchFamily="34" charset="-122"/>
              </a:rPr>
              <a:t>（线性扫描）</a:t>
            </a:r>
            <a:r>
              <a:rPr lang="zh-CN" altLang="en-US" sz="1800" b="0" dirty="0">
                <a:latin typeface="微软雅黑" panose="020B0503020204020204" pitchFamily="34" charset="-122"/>
                <a:ea typeface="微软雅黑" panose="020B0503020204020204" pitchFamily="34" charset="-122"/>
              </a:rPr>
              <a:t>；</a:t>
            </a:r>
            <a:endParaRPr lang="en-US" altLang="zh-CN" sz="1800" b="0" dirty="0">
              <a:latin typeface="微软雅黑" panose="020B0503020204020204" pitchFamily="34" charset="-122"/>
              <a:ea typeface="微软雅黑" panose="020B0503020204020204" pitchFamily="34" charset="-122"/>
            </a:endParaRPr>
          </a:p>
          <a:p>
            <a:pPr marL="0" indent="0" algn="just">
              <a:lnSpc>
                <a:spcPct val="125000"/>
              </a:lnSpc>
              <a:buNone/>
              <a:defRPr/>
            </a:pPr>
            <a:r>
              <a:rPr lang="en-US" altLang="zh-CN" sz="1800" b="0" dirty="0">
                <a:latin typeface="微软雅黑" panose="020B0503020204020204" pitchFamily="34" charset="-122"/>
                <a:ea typeface="微软雅黑" panose="020B0503020204020204" pitchFamily="34" charset="-122"/>
              </a:rPr>
              <a:t>                           </a:t>
            </a:r>
            <a:r>
              <a:rPr lang="zh-CN" altLang="zh-CN" sz="1800" b="0" dirty="0">
                <a:latin typeface="微软雅黑" panose="020B0503020204020204" pitchFamily="34" charset="-122"/>
                <a:ea typeface="微软雅黑" panose="020B0503020204020204" pitchFamily="34" charset="-122"/>
              </a:rPr>
              <a:t>通常是采用十倍频扫描（</a:t>
            </a:r>
            <a:r>
              <a:rPr lang="en-US" altLang="zh-CN" sz="1800" b="0" dirty="0">
                <a:latin typeface="微软雅黑" panose="020B0503020204020204" pitchFamily="34" charset="-122"/>
                <a:ea typeface="微软雅黑" panose="020B0503020204020204" pitchFamily="34" charset="-122"/>
              </a:rPr>
              <a:t>Decade</a:t>
            </a:r>
            <a:r>
              <a:rPr lang="zh-CN" altLang="zh-CN" sz="1800" b="0" dirty="0">
                <a:latin typeface="微软雅黑" panose="020B0503020204020204" pitchFamily="34" charset="-122"/>
                <a:ea typeface="微软雅黑" panose="020B0503020204020204" pitchFamily="34" charset="-122"/>
              </a:rPr>
              <a:t>），以对数方式展现分析结果。</a:t>
            </a:r>
            <a:endParaRPr lang="en-US" altLang="zh-CN" sz="1800" b="0" dirty="0">
              <a:latin typeface="微软雅黑" panose="020B0503020204020204" pitchFamily="34" charset="-122"/>
              <a:ea typeface="微软雅黑" panose="020B0503020204020204" pitchFamily="34" charset="-122"/>
            </a:endParaRPr>
          </a:p>
          <a:p>
            <a:pPr algn="just">
              <a:lnSpc>
                <a:spcPct val="125000"/>
              </a:lnSpc>
              <a:buFont typeface="Wingdings" pitchFamily="2" charset="2"/>
              <a:buChar char="Ø"/>
              <a:defRPr/>
            </a:pPr>
            <a:r>
              <a:rPr lang="en-US" altLang="zh-CN" sz="1800" b="0" dirty="0">
                <a:latin typeface="微软雅黑" panose="020B0503020204020204" pitchFamily="34" charset="-122"/>
                <a:ea typeface="微软雅黑" panose="020B0503020204020204" pitchFamily="34" charset="-122"/>
              </a:rPr>
              <a:t>Number of points per decade</a:t>
            </a:r>
            <a:r>
              <a:rPr lang="zh-CN" altLang="zh-CN" sz="1800" b="0" dirty="0">
                <a:latin typeface="微软雅黑" panose="020B0503020204020204" pitchFamily="34" charset="-122"/>
                <a:ea typeface="微软雅黑" panose="020B0503020204020204" pitchFamily="34" charset="-122"/>
              </a:rPr>
              <a:t>：设定每十倍频中采样点数。</a:t>
            </a:r>
          </a:p>
          <a:p>
            <a:pPr algn="just">
              <a:lnSpc>
                <a:spcPct val="125000"/>
              </a:lnSpc>
              <a:buFont typeface="Wingdings" pitchFamily="2" charset="2"/>
              <a:buChar char="Ø"/>
              <a:defRPr/>
            </a:pPr>
            <a:r>
              <a:rPr lang="en-US" altLang="zh-CN" sz="1800" b="0" dirty="0">
                <a:latin typeface="微软雅黑" panose="020B0503020204020204" pitchFamily="34" charset="-122"/>
                <a:ea typeface="微软雅黑" panose="020B0503020204020204" pitchFamily="34" charset="-122"/>
              </a:rPr>
              <a:t>Vertical scale</a:t>
            </a:r>
            <a:r>
              <a:rPr lang="zh-CN" altLang="zh-CN" sz="1800" b="0" dirty="0">
                <a:latin typeface="微软雅黑" panose="020B0503020204020204" pitchFamily="34" charset="-122"/>
                <a:ea typeface="微软雅黑" panose="020B0503020204020204" pitchFamily="34" charset="-122"/>
              </a:rPr>
              <a:t>：设定垂直刻度，其中包括</a:t>
            </a:r>
            <a:r>
              <a:rPr lang="en-US" altLang="zh-CN" sz="1800" b="0" dirty="0">
                <a:latin typeface="微软雅黑" panose="020B0503020204020204" pitchFamily="34" charset="-122"/>
                <a:ea typeface="微软雅黑" panose="020B0503020204020204" pitchFamily="34" charset="-122"/>
              </a:rPr>
              <a:t>Decibel</a:t>
            </a:r>
            <a:r>
              <a:rPr lang="zh-CN" altLang="zh-CN" sz="1800" b="0" dirty="0">
                <a:latin typeface="微软雅黑" panose="020B0503020204020204" pitchFamily="34" charset="-122"/>
                <a:ea typeface="微软雅黑" panose="020B0503020204020204" pitchFamily="34" charset="-122"/>
              </a:rPr>
              <a:t>（分贝）、</a:t>
            </a:r>
            <a:r>
              <a:rPr lang="en-US" altLang="zh-CN" sz="1800" b="0" dirty="0">
                <a:latin typeface="微软雅黑" panose="020B0503020204020204" pitchFamily="34" charset="-122"/>
                <a:ea typeface="微软雅黑" panose="020B0503020204020204" pitchFamily="34" charset="-122"/>
              </a:rPr>
              <a:t>Octave</a:t>
            </a:r>
            <a:r>
              <a:rPr lang="zh-CN" altLang="zh-CN" sz="1800" b="0" dirty="0">
                <a:latin typeface="微软雅黑" panose="020B0503020204020204" pitchFamily="34" charset="-122"/>
                <a:ea typeface="微软雅黑" panose="020B0503020204020204" pitchFamily="34" charset="-122"/>
              </a:rPr>
              <a:t>（八倍频程）、</a:t>
            </a:r>
            <a:r>
              <a:rPr lang="en-US" altLang="zh-CN" sz="1800" b="0" dirty="0">
                <a:latin typeface="微软雅黑" panose="020B0503020204020204" pitchFamily="34" charset="-122"/>
                <a:ea typeface="微软雅黑" panose="020B0503020204020204" pitchFamily="34" charset="-122"/>
              </a:rPr>
              <a:t>Linear</a:t>
            </a:r>
            <a:r>
              <a:rPr lang="zh-CN" altLang="zh-CN" sz="1800" b="0" dirty="0">
                <a:latin typeface="微软雅黑" panose="020B0503020204020204" pitchFamily="34" charset="-122"/>
                <a:ea typeface="微软雅黑" panose="020B0503020204020204" pitchFamily="34" charset="-122"/>
              </a:rPr>
              <a:t>（线性）及</a:t>
            </a:r>
            <a:r>
              <a:rPr lang="en-US" altLang="zh-CN" sz="1800" b="0" dirty="0">
                <a:latin typeface="微软雅黑" panose="020B0503020204020204" pitchFamily="34" charset="-122"/>
                <a:ea typeface="微软雅黑" panose="020B0503020204020204" pitchFamily="34" charset="-122"/>
              </a:rPr>
              <a:t>Logarithmic</a:t>
            </a:r>
            <a:r>
              <a:rPr lang="zh-CN" altLang="zh-CN" sz="1800" b="0" dirty="0">
                <a:latin typeface="微软雅黑" panose="020B0503020204020204" pitchFamily="34" charset="-122"/>
                <a:ea typeface="微软雅黑" panose="020B0503020204020204" pitchFamily="34" charset="-122"/>
              </a:rPr>
              <a:t>（对数）。通常采用</a:t>
            </a:r>
            <a:r>
              <a:rPr lang="en-US" altLang="zh-CN" sz="1800" b="0" dirty="0">
                <a:latin typeface="微软雅黑" panose="020B0503020204020204" pitchFamily="34" charset="-122"/>
                <a:ea typeface="微软雅黑" panose="020B0503020204020204" pitchFamily="34" charset="-122"/>
              </a:rPr>
              <a:t>Logarithmic</a:t>
            </a:r>
            <a:r>
              <a:rPr lang="zh-CN" altLang="zh-CN" sz="1800" b="0" dirty="0">
                <a:latin typeface="微软雅黑" panose="020B0503020204020204" pitchFamily="34" charset="-122"/>
                <a:ea typeface="微软雅黑" panose="020B0503020204020204" pitchFamily="34" charset="-122"/>
              </a:rPr>
              <a:t>或</a:t>
            </a:r>
            <a:r>
              <a:rPr lang="en-US" altLang="zh-CN" sz="1800" b="0" dirty="0">
                <a:latin typeface="微软雅黑" panose="020B0503020204020204" pitchFamily="34" charset="-122"/>
                <a:ea typeface="微软雅黑" panose="020B0503020204020204" pitchFamily="34" charset="-122"/>
              </a:rPr>
              <a:t>Decibel</a:t>
            </a:r>
            <a:r>
              <a:rPr lang="zh-CN" altLang="zh-CN" sz="1800" b="0" dirty="0">
                <a:latin typeface="微软雅黑" panose="020B0503020204020204" pitchFamily="34" charset="-122"/>
                <a:ea typeface="微软雅黑" panose="020B0503020204020204" pitchFamily="34" charset="-122"/>
              </a:rPr>
              <a:t>选项。</a:t>
            </a:r>
          </a:p>
          <a:p>
            <a:pPr algn="just">
              <a:lnSpc>
                <a:spcPct val="125000"/>
              </a:lnSpc>
              <a:buFont typeface="Wingdings" pitchFamily="2" charset="2"/>
              <a:buChar char="Ø"/>
              <a:defRPr/>
            </a:pPr>
            <a:r>
              <a:rPr lang="en-US" altLang="zh-CN" sz="1800" b="0" dirty="0">
                <a:latin typeface="微软雅黑" panose="020B0503020204020204" pitchFamily="34" charset="-122"/>
                <a:ea typeface="微软雅黑" panose="020B0503020204020204" pitchFamily="34" charset="-122"/>
              </a:rPr>
              <a:t>Reset to default</a:t>
            </a:r>
            <a:r>
              <a:rPr lang="zh-CN" altLang="zh-CN" sz="1800" b="0" dirty="0">
                <a:latin typeface="微软雅黑" panose="020B0503020204020204" pitchFamily="34" charset="-122"/>
                <a:ea typeface="微软雅黑" panose="020B0503020204020204" pitchFamily="34" charset="-122"/>
              </a:rPr>
              <a:t>：将所有设定恢复为默认值。</a:t>
            </a:r>
          </a:p>
          <a:p>
            <a:pPr marL="0" indent="0" algn="just">
              <a:lnSpc>
                <a:spcPct val="125000"/>
              </a:lnSpc>
              <a:buNone/>
              <a:defRPr/>
            </a:pPr>
            <a:endParaRPr lang="en-US" altLang="zh-CN" sz="1800" dirty="0"/>
          </a:p>
        </p:txBody>
      </p:sp>
    </p:spTree>
    <p:extLst>
      <p:ext uri="{BB962C8B-B14F-4D97-AF65-F5344CB8AC3E}">
        <p14:creationId xmlns:p14="http://schemas.microsoft.com/office/powerpoint/2010/main" val="1147881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p:cNvSpPr>
            <a:spLocks noGrp="1"/>
          </p:cNvSpPr>
          <p:nvPr>
            <p:ph idx="1"/>
          </p:nvPr>
        </p:nvSpPr>
        <p:spPr>
          <a:xfrm>
            <a:off x="683568" y="548680"/>
            <a:ext cx="7239000" cy="1008111"/>
          </a:xfrm>
        </p:spPr>
        <p:txBody>
          <a:bodyPr/>
          <a:lstStyle/>
          <a:p>
            <a:pPr marL="0" indent="0" algn="just">
              <a:lnSpc>
                <a:spcPct val="125000"/>
              </a:lnSpc>
              <a:buNone/>
              <a:defRPr/>
            </a:pPr>
            <a:r>
              <a:rPr lang="en-US" altLang="zh-CN" sz="2400" dirty="0"/>
              <a:t>       </a:t>
            </a:r>
            <a:r>
              <a:rPr lang="zh-CN" altLang="zh-CN" sz="1800" b="0" dirty="0">
                <a:latin typeface="微软雅黑" panose="020B0503020204020204" pitchFamily="34" charset="-122"/>
                <a:ea typeface="微软雅黑" panose="020B0503020204020204" pitchFamily="34" charset="-122"/>
              </a:rPr>
              <a:t>当设定完成后，按图</a:t>
            </a:r>
            <a:r>
              <a:rPr lang="en-US" altLang="zh-CN" sz="1800" b="0" dirty="0">
                <a:latin typeface="微软雅黑" panose="020B0503020204020204" pitchFamily="34" charset="-122"/>
                <a:ea typeface="微软雅黑" panose="020B0503020204020204" pitchFamily="34" charset="-122"/>
              </a:rPr>
              <a:t>13</a:t>
            </a:r>
            <a:r>
              <a:rPr lang="zh-CN" altLang="zh-CN" sz="1800" b="0" dirty="0">
                <a:latin typeface="微软雅黑" panose="020B0503020204020204" pitchFamily="34" charset="-122"/>
                <a:ea typeface="微软雅黑" panose="020B0503020204020204" pitchFamily="34" charset="-122"/>
              </a:rPr>
              <a:t>所示对话框下面的“</a:t>
            </a:r>
            <a:r>
              <a:rPr lang="en-US" altLang="zh-CN" sz="1800" b="0" dirty="0">
                <a:latin typeface="微软雅黑" panose="020B0503020204020204" pitchFamily="34" charset="-122"/>
                <a:ea typeface="微软雅黑" panose="020B0503020204020204" pitchFamily="34" charset="-122"/>
              </a:rPr>
              <a:t>Simulate</a:t>
            </a:r>
            <a:r>
              <a:rPr lang="zh-CN" altLang="zh-CN" sz="1800" b="0" dirty="0">
                <a:latin typeface="微软雅黑" panose="020B0503020204020204" pitchFamily="34" charset="-122"/>
                <a:ea typeface="微软雅黑" panose="020B0503020204020204" pitchFamily="34" charset="-122"/>
              </a:rPr>
              <a:t>”按钮即可进行分析，分析结果如图</a:t>
            </a:r>
            <a:r>
              <a:rPr lang="en-US" altLang="zh-CN" sz="1800" b="0" dirty="0">
                <a:latin typeface="微软雅黑" panose="020B0503020204020204" pitchFamily="34" charset="-122"/>
                <a:ea typeface="微软雅黑" panose="020B0503020204020204" pitchFamily="34" charset="-122"/>
              </a:rPr>
              <a:t>14</a:t>
            </a:r>
            <a:r>
              <a:rPr lang="zh-CN" altLang="zh-CN" sz="1800" b="0" dirty="0">
                <a:latin typeface="微软雅黑" panose="020B0503020204020204" pitchFamily="34" charset="-122"/>
                <a:ea typeface="微软雅黑" panose="020B0503020204020204" pitchFamily="34" charset="-122"/>
              </a:rPr>
              <a:t>所示。</a:t>
            </a:r>
            <a:endParaRPr lang="en-US" altLang="zh-CN" sz="2400" dirty="0"/>
          </a:p>
          <a:p>
            <a:pPr marL="0" indent="0" eaLnBrk="1" hangingPunct="1">
              <a:buFont typeface="Wingdings 2" panose="05020102010507070707" pitchFamily="18" charset="2"/>
              <a:buNone/>
            </a:pPr>
            <a:endParaRPr lang="en-US" altLang="zh-CN" sz="2400" dirty="0"/>
          </a:p>
          <a:p>
            <a:pPr marL="0" indent="0" eaLnBrk="1" hangingPunct="1">
              <a:buFont typeface="Wingdings 2" panose="05020102010507070707" pitchFamily="18" charset="2"/>
              <a:buNone/>
            </a:pPr>
            <a:endParaRPr lang="zh-CN" altLang="zh-CN" sz="2400" dirty="0"/>
          </a:p>
          <a:p>
            <a:pPr marL="0" indent="0" eaLnBrk="1" hangingPunct="1">
              <a:buFont typeface="Wingdings 2" panose="05020102010507070707" pitchFamily="18" charset="2"/>
              <a:buNone/>
            </a:pPr>
            <a:endParaRPr lang="en-US" altLang="zh-CN" dirty="0"/>
          </a:p>
        </p:txBody>
      </p:sp>
      <p:pic>
        <p:nvPicPr>
          <p:cNvPr id="5" name="图片 4"/>
          <p:cNvPicPr>
            <a:picLocks noChangeAspect="1"/>
          </p:cNvPicPr>
          <p:nvPr/>
        </p:nvPicPr>
        <p:blipFill>
          <a:blip r:embed="rId2"/>
          <a:stretch>
            <a:fillRect/>
          </a:stretch>
        </p:blipFill>
        <p:spPr>
          <a:xfrm>
            <a:off x="1226897" y="1556791"/>
            <a:ext cx="6291610" cy="4514055"/>
          </a:xfrm>
          <a:prstGeom prst="rect">
            <a:avLst/>
          </a:prstGeom>
        </p:spPr>
      </p:pic>
      <p:sp>
        <p:nvSpPr>
          <p:cNvPr id="6" name="矩形 5"/>
          <p:cNvSpPr/>
          <p:nvPr/>
        </p:nvSpPr>
        <p:spPr>
          <a:xfrm>
            <a:off x="3301736" y="6349510"/>
            <a:ext cx="2276585"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图</a:t>
            </a:r>
            <a:r>
              <a:rPr lang="en-US" altLang="zh-CN" dirty="0">
                <a:latin typeface="微软雅黑" panose="020B0503020204020204" pitchFamily="34" charset="-122"/>
                <a:ea typeface="微软雅黑" panose="020B0503020204020204" pitchFamily="34" charset="-122"/>
              </a:rPr>
              <a:t>14   </a:t>
            </a:r>
            <a:r>
              <a:rPr lang="zh-CN" altLang="zh-CN" dirty="0">
                <a:latin typeface="微软雅黑" panose="020B0503020204020204" pitchFamily="34" charset="-122"/>
                <a:ea typeface="微软雅黑" panose="020B0503020204020204" pitchFamily="34" charset="-122"/>
              </a:rPr>
              <a:t>交流分析</a:t>
            </a:r>
            <a:r>
              <a:rPr lang="zh-CN" altLang="en-US" dirty="0">
                <a:latin typeface="微软雅黑" panose="020B0503020204020204" pitchFamily="34" charset="-122"/>
                <a:ea typeface="微软雅黑" panose="020B0503020204020204" pitchFamily="34" charset="-122"/>
              </a:rPr>
              <a:t>结果</a:t>
            </a:r>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588124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p:cNvSpPr>
            <a:spLocks noGrp="1"/>
          </p:cNvSpPr>
          <p:nvPr>
            <p:ph idx="1"/>
          </p:nvPr>
        </p:nvSpPr>
        <p:spPr>
          <a:xfrm>
            <a:off x="251520" y="188640"/>
            <a:ext cx="8640960" cy="2376264"/>
          </a:xfrm>
        </p:spPr>
        <p:txBody>
          <a:bodyPr>
            <a:normAutofit/>
          </a:bodyPr>
          <a:lstStyle/>
          <a:p>
            <a:pPr marL="0" indent="0">
              <a:lnSpc>
                <a:spcPct val="125000"/>
              </a:lnSpc>
              <a:buNone/>
              <a:defRPr/>
            </a:pPr>
            <a:r>
              <a:rPr lang="en-US" altLang="zh-CN" sz="1700" dirty="0">
                <a:latin typeface="微软雅黑" panose="020B0503020204020204" pitchFamily="34" charset="-122"/>
                <a:ea typeface="微软雅黑" panose="020B0503020204020204" pitchFamily="34" charset="-122"/>
              </a:rPr>
              <a:t>3</a:t>
            </a:r>
            <a:r>
              <a:rPr lang="zh-CN" altLang="en-US" sz="1700" dirty="0">
                <a:latin typeface="微软雅黑" panose="020B0503020204020204" pitchFamily="34" charset="-122"/>
                <a:ea typeface="微软雅黑" panose="020B0503020204020204" pitchFamily="34" charset="-122"/>
              </a:rPr>
              <a:t>）</a:t>
            </a:r>
            <a:r>
              <a:rPr lang="zh-CN" altLang="zh-CN" sz="1700" dirty="0">
                <a:latin typeface="微软雅黑" panose="020B0503020204020204" pitchFamily="34" charset="-122"/>
                <a:ea typeface="微软雅黑" panose="020B0503020204020204" pitchFamily="34" charset="-122"/>
              </a:rPr>
              <a:t>  </a:t>
            </a:r>
            <a:r>
              <a:rPr lang="zh-CN" altLang="en-US" sz="1700" dirty="0">
                <a:latin typeface="微软雅黑" panose="020B0503020204020204" pitchFamily="34" charset="-122"/>
                <a:ea typeface="微软雅黑" panose="020B0503020204020204" pitchFamily="34" charset="-122"/>
              </a:rPr>
              <a:t>失真</a:t>
            </a:r>
            <a:r>
              <a:rPr lang="zh-CN" altLang="zh-CN" sz="1700" dirty="0">
                <a:latin typeface="微软雅黑" panose="020B0503020204020204" pitchFamily="34" charset="-122"/>
                <a:ea typeface="微软雅黑" panose="020B0503020204020204" pitchFamily="34" charset="-122"/>
              </a:rPr>
              <a:t>分析</a:t>
            </a:r>
            <a:endParaRPr lang="en-US" altLang="zh-CN" sz="1700" dirty="0">
              <a:latin typeface="微软雅黑" panose="020B0503020204020204" pitchFamily="34" charset="-122"/>
              <a:ea typeface="微软雅黑" panose="020B0503020204020204" pitchFamily="34" charset="-122"/>
            </a:endParaRPr>
          </a:p>
          <a:p>
            <a:pPr marL="0" indent="0" algn="just">
              <a:lnSpc>
                <a:spcPct val="125000"/>
              </a:lnSpc>
              <a:buNone/>
              <a:defRPr/>
            </a:pPr>
            <a:r>
              <a:rPr lang="en-US" altLang="zh-CN" sz="2400" dirty="0"/>
              <a:t>      </a:t>
            </a:r>
            <a:r>
              <a:rPr lang="zh-CN" altLang="zh-CN" sz="1800" b="0" dirty="0">
                <a:latin typeface="微软雅黑" panose="020B0503020204020204" pitchFamily="34" charset="-122"/>
                <a:ea typeface="微软雅黑" panose="020B0503020204020204" pitchFamily="34" charset="-122"/>
              </a:rPr>
              <a:t>失真分析（</a:t>
            </a:r>
            <a:r>
              <a:rPr lang="en-US" altLang="zh-CN" sz="1800" b="0" dirty="0">
                <a:latin typeface="微软雅黑" panose="020B0503020204020204" pitchFamily="34" charset="-122"/>
                <a:ea typeface="微软雅黑" panose="020B0503020204020204" pitchFamily="34" charset="-122"/>
              </a:rPr>
              <a:t>Distortion Analysis</a:t>
            </a:r>
            <a:r>
              <a:rPr lang="zh-CN" altLang="zh-CN" sz="1800" b="0" dirty="0">
                <a:latin typeface="微软雅黑" panose="020B0503020204020204" pitchFamily="34" charset="-122"/>
                <a:ea typeface="微软雅黑" panose="020B0503020204020204" pitchFamily="34" charset="-122"/>
              </a:rPr>
              <a:t>）用于分析电子电路中的非线性失真和相位偏移，通常非线性失真会导致谐波失真，而相位偏移会导致互调失真。在进行失真分析之前，必须决定要用什么电源，每个电源失真分析参数的设定都是独立的。</a:t>
            </a:r>
          </a:p>
          <a:p>
            <a:pPr marL="0" indent="0" algn="just">
              <a:lnSpc>
                <a:spcPct val="125000"/>
              </a:lnSpc>
              <a:buNone/>
              <a:defRPr/>
            </a:pPr>
            <a:r>
              <a:rPr lang="en-US" altLang="zh-CN" sz="1800" b="0" dirty="0">
                <a:latin typeface="微软雅黑" panose="020B0503020204020204" pitchFamily="34" charset="-122"/>
                <a:ea typeface="微软雅黑" panose="020B0503020204020204" pitchFamily="34" charset="-122"/>
              </a:rPr>
              <a:t>      </a:t>
            </a:r>
            <a:r>
              <a:rPr lang="zh-CN" altLang="zh-CN" sz="1800" b="0" dirty="0">
                <a:latin typeface="微软雅黑" panose="020B0503020204020204" pitchFamily="34" charset="-122"/>
                <a:ea typeface="微软雅黑" panose="020B0503020204020204" pitchFamily="34" charset="-122"/>
              </a:rPr>
              <a:t>单击</a:t>
            </a:r>
            <a:r>
              <a:rPr lang="en-US" altLang="zh-CN" sz="1800" b="0" dirty="0">
                <a:latin typeface="微软雅黑" panose="020B0503020204020204" pitchFamily="34" charset="-122"/>
                <a:ea typeface="微软雅黑" panose="020B0503020204020204" pitchFamily="34" charset="-122"/>
              </a:rPr>
              <a:t>Simulate\Analysis\Distortion analysis</a:t>
            </a:r>
            <a:r>
              <a:rPr lang="zh-CN" altLang="zh-CN" sz="1800" b="0" dirty="0">
                <a:latin typeface="微软雅黑" panose="020B0503020204020204" pitchFamily="34" charset="-122"/>
                <a:ea typeface="微软雅黑" panose="020B0503020204020204" pitchFamily="34" charset="-122"/>
              </a:rPr>
              <a:t>命令，打开失真分析对话框，如图</a:t>
            </a:r>
            <a:r>
              <a:rPr lang="en-US" altLang="zh-CN" sz="1800" b="0" dirty="0">
                <a:latin typeface="微软雅黑" panose="020B0503020204020204" pitchFamily="34" charset="-122"/>
                <a:ea typeface="微软雅黑" panose="020B0503020204020204" pitchFamily="34" charset="-122"/>
              </a:rPr>
              <a:t>15</a:t>
            </a:r>
            <a:r>
              <a:rPr lang="zh-CN" altLang="zh-CN" sz="1800" b="0" dirty="0">
                <a:latin typeface="微软雅黑" panose="020B0503020204020204" pitchFamily="34" charset="-122"/>
                <a:ea typeface="微软雅黑" panose="020B0503020204020204" pitchFamily="34" charset="-122"/>
              </a:rPr>
              <a:t>所示。</a:t>
            </a:r>
            <a:endParaRPr lang="en-US" altLang="zh-CN" sz="1400" dirty="0"/>
          </a:p>
          <a:p>
            <a:pPr marL="0" indent="0" algn="ctr" eaLnBrk="1" hangingPunct="1">
              <a:buFont typeface="Wingdings 2" panose="05020102010507070707" pitchFamily="18" charset="2"/>
              <a:buNone/>
            </a:pPr>
            <a:endParaRPr lang="en-US" altLang="zh-CN" sz="1400" dirty="0"/>
          </a:p>
          <a:p>
            <a:pPr marL="0" indent="0" eaLnBrk="1" hangingPunct="1">
              <a:buFont typeface="Wingdings 2" panose="05020102010507070707" pitchFamily="18" charset="2"/>
              <a:buNone/>
            </a:pPr>
            <a:endParaRPr lang="en-US" altLang="zh-CN" sz="2400" dirty="0"/>
          </a:p>
          <a:p>
            <a:pPr marL="0" indent="0" eaLnBrk="1" hangingPunct="1">
              <a:buFont typeface="Wingdings 2" panose="05020102010507070707" pitchFamily="18" charset="2"/>
              <a:buNone/>
            </a:pPr>
            <a:endParaRPr lang="en-US" altLang="zh-CN" sz="2400" dirty="0"/>
          </a:p>
          <a:p>
            <a:pPr marL="0" indent="0" eaLnBrk="1" hangingPunct="1">
              <a:buFont typeface="Wingdings 2" panose="05020102010507070707" pitchFamily="18" charset="2"/>
              <a:buNone/>
            </a:pPr>
            <a:endParaRPr lang="zh-CN" altLang="zh-CN" sz="2400" dirty="0"/>
          </a:p>
          <a:p>
            <a:pPr marL="0" indent="0" eaLnBrk="1" hangingPunct="1">
              <a:buFont typeface="Wingdings 2" panose="05020102010507070707" pitchFamily="18" charset="2"/>
              <a:buNone/>
            </a:pPr>
            <a:endParaRPr lang="en-US" altLang="zh-CN" dirty="0"/>
          </a:p>
        </p:txBody>
      </p:sp>
      <p:sp>
        <p:nvSpPr>
          <p:cNvPr id="5" name="矩形 4"/>
          <p:cNvSpPr/>
          <p:nvPr/>
        </p:nvSpPr>
        <p:spPr>
          <a:xfrm>
            <a:off x="1700703" y="6458972"/>
            <a:ext cx="2507418"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图</a:t>
            </a:r>
            <a:r>
              <a:rPr lang="en-US" altLang="zh-CN" dirty="0">
                <a:latin typeface="微软雅黑" panose="020B0503020204020204" pitchFamily="34" charset="-122"/>
                <a:ea typeface="微软雅黑" panose="020B0503020204020204" pitchFamily="34" charset="-122"/>
              </a:rPr>
              <a:t>15   </a:t>
            </a:r>
            <a:r>
              <a:rPr lang="zh-CN" altLang="en-US" dirty="0">
                <a:latin typeface="微软雅黑" panose="020B0503020204020204" pitchFamily="34" charset="-122"/>
                <a:ea typeface="微软雅黑" panose="020B0503020204020204" pitchFamily="34" charset="-122"/>
              </a:rPr>
              <a:t>失真分析</a:t>
            </a:r>
            <a:r>
              <a:rPr lang="zh-CN" altLang="zh-CN" dirty="0">
                <a:latin typeface="微软雅黑" panose="020B0503020204020204" pitchFamily="34" charset="-122"/>
                <a:ea typeface="微软雅黑" panose="020B0503020204020204" pitchFamily="34" charset="-122"/>
              </a:rPr>
              <a:t>对话框</a:t>
            </a:r>
            <a:endParaRPr lang="zh-CN" altLang="en-US" dirty="0">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2"/>
          <a:stretch>
            <a:fillRect/>
          </a:stretch>
        </p:blipFill>
        <p:spPr>
          <a:xfrm>
            <a:off x="1187624" y="2457096"/>
            <a:ext cx="3533576" cy="3852224"/>
          </a:xfrm>
          <a:prstGeom prst="rect">
            <a:avLst/>
          </a:prstGeom>
        </p:spPr>
      </p:pic>
      <p:sp>
        <p:nvSpPr>
          <p:cNvPr id="7" name="矩形 6"/>
          <p:cNvSpPr/>
          <p:nvPr/>
        </p:nvSpPr>
        <p:spPr>
          <a:xfrm>
            <a:off x="4693856" y="3301304"/>
            <a:ext cx="4171280" cy="1477328"/>
          </a:xfrm>
          <a:prstGeom prst="rect">
            <a:avLst/>
          </a:prstGeom>
        </p:spPr>
        <p:txBody>
          <a:bodyPr wrap="square">
            <a:spAutoFit/>
          </a:bodyPr>
          <a:lstStyle/>
          <a:p>
            <a:pPr algn="just">
              <a:lnSpc>
                <a:spcPct val="125000"/>
              </a:lnSpc>
            </a:pPr>
            <a:r>
              <a:rPr lang="en-US" altLang="zh-CN" dirty="0">
                <a:latin typeface="微软雅黑" panose="020B0503020204020204" pitchFamily="34" charset="-122"/>
                <a:ea typeface="微软雅黑" panose="020B0503020204020204" pitchFamily="34" charset="-122"/>
              </a:rPr>
              <a:t>     </a:t>
            </a:r>
            <a:r>
              <a:rPr lang="zh-CN" altLang="zh-CN" dirty="0">
                <a:latin typeface="微软雅黑" panose="020B0503020204020204" pitchFamily="34" charset="-122"/>
                <a:ea typeface="微软雅黑" panose="020B0503020204020204" pitchFamily="34" charset="-122"/>
              </a:rPr>
              <a:t>其中</a:t>
            </a:r>
            <a:r>
              <a:rPr lang="en-US" altLang="zh-CN" dirty="0">
                <a:latin typeface="微软雅黑" panose="020B0503020204020204" pitchFamily="34" charset="-122"/>
                <a:ea typeface="微软雅黑" panose="020B0503020204020204" pitchFamily="34" charset="-122"/>
              </a:rPr>
              <a:t>Analysis parameters</a:t>
            </a:r>
            <a:r>
              <a:rPr lang="zh-CN" altLang="zh-CN" dirty="0">
                <a:latin typeface="微软雅黑" panose="020B0503020204020204" pitchFamily="34" charset="-122"/>
                <a:ea typeface="微软雅黑" panose="020B0503020204020204" pitchFamily="34" charset="-122"/>
              </a:rPr>
              <a:t>标签用来设置频率的参数。其余三个选项卡的设置内容与其他分析方法的对话框设置相同。</a:t>
            </a:r>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6564594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51520" y="260648"/>
            <a:ext cx="8640960" cy="2741520"/>
          </a:xfrm>
          <a:prstGeom prst="rect">
            <a:avLst/>
          </a:prstGeom>
        </p:spPr>
        <p:txBody>
          <a:bodyPr wrap="square">
            <a:spAutoFit/>
          </a:bodyPr>
          <a:lstStyle/>
          <a:p>
            <a:pPr>
              <a:lnSpc>
                <a:spcPct val="125000"/>
              </a:lnSpc>
              <a:spcBef>
                <a:spcPct val="20000"/>
              </a:spcBef>
              <a:buClr>
                <a:schemeClr val="accent1"/>
              </a:buClr>
              <a:buSzPct val="100000"/>
              <a:defRPr/>
            </a:pPr>
            <a:r>
              <a:rPr lang="en-US" altLang="zh-CN" sz="1700" b="1" dirty="0">
                <a:latin typeface="微软雅黑" panose="020B0503020204020204" pitchFamily="34" charset="-122"/>
                <a:ea typeface="微软雅黑" panose="020B0503020204020204" pitchFamily="34" charset="-122"/>
              </a:rPr>
              <a:t>4</a:t>
            </a:r>
            <a:r>
              <a:rPr lang="zh-CN" altLang="en-US" sz="1700" b="1" dirty="0">
                <a:latin typeface="微软雅黑" panose="020B0503020204020204" pitchFamily="34" charset="-122"/>
                <a:ea typeface="微软雅黑" panose="020B0503020204020204" pitchFamily="34" charset="-122"/>
              </a:rPr>
              <a:t>）</a:t>
            </a:r>
            <a:r>
              <a:rPr lang="zh-CN" altLang="zh-CN" sz="1700" b="1" dirty="0">
                <a:latin typeface="微软雅黑" panose="020B0503020204020204" pitchFamily="34" charset="-122"/>
                <a:ea typeface="微软雅黑" panose="020B0503020204020204" pitchFamily="34" charset="-122"/>
              </a:rPr>
              <a:t> </a:t>
            </a:r>
            <a:r>
              <a:rPr lang="zh-CN" altLang="en-US" sz="1700" b="1" dirty="0">
                <a:latin typeface="微软雅黑" panose="020B0503020204020204" pitchFamily="34" charset="-122"/>
                <a:ea typeface="微软雅黑" panose="020B0503020204020204" pitchFamily="34" charset="-122"/>
              </a:rPr>
              <a:t>直流扫描分析</a:t>
            </a:r>
            <a:endParaRPr lang="en-US" altLang="zh-CN" sz="1700" b="1" dirty="0">
              <a:latin typeface="微软雅黑" panose="020B0503020204020204" pitchFamily="34" charset="-122"/>
              <a:ea typeface="微软雅黑" panose="020B0503020204020204" pitchFamily="34" charset="-122"/>
            </a:endParaRPr>
          </a:p>
          <a:p>
            <a:pPr algn="just">
              <a:lnSpc>
                <a:spcPct val="125000"/>
              </a:lnSpc>
              <a:spcBef>
                <a:spcPct val="20000"/>
              </a:spcBef>
              <a:buClr>
                <a:schemeClr val="accent1"/>
              </a:buClr>
              <a:buSzPct val="100000"/>
              <a:defRPr/>
            </a:pPr>
            <a:r>
              <a:rPr lang="en-US" altLang="zh-CN" sz="2400" b="1" dirty="0"/>
              <a:t>     </a:t>
            </a:r>
            <a:r>
              <a:rPr lang="zh-CN" altLang="zh-CN" dirty="0">
                <a:latin typeface="微软雅黑" panose="020B0503020204020204" pitchFamily="34" charset="-122"/>
                <a:ea typeface="微软雅黑" panose="020B0503020204020204" pitchFamily="34" charset="-122"/>
              </a:rPr>
              <a:t>直流扫描分析（</a:t>
            </a:r>
            <a:r>
              <a:rPr lang="en-US" altLang="zh-CN" dirty="0">
                <a:latin typeface="微软雅黑" panose="020B0503020204020204" pitchFamily="34" charset="-122"/>
                <a:ea typeface="微软雅黑" panose="020B0503020204020204" pitchFamily="34" charset="-122"/>
              </a:rPr>
              <a:t>DC Sweep Analysis</a:t>
            </a:r>
            <a:r>
              <a:rPr lang="zh-CN" altLang="zh-CN" dirty="0">
                <a:latin typeface="微软雅黑" panose="020B0503020204020204" pitchFamily="34" charset="-122"/>
                <a:ea typeface="微软雅黑" panose="020B0503020204020204" pitchFamily="34" charset="-122"/>
              </a:rPr>
              <a:t>）就是分析电路中某节点电压（电流）随着电路中的一个或两个直流电源变化的情况。通过扫描分析可以非常直接的看到扫描参数的变化对仿真实验结果的影响。在进行直流扫描分析时，电容视为开路，电感视为短路。</a:t>
            </a:r>
            <a:endParaRPr lang="en-US" altLang="zh-CN" dirty="0">
              <a:latin typeface="微软雅黑" panose="020B0503020204020204" pitchFamily="34" charset="-122"/>
              <a:ea typeface="微软雅黑" panose="020B0503020204020204" pitchFamily="34" charset="-122"/>
            </a:endParaRPr>
          </a:p>
          <a:p>
            <a:pPr algn="just">
              <a:lnSpc>
                <a:spcPct val="125000"/>
              </a:lnSpc>
              <a:spcBef>
                <a:spcPct val="20000"/>
              </a:spcBef>
              <a:buClr>
                <a:schemeClr val="accent1"/>
              </a:buClr>
              <a:buSzPct val="100000"/>
              <a:defRPr/>
            </a:pPr>
            <a:r>
              <a:rPr lang="en-US" altLang="zh-CN" dirty="0">
                <a:latin typeface="微软雅黑" panose="020B0503020204020204" pitchFamily="34" charset="-122"/>
                <a:ea typeface="微软雅黑" panose="020B0503020204020204" pitchFamily="34" charset="-122"/>
              </a:rPr>
              <a:t>    </a:t>
            </a:r>
            <a:r>
              <a:rPr lang="zh-CN" altLang="zh-CN" dirty="0">
                <a:latin typeface="微软雅黑" panose="020B0503020204020204" pitchFamily="34" charset="-122"/>
                <a:ea typeface="微软雅黑" panose="020B0503020204020204" pitchFamily="34" charset="-122"/>
              </a:rPr>
              <a:t>启动菜单</a:t>
            </a:r>
            <a:r>
              <a:rPr lang="en-US" altLang="zh-CN" dirty="0">
                <a:latin typeface="微软雅黑" panose="020B0503020204020204" pitchFamily="34" charset="-122"/>
                <a:ea typeface="微软雅黑" panose="020B0503020204020204" pitchFamily="34" charset="-122"/>
              </a:rPr>
              <a:t>Simulate\Analysis\DC Sweep analysis</a:t>
            </a:r>
            <a:r>
              <a:rPr lang="zh-CN" altLang="zh-CN" dirty="0">
                <a:latin typeface="微软雅黑" panose="020B0503020204020204" pitchFamily="34" charset="-122"/>
                <a:ea typeface="微软雅黑" panose="020B0503020204020204" pitchFamily="34" charset="-122"/>
              </a:rPr>
              <a:t>，打开直流扫描分析对话框，如图</a:t>
            </a:r>
            <a:r>
              <a:rPr lang="en-US" altLang="zh-CN" dirty="0">
                <a:latin typeface="微软雅黑" panose="020B0503020204020204" pitchFamily="34" charset="-122"/>
                <a:ea typeface="微软雅黑" panose="020B0503020204020204" pitchFamily="34" charset="-122"/>
              </a:rPr>
              <a:t>16</a:t>
            </a:r>
            <a:r>
              <a:rPr lang="zh-CN" altLang="zh-CN" dirty="0">
                <a:latin typeface="微软雅黑" panose="020B0503020204020204" pitchFamily="34" charset="-122"/>
                <a:ea typeface="微软雅黑" panose="020B0503020204020204" pitchFamily="34" charset="-122"/>
              </a:rPr>
              <a:t>所示。</a:t>
            </a:r>
          </a:p>
        </p:txBody>
      </p:sp>
      <p:pic>
        <p:nvPicPr>
          <p:cNvPr id="5" name="图片 4"/>
          <p:cNvPicPr>
            <a:picLocks noChangeAspect="1"/>
          </p:cNvPicPr>
          <p:nvPr/>
        </p:nvPicPr>
        <p:blipFill>
          <a:blip r:embed="rId2"/>
          <a:stretch>
            <a:fillRect/>
          </a:stretch>
        </p:blipFill>
        <p:spPr>
          <a:xfrm>
            <a:off x="2411760" y="2636913"/>
            <a:ext cx="3240360" cy="3561240"/>
          </a:xfrm>
          <a:prstGeom prst="rect">
            <a:avLst/>
          </a:prstGeom>
        </p:spPr>
      </p:pic>
      <p:sp>
        <p:nvSpPr>
          <p:cNvPr id="6" name="矩形 5"/>
          <p:cNvSpPr/>
          <p:nvPr/>
        </p:nvSpPr>
        <p:spPr>
          <a:xfrm>
            <a:off x="2547399" y="6309320"/>
            <a:ext cx="2969083" cy="369332"/>
          </a:xfrm>
          <a:prstGeom prst="rect">
            <a:avLst/>
          </a:prstGeom>
        </p:spPr>
        <p:txBody>
          <a:bodyPr wrap="none">
            <a:spAutoFit/>
          </a:bodyPr>
          <a:lstStyle/>
          <a:p>
            <a:pPr algn="ctr"/>
            <a:r>
              <a:rPr lang="zh-CN" altLang="en-US" dirty="0">
                <a:latin typeface="微软雅黑" panose="020B0503020204020204" pitchFamily="34" charset="-122"/>
                <a:ea typeface="微软雅黑" panose="020B0503020204020204" pitchFamily="34" charset="-122"/>
              </a:rPr>
              <a:t>图</a:t>
            </a:r>
            <a:r>
              <a:rPr lang="en-US" altLang="zh-CN" dirty="0">
                <a:latin typeface="微软雅黑" panose="020B0503020204020204" pitchFamily="34" charset="-122"/>
                <a:ea typeface="微软雅黑" panose="020B0503020204020204" pitchFamily="34" charset="-122"/>
              </a:rPr>
              <a:t>16  </a:t>
            </a:r>
            <a:r>
              <a:rPr lang="zh-CN" altLang="zh-CN" dirty="0">
                <a:latin typeface="微软雅黑" panose="020B0503020204020204" pitchFamily="34" charset="-122"/>
                <a:ea typeface="微软雅黑" panose="020B0503020204020204" pitchFamily="34" charset="-122"/>
              </a:rPr>
              <a:t>直流扫描分析对话框 </a:t>
            </a:r>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5107655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467544" y="476672"/>
            <a:ext cx="8136904" cy="2862322"/>
          </a:xfrm>
          <a:prstGeom prst="rect">
            <a:avLst/>
          </a:prstGeom>
        </p:spPr>
        <p:txBody>
          <a:bodyPr wrap="square">
            <a:spAutoFit/>
          </a:bodyPr>
          <a:lstStyle/>
          <a:p>
            <a:pPr algn="just">
              <a:lnSpc>
                <a:spcPct val="125000"/>
              </a:lnSpc>
            </a:pPr>
            <a:r>
              <a:rPr lang="en-US" altLang="zh-CN" dirty="0">
                <a:latin typeface="微软雅黑" panose="020B0503020204020204" pitchFamily="34" charset="-122"/>
                <a:ea typeface="微软雅黑" panose="020B0503020204020204" pitchFamily="34" charset="-122"/>
              </a:rPr>
              <a:t>       </a:t>
            </a:r>
            <a:r>
              <a:rPr lang="zh-CN" altLang="zh-CN" dirty="0">
                <a:latin typeface="微软雅黑" panose="020B0503020204020204" pitchFamily="34" charset="-122"/>
                <a:ea typeface="微软雅黑" panose="020B0503020204020204" pitchFamily="34" charset="-122"/>
              </a:rPr>
              <a:t>其中包括了四个选项卡，除了</a:t>
            </a:r>
            <a:r>
              <a:rPr lang="en-US" altLang="zh-CN" dirty="0">
                <a:latin typeface="微软雅黑" panose="020B0503020204020204" pitchFamily="34" charset="-122"/>
                <a:ea typeface="微软雅黑" panose="020B0503020204020204" pitchFamily="34" charset="-122"/>
              </a:rPr>
              <a:t>Analysis parameters</a:t>
            </a:r>
            <a:r>
              <a:rPr lang="zh-CN" altLang="zh-CN" dirty="0">
                <a:latin typeface="微软雅黑" panose="020B0503020204020204" pitchFamily="34" charset="-122"/>
                <a:ea typeface="微软雅黑" panose="020B0503020204020204" pitchFamily="34" charset="-122"/>
              </a:rPr>
              <a:t>选项卡之外，其余均与静态工作点分析的设定相同</a:t>
            </a:r>
            <a:r>
              <a:rPr lang="zh-CN" altLang="en-US" dirty="0">
                <a:latin typeface="微软雅黑" panose="020B0503020204020204" pitchFamily="34" charset="-122"/>
                <a:ea typeface="微软雅黑" panose="020B0503020204020204" pitchFamily="34" charset="-122"/>
              </a:rPr>
              <a:t>。</a:t>
            </a:r>
            <a:r>
              <a:rPr lang="zh-CN" altLang="zh-CN" dirty="0">
                <a:latin typeface="微软雅黑" panose="020B0503020204020204" pitchFamily="34" charset="-122"/>
                <a:ea typeface="微软雅黑" panose="020B0503020204020204" pitchFamily="34" charset="-122"/>
              </a:rPr>
              <a:t>在</a:t>
            </a:r>
            <a:r>
              <a:rPr lang="en-US" altLang="zh-CN" dirty="0">
                <a:latin typeface="微软雅黑" panose="020B0503020204020204" pitchFamily="34" charset="-122"/>
                <a:ea typeface="微软雅黑" panose="020B0503020204020204" pitchFamily="34" charset="-122"/>
              </a:rPr>
              <a:t>Analysis parameters</a:t>
            </a:r>
            <a:r>
              <a:rPr lang="zh-CN" altLang="zh-CN" dirty="0">
                <a:latin typeface="微软雅黑" panose="020B0503020204020204" pitchFamily="34" charset="-122"/>
                <a:ea typeface="微软雅黑" panose="020B0503020204020204" pitchFamily="34" charset="-122"/>
              </a:rPr>
              <a:t>选项卡中，包括了</a:t>
            </a:r>
            <a:r>
              <a:rPr lang="en-US" altLang="zh-CN" dirty="0">
                <a:latin typeface="微软雅黑" panose="020B0503020204020204" pitchFamily="34" charset="-122"/>
                <a:ea typeface="微软雅黑" panose="020B0503020204020204" pitchFamily="34" charset="-122"/>
              </a:rPr>
              <a:t>Source1</a:t>
            </a:r>
            <a:r>
              <a:rPr lang="zh-CN" altLang="zh-CN" dirty="0">
                <a:latin typeface="微软雅黑" panose="020B0503020204020204" pitchFamily="34" charset="-122"/>
                <a:ea typeface="微软雅黑" panose="020B0503020204020204" pitchFamily="34" charset="-122"/>
              </a:rPr>
              <a:t>和</a:t>
            </a:r>
            <a:r>
              <a:rPr lang="en-US" altLang="zh-CN" dirty="0">
                <a:latin typeface="微软雅黑" panose="020B0503020204020204" pitchFamily="34" charset="-122"/>
                <a:ea typeface="微软雅黑" panose="020B0503020204020204" pitchFamily="34" charset="-122"/>
              </a:rPr>
              <a:t>Source2</a:t>
            </a:r>
            <a:r>
              <a:rPr lang="zh-CN" altLang="zh-CN" dirty="0">
                <a:latin typeface="微软雅黑" panose="020B0503020204020204" pitchFamily="34" charset="-122"/>
                <a:ea typeface="微软雅黑" panose="020B0503020204020204" pitchFamily="34" charset="-122"/>
              </a:rPr>
              <a:t>两个区块，每个区块各有下列项目：</a:t>
            </a:r>
          </a:p>
          <a:p>
            <a:pPr>
              <a:lnSpc>
                <a:spcPct val="125000"/>
              </a:lnSpc>
            </a:pPr>
            <a:r>
              <a:rPr lang="en-US" altLang="zh-CN" dirty="0">
                <a:latin typeface="微软雅黑" panose="020B0503020204020204" pitchFamily="34" charset="-122"/>
                <a:ea typeface="微软雅黑" panose="020B0503020204020204" pitchFamily="34" charset="-122"/>
              </a:rPr>
              <a:t>     1</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Source</a:t>
            </a:r>
            <a:r>
              <a:rPr lang="zh-CN" altLang="zh-CN" dirty="0">
                <a:latin typeface="微软雅黑" panose="020B0503020204020204" pitchFamily="34" charset="-122"/>
                <a:ea typeface="微软雅黑" panose="020B0503020204020204" pitchFamily="34" charset="-122"/>
              </a:rPr>
              <a:t>：指定所要扫描的电源。</a:t>
            </a:r>
          </a:p>
          <a:p>
            <a:pPr>
              <a:lnSpc>
                <a:spcPct val="125000"/>
              </a:lnSpc>
            </a:pPr>
            <a:r>
              <a:rPr lang="en-US" altLang="zh-CN" dirty="0">
                <a:latin typeface="微软雅黑" panose="020B0503020204020204" pitchFamily="34" charset="-122"/>
                <a:ea typeface="微软雅黑" panose="020B0503020204020204" pitchFamily="34" charset="-122"/>
              </a:rPr>
              <a:t>     2</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Start value</a:t>
            </a:r>
            <a:r>
              <a:rPr lang="zh-CN" altLang="zh-CN" dirty="0">
                <a:latin typeface="微软雅黑" panose="020B0503020204020204" pitchFamily="34" charset="-122"/>
                <a:ea typeface="微软雅黑" panose="020B0503020204020204" pitchFamily="34" charset="-122"/>
              </a:rPr>
              <a:t>：设定开始扫描的电压值。</a:t>
            </a:r>
          </a:p>
          <a:p>
            <a:pPr>
              <a:lnSpc>
                <a:spcPct val="125000"/>
              </a:lnSpc>
            </a:pPr>
            <a:r>
              <a:rPr lang="en-US" altLang="zh-CN" dirty="0">
                <a:latin typeface="微软雅黑" panose="020B0503020204020204" pitchFamily="34" charset="-122"/>
                <a:ea typeface="微软雅黑" panose="020B0503020204020204" pitchFamily="34" charset="-122"/>
              </a:rPr>
              <a:t>     3</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Stop value</a:t>
            </a:r>
            <a:r>
              <a:rPr lang="zh-CN" altLang="zh-CN" dirty="0">
                <a:latin typeface="微软雅黑" panose="020B0503020204020204" pitchFamily="34" charset="-122"/>
                <a:ea typeface="微软雅黑" panose="020B0503020204020204" pitchFamily="34" charset="-122"/>
              </a:rPr>
              <a:t>：设定终止扫描的电压值。</a:t>
            </a:r>
          </a:p>
          <a:p>
            <a:pPr>
              <a:lnSpc>
                <a:spcPct val="125000"/>
              </a:lnSpc>
            </a:pPr>
            <a:r>
              <a:rPr lang="en-US" altLang="zh-CN" dirty="0">
                <a:latin typeface="微软雅黑" panose="020B0503020204020204" pitchFamily="34" charset="-122"/>
                <a:ea typeface="微软雅黑" panose="020B0503020204020204" pitchFamily="34" charset="-122"/>
              </a:rPr>
              <a:t>     4</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Increment</a:t>
            </a:r>
            <a:r>
              <a:rPr lang="zh-CN" altLang="zh-CN" dirty="0">
                <a:latin typeface="微软雅黑" panose="020B0503020204020204" pitchFamily="34" charset="-122"/>
                <a:ea typeface="微软雅黑" panose="020B0503020204020204" pitchFamily="34" charset="-122"/>
              </a:rPr>
              <a:t>：设定扫描的增量（或间距）。</a:t>
            </a:r>
            <a:endParaRPr lang="en-US" altLang="zh-CN" dirty="0">
              <a:latin typeface="微软雅黑" panose="020B0503020204020204" pitchFamily="34" charset="-122"/>
              <a:ea typeface="微软雅黑" panose="020B0503020204020204" pitchFamily="34" charset="-122"/>
            </a:endParaRPr>
          </a:p>
          <a:p>
            <a:pPr>
              <a:lnSpc>
                <a:spcPct val="125000"/>
              </a:lnSpc>
            </a:pPr>
            <a:r>
              <a:rPr lang="en-US" altLang="zh-CN" dirty="0">
                <a:latin typeface="微软雅黑" panose="020B0503020204020204" pitchFamily="34" charset="-122"/>
                <a:ea typeface="微软雅黑" panose="020B0503020204020204" pitchFamily="34" charset="-122"/>
              </a:rPr>
              <a:t>     </a:t>
            </a:r>
            <a:r>
              <a:rPr lang="zh-CN" altLang="zh-CN" dirty="0">
                <a:latin typeface="微软雅黑" panose="020B0503020204020204" pitchFamily="34" charset="-122"/>
                <a:ea typeface="微软雅黑" panose="020B0503020204020204" pitchFamily="34" charset="-122"/>
              </a:rPr>
              <a:t>直流扫描分析的结果</a:t>
            </a:r>
            <a:r>
              <a:rPr lang="zh-CN" altLang="en-US" dirty="0">
                <a:latin typeface="微软雅黑" panose="020B0503020204020204" pitchFamily="34" charset="-122"/>
                <a:ea typeface="微软雅黑" panose="020B0503020204020204" pitchFamily="34" charset="-122"/>
              </a:rPr>
              <a:t>如图</a:t>
            </a:r>
            <a:r>
              <a:rPr lang="en-US" altLang="zh-CN" dirty="0">
                <a:latin typeface="微软雅黑" panose="020B0503020204020204" pitchFamily="34" charset="-122"/>
                <a:ea typeface="微软雅黑" panose="020B0503020204020204" pitchFamily="34" charset="-122"/>
              </a:rPr>
              <a:t>17</a:t>
            </a:r>
            <a:r>
              <a:rPr lang="zh-CN" altLang="en-US" dirty="0">
                <a:latin typeface="微软雅黑" panose="020B0503020204020204" pitchFamily="34" charset="-122"/>
                <a:ea typeface="微软雅黑" panose="020B0503020204020204" pitchFamily="34" charset="-122"/>
              </a:rPr>
              <a:t>所示</a:t>
            </a:r>
            <a:r>
              <a:rPr lang="zh-CN" altLang="zh-CN"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V2</a:t>
            </a:r>
            <a:r>
              <a:rPr lang="zh-CN" altLang="zh-CN" dirty="0">
                <a:latin typeface="微软雅黑" panose="020B0503020204020204" pitchFamily="34" charset="-122"/>
                <a:ea typeface="微软雅黑" panose="020B0503020204020204" pitchFamily="34" charset="-122"/>
              </a:rPr>
              <a:t>是基极电压，</a:t>
            </a:r>
            <a:r>
              <a:rPr lang="en-US" altLang="zh-CN" dirty="0">
                <a:latin typeface="微软雅黑" panose="020B0503020204020204" pitchFamily="34" charset="-122"/>
                <a:ea typeface="微软雅黑" panose="020B0503020204020204" pitchFamily="34" charset="-122"/>
              </a:rPr>
              <a:t>V3</a:t>
            </a:r>
            <a:r>
              <a:rPr lang="zh-CN" altLang="zh-CN" dirty="0">
                <a:latin typeface="微软雅黑" panose="020B0503020204020204" pitchFamily="34" charset="-122"/>
                <a:ea typeface="微软雅黑" panose="020B0503020204020204" pitchFamily="34" charset="-122"/>
              </a:rPr>
              <a:t>是集电极电压。</a:t>
            </a:r>
            <a:endParaRPr lang="zh-CN" altLang="en-US" dirty="0">
              <a:latin typeface="微软雅黑" panose="020B0503020204020204" pitchFamily="34" charset="-122"/>
              <a:ea typeface="微软雅黑" panose="020B0503020204020204" pitchFamily="34" charset="-122"/>
            </a:endParaRPr>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3728" y="3338994"/>
            <a:ext cx="4176464" cy="2901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矩形 6"/>
          <p:cNvSpPr/>
          <p:nvPr/>
        </p:nvSpPr>
        <p:spPr>
          <a:xfrm>
            <a:off x="2962259" y="6273345"/>
            <a:ext cx="2600392" cy="369332"/>
          </a:xfrm>
          <a:prstGeom prst="rect">
            <a:avLst/>
          </a:prstGeom>
        </p:spPr>
        <p:txBody>
          <a:bodyPr wrap="none">
            <a:spAutoFit/>
          </a:bodyPr>
          <a:lstStyle/>
          <a:p>
            <a:r>
              <a:rPr lang="zh-CN" altLang="zh-CN" dirty="0">
                <a:latin typeface="微软雅黑" panose="020B0503020204020204" pitchFamily="34" charset="-122"/>
                <a:ea typeface="微软雅黑" panose="020B0503020204020204" pitchFamily="34" charset="-122"/>
              </a:rPr>
              <a:t>图</a:t>
            </a:r>
            <a:r>
              <a:rPr lang="en-US" altLang="zh-CN" dirty="0">
                <a:latin typeface="微软雅黑" panose="020B0503020204020204" pitchFamily="34" charset="-122"/>
                <a:ea typeface="微软雅黑" panose="020B0503020204020204" pitchFamily="34" charset="-122"/>
              </a:rPr>
              <a:t>17 </a:t>
            </a:r>
            <a:r>
              <a:rPr lang="zh-CN" altLang="zh-CN" dirty="0">
                <a:latin typeface="微软雅黑" panose="020B0503020204020204" pitchFamily="34" charset="-122"/>
                <a:ea typeface="微软雅黑" panose="020B0503020204020204" pitchFamily="34" charset="-122"/>
              </a:rPr>
              <a:t>直流扫描分析结果</a:t>
            </a:r>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107760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51520" y="332656"/>
            <a:ext cx="8640960" cy="1804340"/>
          </a:xfrm>
          <a:prstGeom prst="rect">
            <a:avLst/>
          </a:prstGeom>
        </p:spPr>
        <p:txBody>
          <a:bodyPr wrap="square">
            <a:spAutoFit/>
          </a:bodyPr>
          <a:lstStyle/>
          <a:p>
            <a:pPr>
              <a:lnSpc>
                <a:spcPct val="125000"/>
              </a:lnSpc>
              <a:spcBef>
                <a:spcPct val="20000"/>
              </a:spcBef>
              <a:buClr>
                <a:schemeClr val="accent1"/>
              </a:buClr>
              <a:buSzPct val="100000"/>
              <a:defRPr/>
            </a:pPr>
            <a:r>
              <a:rPr lang="en-US" altLang="zh-CN" sz="1700" b="1" dirty="0">
                <a:latin typeface="微软雅黑" panose="020B0503020204020204" pitchFamily="34" charset="-122"/>
                <a:ea typeface="微软雅黑" panose="020B0503020204020204" pitchFamily="34" charset="-122"/>
              </a:rPr>
              <a:t>5</a:t>
            </a:r>
            <a:r>
              <a:rPr lang="zh-CN" altLang="en-US" sz="1700" b="1" dirty="0">
                <a:latin typeface="微软雅黑" panose="020B0503020204020204" pitchFamily="34" charset="-122"/>
                <a:ea typeface="微软雅黑" panose="020B0503020204020204" pitchFamily="34" charset="-122"/>
              </a:rPr>
              <a:t>）</a:t>
            </a:r>
            <a:r>
              <a:rPr lang="zh-CN" altLang="zh-CN" sz="1700" b="1" dirty="0">
                <a:latin typeface="微软雅黑" panose="020B0503020204020204" pitchFamily="34" charset="-122"/>
                <a:ea typeface="微软雅黑" panose="020B0503020204020204" pitchFamily="34" charset="-122"/>
              </a:rPr>
              <a:t> </a:t>
            </a:r>
            <a:r>
              <a:rPr lang="zh-CN" altLang="en-US" sz="1700" b="1" dirty="0">
                <a:latin typeface="微软雅黑" panose="020B0503020204020204" pitchFamily="34" charset="-122"/>
                <a:ea typeface="微软雅黑" panose="020B0503020204020204" pitchFamily="34" charset="-122"/>
              </a:rPr>
              <a:t>参数扫描分析</a:t>
            </a:r>
            <a:endParaRPr lang="en-US" altLang="zh-CN" sz="1700" b="1" dirty="0">
              <a:latin typeface="微软雅黑" panose="020B0503020204020204" pitchFamily="34" charset="-122"/>
              <a:ea typeface="微软雅黑" panose="020B0503020204020204" pitchFamily="34" charset="-122"/>
            </a:endParaRPr>
          </a:p>
          <a:p>
            <a:pPr>
              <a:lnSpc>
                <a:spcPct val="125000"/>
              </a:lnSpc>
            </a:pPr>
            <a:r>
              <a:rPr lang="en-US" altLang="zh-CN" dirty="0"/>
              <a:t>      </a:t>
            </a:r>
            <a:r>
              <a:rPr lang="zh-CN" altLang="zh-CN" dirty="0">
                <a:latin typeface="微软雅黑" panose="020B0503020204020204" pitchFamily="34" charset="-122"/>
                <a:ea typeface="微软雅黑" panose="020B0503020204020204" pitchFamily="34" charset="-122"/>
              </a:rPr>
              <a:t>参数扫描分析（</a:t>
            </a:r>
            <a:r>
              <a:rPr lang="en-US" altLang="zh-CN" dirty="0">
                <a:latin typeface="微软雅黑" panose="020B0503020204020204" pitchFamily="34" charset="-122"/>
                <a:ea typeface="微软雅黑" panose="020B0503020204020204" pitchFamily="34" charset="-122"/>
              </a:rPr>
              <a:t>Parameter Sweep Analysis</a:t>
            </a:r>
            <a:r>
              <a:rPr lang="zh-CN" altLang="zh-CN" dirty="0">
                <a:latin typeface="微软雅黑" panose="020B0503020204020204" pitchFamily="34" charset="-122"/>
                <a:ea typeface="微软雅黑" panose="020B0503020204020204" pitchFamily="34" charset="-122"/>
              </a:rPr>
              <a:t>）就是不断变化仿真电路中某个元件的参数值，观察其参数值在一定范围内的变化对电路的直流工作点等性能的影响。</a:t>
            </a:r>
            <a:r>
              <a:rPr lang="en-US" altLang="zh-CN" dirty="0">
                <a:latin typeface="微软雅黑" panose="020B0503020204020204" pitchFamily="34" charset="-122"/>
                <a:ea typeface="微软雅黑" panose="020B0503020204020204" pitchFamily="34" charset="-122"/>
              </a:rPr>
              <a:t>    </a:t>
            </a:r>
          </a:p>
          <a:p>
            <a:pPr algn="just">
              <a:lnSpc>
                <a:spcPct val="125000"/>
              </a:lnSpc>
            </a:pPr>
            <a:r>
              <a:rPr lang="en-US" altLang="zh-CN" dirty="0">
                <a:latin typeface="微软雅黑" panose="020B0503020204020204" pitchFamily="34" charset="-122"/>
                <a:ea typeface="微软雅黑" panose="020B0503020204020204" pitchFamily="34" charset="-122"/>
              </a:rPr>
              <a:t>      </a:t>
            </a:r>
            <a:r>
              <a:rPr lang="zh-CN" altLang="zh-CN" dirty="0">
                <a:latin typeface="微软雅黑" panose="020B0503020204020204" pitchFamily="34" charset="-122"/>
                <a:ea typeface="微软雅黑" panose="020B0503020204020204" pitchFamily="34" charset="-122"/>
              </a:rPr>
              <a:t>启动菜单命令</a:t>
            </a:r>
            <a:r>
              <a:rPr lang="en-US" altLang="zh-CN" dirty="0">
                <a:latin typeface="微软雅黑" panose="020B0503020204020204" pitchFamily="34" charset="-122"/>
                <a:ea typeface="微软雅黑" panose="020B0503020204020204" pitchFamily="34" charset="-122"/>
              </a:rPr>
              <a:t>Simulate\Analysis\Parameter Sweep</a:t>
            </a:r>
            <a:r>
              <a:rPr lang="zh-CN" altLang="zh-CN" dirty="0">
                <a:latin typeface="微软雅黑" panose="020B0503020204020204" pitchFamily="34" charset="-122"/>
                <a:ea typeface="微软雅黑" panose="020B0503020204020204" pitchFamily="34" charset="-122"/>
              </a:rPr>
              <a:t>，出现如图</a:t>
            </a:r>
            <a:r>
              <a:rPr lang="en-US" altLang="zh-CN" dirty="0">
                <a:latin typeface="微软雅黑" panose="020B0503020204020204" pitchFamily="34" charset="-122"/>
                <a:ea typeface="微软雅黑" panose="020B0503020204020204" pitchFamily="34" charset="-122"/>
              </a:rPr>
              <a:t>18</a:t>
            </a:r>
            <a:r>
              <a:rPr lang="zh-CN" altLang="zh-CN" dirty="0">
                <a:latin typeface="微软雅黑" panose="020B0503020204020204" pitchFamily="34" charset="-122"/>
                <a:ea typeface="微软雅黑" panose="020B0503020204020204" pitchFamily="34" charset="-122"/>
              </a:rPr>
              <a:t>所示的对话框。</a:t>
            </a:r>
          </a:p>
        </p:txBody>
      </p:sp>
      <p:sp>
        <p:nvSpPr>
          <p:cNvPr id="6" name="矩形 5"/>
          <p:cNvSpPr/>
          <p:nvPr/>
        </p:nvSpPr>
        <p:spPr>
          <a:xfrm>
            <a:off x="3121923" y="6165304"/>
            <a:ext cx="2900154" cy="369332"/>
          </a:xfrm>
          <a:prstGeom prst="rect">
            <a:avLst/>
          </a:prstGeom>
        </p:spPr>
        <p:txBody>
          <a:bodyPr wrap="none">
            <a:spAutoFit/>
          </a:bodyPr>
          <a:lstStyle/>
          <a:p>
            <a:pPr algn="ctr"/>
            <a:r>
              <a:rPr lang="zh-CN" altLang="en-US" dirty="0">
                <a:latin typeface="微软雅黑" panose="020B0503020204020204" pitchFamily="34" charset="-122"/>
                <a:ea typeface="微软雅黑" panose="020B0503020204020204" pitchFamily="34" charset="-122"/>
              </a:rPr>
              <a:t>图</a:t>
            </a:r>
            <a:r>
              <a:rPr lang="en-US" altLang="zh-CN" dirty="0">
                <a:latin typeface="微软雅黑" panose="020B0503020204020204" pitchFamily="34" charset="-122"/>
                <a:ea typeface="微软雅黑" panose="020B0503020204020204" pitchFamily="34" charset="-122"/>
              </a:rPr>
              <a:t>18  </a:t>
            </a:r>
            <a:r>
              <a:rPr lang="zh-CN" altLang="zh-CN" dirty="0">
                <a:latin typeface="微软雅黑" panose="020B0503020204020204" pitchFamily="34" charset="-122"/>
                <a:ea typeface="微软雅黑" panose="020B0503020204020204" pitchFamily="34" charset="-122"/>
              </a:rPr>
              <a:t>参数扫描分析对话框</a:t>
            </a:r>
            <a:endParaRPr lang="en-US" altLang="zh-CN" dirty="0">
              <a:latin typeface="微软雅黑" panose="020B0503020204020204" pitchFamily="34" charset="-122"/>
              <a:ea typeface="微软雅黑" panose="020B0503020204020204" pitchFamily="34" charset="-122"/>
            </a:endParaRPr>
          </a:p>
        </p:txBody>
      </p:sp>
      <p:pic>
        <p:nvPicPr>
          <p:cNvPr id="7" name="图片 6"/>
          <p:cNvPicPr>
            <a:picLocks noChangeAspect="1"/>
          </p:cNvPicPr>
          <p:nvPr/>
        </p:nvPicPr>
        <p:blipFill>
          <a:blip r:embed="rId2"/>
          <a:stretch>
            <a:fillRect/>
          </a:stretch>
        </p:blipFill>
        <p:spPr>
          <a:xfrm>
            <a:off x="2465077" y="1829783"/>
            <a:ext cx="4213845" cy="4335521"/>
          </a:xfrm>
          <a:prstGeom prst="rect">
            <a:avLst/>
          </a:prstGeom>
        </p:spPr>
      </p:pic>
    </p:spTree>
    <p:extLst>
      <p:ext uri="{BB962C8B-B14F-4D97-AF65-F5344CB8AC3E}">
        <p14:creationId xmlns:p14="http://schemas.microsoft.com/office/powerpoint/2010/main" val="5660248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23528" y="404664"/>
            <a:ext cx="8568952" cy="1823576"/>
          </a:xfrm>
          <a:prstGeom prst="rect">
            <a:avLst/>
          </a:prstGeom>
        </p:spPr>
        <p:txBody>
          <a:bodyPr wrap="square">
            <a:spAutoFit/>
          </a:bodyPr>
          <a:lstStyle/>
          <a:p>
            <a:pPr algn="just">
              <a:lnSpc>
                <a:spcPct val="125000"/>
              </a:lnSpc>
            </a:pPr>
            <a:r>
              <a:rPr lang="zh-CN" altLang="en-US" dirty="0">
                <a:latin typeface="微软雅黑" panose="020B0503020204020204" pitchFamily="34" charset="-122"/>
                <a:ea typeface="微软雅黑" panose="020B0503020204020204" pitchFamily="34" charset="-122"/>
              </a:rPr>
              <a:t>       这</a:t>
            </a:r>
            <a:r>
              <a:rPr lang="zh-CN" altLang="zh-CN" dirty="0">
                <a:latin typeface="微软雅黑" panose="020B0503020204020204" pitchFamily="34" charset="-122"/>
                <a:ea typeface="微软雅黑" panose="020B0503020204020204" pitchFamily="34" charset="-122"/>
              </a:rPr>
              <a:t>其中包括</a:t>
            </a:r>
            <a:r>
              <a:rPr lang="en-US" altLang="zh-CN" dirty="0">
                <a:latin typeface="微软雅黑" panose="020B0503020204020204" pitchFamily="34" charset="-122"/>
                <a:ea typeface="微软雅黑" panose="020B0503020204020204" pitchFamily="34" charset="-122"/>
              </a:rPr>
              <a:t>4</a:t>
            </a:r>
            <a:r>
              <a:rPr lang="zh-CN" altLang="zh-CN" dirty="0">
                <a:latin typeface="微软雅黑" panose="020B0503020204020204" pitchFamily="34" charset="-122"/>
                <a:ea typeface="微软雅黑" panose="020B0503020204020204" pitchFamily="34" charset="-122"/>
              </a:rPr>
              <a:t>个选项卡，除了</a:t>
            </a:r>
            <a:r>
              <a:rPr lang="en-US" altLang="zh-CN" dirty="0">
                <a:latin typeface="微软雅黑" panose="020B0503020204020204" pitchFamily="34" charset="-122"/>
                <a:ea typeface="微软雅黑" panose="020B0503020204020204" pitchFamily="34" charset="-122"/>
              </a:rPr>
              <a:t>Analysis parameters</a:t>
            </a:r>
            <a:r>
              <a:rPr lang="zh-CN" altLang="zh-CN" dirty="0">
                <a:latin typeface="微软雅黑" panose="020B0503020204020204" pitchFamily="34" charset="-122"/>
                <a:ea typeface="微软雅黑" panose="020B0503020204020204" pitchFamily="34" charset="-122"/>
              </a:rPr>
              <a:t>外，其余均与静态工作点分析的设定相同</a:t>
            </a:r>
            <a:r>
              <a:rPr lang="zh-CN" altLang="en-US" dirty="0">
                <a:latin typeface="微软雅黑" panose="020B0503020204020204" pitchFamily="34" charset="-122"/>
                <a:ea typeface="微软雅黑" panose="020B0503020204020204" pitchFamily="34" charset="-122"/>
              </a:rPr>
              <a:t>。本例</a:t>
            </a:r>
            <a:r>
              <a:rPr lang="zh-CN" altLang="zh-CN" dirty="0">
                <a:latin typeface="微软雅黑" panose="020B0503020204020204" pitchFamily="34" charset="-122"/>
                <a:ea typeface="微软雅黑" panose="020B0503020204020204" pitchFamily="34" charset="-122"/>
              </a:rPr>
              <a:t>设置节点</a:t>
            </a:r>
            <a:r>
              <a:rPr lang="en-US" altLang="zh-CN" dirty="0">
                <a:latin typeface="微软雅黑" panose="020B0503020204020204" pitchFamily="34" charset="-122"/>
                <a:ea typeface="微软雅黑" panose="020B0503020204020204" pitchFamily="34" charset="-122"/>
              </a:rPr>
              <a:t>3</a:t>
            </a:r>
            <a:r>
              <a:rPr lang="zh-CN" altLang="zh-CN" dirty="0">
                <a:latin typeface="微软雅黑" panose="020B0503020204020204" pitchFamily="34" charset="-122"/>
                <a:ea typeface="微软雅黑" panose="020B0503020204020204" pitchFamily="34" charset="-122"/>
              </a:rPr>
              <a:t>（三极管的集电极）为扫描输出节点，电阻</a:t>
            </a:r>
            <a:r>
              <a:rPr lang="en-US" altLang="zh-CN" dirty="0" err="1">
                <a:latin typeface="微软雅黑" panose="020B0503020204020204" pitchFamily="34" charset="-122"/>
                <a:ea typeface="微软雅黑" panose="020B0503020204020204" pitchFamily="34" charset="-122"/>
              </a:rPr>
              <a:t>Rb</a:t>
            </a:r>
            <a:r>
              <a:rPr lang="zh-CN" altLang="zh-CN" dirty="0">
                <a:latin typeface="微软雅黑" panose="020B0503020204020204" pitchFamily="34" charset="-122"/>
                <a:ea typeface="微软雅黑" panose="020B0503020204020204" pitchFamily="34" charset="-122"/>
              </a:rPr>
              <a:t>为扫描电阻，观察其变化对直流静态工作点影响，其他扫描参数分析对话框的设置如图</a:t>
            </a:r>
            <a:r>
              <a:rPr lang="en-US" altLang="zh-CN" dirty="0">
                <a:latin typeface="微软雅黑" panose="020B0503020204020204" pitchFamily="34" charset="-122"/>
                <a:ea typeface="微软雅黑" panose="020B0503020204020204" pitchFamily="34" charset="-122"/>
              </a:rPr>
              <a:t>18</a:t>
            </a:r>
            <a:r>
              <a:rPr lang="zh-CN" altLang="zh-CN" dirty="0">
                <a:latin typeface="微软雅黑" panose="020B0503020204020204" pitchFamily="34" charset="-122"/>
                <a:ea typeface="微软雅黑" panose="020B0503020204020204" pitchFamily="34" charset="-122"/>
              </a:rPr>
              <a:t>所示。启动参数扫描分析，</a:t>
            </a:r>
            <a:r>
              <a:rPr lang="en-US" altLang="zh-CN" dirty="0">
                <a:latin typeface="微软雅黑" panose="020B0503020204020204" pitchFamily="34" charset="-122"/>
                <a:ea typeface="微软雅黑" panose="020B0503020204020204" pitchFamily="34" charset="-122"/>
              </a:rPr>
              <a:t>Multisim12.0</a:t>
            </a:r>
            <a:r>
              <a:rPr lang="zh-CN" altLang="zh-CN" dirty="0">
                <a:latin typeface="微软雅黑" panose="020B0503020204020204" pitchFamily="34" charset="-122"/>
                <a:ea typeface="微软雅黑" panose="020B0503020204020204" pitchFamily="34" charset="-122"/>
              </a:rPr>
              <a:t>自动改变电阻</a:t>
            </a:r>
            <a:r>
              <a:rPr lang="en-US" altLang="zh-CN" dirty="0" err="1">
                <a:latin typeface="微软雅黑" panose="020B0503020204020204" pitchFamily="34" charset="-122"/>
                <a:ea typeface="微软雅黑" panose="020B0503020204020204" pitchFamily="34" charset="-122"/>
              </a:rPr>
              <a:t>Rb</a:t>
            </a:r>
            <a:r>
              <a:rPr lang="zh-CN" altLang="zh-CN" dirty="0">
                <a:latin typeface="微软雅黑" panose="020B0503020204020204" pitchFamily="34" charset="-122"/>
                <a:ea typeface="微软雅黑" panose="020B0503020204020204" pitchFamily="34" charset="-122"/>
              </a:rPr>
              <a:t>的数值，得到如图</a:t>
            </a:r>
            <a:r>
              <a:rPr lang="en-US" altLang="zh-CN" dirty="0">
                <a:latin typeface="微软雅黑" panose="020B0503020204020204" pitchFamily="34" charset="-122"/>
                <a:ea typeface="微软雅黑" panose="020B0503020204020204" pitchFamily="34" charset="-122"/>
              </a:rPr>
              <a:t>19</a:t>
            </a:r>
            <a:r>
              <a:rPr lang="zh-CN" altLang="zh-CN" dirty="0">
                <a:latin typeface="微软雅黑" panose="020B0503020204020204" pitchFamily="34" charset="-122"/>
                <a:ea typeface="微软雅黑" panose="020B0503020204020204" pitchFamily="34" charset="-122"/>
              </a:rPr>
              <a:t>所示结果。</a:t>
            </a:r>
          </a:p>
        </p:txBody>
      </p:sp>
      <p:pic>
        <p:nvPicPr>
          <p:cNvPr id="5" name="图片 4"/>
          <p:cNvPicPr>
            <a:picLocks noChangeAspect="1"/>
          </p:cNvPicPr>
          <p:nvPr/>
        </p:nvPicPr>
        <p:blipFill>
          <a:blip r:embed="rId2"/>
          <a:stretch>
            <a:fillRect/>
          </a:stretch>
        </p:blipFill>
        <p:spPr>
          <a:xfrm>
            <a:off x="2123728" y="1988840"/>
            <a:ext cx="5283497" cy="3790762"/>
          </a:xfrm>
          <a:prstGeom prst="rect">
            <a:avLst/>
          </a:prstGeom>
        </p:spPr>
      </p:pic>
      <p:sp>
        <p:nvSpPr>
          <p:cNvPr id="6" name="矩形 5"/>
          <p:cNvSpPr/>
          <p:nvPr/>
        </p:nvSpPr>
        <p:spPr>
          <a:xfrm>
            <a:off x="2315551" y="6093296"/>
            <a:ext cx="4584909" cy="369332"/>
          </a:xfrm>
          <a:prstGeom prst="rect">
            <a:avLst/>
          </a:prstGeom>
        </p:spPr>
        <p:txBody>
          <a:bodyPr wrap="none">
            <a:spAutoFit/>
          </a:bodyPr>
          <a:lstStyle/>
          <a:p>
            <a:pPr algn="ctr"/>
            <a:r>
              <a:rPr lang="zh-CN" altLang="en-US" dirty="0">
                <a:latin typeface="微软雅黑" panose="020B0503020204020204" pitchFamily="34" charset="-122"/>
                <a:ea typeface="微软雅黑" panose="020B0503020204020204" pitchFamily="34" charset="-122"/>
              </a:rPr>
              <a:t>图</a:t>
            </a:r>
            <a:r>
              <a:rPr lang="en-US" altLang="zh-CN" dirty="0">
                <a:latin typeface="微软雅黑" panose="020B0503020204020204" pitchFamily="34" charset="-122"/>
                <a:ea typeface="微软雅黑" panose="020B0503020204020204" pitchFamily="34" charset="-122"/>
              </a:rPr>
              <a:t>19   </a:t>
            </a:r>
            <a:r>
              <a:rPr lang="zh-CN" altLang="zh-CN" dirty="0">
                <a:latin typeface="微软雅黑" panose="020B0503020204020204" pitchFamily="34" charset="-122"/>
                <a:ea typeface="微软雅黑" panose="020B0503020204020204" pitchFamily="34" charset="-122"/>
              </a:rPr>
              <a:t>单管共射放大电路参数扫描分析结果</a:t>
            </a:r>
            <a:endParaRPr lang="en-US" altLang="zh-CN" sz="32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0641715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467544" y="404664"/>
            <a:ext cx="8424936" cy="1532727"/>
          </a:xfrm>
          <a:prstGeom prst="rect">
            <a:avLst/>
          </a:prstGeom>
        </p:spPr>
        <p:txBody>
          <a:bodyPr wrap="square">
            <a:spAutoFit/>
          </a:bodyPr>
          <a:lstStyle/>
          <a:p>
            <a:pPr>
              <a:lnSpc>
                <a:spcPct val="125000"/>
              </a:lnSpc>
              <a:spcBef>
                <a:spcPct val="20000"/>
              </a:spcBef>
              <a:buClr>
                <a:schemeClr val="accent1"/>
              </a:buClr>
              <a:buSzPct val="100000"/>
              <a:defRPr/>
            </a:pPr>
            <a:r>
              <a:rPr lang="en-US" altLang="zh-CN" b="1" dirty="0">
                <a:latin typeface="微软雅黑" panose="020B0503020204020204" pitchFamily="34" charset="-122"/>
                <a:ea typeface="微软雅黑" panose="020B0503020204020204" pitchFamily="34" charset="-122"/>
              </a:rPr>
              <a:t>6</a:t>
            </a:r>
            <a:r>
              <a:rPr lang="zh-CN" altLang="en-US" b="1" dirty="0">
                <a:latin typeface="微软雅黑" panose="020B0503020204020204" pitchFamily="34" charset="-122"/>
                <a:ea typeface="微软雅黑" panose="020B0503020204020204" pitchFamily="34" charset="-122"/>
              </a:rPr>
              <a:t>）</a:t>
            </a:r>
            <a:r>
              <a:rPr lang="zh-CN" altLang="zh-CN" b="1" dirty="0">
                <a:latin typeface="微软雅黑" panose="020B0503020204020204" pitchFamily="34" charset="-122"/>
                <a:ea typeface="微软雅黑" panose="020B0503020204020204" pitchFamily="34" charset="-122"/>
              </a:rPr>
              <a:t> </a:t>
            </a:r>
            <a:r>
              <a:rPr lang="zh-CN" altLang="en-US" b="1" dirty="0">
                <a:latin typeface="微软雅黑" panose="020B0503020204020204" pitchFamily="34" charset="-122"/>
                <a:ea typeface="微软雅黑" panose="020B0503020204020204" pitchFamily="34" charset="-122"/>
              </a:rPr>
              <a:t>传递函数分析</a:t>
            </a:r>
            <a:endParaRPr lang="en-US" altLang="zh-CN" b="1" dirty="0">
              <a:latin typeface="微软雅黑" panose="020B0503020204020204" pitchFamily="34" charset="-122"/>
              <a:ea typeface="微软雅黑" panose="020B0503020204020204" pitchFamily="34" charset="-122"/>
            </a:endParaRPr>
          </a:p>
          <a:p>
            <a:pPr>
              <a:lnSpc>
                <a:spcPct val="125000"/>
              </a:lnSpc>
              <a:spcBef>
                <a:spcPct val="20000"/>
              </a:spcBef>
              <a:buClr>
                <a:schemeClr val="accent1"/>
              </a:buClr>
              <a:buSzPct val="100000"/>
              <a:defRPr/>
            </a:pPr>
            <a:r>
              <a:rPr lang="en-US" altLang="zh-CN" b="1"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传递函数分析（</a:t>
            </a:r>
            <a:r>
              <a:rPr lang="en-US" altLang="zh-CN" dirty="0">
                <a:latin typeface="微软雅黑" panose="020B0503020204020204" pitchFamily="34" charset="-122"/>
                <a:ea typeface="微软雅黑" panose="020B0503020204020204" pitchFamily="34" charset="-122"/>
              </a:rPr>
              <a:t>Transfer Function Analysis</a:t>
            </a:r>
            <a:r>
              <a:rPr lang="zh-CN" altLang="en-US" dirty="0">
                <a:latin typeface="微软雅黑" panose="020B0503020204020204" pitchFamily="34" charset="-122"/>
                <a:ea typeface="微软雅黑" panose="020B0503020204020204" pitchFamily="34" charset="-122"/>
              </a:rPr>
              <a:t>）方法是一种在交流小信号条件下的分析方法，在系统分析中有重要地位，它与系统结构框图及其相应的频响特性等关系密切。在电路窗口建立如图</a:t>
            </a:r>
            <a:r>
              <a:rPr lang="en-US" altLang="zh-CN" dirty="0">
                <a:latin typeface="微软雅黑" panose="020B0503020204020204" pitchFamily="34" charset="-122"/>
                <a:ea typeface="微软雅黑" panose="020B0503020204020204" pitchFamily="34" charset="-122"/>
              </a:rPr>
              <a:t>20</a:t>
            </a:r>
            <a:r>
              <a:rPr lang="zh-CN" altLang="en-US" dirty="0">
                <a:latin typeface="微软雅黑" panose="020B0503020204020204" pitchFamily="34" charset="-122"/>
                <a:ea typeface="微软雅黑" panose="020B0503020204020204" pitchFamily="34" charset="-122"/>
              </a:rPr>
              <a:t>所示的仿真电路。</a:t>
            </a:r>
            <a:endParaRPr lang="en-US" altLang="zh-CN" dirty="0">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2"/>
          <a:stretch>
            <a:fillRect/>
          </a:stretch>
        </p:blipFill>
        <p:spPr>
          <a:xfrm>
            <a:off x="2123728" y="2204864"/>
            <a:ext cx="4514850" cy="3190875"/>
          </a:xfrm>
          <a:prstGeom prst="rect">
            <a:avLst/>
          </a:prstGeom>
        </p:spPr>
      </p:pic>
      <p:sp>
        <p:nvSpPr>
          <p:cNvPr id="6" name="矩形 5"/>
          <p:cNvSpPr/>
          <p:nvPr/>
        </p:nvSpPr>
        <p:spPr>
          <a:xfrm>
            <a:off x="2987824" y="5805264"/>
            <a:ext cx="3199915" cy="369332"/>
          </a:xfrm>
          <a:prstGeom prst="rect">
            <a:avLst/>
          </a:prstGeom>
        </p:spPr>
        <p:txBody>
          <a:bodyPr wrap="none">
            <a:spAutoFit/>
          </a:bodyPr>
          <a:lstStyle/>
          <a:p>
            <a:pPr algn="ctr"/>
            <a:r>
              <a:rPr lang="zh-CN" altLang="en-US" dirty="0">
                <a:latin typeface="微软雅黑" panose="020B0503020204020204" pitchFamily="34" charset="-122"/>
                <a:ea typeface="微软雅黑" panose="020B0503020204020204" pitchFamily="34" charset="-122"/>
              </a:rPr>
              <a:t>图</a:t>
            </a:r>
            <a:r>
              <a:rPr lang="en-US" altLang="zh-CN" dirty="0">
                <a:latin typeface="微软雅黑" panose="020B0503020204020204" pitchFamily="34" charset="-122"/>
                <a:ea typeface="微软雅黑" panose="020B0503020204020204" pitchFamily="34" charset="-122"/>
              </a:rPr>
              <a:t>20   </a:t>
            </a:r>
            <a:r>
              <a:rPr lang="zh-CN" altLang="en-US" dirty="0">
                <a:latin typeface="微软雅黑" panose="020B0503020204020204" pitchFamily="34" charset="-122"/>
                <a:ea typeface="微软雅黑" panose="020B0503020204020204" pitchFamily="34" charset="-122"/>
              </a:rPr>
              <a:t>传递函数分析示例电路</a:t>
            </a:r>
            <a:endParaRPr lang="en-US" altLang="zh-CN" sz="32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945677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827584" y="404664"/>
            <a:ext cx="7344816" cy="784830"/>
          </a:xfrm>
          <a:prstGeom prst="rect">
            <a:avLst/>
          </a:prstGeom>
        </p:spPr>
        <p:txBody>
          <a:bodyPr wrap="square">
            <a:spAutoFit/>
          </a:bodyPr>
          <a:lstStyle/>
          <a:p>
            <a:pPr>
              <a:lnSpc>
                <a:spcPct val="125000"/>
              </a:lnSpc>
              <a:spcBef>
                <a:spcPct val="20000"/>
              </a:spcBef>
              <a:buClr>
                <a:schemeClr val="accent1"/>
              </a:buClr>
              <a:buSzPct val="100000"/>
              <a:defRPr/>
            </a:pPr>
            <a:r>
              <a:rPr lang="zh-CN" altLang="en-US" dirty="0">
                <a:latin typeface="微软雅黑" panose="020B0503020204020204" pitchFamily="34" charset="-122"/>
                <a:ea typeface="微软雅黑" panose="020B0503020204020204" pitchFamily="34" charset="-122"/>
              </a:rPr>
              <a:t>       执行</a:t>
            </a:r>
            <a:r>
              <a:rPr lang="en-US" altLang="zh-CN" dirty="0">
                <a:latin typeface="微软雅黑" panose="020B0503020204020204" pitchFamily="34" charset="-122"/>
                <a:ea typeface="微软雅黑" panose="020B0503020204020204" pitchFamily="34" charset="-122"/>
              </a:rPr>
              <a:t>Simulate\Analysis\Transfer function</a:t>
            </a:r>
            <a:r>
              <a:rPr lang="zh-CN" altLang="en-US" dirty="0">
                <a:latin typeface="微软雅黑" panose="020B0503020204020204" pitchFamily="34" charset="-122"/>
                <a:ea typeface="微软雅黑" panose="020B0503020204020204" pitchFamily="34" charset="-122"/>
              </a:rPr>
              <a:t>命令，打开传递函数分析对话框，如图</a:t>
            </a:r>
            <a:r>
              <a:rPr lang="en-US" altLang="zh-CN" dirty="0">
                <a:latin typeface="微软雅黑" panose="020B0503020204020204" pitchFamily="34" charset="-122"/>
                <a:ea typeface="微软雅黑" panose="020B0503020204020204" pitchFamily="34" charset="-122"/>
              </a:rPr>
              <a:t>21</a:t>
            </a:r>
            <a:r>
              <a:rPr lang="zh-CN" altLang="en-US" dirty="0">
                <a:latin typeface="微软雅黑" panose="020B0503020204020204" pitchFamily="34" charset="-122"/>
                <a:ea typeface="微软雅黑" panose="020B0503020204020204" pitchFamily="34" charset="-122"/>
              </a:rPr>
              <a:t>所示。</a:t>
            </a:r>
            <a:endParaRPr lang="zh-CN" altLang="en-US" dirty="0"/>
          </a:p>
        </p:txBody>
      </p:sp>
      <p:pic>
        <p:nvPicPr>
          <p:cNvPr id="5" name="图片 4"/>
          <p:cNvPicPr>
            <a:picLocks noChangeAspect="1"/>
          </p:cNvPicPr>
          <p:nvPr/>
        </p:nvPicPr>
        <p:blipFill>
          <a:blip r:embed="rId2"/>
          <a:stretch>
            <a:fillRect/>
          </a:stretch>
        </p:blipFill>
        <p:spPr>
          <a:xfrm>
            <a:off x="2411760" y="1189494"/>
            <a:ext cx="4536504" cy="4551753"/>
          </a:xfrm>
          <a:prstGeom prst="rect">
            <a:avLst/>
          </a:prstGeom>
        </p:spPr>
      </p:pic>
      <p:sp>
        <p:nvSpPr>
          <p:cNvPr id="6" name="矩形 5"/>
          <p:cNvSpPr/>
          <p:nvPr/>
        </p:nvSpPr>
        <p:spPr>
          <a:xfrm>
            <a:off x="3391272" y="5949280"/>
            <a:ext cx="2969082" cy="369332"/>
          </a:xfrm>
          <a:prstGeom prst="rect">
            <a:avLst/>
          </a:prstGeom>
        </p:spPr>
        <p:txBody>
          <a:bodyPr wrap="none">
            <a:spAutoFit/>
          </a:bodyPr>
          <a:lstStyle/>
          <a:p>
            <a:pPr algn="ctr"/>
            <a:r>
              <a:rPr lang="zh-CN" altLang="en-US" dirty="0">
                <a:latin typeface="微软雅黑" panose="020B0503020204020204" pitchFamily="34" charset="-122"/>
                <a:ea typeface="微软雅黑" panose="020B0503020204020204" pitchFamily="34" charset="-122"/>
              </a:rPr>
              <a:t>图</a:t>
            </a:r>
            <a:r>
              <a:rPr lang="en-US" altLang="zh-CN" dirty="0">
                <a:latin typeface="微软雅黑" panose="020B0503020204020204" pitchFamily="34" charset="-122"/>
                <a:ea typeface="微软雅黑" panose="020B0503020204020204" pitchFamily="34" charset="-122"/>
              </a:rPr>
              <a:t>21   </a:t>
            </a:r>
            <a:r>
              <a:rPr lang="zh-CN" altLang="en-US" dirty="0">
                <a:latin typeface="微软雅黑" panose="020B0503020204020204" pitchFamily="34" charset="-122"/>
                <a:ea typeface="微软雅黑" panose="020B0503020204020204" pitchFamily="34" charset="-122"/>
              </a:rPr>
              <a:t>传递函数分析对话框</a:t>
            </a:r>
            <a:endParaRPr lang="en-US" altLang="zh-CN" sz="32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4147512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51520" y="404664"/>
            <a:ext cx="8712968" cy="1477328"/>
          </a:xfrm>
          <a:prstGeom prst="rect">
            <a:avLst/>
          </a:prstGeom>
        </p:spPr>
        <p:txBody>
          <a:bodyPr wrap="square">
            <a:spAutoFit/>
          </a:bodyPr>
          <a:lstStyle/>
          <a:p>
            <a:pPr>
              <a:lnSpc>
                <a:spcPct val="125000"/>
              </a:lnSpc>
              <a:spcBef>
                <a:spcPct val="20000"/>
              </a:spcBef>
              <a:buClr>
                <a:schemeClr val="accent1"/>
              </a:buClr>
              <a:buSzPct val="100000"/>
              <a:defRPr/>
            </a:pPr>
            <a:r>
              <a:rPr lang="zh-CN" altLang="en-US" dirty="0">
                <a:latin typeface="微软雅黑" panose="020B0503020204020204" pitchFamily="34" charset="-122"/>
                <a:ea typeface="微软雅黑" panose="020B0503020204020204" pitchFamily="34" charset="-122"/>
              </a:rPr>
              <a:t>     该对话框中的“</a:t>
            </a:r>
            <a:r>
              <a:rPr lang="en-US" altLang="zh-CN" dirty="0">
                <a:latin typeface="微软雅黑" panose="020B0503020204020204" pitchFamily="34" charset="-122"/>
                <a:ea typeface="微软雅黑" panose="020B0503020204020204" pitchFamily="34" charset="-122"/>
              </a:rPr>
              <a:t>Analysis Parameters</a:t>
            </a:r>
            <a:r>
              <a:rPr lang="zh-CN" altLang="en-US" dirty="0">
                <a:latin typeface="微软雅黑" panose="020B0503020204020204" pitchFamily="34" charset="-122"/>
                <a:ea typeface="微软雅黑" panose="020B0503020204020204" pitchFamily="34" charset="-122"/>
              </a:rPr>
              <a:t>”选项卡包含以下内容。</a:t>
            </a:r>
            <a:endParaRPr lang="en-US" altLang="zh-CN" dirty="0">
              <a:latin typeface="微软雅黑" panose="020B0503020204020204" pitchFamily="34" charset="-122"/>
              <a:ea typeface="微软雅黑" panose="020B0503020204020204" pitchFamily="34" charset="-122"/>
            </a:endParaRPr>
          </a:p>
          <a:p>
            <a:pPr>
              <a:lnSpc>
                <a:spcPct val="125000"/>
              </a:lnSpc>
            </a:pPr>
            <a:r>
              <a:rPr lang="en-US" altLang="zh-CN" dirty="0">
                <a:latin typeface="微软雅黑" panose="020B0503020204020204" pitchFamily="34" charset="-122"/>
                <a:ea typeface="微软雅黑" panose="020B0503020204020204" pitchFamily="34" charset="-122"/>
              </a:rPr>
              <a:t>        1</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Input Source</a:t>
            </a:r>
            <a:r>
              <a:rPr lang="zh-CN"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选择所要分析的输入电源</a:t>
            </a:r>
            <a:r>
              <a:rPr lang="zh-CN" altLang="zh-CN"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a:lnSpc>
                <a:spcPct val="125000"/>
              </a:lnSpc>
            </a:pPr>
            <a:r>
              <a:rPr lang="en-US" altLang="zh-CN" dirty="0">
                <a:latin typeface="微软雅黑" panose="020B0503020204020204" pitchFamily="34" charset="-122"/>
                <a:ea typeface="微软雅黑" panose="020B0503020204020204" pitchFamily="34" charset="-122"/>
              </a:rPr>
              <a:t>        2</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Output nodes/sources</a:t>
            </a:r>
            <a:r>
              <a:rPr lang="zh-CN" altLang="en-US" dirty="0">
                <a:latin typeface="微软雅黑" panose="020B0503020204020204" pitchFamily="34" charset="-122"/>
                <a:ea typeface="微软雅黑" panose="020B0503020204020204" pitchFamily="34" charset="-122"/>
              </a:rPr>
              <a:t>：设置所要分析的对象。</a:t>
            </a:r>
            <a:endParaRPr lang="en-US" altLang="zh-CN" dirty="0">
              <a:latin typeface="微软雅黑" panose="020B0503020204020204" pitchFamily="34" charset="-122"/>
              <a:ea typeface="微软雅黑" panose="020B0503020204020204" pitchFamily="34" charset="-122"/>
            </a:endParaRPr>
          </a:p>
          <a:p>
            <a:pPr>
              <a:lnSpc>
                <a:spcPct val="125000"/>
              </a:lnSpc>
            </a:pPr>
            <a:r>
              <a:rPr lang="zh-CN" altLang="en-US" dirty="0">
                <a:latin typeface="微软雅黑" panose="020B0503020204020204" pitchFamily="34" charset="-122"/>
                <a:ea typeface="微软雅黑" panose="020B0503020204020204" pitchFamily="34" charset="-122"/>
              </a:rPr>
              <a:t>    设置完毕后，单击“</a:t>
            </a:r>
            <a:r>
              <a:rPr lang="en-US" altLang="zh-CN" dirty="0">
                <a:latin typeface="微软雅黑" panose="020B0503020204020204" pitchFamily="34" charset="-122"/>
                <a:ea typeface="微软雅黑" panose="020B0503020204020204" pitchFamily="34" charset="-122"/>
              </a:rPr>
              <a:t>Simulate</a:t>
            </a:r>
            <a:r>
              <a:rPr lang="zh-CN" altLang="en-US" dirty="0">
                <a:latin typeface="微软雅黑" panose="020B0503020204020204" pitchFamily="34" charset="-122"/>
                <a:ea typeface="微软雅黑" panose="020B0503020204020204" pitchFamily="34" charset="-122"/>
              </a:rPr>
              <a:t>”按钮，便会弹出如图</a:t>
            </a:r>
            <a:r>
              <a:rPr lang="en-US" altLang="zh-CN" dirty="0">
                <a:latin typeface="微软雅黑" panose="020B0503020204020204" pitchFamily="34" charset="-122"/>
                <a:ea typeface="微软雅黑" panose="020B0503020204020204" pitchFamily="34" charset="-122"/>
              </a:rPr>
              <a:t>22</a:t>
            </a:r>
            <a:r>
              <a:rPr lang="zh-CN" altLang="en-US" dirty="0">
                <a:latin typeface="微软雅黑" panose="020B0503020204020204" pitchFamily="34" charset="-122"/>
                <a:ea typeface="微软雅黑" panose="020B0503020204020204" pitchFamily="34" charset="-122"/>
              </a:rPr>
              <a:t>所示的仿真分析结果。</a:t>
            </a:r>
            <a:endParaRPr lang="zh-CN" altLang="en-US" dirty="0"/>
          </a:p>
        </p:txBody>
      </p:sp>
      <p:pic>
        <p:nvPicPr>
          <p:cNvPr id="5" name="图片 4"/>
          <p:cNvPicPr>
            <a:picLocks noChangeAspect="1"/>
          </p:cNvPicPr>
          <p:nvPr/>
        </p:nvPicPr>
        <p:blipFill>
          <a:blip r:embed="rId2"/>
          <a:stretch>
            <a:fillRect/>
          </a:stretch>
        </p:blipFill>
        <p:spPr>
          <a:xfrm>
            <a:off x="1642219" y="1881992"/>
            <a:ext cx="5931569" cy="4255735"/>
          </a:xfrm>
          <a:prstGeom prst="rect">
            <a:avLst/>
          </a:prstGeom>
        </p:spPr>
      </p:pic>
      <p:sp>
        <p:nvSpPr>
          <p:cNvPr id="6" name="矩形 5"/>
          <p:cNvSpPr/>
          <p:nvPr/>
        </p:nvSpPr>
        <p:spPr>
          <a:xfrm>
            <a:off x="3319264" y="6237312"/>
            <a:ext cx="2738249" cy="369332"/>
          </a:xfrm>
          <a:prstGeom prst="rect">
            <a:avLst/>
          </a:prstGeom>
        </p:spPr>
        <p:txBody>
          <a:bodyPr wrap="none">
            <a:spAutoFit/>
          </a:bodyPr>
          <a:lstStyle/>
          <a:p>
            <a:pPr algn="ctr"/>
            <a:r>
              <a:rPr lang="zh-CN" altLang="en-US" dirty="0">
                <a:latin typeface="微软雅黑" panose="020B0503020204020204" pitchFamily="34" charset="-122"/>
                <a:ea typeface="微软雅黑" panose="020B0503020204020204" pitchFamily="34" charset="-122"/>
              </a:rPr>
              <a:t>图</a:t>
            </a:r>
            <a:r>
              <a:rPr lang="en-US" altLang="zh-CN" dirty="0">
                <a:latin typeface="微软雅黑" panose="020B0503020204020204" pitchFamily="34" charset="-122"/>
                <a:ea typeface="微软雅黑" panose="020B0503020204020204" pitchFamily="34" charset="-122"/>
              </a:rPr>
              <a:t>22   </a:t>
            </a:r>
            <a:r>
              <a:rPr lang="zh-CN" altLang="en-US" dirty="0">
                <a:latin typeface="微软雅黑" panose="020B0503020204020204" pitchFamily="34" charset="-122"/>
                <a:ea typeface="微软雅黑" panose="020B0503020204020204" pitchFamily="34" charset="-122"/>
              </a:rPr>
              <a:t>传递函数分析结果</a:t>
            </a:r>
            <a:endParaRPr lang="en-US" altLang="zh-CN" sz="32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53724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51520" y="332656"/>
            <a:ext cx="5688632" cy="461665"/>
          </a:xfrm>
          <a:prstGeom prst="rect">
            <a:avLst/>
          </a:prstGeom>
        </p:spPr>
        <p:txBody>
          <a:bodyPr wrap="square">
            <a:spAutoFit/>
          </a:bodyPr>
          <a:lstStyle/>
          <a:p>
            <a:r>
              <a:rPr lang="en-US" altLang="zh-CN" sz="2400" b="1" dirty="0">
                <a:latin typeface="微软雅黑" panose="020B0503020204020204" pitchFamily="34" charset="-122"/>
                <a:ea typeface="微软雅黑" panose="020B0503020204020204" pitchFamily="34" charset="-122"/>
              </a:rPr>
              <a:t>5</a:t>
            </a:r>
            <a:r>
              <a:rPr lang="zh-CN" altLang="zh-CN" sz="2400" b="1" dirty="0">
                <a:latin typeface="微软雅黑" panose="020B0503020204020204" pitchFamily="34" charset="-122"/>
                <a:ea typeface="微软雅黑" panose="020B0503020204020204" pitchFamily="34" charset="-122"/>
              </a:rPr>
              <a:t>、</a:t>
            </a:r>
            <a:r>
              <a:rPr lang="en-US" altLang="zh-CN" sz="2400" b="1" dirty="0">
                <a:latin typeface="微软雅黑" panose="020B0503020204020204" pitchFamily="34" charset="-122"/>
                <a:ea typeface="微软雅黑" panose="020B0503020204020204" pitchFamily="34" charset="-122"/>
              </a:rPr>
              <a:t>Multisim</a:t>
            </a:r>
            <a:r>
              <a:rPr lang="zh-CN" altLang="en-US" sz="2400" b="1" dirty="0">
                <a:latin typeface="微软雅黑" panose="020B0503020204020204" pitchFamily="34" charset="-122"/>
                <a:ea typeface="微软雅黑" panose="020B0503020204020204" pitchFamily="34" charset="-122"/>
              </a:rPr>
              <a:t>的虚拟仪器使用方法简介</a:t>
            </a:r>
            <a:endParaRPr lang="zh-CN" altLang="zh-CN" sz="2400" b="1" dirty="0">
              <a:latin typeface="微软雅黑" panose="020B0503020204020204" pitchFamily="34" charset="-122"/>
              <a:ea typeface="微软雅黑" panose="020B0503020204020204" pitchFamily="34" charset="-122"/>
            </a:endParaRPr>
          </a:p>
        </p:txBody>
      </p:sp>
      <p:sp>
        <p:nvSpPr>
          <p:cNvPr id="5" name="矩形 4"/>
          <p:cNvSpPr/>
          <p:nvPr/>
        </p:nvSpPr>
        <p:spPr>
          <a:xfrm>
            <a:off x="683568" y="830169"/>
            <a:ext cx="8208912" cy="5618461"/>
          </a:xfrm>
          <a:prstGeom prst="rect">
            <a:avLst/>
          </a:prstGeom>
        </p:spPr>
        <p:txBody>
          <a:bodyPr wrap="square">
            <a:spAutoFit/>
          </a:bodyPr>
          <a:lstStyle/>
          <a:p>
            <a:pPr>
              <a:lnSpc>
                <a:spcPct val="125000"/>
              </a:lnSpc>
              <a:spcBef>
                <a:spcPct val="20000"/>
              </a:spcBef>
              <a:buClr>
                <a:schemeClr val="accent1"/>
              </a:buClr>
              <a:buSzPct val="100000"/>
              <a:defRPr/>
            </a:pPr>
            <a:r>
              <a:rPr lang="en-US" altLang="zh-CN" dirty="0">
                <a:latin typeface="微软雅黑" panose="020B0503020204020204" pitchFamily="34" charset="-122"/>
                <a:ea typeface="微软雅黑" panose="020B0503020204020204" pitchFamily="34" charset="-122"/>
              </a:rPr>
              <a:t>       Multisim 13.0</a:t>
            </a:r>
            <a:r>
              <a:rPr lang="zh-CN" altLang="zh-CN" dirty="0">
                <a:latin typeface="微软雅黑" panose="020B0503020204020204" pitchFamily="34" charset="-122"/>
                <a:ea typeface="微软雅黑" panose="020B0503020204020204" pitchFamily="34" charset="-122"/>
              </a:rPr>
              <a:t>提供了类型丰富的虚拟仪器，用户通过虚拟仪器可以分析运行结果，判断设计是否正确合理。从仪器工具栏或用菜单命令（</a:t>
            </a:r>
            <a:r>
              <a:rPr lang="en-US" altLang="zh-CN" dirty="0">
                <a:latin typeface="微软雅黑" panose="020B0503020204020204" pitchFamily="34" charset="-122"/>
                <a:ea typeface="微软雅黑" panose="020B0503020204020204" pitchFamily="34" charset="-122"/>
              </a:rPr>
              <a:t>Simulation/ instrument</a:t>
            </a:r>
            <a:r>
              <a:rPr lang="zh-CN" altLang="zh-CN" dirty="0">
                <a:latin typeface="微软雅黑" panose="020B0503020204020204" pitchFamily="34" charset="-122"/>
                <a:ea typeface="微软雅黑" panose="020B0503020204020204" pitchFamily="34" charset="-122"/>
              </a:rPr>
              <a:t>）选用这些虚拟仪器，被选用后，各种虚拟仪器都以面板的方式显示在电路中。</a:t>
            </a:r>
            <a:r>
              <a:rPr lang="en-US" altLang="zh-CN" dirty="0">
                <a:latin typeface="微软雅黑" panose="020B0503020204020204" pitchFamily="34" charset="-122"/>
                <a:ea typeface="微软雅黑" panose="020B0503020204020204" pitchFamily="34" charset="-122"/>
              </a:rPr>
              <a:t>  </a:t>
            </a:r>
          </a:p>
          <a:p>
            <a:pPr>
              <a:lnSpc>
                <a:spcPct val="125000"/>
              </a:lnSpc>
              <a:spcBef>
                <a:spcPct val="20000"/>
              </a:spcBef>
              <a:buClr>
                <a:schemeClr val="accent1"/>
              </a:buClr>
              <a:buSzPct val="100000"/>
              <a:defRPr/>
            </a:pPr>
            <a:r>
              <a:rPr lang="en-US" altLang="zh-CN" dirty="0">
                <a:latin typeface="微软雅黑" panose="020B0503020204020204" pitchFamily="34" charset="-122"/>
                <a:ea typeface="微软雅黑" panose="020B0503020204020204" pitchFamily="34" charset="-122"/>
              </a:rPr>
              <a:t>      </a:t>
            </a:r>
          </a:p>
          <a:p>
            <a:pPr>
              <a:lnSpc>
                <a:spcPct val="125000"/>
              </a:lnSpc>
              <a:spcBef>
                <a:spcPct val="20000"/>
              </a:spcBef>
              <a:buClr>
                <a:schemeClr val="accent1"/>
              </a:buClr>
              <a:buSzPct val="100000"/>
              <a:defRPr/>
            </a:pPr>
            <a:r>
              <a:rPr lang="en-US" altLang="zh-CN" dirty="0">
                <a:latin typeface="微软雅黑" panose="020B0503020204020204" pitchFamily="34" charset="-122"/>
                <a:ea typeface="微软雅黑" panose="020B0503020204020204" pitchFamily="34" charset="-122"/>
              </a:rPr>
              <a:t>     </a:t>
            </a:r>
          </a:p>
          <a:p>
            <a:pPr>
              <a:lnSpc>
                <a:spcPct val="125000"/>
              </a:lnSpc>
              <a:spcBef>
                <a:spcPct val="20000"/>
              </a:spcBef>
              <a:buClr>
                <a:schemeClr val="accent1"/>
              </a:buClr>
              <a:buSzPct val="100000"/>
              <a:defRPr/>
            </a:pPr>
            <a:r>
              <a:rPr lang="en-US" altLang="zh-CN" dirty="0">
                <a:latin typeface="微软雅黑" panose="020B0503020204020204" pitchFamily="34" charset="-122"/>
                <a:ea typeface="微软雅黑" panose="020B0503020204020204" pitchFamily="34" charset="-122"/>
              </a:rPr>
              <a:t>       </a:t>
            </a:r>
          </a:p>
          <a:p>
            <a:pPr>
              <a:lnSpc>
                <a:spcPct val="125000"/>
              </a:lnSpc>
              <a:spcBef>
                <a:spcPct val="20000"/>
              </a:spcBef>
              <a:buClr>
                <a:schemeClr val="accent1"/>
              </a:buClr>
              <a:buSzPct val="100000"/>
              <a:defRPr/>
            </a:pPr>
            <a:r>
              <a:rPr lang="en-US" altLang="zh-CN" dirty="0">
                <a:latin typeface="微软雅黑" panose="020B0503020204020204" pitchFamily="34" charset="-122"/>
                <a:ea typeface="微软雅黑" panose="020B0503020204020204" pitchFamily="34" charset="-122"/>
              </a:rPr>
              <a:t>       </a:t>
            </a:r>
            <a:r>
              <a:rPr lang="zh-CN" altLang="zh-CN" dirty="0">
                <a:latin typeface="微软雅黑" panose="020B0503020204020204" pitchFamily="34" charset="-122"/>
                <a:ea typeface="微软雅黑" panose="020B0503020204020204" pitchFamily="34" charset="-122"/>
              </a:rPr>
              <a:t>仪器工具栏从左到右分别为：数字万用表、函数信号发生器、瓦特表、双通道示波器、四通道示波器、波特图仪、频率计、字信号发生器、逻辑分析仪、逻辑转换仪、伏安特性分析仪、失真分析仪、频谱分析仪、网络分析仪、安捷伦函数发生器、安捷伦万用表、安捷伦示波器、泰克示波器、测量探针、</a:t>
            </a:r>
            <a:r>
              <a:rPr lang="en-US" altLang="zh-CN" dirty="0">
                <a:latin typeface="微软雅黑" panose="020B0503020204020204" pitchFamily="34" charset="-122"/>
                <a:ea typeface="微软雅黑" panose="020B0503020204020204" pitchFamily="34" charset="-122"/>
              </a:rPr>
              <a:t>LabVIEW</a:t>
            </a:r>
            <a:r>
              <a:rPr lang="zh-CN" altLang="zh-CN" dirty="0">
                <a:latin typeface="微软雅黑" panose="020B0503020204020204" pitchFamily="34" charset="-122"/>
                <a:ea typeface="微软雅黑" panose="020B0503020204020204" pitchFamily="34" charset="-122"/>
              </a:rPr>
              <a:t>虚拟仪器、</a:t>
            </a:r>
            <a:r>
              <a:rPr lang="en-US" altLang="zh-CN" dirty="0">
                <a:latin typeface="微软雅黑" panose="020B0503020204020204" pitchFamily="34" charset="-122"/>
                <a:ea typeface="微软雅黑" panose="020B0503020204020204" pitchFamily="34" charset="-122"/>
              </a:rPr>
              <a:t>NI ELVIS</a:t>
            </a:r>
            <a:r>
              <a:rPr lang="zh-CN" altLang="zh-CN" dirty="0">
                <a:latin typeface="微软雅黑" panose="020B0503020204020204" pitchFamily="34" charset="-122"/>
                <a:ea typeface="微软雅黑" panose="020B0503020204020204" pitchFamily="34" charset="-122"/>
              </a:rPr>
              <a:t>仪器工具、电流探针。</a:t>
            </a:r>
            <a:endParaRPr lang="en-US" altLang="zh-CN" dirty="0">
              <a:latin typeface="微软雅黑" panose="020B0503020204020204" pitchFamily="34" charset="-122"/>
              <a:ea typeface="微软雅黑" panose="020B0503020204020204" pitchFamily="34" charset="-122"/>
            </a:endParaRPr>
          </a:p>
          <a:p>
            <a:pPr>
              <a:lnSpc>
                <a:spcPct val="125000"/>
              </a:lnSpc>
              <a:spcBef>
                <a:spcPct val="20000"/>
              </a:spcBef>
              <a:buClr>
                <a:schemeClr val="accent1"/>
              </a:buClr>
              <a:buSzPct val="100000"/>
              <a:defRPr/>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下面以数字万用表、测量探针等为例演示虚拟仪器的使用方法，其他虚拟仪器请同学们在实验过程中学习。</a:t>
            </a:r>
            <a:endParaRPr lang="en-US" altLang="zh-CN" dirty="0">
              <a:latin typeface="微软雅黑" panose="020B0503020204020204" pitchFamily="34" charset="-122"/>
              <a:ea typeface="微软雅黑" panose="020B0503020204020204" pitchFamily="34" charset="-122"/>
            </a:endParaRPr>
          </a:p>
          <a:p>
            <a:pPr>
              <a:lnSpc>
                <a:spcPct val="125000"/>
              </a:lnSpc>
              <a:spcBef>
                <a:spcPct val="20000"/>
              </a:spcBef>
              <a:buClr>
                <a:schemeClr val="accent1"/>
              </a:buClr>
              <a:buSzPct val="100000"/>
              <a:defRPr/>
            </a:pPr>
            <a:endParaRPr lang="zh-CN" altLang="zh-CN" dirty="0">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2"/>
          <a:stretch>
            <a:fillRect/>
          </a:stretch>
        </p:blipFill>
        <p:spPr>
          <a:xfrm>
            <a:off x="678240" y="2741370"/>
            <a:ext cx="8208912" cy="560033"/>
          </a:xfrm>
          <a:prstGeom prst="rect">
            <a:avLst/>
          </a:prstGeom>
        </p:spPr>
      </p:pic>
    </p:spTree>
    <p:extLst>
      <p:ext uri="{BB962C8B-B14F-4D97-AF65-F5344CB8AC3E}">
        <p14:creationId xmlns:p14="http://schemas.microsoft.com/office/powerpoint/2010/main" val="36645036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p:cNvSpPr>
            <a:spLocks noGrp="1"/>
          </p:cNvSpPr>
          <p:nvPr>
            <p:ph idx="1"/>
          </p:nvPr>
        </p:nvSpPr>
        <p:spPr>
          <a:xfrm>
            <a:off x="251520" y="404664"/>
            <a:ext cx="8640960" cy="2304256"/>
          </a:xfrm>
        </p:spPr>
        <p:txBody>
          <a:bodyPr>
            <a:normAutofit/>
          </a:bodyPr>
          <a:lstStyle/>
          <a:p>
            <a:pPr marL="0" indent="0">
              <a:lnSpc>
                <a:spcPct val="125000"/>
              </a:lnSpc>
              <a:buFont typeface="Wingdings 2" panose="05020102010507070707" pitchFamily="18" charset="2"/>
              <a:buNone/>
              <a:defRPr/>
            </a:pPr>
            <a:r>
              <a:rPr lang="en-US" altLang="zh-CN" sz="1800" dirty="0">
                <a:latin typeface="微软雅黑" panose="020B0503020204020204" pitchFamily="34" charset="-122"/>
                <a:ea typeface="微软雅黑" panose="020B0503020204020204" pitchFamily="34" charset="-122"/>
              </a:rPr>
              <a:t>1</a:t>
            </a:r>
            <a:r>
              <a:rPr lang="zh-CN" altLang="en-US" sz="1800" dirty="0">
                <a:latin typeface="微软雅黑" panose="020B0503020204020204" pitchFamily="34" charset="-122"/>
                <a:ea typeface="微软雅黑" panose="020B0503020204020204" pitchFamily="34" charset="-122"/>
              </a:rPr>
              <a:t>）</a:t>
            </a:r>
            <a:r>
              <a:rPr lang="zh-CN" altLang="zh-CN" sz="1800" dirty="0">
                <a:latin typeface="微软雅黑" panose="020B0503020204020204" pitchFamily="34" charset="-122"/>
                <a:ea typeface="微软雅黑" panose="020B0503020204020204" pitchFamily="34" charset="-122"/>
              </a:rPr>
              <a:t>数字万用表</a:t>
            </a:r>
            <a:endParaRPr lang="en-US" altLang="zh-CN" sz="1800" dirty="0">
              <a:latin typeface="微软雅黑" panose="020B0503020204020204" pitchFamily="34" charset="-122"/>
              <a:ea typeface="微软雅黑" panose="020B0503020204020204" pitchFamily="34" charset="-122"/>
            </a:endParaRPr>
          </a:p>
          <a:p>
            <a:pPr marL="0" indent="0">
              <a:lnSpc>
                <a:spcPct val="125000"/>
              </a:lnSpc>
              <a:buFont typeface="Wingdings 2" panose="05020102010507070707" pitchFamily="18" charset="2"/>
              <a:buNone/>
              <a:defRPr/>
            </a:pPr>
            <a:r>
              <a:rPr lang="en-US" altLang="zh-CN" sz="1800" b="0" dirty="0">
                <a:latin typeface="微软雅黑" panose="020B0503020204020204" pitchFamily="34" charset="-122"/>
                <a:ea typeface="微软雅黑" panose="020B0503020204020204" pitchFamily="34" charset="-122"/>
              </a:rPr>
              <a:t>       Multisim 13.0 </a:t>
            </a:r>
            <a:r>
              <a:rPr lang="zh-CN" altLang="zh-CN" sz="1800" b="0" dirty="0">
                <a:latin typeface="微软雅黑" panose="020B0503020204020204" pitchFamily="34" charset="-122"/>
                <a:ea typeface="微软雅黑" panose="020B0503020204020204" pitchFamily="34" charset="-122"/>
              </a:rPr>
              <a:t>提供的万用表外观和操作与实际的万用表相似，但测量起来比实际的万用表功能更加强大，操作起来更加方便。可以测电流</a:t>
            </a:r>
            <a:r>
              <a:rPr lang="en-US" altLang="zh-CN" sz="1800" b="0" dirty="0">
                <a:latin typeface="微软雅黑" panose="020B0503020204020204" pitchFamily="34" charset="-122"/>
                <a:ea typeface="微软雅黑" panose="020B0503020204020204" pitchFamily="34" charset="-122"/>
              </a:rPr>
              <a:t>A</a:t>
            </a:r>
            <a:r>
              <a:rPr lang="zh-CN" altLang="zh-CN" sz="1800" b="0" dirty="0">
                <a:latin typeface="微软雅黑" panose="020B0503020204020204" pitchFamily="34" charset="-122"/>
                <a:ea typeface="微软雅黑" panose="020B0503020204020204" pitchFamily="34" charset="-122"/>
              </a:rPr>
              <a:t>、电压</a:t>
            </a:r>
            <a:r>
              <a:rPr lang="en-US" altLang="zh-CN" sz="1800" b="0" dirty="0">
                <a:latin typeface="微软雅黑" panose="020B0503020204020204" pitchFamily="34" charset="-122"/>
                <a:ea typeface="微软雅黑" panose="020B0503020204020204" pitchFamily="34" charset="-122"/>
              </a:rPr>
              <a:t>V</a:t>
            </a:r>
            <a:r>
              <a:rPr lang="zh-CN" altLang="zh-CN" sz="1800" b="0" dirty="0">
                <a:latin typeface="微软雅黑" panose="020B0503020204020204" pitchFamily="34" charset="-122"/>
                <a:ea typeface="微软雅黑" panose="020B0503020204020204" pitchFamily="34" charset="-122"/>
              </a:rPr>
              <a:t>、电阻</a:t>
            </a:r>
            <a:r>
              <a:rPr lang="en-US" altLang="zh-CN" sz="1800" b="0" dirty="0">
                <a:latin typeface="微软雅黑" panose="020B0503020204020204" pitchFamily="34" charset="-122"/>
                <a:ea typeface="微软雅黑" panose="020B0503020204020204" pitchFamily="34" charset="-122"/>
              </a:rPr>
              <a:t>Ω</a:t>
            </a:r>
            <a:r>
              <a:rPr lang="zh-CN" altLang="zh-CN" sz="1800" b="0" dirty="0">
                <a:latin typeface="微软雅黑" panose="020B0503020204020204" pitchFamily="34" charset="-122"/>
                <a:ea typeface="微软雅黑" panose="020B0503020204020204" pitchFamily="34" charset="-122"/>
              </a:rPr>
              <a:t>和分贝值</a:t>
            </a:r>
            <a:r>
              <a:rPr lang="en-US" altLang="zh-CN" sz="1800" b="0" dirty="0" err="1">
                <a:latin typeface="微软雅黑" panose="020B0503020204020204" pitchFamily="34" charset="-122"/>
                <a:ea typeface="微软雅黑" panose="020B0503020204020204" pitchFamily="34" charset="-122"/>
              </a:rPr>
              <a:t>db</a:t>
            </a:r>
            <a:r>
              <a:rPr lang="zh-CN" altLang="zh-CN" sz="1800" b="0" dirty="0">
                <a:latin typeface="微软雅黑" panose="020B0503020204020204" pitchFamily="34" charset="-122"/>
                <a:ea typeface="微软雅黑" panose="020B0503020204020204" pitchFamily="34" charset="-122"/>
              </a:rPr>
              <a:t>，测直流信号或交流信号。 </a:t>
            </a:r>
            <a:endParaRPr lang="en-US" altLang="zh-CN" sz="1800" b="0" dirty="0">
              <a:latin typeface="微软雅黑" panose="020B0503020204020204" pitchFamily="34" charset="-122"/>
              <a:ea typeface="微软雅黑" panose="020B0503020204020204" pitchFamily="34" charset="-122"/>
            </a:endParaRPr>
          </a:p>
          <a:p>
            <a:pPr marL="0" indent="0">
              <a:lnSpc>
                <a:spcPct val="125000"/>
              </a:lnSpc>
              <a:buFont typeface="Wingdings 2" panose="05020102010507070707" pitchFamily="18" charset="2"/>
              <a:buNone/>
              <a:defRPr/>
            </a:pPr>
            <a:r>
              <a:rPr lang="en-US" altLang="zh-CN" sz="1800" b="0" dirty="0">
                <a:latin typeface="微软雅黑" panose="020B0503020204020204" pitchFamily="34" charset="-122"/>
                <a:ea typeface="微软雅黑" panose="020B0503020204020204" pitchFamily="34" charset="-122"/>
              </a:rPr>
              <a:t>      </a:t>
            </a:r>
            <a:r>
              <a:rPr lang="zh-CN" altLang="zh-CN" sz="1800" b="0" dirty="0">
                <a:latin typeface="微软雅黑" panose="020B0503020204020204" pitchFamily="34" charset="-122"/>
                <a:ea typeface="微软雅黑" panose="020B0503020204020204" pitchFamily="34" charset="-122"/>
              </a:rPr>
              <a:t>在仪器栏选中数字万用表后，双击数字万用表图标，弹出如图</a:t>
            </a:r>
            <a:r>
              <a:rPr lang="en-US" altLang="zh-CN" sz="1800" b="0" dirty="0">
                <a:latin typeface="微软雅黑" panose="020B0503020204020204" pitchFamily="34" charset="-122"/>
                <a:ea typeface="微软雅黑" panose="020B0503020204020204" pitchFamily="34" charset="-122"/>
              </a:rPr>
              <a:t>23</a:t>
            </a:r>
            <a:r>
              <a:rPr lang="zh-CN" altLang="zh-CN" sz="1800" b="0" dirty="0">
                <a:latin typeface="微软雅黑" panose="020B0503020204020204" pitchFamily="34" charset="-122"/>
                <a:ea typeface="微软雅黑" panose="020B0503020204020204" pitchFamily="34" charset="-122"/>
              </a:rPr>
              <a:t>所示的数字万用表的面板。</a:t>
            </a:r>
            <a:endParaRPr lang="en-US" altLang="zh-CN" sz="1800" b="0" dirty="0">
              <a:latin typeface="微软雅黑" panose="020B0503020204020204" pitchFamily="34" charset="-122"/>
              <a:ea typeface="微软雅黑" panose="020B0503020204020204" pitchFamily="34" charset="-122"/>
            </a:endParaRPr>
          </a:p>
          <a:p>
            <a:pPr marL="0" indent="0">
              <a:buFont typeface="Wingdings 2" panose="05020102010507070707" pitchFamily="18" charset="2"/>
              <a:buNone/>
            </a:pPr>
            <a:endParaRPr lang="zh-CN" altLang="zh-CN" sz="2400" dirty="0"/>
          </a:p>
          <a:p>
            <a:pPr marL="0" indent="0" eaLnBrk="1" hangingPunct="1">
              <a:buFont typeface="Wingdings 2" panose="05020102010507070707" pitchFamily="18" charset="2"/>
              <a:buNone/>
            </a:pPr>
            <a:endParaRPr lang="en-US" altLang="zh-CN" sz="2000" dirty="0"/>
          </a:p>
          <a:p>
            <a:pPr marL="0" indent="0" eaLnBrk="1" hangingPunct="1">
              <a:buFont typeface="Wingdings 2" panose="05020102010507070707" pitchFamily="18" charset="2"/>
              <a:buNone/>
            </a:pPr>
            <a:endParaRPr lang="en-US" altLang="zh-CN" dirty="0"/>
          </a:p>
          <a:p>
            <a:pPr marL="0" indent="0" eaLnBrk="1" hangingPunct="1">
              <a:buFont typeface="Wingdings 2" panose="05020102010507070707" pitchFamily="18" charset="2"/>
              <a:buNone/>
            </a:pPr>
            <a:endParaRPr lang="en-US" altLang="zh-CN" dirty="0"/>
          </a:p>
          <a:p>
            <a:pPr marL="0" indent="0" eaLnBrk="1" hangingPunct="1">
              <a:buFont typeface="Wingdings 2" panose="05020102010507070707" pitchFamily="18" charset="2"/>
              <a:buNone/>
            </a:pPr>
            <a:endParaRPr lang="en-US" altLang="zh-CN" dirty="0"/>
          </a:p>
          <a:p>
            <a:pPr marL="0" indent="0" eaLnBrk="1" hangingPunct="1">
              <a:buFont typeface="Wingdings 2" panose="05020102010507070707" pitchFamily="18" charset="2"/>
              <a:buNone/>
            </a:pPr>
            <a:endParaRPr lang="en-US" altLang="zh-CN" dirty="0"/>
          </a:p>
          <a:p>
            <a:pPr marL="0" indent="0" eaLnBrk="1" hangingPunct="1">
              <a:buFont typeface="Wingdings 2" panose="05020102010507070707" pitchFamily="18" charset="2"/>
              <a:buNone/>
            </a:pPr>
            <a:endParaRPr lang="en-US" altLang="zh-CN" dirty="0"/>
          </a:p>
        </p:txBody>
      </p:sp>
      <p:pic>
        <p:nvPicPr>
          <p:cNvPr id="6" name="图片 5"/>
          <p:cNvPicPr>
            <a:picLocks noChangeAspect="1"/>
          </p:cNvPicPr>
          <p:nvPr/>
        </p:nvPicPr>
        <p:blipFill>
          <a:blip r:embed="rId2"/>
          <a:stretch>
            <a:fillRect/>
          </a:stretch>
        </p:blipFill>
        <p:spPr>
          <a:xfrm>
            <a:off x="2267744" y="2564904"/>
            <a:ext cx="4224883" cy="3506482"/>
          </a:xfrm>
          <a:prstGeom prst="rect">
            <a:avLst/>
          </a:prstGeom>
        </p:spPr>
      </p:pic>
      <p:sp>
        <p:nvSpPr>
          <p:cNvPr id="7" name="矩形 6"/>
          <p:cNvSpPr/>
          <p:nvPr/>
        </p:nvSpPr>
        <p:spPr>
          <a:xfrm>
            <a:off x="3707904" y="6165304"/>
            <a:ext cx="1907895" cy="369332"/>
          </a:xfrm>
          <a:prstGeom prst="rect">
            <a:avLst/>
          </a:prstGeom>
        </p:spPr>
        <p:txBody>
          <a:bodyPr wrap="none">
            <a:spAutoFit/>
          </a:bodyPr>
          <a:lstStyle/>
          <a:p>
            <a:pPr algn="ctr"/>
            <a:r>
              <a:rPr lang="zh-CN" altLang="en-US" dirty="0">
                <a:latin typeface="微软雅黑" panose="020B0503020204020204" pitchFamily="34" charset="-122"/>
                <a:ea typeface="微软雅黑" panose="020B0503020204020204" pitchFamily="34" charset="-122"/>
              </a:rPr>
              <a:t>图</a:t>
            </a:r>
            <a:r>
              <a:rPr lang="en-US" altLang="zh-CN" dirty="0">
                <a:latin typeface="微软雅黑" panose="020B0503020204020204" pitchFamily="34" charset="-122"/>
                <a:ea typeface="微软雅黑" panose="020B0503020204020204" pitchFamily="34" charset="-122"/>
              </a:rPr>
              <a:t>23 </a:t>
            </a:r>
            <a:r>
              <a:rPr lang="zh-CN" altLang="en-US" dirty="0">
                <a:latin typeface="微软雅黑" panose="020B0503020204020204" pitchFamily="34" charset="-122"/>
                <a:ea typeface="微软雅黑" panose="020B0503020204020204" pitchFamily="34" charset="-122"/>
              </a:rPr>
              <a:t>万用表面板</a:t>
            </a:r>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9611529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539552" y="870471"/>
            <a:ext cx="7992888" cy="784830"/>
          </a:xfrm>
          <a:prstGeom prst="rect">
            <a:avLst/>
          </a:prstGeom>
        </p:spPr>
        <p:txBody>
          <a:bodyPr wrap="square">
            <a:spAutoFit/>
          </a:bodyPr>
          <a:lstStyle/>
          <a:p>
            <a:pPr>
              <a:lnSpc>
                <a:spcPct val="125000"/>
              </a:lnSpc>
              <a:spcBef>
                <a:spcPct val="20000"/>
              </a:spcBef>
              <a:buClr>
                <a:schemeClr val="accent1"/>
              </a:buClr>
              <a:buSzPct val="100000"/>
              <a:defRPr/>
            </a:pPr>
            <a:r>
              <a:rPr lang="en-US" altLang="zh-CN" dirty="0">
                <a:latin typeface="微软雅黑" panose="020B0503020204020204" pitchFamily="34" charset="-122"/>
                <a:ea typeface="微软雅黑" panose="020B0503020204020204" pitchFamily="34" charset="-122"/>
              </a:rPr>
              <a:t>      </a:t>
            </a:r>
            <a:r>
              <a:rPr lang="zh-CN" altLang="zh-CN" dirty="0">
                <a:latin typeface="微软雅黑" panose="020B0503020204020204" pitchFamily="34" charset="-122"/>
                <a:ea typeface="微软雅黑" panose="020B0503020204020204" pitchFamily="34" charset="-122"/>
              </a:rPr>
              <a:t>单击</a:t>
            </a:r>
            <a:r>
              <a:rPr lang="en-US" altLang="zh-CN" dirty="0">
                <a:latin typeface="微软雅黑" panose="020B0503020204020204" pitchFamily="34" charset="-122"/>
                <a:ea typeface="微软雅黑" panose="020B0503020204020204" pitchFamily="34" charset="-122"/>
              </a:rPr>
              <a:t>Set</a:t>
            </a:r>
            <a:r>
              <a:rPr lang="zh-CN" altLang="zh-CN" dirty="0">
                <a:latin typeface="微软雅黑" panose="020B0503020204020204" pitchFamily="34" charset="-122"/>
                <a:ea typeface="微软雅黑" panose="020B0503020204020204" pitchFamily="34" charset="-122"/>
              </a:rPr>
              <a:t>按钮，弹出如图</a:t>
            </a:r>
            <a:r>
              <a:rPr lang="en-US" altLang="zh-CN" dirty="0">
                <a:latin typeface="微软雅黑" panose="020B0503020204020204" pitchFamily="34" charset="-122"/>
                <a:ea typeface="微软雅黑" panose="020B0503020204020204" pitchFamily="34" charset="-122"/>
              </a:rPr>
              <a:t>24</a:t>
            </a:r>
            <a:r>
              <a:rPr lang="zh-CN" altLang="zh-CN" dirty="0">
                <a:latin typeface="微软雅黑" panose="020B0503020204020204" pitchFamily="34" charset="-122"/>
                <a:ea typeface="微软雅黑" panose="020B0503020204020204" pitchFamily="34" charset="-122"/>
              </a:rPr>
              <a:t>所示的</a:t>
            </a:r>
            <a:r>
              <a:rPr lang="en-US" altLang="zh-CN" dirty="0" err="1">
                <a:latin typeface="微软雅黑" panose="020B0503020204020204" pitchFamily="34" charset="-122"/>
                <a:ea typeface="微软雅黑" panose="020B0503020204020204" pitchFamily="34" charset="-122"/>
              </a:rPr>
              <a:t>Multimeter</a:t>
            </a:r>
            <a:r>
              <a:rPr lang="en-US" altLang="zh-CN" dirty="0">
                <a:latin typeface="微软雅黑" panose="020B0503020204020204" pitchFamily="34" charset="-122"/>
                <a:ea typeface="微软雅黑" panose="020B0503020204020204" pitchFamily="34" charset="-122"/>
              </a:rPr>
              <a:t> Settings</a:t>
            </a:r>
            <a:r>
              <a:rPr lang="zh-CN" altLang="zh-CN" dirty="0">
                <a:latin typeface="微软雅黑" panose="020B0503020204020204" pitchFamily="34" charset="-122"/>
                <a:ea typeface="微软雅黑" panose="020B0503020204020204" pitchFamily="34" charset="-122"/>
              </a:rPr>
              <a:t>（万用表设置）对话框，从中可以对数字万用表的内部参数进行设置。</a:t>
            </a:r>
            <a:endParaRPr lang="en-US" altLang="zh-CN" dirty="0">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2"/>
          <a:stretch>
            <a:fillRect/>
          </a:stretch>
        </p:blipFill>
        <p:spPr>
          <a:xfrm>
            <a:off x="1187624" y="2204864"/>
            <a:ext cx="4019550" cy="3514725"/>
          </a:xfrm>
          <a:prstGeom prst="rect">
            <a:avLst/>
          </a:prstGeom>
        </p:spPr>
      </p:pic>
      <p:sp>
        <p:nvSpPr>
          <p:cNvPr id="6" name="矩形 5"/>
          <p:cNvSpPr/>
          <p:nvPr/>
        </p:nvSpPr>
        <p:spPr>
          <a:xfrm>
            <a:off x="5207174" y="2755825"/>
            <a:ext cx="3851920" cy="1200329"/>
          </a:xfrm>
          <a:prstGeom prst="rect">
            <a:avLst/>
          </a:prstGeom>
        </p:spPr>
        <p:txBody>
          <a:bodyPr wrap="square">
            <a:spAutoFit/>
          </a:bodyPr>
          <a:lstStyle/>
          <a:p>
            <a:r>
              <a:rPr lang="zh-CN" altLang="zh-CN" dirty="0">
                <a:latin typeface="微软雅黑" panose="020B0503020204020204" pitchFamily="34" charset="-122"/>
                <a:ea typeface="微软雅黑" panose="020B0503020204020204" pitchFamily="34" charset="-122"/>
              </a:rPr>
              <a:t>设置测试电流时表头的内阻。</a:t>
            </a:r>
          </a:p>
          <a:p>
            <a:r>
              <a:rPr lang="zh-CN" altLang="zh-CN" dirty="0">
                <a:latin typeface="微软雅黑" panose="020B0503020204020204" pitchFamily="34" charset="-122"/>
                <a:ea typeface="微软雅黑" panose="020B0503020204020204" pitchFamily="34" charset="-122"/>
              </a:rPr>
              <a:t>设置测试电压时表头的内阻。</a:t>
            </a:r>
          </a:p>
          <a:p>
            <a:r>
              <a:rPr lang="zh-CN" altLang="zh-CN" dirty="0">
                <a:latin typeface="微软雅黑" panose="020B0503020204020204" pitchFamily="34" charset="-122"/>
                <a:ea typeface="微软雅黑" panose="020B0503020204020204" pitchFamily="34" charset="-122"/>
              </a:rPr>
              <a:t>设置测试电阻时流过表头的电流值。</a:t>
            </a:r>
          </a:p>
          <a:p>
            <a:r>
              <a:rPr lang="zh-CN" altLang="zh-CN" dirty="0">
                <a:latin typeface="微软雅黑" panose="020B0503020204020204" pitchFamily="34" charset="-122"/>
                <a:ea typeface="微软雅黑" panose="020B0503020204020204" pitchFamily="34" charset="-122"/>
              </a:rPr>
              <a:t>设置分贝相对值。</a:t>
            </a:r>
            <a:r>
              <a:rPr lang="en-US" altLang="zh-CN" dirty="0">
                <a:latin typeface="微软雅黑" panose="020B0503020204020204" pitchFamily="34" charset="-122"/>
                <a:ea typeface="微软雅黑" panose="020B0503020204020204" pitchFamily="34" charset="-122"/>
              </a:rPr>
              <a:t>     </a:t>
            </a:r>
            <a:endParaRPr lang="zh-CN" altLang="en-US" dirty="0">
              <a:latin typeface="微软雅黑" panose="020B0503020204020204" pitchFamily="34" charset="-122"/>
              <a:ea typeface="微软雅黑" panose="020B0503020204020204" pitchFamily="34" charset="-122"/>
            </a:endParaRPr>
          </a:p>
        </p:txBody>
      </p:sp>
      <p:sp>
        <p:nvSpPr>
          <p:cNvPr id="7" name="矩形 6"/>
          <p:cNvSpPr/>
          <p:nvPr/>
        </p:nvSpPr>
        <p:spPr>
          <a:xfrm>
            <a:off x="5207174" y="4149080"/>
            <a:ext cx="2893218" cy="923330"/>
          </a:xfrm>
          <a:prstGeom prst="rect">
            <a:avLst/>
          </a:prstGeom>
        </p:spPr>
        <p:txBody>
          <a:bodyPr wrap="square">
            <a:spAutoFit/>
          </a:bodyPr>
          <a:lstStyle/>
          <a:p>
            <a:r>
              <a:rPr lang="zh-CN" altLang="zh-CN" dirty="0">
                <a:latin typeface="微软雅黑" panose="020B0503020204020204" pitchFamily="34" charset="-122"/>
                <a:ea typeface="微软雅黑" panose="020B0503020204020204" pitchFamily="34" charset="-122"/>
              </a:rPr>
              <a:t>设置电流表的测量范围。</a:t>
            </a:r>
          </a:p>
          <a:p>
            <a:r>
              <a:rPr lang="zh-CN" altLang="zh-CN" dirty="0">
                <a:latin typeface="微软雅黑" panose="020B0503020204020204" pitchFamily="34" charset="-122"/>
                <a:ea typeface="微软雅黑" panose="020B0503020204020204" pitchFamily="34" charset="-122"/>
              </a:rPr>
              <a:t>设置电压表的测量范围。</a:t>
            </a:r>
          </a:p>
          <a:p>
            <a:r>
              <a:rPr lang="zh-CN" altLang="zh-CN" dirty="0">
                <a:latin typeface="微软雅黑" panose="020B0503020204020204" pitchFamily="34" charset="-122"/>
                <a:ea typeface="微软雅黑" panose="020B0503020204020204" pitchFamily="34" charset="-122"/>
              </a:rPr>
              <a:t>设置欧姆表的测量范围。</a:t>
            </a:r>
          </a:p>
        </p:txBody>
      </p:sp>
      <p:sp>
        <p:nvSpPr>
          <p:cNvPr id="8" name="矩形 7"/>
          <p:cNvSpPr/>
          <p:nvPr/>
        </p:nvSpPr>
        <p:spPr>
          <a:xfrm>
            <a:off x="3389850" y="6242486"/>
            <a:ext cx="1907895" cy="369332"/>
          </a:xfrm>
          <a:prstGeom prst="rect">
            <a:avLst/>
          </a:prstGeom>
        </p:spPr>
        <p:txBody>
          <a:bodyPr wrap="none">
            <a:spAutoFit/>
          </a:bodyPr>
          <a:lstStyle/>
          <a:p>
            <a:pPr algn="ctr"/>
            <a:r>
              <a:rPr lang="zh-CN" altLang="en-US" dirty="0">
                <a:latin typeface="微软雅黑" panose="020B0503020204020204" pitchFamily="34" charset="-122"/>
                <a:ea typeface="微软雅黑" panose="020B0503020204020204" pitchFamily="34" charset="-122"/>
              </a:rPr>
              <a:t>图</a:t>
            </a:r>
            <a:r>
              <a:rPr lang="en-US" altLang="zh-CN" dirty="0">
                <a:latin typeface="微软雅黑" panose="020B0503020204020204" pitchFamily="34" charset="-122"/>
                <a:ea typeface="微软雅黑" panose="020B0503020204020204" pitchFamily="34" charset="-122"/>
              </a:rPr>
              <a:t>24 </a:t>
            </a:r>
            <a:r>
              <a:rPr lang="zh-CN" altLang="en-US" dirty="0">
                <a:latin typeface="微软雅黑" panose="020B0503020204020204" pitchFamily="34" charset="-122"/>
                <a:ea typeface="微软雅黑" panose="020B0503020204020204" pitchFamily="34" charset="-122"/>
              </a:rPr>
              <a:t>万用表设置</a:t>
            </a:r>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0751776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51520" y="260648"/>
            <a:ext cx="8640960" cy="2862322"/>
          </a:xfrm>
          <a:prstGeom prst="rect">
            <a:avLst/>
          </a:prstGeom>
        </p:spPr>
        <p:txBody>
          <a:bodyPr wrap="square">
            <a:spAutoFit/>
          </a:bodyPr>
          <a:lstStyle/>
          <a:p>
            <a:pPr>
              <a:lnSpc>
                <a:spcPct val="125000"/>
              </a:lnSpc>
              <a:spcBef>
                <a:spcPct val="20000"/>
              </a:spcBef>
              <a:buClr>
                <a:schemeClr val="accent1"/>
              </a:buClr>
              <a:buSzPct val="100000"/>
              <a:defRPr/>
            </a:pPr>
            <a:r>
              <a:rPr lang="en-US" altLang="zh-CN" b="1" dirty="0">
                <a:latin typeface="微软雅黑" panose="020B0503020204020204" pitchFamily="34" charset="-122"/>
                <a:ea typeface="微软雅黑" panose="020B0503020204020204" pitchFamily="34" charset="-122"/>
              </a:rPr>
              <a:t>2</a:t>
            </a:r>
            <a:r>
              <a:rPr lang="zh-CN" altLang="en-US" b="1" dirty="0">
                <a:latin typeface="微软雅黑" panose="020B0503020204020204" pitchFamily="34" charset="-122"/>
                <a:ea typeface="微软雅黑" panose="020B0503020204020204" pitchFamily="34" charset="-122"/>
              </a:rPr>
              <a:t>）</a:t>
            </a:r>
            <a:r>
              <a:rPr lang="zh-CN" altLang="zh-CN" b="1" dirty="0">
                <a:latin typeface="微软雅黑" panose="020B0503020204020204" pitchFamily="34" charset="-122"/>
                <a:ea typeface="微软雅黑" panose="020B0503020204020204" pitchFamily="34" charset="-122"/>
              </a:rPr>
              <a:t>函数信号发生器</a:t>
            </a:r>
          </a:p>
          <a:p>
            <a:pPr>
              <a:lnSpc>
                <a:spcPct val="125000"/>
              </a:lnSpc>
            </a:pPr>
            <a:r>
              <a:rPr lang="en-US" altLang="zh-CN" dirty="0"/>
              <a:t>      </a:t>
            </a:r>
            <a:r>
              <a:rPr lang="zh-CN" altLang="zh-CN" dirty="0">
                <a:latin typeface="微软雅黑" panose="020B0503020204020204" pitchFamily="34" charset="-122"/>
                <a:ea typeface="微软雅黑" panose="020B0503020204020204" pitchFamily="34" charset="-122"/>
              </a:rPr>
              <a:t>函数信号发生器可模拟在实际工作中使用的待测设备的激励信号，在电路实验、信号测试、调试电子电路及设备时具有十分广泛的用途。</a:t>
            </a:r>
            <a:r>
              <a:rPr lang="en-US" altLang="zh-CN" dirty="0">
                <a:latin typeface="微软雅黑" panose="020B0503020204020204" pitchFamily="34" charset="-122"/>
                <a:ea typeface="微软雅黑" panose="020B0503020204020204" pitchFamily="34" charset="-122"/>
              </a:rPr>
              <a:t>Multisim 12.0</a:t>
            </a:r>
            <a:r>
              <a:rPr lang="zh-CN" altLang="zh-CN" dirty="0">
                <a:latin typeface="微软雅黑" panose="020B0503020204020204" pitchFamily="34" charset="-122"/>
                <a:ea typeface="微软雅黑" panose="020B0503020204020204" pitchFamily="34" charset="-122"/>
              </a:rPr>
              <a:t>提供的函数发生器可以产生正弦波、三角波和矩形波，信号频率可在</a:t>
            </a:r>
            <a:r>
              <a:rPr lang="en-US" altLang="zh-CN" dirty="0">
                <a:latin typeface="微软雅黑" panose="020B0503020204020204" pitchFamily="34" charset="-122"/>
                <a:ea typeface="微软雅黑" panose="020B0503020204020204" pitchFamily="34" charset="-122"/>
              </a:rPr>
              <a:t>1Hz</a:t>
            </a:r>
            <a:r>
              <a:rPr lang="zh-CN" altLang="zh-CN" dirty="0">
                <a:latin typeface="微软雅黑" panose="020B0503020204020204" pitchFamily="34" charset="-122"/>
                <a:ea typeface="微软雅黑" panose="020B0503020204020204" pitchFamily="34" charset="-122"/>
              </a:rPr>
              <a:t>到</a:t>
            </a:r>
            <a:r>
              <a:rPr lang="en-US" altLang="zh-CN" dirty="0">
                <a:latin typeface="微软雅黑" panose="020B0503020204020204" pitchFamily="34" charset="-122"/>
                <a:ea typeface="微软雅黑" panose="020B0503020204020204" pitchFamily="34" charset="-122"/>
              </a:rPr>
              <a:t>999MHz</a:t>
            </a:r>
            <a:r>
              <a:rPr lang="zh-CN" altLang="zh-CN" dirty="0">
                <a:latin typeface="微软雅黑" panose="020B0503020204020204" pitchFamily="34" charset="-122"/>
                <a:ea typeface="微软雅黑" panose="020B0503020204020204" pitchFamily="34" charset="-122"/>
              </a:rPr>
              <a:t>范围内调整。信号的幅值以及占空比等参数也可以根据需要进行调节。信号发生器有三个引线端口：负极、正极和公共端。 </a:t>
            </a:r>
            <a:endParaRPr lang="en-US" altLang="zh-CN" dirty="0">
              <a:latin typeface="微软雅黑" panose="020B0503020204020204" pitchFamily="34" charset="-122"/>
              <a:ea typeface="微软雅黑" panose="020B0503020204020204" pitchFamily="34" charset="-122"/>
            </a:endParaRPr>
          </a:p>
          <a:p>
            <a:pPr>
              <a:lnSpc>
                <a:spcPct val="125000"/>
              </a:lnSpc>
            </a:pPr>
            <a:r>
              <a:rPr lang="zh-CN" altLang="en-US" dirty="0">
                <a:latin typeface="微软雅黑" panose="020B0503020204020204" pitchFamily="34" charset="-122"/>
                <a:ea typeface="微软雅黑" panose="020B0503020204020204" pitchFamily="34" charset="-122"/>
              </a:rPr>
              <a:t>       双击函数信号发生器图标，弹出函数信号发生器的参数设置控制面板，如图</a:t>
            </a:r>
            <a:r>
              <a:rPr lang="en-US" altLang="zh-CN" dirty="0">
                <a:latin typeface="微软雅黑" panose="020B0503020204020204" pitchFamily="34" charset="-122"/>
                <a:ea typeface="微软雅黑" panose="020B0503020204020204" pitchFamily="34" charset="-122"/>
              </a:rPr>
              <a:t>25</a:t>
            </a:r>
            <a:r>
              <a:rPr lang="zh-CN" altLang="en-US" dirty="0">
                <a:latin typeface="微软雅黑" panose="020B0503020204020204" pitchFamily="34" charset="-122"/>
                <a:ea typeface="微软雅黑" panose="020B0503020204020204" pitchFamily="34" charset="-122"/>
              </a:rPr>
              <a:t>所示。</a:t>
            </a:r>
            <a:endParaRPr lang="en-US" altLang="zh-CN" dirty="0">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2"/>
          <a:stretch>
            <a:fillRect/>
          </a:stretch>
        </p:blipFill>
        <p:spPr>
          <a:xfrm>
            <a:off x="3131840" y="3137240"/>
            <a:ext cx="2314575" cy="2790825"/>
          </a:xfrm>
          <a:prstGeom prst="rect">
            <a:avLst/>
          </a:prstGeom>
        </p:spPr>
      </p:pic>
      <p:sp>
        <p:nvSpPr>
          <p:cNvPr id="6" name="矩形 5"/>
          <p:cNvSpPr/>
          <p:nvPr/>
        </p:nvSpPr>
        <p:spPr>
          <a:xfrm>
            <a:off x="3069884" y="6237312"/>
            <a:ext cx="2438488" cy="369332"/>
          </a:xfrm>
          <a:prstGeom prst="rect">
            <a:avLst/>
          </a:prstGeom>
        </p:spPr>
        <p:txBody>
          <a:bodyPr wrap="none">
            <a:spAutoFit/>
          </a:bodyPr>
          <a:lstStyle/>
          <a:p>
            <a:pPr algn="ctr"/>
            <a:r>
              <a:rPr lang="zh-CN" altLang="en-US" dirty="0">
                <a:latin typeface="微软雅黑" panose="020B0503020204020204" pitchFamily="34" charset="-122"/>
                <a:ea typeface="微软雅黑" panose="020B0503020204020204" pitchFamily="34" charset="-122"/>
              </a:rPr>
              <a:t>图</a:t>
            </a:r>
            <a:r>
              <a:rPr lang="en-US" altLang="zh-CN" dirty="0">
                <a:latin typeface="微软雅黑" panose="020B0503020204020204" pitchFamily="34" charset="-122"/>
                <a:ea typeface="微软雅黑" panose="020B0503020204020204" pitchFamily="34" charset="-122"/>
              </a:rPr>
              <a:t>25  </a:t>
            </a:r>
            <a:r>
              <a:rPr lang="zh-CN" altLang="zh-CN" dirty="0">
                <a:latin typeface="微软雅黑" panose="020B0503020204020204" pitchFamily="34" charset="-122"/>
                <a:ea typeface="微软雅黑" panose="020B0503020204020204" pitchFamily="34" charset="-122"/>
              </a:rPr>
              <a:t>函数信号发生器</a:t>
            </a:r>
          </a:p>
        </p:txBody>
      </p:sp>
    </p:spTree>
    <p:extLst>
      <p:ext uri="{BB962C8B-B14F-4D97-AF65-F5344CB8AC3E}">
        <p14:creationId xmlns:p14="http://schemas.microsoft.com/office/powerpoint/2010/main" val="36343600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23528" y="476672"/>
            <a:ext cx="8496944" cy="5286062"/>
          </a:xfrm>
          <a:prstGeom prst="rect">
            <a:avLst/>
          </a:prstGeom>
        </p:spPr>
        <p:txBody>
          <a:bodyPr wrap="square">
            <a:spAutoFit/>
          </a:bodyPr>
          <a:lstStyle/>
          <a:p>
            <a:pPr>
              <a:lnSpc>
                <a:spcPct val="125000"/>
              </a:lnSpc>
            </a:pPr>
            <a:r>
              <a:rPr lang="en-US" altLang="zh-CN" dirty="0">
                <a:latin typeface="微软雅黑" panose="020B0503020204020204" pitchFamily="34" charset="-122"/>
                <a:ea typeface="微软雅黑" panose="020B0503020204020204" pitchFamily="34" charset="-122"/>
              </a:rPr>
              <a:t>      Waveforms</a:t>
            </a:r>
            <a:r>
              <a:rPr lang="zh-CN" altLang="zh-CN"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a:lnSpc>
                <a:spcPct val="125000"/>
              </a:lnSpc>
            </a:pPr>
            <a:r>
              <a:rPr lang="en-US" altLang="zh-CN" dirty="0">
                <a:latin typeface="微软雅黑" panose="020B0503020204020204" pitchFamily="34" charset="-122"/>
                <a:ea typeface="微软雅黑" panose="020B0503020204020204" pitchFamily="34" charset="-122"/>
              </a:rPr>
              <a:t>             </a:t>
            </a:r>
            <a:r>
              <a:rPr lang="zh-CN" altLang="zh-CN" dirty="0">
                <a:latin typeface="微软雅黑" panose="020B0503020204020204" pitchFamily="34" charset="-122"/>
                <a:ea typeface="微软雅黑" panose="020B0503020204020204" pitchFamily="34" charset="-122"/>
              </a:rPr>
              <a:t>波形选择区用于选择输出波形，分别为正弦波、三角波、矩形波。</a:t>
            </a:r>
          </a:p>
          <a:p>
            <a:pPr>
              <a:lnSpc>
                <a:spcPct val="125000"/>
              </a:lnSpc>
            </a:pPr>
            <a:r>
              <a:rPr lang="en-US" altLang="zh-CN" dirty="0">
                <a:latin typeface="微软雅黑" panose="020B0503020204020204" pitchFamily="34" charset="-122"/>
                <a:ea typeface="微软雅黑" panose="020B0503020204020204" pitchFamily="34" charset="-122"/>
              </a:rPr>
              <a:t>      Frequency</a:t>
            </a:r>
            <a:r>
              <a:rPr lang="zh-CN" altLang="zh-CN"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a:lnSpc>
                <a:spcPct val="125000"/>
              </a:lnSpc>
            </a:pPr>
            <a:r>
              <a:rPr lang="en-US" altLang="zh-CN" dirty="0">
                <a:latin typeface="微软雅黑" panose="020B0503020204020204" pitchFamily="34" charset="-122"/>
                <a:ea typeface="微软雅黑" panose="020B0503020204020204" pitchFamily="34" charset="-122"/>
              </a:rPr>
              <a:t>            </a:t>
            </a:r>
            <a:r>
              <a:rPr lang="zh-CN" altLang="zh-CN" dirty="0">
                <a:latin typeface="微软雅黑" panose="020B0503020204020204" pitchFamily="34" charset="-122"/>
                <a:ea typeface="微软雅黑" panose="020B0503020204020204" pitchFamily="34" charset="-122"/>
              </a:rPr>
              <a:t>频率设置，用于设置输出信号的频率，可选范围</a:t>
            </a:r>
            <a:r>
              <a:rPr lang="en-US" altLang="zh-CN" dirty="0">
                <a:latin typeface="微软雅黑" panose="020B0503020204020204" pitchFamily="34" charset="-122"/>
                <a:ea typeface="微软雅黑" panose="020B0503020204020204" pitchFamily="34" charset="-122"/>
              </a:rPr>
              <a:t>1 </a:t>
            </a:r>
            <a:r>
              <a:rPr lang="en-US" altLang="zh-CN" dirty="0" err="1">
                <a:latin typeface="微软雅黑" panose="020B0503020204020204" pitchFamily="34" charset="-122"/>
                <a:ea typeface="微软雅黑" panose="020B0503020204020204" pitchFamily="34" charset="-122"/>
              </a:rPr>
              <a:t>fHz</a:t>
            </a:r>
            <a:r>
              <a:rPr lang="zh-CN" altLang="zh-CN"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1 000 THz</a:t>
            </a:r>
            <a:r>
              <a:rPr lang="zh-CN" altLang="zh-CN" dirty="0">
                <a:latin typeface="微软雅黑" panose="020B0503020204020204" pitchFamily="34" charset="-122"/>
                <a:ea typeface="微软雅黑" panose="020B0503020204020204" pitchFamily="34" charset="-122"/>
              </a:rPr>
              <a:t>。</a:t>
            </a:r>
          </a:p>
          <a:p>
            <a:pPr>
              <a:lnSpc>
                <a:spcPct val="125000"/>
              </a:lnSpc>
            </a:pPr>
            <a:r>
              <a:rPr lang="en-US" altLang="zh-CN" dirty="0">
                <a:latin typeface="微软雅黑" panose="020B0503020204020204" pitchFamily="34" charset="-122"/>
                <a:ea typeface="微软雅黑" panose="020B0503020204020204" pitchFamily="34" charset="-122"/>
              </a:rPr>
              <a:t>      Duty Cycle</a:t>
            </a:r>
            <a:r>
              <a:rPr lang="zh-CN" altLang="zh-CN"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a:lnSpc>
                <a:spcPct val="125000"/>
              </a:lnSpc>
            </a:pPr>
            <a:r>
              <a:rPr lang="en-US" altLang="zh-CN" dirty="0">
                <a:latin typeface="微软雅黑" panose="020B0503020204020204" pitchFamily="34" charset="-122"/>
                <a:ea typeface="微软雅黑" panose="020B0503020204020204" pitchFamily="34" charset="-122"/>
              </a:rPr>
              <a:t>           </a:t>
            </a:r>
            <a:r>
              <a:rPr lang="zh-CN" altLang="zh-CN" dirty="0">
                <a:latin typeface="微软雅黑" panose="020B0503020204020204" pitchFamily="34" charset="-122"/>
                <a:ea typeface="微软雅黑" panose="020B0503020204020204" pitchFamily="34" charset="-122"/>
              </a:rPr>
              <a:t>占空比设置用于设置输出的三角波和方波电压信号的占空比，设定范围</a:t>
            </a:r>
            <a:r>
              <a:rPr lang="en-US" altLang="zh-CN" dirty="0">
                <a:latin typeface="微软雅黑" panose="020B0503020204020204" pitchFamily="34" charset="-122"/>
                <a:ea typeface="微软雅黑" panose="020B0503020204020204" pitchFamily="34" charset="-122"/>
              </a:rPr>
              <a:t>1%</a:t>
            </a:r>
            <a:r>
              <a:rPr lang="zh-CN" altLang="zh-CN"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99%</a:t>
            </a:r>
            <a:r>
              <a:rPr lang="zh-CN" altLang="zh-CN" dirty="0">
                <a:latin typeface="微软雅黑" panose="020B0503020204020204" pitchFamily="34" charset="-122"/>
                <a:ea typeface="微软雅黑" panose="020B0503020204020204" pitchFamily="34" charset="-122"/>
              </a:rPr>
              <a:t>。</a:t>
            </a:r>
          </a:p>
          <a:p>
            <a:pPr>
              <a:lnSpc>
                <a:spcPct val="125000"/>
              </a:lnSpc>
            </a:pPr>
            <a:r>
              <a:rPr lang="en-US" altLang="zh-CN" dirty="0">
                <a:latin typeface="微软雅黑" panose="020B0503020204020204" pitchFamily="34" charset="-122"/>
                <a:ea typeface="微软雅黑" panose="020B0503020204020204" pitchFamily="34" charset="-122"/>
              </a:rPr>
              <a:t>      Amplitude</a:t>
            </a:r>
            <a:r>
              <a:rPr lang="zh-CN" altLang="zh-CN"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a:lnSpc>
                <a:spcPct val="125000"/>
              </a:lnSpc>
            </a:pPr>
            <a:r>
              <a:rPr lang="en-US" altLang="zh-CN" dirty="0">
                <a:latin typeface="微软雅黑" panose="020B0503020204020204" pitchFamily="34" charset="-122"/>
                <a:ea typeface="微软雅黑" panose="020B0503020204020204" pitchFamily="34" charset="-122"/>
              </a:rPr>
              <a:t>           </a:t>
            </a:r>
            <a:r>
              <a:rPr lang="zh-CN" altLang="zh-CN" dirty="0">
                <a:latin typeface="微软雅黑" panose="020B0503020204020204" pitchFamily="34" charset="-122"/>
                <a:ea typeface="微软雅黑" panose="020B0503020204020204" pitchFamily="34" charset="-122"/>
              </a:rPr>
              <a:t>振幅设置用于设置输出信号的峰值，可选范围</a:t>
            </a:r>
            <a:r>
              <a:rPr lang="en-US" altLang="zh-CN" dirty="0">
                <a:latin typeface="微软雅黑" panose="020B0503020204020204" pitchFamily="34" charset="-122"/>
                <a:ea typeface="微软雅黑" panose="020B0503020204020204" pitchFamily="34" charset="-122"/>
              </a:rPr>
              <a:t>1 </a:t>
            </a:r>
            <a:r>
              <a:rPr lang="en-US" altLang="zh-CN" dirty="0" err="1">
                <a:latin typeface="微软雅黑" panose="020B0503020204020204" pitchFamily="34" charset="-122"/>
                <a:ea typeface="微软雅黑" panose="020B0503020204020204" pitchFamily="34" charset="-122"/>
              </a:rPr>
              <a:t>fVp</a:t>
            </a:r>
            <a:r>
              <a:rPr lang="zh-CN" altLang="zh-CN"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1 000 </a:t>
            </a:r>
            <a:r>
              <a:rPr lang="en-US" altLang="zh-CN" dirty="0" err="1">
                <a:latin typeface="微软雅黑" panose="020B0503020204020204" pitchFamily="34" charset="-122"/>
                <a:ea typeface="微软雅黑" panose="020B0503020204020204" pitchFamily="34" charset="-122"/>
              </a:rPr>
              <a:t>TVp</a:t>
            </a:r>
            <a:r>
              <a:rPr lang="zh-CN" altLang="zh-CN" dirty="0">
                <a:latin typeface="微软雅黑" panose="020B0503020204020204" pitchFamily="34" charset="-122"/>
                <a:ea typeface="微软雅黑" panose="020B0503020204020204" pitchFamily="34" charset="-122"/>
              </a:rPr>
              <a:t>。</a:t>
            </a:r>
          </a:p>
          <a:p>
            <a:pPr>
              <a:lnSpc>
                <a:spcPct val="125000"/>
              </a:lnSpc>
            </a:pPr>
            <a:r>
              <a:rPr lang="en-US" altLang="zh-CN" dirty="0">
                <a:latin typeface="微软雅黑" panose="020B0503020204020204" pitchFamily="34" charset="-122"/>
                <a:ea typeface="微软雅黑" panose="020B0503020204020204" pitchFamily="34" charset="-122"/>
              </a:rPr>
              <a:t>      Offset</a:t>
            </a:r>
            <a:r>
              <a:rPr lang="zh-CN" altLang="zh-CN"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 </a:t>
            </a:r>
          </a:p>
          <a:p>
            <a:pPr>
              <a:lnSpc>
                <a:spcPct val="125000"/>
              </a:lnSpc>
            </a:pPr>
            <a:r>
              <a:rPr lang="en-US" altLang="zh-CN" dirty="0">
                <a:latin typeface="微软雅黑" panose="020B0503020204020204" pitchFamily="34" charset="-122"/>
                <a:ea typeface="微软雅黑" panose="020B0503020204020204" pitchFamily="34" charset="-122"/>
              </a:rPr>
              <a:t>           </a:t>
            </a:r>
            <a:r>
              <a:rPr lang="zh-CN" altLang="zh-CN" dirty="0">
                <a:latin typeface="微软雅黑" panose="020B0503020204020204" pitchFamily="34" charset="-122"/>
                <a:ea typeface="微软雅黑" panose="020B0503020204020204" pitchFamily="34" charset="-122"/>
              </a:rPr>
              <a:t>偏移设置用于设置输出信号的偏置电压，即设置输出信号中直流成分的大小。</a:t>
            </a:r>
          </a:p>
          <a:p>
            <a:pPr>
              <a:lnSpc>
                <a:spcPct val="125000"/>
              </a:lnSpc>
            </a:pPr>
            <a:r>
              <a:rPr lang="en-US" altLang="zh-CN" dirty="0">
                <a:latin typeface="微软雅黑" panose="020B0503020204020204" pitchFamily="34" charset="-122"/>
                <a:ea typeface="微软雅黑" panose="020B0503020204020204" pitchFamily="34" charset="-122"/>
              </a:rPr>
              <a:t>      Set rise/Fall time</a:t>
            </a:r>
            <a:r>
              <a:rPr lang="zh-CN" altLang="zh-CN"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a:lnSpc>
                <a:spcPct val="125000"/>
              </a:lnSpc>
            </a:pPr>
            <a:r>
              <a:rPr lang="en-US" altLang="zh-CN" dirty="0">
                <a:latin typeface="微软雅黑" panose="020B0503020204020204" pitchFamily="34" charset="-122"/>
                <a:ea typeface="微软雅黑" panose="020B0503020204020204" pitchFamily="34" charset="-122"/>
              </a:rPr>
              <a:t>           </a:t>
            </a:r>
            <a:r>
              <a:rPr lang="zh-CN" altLang="zh-CN" dirty="0">
                <a:latin typeface="微软雅黑" panose="020B0503020204020204" pitchFamily="34" charset="-122"/>
                <a:ea typeface="微软雅黑" panose="020B0503020204020204" pitchFamily="34" charset="-122"/>
              </a:rPr>
              <a:t>设置方波的上升沿与下降沿的时间。</a:t>
            </a:r>
          </a:p>
          <a:p>
            <a:pPr>
              <a:lnSpc>
                <a:spcPct val="125000"/>
              </a:lnSpc>
            </a:pPr>
            <a:r>
              <a:rPr lang="en-US" altLang="zh-CN" dirty="0">
                <a:latin typeface="微软雅黑" panose="020B0503020204020204" pitchFamily="34" charset="-122"/>
                <a:ea typeface="微软雅黑" panose="020B0503020204020204" pitchFamily="34" charset="-122"/>
              </a:rPr>
              <a:t>      +</a:t>
            </a:r>
            <a:r>
              <a:rPr lang="zh-CN" altLang="zh-CN"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Common</a:t>
            </a:r>
            <a:r>
              <a:rPr lang="zh-CN" altLang="zh-CN"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a:lnSpc>
                <a:spcPct val="125000"/>
              </a:lnSpc>
            </a:pPr>
            <a:r>
              <a:rPr lang="en-US" altLang="zh-CN" dirty="0">
                <a:latin typeface="微软雅黑" panose="020B0503020204020204" pitchFamily="34" charset="-122"/>
                <a:ea typeface="微软雅黑" panose="020B0503020204020204" pitchFamily="34" charset="-122"/>
              </a:rPr>
              <a:t>            </a:t>
            </a:r>
            <a:r>
              <a:rPr lang="zh-CN" altLang="zh-CN" dirty="0">
                <a:latin typeface="微软雅黑" panose="020B0503020204020204" pitchFamily="34" charset="-122"/>
                <a:ea typeface="微软雅黑" panose="020B0503020204020204" pitchFamily="34" charset="-122"/>
              </a:rPr>
              <a:t>分别表示波形电压信号的正极性输出端、负极性输出端、公共端。</a:t>
            </a:r>
          </a:p>
        </p:txBody>
      </p:sp>
    </p:spTree>
    <p:extLst>
      <p:ext uri="{BB962C8B-B14F-4D97-AF65-F5344CB8AC3E}">
        <p14:creationId xmlns:p14="http://schemas.microsoft.com/office/powerpoint/2010/main" val="8090441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23528" y="476672"/>
            <a:ext cx="8496944" cy="2571473"/>
          </a:xfrm>
          <a:prstGeom prst="rect">
            <a:avLst/>
          </a:prstGeom>
        </p:spPr>
        <p:txBody>
          <a:bodyPr wrap="square">
            <a:spAutoFit/>
          </a:bodyPr>
          <a:lstStyle/>
          <a:p>
            <a:pPr>
              <a:lnSpc>
                <a:spcPct val="125000"/>
              </a:lnSpc>
              <a:spcBef>
                <a:spcPct val="20000"/>
              </a:spcBef>
              <a:buClr>
                <a:schemeClr val="accent1"/>
              </a:buClr>
              <a:buSzPct val="100000"/>
              <a:defRPr/>
            </a:pPr>
            <a:r>
              <a:rPr lang="en-US" altLang="zh-CN" b="1" dirty="0">
                <a:latin typeface="微软雅黑" panose="020B0503020204020204" pitchFamily="34" charset="-122"/>
                <a:ea typeface="微软雅黑" panose="020B0503020204020204" pitchFamily="34" charset="-122"/>
              </a:rPr>
              <a:t>3</a:t>
            </a:r>
            <a:r>
              <a:rPr lang="zh-CN" altLang="en-US" b="1" dirty="0">
                <a:latin typeface="微软雅黑" panose="020B0503020204020204" pitchFamily="34" charset="-122"/>
                <a:ea typeface="微软雅黑" panose="020B0503020204020204" pitchFamily="34" charset="-122"/>
              </a:rPr>
              <a:t>）</a:t>
            </a:r>
            <a:r>
              <a:rPr lang="zh-CN" altLang="zh-CN" b="1" dirty="0">
                <a:latin typeface="微软雅黑" panose="020B0503020204020204" pitchFamily="34" charset="-122"/>
                <a:ea typeface="微软雅黑" panose="020B0503020204020204" pitchFamily="34" charset="-122"/>
              </a:rPr>
              <a:t>双通道示波器（</a:t>
            </a:r>
            <a:r>
              <a:rPr lang="en-US" altLang="zh-CN" b="1" dirty="0">
                <a:latin typeface="微软雅黑" panose="020B0503020204020204" pitchFamily="34" charset="-122"/>
                <a:ea typeface="微软雅黑" panose="020B0503020204020204" pitchFamily="34" charset="-122"/>
              </a:rPr>
              <a:t>Oscilloscope</a:t>
            </a:r>
            <a:r>
              <a:rPr lang="zh-CN" altLang="zh-CN" b="1" dirty="0">
                <a:latin typeface="微软雅黑" panose="020B0503020204020204" pitchFamily="34" charset="-122"/>
                <a:ea typeface="微软雅黑" panose="020B0503020204020204" pitchFamily="34" charset="-122"/>
              </a:rPr>
              <a:t>）</a:t>
            </a:r>
            <a:endParaRPr lang="en-US" altLang="zh-CN" b="1" dirty="0">
              <a:latin typeface="微软雅黑" panose="020B0503020204020204" pitchFamily="34" charset="-122"/>
              <a:ea typeface="微软雅黑" panose="020B0503020204020204" pitchFamily="34" charset="-122"/>
            </a:endParaRPr>
          </a:p>
          <a:p>
            <a:pPr>
              <a:lnSpc>
                <a:spcPct val="125000"/>
              </a:lnSpc>
              <a:spcBef>
                <a:spcPct val="20000"/>
              </a:spcBef>
              <a:buClr>
                <a:schemeClr val="accent1"/>
              </a:buClr>
              <a:buSzPct val="100000"/>
              <a:defRPr/>
            </a:pPr>
            <a:endParaRPr lang="en-US" altLang="zh-CN" b="1" dirty="0">
              <a:latin typeface="微软雅黑" panose="020B0503020204020204" pitchFamily="34" charset="-122"/>
              <a:ea typeface="微软雅黑" panose="020B0503020204020204" pitchFamily="34" charset="-122"/>
            </a:endParaRPr>
          </a:p>
          <a:p>
            <a:pPr>
              <a:lnSpc>
                <a:spcPct val="125000"/>
              </a:lnSpc>
            </a:pPr>
            <a:r>
              <a:rPr lang="en-US" altLang="zh-CN" dirty="0">
                <a:latin typeface="微软雅黑" panose="020B0503020204020204" pitchFamily="34" charset="-122"/>
                <a:ea typeface="微软雅黑" panose="020B0503020204020204" pitchFamily="34" charset="-122"/>
              </a:rPr>
              <a:t>     </a:t>
            </a:r>
            <a:r>
              <a:rPr lang="zh-CN" altLang="zh-CN" dirty="0">
                <a:latin typeface="微软雅黑" panose="020B0503020204020204" pitchFamily="34" charset="-122"/>
                <a:ea typeface="微软雅黑" panose="020B0503020204020204" pitchFamily="34" charset="-122"/>
              </a:rPr>
              <a:t>示波器是电子实验中使用最为频繁的仪器之一。它可以用来显示电信号波形的形状、幅度、频率等参数。</a:t>
            </a:r>
            <a:r>
              <a:rPr lang="en-US" altLang="zh-CN" dirty="0">
                <a:latin typeface="微软雅黑" panose="020B0503020204020204" pitchFamily="34" charset="-122"/>
                <a:ea typeface="微软雅黑" panose="020B0503020204020204" pitchFamily="34" charset="-122"/>
              </a:rPr>
              <a:t>Multisim 12.0</a:t>
            </a:r>
            <a:r>
              <a:rPr lang="zh-CN" altLang="zh-CN" dirty="0">
                <a:latin typeface="微软雅黑" panose="020B0503020204020204" pitchFamily="34" charset="-122"/>
                <a:ea typeface="微软雅黑" panose="020B0503020204020204" pitchFamily="34" charset="-122"/>
              </a:rPr>
              <a:t>提供的双通道示波器与实际的示波器外观和基本操作基本相同，如图</a:t>
            </a:r>
            <a:r>
              <a:rPr lang="en-US" altLang="zh-CN" dirty="0">
                <a:latin typeface="微软雅黑" panose="020B0503020204020204" pitchFamily="34" charset="-122"/>
                <a:ea typeface="微软雅黑" panose="020B0503020204020204" pitchFamily="34" charset="-122"/>
              </a:rPr>
              <a:t>26</a:t>
            </a:r>
            <a:r>
              <a:rPr lang="zh-CN" altLang="zh-CN" dirty="0">
                <a:latin typeface="微软雅黑" panose="020B0503020204020204" pitchFamily="34" charset="-122"/>
                <a:ea typeface="微软雅黑" panose="020B0503020204020204" pitchFamily="34" charset="-122"/>
              </a:rPr>
              <a:t>所示，该示波器可以观察一路或两路信号波形的形状，分析被测周期信号的幅值和频率，时间基准可在秒直至纳秒范围内调节。示波器图标有四个连接点：</a:t>
            </a:r>
            <a:r>
              <a:rPr lang="en-US" altLang="zh-CN" dirty="0">
                <a:latin typeface="微软雅黑" panose="020B0503020204020204" pitchFamily="34" charset="-122"/>
                <a:ea typeface="微软雅黑" panose="020B0503020204020204" pitchFamily="34" charset="-122"/>
              </a:rPr>
              <a:t>A</a:t>
            </a:r>
            <a:r>
              <a:rPr lang="zh-CN" altLang="zh-CN" dirty="0">
                <a:latin typeface="微软雅黑" panose="020B0503020204020204" pitchFamily="34" charset="-122"/>
                <a:ea typeface="微软雅黑" panose="020B0503020204020204" pitchFamily="34" charset="-122"/>
              </a:rPr>
              <a:t>通道输入、</a:t>
            </a:r>
            <a:r>
              <a:rPr lang="en-US" altLang="zh-CN" dirty="0">
                <a:latin typeface="微软雅黑" panose="020B0503020204020204" pitchFamily="34" charset="-122"/>
                <a:ea typeface="微软雅黑" panose="020B0503020204020204" pitchFamily="34" charset="-122"/>
              </a:rPr>
              <a:t>B</a:t>
            </a:r>
            <a:r>
              <a:rPr lang="zh-CN" altLang="zh-CN" dirty="0">
                <a:latin typeface="微软雅黑" panose="020B0503020204020204" pitchFamily="34" charset="-122"/>
                <a:ea typeface="微软雅黑" panose="020B0503020204020204" pitchFamily="34" charset="-122"/>
              </a:rPr>
              <a:t>通道输入、外触发端</a:t>
            </a:r>
            <a:r>
              <a:rPr lang="en-US" altLang="zh-CN" dirty="0">
                <a:latin typeface="微软雅黑" panose="020B0503020204020204" pitchFamily="34" charset="-122"/>
                <a:ea typeface="微软雅黑" panose="020B0503020204020204" pitchFamily="34" charset="-122"/>
              </a:rPr>
              <a:t>T</a:t>
            </a:r>
            <a:r>
              <a:rPr lang="zh-CN" altLang="zh-CN" dirty="0">
                <a:latin typeface="微软雅黑" panose="020B0503020204020204" pitchFamily="34" charset="-122"/>
                <a:ea typeface="微软雅黑" panose="020B0503020204020204" pitchFamily="34" charset="-122"/>
              </a:rPr>
              <a:t>和接地端</a:t>
            </a:r>
            <a:r>
              <a:rPr lang="en-US" altLang="zh-CN" dirty="0">
                <a:latin typeface="微软雅黑" panose="020B0503020204020204" pitchFamily="34" charset="-122"/>
                <a:ea typeface="微软雅黑" panose="020B0503020204020204" pitchFamily="34" charset="-122"/>
              </a:rPr>
              <a:t>G</a:t>
            </a:r>
            <a:r>
              <a:rPr lang="zh-CN" altLang="zh-CN" dirty="0">
                <a:latin typeface="微软雅黑" panose="020B0503020204020204" pitchFamily="34" charset="-122"/>
                <a:ea typeface="微软雅黑" panose="020B0503020204020204" pitchFamily="34" charset="-122"/>
              </a:rPr>
              <a:t>。</a:t>
            </a:r>
          </a:p>
        </p:txBody>
      </p:sp>
      <p:pic>
        <p:nvPicPr>
          <p:cNvPr id="5" name="图片 4"/>
          <p:cNvPicPr>
            <a:picLocks noChangeAspect="1"/>
          </p:cNvPicPr>
          <p:nvPr/>
        </p:nvPicPr>
        <p:blipFill>
          <a:blip r:embed="rId2"/>
          <a:stretch>
            <a:fillRect/>
          </a:stretch>
        </p:blipFill>
        <p:spPr>
          <a:xfrm>
            <a:off x="3491880" y="3356992"/>
            <a:ext cx="1609725" cy="1628775"/>
          </a:xfrm>
          <a:prstGeom prst="rect">
            <a:avLst/>
          </a:prstGeom>
        </p:spPr>
      </p:pic>
      <p:sp>
        <p:nvSpPr>
          <p:cNvPr id="7" name="矩形 6"/>
          <p:cNvSpPr/>
          <p:nvPr/>
        </p:nvSpPr>
        <p:spPr>
          <a:xfrm>
            <a:off x="2232715" y="5445224"/>
            <a:ext cx="4128054" cy="369332"/>
          </a:xfrm>
          <a:prstGeom prst="rect">
            <a:avLst/>
          </a:prstGeom>
        </p:spPr>
        <p:txBody>
          <a:bodyPr wrap="none">
            <a:spAutoFit/>
          </a:bodyPr>
          <a:lstStyle/>
          <a:p>
            <a:pPr algn="ctr"/>
            <a:r>
              <a:rPr lang="zh-CN" altLang="en-US" dirty="0">
                <a:latin typeface="微软雅黑" panose="020B0503020204020204" pitchFamily="34" charset="-122"/>
                <a:ea typeface="微软雅黑" panose="020B0503020204020204" pitchFamily="34" charset="-122"/>
              </a:rPr>
              <a:t>图</a:t>
            </a:r>
            <a:r>
              <a:rPr lang="en-US" altLang="zh-CN" dirty="0">
                <a:latin typeface="微软雅黑" panose="020B0503020204020204" pitchFamily="34" charset="-122"/>
                <a:ea typeface="微软雅黑" panose="020B0503020204020204" pitchFamily="34" charset="-122"/>
              </a:rPr>
              <a:t>26   </a:t>
            </a:r>
            <a:r>
              <a:rPr lang="zh-CN" altLang="zh-CN" dirty="0">
                <a:latin typeface="微软雅黑" panose="020B0503020204020204" pitchFamily="34" charset="-122"/>
                <a:ea typeface="微软雅黑" panose="020B0503020204020204" pitchFamily="34" charset="-122"/>
              </a:rPr>
              <a:t>双通道示波器（</a:t>
            </a:r>
            <a:r>
              <a:rPr lang="en-US" altLang="zh-CN" dirty="0">
                <a:latin typeface="微软雅黑" panose="020B0503020204020204" pitchFamily="34" charset="-122"/>
                <a:ea typeface="微软雅黑" panose="020B0503020204020204" pitchFamily="34" charset="-122"/>
              </a:rPr>
              <a:t>Oscilloscope</a:t>
            </a:r>
            <a:r>
              <a:rPr lang="zh-CN" altLang="zh-CN"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177677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539552" y="692696"/>
            <a:ext cx="8280920" cy="753220"/>
          </a:xfrm>
          <a:prstGeom prst="rect">
            <a:avLst/>
          </a:prstGeom>
        </p:spPr>
        <p:txBody>
          <a:bodyPr wrap="square">
            <a:spAutoFit/>
          </a:bodyPr>
          <a:lstStyle/>
          <a:p>
            <a:pPr>
              <a:lnSpc>
                <a:spcPct val="125000"/>
              </a:lnSpc>
            </a:pPr>
            <a:r>
              <a:rPr lang="zh-CN" altLang="zh-CN" dirty="0">
                <a:latin typeface="微软雅黑" panose="020B0503020204020204" pitchFamily="34" charset="-122"/>
                <a:ea typeface="微软雅黑" panose="020B0503020204020204" pitchFamily="34" charset="-122"/>
              </a:rPr>
              <a:t>示波器的面板如图</a:t>
            </a:r>
            <a:r>
              <a:rPr lang="en-US" altLang="zh-CN" dirty="0">
                <a:latin typeface="微软雅黑" panose="020B0503020204020204" pitchFamily="34" charset="-122"/>
                <a:ea typeface="微软雅黑" panose="020B0503020204020204" pitchFamily="34" charset="-122"/>
              </a:rPr>
              <a:t>6</a:t>
            </a:r>
            <a:r>
              <a:rPr lang="zh-CN" altLang="zh-CN" dirty="0">
                <a:latin typeface="微软雅黑" panose="020B0503020204020204" pitchFamily="34" charset="-122"/>
                <a:ea typeface="微软雅黑" panose="020B0503020204020204" pitchFamily="34" charset="-122"/>
              </a:rPr>
              <a:t>所示，面板由两部分组成：上面是示波器的观察窗口，显示</a:t>
            </a:r>
            <a:r>
              <a:rPr lang="en-US" altLang="zh-CN" dirty="0">
                <a:latin typeface="微软雅黑" panose="020B0503020204020204" pitchFamily="34" charset="-122"/>
                <a:ea typeface="微软雅黑" panose="020B0503020204020204" pitchFamily="34" charset="-122"/>
              </a:rPr>
              <a:t>A</a:t>
            </a:r>
            <a:r>
              <a:rPr lang="zh-CN" altLang="zh-CN"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B</a:t>
            </a:r>
            <a:r>
              <a:rPr lang="zh-CN" altLang="zh-CN" dirty="0">
                <a:latin typeface="微软雅黑" panose="020B0503020204020204" pitchFamily="34" charset="-122"/>
                <a:ea typeface="微软雅黑" panose="020B0503020204020204" pitchFamily="34" charset="-122"/>
              </a:rPr>
              <a:t>两通道的信号波形；下面是它的控制面板和数轴数据显示区。</a:t>
            </a:r>
          </a:p>
        </p:txBody>
      </p:sp>
      <p:pic>
        <p:nvPicPr>
          <p:cNvPr id="5" name="图片 4"/>
          <p:cNvPicPr>
            <a:picLocks noChangeAspect="1"/>
          </p:cNvPicPr>
          <p:nvPr/>
        </p:nvPicPr>
        <p:blipFill>
          <a:blip r:embed="rId2"/>
          <a:stretch>
            <a:fillRect/>
          </a:stretch>
        </p:blipFill>
        <p:spPr>
          <a:xfrm>
            <a:off x="1619672" y="1556792"/>
            <a:ext cx="5256584" cy="4481156"/>
          </a:xfrm>
          <a:prstGeom prst="rect">
            <a:avLst/>
          </a:prstGeom>
        </p:spPr>
      </p:pic>
      <p:sp>
        <p:nvSpPr>
          <p:cNvPr id="6" name="矩形 5"/>
          <p:cNvSpPr/>
          <p:nvPr/>
        </p:nvSpPr>
        <p:spPr>
          <a:xfrm>
            <a:off x="2997111" y="6237312"/>
            <a:ext cx="2669321" cy="369332"/>
          </a:xfrm>
          <a:prstGeom prst="rect">
            <a:avLst/>
          </a:prstGeom>
        </p:spPr>
        <p:txBody>
          <a:bodyPr wrap="none">
            <a:spAutoFit/>
          </a:bodyPr>
          <a:lstStyle/>
          <a:p>
            <a:pPr algn="ctr"/>
            <a:r>
              <a:rPr lang="zh-CN" altLang="en-US" dirty="0">
                <a:latin typeface="微软雅黑" panose="020B0503020204020204" pitchFamily="34" charset="-122"/>
                <a:ea typeface="微软雅黑" panose="020B0503020204020204" pitchFamily="34" charset="-122"/>
              </a:rPr>
              <a:t>图</a:t>
            </a:r>
            <a:r>
              <a:rPr lang="en-US" altLang="zh-CN" dirty="0">
                <a:latin typeface="微软雅黑" panose="020B0503020204020204" pitchFamily="34" charset="-122"/>
                <a:ea typeface="微软雅黑" panose="020B0503020204020204" pitchFamily="34" charset="-122"/>
              </a:rPr>
              <a:t>27  </a:t>
            </a:r>
            <a:r>
              <a:rPr lang="zh-CN" altLang="zh-CN" dirty="0">
                <a:latin typeface="微软雅黑" panose="020B0503020204020204" pitchFamily="34" charset="-122"/>
                <a:ea typeface="微软雅黑" panose="020B0503020204020204" pitchFamily="34" charset="-122"/>
              </a:rPr>
              <a:t>双通道示波器</a:t>
            </a:r>
            <a:r>
              <a:rPr lang="zh-CN" altLang="en-US" dirty="0">
                <a:latin typeface="微软雅黑" panose="020B0503020204020204" pitchFamily="34" charset="-122"/>
                <a:ea typeface="微软雅黑" panose="020B0503020204020204" pitchFamily="34" charset="-122"/>
              </a:rPr>
              <a:t>面板</a:t>
            </a:r>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8259420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51520" y="260649"/>
            <a:ext cx="8640960" cy="2516073"/>
          </a:xfrm>
          <a:prstGeom prst="rect">
            <a:avLst/>
          </a:prstGeom>
        </p:spPr>
        <p:txBody>
          <a:bodyPr wrap="square">
            <a:spAutoFit/>
          </a:bodyPr>
          <a:lstStyle/>
          <a:p>
            <a:pPr>
              <a:lnSpc>
                <a:spcPct val="125000"/>
              </a:lnSpc>
              <a:spcBef>
                <a:spcPct val="20000"/>
              </a:spcBef>
              <a:buClr>
                <a:schemeClr val="accent1"/>
              </a:buClr>
              <a:buSzPct val="100000"/>
              <a:defRPr/>
            </a:pPr>
            <a:r>
              <a:rPr lang="en-US" altLang="zh-CN" b="1" dirty="0">
                <a:latin typeface="微软雅黑" panose="020B0503020204020204" pitchFamily="34" charset="-122"/>
                <a:ea typeface="微软雅黑" panose="020B0503020204020204" pitchFamily="34" charset="-122"/>
              </a:rPr>
              <a:t>4</a:t>
            </a:r>
            <a:r>
              <a:rPr lang="zh-CN" altLang="en-US" b="1" dirty="0">
                <a:latin typeface="微软雅黑" panose="020B0503020204020204" pitchFamily="34" charset="-122"/>
                <a:ea typeface="微软雅黑" panose="020B0503020204020204" pitchFamily="34" charset="-122"/>
              </a:rPr>
              <a:t>）</a:t>
            </a:r>
            <a:r>
              <a:rPr lang="zh-CN" altLang="zh-CN" b="1" dirty="0">
                <a:latin typeface="微软雅黑" panose="020B0503020204020204" pitchFamily="34" charset="-122"/>
                <a:ea typeface="微软雅黑" panose="020B0503020204020204" pitchFamily="34" charset="-122"/>
              </a:rPr>
              <a:t>波特图仪（</a:t>
            </a:r>
            <a:r>
              <a:rPr lang="en-US" altLang="zh-CN" b="1" dirty="0">
                <a:latin typeface="微软雅黑" panose="020B0503020204020204" pitchFamily="34" charset="-122"/>
                <a:ea typeface="微软雅黑" panose="020B0503020204020204" pitchFamily="34" charset="-122"/>
              </a:rPr>
              <a:t>Bode Plotter</a:t>
            </a:r>
            <a:r>
              <a:rPr lang="zh-CN" altLang="zh-CN" b="1" dirty="0">
                <a:latin typeface="微软雅黑" panose="020B0503020204020204" pitchFamily="34" charset="-122"/>
                <a:ea typeface="微软雅黑" panose="020B0503020204020204" pitchFamily="34" charset="-122"/>
              </a:rPr>
              <a:t>）</a:t>
            </a:r>
            <a:endParaRPr lang="en-US" altLang="zh-CN" b="1" dirty="0">
              <a:latin typeface="微软雅黑" panose="020B0503020204020204" pitchFamily="34" charset="-122"/>
              <a:ea typeface="微软雅黑" panose="020B0503020204020204" pitchFamily="34" charset="-122"/>
            </a:endParaRPr>
          </a:p>
          <a:p>
            <a:pPr algn="just">
              <a:lnSpc>
                <a:spcPct val="125000"/>
              </a:lnSpc>
            </a:pPr>
            <a:r>
              <a:rPr lang="zh-CN" altLang="en-US" dirty="0"/>
              <a:t>     </a:t>
            </a:r>
            <a:r>
              <a:rPr lang="zh-CN" altLang="en-US" dirty="0">
                <a:latin typeface="微软雅黑" panose="020B0503020204020204" pitchFamily="34" charset="-122"/>
                <a:ea typeface="微软雅黑" panose="020B0503020204020204" pitchFamily="34" charset="-122"/>
              </a:rPr>
              <a:t>波特图仪是一种用来测量和显示一个电路系统或放大器幅频特性和相频特性的仪器，是交流分析的重要工具，类似于实际电路测量中常用的扫频仪。其图标如图</a:t>
            </a:r>
            <a:r>
              <a:rPr lang="en-US" altLang="zh-CN" dirty="0">
                <a:latin typeface="微软雅黑" panose="020B0503020204020204" pitchFamily="34" charset="-122"/>
                <a:ea typeface="微软雅黑" panose="020B0503020204020204" pitchFamily="34" charset="-122"/>
              </a:rPr>
              <a:t>9</a:t>
            </a:r>
            <a:r>
              <a:rPr lang="zh-CN" altLang="en-US" dirty="0">
                <a:latin typeface="微软雅黑" panose="020B0503020204020204" pitchFamily="34" charset="-122"/>
                <a:ea typeface="微软雅黑" panose="020B0503020204020204" pitchFamily="34" charset="-122"/>
              </a:rPr>
              <a:t>所示。图标上有</a:t>
            </a:r>
            <a:r>
              <a:rPr lang="en-US" altLang="zh-CN" dirty="0">
                <a:latin typeface="微软雅黑" panose="020B0503020204020204" pitchFamily="34" charset="-122"/>
                <a:ea typeface="微软雅黑" panose="020B0503020204020204" pitchFamily="34" charset="-122"/>
              </a:rPr>
              <a:t>in+</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in-</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out+</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out-4</a:t>
            </a:r>
            <a:r>
              <a:rPr lang="zh-CN" altLang="en-US" dirty="0">
                <a:latin typeface="微软雅黑" panose="020B0503020204020204" pitchFamily="34" charset="-122"/>
                <a:ea typeface="微软雅黑" panose="020B0503020204020204" pitchFamily="34" charset="-122"/>
              </a:rPr>
              <a:t>个端子，其中</a:t>
            </a:r>
            <a:r>
              <a:rPr lang="en-US" altLang="zh-CN" dirty="0">
                <a:latin typeface="微软雅黑" panose="020B0503020204020204" pitchFamily="34" charset="-122"/>
                <a:ea typeface="微软雅黑" panose="020B0503020204020204" pitchFamily="34" charset="-122"/>
              </a:rPr>
              <a:t>in</a:t>
            </a:r>
            <a:r>
              <a:rPr lang="zh-CN" altLang="en-US" dirty="0">
                <a:latin typeface="微软雅黑" panose="020B0503020204020204" pitchFamily="34" charset="-122"/>
                <a:ea typeface="微软雅黑" panose="020B0503020204020204" pitchFamily="34" charset="-122"/>
              </a:rPr>
              <a:t>两个端子连接系统信号输入端，</a:t>
            </a:r>
            <a:r>
              <a:rPr lang="en-US" altLang="zh-CN" dirty="0">
                <a:latin typeface="微软雅黑" panose="020B0503020204020204" pitchFamily="34" charset="-122"/>
                <a:ea typeface="微软雅黑" panose="020B0503020204020204" pitchFamily="34" charset="-122"/>
              </a:rPr>
              <a:t>out</a:t>
            </a:r>
            <a:r>
              <a:rPr lang="zh-CN" altLang="en-US" dirty="0">
                <a:latin typeface="微软雅黑" panose="020B0503020204020204" pitchFamily="34" charset="-122"/>
                <a:ea typeface="微软雅黑" panose="020B0503020204020204" pitchFamily="34" charset="-122"/>
              </a:rPr>
              <a:t>两个端子连接系统信号输出端。需要注意，在使用波特图仪时，必须在系统的信号输入端连接一个交流信号源或函数信号发生器，此信号源由波特图仪自行控制不需设置。</a:t>
            </a:r>
            <a:endParaRPr lang="zh-CN" altLang="zh-CN" dirty="0">
              <a:latin typeface="微软雅黑" panose="020B0503020204020204" pitchFamily="34" charset="-122"/>
              <a:ea typeface="微软雅黑" panose="020B0503020204020204" pitchFamily="34" charset="-122"/>
            </a:endParaRPr>
          </a:p>
        </p:txBody>
      </p:sp>
      <p:pic>
        <p:nvPicPr>
          <p:cNvPr id="5" name="图片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1840" y="2776722"/>
            <a:ext cx="2243271" cy="2020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p:cNvSpPr/>
          <p:nvPr/>
        </p:nvSpPr>
        <p:spPr>
          <a:xfrm>
            <a:off x="3414945" y="5108129"/>
            <a:ext cx="1677062" cy="369332"/>
          </a:xfrm>
          <a:prstGeom prst="rect">
            <a:avLst/>
          </a:prstGeom>
        </p:spPr>
        <p:txBody>
          <a:bodyPr wrap="none">
            <a:spAutoFit/>
          </a:bodyPr>
          <a:lstStyle/>
          <a:p>
            <a:pPr algn="ctr"/>
            <a:r>
              <a:rPr lang="zh-CN" altLang="en-US" dirty="0">
                <a:latin typeface="微软雅黑" panose="020B0503020204020204" pitchFamily="34" charset="-122"/>
                <a:ea typeface="微软雅黑" panose="020B0503020204020204" pitchFamily="34" charset="-122"/>
              </a:rPr>
              <a:t>图</a:t>
            </a:r>
            <a:r>
              <a:rPr lang="en-US" altLang="zh-CN" dirty="0">
                <a:latin typeface="微软雅黑" panose="020B0503020204020204" pitchFamily="34" charset="-122"/>
                <a:ea typeface="微软雅黑" panose="020B0503020204020204" pitchFamily="34" charset="-122"/>
              </a:rPr>
              <a:t>28 </a:t>
            </a:r>
            <a:r>
              <a:rPr lang="zh-CN" altLang="en-US" dirty="0">
                <a:latin typeface="微软雅黑" panose="020B0503020204020204" pitchFamily="34" charset="-122"/>
                <a:ea typeface="微软雅黑" panose="020B0503020204020204" pitchFamily="34" charset="-122"/>
              </a:rPr>
              <a:t>波特图仪</a:t>
            </a:r>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0022131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539552" y="836712"/>
            <a:ext cx="7992888" cy="1477328"/>
          </a:xfrm>
          <a:prstGeom prst="rect">
            <a:avLst/>
          </a:prstGeom>
        </p:spPr>
        <p:txBody>
          <a:bodyPr wrap="square">
            <a:spAutoFit/>
          </a:bodyPr>
          <a:lstStyle/>
          <a:p>
            <a:pPr algn="just">
              <a:lnSpc>
                <a:spcPct val="125000"/>
              </a:lnSpc>
            </a:pPr>
            <a:r>
              <a:rPr lang="en-US" altLang="zh-CN" dirty="0">
                <a:latin typeface="微软雅黑" panose="020B0503020204020204" pitchFamily="34" charset="-122"/>
                <a:ea typeface="微软雅黑" panose="020B0503020204020204" pitchFamily="34" charset="-122"/>
              </a:rPr>
              <a:t>       </a:t>
            </a:r>
            <a:r>
              <a:rPr lang="zh-CN" altLang="zh-CN" dirty="0">
                <a:latin typeface="微软雅黑" panose="020B0503020204020204" pitchFamily="34" charset="-122"/>
                <a:ea typeface="微软雅黑" panose="020B0503020204020204" pitchFamily="34" charset="-122"/>
              </a:rPr>
              <a:t>波特图仪控制面板如图</a:t>
            </a:r>
            <a:r>
              <a:rPr lang="en-US" altLang="zh-CN" dirty="0">
                <a:latin typeface="微软雅黑" panose="020B0503020204020204" pitchFamily="34" charset="-122"/>
                <a:ea typeface="微软雅黑" panose="020B0503020204020204" pitchFamily="34" charset="-122"/>
              </a:rPr>
              <a:t>29</a:t>
            </a:r>
            <a:r>
              <a:rPr lang="zh-CN" altLang="zh-CN" dirty="0">
                <a:latin typeface="微软雅黑" panose="020B0503020204020204" pitchFamily="34" charset="-122"/>
                <a:ea typeface="微软雅黑" panose="020B0503020204020204" pitchFamily="34" charset="-122"/>
              </a:rPr>
              <a:t>所示，分为</a:t>
            </a:r>
            <a:r>
              <a:rPr lang="en-US" altLang="zh-CN" dirty="0">
                <a:latin typeface="微软雅黑" panose="020B0503020204020204" pitchFamily="34" charset="-122"/>
                <a:ea typeface="微软雅黑" panose="020B0503020204020204" pitchFamily="34" charset="-122"/>
              </a:rPr>
              <a:t>Magnitude</a:t>
            </a:r>
            <a:r>
              <a:rPr lang="zh-CN" altLang="zh-CN" dirty="0">
                <a:latin typeface="微软雅黑" panose="020B0503020204020204" pitchFamily="34" charset="-122"/>
                <a:ea typeface="微软雅黑" panose="020B0503020204020204" pitchFamily="34" charset="-122"/>
              </a:rPr>
              <a:t>（幅值）或</a:t>
            </a:r>
            <a:r>
              <a:rPr lang="en-US" altLang="zh-CN" dirty="0">
                <a:latin typeface="微软雅黑" panose="020B0503020204020204" pitchFamily="34" charset="-122"/>
                <a:ea typeface="微软雅黑" panose="020B0503020204020204" pitchFamily="34" charset="-122"/>
              </a:rPr>
              <a:t>Phase</a:t>
            </a:r>
            <a:r>
              <a:rPr lang="zh-CN" altLang="zh-CN" dirty="0">
                <a:latin typeface="微软雅黑" panose="020B0503020204020204" pitchFamily="34" charset="-122"/>
                <a:ea typeface="微软雅黑" panose="020B0503020204020204" pitchFamily="34" charset="-122"/>
              </a:rPr>
              <a:t>（相位）的选择、</a:t>
            </a:r>
            <a:r>
              <a:rPr lang="en-US" altLang="zh-CN" dirty="0">
                <a:latin typeface="微软雅黑" panose="020B0503020204020204" pitchFamily="34" charset="-122"/>
                <a:ea typeface="微软雅黑" panose="020B0503020204020204" pitchFamily="34" charset="-122"/>
              </a:rPr>
              <a:t>Horizontal</a:t>
            </a:r>
            <a:r>
              <a:rPr lang="zh-CN" altLang="zh-CN" dirty="0">
                <a:latin typeface="微软雅黑" panose="020B0503020204020204" pitchFamily="34" charset="-122"/>
                <a:ea typeface="微软雅黑" panose="020B0503020204020204" pitchFamily="34" charset="-122"/>
              </a:rPr>
              <a:t>（横轴）设置、</a:t>
            </a:r>
            <a:r>
              <a:rPr lang="en-US" altLang="zh-CN" dirty="0">
                <a:latin typeface="微软雅黑" panose="020B0503020204020204" pitchFamily="34" charset="-122"/>
                <a:ea typeface="微软雅黑" panose="020B0503020204020204" pitchFamily="34" charset="-122"/>
              </a:rPr>
              <a:t>Vertical</a:t>
            </a:r>
            <a:r>
              <a:rPr lang="zh-CN" altLang="zh-CN" dirty="0">
                <a:latin typeface="微软雅黑" panose="020B0503020204020204" pitchFamily="34" charset="-122"/>
                <a:ea typeface="微软雅黑" panose="020B0503020204020204" pitchFamily="34" charset="-122"/>
              </a:rPr>
              <a:t>（纵轴）设置、显示方式的其他控制信号，面板中的</a:t>
            </a:r>
            <a:r>
              <a:rPr lang="en-US" altLang="zh-CN" dirty="0">
                <a:latin typeface="微软雅黑" panose="020B0503020204020204" pitchFamily="34" charset="-122"/>
                <a:ea typeface="微软雅黑" panose="020B0503020204020204" pitchFamily="34" charset="-122"/>
              </a:rPr>
              <a:t>F</a:t>
            </a:r>
            <a:r>
              <a:rPr lang="zh-CN" altLang="zh-CN" dirty="0">
                <a:latin typeface="微软雅黑" panose="020B0503020204020204" pitchFamily="34" charset="-122"/>
                <a:ea typeface="微软雅黑" panose="020B0503020204020204" pitchFamily="34" charset="-122"/>
              </a:rPr>
              <a:t>指的是终值，</a:t>
            </a:r>
            <a:r>
              <a:rPr lang="en-US" altLang="zh-CN" dirty="0">
                <a:latin typeface="微软雅黑" panose="020B0503020204020204" pitchFamily="34" charset="-122"/>
                <a:ea typeface="微软雅黑" panose="020B0503020204020204" pitchFamily="34" charset="-122"/>
              </a:rPr>
              <a:t>I</a:t>
            </a:r>
            <a:r>
              <a:rPr lang="zh-CN" altLang="zh-CN" dirty="0">
                <a:latin typeface="微软雅黑" panose="020B0503020204020204" pitchFamily="34" charset="-122"/>
                <a:ea typeface="微软雅黑" panose="020B0503020204020204" pitchFamily="34" charset="-122"/>
              </a:rPr>
              <a:t>指的是初值。在波特图仪的面板上，可以直接设置横轴和纵轴的坐标及其参数。</a:t>
            </a:r>
            <a:endParaRPr lang="en-US" altLang="zh-CN" sz="1100" dirty="0">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2"/>
          <a:stretch>
            <a:fillRect/>
          </a:stretch>
        </p:blipFill>
        <p:spPr>
          <a:xfrm>
            <a:off x="1535621" y="2636912"/>
            <a:ext cx="6000750" cy="2657475"/>
          </a:xfrm>
          <a:prstGeom prst="rect">
            <a:avLst/>
          </a:prstGeom>
        </p:spPr>
      </p:pic>
      <p:sp>
        <p:nvSpPr>
          <p:cNvPr id="6" name="矩形 5"/>
          <p:cNvSpPr/>
          <p:nvPr/>
        </p:nvSpPr>
        <p:spPr>
          <a:xfrm>
            <a:off x="3285220" y="5652416"/>
            <a:ext cx="2738250" cy="369332"/>
          </a:xfrm>
          <a:prstGeom prst="rect">
            <a:avLst/>
          </a:prstGeom>
        </p:spPr>
        <p:txBody>
          <a:bodyPr wrap="none">
            <a:spAutoFit/>
          </a:bodyPr>
          <a:lstStyle/>
          <a:p>
            <a:pPr algn="ctr"/>
            <a:r>
              <a:rPr lang="zh-CN" altLang="en-US" dirty="0">
                <a:latin typeface="微软雅黑" panose="020B0503020204020204" pitchFamily="34" charset="-122"/>
                <a:ea typeface="微软雅黑" panose="020B0503020204020204" pitchFamily="34" charset="-122"/>
              </a:rPr>
              <a:t>图</a:t>
            </a:r>
            <a:r>
              <a:rPr lang="en-US" altLang="zh-CN" dirty="0">
                <a:latin typeface="微软雅黑" panose="020B0503020204020204" pitchFamily="34" charset="-122"/>
                <a:ea typeface="微软雅黑" panose="020B0503020204020204" pitchFamily="34" charset="-122"/>
              </a:rPr>
              <a:t>29   </a:t>
            </a:r>
            <a:r>
              <a:rPr lang="zh-CN" altLang="zh-CN" dirty="0">
                <a:latin typeface="微软雅黑" panose="020B0503020204020204" pitchFamily="34" charset="-122"/>
                <a:ea typeface="微软雅黑" panose="020B0503020204020204" pitchFamily="34" charset="-122"/>
              </a:rPr>
              <a:t>波特图仪控制面板</a:t>
            </a:r>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7520591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79512" y="332656"/>
            <a:ext cx="8712968" cy="2516073"/>
          </a:xfrm>
          <a:prstGeom prst="rect">
            <a:avLst/>
          </a:prstGeom>
        </p:spPr>
        <p:txBody>
          <a:bodyPr wrap="square">
            <a:spAutoFit/>
          </a:bodyPr>
          <a:lstStyle/>
          <a:p>
            <a:pPr>
              <a:lnSpc>
                <a:spcPct val="125000"/>
              </a:lnSpc>
              <a:spcBef>
                <a:spcPct val="20000"/>
              </a:spcBef>
              <a:buClr>
                <a:schemeClr val="accent1"/>
              </a:buClr>
              <a:buSzPct val="100000"/>
              <a:defRPr/>
            </a:pPr>
            <a:r>
              <a:rPr lang="en-US" altLang="zh-CN" b="1" dirty="0">
                <a:latin typeface="微软雅黑" panose="020B0503020204020204" pitchFamily="34" charset="-122"/>
                <a:ea typeface="微软雅黑" panose="020B0503020204020204" pitchFamily="34" charset="-122"/>
              </a:rPr>
              <a:t>5</a:t>
            </a:r>
            <a:r>
              <a:rPr lang="zh-CN" altLang="en-US" b="1" dirty="0">
                <a:latin typeface="微软雅黑" panose="020B0503020204020204" pitchFamily="34" charset="-122"/>
                <a:ea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rPr>
              <a:t> IV</a:t>
            </a:r>
            <a:r>
              <a:rPr lang="zh-CN" altLang="zh-CN" b="1" dirty="0">
                <a:latin typeface="微软雅黑" panose="020B0503020204020204" pitchFamily="34" charset="-122"/>
                <a:ea typeface="微软雅黑" panose="020B0503020204020204" pitchFamily="34" charset="-122"/>
              </a:rPr>
              <a:t>分析仪（</a:t>
            </a:r>
            <a:r>
              <a:rPr lang="en-US" altLang="zh-CN" b="1" dirty="0">
                <a:latin typeface="微软雅黑" panose="020B0503020204020204" pitchFamily="34" charset="-122"/>
                <a:ea typeface="微软雅黑" panose="020B0503020204020204" pitchFamily="34" charset="-122"/>
              </a:rPr>
              <a:t>IV Analyzer</a:t>
            </a:r>
            <a:r>
              <a:rPr lang="zh-CN" altLang="zh-CN" b="1" dirty="0">
                <a:latin typeface="微软雅黑" panose="020B0503020204020204" pitchFamily="34" charset="-122"/>
                <a:ea typeface="微软雅黑" panose="020B0503020204020204" pitchFamily="34" charset="-122"/>
              </a:rPr>
              <a:t>）</a:t>
            </a:r>
            <a:endParaRPr lang="en-US" altLang="zh-CN" b="1" dirty="0">
              <a:latin typeface="微软雅黑" panose="020B0503020204020204" pitchFamily="34" charset="-122"/>
              <a:ea typeface="微软雅黑" panose="020B0503020204020204" pitchFamily="34" charset="-122"/>
            </a:endParaRPr>
          </a:p>
          <a:p>
            <a:pPr algn="just">
              <a:lnSpc>
                <a:spcPct val="125000"/>
              </a:lnSpc>
            </a:pPr>
            <a:r>
              <a:rPr lang="en-US" altLang="zh-CN" dirty="0">
                <a:latin typeface="微软雅黑" panose="020B0503020204020204" pitchFamily="34" charset="-122"/>
                <a:ea typeface="微软雅黑" panose="020B0503020204020204" pitchFamily="34" charset="-122"/>
              </a:rPr>
              <a:t>     IV</a:t>
            </a:r>
            <a:r>
              <a:rPr lang="zh-CN" altLang="zh-CN" dirty="0">
                <a:latin typeface="微软雅黑" panose="020B0503020204020204" pitchFamily="34" charset="-122"/>
                <a:ea typeface="微软雅黑" panose="020B0503020204020204" pitchFamily="34" charset="-122"/>
              </a:rPr>
              <a:t>分析仪专门用来分析晶体管的伏安特性曲线，如二极管、</a:t>
            </a:r>
            <a:r>
              <a:rPr lang="en-US" altLang="zh-CN" dirty="0">
                <a:latin typeface="微软雅黑" panose="020B0503020204020204" pitchFamily="34" charset="-122"/>
                <a:ea typeface="微软雅黑" panose="020B0503020204020204" pitchFamily="34" charset="-122"/>
              </a:rPr>
              <a:t>NPN</a:t>
            </a:r>
            <a:r>
              <a:rPr lang="zh-CN" altLang="zh-CN" dirty="0">
                <a:latin typeface="微软雅黑" panose="020B0503020204020204" pitchFamily="34" charset="-122"/>
                <a:ea typeface="微软雅黑" panose="020B0503020204020204" pitchFamily="34" charset="-122"/>
              </a:rPr>
              <a:t>管、</a:t>
            </a:r>
            <a:r>
              <a:rPr lang="en-US" altLang="zh-CN" dirty="0">
                <a:latin typeface="微软雅黑" panose="020B0503020204020204" pitchFamily="34" charset="-122"/>
                <a:ea typeface="微软雅黑" panose="020B0503020204020204" pitchFamily="34" charset="-122"/>
              </a:rPr>
              <a:t>PNP</a:t>
            </a:r>
            <a:r>
              <a:rPr lang="zh-CN" altLang="zh-CN" dirty="0">
                <a:latin typeface="微软雅黑" panose="020B0503020204020204" pitchFamily="34" charset="-122"/>
                <a:ea typeface="微软雅黑" panose="020B0503020204020204" pitchFamily="34" charset="-122"/>
              </a:rPr>
              <a:t>管、</a:t>
            </a:r>
            <a:r>
              <a:rPr lang="en-US" altLang="zh-CN" dirty="0">
                <a:latin typeface="微软雅黑" panose="020B0503020204020204" pitchFamily="34" charset="-122"/>
                <a:ea typeface="微软雅黑" panose="020B0503020204020204" pitchFamily="34" charset="-122"/>
              </a:rPr>
              <a:t>NMOS</a:t>
            </a:r>
            <a:r>
              <a:rPr lang="zh-CN" altLang="zh-CN" dirty="0">
                <a:latin typeface="微软雅黑" panose="020B0503020204020204" pitchFamily="34" charset="-122"/>
                <a:ea typeface="微软雅黑" panose="020B0503020204020204" pitchFamily="34" charset="-122"/>
              </a:rPr>
              <a:t>管、</a:t>
            </a:r>
            <a:r>
              <a:rPr lang="en-US" altLang="zh-CN" dirty="0">
                <a:latin typeface="微软雅黑" panose="020B0503020204020204" pitchFamily="34" charset="-122"/>
                <a:ea typeface="微软雅黑" panose="020B0503020204020204" pitchFamily="34" charset="-122"/>
              </a:rPr>
              <a:t>PMOS</a:t>
            </a:r>
            <a:r>
              <a:rPr lang="zh-CN" altLang="zh-CN" dirty="0">
                <a:latin typeface="微软雅黑" panose="020B0503020204020204" pitchFamily="34" charset="-122"/>
                <a:ea typeface="微软雅黑" panose="020B0503020204020204" pitchFamily="34" charset="-122"/>
              </a:rPr>
              <a:t>管等器件。</a:t>
            </a:r>
            <a:endParaRPr lang="en-US" altLang="zh-CN" dirty="0">
              <a:latin typeface="微软雅黑" panose="020B0503020204020204" pitchFamily="34" charset="-122"/>
              <a:ea typeface="微软雅黑" panose="020B0503020204020204" pitchFamily="34" charset="-122"/>
            </a:endParaRPr>
          </a:p>
          <a:p>
            <a:pPr algn="just">
              <a:lnSpc>
                <a:spcPct val="125000"/>
              </a:lnSpc>
            </a:pPr>
            <a:r>
              <a:rPr lang="en-US" altLang="zh-CN" dirty="0">
                <a:latin typeface="微软雅黑" panose="020B0503020204020204" pitchFamily="34" charset="-122"/>
                <a:ea typeface="微软雅黑" panose="020B0503020204020204" pitchFamily="34" charset="-122"/>
              </a:rPr>
              <a:t>       </a:t>
            </a:r>
            <a:r>
              <a:rPr lang="zh-CN" altLang="zh-CN" dirty="0">
                <a:latin typeface="微软雅黑" panose="020B0503020204020204" pitchFamily="34" charset="-122"/>
                <a:ea typeface="微软雅黑" panose="020B0503020204020204" pitchFamily="34" charset="-122"/>
              </a:rPr>
              <a:t>如图</a:t>
            </a:r>
            <a:r>
              <a:rPr lang="en-US" altLang="zh-CN" dirty="0">
                <a:latin typeface="微软雅黑" panose="020B0503020204020204" pitchFamily="34" charset="-122"/>
                <a:ea typeface="微软雅黑" panose="020B0503020204020204" pitchFamily="34" charset="-122"/>
              </a:rPr>
              <a:t>30</a:t>
            </a:r>
            <a:r>
              <a:rPr lang="zh-CN" altLang="zh-CN" dirty="0">
                <a:latin typeface="微软雅黑" panose="020B0503020204020204" pitchFamily="34" charset="-122"/>
                <a:ea typeface="微软雅黑" panose="020B0503020204020204" pitchFamily="34" charset="-122"/>
              </a:rPr>
              <a:t>所示，伏安特性测试仪的操作界面包括图形显示窗、元器件状态显示文本框、</a:t>
            </a:r>
            <a:r>
              <a:rPr lang="en-US" altLang="zh-CN" dirty="0">
                <a:latin typeface="微软雅黑" panose="020B0503020204020204" pitchFamily="34" charset="-122"/>
                <a:ea typeface="微软雅黑" panose="020B0503020204020204" pitchFamily="34" charset="-122"/>
              </a:rPr>
              <a:t>Components</a:t>
            </a:r>
            <a:r>
              <a:rPr lang="zh-CN" altLang="zh-CN" dirty="0">
                <a:latin typeface="微软雅黑" panose="020B0503020204020204" pitchFamily="34" charset="-122"/>
                <a:ea typeface="微软雅黑" panose="020B0503020204020204" pitchFamily="34" charset="-122"/>
              </a:rPr>
              <a:t>下拉列表框、</a:t>
            </a:r>
            <a:r>
              <a:rPr lang="en-US" altLang="zh-CN" dirty="0">
                <a:latin typeface="微软雅黑" panose="020B0503020204020204" pitchFamily="34" charset="-122"/>
                <a:ea typeface="微软雅黑" panose="020B0503020204020204" pitchFamily="34" charset="-122"/>
              </a:rPr>
              <a:t>Current Range</a:t>
            </a:r>
            <a:r>
              <a:rPr lang="zh-CN" altLang="zh-CN"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A</a:t>
            </a:r>
            <a:r>
              <a:rPr lang="zh-CN" altLang="zh-CN" dirty="0">
                <a:latin typeface="微软雅黑" panose="020B0503020204020204" pitchFamily="34" charset="-122"/>
                <a:ea typeface="微软雅黑" panose="020B0503020204020204" pitchFamily="34" charset="-122"/>
              </a:rPr>
              <a:t>）复选框、</a:t>
            </a:r>
            <a:r>
              <a:rPr lang="en-US" altLang="zh-CN" dirty="0">
                <a:latin typeface="微软雅黑" panose="020B0503020204020204" pitchFamily="34" charset="-122"/>
                <a:ea typeface="微软雅黑" panose="020B0503020204020204" pitchFamily="34" charset="-122"/>
              </a:rPr>
              <a:t>Voltage Range</a:t>
            </a:r>
            <a:r>
              <a:rPr lang="zh-CN" altLang="zh-CN"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V</a:t>
            </a:r>
            <a:r>
              <a:rPr lang="zh-CN" altLang="zh-CN" dirty="0">
                <a:latin typeface="微软雅黑" panose="020B0503020204020204" pitchFamily="34" charset="-122"/>
                <a:ea typeface="微软雅黑" panose="020B0503020204020204" pitchFamily="34" charset="-122"/>
              </a:rPr>
              <a:t>）复选框、</a:t>
            </a:r>
            <a:r>
              <a:rPr lang="en-US" altLang="zh-CN" dirty="0">
                <a:latin typeface="微软雅黑" panose="020B0503020204020204" pitchFamily="34" charset="-122"/>
                <a:ea typeface="微软雅黑" panose="020B0503020204020204" pitchFamily="34" charset="-122"/>
              </a:rPr>
              <a:t>Reverse</a:t>
            </a:r>
            <a:r>
              <a:rPr lang="zh-CN" altLang="zh-CN" dirty="0">
                <a:latin typeface="微软雅黑" panose="020B0503020204020204" pitchFamily="34" charset="-122"/>
                <a:ea typeface="微软雅黑" panose="020B0503020204020204" pitchFamily="34" charset="-122"/>
              </a:rPr>
              <a:t>按钮、</a:t>
            </a:r>
            <a:r>
              <a:rPr lang="en-US" altLang="zh-CN" dirty="0">
                <a:latin typeface="微软雅黑" panose="020B0503020204020204" pitchFamily="34" charset="-122"/>
                <a:ea typeface="微软雅黑" panose="020B0503020204020204" pitchFamily="34" charset="-122"/>
              </a:rPr>
              <a:t>Simulate </a:t>
            </a:r>
            <a:r>
              <a:rPr lang="en-US" altLang="zh-CN" dirty="0" err="1">
                <a:latin typeface="微软雅黑" panose="020B0503020204020204" pitchFamily="34" charset="-122"/>
                <a:ea typeface="微软雅黑" panose="020B0503020204020204" pitchFamily="34" charset="-122"/>
              </a:rPr>
              <a:t>param</a:t>
            </a:r>
            <a:r>
              <a:rPr lang="en-US" altLang="zh-CN" dirty="0">
                <a:latin typeface="微软雅黑" panose="020B0503020204020204" pitchFamily="34" charset="-122"/>
                <a:ea typeface="微软雅黑" panose="020B0503020204020204" pitchFamily="34" charset="-122"/>
              </a:rPr>
              <a:t>.</a:t>
            </a:r>
            <a:r>
              <a:rPr lang="zh-CN" altLang="zh-CN" dirty="0">
                <a:latin typeface="微软雅黑" panose="020B0503020204020204" pitchFamily="34" charset="-122"/>
                <a:ea typeface="微软雅黑" panose="020B0503020204020204" pitchFamily="34" charset="-122"/>
              </a:rPr>
              <a:t>按钮和接线端子指示窗（操作界面的右下角）组成。</a:t>
            </a:r>
          </a:p>
        </p:txBody>
      </p:sp>
      <p:pic>
        <p:nvPicPr>
          <p:cNvPr id="5" name="图片 4"/>
          <p:cNvPicPr>
            <a:picLocks noChangeAspect="1"/>
          </p:cNvPicPr>
          <p:nvPr/>
        </p:nvPicPr>
        <p:blipFill>
          <a:blip r:embed="rId2"/>
          <a:stretch>
            <a:fillRect/>
          </a:stretch>
        </p:blipFill>
        <p:spPr>
          <a:xfrm>
            <a:off x="199642" y="3561803"/>
            <a:ext cx="1293075" cy="1235349"/>
          </a:xfrm>
          <a:prstGeom prst="rect">
            <a:avLst/>
          </a:prstGeom>
        </p:spPr>
      </p:pic>
      <p:pic>
        <p:nvPicPr>
          <p:cNvPr id="6" name="图片 5"/>
          <p:cNvPicPr>
            <a:picLocks noChangeAspect="1"/>
          </p:cNvPicPr>
          <p:nvPr/>
        </p:nvPicPr>
        <p:blipFill>
          <a:blip r:embed="rId3"/>
          <a:stretch>
            <a:fillRect/>
          </a:stretch>
        </p:blipFill>
        <p:spPr>
          <a:xfrm>
            <a:off x="1603765" y="2924944"/>
            <a:ext cx="4753658" cy="3081338"/>
          </a:xfrm>
          <a:prstGeom prst="rect">
            <a:avLst/>
          </a:prstGeom>
        </p:spPr>
      </p:pic>
      <p:sp>
        <p:nvSpPr>
          <p:cNvPr id="7" name="矩形 6"/>
          <p:cNvSpPr/>
          <p:nvPr/>
        </p:nvSpPr>
        <p:spPr>
          <a:xfrm>
            <a:off x="2267744" y="6215875"/>
            <a:ext cx="2900154" cy="369332"/>
          </a:xfrm>
          <a:prstGeom prst="rect">
            <a:avLst/>
          </a:prstGeom>
        </p:spPr>
        <p:txBody>
          <a:bodyPr wrap="none">
            <a:spAutoFit/>
          </a:bodyPr>
          <a:lstStyle/>
          <a:p>
            <a:pPr algn="ctr"/>
            <a:r>
              <a:rPr lang="zh-CN" altLang="en-US" dirty="0">
                <a:latin typeface="微软雅黑" panose="020B0503020204020204" pitchFamily="34" charset="-122"/>
                <a:ea typeface="微软雅黑" panose="020B0503020204020204" pitchFamily="34" charset="-122"/>
              </a:rPr>
              <a:t>图</a:t>
            </a:r>
            <a:r>
              <a:rPr lang="en-US" altLang="zh-CN" dirty="0">
                <a:latin typeface="微软雅黑" panose="020B0503020204020204" pitchFamily="34" charset="-122"/>
                <a:ea typeface="微软雅黑" panose="020B0503020204020204" pitchFamily="34" charset="-122"/>
              </a:rPr>
              <a:t>30  </a:t>
            </a:r>
            <a:r>
              <a:rPr lang="zh-CN" altLang="en-US" dirty="0">
                <a:latin typeface="微软雅黑" panose="020B0503020204020204" pitchFamily="34" charset="-122"/>
                <a:ea typeface="微软雅黑" panose="020B0503020204020204" pitchFamily="34" charset="-122"/>
              </a:rPr>
              <a:t>伏安特性测试仪面板</a:t>
            </a:r>
            <a:endParaRPr lang="en-US" altLang="zh-CN" dirty="0">
              <a:latin typeface="微软雅黑" panose="020B0503020204020204" pitchFamily="34" charset="-122"/>
              <a:ea typeface="微软雅黑" panose="020B0503020204020204" pitchFamily="34" charset="-122"/>
            </a:endParaRPr>
          </a:p>
        </p:txBody>
      </p:sp>
      <p:sp>
        <p:nvSpPr>
          <p:cNvPr id="8" name="矩形 7"/>
          <p:cNvSpPr/>
          <p:nvPr/>
        </p:nvSpPr>
        <p:spPr>
          <a:xfrm>
            <a:off x="6573447" y="2852936"/>
            <a:ext cx="2319033" cy="2830711"/>
          </a:xfrm>
          <a:prstGeom prst="rect">
            <a:avLst/>
          </a:prstGeom>
        </p:spPr>
        <p:txBody>
          <a:bodyPr wrap="square">
            <a:spAutoFit/>
          </a:bodyPr>
          <a:lstStyle/>
          <a:p>
            <a:pPr>
              <a:lnSpc>
                <a:spcPct val="125000"/>
              </a:lnSpc>
            </a:pPr>
            <a:r>
              <a:rPr lang="zh-CN" altLang="zh-CN" dirty="0">
                <a:latin typeface="微软雅黑" panose="020B0503020204020204" pitchFamily="34" charset="-122"/>
                <a:ea typeface="微软雅黑" panose="020B0503020204020204" pitchFamily="34" charset="-122"/>
              </a:rPr>
              <a:t>当在</a:t>
            </a:r>
            <a:r>
              <a:rPr lang="en-US" altLang="zh-CN" dirty="0">
                <a:latin typeface="微软雅黑" panose="020B0503020204020204" pitchFamily="34" charset="-122"/>
                <a:ea typeface="微软雅黑" panose="020B0503020204020204" pitchFamily="34" charset="-122"/>
              </a:rPr>
              <a:t>Components</a:t>
            </a:r>
            <a:r>
              <a:rPr lang="zh-CN" altLang="zh-CN" dirty="0">
                <a:latin typeface="微软雅黑" panose="020B0503020204020204" pitchFamily="34" charset="-122"/>
                <a:ea typeface="微软雅黑" panose="020B0503020204020204" pitchFamily="34" charset="-122"/>
              </a:rPr>
              <a:t>下拉列表框中选择了元器件以后，则在该指示窗显示对应元器件的管脚（如三极管的</a:t>
            </a:r>
            <a:r>
              <a:rPr lang="en-US" altLang="zh-CN" dirty="0">
                <a:latin typeface="微软雅黑" panose="020B0503020204020204" pitchFamily="34" charset="-122"/>
                <a:ea typeface="微软雅黑" panose="020B0503020204020204" pitchFamily="34" charset="-122"/>
              </a:rPr>
              <a:t>b</a:t>
            </a:r>
            <a:r>
              <a:rPr lang="zh-CN" altLang="zh-CN" i="1" dirty="0">
                <a:latin typeface="微软雅黑" panose="020B0503020204020204" pitchFamily="34" charset="-122"/>
                <a:ea typeface="微软雅黑" panose="020B0503020204020204" pitchFamily="34" charset="-122"/>
              </a:rPr>
              <a:t>、</a:t>
            </a:r>
            <a:r>
              <a:rPr lang="en-US" altLang="zh-CN" i="1" dirty="0">
                <a:latin typeface="微软雅黑" panose="020B0503020204020204" pitchFamily="34" charset="-122"/>
                <a:ea typeface="微软雅黑" panose="020B0503020204020204" pitchFamily="34" charset="-122"/>
              </a:rPr>
              <a:t>c</a:t>
            </a:r>
            <a:r>
              <a:rPr lang="zh-CN" altLang="zh-CN" dirty="0">
                <a:latin typeface="微软雅黑" panose="020B0503020204020204" pitchFamily="34" charset="-122"/>
                <a:ea typeface="微软雅黑" panose="020B0503020204020204" pitchFamily="34" charset="-122"/>
              </a:rPr>
              <a:t>和</a:t>
            </a:r>
            <a:r>
              <a:rPr lang="en-US" altLang="zh-CN" dirty="0">
                <a:latin typeface="微软雅黑" panose="020B0503020204020204" pitchFamily="34" charset="-122"/>
                <a:ea typeface="微软雅黑" panose="020B0503020204020204" pitchFamily="34" charset="-122"/>
              </a:rPr>
              <a:t>e</a:t>
            </a:r>
            <a:r>
              <a:rPr lang="zh-CN" altLang="zh-CN" dirty="0">
                <a:latin typeface="微软雅黑" panose="020B0503020204020204" pitchFamily="34" charset="-122"/>
                <a:ea typeface="微软雅黑" panose="020B0503020204020204" pitchFamily="34" charset="-122"/>
              </a:rPr>
              <a:t>），用来指示元器件和伏安特性测试仪的图标连接。</a:t>
            </a:r>
          </a:p>
        </p:txBody>
      </p:sp>
    </p:spTree>
    <p:extLst>
      <p:ext uri="{BB962C8B-B14F-4D97-AF65-F5344CB8AC3E}">
        <p14:creationId xmlns:p14="http://schemas.microsoft.com/office/powerpoint/2010/main" val="190162053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467544" y="548680"/>
            <a:ext cx="8280920" cy="1200329"/>
          </a:xfrm>
          <a:prstGeom prst="rect">
            <a:avLst/>
          </a:prstGeom>
        </p:spPr>
        <p:txBody>
          <a:bodyPr wrap="square">
            <a:spAutoFit/>
          </a:bodyPr>
          <a:lstStyle/>
          <a:p>
            <a:pPr algn="just"/>
            <a:r>
              <a:rPr lang="en-US" altLang="zh-CN" dirty="0">
                <a:latin typeface="微软雅黑" panose="020B0503020204020204" pitchFamily="34" charset="-122"/>
                <a:ea typeface="微软雅黑" panose="020B0503020204020204" pitchFamily="34" charset="-122"/>
              </a:rPr>
              <a:t>       Simulate Parameters</a:t>
            </a:r>
            <a:r>
              <a:rPr lang="zh-CN" altLang="en-US" dirty="0">
                <a:latin typeface="微软雅黑" panose="020B0503020204020204" pitchFamily="34" charset="-122"/>
                <a:ea typeface="微软雅黑" panose="020B0503020204020204" pitchFamily="34" charset="-122"/>
              </a:rPr>
              <a:t>用于</a:t>
            </a:r>
            <a:r>
              <a:rPr lang="zh-CN" altLang="zh-CN" dirty="0">
                <a:latin typeface="微软雅黑" panose="020B0503020204020204" pitchFamily="34" charset="-122"/>
                <a:ea typeface="微软雅黑" panose="020B0503020204020204" pitchFamily="34" charset="-122"/>
              </a:rPr>
              <a:t>伏安特性测试参数设置，单击该按钮，弹出</a:t>
            </a:r>
            <a:r>
              <a:rPr lang="en-US" altLang="zh-CN" dirty="0">
                <a:latin typeface="微软雅黑" panose="020B0503020204020204" pitchFamily="34" charset="-122"/>
                <a:ea typeface="微软雅黑" panose="020B0503020204020204" pitchFamily="34" charset="-122"/>
              </a:rPr>
              <a:t>Simulate Parameters</a:t>
            </a:r>
            <a:r>
              <a:rPr lang="zh-CN" altLang="zh-CN" dirty="0">
                <a:latin typeface="微软雅黑" panose="020B0503020204020204" pitchFamily="34" charset="-122"/>
                <a:ea typeface="微软雅黑" panose="020B0503020204020204" pitchFamily="34" charset="-122"/>
              </a:rPr>
              <a:t>对话框，如图</a:t>
            </a:r>
            <a:r>
              <a:rPr lang="en-US" altLang="zh-CN" dirty="0">
                <a:latin typeface="微软雅黑" panose="020B0503020204020204" pitchFamily="34" charset="-122"/>
                <a:ea typeface="微软雅黑" panose="020B0503020204020204" pitchFamily="34" charset="-122"/>
              </a:rPr>
              <a:t>31</a:t>
            </a:r>
            <a:r>
              <a:rPr lang="zh-CN" altLang="zh-CN" dirty="0">
                <a:latin typeface="微软雅黑" panose="020B0503020204020204" pitchFamily="34" charset="-122"/>
                <a:ea typeface="微软雅黑" panose="020B0503020204020204" pitchFamily="34" charset="-122"/>
              </a:rPr>
              <a:t>所示，</a:t>
            </a:r>
            <a:r>
              <a:rPr lang="en-US" altLang="zh-CN" dirty="0">
                <a:latin typeface="微软雅黑" panose="020B0503020204020204" pitchFamily="34" charset="-122"/>
                <a:ea typeface="微软雅黑" panose="020B0503020204020204" pitchFamily="34" charset="-122"/>
              </a:rPr>
              <a:t>Simulate Parameters</a:t>
            </a:r>
            <a:r>
              <a:rPr lang="zh-CN" altLang="zh-CN" dirty="0">
                <a:latin typeface="微软雅黑" panose="020B0503020204020204" pitchFamily="34" charset="-122"/>
                <a:ea typeface="微软雅黑" panose="020B0503020204020204" pitchFamily="34" charset="-122"/>
              </a:rPr>
              <a:t>对话框包括</a:t>
            </a:r>
            <a:r>
              <a:rPr lang="en-US" altLang="zh-CN" dirty="0">
                <a:latin typeface="微软雅黑" panose="020B0503020204020204" pitchFamily="34" charset="-122"/>
                <a:ea typeface="微软雅黑" panose="020B0503020204020204" pitchFamily="34" charset="-122"/>
              </a:rPr>
              <a:t>Source Name </a:t>
            </a:r>
            <a:r>
              <a:rPr lang="en-US" altLang="zh-CN" dirty="0" err="1">
                <a:latin typeface="微软雅黑" panose="020B0503020204020204" pitchFamily="34" charset="-122"/>
                <a:ea typeface="微软雅黑" panose="020B0503020204020204" pitchFamily="34" charset="-122"/>
              </a:rPr>
              <a:t>V_ce</a:t>
            </a:r>
            <a:r>
              <a:rPr lang="zh-CN" altLang="zh-CN" dirty="0">
                <a:latin typeface="微软雅黑" panose="020B0503020204020204" pitchFamily="34" charset="-122"/>
                <a:ea typeface="微软雅黑" panose="020B0503020204020204" pitchFamily="34" charset="-122"/>
              </a:rPr>
              <a:t>和</a:t>
            </a:r>
            <a:r>
              <a:rPr lang="en-US" altLang="zh-CN" dirty="0">
                <a:latin typeface="微软雅黑" panose="020B0503020204020204" pitchFamily="34" charset="-122"/>
                <a:ea typeface="微软雅黑" panose="020B0503020204020204" pitchFamily="34" charset="-122"/>
              </a:rPr>
              <a:t>Source Name </a:t>
            </a:r>
            <a:r>
              <a:rPr lang="en-US" altLang="zh-CN" dirty="0" err="1">
                <a:latin typeface="微软雅黑" panose="020B0503020204020204" pitchFamily="34" charset="-122"/>
                <a:ea typeface="微软雅黑" panose="020B0503020204020204" pitchFamily="34" charset="-122"/>
              </a:rPr>
              <a:t>I_b</a:t>
            </a:r>
            <a:r>
              <a:rPr lang="zh-CN" altLang="zh-CN" dirty="0">
                <a:latin typeface="微软雅黑" panose="020B0503020204020204" pitchFamily="34" charset="-122"/>
                <a:ea typeface="微软雅黑" panose="020B0503020204020204" pitchFamily="34" charset="-122"/>
              </a:rPr>
              <a:t>（对三极管可设置</a:t>
            </a:r>
            <a:r>
              <a:rPr lang="en-US" altLang="zh-CN" dirty="0" err="1">
                <a:latin typeface="微软雅黑" panose="020B0503020204020204" pitchFamily="34" charset="-122"/>
                <a:ea typeface="微软雅黑" panose="020B0503020204020204" pitchFamily="34" charset="-122"/>
              </a:rPr>
              <a:t>V_ce</a:t>
            </a:r>
            <a:r>
              <a:rPr lang="zh-CN" altLang="zh-CN" dirty="0">
                <a:latin typeface="微软雅黑" panose="020B0503020204020204" pitchFamily="34" charset="-122"/>
                <a:ea typeface="微软雅黑" panose="020B0503020204020204" pitchFamily="34" charset="-122"/>
              </a:rPr>
              <a:t>和</a:t>
            </a:r>
            <a:r>
              <a:rPr lang="en-US" altLang="zh-CN" dirty="0" err="1">
                <a:latin typeface="微软雅黑" panose="020B0503020204020204" pitchFamily="34" charset="-122"/>
                <a:ea typeface="微软雅黑" panose="020B0503020204020204" pitchFamily="34" charset="-122"/>
              </a:rPr>
              <a:t>I_b</a:t>
            </a:r>
            <a:r>
              <a:rPr lang="zh-CN" altLang="zh-CN" dirty="0">
                <a:latin typeface="微软雅黑" panose="020B0503020204020204" pitchFamily="34" charset="-122"/>
                <a:ea typeface="微软雅黑" panose="020B0503020204020204" pitchFamily="34" charset="-122"/>
              </a:rPr>
              <a:t>。其他类型晶体管，则设置其他电压。）。</a:t>
            </a:r>
            <a:endParaRPr lang="en-US" altLang="zh-CN" dirty="0">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2"/>
          <a:stretch>
            <a:fillRect/>
          </a:stretch>
        </p:blipFill>
        <p:spPr>
          <a:xfrm>
            <a:off x="2157412" y="2243137"/>
            <a:ext cx="4829175" cy="2371725"/>
          </a:xfrm>
          <a:prstGeom prst="rect">
            <a:avLst/>
          </a:prstGeom>
        </p:spPr>
      </p:pic>
      <p:sp>
        <p:nvSpPr>
          <p:cNvPr id="6" name="矩形 5"/>
          <p:cNvSpPr/>
          <p:nvPr/>
        </p:nvSpPr>
        <p:spPr>
          <a:xfrm>
            <a:off x="2759812" y="4924324"/>
            <a:ext cx="3157660" cy="369332"/>
          </a:xfrm>
          <a:prstGeom prst="rect">
            <a:avLst/>
          </a:prstGeom>
        </p:spPr>
        <p:txBody>
          <a:bodyPr wrap="none">
            <a:spAutoFit/>
          </a:bodyPr>
          <a:lstStyle/>
          <a:p>
            <a:pPr algn="ctr"/>
            <a:r>
              <a:rPr lang="zh-CN" altLang="en-US" dirty="0">
                <a:latin typeface="微软雅黑" panose="020B0503020204020204" pitchFamily="34" charset="-122"/>
                <a:ea typeface="微软雅黑" panose="020B0503020204020204" pitchFamily="34" charset="-122"/>
              </a:rPr>
              <a:t>图</a:t>
            </a:r>
            <a:r>
              <a:rPr lang="en-US" altLang="zh-CN" dirty="0">
                <a:latin typeface="微软雅黑" panose="020B0503020204020204" pitchFamily="34" charset="-122"/>
                <a:ea typeface="微软雅黑" panose="020B0503020204020204" pitchFamily="34" charset="-122"/>
              </a:rPr>
              <a:t>31   Simulate Parameters</a:t>
            </a:r>
          </a:p>
        </p:txBody>
      </p:sp>
    </p:spTree>
    <p:extLst>
      <p:ext uri="{BB962C8B-B14F-4D97-AF65-F5344CB8AC3E}">
        <p14:creationId xmlns:p14="http://schemas.microsoft.com/office/powerpoint/2010/main" val="55312410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95536" y="404664"/>
            <a:ext cx="8424936" cy="1661993"/>
          </a:xfrm>
          <a:prstGeom prst="rect">
            <a:avLst/>
          </a:prstGeom>
        </p:spPr>
        <p:txBody>
          <a:bodyPr wrap="square">
            <a:spAutoFit/>
          </a:bodyPr>
          <a:lstStyle/>
          <a:p>
            <a:pPr>
              <a:lnSpc>
                <a:spcPct val="125000"/>
              </a:lnSpc>
              <a:spcBef>
                <a:spcPct val="20000"/>
              </a:spcBef>
              <a:buClr>
                <a:schemeClr val="accent1"/>
              </a:buClr>
              <a:buSzPct val="100000"/>
              <a:defRPr/>
            </a:pPr>
            <a:r>
              <a:rPr lang="en-US" altLang="zh-CN" b="1" dirty="0">
                <a:latin typeface="微软雅黑" panose="020B0503020204020204" pitchFamily="34" charset="-122"/>
                <a:ea typeface="微软雅黑" panose="020B0503020204020204" pitchFamily="34" charset="-122"/>
              </a:rPr>
              <a:t>6</a:t>
            </a:r>
            <a:r>
              <a:rPr lang="zh-CN" altLang="en-US" b="1" dirty="0">
                <a:latin typeface="微软雅黑" panose="020B0503020204020204" pitchFamily="34" charset="-122"/>
                <a:ea typeface="微软雅黑" panose="020B0503020204020204" pitchFamily="34" charset="-122"/>
              </a:rPr>
              <a:t>）</a:t>
            </a:r>
            <a:r>
              <a:rPr lang="zh-CN" altLang="zh-CN" b="1" dirty="0">
                <a:latin typeface="微软雅黑" panose="020B0503020204020204" pitchFamily="34" charset="-122"/>
                <a:ea typeface="微软雅黑" panose="020B0503020204020204" pitchFamily="34" charset="-122"/>
              </a:rPr>
              <a:t>失真分析仪（</a:t>
            </a:r>
            <a:r>
              <a:rPr lang="en-US" altLang="zh-CN" b="1" dirty="0">
                <a:latin typeface="微软雅黑" panose="020B0503020204020204" pitchFamily="34" charset="-122"/>
                <a:ea typeface="微软雅黑" panose="020B0503020204020204" pitchFamily="34" charset="-122"/>
              </a:rPr>
              <a:t>Distortion Analyzer</a:t>
            </a:r>
            <a:r>
              <a:rPr lang="zh-CN" altLang="zh-CN" b="1" dirty="0">
                <a:latin typeface="微软雅黑" panose="020B0503020204020204" pitchFamily="34" charset="-122"/>
                <a:ea typeface="微软雅黑" panose="020B0503020204020204" pitchFamily="34" charset="-122"/>
              </a:rPr>
              <a:t>）</a:t>
            </a:r>
            <a:endParaRPr lang="en-US" altLang="zh-CN" b="1" dirty="0">
              <a:latin typeface="微软雅黑" panose="020B0503020204020204" pitchFamily="34" charset="-122"/>
              <a:ea typeface="微软雅黑" panose="020B0503020204020204" pitchFamily="34" charset="-122"/>
            </a:endParaRPr>
          </a:p>
          <a:p>
            <a:pPr algn="just">
              <a:lnSpc>
                <a:spcPct val="125000"/>
              </a:lnSpc>
            </a:pPr>
            <a:r>
              <a:rPr lang="en-US" altLang="zh-CN" dirty="0">
                <a:latin typeface="微软雅黑" panose="020B0503020204020204" pitchFamily="34" charset="-122"/>
                <a:ea typeface="微软雅黑" panose="020B0503020204020204" pitchFamily="34" charset="-122"/>
              </a:rPr>
              <a:t>      </a:t>
            </a:r>
            <a:r>
              <a:rPr lang="zh-CN" altLang="zh-CN" dirty="0">
                <a:latin typeface="微软雅黑" panose="020B0503020204020204" pitchFamily="34" charset="-122"/>
                <a:ea typeface="微软雅黑" panose="020B0503020204020204" pitchFamily="34" charset="-122"/>
              </a:rPr>
              <a:t>失真分析仪可用于测量电路的信号失真度以及信噪比等参数，经常用于测量存在较小失真度的低频信号。失真分析仪提供的频率范围为</a:t>
            </a:r>
            <a:r>
              <a:rPr lang="en-US" altLang="zh-CN" dirty="0">
                <a:latin typeface="微软雅黑" panose="020B0503020204020204" pitchFamily="34" charset="-122"/>
                <a:ea typeface="微软雅黑" panose="020B0503020204020204" pitchFamily="34" charset="-122"/>
              </a:rPr>
              <a:t>20Hz</a:t>
            </a:r>
            <a:r>
              <a:rPr lang="zh-CN" altLang="zh-CN"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100kHz</a:t>
            </a:r>
            <a:r>
              <a:rPr lang="zh-CN" altLang="zh-CN" dirty="0">
                <a:latin typeface="微软雅黑" panose="020B0503020204020204" pitchFamily="34" charset="-122"/>
                <a:ea typeface="微软雅黑" panose="020B0503020204020204" pitchFamily="34" charset="-122"/>
              </a:rPr>
              <a:t>，共有</a:t>
            </a:r>
            <a:r>
              <a:rPr lang="en-US" altLang="zh-CN" dirty="0">
                <a:latin typeface="微软雅黑" panose="020B0503020204020204" pitchFamily="34" charset="-122"/>
                <a:ea typeface="微软雅黑" panose="020B0503020204020204" pitchFamily="34" charset="-122"/>
              </a:rPr>
              <a:t>1</a:t>
            </a:r>
            <a:r>
              <a:rPr lang="zh-CN" altLang="zh-CN" dirty="0">
                <a:latin typeface="微软雅黑" panose="020B0503020204020204" pitchFamily="34" charset="-122"/>
                <a:ea typeface="微软雅黑" panose="020B0503020204020204" pitchFamily="34" charset="-122"/>
              </a:rPr>
              <a:t>个接线端。失真分析仪内部参数设置面板如图</a:t>
            </a:r>
            <a:r>
              <a:rPr lang="en-US" altLang="zh-CN" dirty="0">
                <a:latin typeface="微软雅黑" panose="020B0503020204020204" pitchFamily="34" charset="-122"/>
                <a:ea typeface="微软雅黑" panose="020B0503020204020204" pitchFamily="34" charset="-122"/>
              </a:rPr>
              <a:t>32</a:t>
            </a:r>
            <a:r>
              <a:rPr lang="zh-CN" altLang="zh-CN" dirty="0">
                <a:latin typeface="微软雅黑" panose="020B0503020204020204" pitchFamily="34" charset="-122"/>
                <a:ea typeface="微软雅黑" panose="020B0503020204020204" pitchFamily="34" charset="-122"/>
              </a:rPr>
              <a:t>所示</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algn="ctr"/>
            <a:endParaRPr lang="en-US" altLang="zh-CN" sz="1200" dirty="0"/>
          </a:p>
        </p:txBody>
      </p:sp>
      <p:pic>
        <p:nvPicPr>
          <p:cNvPr id="5" name="图片 4"/>
          <p:cNvPicPr>
            <a:picLocks noChangeAspect="1"/>
          </p:cNvPicPr>
          <p:nvPr/>
        </p:nvPicPr>
        <p:blipFill>
          <a:blip r:embed="rId2"/>
          <a:stretch>
            <a:fillRect/>
          </a:stretch>
        </p:blipFill>
        <p:spPr>
          <a:xfrm>
            <a:off x="1691680" y="2204864"/>
            <a:ext cx="5486400" cy="2895600"/>
          </a:xfrm>
          <a:prstGeom prst="rect">
            <a:avLst/>
          </a:prstGeom>
        </p:spPr>
      </p:pic>
      <p:sp>
        <p:nvSpPr>
          <p:cNvPr id="6" name="矩形 5"/>
          <p:cNvSpPr/>
          <p:nvPr/>
        </p:nvSpPr>
        <p:spPr>
          <a:xfrm>
            <a:off x="2878019" y="5589240"/>
            <a:ext cx="2438488" cy="369332"/>
          </a:xfrm>
          <a:prstGeom prst="rect">
            <a:avLst/>
          </a:prstGeom>
        </p:spPr>
        <p:txBody>
          <a:bodyPr wrap="none">
            <a:spAutoFit/>
          </a:bodyPr>
          <a:lstStyle/>
          <a:p>
            <a:pPr algn="ctr"/>
            <a:r>
              <a:rPr lang="zh-CN" altLang="en-US" dirty="0">
                <a:latin typeface="微软雅黑" panose="020B0503020204020204" pitchFamily="34" charset="-122"/>
                <a:ea typeface="微软雅黑" panose="020B0503020204020204" pitchFamily="34" charset="-122"/>
              </a:rPr>
              <a:t>图</a:t>
            </a:r>
            <a:r>
              <a:rPr lang="en-US" altLang="zh-CN" dirty="0">
                <a:latin typeface="微软雅黑" panose="020B0503020204020204" pitchFamily="34" charset="-122"/>
                <a:ea typeface="微软雅黑" panose="020B0503020204020204" pitchFamily="34" charset="-122"/>
              </a:rPr>
              <a:t>32  </a:t>
            </a:r>
            <a:r>
              <a:rPr lang="zh-CN" altLang="en-US" dirty="0">
                <a:latin typeface="微软雅黑" panose="020B0503020204020204" pitchFamily="34" charset="-122"/>
                <a:ea typeface="微软雅黑" panose="020B0503020204020204" pitchFamily="34" charset="-122"/>
              </a:rPr>
              <a:t>失真分析仪面板</a:t>
            </a:r>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334027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95536" y="620688"/>
            <a:ext cx="8424936" cy="1823576"/>
          </a:xfrm>
          <a:prstGeom prst="rect">
            <a:avLst/>
          </a:prstGeom>
        </p:spPr>
        <p:txBody>
          <a:bodyPr wrap="square">
            <a:spAutoFit/>
          </a:bodyPr>
          <a:lstStyle/>
          <a:p>
            <a:pPr algn="just">
              <a:lnSpc>
                <a:spcPct val="125000"/>
              </a:lnSpc>
            </a:pPr>
            <a:r>
              <a:rPr lang="en-US" altLang="zh-CN" dirty="0">
                <a:latin typeface="微软雅黑" panose="020B0503020204020204" pitchFamily="34" charset="-122"/>
                <a:ea typeface="微软雅黑" panose="020B0503020204020204" pitchFamily="34" charset="-122"/>
              </a:rPr>
              <a:t>      </a:t>
            </a:r>
            <a:r>
              <a:rPr lang="zh-CN" altLang="zh-CN" dirty="0">
                <a:latin typeface="微软雅黑" panose="020B0503020204020204" pitchFamily="34" charset="-122"/>
                <a:ea typeface="微软雅黑" panose="020B0503020204020204" pitchFamily="34" charset="-122"/>
              </a:rPr>
              <a:t>单击</a:t>
            </a:r>
            <a:r>
              <a:rPr lang="en-US" altLang="zh-CN" dirty="0">
                <a:latin typeface="微软雅黑" panose="020B0503020204020204" pitchFamily="34" charset="-122"/>
                <a:ea typeface="微软雅黑" panose="020B0503020204020204" pitchFamily="34" charset="-122"/>
              </a:rPr>
              <a:t>Set</a:t>
            </a:r>
            <a:r>
              <a:rPr lang="zh-CN" altLang="zh-CN" dirty="0">
                <a:latin typeface="微软雅黑" panose="020B0503020204020204" pitchFamily="34" charset="-122"/>
                <a:ea typeface="微软雅黑" panose="020B0503020204020204" pitchFamily="34" charset="-122"/>
              </a:rPr>
              <a:t>按钮，弹出</a:t>
            </a:r>
            <a:r>
              <a:rPr lang="en-US" altLang="zh-CN" dirty="0">
                <a:latin typeface="微软雅黑" panose="020B0503020204020204" pitchFamily="34" charset="-122"/>
                <a:ea typeface="微软雅黑" panose="020B0503020204020204" pitchFamily="34" charset="-122"/>
              </a:rPr>
              <a:t>Settings</a:t>
            </a:r>
            <a:r>
              <a:rPr lang="zh-CN" altLang="zh-CN" dirty="0">
                <a:latin typeface="微软雅黑" panose="020B0503020204020204" pitchFamily="34" charset="-122"/>
                <a:ea typeface="微软雅黑" panose="020B0503020204020204" pitchFamily="34" charset="-122"/>
              </a:rPr>
              <a:t>对话框，如图</a:t>
            </a:r>
            <a:r>
              <a:rPr lang="en-US" altLang="zh-CN" dirty="0">
                <a:latin typeface="微软雅黑" panose="020B0503020204020204" pitchFamily="34" charset="-122"/>
                <a:ea typeface="微软雅黑" panose="020B0503020204020204" pitchFamily="34" charset="-122"/>
              </a:rPr>
              <a:t>33</a:t>
            </a:r>
            <a:r>
              <a:rPr lang="zh-CN" altLang="zh-CN" dirty="0">
                <a:latin typeface="微软雅黑" panose="020B0503020204020204" pitchFamily="34" charset="-122"/>
                <a:ea typeface="微软雅黑" panose="020B0503020204020204" pitchFamily="34" charset="-122"/>
              </a:rPr>
              <a:t>所示</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Settings</a:t>
            </a:r>
            <a:r>
              <a:rPr lang="zh-CN" altLang="zh-CN" dirty="0">
                <a:latin typeface="微软雅黑" panose="020B0503020204020204" pitchFamily="34" charset="-122"/>
                <a:ea typeface="微软雅黑" panose="020B0503020204020204" pitchFamily="34" charset="-122"/>
              </a:rPr>
              <a:t>对话框有如下选项</a:t>
            </a:r>
            <a:r>
              <a:rPr lang="zh-CN" altLang="en-US" dirty="0">
                <a:latin typeface="微软雅黑" panose="020B0503020204020204" pitchFamily="34" charset="-122"/>
                <a:ea typeface="微软雅黑" panose="020B0503020204020204" pitchFamily="34" charset="-122"/>
              </a:rPr>
              <a:t>：</a:t>
            </a:r>
            <a:endParaRPr lang="zh-CN" altLang="zh-CN" dirty="0">
              <a:latin typeface="微软雅黑" panose="020B0503020204020204" pitchFamily="34" charset="-122"/>
              <a:ea typeface="微软雅黑" panose="020B0503020204020204" pitchFamily="34" charset="-122"/>
            </a:endParaRPr>
          </a:p>
          <a:p>
            <a:pPr algn="just">
              <a:lnSpc>
                <a:spcPct val="125000"/>
              </a:lnSpc>
            </a:pPr>
            <a:r>
              <a:rPr lang="en-US" altLang="zh-CN" dirty="0">
                <a:latin typeface="微软雅黑" panose="020B0503020204020204" pitchFamily="34" charset="-122"/>
                <a:ea typeface="微软雅黑" panose="020B0503020204020204" pitchFamily="34" charset="-122"/>
              </a:rPr>
              <a:t>      THD Definition</a:t>
            </a:r>
            <a:r>
              <a:rPr lang="zh-CN" altLang="zh-CN" dirty="0">
                <a:latin typeface="微软雅黑" panose="020B0503020204020204" pitchFamily="34" charset="-122"/>
                <a:ea typeface="微软雅黑" panose="020B0503020204020204" pitchFamily="34" charset="-122"/>
              </a:rPr>
              <a:t>：用来设置</a:t>
            </a:r>
            <a:r>
              <a:rPr lang="en-US" altLang="zh-CN" dirty="0">
                <a:latin typeface="微软雅黑" panose="020B0503020204020204" pitchFamily="34" charset="-122"/>
                <a:ea typeface="微软雅黑" panose="020B0503020204020204" pitchFamily="34" charset="-122"/>
              </a:rPr>
              <a:t>THD</a:t>
            </a:r>
            <a:r>
              <a:rPr lang="zh-CN" altLang="zh-CN" dirty="0">
                <a:latin typeface="微软雅黑" panose="020B0503020204020204" pitchFamily="34" charset="-122"/>
                <a:ea typeface="微软雅黑" panose="020B0503020204020204" pitchFamily="34" charset="-122"/>
              </a:rPr>
              <a:t>定义标准，可选择</a:t>
            </a:r>
            <a:r>
              <a:rPr lang="en-US" altLang="zh-CN" dirty="0">
                <a:latin typeface="微软雅黑" panose="020B0503020204020204" pitchFamily="34" charset="-122"/>
                <a:ea typeface="微软雅黑" panose="020B0503020204020204" pitchFamily="34" charset="-122"/>
              </a:rPr>
              <a:t>IEEE</a:t>
            </a:r>
            <a:r>
              <a:rPr lang="zh-CN" altLang="zh-CN" dirty="0">
                <a:latin typeface="微软雅黑" panose="020B0503020204020204" pitchFamily="34" charset="-122"/>
                <a:ea typeface="微软雅黑" panose="020B0503020204020204" pitchFamily="34" charset="-122"/>
              </a:rPr>
              <a:t>和</a:t>
            </a:r>
            <a:r>
              <a:rPr lang="en-US" altLang="zh-CN" dirty="0">
                <a:latin typeface="微软雅黑" panose="020B0503020204020204" pitchFamily="34" charset="-122"/>
                <a:ea typeface="微软雅黑" panose="020B0503020204020204" pitchFamily="34" charset="-122"/>
              </a:rPr>
              <a:t>ANSI/IEC</a:t>
            </a:r>
            <a:r>
              <a:rPr lang="zh-CN" altLang="zh-CN" dirty="0">
                <a:latin typeface="微软雅黑" panose="020B0503020204020204" pitchFamily="34" charset="-122"/>
                <a:ea typeface="微软雅黑" panose="020B0503020204020204" pitchFamily="34" charset="-122"/>
              </a:rPr>
              <a:t>标准。</a:t>
            </a:r>
          </a:p>
          <a:p>
            <a:pPr algn="just">
              <a:lnSpc>
                <a:spcPct val="125000"/>
              </a:lnSpc>
            </a:pPr>
            <a:r>
              <a:rPr lang="en-US" altLang="zh-CN" dirty="0">
                <a:latin typeface="微软雅黑" panose="020B0503020204020204" pitchFamily="34" charset="-122"/>
                <a:ea typeface="微软雅黑" panose="020B0503020204020204" pitchFamily="34" charset="-122"/>
              </a:rPr>
              <a:t>      Harmonic </a:t>
            </a:r>
            <a:r>
              <a:rPr lang="en-US" altLang="zh-CN" dirty="0" err="1">
                <a:latin typeface="微软雅黑" panose="020B0503020204020204" pitchFamily="34" charset="-122"/>
                <a:ea typeface="微软雅黑" panose="020B0503020204020204" pitchFamily="34" charset="-122"/>
              </a:rPr>
              <a:t>Num</a:t>
            </a:r>
            <a:r>
              <a:rPr lang="zh-CN" altLang="zh-CN" dirty="0">
                <a:latin typeface="微软雅黑" panose="020B0503020204020204" pitchFamily="34" charset="-122"/>
                <a:ea typeface="微软雅黑" panose="020B0503020204020204" pitchFamily="34" charset="-122"/>
              </a:rPr>
              <a:t>：设置谐波分析的次数。</a:t>
            </a:r>
          </a:p>
          <a:p>
            <a:pPr algn="just">
              <a:lnSpc>
                <a:spcPct val="125000"/>
              </a:lnSpc>
            </a:pPr>
            <a:r>
              <a:rPr lang="en-US" altLang="zh-CN" dirty="0">
                <a:latin typeface="微软雅黑" panose="020B0503020204020204" pitchFamily="34" charset="-122"/>
                <a:ea typeface="微软雅黑" panose="020B0503020204020204" pitchFamily="34" charset="-122"/>
              </a:rPr>
              <a:t>      FFT Points</a:t>
            </a:r>
            <a:r>
              <a:rPr lang="zh-CN" altLang="zh-CN" dirty="0">
                <a:latin typeface="微软雅黑" panose="020B0503020204020204" pitchFamily="34" charset="-122"/>
                <a:ea typeface="微软雅黑" panose="020B0503020204020204" pitchFamily="34" charset="-122"/>
              </a:rPr>
              <a:t>：设置谐波分析的取样点数。</a:t>
            </a:r>
            <a:endParaRPr lang="zh-CN" altLang="en-US" dirty="0">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2"/>
          <a:stretch>
            <a:fillRect/>
          </a:stretch>
        </p:blipFill>
        <p:spPr>
          <a:xfrm>
            <a:off x="2843808" y="2852936"/>
            <a:ext cx="2914650" cy="2695575"/>
          </a:xfrm>
          <a:prstGeom prst="rect">
            <a:avLst/>
          </a:prstGeom>
        </p:spPr>
      </p:pic>
      <p:sp>
        <p:nvSpPr>
          <p:cNvPr id="6" name="矩形 5"/>
          <p:cNvSpPr/>
          <p:nvPr/>
        </p:nvSpPr>
        <p:spPr>
          <a:xfrm>
            <a:off x="3095514" y="5957183"/>
            <a:ext cx="2411238" cy="369332"/>
          </a:xfrm>
          <a:prstGeom prst="rect">
            <a:avLst/>
          </a:prstGeom>
        </p:spPr>
        <p:txBody>
          <a:bodyPr wrap="none">
            <a:spAutoFit/>
          </a:bodyPr>
          <a:lstStyle/>
          <a:p>
            <a:pPr algn="ctr"/>
            <a:r>
              <a:rPr lang="zh-CN" altLang="en-US" dirty="0">
                <a:latin typeface="微软雅黑" panose="020B0503020204020204" pitchFamily="34" charset="-122"/>
                <a:ea typeface="微软雅黑" panose="020B0503020204020204" pitchFamily="34" charset="-122"/>
              </a:rPr>
              <a:t>图</a:t>
            </a:r>
            <a:r>
              <a:rPr lang="en-US" altLang="zh-CN" dirty="0">
                <a:latin typeface="微软雅黑" panose="020B0503020204020204" pitchFamily="34" charset="-122"/>
                <a:ea typeface="微软雅黑" panose="020B0503020204020204" pitchFamily="34" charset="-122"/>
              </a:rPr>
              <a:t>33  Settings</a:t>
            </a:r>
            <a:r>
              <a:rPr lang="zh-CN" altLang="zh-CN" dirty="0">
                <a:latin typeface="微软雅黑" panose="020B0503020204020204" pitchFamily="34" charset="-122"/>
                <a:ea typeface="微软雅黑" panose="020B0503020204020204" pitchFamily="34" charset="-122"/>
              </a:rPr>
              <a:t>对话框</a:t>
            </a:r>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71696655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p:cNvSpPr txBox="1">
            <a:spLocks/>
          </p:cNvSpPr>
          <p:nvPr/>
        </p:nvSpPr>
        <p:spPr bwMode="auto">
          <a:xfrm>
            <a:off x="179512" y="404664"/>
            <a:ext cx="8712968" cy="2304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600"/>
              </a:spcBef>
              <a:spcAft>
                <a:spcPct val="0"/>
              </a:spcAft>
              <a:buClr>
                <a:schemeClr val="tx2"/>
              </a:buClr>
              <a:buSzPct val="73000"/>
              <a:buFont typeface="Wingdings 2" panose="05020102010507070707" pitchFamily="18" charset="2"/>
              <a:buChar char=""/>
              <a:defRPr sz="2600" kern="1200">
                <a:solidFill>
                  <a:schemeClr val="tx1"/>
                </a:solidFill>
                <a:latin typeface="+mn-lt"/>
                <a:ea typeface="+mn-ea"/>
                <a:cs typeface="+mn-cs"/>
              </a:defRPr>
            </a:lvl1pPr>
            <a:lvl2pPr marL="520700" indent="-228600" algn="l" rtl="0" eaLnBrk="0" fontAlgn="base" hangingPunct="0">
              <a:spcBef>
                <a:spcPts val="500"/>
              </a:spcBef>
              <a:spcAft>
                <a:spcPct val="0"/>
              </a:spcAft>
              <a:buClr>
                <a:srgbClr val="F9B639"/>
              </a:buClr>
              <a:buSzPct val="80000"/>
              <a:buFont typeface="Wingdings 2" panose="05020102010507070707" pitchFamily="18" charset="2"/>
              <a:buChar char=""/>
              <a:defRPr sz="2300" kern="1200">
                <a:solidFill>
                  <a:srgbClr val="6C6C6C"/>
                </a:solidFill>
                <a:latin typeface="+mn-lt"/>
                <a:ea typeface="+mn-ea"/>
                <a:cs typeface="+mn-cs"/>
              </a:defRPr>
            </a:lvl2pPr>
            <a:lvl3pPr marL="758825" indent="-228600" algn="l" rtl="0" eaLnBrk="0" fontAlgn="base" hangingPunct="0">
              <a:spcBef>
                <a:spcPts val="400"/>
              </a:spcBef>
              <a:spcAft>
                <a:spcPct val="0"/>
              </a:spcAft>
              <a:buClr>
                <a:srgbClr val="F9B639"/>
              </a:buClr>
              <a:buSzPct val="60000"/>
              <a:buFont typeface="Wingdings" panose="05000000000000000000" pitchFamily="2" charset="2"/>
              <a:buChar char=""/>
              <a:defRPr sz="2000" kern="1200">
                <a:solidFill>
                  <a:schemeClr val="tx1"/>
                </a:solidFill>
                <a:latin typeface="+mn-lt"/>
                <a:ea typeface="+mn-ea"/>
                <a:cs typeface="+mn-cs"/>
              </a:defRPr>
            </a:lvl3pPr>
            <a:lvl4pPr marL="1004888" indent="-228600" algn="l" rtl="0" eaLnBrk="0" fontAlgn="base" hangingPunct="0">
              <a:spcBef>
                <a:spcPct val="20000"/>
              </a:spcBef>
              <a:spcAft>
                <a:spcPct val="0"/>
              </a:spcAft>
              <a:buClr>
                <a:srgbClr val="F9B639"/>
              </a:buClr>
              <a:buSzPct val="80000"/>
              <a:buFont typeface="Wingdings 2" panose="05020102010507070707" pitchFamily="18" charset="2"/>
              <a:buChar char=""/>
              <a:defRPr sz="2000" kern="1200">
                <a:solidFill>
                  <a:srgbClr val="6C6C6C"/>
                </a:solidFill>
                <a:latin typeface="+mn-lt"/>
                <a:ea typeface="+mn-ea"/>
                <a:cs typeface="+mn-cs"/>
              </a:defRPr>
            </a:lvl4pPr>
            <a:lvl5pPr marL="1279525" indent="-228600" algn="l" rtl="0" eaLnBrk="0" fontAlgn="base" hangingPunct="0">
              <a:spcBef>
                <a:spcPts val="400"/>
              </a:spcBef>
              <a:spcAft>
                <a:spcPct val="0"/>
              </a:spcAft>
              <a:buClr>
                <a:srgbClr val="F9B639"/>
              </a:buClr>
              <a:buSzPct val="70000"/>
              <a:buFont typeface="Wingdings" panose="05000000000000000000" pitchFamily="2" charset="2"/>
              <a:buChar char=""/>
              <a:defRPr sz="20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marR="0" lvl="0" indent="0" eaLnBrk="1" fontAlgn="base" hangingPunct="1">
              <a:lnSpc>
                <a:spcPct val="125000"/>
              </a:lnSpc>
              <a:spcBef>
                <a:spcPct val="20000"/>
              </a:spcBef>
              <a:spcAft>
                <a:spcPct val="0"/>
              </a:spcAft>
              <a:buClr>
                <a:schemeClr val="accent1"/>
              </a:buClr>
              <a:buSzPct val="100000"/>
              <a:buNone/>
              <a:tabLst/>
              <a:defRPr/>
            </a:pPr>
            <a:r>
              <a:rPr lang="en-US" altLang="zh-CN" sz="1800" b="1" dirty="0">
                <a:latin typeface="微软雅黑" panose="020B0503020204020204" pitchFamily="34" charset="-122"/>
                <a:ea typeface="微软雅黑" panose="020B0503020204020204" pitchFamily="34" charset="-122"/>
              </a:rPr>
              <a:t>7</a:t>
            </a:r>
            <a:r>
              <a:rPr lang="zh-CN" altLang="en-US" sz="1800" b="1" dirty="0">
                <a:latin typeface="微软雅黑" panose="020B0503020204020204" pitchFamily="34" charset="-122"/>
                <a:ea typeface="微软雅黑" panose="020B0503020204020204" pitchFamily="34" charset="-122"/>
              </a:rPr>
              <a:t>）</a:t>
            </a:r>
            <a:r>
              <a:rPr lang="zh-CN" altLang="zh-CN" sz="1800" b="1" dirty="0">
                <a:latin typeface="微软雅黑" panose="020B0503020204020204" pitchFamily="34" charset="-122"/>
                <a:ea typeface="微软雅黑" panose="020B0503020204020204" pitchFamily="34" charset="-122"/>
              </a:rPr>
              <a:t>测量探针</a:t>
            </a:r>
          </a:p>
          <a:p>
            <a:pPr marL="0" marR="0" lvl="0" indent="0" eaLnBrk="1" fontAlgn="base" hangingPunct="1">
              <a:lnSpc>
                <a:spcPct val="125000"/>
              </a:lnSpc>
              <a:spcBef>
                <a:spcPct val="20000"/>
              </a:spcBef>
              <a:spcAft>
                <a:spcPct val="0"/>
              </a:spcAft>
              <a:buClr>
                <a:schemeClr val="accent1"/>
              </a:buClr>
              <a:buSzPct val="100000"/>
              <a:buNone/>
              <a:tabLst/>
              <a:defRPr/>
            </a:pPr>
            <a:r>
              <a:rPr lang="en-US" altLang="zh-CN" sz="1800" dirty="0">
                <a:latin typeface="微软雅黑" panose="020B0503020204020204" pitchFamily="34" charset="-122"/>
                <a:ea typeface="微软雅黑" panose="020B0503020204020204" pitchFamily="34" charset="-122"/>
              </a:rPr>
              <a:t>      </a:t>
            </a:r>
            <a:r>
              <a:rPr lang="zh-CN" altLang="zh-CN" sz="1800" dirty="0">
                <a:latin typeface="微软雅黑" panose="020B0503020204020204" pitchFamily="34" charset="-122"/>
                <a:ea typeface="微软雅黑" panose="020B0503020204020204" pitchFamily="34" charset="-122"/>
              </a:rPr>
              <a:t>测量探针是一种实时快速测量参数的虚拟仪器，它的使用可以分为静态探针和动态探针两种使用方法。</a:t>
            </a:r>
          </a:p>
          <a:p>
            <a:pPr marL="0" marR="0" lvl="0" indent="0" eaLnBrk="1" fontAlgn="base" hangingPunct="1">
              <a:lnSpc>
                <a:spcPct val="125000"/>
              </a:lnSpc>
              <a:spcBef>
                <a:spcPct val="20000"/>
              </a:spcBef>
              <a:spcAft>
                <a:spcPct val="0"/>
              </a:spcAft>
              <a:buClr>
                <a:schemeClr val="accent1"/>
              </a:buClr>
              <a:buSzPct val="100000"/>
              <a:buNone/>
              <a:tabLst/>
              <a:defRPr/>
            </a:pPr>
            <a:r>
              <a:rPr lang="en-US" altLang="zh-CN" sz="1800" dirty="0">
                <a:latin typeface="微软雅黑" panose="020B0503020204020204" pitchFamily="34" charset="-122"/>
                <a:ea typeface="微软雅黑" panose="020B0503020204020204" pitchFamily="34" charset="-122"/>
              </a:rPr>
              <a:t>      </a:t>
            </a:r>
            <a:r>
              <a:rPr lang="zh-CN" altLang="zh-CN" sz="1800" dirty="0">
                <a:latin typeface="微软雅黑" panose="020B0503020204020204" pitchFamily="34" charset="-122"/>
                <a:ea typeface="微软雅黑" panose="020B0503020204020204" pitchFamily="34" charset="-122"/>
              </a:rPr>
              <a:t>动态探针指的是在电路仿真的过程中，在仪表栏选择</a:t>
            </a:r>
            <a:r>
              <a:rPr lang="en-US" altLang="zh-CN" sz="1800" dirty="0">
                <a:latin typeface="微软雅黑" panose="020B0503020204020204" pitchFamily="34" charset="-122"/>
                <a:ea typeface="微软雅黑" panose="020B0503020204020204" pitchFamily="34" charset="-122"/>
              </a:rPr>
              <a:t>Measurement Probe</a:t>
            </a:r>
            <a:r>
              <a:rPr lang="zh-CN" altLang="zh-CN" sz="1800" dirty="0">
                <a:latin typeface="微软雅黑" panose="020B0503020204020204" pitchFamily="34" charset="-122"/>
                <a:ea typeface="微软雅黑" panose="020B0503020204020204" pitchFamily="34" charset="-122"/>
              </a:rPr>
              <a:t>，将探针放置在电路中导线的任意一点，黄色窗口可立即显示处此处电路的电压值，如图</a:t>
            </a:r>
            <a:r>
              <a:rPr lang="en-US" altLang="zh-CN" sz="1800" dirty="0">
                <a:latin typeface="微软雅黑" panose="020B0503020204020204" pitchFamily="34" charset="-122"/>
                <a:ea typeface="微软雅黑" panose="020B0503020204020204" pitchFamily="34" charset="-122"/>
              </a:rPr>
              <a:t>25</a:t>
            </a:r>
            <a:r>
              <a:rPr lang="zh-CN" altLang="zh-CN" sz="1800" dirty="0">
                <a:latin typeface="微软雅黑" panose="020B0503020204020204" pitchFamily="34" charset="-122"/>
                <a:ea typeface="微软雅黑" panose="020B0503020204020204" pitchFamily="34" charset="-122"/>
              </a:rPr>
              <a:t>所示。动态探针的属性可在</a:t>
            </a:r>
            <a:r>
              <a:rPr lang="en-US" altLang="zh-CN" sz="1800" dirty="0">
                <a:latin typeface="微软雅黑" panose="020B0503020204020204" pitchFamily="34" charset="-122"/>
                <a:ea typeface="微软雅黑" panose="020B0503020204020204" pitchFamily="34" charset="-122"/>
              </a:rPr>
              <a:t>Simulate</a:t>
            </a:r>
            <a:r>
              <a:rPr lang="zh-CN" altLang="zh-CN" sz="1800" dirty="0">
                <a:latin typeface="微软雅黑" panose="020B0503020204020204" pitchFamily="34" charset="-122"/>
                <a:ea typeface="微软雅黑" panose="020B0503020204020204" pitchFamily="34" charset="-122"/>
              </a:rPr>
              <a:t>→</a:t>
            </a:r>
            <a:r>
              <a:rPr lang="en-US" altLang="zh-CN" sz="1800" dirty="0">
                <a:latin typeface="微软雅黑" panose="020B0503020204020204" pitchFamily="34" charset="-122"/>
                <a:ea typeface="微软雅黑" panose="020B0503020204020204" pitchFamily="34" charset="-122"/>
              </a:rPr>
              <a:t>dynamic probe properties</a:t>
            </a:r>
            <a:r>
              <a:rPr lang="zh-CN" altLang="zh-CN" sz="1800" dirty="0">
                <a:latin typeface="微软雅黑" panose="020B0503020204020204" pitchFamily="34" charset="-122"/>
                <a:ea typeface="微软雅黑" panose="020B0503020204020204" pitchFamily="34" charset="-122"/>
              </a:rPr>
              <a:t>设置。</a:t>
            </a:r>
          </a:p>
          <a:p>
            <a:pPr marL="0" marR="0" lvl="0" indent="0" algn="just"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14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just"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14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just"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14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ctr"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14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ctr"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14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ctr"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14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ctr"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14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ctr"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lang="en-US" altLang="zh-CN" sz="1400" dirty="0">
              <a:solidFill>
                <a:sysClr val="windowText" lastClr="000000"/>
              </a:solidFill>
              <a:latin typeface="Trebuchet MS"/>
              <a:ea typeface="华文新魏" panose="02010800040101010101" pitchFamily="2" charset="-122"/>
            </a:endParaRPr>
          </a:p>
          <a:p>
            <a:pPr marL="0" marR="0" lvl="0" indent="0" algn="ctr"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14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ctr"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14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ctr"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14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ctr"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14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a:p>
            <a:pPr marL="0" marR="0" lvl="0" indent="0" algn="ctr" defTabSz="914400" rtl="0" eaLnBrk="0" fontAlgn="base" latinLnBrk="0" hangingPunct="0">
              <a:lnSpc>
                <a:spcPct val="100000"/>
              </a:lnSpc>
              <a:spcBef>
                <a:spcPts val="600"/>
              </a:spcBef>
              <a:spcAft>
                <a:spcPct val="0"/>
              </a:spcAft>
              <a:buClr>
                <a:srgbClr val="B13F9A"/>
              </a:buClr>
              <a:buSzPct val="73000"/>
              <a:buFont typeface="Wingdings 2" panose="05020102010507070707" pitchFamily="18" charset="2"/>
              <a:buNone/>
              <a:tabLst/>
              <a:defRPr/>
            </a:pPr>
            <a:endParaRPr kumimoji="0" lang="en-US" altLang="zh-CN" sz="1400" b="0" i="0" u="none" strike="noStrike" kern="1200" cap="none" spc="0" normalizeH="0" baseline="0" noProof="0" dirty="0">
              <a:ln>
                <a:noFill/>
              </a:ln>
              <a:solidFill>
                <a:sysClr val="windowText" lastClr="000000"/>
              </a:solidFill>
              <a:effectLst/>
              <a:uLnTx/>
              <a:uFillTx/>
              <a:latin typeface="Trebuchet MS"/>
              <a:ea typeface="华文新魏" panose="02010800040101010101" pitchFamily="2" charset="-122"/>
              <a:cs typeface="+mn-cs"/>
            </a:endParaRPr>
          </a:p>
        </p:txBody>
      </p:sp>
      <p:pic>
        <p:nvPicPr>
          <p:cNvPr id="5" name="图片 4"/>
          <p:cNvPicPr>
            <a:picLocks noChangeAspect="1"/>
          </p:cNvPicPr>
          <p:nvPr/>
        </p:nvPicPr>
        <p:blipFill>
          <a:blip r:embed="rId2"/>
          <a:stretch>
            <a:fillRect/>
          </a:stretch>
        </p:blipFill>
        <p:spPr>
          <a:xfrm>
            <a:off x="4396617" y="2655704"/>
            <a:ext cx="2664296" cy="2855456"/>
          </a:xfrm>
          <a:prstGeom prst="rect">
            <a:avLst/>
          </a:prstGeom>
        </p:spPr>
      </p:pic>
      <p:sp>
        <p:nvSpPr>
          <p:cNvPr id="6" name="矩形 5"/>
          <p:cNvSpPr/>
          <p:nvPr/>
        </p:nvSpPr>
        <p:spPr>
          <a:xfrm>
            <a:off x="4280401" y="6309320"/>
            <a:ext cx="1883850" cy="369332"/>
          </a:xfrm>
          <a:prstGeom prst="rect">
            <a:avLst/>
          </a:prstGeom>
        </p:spPr>
        <p:txBody>
          <a:bodyPr wrap="none">
            <a:spAutoFit/>
          </a:bodyPr>
          <a:lstStyle/>
          <a:p>
            <a:pPr lvl="0" algn="ctr" eaLnBrk="0" fontAlgn="base" hangingPunct="0">
              <a:spcBef>
                <a:spcPts val="600"/>
              </a:spcBef>
              <a:spcAft>
                <a:spcPct val="0"/>
              </a:spcAft>
              <a:buClr>
                <a:srgbClr val="B13F9A"/>
              </a:buClr>
              <a:buSzPct val="73000"/>
              <a:defRPr/>
            </a:pPr>
            <a:r>
              <a:rPr lang="zh-CN" altLang="en-US" dirty="0">
                <a:solidFill>
                  <a:sysClr val="windowText" lastClr="000000"/>
                </a:solidFill>
                <a:latin typeface="微软雅黑" panose="020B0503020204020204" pitchFamily="34" charset="-122"/>
                <a:ea typeface="微软雅黑" panose="020B0503020204020204" pitchFamily="34" charset="-122"/>
              </a:rPr>
              <a:t>图</a:t>
            </a:r>
            <a:r>
              <a:rPr lang="en-US" altLang="zh-CN" dirty="0">
                <a:solidFill>
                  <a:sysClr val="windowText" lastClr="000000"/>
                </a:solidFill>
                <a:latin typeface="微软雅黑" panose="020B0503020204020204" pitchFamily="34" charset="-122"/>
                <a:ea typeface="微软雅黑" panose="020B0503020204020204" pitchFamily="34" charset="-122"/>
              </a:rPr>
              <a:t>25   </a:t>
            </a:r>
            <a:r>
              <a:rPr lang="zh-CN" altLang="zh-CN" dirty="0">
                <a:solidFill>
                  <a:sysClr val="windowText" lastClr="000000"/>
                </a:solidFill>
                <a:latin typeface="微软雅黑" panose="020B0503020204020204" pitchFamily="34" charset="-122"/>
                <a:ea typeface="微软雅黑" panose="020B0503020204020204" pitchFamily="34" charset="-122"/>
              </a:rPr>
              <a:t>动态探针 </a:t>
            </a:r>
            <a:endParaRPr lang="en-US" altLang="zh-CN" dirty="0">
              <a:solidFill>
                <a:sysClr val="windowText" lastClr="000000"/>
              </a:solidFill>
              <a:latin typeface="微软雅黑" panose="020B0503020204020204" pitchFamily="34" charset="-122"/>
              <a:ea typeface="微软雅黑" panose="020B0503020204020204" pitchFamily="34" charset="-122"/>
            </a:endParaRPr>
          </a:p>
        </p:txBody>
      </p:sp>
      <p:pic>
        <p:nvPicPr>
          <p:cNvPr id="7" name="图片 6"/>
          <p:cNvPicPr>
            <a:picLocks noChangeAspect="1"/>
          </p:cNvPicPr>
          <p:nvPr/>
        </p:nvPicPr>
        <p:blipFill>
          <a:blip r:embed="rId3"/>
          <a:stretch>
            <a:fillRect/>
          </a:stretch>
        </p:blipFill>
        <p:spPr>
          <a:xfrm>
            <a:off x="940233" y="2655704"/>
            <a:ext cx="2695663" cy="3917627"/>
          </a:xfrm>
          <a:prstGeom prst="rect">
            <a:avLst/>
          </a:prstGeom>
        </p:spPr>
      </p:pic>
    </p:spTree>
    <p:extLst>
      <p:ext uri="{BB962C8B-B14F-4D97-AF65-F5344CB8AC3E}">
        <p14:creationId xmlns:p14="http://schemas.microsoft.com/office/powerpoint/2010/main" val="295062746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p:cNvSpPr>
            <a:spLocks noGrp="1"/>
          </p:cNvSpPr>
          <p:nvPr>
            <p:ph idx="1"/>
          </p:nvPr>
        </p:nvSpPr>
        <p:spPr>
          <a:xfrm>
            <a:off x="251520" y="476672"/>
            <a:ext cx="8640960" cy="1080120"/>
          </a:xfrm>
        </p:spPr>
        <p:txBody>
          <a:bodyPr>
            <a:normAutofit lnSpcReduction="10000"/>
          </a:bodyPr>
          <a:lstStyle/>
          <a:p>
            <a:pPr marL="0" indent="0" fontAlgn="base">
              <a:lnSpc>
                <a:spcPct val="125000"/>
              </a:lnSpc>
              <a:spcAft>
                <a:spcPct val="0"/>
              </a:spcAft>
              <a:buNone/>
              <a:defRPr/>
            </a:pPr>
            <a:r>
              <a:rPr lang="en-US" altLang="zh-CN" sz="1800" b="0" dirty="0">
                <a:latin typeface="微软雅黑" panose="020B0503020204020204" pitchFamily="34" charset="-122"/>
                <a:ea typeface="微软雅黑" panose="020B0503020204020204" pitchFamily="34" charset="-122"/>
              </a:rPr>
              <a:t>      </a:t>
            </a:r>
            <a:r>
              <a:rPr lang="zh-CN" altLang="zh-CN" sz="1800" b="0" dirty="0">
                <a:latin typeface="微软雅黑" panose="020B0503020204020204" pitchFamily="34" charset="-122"/>
                <a:ea typeface="微软雅黑" panose="020B0503020204020204" pitchFamily="34" charset="-122"/>
              </a:rPr>
              <a:t>静态探针指，将探针拖至任意导线上，并将探针放置在导线上，探针下侧会弹出黄色的小窗口，如图</a:t>
            </a:r>
            <a:r>
              <a:rPr lang="en-US" altLang="zh-CN" sz="1800" b="0" dirty="0">
                <a:latin typeface="微软雅黑" panose="020B0503020204020204" pitchFamily="34" charset="-122"/>
                <a:ea typeface="微软雅黑" panose="020B0503020204020204" pitchFamily="34" charset="-122"/>
              </a:rPr>
              <a:t>16</a:t>
            </a:r>
            <a:r>
              <a:rPr lang="zh-CN" altLang="zh-CN" sz="1800" b="0" dirty="0">
                <a:latin typeface="微软雅黑" panose="020B0503020204020204" pitchFamily="34" charset="-122"/>
                <a:ea typeface="微软雅黑" panose="020B0503020204020204" pitchFamily="34" charset="-122"/>
              </a:rPr>
              <a:t>所示，即可读出探测值。测量探针的测量结果根据电路理论计算得出，不对电路产生任何影响。</a:t>
            </a:r>
            <a:endParaRPr lang="en-US" altLang="zh-CN" sz="1800" b="0" dirty="0">
              <a:latin typeface="微软雅黑" panose="020B0503020204020204" pitchFamily="34" charset="-122"/>
              <a:ea typeface="微软雅黑" panose="020B0503020204020204" pitchFamily="34" charset="-122"/>
            </a:endParaRPr>
          </a:p>
          <a:p>
            <a:pPr marL="0" indent="0" algn="just">
              <a:buFont typeface="Wingdings 2" panose="05020102010507070707" pitchFamily="18" charset="2"/>
              <a:buNone/>
            </a:pPr>
            <a:endParaRPr lang="en-US" altLang="zh-CN" sz="1400" dirty="0"/>
          </a:p>
          <a:p>
            <a:pPr marL="0" indent="0" algn="ctr">
              <a:buFont typeface="Wingdings 2" panose="05020102010507070707" pitchFamily="18" charset="2"/>
              <a:buNone/>
            </a:pPr>
            <a:endParaRPr lang="en-US" altLang="zh-CN" sz="1400" dirty="0"/>
          </a:p>
        </p:txBody>
      </p:sp>
      <p:pic>
        <p:nvPicPr>
          <p:cNvPr id="8" name="图片 7"/>
          <p:cNvPicPr>
            <a:picLocks noChangeAspect="1"/>
          </p:cNvPicPr>
          <p:nvPr/>
        </p:nvPicPr>
        <p:blipFill>
          <a:blip r:embed="rId2"/>
          <a:stretch>
            <a:fillRect/>
          </a:stretch>
        </p:blipFill>
        <p:spPr>
          <a:xfrm>
            <a:off x="4961802" y="2685701"/>
            <a:ext cx="1433135" cy="1283979"/>
          </a:xfrm>
          <a:prstGeom prst="rect">
            <a:avLst/>
          </a:prstGeom>
        </p:spPr>
      </p:pic>
      <p:sp>
        <p:nvSpPr>
          <p:cNvPr id="9" name="矩形 8"/>
          <p:cNvSpPr/>
          <p:nvPr/>
        </p:nvSpPr>
        <p:spPr>
          <a:xfrm>
            <a:off x="4936401" y="5063774"/>
            <a:ext cx="1814920" cy="369332"/>
          </a:xfrm>
          <a:prstGeom prst="rect">
            <a:avLst/>
          </a:prstGeom>
        </p:spPr>
        <p:txBody>
          <a:bodyPr wrap="none">
            <a:spAutoFit/>
          </a:bodyPr>
          <a:lstStyle/>
          <a:p>
            <a:pPr lvl="0" algn="ctr" eaLnBrk="0" fontAlgn="base" hangingPunct="0">
              <a:spcBef>
                <a:spcPts val="600"/>
              </a:spcBef>
              <a:spcAft>
                <a:spcPct val="0"/>
              </a:spcAft>
              <a:buClr>
                <a:srgbClr val="B13F9A"/>
              </a:buClr>
              <a:buSzPct val="73000"/>
              <a:defRPr/>
            </a:pPr>
            <a:r>
              <a:rPr lang="zh-CN" altLang="en-US" dirty="0">
                <a:solidFill>
                  <a:sysClr val="windowText" lastClr="000000"/>
                </a:solidFill>
                <a:latin typeface="微软雅黑" panose="020B0503020204020204" pitchFamily="34" charset="-122"/>
                <a:ea typeface="微软雅黑" panose="020B0503020204020204" pitchFamily="34" charset="-122"/>
              </a:rPr>
              <a:t>图</a:t>
            </a:r>
            <a:r>
              <a:rPr lang="en-US" altLang="zh-CN" dirty="0">
                <a:solidFill>
                  <a:sysClr val="windowText" lastClr="000000"/>
                </a:solidFill>
                <a:latin typeface="微软雅黑" panose="020B0503020204020204" pitchFamily="34" charset="-122"/>
                <a:ea typeface="微软雅黑" panose="020B0503020204020204" pitchFamily="34" charset="-122"/>
              </a:rPr>
              <a:t>16  </a:t>
            </a:r>
            <a:r>
              <a:rPr lang="zh-CN" altLang="en-US" dirty="0">
                <a:solidFill>
                  <a:sysClr val="windowText" lastClr="000000"/>
                </a:solidFill>
                <a:latin typeface="微软雅黑" panose="020B0503020204020204" pitchFamily="34" charset="-122"/>
                <a:ea typeface="微软雅黑" panose="020B0503020204020204" pitchFamily="34" charset="-122"/>
              </a:rPr>
              <a:t>静</a:t>
            </a:r>
            <a:r>
              <a:rPr lang="zh-CN" altLang="zh-CN" dirty="0">
                <a:solidFill>
                  <a:sysClr val="windowText" lastClr="000000"/>
                </a:solidFill>
                <a:latin typeface="微软雅黑" panose="020B0503020204020204" pitchFamily="34" charset="-122"/>
                <a:ea typeface="微软雅黑" panose="020B0503020204020204" pitchFamily="34" charset="-122"/>
              </a:rPr>
              <a:t>态探针 </a:t>
            </a:r>
            <a:endParaRPr lang="en-US" altLang="zh-CN" dirty="0">
              <a:solidFill>
                <a:sysClr val="windowText" lastClr="000000"/>
              </a:solidFill>
              <a:latin typeface="微软雅黑" panose="020B0503020204020204" pitchFamily="34" charset="-122"/>
              <a:ea typeface="微软雅黑" panose="020B0503020204020204" pitchFamily="34" charset="-122"/>
            </a:endParaRPr>
          </a:p>
        </p:txBody>
      </p:sp>
      <p:sp>
        <p:nvSpPr>
          <p:cNvPr id="10" name="矩形 9"/>
          <p:cNvSpPr/>
          <p:nvPr/>
        </p:nvSpPr>
        <p:spPr>
          <a:xfrm>
            <a:off x="827584" y="5764163"/>
            <a:ext cx="4108817" cy="438582"/>
          </a:xfrm>
          <a:prstGeom prst="rect">
            <a:avLst/>
          </a:prstGeom>
        </p:spPr>
        <p:txBody>
          <a:bodyPr wrap="none">
            <a:spAutoFit/>
          </a:bodyPr>
          <a:lstStyle/>
          <a:p>
            <a:pPr fontAlgn="base">
              <a:lnSpc>
                <a:spcPct val="125000"/>
              </a:lnSpc>
              <a:spcBef>
                <a:spcPct val="20000"/>
              </a:spcBef>
              <a:spcAft>
                <a:spcPct val="0"/>
              </a:spcAft>
              <a:buClr>
                <a:schemeClr val="accent1"/>
              </a:buClr>
              <a:buSzPct val="100000"/>
              <a:defRPr/>
            </a:pPr>
            <a:r>
              <a:rPr lang="zh-CN" altLang="zh-CN" dirty="0">
                <a:latin typeface="微软雅黑" panose="020B0503020204020204" pitchFamily="34" charset="-122"/>
                <a:ea typeface="微软雅黑" panose="020B0503020204020204" pitchFamily="34" charset="-122"/>
              </a:rPr>
              <a:t>双击探针可对探针属性参数进行修改</a:t>
            </a:r>
            <a:r>
              <a:rPr lang="zh-CN" altLang="en-US" dirty="0">
                <a:latin typeface="微软雅黑" panose="020B0503020204020204" pitchFamily="34" charset="-122"/>
                <a:ea typeface="微软雅黑" panose="020B0503020204020204" pitchFamily="34" charset="-122"/>
              </a:rPr>
              <a:t>。</a:t>
            </a:r>
          </a:p>
        </p:txBody>
      </p:sp>
      <p:pic>
        <p:nvPicPr>
          <p:cNvPr id="11" name="图片 10"/>
          <p:cNvPicPr>
            <a:picLocks noChangeAspect="1"/>
          </p:cNvPicPr>
          <p:nvPr/>
        </p:nvPicPr>
        <p:blipFill>
          <a:blip r:embed="rId3"/>
          <a:stretch>
            <a:fillRect/>
          </a:stretch>
        </p:blipFill>
        <p:spPr>
          <a:xfrm>
            <a:off x="1540808" y="1532280"/>
            <a:ext cx="2682368" cy="3898306"/>
          </a:xfrm>
          <a:prstGeom prst="rect">
            <a:avLst/>
          </a:prstGeom>
        </p:spPr>
      </p:pic>
    </p:spTree>
    <p:extLst>
      <p:ext uri="{BB962C8B-B14F-4D97-AF65-F5344CB8AC3E}">
        <p14:creationId xmlns:p14="http://schemas.microsoft.com/office/powerpoint/2010/main" val="2338716762"/>
      </p:ext>
    </p:extLst>
  </p:cSld>
  <p:clrMapOvr>
    <a:masterClrMapping/>
  </p:clrMapOvr>
</p:sld>
</file>

<file path=ppt/theme/_rels/theme3.xml.rels><?xml version="1.0" encoding="UTF-8" standalone="yes"?>
<Relationships xmlns="http://schemas.openxmlformats.org/package/2006/relationships"><Relationship Id="rId1" Type="http://schemas.openxmlformats.org/officeDocument/2006/relationships/image" Target="../media/image2.jpeg"/></Relationships>
</file>

<file path=ppt/theme/theme1.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奥斯汀">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lumMod val="100000"/>
              </a:schemeClr>
            </a:gs>
          </a:gsLst>
          <a:lin ang="5040000" scaled="1"/>
        </a:gradFill>
        <a:gradFill rotWithShape="1">
          <a:gsLst>
            <a:gs pos="0">
              <a:schemeClr val="phClr"/>
            </a:gs>
            <a:gs pos="100000">
              <a:schemeClr val="phClr">
                <a:shade val="75000"/>
                <a:satMod val="120000"/>
                <a:lumMod val="9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scene3d>
            <a:camera prst="orthographicFront">
              <a:rot lat="0" lon="0" rev="0"/>
            </a:camera>
            <a:lightRig rig="threePt" dir="tl">
              <a:rot lat="0" lon="0" rev="20400000"/>
            </a:lightRig>
          </a:scene3d>
          <a:sp3d>
            <a:bevelT w="50800" h="12700" prst="softRound"/>
          </a:sp3d>
        </a:effectStyle>
        <a:effectStyle>
          <a:effectLst>
            <a:outerShdw blurRad="44450" dist="50800" dir="5400000" sx="96000" rotWithShape="0">
              <a:srgbClr val="000000">
                <a:alpha val="34000"/>
              </a:srgbClr>
            </a:outerShdw>
          </a:effectLst>
          <a:scene3d>
            <a:camera prst="orthographicFront">
              <a:rot lat="0" lon="0" rev="0"/>
            </a:camera>
            <a:lightRig rig="threePt" dir="tl">
              <a:rot lat="0" lon="0" rev="20400000"/>
            </a:lightRig>
          </a:scene3d>
          <a:sp3d contourW="15875" prstMaterial="metal">
            <a:bevelT w="101600" h="25400" prst="softRound"/>
            <a:contourClr>
              <a:schemeClr val="phClr">
                <a:shade val="3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波形">
  <a:themeElements>
    <a:clrScheme name="波形">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波形">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波形">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1207</TotalTime>
  <Words>4091</Words>
  <Application>Microsoft Office PowerPoint</Application>
  <PresentationFormat>全屏显示(4:3)</PresentationFormat>
  <Paragraphs>444</Paragraphs>
  <Slides>48</Slides>
  <Notes>0</Notes>
  <HiddenSlides>0</HiddenSlides>
  <MMClips>0</MMClips>
  <ScaleCrop>false</ScaleCrop>
  <HeadingPairs>
    <vt:vector size="6" baseType="variant">
      <vt:variant>
        <vt:lpstr>已用的字体</vt:lpstr>
      </vt:variant>
      <vt:variant>
        <vt:i4>14</vt:i4>
      </vt:variant>
      <vt:variant>
        <vt:lpstr>主题</vt:lpstr>
      </vt:variant>
      <vt:variant>
        <vt:i4>3</vt:i4>
      </vt:variant>
      <vt:variant>
        <vt:lpstr>幻灯片标题</vt:lpstr>
      </vt:variant>
      <vt:variant>
        <vt:i4>48</vt:i4>
      </vt:variant>
    </vt:vector>
  </HeadingPairs>
  <TitlesOfParts>
    <vt:vector size="65" baseType="lpstr">
      <vt:lpstr>等线</vt:lpstr>
      <vt:lpstr>华文楷体</vt:lpstr>
      <vt:lpstr>华文新魏</vt:lpstr>
      <vt:lpstr>隶书</vt:lpstr>
      <vt:lpstr>宋体</vt:lpstr>
      <vt:lpstr>微软雅黑</vt:lpstr>
      <vt:lpstr>新宋体</vt:lpstr>
      <vt:lpstr>Arial</vt:lpstr>
      <vt:lpstr>Calibri</vt:lpstr>
      <vt:lpstr>Candara</vt:lpstr>
      <vt:lpstr>Symbol</vt:lpstr>
      <vt:lpstr>Trebuchet MS</vt:lpstr>
      <vt:lpstr>Wingdings</vt:lpstr>
      <vt:lpstr>Wingdings 2</vt:lpstr>
      <vt:lpstr>自定义设计方案</vt:lpstr>
      <vt:lpstr>1_自定义设计方案</vt:lpstr>
      <vt:lpstr>波形</vt:lpstr>
      <vt:lpstr>PowerPoint 演示文稿</vt:lpstr>
      <vt:lpstr>实验要求</vt:lpstr>
      <vt:lpstr>实验相关说明</vt:lpstr>
      <vt:lpstr>Multisim 软件使用简介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Multisim与电路仿真设计</dc:title>
  <dc:creator>user</dc:creator>
  <cp:lastModifiedBy>张 彪</cp:lastModifiedBy>
  <cp:revision>100</cp:revision>
  <dcterms:created xsi:type="dcterms:W3CDTF">2016-07-18T07:58:34Z</dcterms:created>
  <dcterms:modified xsi:type="dcterms:W3CDTF">2020-02-21T04:00:25Z</dcterms:modified>
</cp:coreProperties>
</file>