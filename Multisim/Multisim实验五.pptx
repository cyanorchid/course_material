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33" r:id="rId2"/>
    <p:sldMasterId id="2147484010" r:id="rId3"/>
  </p:sldMasterIdLst>
  <p:notesMasterIdLst>
    <p:notesMasterId r:id="rId20"/>
  </p:notesMasterIdLst>
  <p:handoutMasterIdLst>
    <p:handoutMasterId r:id="rId21"/>
  </p:handoutMasterIdLst>
  <p:sldIdLst>
    <p:sldId id="256" r:id="rId4"/>
    <p:sldId id="257" r:id="rId5"/>
    <p:sldId id="279" r:id="rId6"/>
    <p:sldId id="286" r:id="rId7"/>
    <p:sldId id="271" r:id="rId8"/>
    <p:sldId id="272" r:id="rId9"/>
    <p:sldId id="280" r:id="rId10"/>
    <p:sldId id="281" r:id="rId11"/>
    <p:sldId id="287" r:id="rId12"/>
    <p:sldId id="283" r:id="rId13"/>
    <p:sldId id="284" r:id="rId14"/>
    <p:sldId id="285" r:id="rId15"/>
    <p:sldId id="276" r:id="rId16"/>
    <p:sldId id="269" r:id="rId17"/>
    <p:sldId id="282" r:id="rId18"/>
    <p:sldId id="262" r:id="rId1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 ol" initials="ro" lastIdx="1" clrIdx="0">
    <p:extLst>
      <p:ext uri="{19B8F6BF-5375-455C-9EA6-DF929625EA0E}">
        <p15:presenceInfo xmlns:p15="http://schemas.microsoft.com/office/powerpoint/2012/main" userId="20326588dd5375d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7846" autoAdjust="0"/>
  </p:normalViewPr>
  <p:slideViewPr>
    <p:cSldViewPr>
      <p:cViewPr varScale="1">
        <p:scale>
          <a:sx n="85" d="100"/>
          <a:sy n="85" d="100"/>
        </p:scale>
        <p:origin x="42" y="57"/>
      </p:cViewPr>
      <p:guideLst>
        <p:guide orient="horz" pos="2160"/>
        <p:guide pos="2880"/>
      </p:guideLst>
    </p:cSldViewPr>
  </p:slideViewPr>
  <p:notesTextViewPr>
    <p:cViewPr>
      <p:scale>
        <a:sx n="1" d="1"/>
        <a:sy n="1" d="1"/>
      </p:scale>
      <p:origin x="0" y="0"/>
    </p:cViewPr>
  </p:notesTextViewPr>
  <p:notesViewPr>
    <p:cSldViewPr>
      <p:cViewPr varScale="1">
        <p:scale>
          <a:sx n="81" d="100"/>
          <a:sy n="81" d="100"/>
        </p:scale>
        <p:origin x="-208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6-04T17:28:05.753" idx="1">
    <p:pos x="2342" y="3976"/>
    <p:text/>
    <p:extLst>
      <p:ext uri="{C676402C-5697-4E1C-873F-D02D1690AC5C}">
        <p15:threadingInfo xmlns:p15="http://schemas.microsoft.com/office/powerpoint/2012/main" timeZoneBias="-48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png"/><Relationship Id="rId5" Type="http://schemas.openxmlformats.org/officeDocument/2006/relationships/image" Target="../media/image16.wmf"/><Relationship Id="rId4"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2.png"/><Relationship Id="rId5" Type="http://schemas.openxmlformats.org/officeDocument/2006/relationships/image" Target="../media/image20.wmf"/><Relationship Id="rId4"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EB83EEFB-AA71-4510-89F0-588BCBB89490}" type="datetimeFigureOut">
              <a:rPr lang="zh-CN" altLang="en-US"/>
              <a:pPr>
                <a:defRPr/>
              </a:pPr>
              <a:t>2020/6/4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E735520-35BF-4B12-97CD-F724527AF2E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00D8303F-E0BB-482A-ABD4-CADC4A03F333}" type="datetimeFigureOut">
              <a:rPr lang="zh-CN" altLang="en-US"/>
              <a:pPr>
                <a:defRPr/>
              </a:pPr>
              <a:t>2020/6/4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78C221D6-29F9-41B3-9352-C230185E336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8C221D6-29F9-41B3-9352-C230185E336E}" type="slidenum">
              <a:rPr lang="zh-CN" altLang="en-US" smtClean="0"/>
              <a:pPr>
                <a:defRPr/>
              </a:pPr>
              <a:t>4</a:t>
            </a:fld>
            <a:endParaRPr lang="zh-CN" altLang="en-US"/>
          </a:p>
        </p:txBody>
      </p:sp>
    </p:spTree>
    <p:extLst>
      <p:ext uri="{BB962C8B-B14F-4D97-AF65-F5344CB8AC3E}">
        <p14:creationId xmlns:p14="http://schemas.microsoft.com/office/powerpoint/2010/main" val="2196692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DD4022F0-41E2-431D-9E64-1FA066A77646}"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D2FB7CD-6520-448D-B796-A39A6621F9FC}"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DB3E810-B9E0-4A72-8205-ED54C2990199}"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F474D5D-0526-44A4-B67E-D4848DA46DF2}"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973F2872-8599-497B-A54F-2562382D27DA}"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4FF546E-9B3F-4B8D-8F2E-2DF20F41FCD1}"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F40C0D95-0871-40BC-AF50-26BA53ECDC94}" type="datetimeFigureOut">
              <a:rPr lang="zh-CN" altLang="en-US"/>
              <a:pPr>
                <a:defRPr/>
              </a:pPr>
              <a:t>2020/6/4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9F3A42D-A423-4A09-A612-2332C088B7F7}"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68BBB59B-FE38-40C9-BD8E-8E986C44C21B}" type="datetimeFigureOut">
              <a:rPr lang="zh-CN" altLang="en-US"/>
              <a:pPr>
                <a:defRPr/>
              </a:pPr>
              <a:t>2020/6/4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42C2DB27-A8BB-4223-8315-0B58946AE7CC}"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919C36CE-ADDA-4A3F-A00A-AA92CB040F63}" type="datetimeFigureOut">
              <a:rPr lang="zh-CN" altLang="en-US"/>
              <a:pPr>
                <a:defRPr/>
              </a:pPr>
              <a:t>2020/6/4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9881505-94F9-4FA4-9C4B-BF37606B1C46}"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44D2A704-455D-4455-9060-1E50D8C27A8F}" type="datetimeFigureOut">
              <a:rPr lang="zh-CN" altLang="en-US"/>
              <a:pPr>
                <a:defRPr/>
              </a:pPr>
              <a:t>2020/6/4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7F0D3D4A-46A8-4D43-9AF1-372BC890BBB9}"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A0354D2-7780-4251-93C9-E1E9B45FD429}" type="datetimeFigureOut">
              <a:rPr lang="zh-CN" altLang="en-US"/>
              <a:pPr>
                <a:defRPr/>
              </a:pPr>
              <a:t>2020/6/4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7A5DF08-A32A-4192-A2E9-74C8954802D4}"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8DF39D3-0734-4FFF-8815-8BDF8D224370}" type="datetimeFigureOut">
              <a:rPr lang="zh-CN" altLang="en-US"/>
              <a:pPr>
                <a:defRPr/>
              </a:pPr>
              <a:t>2020/6/4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F5313EF-9F21-4ED4-8E1A-0DFE9B409D03}"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5B573E9-45C5-4201-9D28-A8FD6CC9CD6B}"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88FC336-883B-4E21-B02E-FBE242CA0388}"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1B3639B-DBC6-45AA-BD2D-D2564CB88A19}"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788DEB0-AEE1-4B18-8647-7EDA3C830FDC}"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A1EEE502-D6DF-4199-8F61-7A63CD4413FB}" type="datetimeFigureOut">
              <a:rPr lang="zh-CN" altLang="en-US"/>
              <a:pPr>
                <a:defRPr/>
              </a:pPr>
              <a:t>2020/6/4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B130C4FA-5F8C-4B19-84F4-364B32367EC0}" type="slidenum">
              <a:rPr lang="zh-CN" altLang="en-US"/>
              <a:pPr>
                <a:defRPr/>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86FAF7BD-944D-4E51-A434-4CD6815E968C}"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B604653-B439-4737-A0FB-7276655F7752}" type="slidenum">
              <a:rPr lang="zh-CN" altLang="en-US"/>
              <a:pPr>
                <a:defRPr/>
              </a:pPr>
              <a:t>‹#›</a:t>
            </a:fld>
            <a:endParaRPr lang="zh-CN" altLang="en-US"/>
          </a:p>
        </p:txBody>
      </p:sp>
    </p:spTree>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C4FE229-147B-48B4-B81C-CD9F8C9D3B65}"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7C102A8-47D2-49CE-B544-A8FE16BAE590}" type="slidenum">
              <a:rPr lang="zh-CN" altLang="en-US"/>
              <a:pPr>
                <a:defRPr/>
              </a:pPr>
              <a:t>‹#›</a:t>
            </a:fld>
            <a:endParaRPr lang="zh-CN" altLang="en-US"/>
          </a:p>
        </p:txBody>
      </p:sp>
    </p:spTree>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DFFDB5A4-5714-419C-8D53-9018A0F2779E}"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4FC75E-32AC-4190-A98E-12C88FDCF4A4}" type="slidenum">
              <a:rPr lang="zh-CN" altLang="en-US"/>
              <a:pPr>
                <a:defRPr/>
              </a:pPr>
              <a:t>‹#›</a:t>
            </a:fld>
            <a:endParaRPr lang="zh-CN" altLang="en-US"/>
          </a:p>
        </p:txBody>
      </p:sp>
    </p:spTree>
  </p:cSld>
  <p:clrMapOvr>
    <a:masterClrMapping/>
  </p:clrMapOvr>
  <p:transition spd="slow">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FF2C0AC-79E3-43CF-9D19-A8ACFCC610EA}" type="datetimeFigureOut">
              <a:rPr lang="zh-CN" altLang="en-US"/>
              <a:pPr>
                <a:defRPr/>
              </a:pPr>
              <a:t>2020/6/4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CCA16AE-F802-4D44-8510-46499ABD31A7}" type="slidenum">
              <a:rPr lang="zh-CN" altLang="en-US"/>
              <a:pPr>
                <a:defRPr/>
              </a:pPr>
              <a:t>‹#›</a:t>
            </a:fld>
            <a:endParaRPr lang="zh-CN" altLang="en-US"/>
          </a:p>
        </p:txBody>
      </p:sp>
    </p:spTree>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F614F85-4D10-48FC-BD81-7E625935E256}" type="datetimeFigureOut">
              <a:rPr lang="zh-CN" altLang="en-US"/>
              <a:pPr>
                <a:defRPr/>
              </a:pPr>
              <a:t>2020/6/4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22A7B11A-FE86-4EB5-8BE7-1672E04BDCE5}" type="slidenum">
              <a:rPr lang="zh-CN" altLang="en-US"/>
              <a:pPr>
                <a:defRPr/>
              </a:pPr>
              <a:t>‹#›</a:t>
            </a:fld>
            <a:endParaRPr lang="zh-CN" altLang="en-US"/>
          </a:p>
        </p:txBody>
      </p:sp>
    </p:spTree>
  </p:cSld>
  <p:clrMapOvr>
    <a:masterClrMapping/>
  </p:clrMapOvr>
  <p:transition spd="slow">
    <p:randomBar dir="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087FB46-1C42-4568-9F98-D816903B4C88}" type="datetimeFigureOut">
              <a:rPr lang="zh-CN" altLang="en-US"/>
              <a:pPr>
                <a:defRPr/>
              </a:pPr>
              <a:t>2020/6/4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AD34529-98F8-4426-964D-43801180A5A9}" type="slidenum">
              <a:rPr lang="zh-CN" altLang="en-US"/>
              <a:pPr>
                <a:defRPr/>
              </a:pPr>
              <a:t>‹#›</a:t>
            </a:fld>
            <a:endParaRPr lang="zh-CN" altLang="en-US"/>
          </a:p>
        </p:txBody>
      </p:sp>
    </p:spTree>
  </p:cSld>
  <p:clrMapOvr>
    <a:masterClrMapping/>
  </p:clrMapOvr>
  <p:transition spd="slow">
    <p:randomBar dir="vert"/>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52B9825-20B5-4C5E-B143-3913DACA5ECD}" type="datetimeFigureOut">
              <a:rPr lang="zh-CN" altLang="en-US"/>
              <a:pPr>
                <a:defRPr/>
              </a:pPr>
              <a:t>2020/6/4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853A1DD-A0D4-4A90-94A8-A8FF55F807FE}" type="slidenum">
              <a:rPr lang="zh-CN" altLang="en-US"/>
              <a:pPr>
                <a:defRPr/>
              </a:pPr>
              <a:t>‹#›</a:t>
            </a:fld>
            <a:endParaRPr lang="zh-CN" altLang="en-US"/>
          </a:p>
        </p:txBody>
      </p:sp>
    </p:spTree>
  </p:cSld>
  <p:clrMapOvr>
    <a:masterClrMapping/>
  </p:clrMapOvr>
  <p:transition spd="slow">
    <p:randomBar dir="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7031B2E-C6F2-4C1B-9F5A-5676BC977559}" type="datetimeFigureOut">
              <a:rPr lang="zh-CN" altLang="en-US"/>
              <a:pPr>
                <a:defRPr/>
              </a:pPr>
              <a:t>2020/6/4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76FCFD6-1F6A-4B9A-B505-F80E3792E4BC}" type="slidenum">
              <a:rPr lang="zh-CN" altLang="en-US"/>
              <a:pPr>
                <a:defRPr/>
              </a:pPr>
              <a:t>‹#›</a:t>
            </a:fld>
            <a:endParaRPr lang="zh-CN" altLang="en-US"/>
          </a:p>
        </p:txBody>
      </p:sp>
    </p:spTree>
  </p:cSld>
  <p:clrMapOvr>
    <a:masterClrMapping/>
  </p:clrMapOvr>
  <p:transition spd="slow">
    <p:randomBar dir="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E9E42B5-4AAD-4FF1-B753-D086442780F9}" type="datetimeFigureOut">
              <a:rPr lang="zh-CN" altLang="en-US"/>
              <a:pPr>
                <a:defRPr/>
              </a:pPr>
              <a:t>2020/6/4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95580EC-50DA-4F38-911C-CE1BB9FF6BEB}" type="slidenum">
              <a:rPr lang="zh-CN" altLang="en-US"/>
              <a:pPr>
                <a:defRPr/>
              </a:pPr>
              <a:t>‹#›</a:t>
            </a:fld>
            <a:endParaRPr lang="zh-CN" altLang="en-US"/>
          </a:p>
        </p:txBody>
      </p:sp>
    </p:spTree>
  </p:cSld>
  <p:clrMapOvr>
    <a:masterClrMapping/>
  </p:clrMapOvr>
  <p:transition spd="slow">
    <p:randomBar dir="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4534D32-DE7B-422C-B017-D21A6F96A20C}"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D7A2247-8C1D-43A0-9E24-7B7BCD16730A}" type="slidenum">
              <a:rPr lang="zh-CN" altLang="en-US"/>
              <a:pPr>
                <a:defRPr/>
              </a:pPr>
              <a:t>‹#›</a:t>
            </a:fld>
            <a:endParaRPr lang="zh-CN" altLang="en-US"/>
          </a:p>
        </p:txBody>
      </p:sp>
    </p:spTree>
  </p:cSld>
  <p:clrMapOvr>
    <a:masterClrMapping/>
  </p:clrMapOvr>
  <p:transition spd="slow">
    <p:randomBar dir="ver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21107C6-FF07-41FF-8252-F42FE083F9BB}" type="datetimeFigureOut">
              <a:rPr lang="zh-CN" altLang="en-US"/>
              <a:pPr>
                <a:defRPr/>
              </a:pPr>
              <a:t>2020/6/4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F6F0E7B-E2A0-466E-A022-CDD8028F9A18}" type="slidenum">
              <a:rPr lang="zh-CN" altLang="en-US"/>
              <a:pPr>
                <a:defRPr/>
              </a:pPr>
              <a:t>‹#›</a:t>
            </a:fld>
            <a:endParaRPr lang="zh-CN" altLang="en-US"/>
          </a:p>
        </p:txBody>
      </p:sp>
    </p:spTree>
  </p:cSld>
  <p:clrMapOvr>
    <a:masterClrMapping/>
  </p:clrMapOvr>
  <p:transition spd="slow">
    <p:randomBar dir="vert"/>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228600"/>
            <a:ext cx="8696325" cy="6035675"/>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5" name="Group 9"/>
          <p:cNvGrpSpPr>
            <a:grpSpLocks noChangeAspect="1"/>
          </p:cNvGrpSpPr>
          <p:nvPr/>
        </p:nvGrpSpPr>
        <p:grpSpPr bwMode="auto">
          <a:xfrm>
            <a:off x="211138" y="5354638"/>
            <a:ext cx="8723312" cy="1330325"/>
            <a:chOff x="-3905250" y="4294188"/>
            <a:chExt cx="13011150" cy="1892300"/>
          </a:xfrm>
        </p:grpSpPr>
        <p:sp>
          <p:nvSpPr>
            <p:cNvPr id="6" name="Freeform 14"/>
            <p:cNvSpPr>
              <a:spLocks/>
            </p:cNvSpPr>
            <p:nvPr/>
          </p:nvSpPr>
          <p:spPr bwMode="hidden">
            <a:xfrm>
              <a:off x="4810681" y="4499676"/>
              <a:ext cx="4295219" cy="1016152"/>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7" name="Freeform 18"/>
            <p:cNvSpPr>
              <a:spLocks/>
            </p:cNvSpPr>
            <p:nvPr/>
          </p:nvSpPr>
          <p:spPr bwMode="hidden">
            <a:xfrm>
              <a:off x="-308538" y="4319027"/>
              <a:ext cx="8280254" cy="1208092"/>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8" name="Freeform 22"/>
            <p:cNvSpPr>
              <a:spLocks/>
            </p:cNvSpPr>
            <p:nvPr/>
          </p:nvSpPr>
          <p:spPr bwMode="hidden">
            <a:xfrm>
              <a:off x="4014" y="4334834"/>
              <a:ext cx="8164231" cy="1101960"/>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p:nvSpPr>
            <p:cNvPr id="9" name="Freeform 26"/>
            <p:cNvSpPr>
              <a:spLocks/>
            </p:cNvSpPr>
            <p:nvPr/>
          </p:nvSpPr>
          <p:spPr bwMode="hidden">
            <a:xfrm>
              <a:off x="4157164" y="4316769"/>
              <a:ext cx="4939265" cy="925827"/>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useBgFill="1">
          <p:nvSpPr>
            <p:cNvPr id="10"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a:lstStyle/>
            <a:p>
              <a:pPr fontAlgn="auto">
                <a:spcBef>
                  <a:spcPts val="0"/>
                </a:spcBef>
                <a:spcAft>
                  <a:spcPts val="0"/>
                </a:spcAft>
                <a:defRPr/>
              </a:pPr>
              <a:endParaRPr lang="en-US">
                <a:latin typeface="+mn-lt"/>
                <a:ea typeface="+mn-ea"/>
              </a:endParaRPr>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a:lstStyle>
            <a:lvl1pPr>
              <a:defRPr/>
            </a:lvl1pPr>
          </a:lstStyle>
          <a:p>
            <a:pPr>
              <a:defRPr/>
            </a:pPr>
            <a:fld id="{46459081-2C71-414B-9569-E84998D322E6}" type="datetimeFigureOut">
              <a:rPr lang="zh-CN" altLang="en-US"/>
              <a:pPr>
                <a:defRPr/>
              </a:pPr>
              <a:t>2020/6/4</a:t>
            </a:fld>
            <a:endParaRPr lang="zh-CN" altLang="en-US"/>
          </a:p>
        </p:txBody>
      </p:sp>
      <p:sp>
        <p:nvSpPr>
          <p:cNvPr id="12" name="Footer Placeholder 4"/>
          <p:cNvSpPr>
            <a:spLocks noGrp="1"/>
          </p:cNvSpPr>
          <p:nvPr>
            <p:ph type="ftr" sz="quarter" idx="11"/>
          </p:nvPr>
        </p:nvSpPr>
        <p:spPr/>
        <p:txBody>
          <a:bodyPr/>
          <a:lstStyle>
            <a:lvl1pPr>
              <a:defRPr/>
            </a:lvl1pPr>
          </a:lstStyle>
          <a:p>
            <a:pPr>
              <a:defRPr/>
            </a:pPr>
            <a:endParaRPr lang="zh-CN" altLang="en-US"/>
          </a:p>
        </p:txBody>
      </p:sp>
      <p:sp>
        <p:nvSpPr>
          <p:cNvPr id="13" name="Slide Number Placeholder 5"/>
          <p:cNvSpPr>
            <a:spLocks noGrp="1"/>
          </p:cNvSpPr>
          <p:nvPr>
            <p:ph type="sldNum" sz="quarter" idx="12"/>
          </p:nvPr>
        </p:nvSpPr>
        <p:spPr/>
        <p:txBody>
          <a:bodyPr/>
          <a:lstStyle>
            <a:lvl1pPr>
              <a:defRPr/>
            </a:lvl1pPr>
          </a:lstStyle>
          <a:p>
            <a:pPr>
              <a:defRPr/>
            </a:pPr>
            <a:fld id="{0A8CC9BB-275E-4D0F-A947-A1F517F302E0}" type="slidenum">
              <a:rPr lang="zh-CN" altLang="en-US"/>
              <a:pPr>
                <a:defRPr/>
              </a:pPr>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srcRect/>
          <a:stretch>
            <a:fillRect/>
          </a:stretch>
        </p:blipFill>
        <p:spPr bwMode="auto">
          <a:xfrm>
            <a:off x="7019925" y="5713413"/>
            <a:ext cx="1997075" cy="1123950"/>
          </a:xfrm>
          <a:prstGeom prst="rect">
            <a:avLst/>
          </a:prstGeom>
          <a:noFill/>
          <a:ln w="9525">
            <a:noFill/>
            <a:miter lim="800000"/>
            <a:headEnd/>
            <a:tailEnd/>
          </a:ln>
        </p:spPr>
      </p:pic>
      <p:sp>
        <p:nvSpPr>
          <p:cNvPr id="3" name="Content Placeholder 2"/>
          <p:cNvSpPr>
            <a:spLocks noGrp="1"/>
          </p:cNvSpPr>
          <p:nvPr>
            <p:ph idx="1"/>
          </p:nvPr>
        </p:nvSpPr>
        <p:spPr>
          <a:xfrm>
            <a:off x="395536" y="1988840"/>
            <a:ext cx="8424935" cy="3744417"/>
          </a:xfrm>
        </p:spPr>
        <p:txBody>
          <a:bodyPr/>
          <a:lstStyle>
            <a:lvl1pPr>
              <a:defRPr sz="2800" b="1">
                <a:solidFill>
                  <a:schemeClr val="tx1"/>
                </a:solidFill>
              </a:defRPr>
            </a:lvl1pPr>
            <a:lvl2pPr>
              <a:defRPr sz="2400" b="1">
                <a:solidFill>
                  <a:schemeClr val="tx1"/>
                </a:solidFill>
              </a:defRPr>
            </a:lvl2pPr>
            <a:lvl3pPr>
              <a:defRPr sz="2400" b="1">
                <a:solidFill>
                  <a:schemeClr val="tx1"/>
                </a:solidFill>
              </a:defRPr>
            </a:lvl3pPr>
            <a:lvl4pPr>
              <a:defRPr sz="2000" b="1">
                <a:solidFill>
                  <a:schemeClr val="tx1"/>
                </a:solidFill>
              </a:defRPr>
            </a:lvl4pPr>
            <a:lvl5pPr>
              <a:defRPr sz="2000" b="1">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p:txBody>
          <a:bodyPr>
            <a:normAutofit/>
          </a:bodyPr>
          <a:lstStyle>
            <a:lvl1pPr>
              <a:defRPr sz="4000"/>
            </a:lvl1pPr>
          </a:lstStyle>
          <a:p>
            <a:r>
              <a:rPr lang="zh-CN" altLang="en-US" dirty="0"/>
              <a:t>单击此处编辑母版标题样式</a:t>
            </a:r>
            <a:endParaRPr lang="en-US" dirty="0"/>
          </a:p>
        </p:txBody>
      </p:sp>
      <p:sp>
        <p:nvSpPr>
          <p:cNvPr id="5" name="Date Placeholder 3"/>
          <p:cNvSpPr>
            <a:spLocks noGrp="1"/>
          </p:cNvSpPr>
          <p:nvPr>
            <p:ph type="dt" sz="half" idx="10"/>
          </p:nvPr>
        </p:nvSpPr>
        <p:spPr/>
        <p:txBody>
          <a:bodyPr/>
          <a:lstStyle>
            <a:lvl1pPr>
              <a:defRPr/>
            </a:lvl1pPr>
          </a:lstStyle>
          <a:p>
            <a:pPr>
              <a:defRPr/>
            </a:pPr>
            <a:fld id="{6DE25952-701B-46B0-ACA9-93A965631A96}" type="datetimeFigureOut">
              <a:rPr lang="zh-CN" altLang="en-US"/>
              <a:pPr>
                <a:defRPr/>
              </a:pPr>
              <a:t>2020/6/4</a:t>
            </a:fld>
            <a:endParaRPr lang="zh-CN" altLang="en-US"/>
          </a:p>
        </p:txBody>
      </p:sp>
      <p:sp>
        <p:nvSpPr>
          <p:cNvPr id="6" name="Footer Placeholder 4"/>
          <p:cNvSpPr>
            <a:spLocks noGrp="1"/>
          </p:cNvSpPr>
          <p:nvPr>
            <p:ph type="ftr" sz="quarter" idx="11"/>
          </p:nvPr>
        </p:nvSpPr>
        <p:spPr>
          <a:xfrm>
            <a:off x="468313" y="6308725"/>
            <a:ext cx="1857375" cy="365125"/>
          </a:xfrm>
        </p:spPr>
        <p:txBody>
          <a:bodyPr/>
          <a:lstStyle>
            <a:lvl1pPr>
              <a:defRPr sz="1800" b="1">
                <a:latin typeface="隶书" panose="02010509060101010101" pitchFamily="49" charset="-122"/>
                <a:ea typeface="隶书" panose="02010509060101010101" pitchFamily="49" charset="-122"/>
              </a:defRPr>
            </a:lvl1pPr>
          </a:lstStyle>
          <a:p>
            <a:pPr>
              <a:defRPr/>
            </a:pPr>
            <a:r>
              <a:rPr lang="zh-CN" altLang="en-US"/>
              <a:t>电子科技大学</a:t>
            </a:r>
          </a:p>
        </p:txBody>
      </p:sp>
      <p:sp>
        <p:nvSpPr>
          <p:cNvPr id="8" name="Slide Number Placeholder 5"/>
          <p:cNvSpPr>
            <a:spLocks noGrp="1"/>
          </p:cNvSpPr>
          <p:nvPr>
            <p:ph type="sldNum" sz="quarter" idx="12"/>
          </p:nvPr>
        </p:nvSpPr>
        <p:spPr/>
        <p:txBody>
          <a:bodyPr/>
          <a:lstStyle>
            <a:lvl1pPr>
              <a:defRPr/>
            </a:lvl1pPr>
          </a:lstStyle>
          <a:p>
            <a:pPr>
              <a:defRPr/>
            </a:pPr>
            <a:fld id="{C254DE37-AC73-4DAA-BBB2-09197D84C584}" type="slidenum">
              <a:rPr lang="zh-CN" altLang="en-US"/>
              <a:pPr>
                <a:defRPr/>
              </a:pPr>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4" name="Rounded Rectangle 13"/>
          <p:cNvSpPr/>
          <p:nvPr/>
        </p:nvSpPr>
        <p:spPr>
          <a:xfrm>
            <a:off x="228600" y="228600"/>
            <a:ext cx="8696325" cy="473710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Freeform 14"/>
          <p:cNvSpPr>
            <a:spLocks/>
          </p:cNvSpPr>
          <p:nvPr/>
        </p:nvSpPr>
        <p:spPr bwMode="hidden">
          <a:xfrm>
            <a:off x="6046788" y="4203700"/>
            <a:ext cx="2876550" cy="714375"/>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6" name="Freeform 18"/>
          <p:cNvSpPr>
            <a:spLocks/>
          </p:cNvSpPr>
          <p:nvPr/>
        </p:nvSpPr>
        <p:spPr bwMode="hidden">
          <a:xfrm>
            <a:off x="2619375" y="4075113"/>
            <a:ext cx="5545138" cy="850900"/>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7" name="Freeform 22"/>
          <p:cNvSpPr>
            <a:spLocks/>
          </p:cNvSpPr>
          <p:nvPr/>
        </p:nvSpPr>
        <p:spPr bwMode="hidden">
          <a:xfrm>
            <a:off x="2828925" y="4087813"/>
            <a:ext cx="5467350" cy="774700"/>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p:nvSpPr>
          <p:cNvPr id="8" name="Freeform 26"/>
          <p:cNvSpPr>
            <a:spLocks/>
          </p:cNvSpPr>
          <p:nvPr/>
        </p:nvSpPr>
        <p:spPr bwMode="hidden">
          <a:xfrm>
            <a:off x="5610225" y="4073525"/>
            <a:ext cx="3306763" cy="652463"/>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useBgFill="1">
        <p:nvSpPr>
          <p:cNvPr id="9" name="Freeform 10"/>
          <p:cNvSpPr>
            <a:spLocks/>
          </p:cNvSpPr>
          <p:nvPr/>
        </p:nvSpPr>
        <p:spPr bwMode="hidden">
          <a:xfrm>
            <a:off x="211138" y="4059238"/>
            <a:ext cx="8723312" cy="1328737"/>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a:lstStyle/>
          <a:p>
            <a:pPr fontAlgn="auto">
              <a:spcBef>
                <a:spcPts val="0"/>
              </a:spcBef>
              <a:spcAft>
                <a:spcPts val="0"/>
              </a:spcAft>
              <a:defRPr/>
            </a:pPr>
            <a:endParaRPr lang="en-US">
              <a:latin typeface="+mn-lt"/>
              <a:ea typeface="+mn-ea"/>
            </a:endParaRPr>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10" name="Date Placeholder 3"/>
          <p:cNvSpPr>
            <a:spLocks noGrp="1"/>
          </p:cNvSpPr>
          <p:nvPr>
            <p:ph type="dt" sz="half" idx="10"/>
          </p:nvPr>
        </p:nvSpPr>
        <p:spPr/>
        <p:txBody>
          <a:bodyPr/>
          <a:lstStyle>
            <a:lvl1pPr>
              <a:defRPr/>
            </a:lvl1pPr>
          </a:lstStyle>
          <a:p>
            <a:pPr>
              <a:defRPr/>
            </a:pPr>
            <a:fld id="{0556F0E6-B799-4F05-BC4D-8070CE79D60E}" type="datetimeFigureOut">
              <a:rPr lang="zh-CN" altLang="en-US"/>
              <a:pPr>
                <a:defRPr/>
              </a:pPr>
              <a:t>2020/6/4</a:t>
            </a:fld>
            <a:endParaRPr lang="zh-CN" altLang="en-US"/>
          </a:p>
        </p:txBody>
      </p:sp>
      <p:sp>
        <p:nvSpPr>
          <p:cNvPr id="11" name="Footer Placeholder 4"/>
          <p:cNvSpPr>
            <a:spLocks noGrp="1"/>
          </p:cNvSpPr>
          <p:nvPr>
            <p:ph type="ftr" sz="quarter" idx="11"/>
          </p:nvPr>
        </p:nvSpPr>
        <p:spPr/>
        <p:txBody>
          <a:bodyPr/>
          <a:lstStyle>
            <a:lvl1pPr>
              <a:defRPr/>
            </a:lvl1pPr>
          </a:lstStyle>
          <a:p>
            <a:pPr>
              <a:defRPr/>
            </a:pPr>
            <a:endParaRPr lang="zh-CN" altLang="en-US"/>
          </a:p>
        </p:txBody>
      </p:sp>
      <p:sp>
        <p:nvSpPr>
          <p:cNvPr id="12" name="Slide Number Placeholder 5"/>
          <p:cNvSpPr>
            <a:spLocks noGrp="1"/>
          </p:cNvSpPr>
          <p:nvPr>
            <p:ph type="sldNum" sz="quarter" idx="12"/>
          </p:nvPr>
        </p:nvSpPr>
        <p:spPr/>
        <p:txBody>
          <a:bodyPr/>
          <a:lstStyle>
            <a:lvl1pPr>
              <a:defRPr/>
            </a:lvl1pPr>
          </a:lstStyle>
          <a:p>
            <a:pPr>
              <a:defRPr/>
            </a:pPr>
            <a:fld id="{C46D3D32-B1DB-4ED7-8574-85580E8070CC}" type="slidenum">
              <a:rPr lang="zh-CN" altLang="en-US"/>
              <a:pPr>
                <a:defRPr/>
              </a:pPr>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3"/>
          <p:cNvSpPr>
            <a:spLocks noGrp="1"/>
          </p:cNvSpPr>
          <p:nvPr>
            <p:ph type="dt" sz="half" idx="15"/>
          </p:nvPr>
        </p:nvSpPr>
        <p:spPr/>
        <p:txBody>
          <a:bodyPr/>
          <a:lstStyle>
            <a:lvl1pPr>
              <a:defRPr/>
            </a:lvl1pPr>
          </a:lstStyle>
          <a:p>
            <a:pPr>
              <a:defRPr/>
            </a:pPr>
            <a:fld id="{2272105A-EE5F-4D4B-A43D-F7F84A7FA024}" type="datetimeFigureOut">
              <a:rPr lang="zh-CN" altLang="en-US"/>
              <a:pPr>
                <a:defRPr/>
              </a:pPr>
              <a:t>2020/6/4</a:t>
            </a:fld>
            <a:endParaRPr lang="zh-CN" altLang="en-US"/>
          </a:p>
        </p:txBody>
      </p:sp>
      <p:sp>
        <p:nvSpPr>
          <p:cNvPr id="6" name="Footer Placeholder 4"/>
          <p:cNvSpPr>
            <a:spLocks noGrp="1"/>
          </p:cNvSpPr>
          <p:nvPr>
            <p:ph type="ftr" sz="quarter" idx="16"/>
          </p:nvPr>
        </p:nvSpPr>
        <p:spPr/>
        <p:txBody>
          <a:bodyPr/>
          <a:lstStyle>
            <a:lvl1pPr>
              <a:defRPr/>
            </a:lvl1pPr>
          </a:lstStyle>
          <a:p>
            <a:pPr>
              <a:defRPr/>
            </a:pPr>
            <a:endParaRPr lang="zh-CN" altLang="en-US"/>
          </a:p>
        </p:txBody>
      </p:sp>
      <p:sp>
        <p:nvSpPr>
          <p:cNvPr id="7" name="Slide Number Placeholder 5"/>
          <p:cNvSpPr>
            <a:spLocks noGrp="1"/>
          </p:cNvSpPr>
          <p:nvPr>
            <p:ph type="sldNum" sz="quarter" idx="17"/>
          </p:nvPr>
        </p:nvSpPr>
        <p:spPr/>
        <p:txBody>
          <a:bodyPr/>
          <a:lstStyle>
            <a:lvl1pPr>
              <a:defRPr/>
            </a:lvl1pPr>
          </a:lstStyle>
          <a:p>
            <a:pPr>
              <a:defRPr/>
            </a:pPr>
            <a:fld id="{DC3A4028-4110-48E0-B211-63D8FB58349B}" type="slidenum">
              <a:rPr lang="zh-CN" altLang="en-US"/>
              <a:pPr>
                <a:defRPr/>
              </a:pPr>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B148963A-0FF2-4113-80F4-0374DF67A9CD}" type="datetimeFigureOut">
              <a:rPr lang="zh-CN" altLang="en-US"/>
              <a:pPr>
                <a:defRPr/>
              </a:pPr>
              <a:t>2020/6/4</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27929E7E-93E6-4FDB-AD36-77E144299F5C}" type="slidenum">
              <a:rPr lang="zh-CN" altLang="en-US"/>
              <a:pPr>
                <a:defRPr/>
              </a:pPr>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0FCC09A1-49EF-4F2F-B012-7DA0D30D9E66}" type="datetimeFigureOut">
              <a:rPr lang="zh-CN" altLang="en-US"/>
              <a:pPr>
                <a:defRPr/>
              </a:pPr>
              <a:t>2020/6/4</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69258568-FEF8-40AD-A5D6-63B25B58B68A}" type="slidenum">
              <a:rPr lang="zh-CN" altLang="en-US"/>
              <a:pPr>
                <a:defRPr/>
              </a:pPr>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ounded Rectangle 11"/>
          <p:cNvSpPr/>
          <p:nvPr/>
        </p:nvSpPr>
        <p:spPr>
          <a:xfrm>
            <a:off x="228600" y="228600"/>
            <a:ext cx="8696325" cy="1427163"/>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3" name="Group 5"/>
          <p:cNvGrpSpPr>
            <a:grpSpLocks noChangeAspect="1"/>
          </p:cNvGrpSpPr>
          <p:nvPr/>
        </p:nvGrpSpPr>
        <p:grpSpPr bwMode="auto">
          <a:xfrm>
            <a:off x="211138" y="714375"/>
            <a:ext cx="8723312" cy="1330325"/>
            <a:chOff x="-3905251" y="4294188"/>
            <a:chExt cx="13027839" cy="1892300"/>
          </a:xfrm>
        </p:grpSpPr>
        <p:sp>
          <p:nvSpPr>
            <p:cNvPr id="4" name="Freeform 14"/>
            <p:cNvSpPr>
              <a:spLocks/>
            </p:cNvSpPr>
            <p:nvPr/>
          </p:nvSpPr>
          <p:spPr bwMode="hidden">
            <a:xfrm>
              <a:off x="4810006" y="4499677"/>
              <a:ext cx="4295986" cy="1016152"/>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5" name="Freeform 18"/>
            <p:cNvSpPr>
              <a:spLocks/>
            </p:cNvSpPr>
            <p:nvPr/>
          </p:nvSpPr>
          <p:spPr bwMode="hidden">
            <a:xfrm>
              <a:off x="-308667" y="4319028"/>
              <a:ext cx="8279020" cy="1208091"/>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6" name="Freeform 22"/>
            <p:cNvSpPr>
              <a:spLocks/>
            </p:cNvSpPr>
            <p:nvPr/>
          </p:nvSpPr>
          <p:spPr bwMode="hidden">
            <a:xfrm>
              <a:off x="4286" y="4334834"/>
              <a:ext cx="8165219" cy="1101960"/>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p:nvSpPr>
            <p:cNvPr id="7" name="Freeform 26"/>
            <p:cNvSpPr>
              <a:spLocks/>
            </p:cNvSpPr>
            <p:nvPr/>
          </p:nvSpPr>
          <p:spPr bwMode="hidden">
            <a:xfrm>
              <a:off x="4155651" y="4316769"/>
              <a:ext cx="4940859" cy="925827"/>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useBgFill="1">
          <p:nvSpPr>
            <p:cNvPr id="8"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a:lstStyle/>
            <a:p>
              <a:pPr fontAlgn="auto">
                <a:spcBef>
                  <a:spcPts val="0"/>
                </a:spcBef>
                <a:spcAft>
                  <a:spcPts val="0"/>
                </a:spcAft>
                <a:defRPr/>
              </a:pPr>
              <a:endParaRPr lang="en-US">
                <a:latin typeface="+mn-lt"/>
                <a:ea typeface="+mn-ea"/>
              </a:endParaRPr>
            </a:p>
          </p:txBody>
        </p:sp>
      </p:grpSp>
      <p:sp>
        <p:nvSpPr>
          <p:cNvPr id="9" name="Date Placeholder 1"/>
          <p:cNvSpPr>
            <a:spLocks noGrp="1"/>
          </p:cNvSpPr>
          <p:nvPr>
            <p:ph type="dt" sz="half" idx="10"/>
          </p:nvPr>
        </p:nvSpPr>
        <p:spPr/>
        <p:txBody>
          <a:bodyPr/>
          <a:lstStyle>
            <a:lvl1pPr>
              <a:defRPr/>
            </a:lvl1pPr>
          </a:lstStyle>
          <a:p>
            <a:pPr>
              <a:defRPr/>
            </a:pPr>
            <a:fld id="{49065F16-CA1B-44F5-AC28-3C2527DE0652}" type="datetimeFigureOut">
              <a:rPr lang="zh-CN" altLang="en-US"/>
              <a:pPr>
                <a:defRPr/>
              </a:pPr>
              <a:t>2020/6/4</a:t>
            </a:fld>
            <a:endParaRPr lang="zh-CN" altLang="en-US"/>
          </a:p>
        </p:txBody>
      </p:sp>
      <p:sp>
        <p:nvSpPr>
          <p:cNvPr id="10" name="Footer Placeholder 2"/>
          <p:cNvSpPr>
            <a:spLocks noGrp="1"/>
          </p:cNvSpPr>
          <p:nvPr>
            <p:ph type="ftr" sz="quarter" idx="11"/>
          </p:nvPr>
        </p:nvSpPr>
        <p:spPr/>
        <p:txBody>
          <a:bodyPr/>
          <a:lstStyle>
            <a:lvl1pPr>
              <a:defRPr/>
            </a:lvl1pPr>
          </a:lstStyle>
          <a:p>
            <a:pPr>
              <a:defRPr/>
            </a:pPr>
            <a:endParaRPr lang="zh-CN" altLang="en-US"/>
          </a:p>
        </p:txBody>
      </p:sp>
      <p:sp>
        <p:nvSpPr>
          <p:cNvPr id="11" name="Slide Number Placeholder 3"/>
          <p:cNvSpPr>
            <a:spLocks noGrp="1"/>
          </p:cNvSpPr>
          <p:nvPr>
            <p:ph type="sldNum" sz="quarter" idx="12"/>
          </p:nvPr>
        </p:nvSpPr>
        <p:spPr/>
        <p:txBody>
          <a:bodyPr/>
          <a:lstStyle>
            <a:lvl1pPr>
              <a:defRPr/>
            </a:lvl1pPr>
          </a:lstStyle>
          <a:p>
            <a:pPr>
              <a:defRPr/>
            </a:pPr>
            <a:fld id="{C9CC9B10-D3BB-406A-A1D2-17E28D6DF473}" type="slidenum">
              <a:rPr lang="zh-CN" altLang="en-US"/>
              <a:pPr>
                <a:defRPr/>
              </a:pPr>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5" name="Rounded Rectangle 14"/>
          <p:cNvSpPr/>
          <p:nvPr/>
        </p:nvSpPr>
        <p:spPr>
          <a:xfrm>
            <a:off x="228600" y="228600"/>
            <a:ext cx="8696325" cy="1427163"/>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6" name="Group 23"/>
          <p:cNvGrpSpPr>
            <a:grpSpLocks noChangeAspect="1"/>
          </p:cNvGrpSpPr>
          <p:nvPr/>
        </p:nvGrpSpPr>
        <p:grpSpPr bwMode="auto">
          <a:xfrm>
            <a:off x="211138" y="714375"/>
            <a:ext cx="8723312" cy="1331913"/>
            <a:chOff x="-3905250" y="4294188"/>
            <a:chExt cx="13011150" cy="1892300"/>
          </a:xfrm>
        </p:grpSpPr>
        <p:sp>
          <p:nvSpPr>
            <p:cNvPr id="7" name="Freeform 14"/>
            <p:cNvSpPr>
              <a:spLocks/>
            </p:cNvSpPr>
            <p:nvPr/>
          </p:nvSpPr>
          <p:spPr bwMode="hidden">
            <a:xfrm>
              <a:off x="4810681" y="4501687"/>
              <a:ext cx="4295219" cy="101494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8" name="Freeform 18"/>
            <p:cNvSpPr>
              <a:spLocks/>
            </p:cNvSpPr>
            <p:nvPr/>
          </p:nvSpPr>
          <p:spPr bwMode="hidden">
            <a:xfrm>
              <a:off x="-308538" y="4318998"/>
              <a:ext cx="8280254" cy="1208906"/>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9" name="Freeform 22"/>
            <p:cNvSpPr>
              <a:spLocks/>
            </p:cNvSpPr>
            <p:nvPr/>
          </p:nvSpPr>
          <p:spPr bwMode="hidden">
            <a:xfrm>
              <a:off x="4014" y="4334786"/>
              <a:ext cx="8164231" cy="110290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p:nvSpPr>
            <p:cNvPr id="10" name="Freeform 26"/>
            <p:cNvSpPr>
              <a:spLocks/>
            </p:cNvSpPr>
            <p:nvPr/>
          </p:nvSpPr>
          <p:spPr bwMode="hidden">
            <a:xfrm>
              <a:off x="4157164" y="4316742"/>
              <a:ext cx="4939265" cy="92697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useBgFill="1">
          <p:nvSpPr>
            <p:cNvPr id="11"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a:lstStyle/>
            <a:p>
              <a:pPr fontAlgn="auto">
                <a:spcBef>
                  <a:spcPts val="0"/>
                </a:spcBef>
                <a:spcAft>
                  <a:spcPts val="0"/>
                </a:spcAft>
                <a:defRPr/>
              </a:pPr>
              <a:endParaRPr lang="en-US">
                <a:latin typeface="+mn-lt"/>
                <a:ea typeface="+mn-ea"/>
              </a:endParaRPr>
            </a:p>
          </p:txBody>
        </p:sp>
      </p:grpSp>
      <p:sp>
        <p:nvSpPr>
          <p:cNvPr id="4" name="Text Placeholder 3"/>
          <p:cNvSpPr>
            <a:spLocks noGrp="1"/>
          </p:cNvSpPr>
          <p:nvPr>
            <p:ph type="body" sz="half" idx="2"/>
          </p:nvPr>
        </p:nvSpPr>
        <p:spPr>
          <a:xfrm>
            <a:off x="914400" y="3581400"/>
            <a:ext cx="3352800" cy="1905001"/>
          </a:xfrm>
        </p:spPr>
        <p:txBody>
          <a:bodyPr>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2" name="Date Placeholder 4"/>
          <p:cNvSpPr>
            <a:spLocks noGrp="1"/>
          </p:cNvSpPr>
          <p:nvPr>
            <p:ph type="dt" sz="half" idx="10"/>
          </p:nvPr>
        </p:nvSpPr>
        <p:spPr/>
        <p:txBody>
          <a:bodyPr/>
          <a:lstStyle>
            <a:lvl1pPr>
              <a:defRPr/>
            </a:lvl1pPr>
          </a:lstStyle>
          <a:p>
            <a:pPr>
              <a:defRPr/>
            </a:pPr>
            <a:fld id="{8D443888-65FD-4B55-997C-9EA650536C2B}" type="datetimeFigureOut">
              <a:rPr lang="zh-CN" altLang="en-US"/>
              <a:pPr>
                <a:defRPr/>
              </a:pPr>
              <a:t>2020/6/4</a:t>
            </a:fld>
            <a:endParaRPr lang="zh-CN" altLang="en-US"/>
          </a:p>
        </p:txBody>
      </p:sp>
      <p:sp>
        <p:nvSpPr>
          <p:cNvPr id="13" name="Footer Placeholder 5"/>
          <p:cNvSpPr>
            <a:spLocks noGrp="1"/>
          </p:cNvSpPr>
          <p:nvPr>
            <p:ph type="ftr" sz="quarter" idx="11"/>
          </p:nvPr>
        </p:nvSpPr>
        <p:spPr/>
        <p:txBody>
          <a:bodyPr/>
          <a:lstStyle>
            <a:lvl1pPr>
              <a:defRPr/>
            </a:lvl1pPr>
          </a:lstStyle>
          <a:p>
            <a:pPr>
              <a:defRPr/>
            </a:pPr>
            <a:endParaRPr lang="zh-CN" altLang="en-US"/>
          </a:p>
        </p:txBody>
      </p:sp>
      <p:sp>
        <p:nvSpPr>
          <p:cNvPr id="14" name="Slide Number Placeholder 6"/>
          <p:cNvSpPr>
            <a:spLocks noGrp="1"/>
          </p:cNvSpPr>
          <p:nvPr>
            <p:ph type="sldNum" sz="quarter" idx="12"/>
          </p:nvPr>
        </p:nvSpPr>
        <p:spPr/>
        <p:txBody>
          <a:bodyPr/>
          <a:lstStyle>
            <a:lvl1pPr>
              <a:defRPr/>
            </a:lvl1pPr>
          </a:lstStyle>
          <a:p>
            <a:pPr>
              <a:defRPr/>
            </a:pPr>
            <a:fld id="{4D7289A6-9937-437B-B636-749EFE4A53A9}" type="slidenum">
              <a:rPr lang="zh-CN" altLang="en-US"/>
              <a:pPr>
                <a:defRPr/>
              </a:pPr>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Rounded Rectangle 14"/>
          <p:cNvSpPr/>
          <p:nvPr/>
        </p:nvSpPr>
        <p:spPr>
          <a:xfrm>
            <a:off x="228600" y="228600"/>
            <a:ext cx="8696325" cy="6035675"/>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6" name="Group 8"/>
          <p:cNvGrpSpPr>
            <a:grpSpLocks noChangeAspect="1"/>
          </p:cNvGrpSpPr>
          <p:nvPr/>
        </p:nvGrpSpPr>
        <p:grpSpPr bwMode="auto">
          <a:xfrm>
            <a:off x="211138" y="5354638"/>
            <a:ext cx="8723312" cy="1330325"/>
            <a:chOff x="-3905250" y="4294188"/>
            <a:chExt cx="13011150" cy="1892300"/>
          </a:xfrm>
        </p:grpSpPr>
        <p:sp>
          <p:nvSpPr>
            <p:cNvPr id="7" name="Freeform 14"/>
            <p:cNvSpPr>
              <a:spLocks/>
            </p:cNvSpPr>
            <p:nvPr/>
          </p:nvSpPr>
          <p:spPr bwMode="hidden">
            <a:xfrm>
              <a:off x="4810681" y="4499676"/>
              <a:ext cx="4295219" cy="1016152"/>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8" name="Freeform 18"/>
            <p:cNvSpPr>
              <a:spLocks/>
            </p:cNvSpPr>
            <p:nvPr/>
          </p:nvSpPr>
          <p:spPr bwMode="hidden">
            <a:xfrm>
              <a:off x="-308538" y="4319027"/>
              <a:ext cx="8280254" cy="1208092"/>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9" name="Freeform 22"/>
            <p:cNvSpPr>
              <a:spLocks/>
            </p:cNvSpPr>
            <p:nvPr/>
          </p:nvSpPr>
          <p:spPr bwMode="hidden">
            <a:xfrm>
              <a:off x="4014" y="4334834"/>
              <a:ext cx="8164231" cy="1101960"/>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p:nvSpPr>
            <p:cNvPr id="10" name="Freeform 26"/>
            <p:cNvSpPr>
              <a:spLocks/>
            </p:cNvSpPr>
            <p:nvPr/>
          </p:nvSpPr>
          <p:spPr bwMode="hidden">
            <a:xfrm>
              <a:off x="4157164" y="4316769"/>
              <a:ext cx="4939265" cy="925827"/>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useBgFill="1">
          <p:nvSpPr>
            <p:cNvPr id="11"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a:lstStyle/>
            <a:p>
              <a:pPr fontAlgn="auto">
                <a:spcBef>
                  <a:spcPts val="0"/>
                </a:spcBef>
                <a:spcAft>
                  <a:spcPts val="0"/>
                </a:spcAft>
                <a:defRPr/>
              </a:pPr>
              <a:endParaRPr lang="en-US">
                <a:latin typeface="+mn-lt"/>
                <a:ea typeface="+mn-ea"/>
              </a:endParaRPr>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rtlCol="0">
            <a:normAutofit/>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12" name="Date Placeholder 4"/>
          <p:cNvSpPr>
            <a:spLocks noGrp="1"/>
          </p:cNvSpPr>
          <p:nvPr>
            <p:ph type="dt" sz="half" idx="10"/>
          </p:nvPr>
        </p:nvSpPr>
        <p:spPr/>
        <p:txBody>
          <a:bodyPr/>
          <a:lstStyle>
            <a:lvl1pPr>
              <a:defRPr/>
            </a:lvl1pPr>
          </a:lstStyle>
          <a:p>
            <a:pPr>
              <a:defRPr/>
            </a:pPr>
            <a:fld id="{F2945719-4D95-4692-B9CF-907BDB6777B0}" type="datetimeFigureOut">
              <a:rPr lang="zh-CN" altLang="en-US"/>
              <a:pPr>
                <a:defRPr/>
              </a:pPr>
              <a:t>2020/6/4</a:t>
            </a:fld>
            <a:endParaRPr lang="zh-CN" altLang="en-US"/>
          </a:p>
        </p:txBody>
      </p:sp>
      <p:sp>
        <p:nvSpPr>
          <p:cNvPr id="13" name="Footer Placeholder 5"/>
          <p:cNvSpPr>
            <a:spLocks noGrp="1"/>
          </p:cNvSpPr>
          <p:nvPr>
            <p:ph type="ftr" sz="quarter" idx="11"/>
          </p:nvPr>
        </p:nvSpPr>
        <p:spPr/>
        <p:txBody>
          <a:bodyPr/>
          <a:lstStyle>
            <a:lvl1pPr>
              <a:defRPr/>
            </a:lvl1pPr>
          </a:lstStyle>
          <a:p>
            <a:pPr>
              <a:defRPr/>
            </a:pPr>
            <a:endParaRPr lang="zh-CN" altLang="en-US"/>
          </a:p>
        </p:txBody>
      </p:sp>
      <p:sp>
        <p:nvSpPr>
          <p:cNvPr id="14" name="Slide Number Placeholder 6"/>
          <p:cNvSpPr>
            <a:spLocks noGrp="1"/>
          </p:cNvSpPr>
          <p:nvPr>
            <p:ph type="sldNum" sz="quarter" idx="12"/>
          </p:nvPr>
        </p:nvSpPr>
        <p:spPr/>
        <p:txBody>
          <a:bodyPr/>
          <a:lstStyle>
            <a:lvl1pPr>
              <a:defRPr/>
            </a:lvl1pPr>
          </a:lstStyle>
          <a:p>
            <a:pPr>
              <a:defRPr/>
            </a:pPr>
            <a:fld id="{4FDDCFB6-6C70-4D11-A1BE-407DE3FD5895}" type="slidenum">
              <a:rPr lang="zh-CN" altLang="en-US"/>
              <a:pPr>
                <a:defRPr/>
              </a:pPr>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lvl1pPr>
              <a:defRPr/>
            </a:lvl1pPr>
          </a:lstStyle>
          <a:p>
            <a:pPr>
              <a:defRPr/>
            </a:pPr>
            <a:fld id="{A0231EFE-C05A-47DF-A8D0-C3C5AB32502B}" type="datetimeFigureOut">
              <a:rPr lang="zh-CN" altLang="en-US"/>
              <a:pPr>
                <a:defRPr/>
              </a:pPr>
              <a:t>2020/6/4</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A8A72FB4-22FA-4350-9DFE-A34D16500D10}" type="slidenum">
              <a:rPr lang="zh-CN" altLang="en-US"/>
              <a:pPr>
                <a:defRPr/>
              </a:pPr>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4" name="Rounded Rectangle 20"/>
          <p:cNvSpPr/>
          <p:nvPr/>
        </p:nvSpPr>
        <p:spPr bwMode="hidden">
          <a:xfrm>
            <a:off x="228600" y="228600"/>
            <a:ext cx="8696325" cy="1427163"/>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5" name="Group 14"/>
          <p:cNvGrpSpPr>
            <a:grpSpLocks noChangeAspect="1"/>
          </p:cNvGrpSpPr>
          <p:nvPr/>
        </p:nvGrpSpPr>
        <p:grpSpPr bwMode="auto">
          <a:xfrm>
            <a:off x="211138" y="714375"/>
            <a:ext cx="8723312" cy="1331913"/>
            <a:chOff x="-3905250" y="4294188"/>
            <a:chExt cx="13011150" cy="1892300"/>
          </a:xfrm>
        </p:grpSpPr>
        <p:sp>
          <p:nvSpPr>
            <p:cNvPr id="6" name="Freeform 14"/>
            <p:cNvSpPr>
              <a:spLocks/>
            </p:cNvSpPr>
            <p:nvPr/>
          </p:nvSpPr>
          <p:spPr bwMode="hidden">
            <a:xfrm>
              <a:off x="4810681" y="4501687"/>
              <a:ext cx="4295219" cy="101494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7" name="Freeform 18"/>
            <p:cNvSpPr>
              <a:spLocks/>
            </p:cNvSpPr>
            <p:nvPr/>
          </p:nvSpPr>
          <p:spPr bwMode="hidden">
            <a:xfrm>
              <a:off x="-308538" y="4318998"/>
              <a:ext cx="8280254" cy="1208906"/>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8" name="Freeform 22"/>
            <p:cNvSpPr>
              <a:spLocks/>
            </p:cNvSpPr>
            <p:nvPr/>
          </p:nvSpPr>
          <p:spPr bwMode="hidden">
            <a:xfrm>
              <a:off x="4014" y="4334786"/>
              <a:ext cx="8164231" cy="110290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p:nvSpPr>
            <p:cNvPr id="9" name="Freeform 26"/>
            <p:cNvSpPr>
              <a:spLocks/>
            </p:cNvSpPr>
            <p:nvPr/>
          </p:nvSpPr>
          <p:spPr bwMode="hidden">
            <a:xfrm>
              <a:off x="4157164" y="4316742"/>
              <a:ext cx="4939265" cy="92697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useBgFill="1">
          <p:nvSpPr>
            <p:cNvPr id="1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a:lstStyle/>
            <a:p>
              <a:pPr fontAlgn="auto">
                <a:spcBef>
                  <a:spcPts val="0"/>
                </a:spcBef>
                <a:spcAft>
                  <a:spcPts val="0"/>
                </a:spcAft>
                <a:defRPr/>
              </a:pPr>
              <a:endParaRPr lang="en-US">
                <a:latin typeface="+mn-lt"/>
                <a:ea typeface="+mn-ea"/>
              </a:endParaRPr>
            </a:p>
          </p:txBody>
        </p:sp>
      </p:grpSp>
      <p:sp>
        <p:nvSpPr>
          <p:cNvPr id="2" name="Vertical Title 1"/>
          <p:cNvSpPr>
            <a:spLocks noGrp="1"/>
          </p:cNvSpPr>
          <p:nvPr>
            <p:ph type="title" orient="vert"/>
          </p:nvPr>
        </p:nvSpPr>
        <p:spPr>
          <a:xfrm>
            <a:off x="6629400" y="1447800"/>
            <a:ext cx="2057400" cy="4487333"/>
          </a:xfrm>
        </p:spPr>
        <p:txBody>
          <a:bodyPr vert="eaVert"/>
          <a:lstStyle>
            <a:lvl1pPr algn="l">
              <a:defRPr>
                <a:solidFill>
                  <a:schemeClr val="tx2"/>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1" name="Date Placeholder 3"/>
          <p:cNvSpPr>
            <a:spLocks noGrp="1"/>
          </p:cNvSpPr>
          <p:nvPr>
            <p:ph type="dt" sz="half" idx="10"/>
          </p:nvPr>
        </p:nvSpPr>
        <p:spPr/>
        <p:txBody>
          <a:bodyPr/>
          <a:lstStyle>
            <a:lvl1pPr>
              <a:defRPr/>
            </a:lvl1pPr>
          </a:lstStyle>
          <a:p>
            <a:pPr>
              <a:defRPr/>
            </a:pPr>
            <a:fld id="{BF9E8997-329F-4606-8263-F8BEDF45D9B0}" type="datetimeFigureOut">
              <a:rPr lang="zh-CN" altLang="en-US"/>
              <a:pPr>
                <a:defRPr/>
              </a:pPr>
              <a:t>2020/6/4</a:t>
            </a:fld>
            <a:endParaRPr lang="zh-CN" altLang="en-US"/>
          </a:p>
        </p:txBody>
      </p:sp>
      <p:sp>
        <p:nvSpPr>
          <p:cNvPr id="12" name="Footer Placeholder 4"/>
          <p:cNvSpPr>
            <a:spLocks noGrp="1"/>
          </p:cNvSpPr>
          <p:nvPr>
            <p:ph type="ftr" sz="quarter" idx="11"/>
          </p:nvPr>
        </p:nvSpPr>
        <p:spPr/>
        <p:txBody>
          <a:bodyPr/>
          <a:lstStyle>
            <a:lvl1pPr>
              <a:defRPr/>
            </a:lvl1pPr>
          </a:lstStyle>
          <a:p>
            <a:pPr>
              <a:defRPr/>
            </a:pPr>
            <a:endParaRPr lang="zh-CN" altLang="en-US"/>
          </a:p>
        </p:txBody>
      </p:sp>
      <p:sp>
        <p:nvSpPr>
          <p:cNvPr id="13" name="Slide Number Placeholder 5"/>
          <p:cNvSpPr>
            <a:spLocks noGrp="1"/>
          </p:cNvSpPr>
          <p:nvPr>
            <p:ph type="sldNum" sz="quarter" idx="12"/>
          </p:nvPr>
        </p:nvSpPr>
        <p:spPr/>
        <p:txBody>
          <a:bodyPr/>
          <a:lstStyle>
            <a:lvl1pPr>
              <a:defRPr/>
            </a:lvl1pPr>
          </a:lstStyle>
          <a:p>
            <a:pPr>
              <a:defRPr/>
            </a:pPr>
            <a:fld id="{2CE8B45F-0FF4-4F0C-B3D9-C5EC3D128874}" type="slidenum">
              <a:rPr lang="zh-CN" altLang="en-US"/>
              <a:pPr>
                <a:defRPr/>
              </a:pPr>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Date Placeholder 3"/>
          <p:cNvSpPr>
            <a:spLocks noGrp="1"/>
          </p:cNvSpPr>
          <p:nvPr>
            <p:ph type="dt" sz="half" idx="10"/>
          </p:nvPr>
        </p:nvSpPr>
        <p:spPr/>
        <p:txBody>
          <a:bodyPr/>
          <a:lstStyle>
            <a:lvl1pPr>
              <a:defRPr/>
            </a:lvl1pPr>
          </a:lstStyle>
          <a:p>
            <a:pPr>
              <a:defRPr/>
            </a:pPr>
            <a:fld id="{5AB1F86F-5553-42DD-814F-63B5D610C4D5}" type="datetimeFigureOut">
              <a:rPr lang="zh-CN" altLang="en-US"/>
              <a:pPr>
                <a:defRPr/>
              </a:pPr>
              <a:t>2020/6/4</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14F99304-9038-4E98-8A3A-AC345505C5D0}"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02"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51203"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024ADA7B-BBF4-48D9-BB94-06F034F6F952}" type="datetimeFigureOut">
              <a:rPr lang="zh-CN" altLang="en-US"/>
              <a:pPr>
                <a:defRPr/>
              </a:pPr>
              <a:t>2020/6/4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D54A852-26C0-4F89-A5E0-481088D9F41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029" r:id="rId1"/>
    <p:sldLayoutId id="2147484028" r:id="rId2"/>
    <p:sldLayoutId id="2147484027" r:id="rId3"/>
    <p:sldLayoutId id="2147484026" r:id="rId4"/>
    <p:sldLayoutId id="2147484025" r:id="rId5"/>
    <p:sldLayoutId id="2147484024" r:id="rId6"/>
    <p:sldLayoutId id="2147484023" r:id="rId7"/>
    <p:sldLayoutId id="2147484022" r:id="rId8"/>
    <p:sldLayoutId id="2147484021" r:id="rId9"/>
    <p:sldLayoutId id="2147484020" r:id="rId10"/>
    <p:sldLayoutId id="2147484019" r:id="rId11"/>
    <p:sldLayoutId id="2147484018"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bg2"/>
          </a:fgClr>
          <a:bgClr>
            <a:schemeClr val="bg1"/>
          </a:bgClr>
        </a:pattFill>
        <a:effectLst/>
      </p:bgPr>
    </p:bg>
    <p:spTree>
      <p:nvGrpSpPr>
        <p:cNvPr id="1" name=""/>
        <p:cNvGrpSpPr/>
        <p:nvPr/>
      </p:nvGrpSpPr>
      <p:grpSpPr>
        <a:xfrm>
          <a:off x="0" y="0"/>
          <a:ext cx="0" cy="0"/>
          <a:chOff x="0" y="0"/>
          <a:chExt cx="0" cy="0"/>
        </a:xfrm>
      </p:grpSpPr>
      <p:pic>
        <p:nvPicPr>
          <p:cNvPr id="14338" name="Picture 4"/>
          <p:cNvPicPr>
            <a:picLocks noChangeAspect="1" noChangeArrowheads="1"/>
          </p:cNvPicPr>
          <p:nvPr userDrawn="1"/>
        </p:nvPicPr>
        <p:blipFill>
          <a:blip r:embed="rId13"/>
          <a:srcRect/>
          <a:stretch>
            <a:fillRect/>
          </a:stretch>
        </p:blipFill>
        <p:spPr bwMode="auto">
          <a:xfrm>
            <a:off x="6732588" y="5008563"/>
            <a:ext cx="2309812" cy="1300162"/>
          </a:xfrm>
          <a:prstGeom prst="rect">
            <a:avLst/>
          </a:prstGeom>
          <a:noFill/>
          <a:ln w="9525">
            <a:noFill/>
            <a:miter lim="800000"/>
            <a:headEnd/>
            <a:tailEnd/>
          </a:ln>
        </p:spPr>
      </p:pic>
      <p:sp>
        <p:nvSpPr>
          <p:cNvPr id="14339"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4340" name="文本占位符 2"/>
          <p:cNvSpPr>
            <a:spLocks noGrp="1"/>
          </p:cNvSpPr>
          <p:nvPr>
            <p:ph type="body" idx="1"/>
          </p:nvPr>
        </p:nvSpPr>
        <p:spPr bwMode="auto">
          <a:xfrm>
            <a:off x="457200" y="1600200"/>
            <a:ext cx="6346825" cy="39893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AF07ECED-C603-486B-AF3B-3D4BE5D77A4A}" type="datetimeFigureOut">
              <a:rPr lang="zh-CN" altLang="en-US"/>
              <a:pPr>
                <a:defRPr/>
              </a:pPr>
              <a:t>2020/6/4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339B150C-D757-4DFA-8699-B84A96ED88A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040" r:id="rId1"/>
    <p:sldLayoutId id="2147484039" r:id="rId2"/>
    <p:sldLayoutId id="2147484038" r:id="rId3"/>
    <p:sldLayoutId id="2147484037" r:id="rId4"/>
    <p:sldLayoutId id="2147484036" r:id="rId5"/>
    <p:sldLayoutId id="2147484035" r:id="rId6"/>
    <p:sldLayoutId id="2147484034" r:id="rId7"/>
    <p:sldLayoutId id="2147484033" r:id="rId8"/>
    <p:sldLayoutId id="2147484032" r:id="rId9"/>
    <p:sldLayoutId id="2147484031" r:id="rId10"/>
    <p:sldLayoutId id="2147484030" r:id="rId11"/>
  </p:sldLayoutIdLst>
  <p:transition spd="slow">
    <p:randomBar dir="ver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6325" cy="2468563"/>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26627" name="Group 15"/>
          <p:cNvGrpSpPr>
            <a:grpSpLocks noChangeAspect="1"/>
          </p:cNvGrpSpPr>
          <p:nvPr/>
        </p:nvGrpSpPr>
        <p:grpSpPr bwMode="auto">
          <a:xfrm>
            <a:off x="211138" y="1679575"/>
            <a:ext cx="8723312" cy="1330325"/>
            <a:chOff x="-3905251" y="4294188"/>
            <a:chExt cx="13027839" cy="1892300"/>
          </a:xfrm>
        </p:grpSpPr>
        <p:sp>
          <p:nvSpPr>
            <p:cNvPr id="17" name="Freeform 14"/>
            <p:cNvSpPr>
              <a:spLocks/>
            </p:cNvSpPr>
            <p:nvPr/>
          </p:nvSpPr>
          <p:spPr bwMode="hidden">
            <a:xfrm>
              <a:off x="4810006" y="4499677"/>
              <a:ext cx="4295986" cy="1016152"/>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18" name="Freeform 18"/>
            <p:cNvSpPr>
              <a:spLocks/>
            </p:cNvSpPr>
            <p:nvPr/>
          </p:nvSpPr>
          <p:spPr bwMode="hidden">
            <a:xfrm>
              <a:off x="-308667" y="4319028"/>
              <a:ext cx="8279020" cy="1208091"/>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a:lstStyle/>
            <a:p>
              <a:pPr fontAlgn="auto">
                <a:spcBef>
                  <a:spcPts val="0"/>
                </a:spcBef>
                <a:spcAft>
                  <a:spcPts val="0"/>
                </a:spcAft>
                <a:defRPr/>
              </a:pPr>
              <a:endParaRPr lang="en-US">
                <a:latin typeface="+mn-lt"/>
                <a:ea typeface="+mn-ea"/>
              </a:endParaRPr>
            </a:p>
          </p:txBody>
        </p:sp>
        <p:sp>
          <p:nvSpPr>
            <p:cNvPr id="19" name="Freeform 22"/>
            <p:cNvSpPr>
              <a:spLocks/>
            </p:cNvSpPr>
            <p:nvPr/>
          </p:nvSpPr>
          <p:spPr bwMode="hidden">
            <a:xfrm>
              <a:off x="4286" y="4334834"/>
              <a:ext cx="8165219" cy="1101960"/>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p:nvSpPr>
            <p:cNvPr id="20" name="Freeform 26"/>
            <p:cNvSpPr>
              <a:spLocks/>
            </p:cNvSpPr>
            <p:nvPr/>
          </p:nvSpPr>
          <p:spPr bwMode="hidden">
            <a:xfrm>
              <a:off x="4155651" y="4316769"/>
              <a:ext cx="4940859" cy="925827"/>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a:lstStyle/>
            <a:p>
              <a:pPr fontAlgn="auto">
                <a:spcBef>
                  <a:spcPts val="0"/>
                </a:spcBef>
                <a:spcAft>
                  <a:spcPts val="0"/>
                </a:spcAft>
                <a:defRPr/>
              </a:pPr>
              <a:endParaRPr lang="en-US">
                <a:latin typeface="+mn-lt"/>
                <a:ea typeface="+mn-ea"/>
              </a:endParaRPr>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a:lstStyle/>
            <a:p>
              <a:pPr fontAlgn="auto">
                <a:spcBef>
                  <a:spcPts val="0"/>
                </a:spcBef>
                <a:spcAft>
                  <a:spcPts val="0"/>
                </a:spcAft>
                <a:defRPr/>
              </a:pPr>
              <a:endParaRPr lang="en-US">
                <a:latin typeface="+mn-lt"/>
                <a:ea typeface="+mn-ea"/>
              </a:endParaRPr>
            </a:p>
          </p:txBody>
        </p:sp>
      </p:grpSp>
      <p:sp>
        <p:nvSpPr>
          <p:cNvPr id="26628" name="Title Placeholder 1"/>
          <p:cNvSpPr>
            <a:spLocks noGrp="1"/>
          </p:cNvSpPr>
          <p:nvPr>
            <p:ph type="title"/>
          </p:nvPr>
        </p:nvSpPr>
        <p:spPr bwMode="auto">
          <a:xfrm>
            <a:off x="457200" y="338138"/>
            <a:ext cx="8229600" cy="12525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p>
        </p:txBody>
      </p:sp>
      <p:sp>
        <p:nvSpPr>
          <p:cNvPr id="4" name="Date Placeholder 3"/>
          <p:cNvSpPr>
            <a:spLocks noGrp="1"/>
          </p:cNvSpPr>
          <p:nvPr>
            <p:ph type="dt" sz="half" idx="2"/>
          </p:nvPr>
        </p:nvSpPr>
        <p:spPr>
          <a:xfrm>
            <a:off x="5164138" y="6249988"/>
            <a:ext cx="3786187" cy="365125"/>
          </a:xfrm>
          <a:prstGeom prst="rect">
            <a:avLst/>
          </a:prstGeom>
        </p:spPr>
        <p:txBody>
          <a:bodyPr vert="horz" lIns="91440" tIns="45720" rIns="91440" bIns="45720" rtlCol="0" anchor="ctr"/>
          <a:lstStyle>
            <a:lvl1pPr algn="r" fontAlgn="auto">
              <a:spcBef>
                <a:spcPts val="0"/>
              </a:spcBef>
              <a:spcAft>
                <a:spcPts val="0"/>
              </a:spcAft>
              <a:defRPr sz="1000">
                <a:solidFill>
                  <a:schemeClr val="tx2"/>
                </a:solidFill>
                <a:latin typeface="+mn-lt"/>
                <a:ea typeface="+mn-ea"/>
              </a:defRPr>
            </a:lvl1pPr>
          </a:lstStyle>
          <a:p>
            <a:pPr>
              <a:defRPr/>
            </a:pPr>
            <a:fld id="{6737F332-0263-48E7-B210-8FE264A75EF9}" type="datetimeFigureOut">
              <a:rPr lang="zh-CN" altLang="en-US"/>
              <a:pPr>
                <a:defRPr/>
              </a:pPr>
              <a:t>2020/6/4</a:t>
            </a:fld>
            <a:endParaRPr lang="zh-CN" altLang="en-US"/>
          </a:p>
        </p:txBody>
      </p:sp>
      <p:sp>
        <p:nvSpPr>
          <p:cNvPr id="5" name="Footer Placeholder 4"/>
          <p:cNvSpPr>
            <a:spLocks noGrp="1"/>
          </p:cNvSpPr>
          <p:nvPr>
            <p:ph type="ftr" sz="quarter" idx="3"/>
          </p:nvPr>
        </p:nvSpPr>
        <p:spPr>
          <a:xfrm>
            <a:off x="193675" y="6249988"/>
            <a:ext cx="3786188" cy="365125"/>
          </a:xfrm>
          <a:prstGeom prst="rect">
            <a:avLst/>
          </a:prstGeom>
        </p:spPr>
        <p:txBody>
          <a:bodyPr vert="horz" lIns="91440" tIns="45720" rIns="91440" bIns="45720" rtlCol="0" anchor="ctr"/>
          <a:lstStyle>
            <a:lvl1pPr algn="l" fontAlgn="auto">
              <a:spcBef>
                <a:spcPts val="0"/>
              </a:spcBef>
              <a:spcAft>
                <a:spcPts val="0"/>
              </a:spcAft>
              <a:defRPr sz="1000">
                <a:solidFill>
                  <a:schemeClr val="tx2"/>
                </a:solidFill>
                <a:latin typeface="+mn-lt"/>
                <a:ea typeface="+mn-ea"/>
              </a:defRPr>
            </a:lvl1pPr>
          </a:lstStyle>
          <a:p>
            <a:pPr>
              <a:defRPr/>
            </a:pPr>
            <a:endParaRPr lang="zh-CN" altLang="en-US"/>
          </a:p>
        </p:txBody>
      </p:sp>
      <p:sp>
        <p:nvSpPr>
          <p:cNvPr id="6" name="Slide Number Placeholder 5"/>
          <p:cNvSpPr>
            <a:spLocks noGrp="1"/>
          </p:cNvSpPr>
          <p:nvPr>
            <p:ph type="sldNum" sz="quarter" idx="4"/>
          </p:nvPr>
        </p:nvSpPr>
        <p:spPr>
          <a:xfrm>
            <a:off x="3990975" y="6249988"/>
            <a:ext cx="1162050" cy="365125"/>
          </a:xfrm>
          <a:prstGeom prst="rect">
            <a:avLst/>
          </a:prstGeom>
        </p:spPr>
        <p:txBody>
          <a:bodyPr vert="horz" lIns="91440" tIns="45720" rIns="91440" bIns="45720" rtlCol="0" anchor="ctr"/>
          <a:lstStyle>
            <a:lvl1pPr algn="ctr" fontAlgn="auto">
              <a:spcBef>
                <a:spcPts val="0"/>
              </a:spcBef>
              <a:spcAft>
                <a:spcPts val="0"/>
              </a:spcAft>
              <a:defRPr sz="1000">
                <a:solidFill>
                  <a:schemeClr val="tx2"/>
                </a:solidFill>
                <a:latin typeface="+mn-lt"/>
                <a:ea typeface="+mn-ea"/>
              </a:defRPr>
            </a:lvl1pPr>
          </a:lstStyle>
          <a:p>
            <a:pPr>
              <a:defRPr/>
            </a:pPr>
            <a:fld id="{D437383E-EAB3-40C8-902F-75338F1AB991}" type="slidenum">
              <a:rPr lang="zh-CN" altLang="en-US"/>
              <a:pPr>
                <a:defRPr/>
              </a:pPr>
              <a:t>‹#›</a:t>
            </a:fld>
            <a:endParaRPr lang="zh-CN" altLang="en-US"/>
          </a:p>
        </p:txBody>
      </p:sp>
      <p:sp>
        <p:nvSpPr>
          <p:cNvPr id="26632" name="Text Placeholder 2"/>
          <p:cNvSpPr>
            <a:spLocks noGrp="1"/>
          </p:cNvSpPr>
          <p:nvPr>
            <p:ph type="body" idx="1"/>
          </p:nvPr>
        </p:nvSpPr>
        <p:spPr bwMode="auto">
          <a:xfrm>
            <a:off x="871538" y="2674938"/>
            <a:ext cx="7408862" cy="34512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5" r:id="rId4"/>
    <p:sldLayoutId id="2147484044" r:id="rId5"/>
    <p:sldLayoutId id="2147484043" r:id="rId6"/>
    <p:sldLayoutId id="2147484049" r:id="rId7"/>
    <p:sldLayoutId id="2147484050" r:id="rId8"/>
    <p:sldLayoutId id="2147484051" r:id="rId9"/>
    <p:sldLayoutId id="2147484042" r:id="rId10"/>
    <p:sldLayoutId id="2147484052" r:id="rId11"/>
    <p:sldLayoutId id="2147484041" r:id="rId12"/>
  </p:sldLayoutIdLst>
  <p:txStyles>
    <p:titleStyle>
      <a:lvl1pPr algn="ctr" rtl="0" eaLnBrk="0" fontAlgn="base" hangingPunct="0">
        <a:spcBef>
          <a:spcPct val="0"/>
        </a:spcBef>
        <a:spcAft>
          <a:spcPct val="0"/>
        </a:spcAft>
        <a:defRPr sz="4400" kern="1200">
          <a:solidFill>
            <a:srgbClr val="FFFFFF"/>
          </a:solidFill>
          <a:latin typeface="+mj-lt"/>
          <a:ea typeface="+mj-ea"/>
          <a:cs typeface="华文新魏"/>
        </a:defRPr>
      </a:lvl1pPr>
      <a:lvl2pPr algn="ctr" rtl="0" eaLnBrk="0" fontAlgn="base" hangingPunct="0">
        <a:spcBef>
          <a:spcPct val="0"/>
        </a:spcBef>
        <a:spcAft>
          <a:spcPct val="0"/>
        </a:spcAft>
        <a:defRPr sz="4400">
          <a:solidFill>
            <a:srgbClr val="FFFFFF"/>
          </a:solidFill>
          <a:latin typeface="Candara" pitchFamily="34" charset="0"/>
          <a:ea typeface="华文新魏"/>
          <a:cs typeface="华文新魏"/>
        </a:defRPr>
      </a:lvl2pPr>
      <a:lvl3pPr algn="ctr" rtl="0" eaLnBrk="0" fontAlgn="base" hangingPunct="0">
        <a:spcBef>
          <a:spcPct val="0"/>
        </a:spcBef>
        <a:spcAft>
          <a:spcPct val="0"/>
        </a:spcAft>
        <a:defRPr sz="4400">
          <a:solidFill>
            <a:srgbClr val="FFFFFF"/>
          </a:solidFill>
          <a:latin typeface="Candara" pitchFamily="34" charset="0"/>
          <a:ea typeface="华文新魏"/>
          <a:cs typeface="华文新魏"/>
        </a:defRPr>
      </a:lvl3pPr>
      <a:lvl4pPr algn="ctr" rtl="0" eaLnBrk="0" fontAlgn="base" hangingPunct="0">
        <a:spcBef>
          <a:spcPct val="0"/>
        </a:spcBef>
        <a:spcAft>
          <a:spcPct val="0"/>
        </a:spcAft>
        <a:defRPr sz="4400">
          <a:solidFill>
            <a:srgbClr val="FFFFFF"/>
          </a:solidFill>
          <a:latin typeface="Candara" pitchFamily="34" charset="0"/>
          <a:ea typeface="华文新魏"/>
          <a:cs typeface="华文新魏"/>
        </a:defRPr>
      </a:lvl4pPr>
      <a:lvl5pPr algn="ctr" rtl="0" eaLnBrk="0" fontAlgn="base" hangingPunct="0">
        <a:spcBef>
          <a:spcPct val="0"/>
        </a:spcBef>
        <a:spcAft>
          <a:spcPct val="0"/>
        </a:spcAft>
        <a:defRPr sz="4400">
          <a:solidFill>
            <a:srgbClr val="FFFFFF"/>
          </a:solidFill>
          <a:latin typeface="Candara" pitchFamily="34" charset="0"/>
          <a:ea typeface="华文新魏"/>
          <a:cs typeface="华文新魏"/>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itchFamily="18" charset="2"/>
        <a:buChar char=""/>
        <a:defRPr sz="2400" kern="1200">
          <a:solidFill>
            <a:schemeClr val="tx2"/>
          </a:solidFill>
          <a:latin typeface="+mn-lt"/>
          <a:ea typeface="+mn-ea"/>
          <a:cs typeface="华文楷体"/>
        </a:defRPr>
      </a:lvl1pPr>
      <a:lvl2pPr marL="576263" indent="-273050" algn="l" rtl="0" eaLnBrk="0" fontAlgn="base" hangingPunct="0">
        <a:spcBef>
          <a:spcPct val="20000"/>
        </a:spcBef>
        <a:spcAft>
          <a:spcPct val="0"/>
        </a:spcAft>
        <a:buClr>
          <a:schemeClr val="accent1"/>
        </a:buClr>
        <a:buSzPct val="100000"/>
        <a:buFont typeface="Symbol" pitchFamily="18" charset="2"/>
        <a:buChar char=""/>
        <a:defRPr sz="2200" kern="1200">
          <a:solidFill>
            <a:schemeClr val="tx2"/>
          </a:solidFill>
          <a:latin typeface="+mn-lt"/>
          <a:ea typeface="+mn-ea"/>
          <a:cs typeface="华文楷体"/>
        </a:defRPr>
      </a:lvl2pPr>
      <a:lvl3pPr marL="855663" indent="-228600" algn="l" rtl="0" eaLnBrk="0" fontAlgn="base" hangingPunct="0">
        <a:spcBef>
          <a:spcPct val="20000"/>
        </a:spcBef>
        <a:spcAft>
          <a:spcPct val="0"/>
        </a:spcAft>
        <a:buClr>
          <a:schemeClr val="accent1"/>
        </a:buClr>
        <a:buSzPct val="100000"/>
        <a:buFont typeface="Symbol" pitchFamily="18" charset="2"/>
        <a:buChar char=""/>
        <a:defRPr sz="2000" kern="1200">
          <a:solidFill>
            <a:schemeClr val="tx2"/>
          </a:solidFill>
          <a:latin typeface="+mn-lt"/>
          <a:ea typeface="+mn-ea"/>
          <a:cs typeface="华文楷体"/>
        </a:defRPr>
      </a:lvl3pPr>
      <a:lvl4pPr marL="1143000" indent="-228600" algn="l" rtl="0" eaLnBrk="0" fontAlgn="base" hangingPunct="0">
        <a:spcBef>
          <a:spcPct val="20000"/>
        </a:spcBef>
        <a:spcAft>
          <a:spcPct val="0"/>
        </a:spcAft>
        <a:buClr>
          <a:schemeClr val="accent1"/>
        </a:buClr>
        <a:buSzPct val="100000"/>
        <a:buFont typeface="Symbol" pitchFamily="18" charset="2"/>
        <a:buChar char=""/>
        <a:defRPr sz="2000" kern="1200">
          <a:solidFill>
            <a:schemeClr val="tx2"/>
          </a:solidFill>
          <a:latin typeface="+mn-lt"/>
          <a:ea typeface="+mn-ea"/>
          <a:cs typeface="华文楷体"/>
        </a:defRPr>
      </a:lvl4pPr>
      <a:lvl5pPr marL="1462088" indent="-228600" algn="l" rtl="0" eaLnBrk="0" fontAlgn="base" hangingPunct="0">
        <a:spcBef>
          <a:spcPct val="20000"/>
        </a:spcBef>
        <a:spcAft>
          <a:spcPct val="0"/>
        </a:spcAft>
        <a:buClr>
          <a:schemeClr val="accent1"/>
        </a:buClr>
        <a:buSzPct val="100000"/>
        <a:buFont typeface="Symbol" pitchFamily="18" charset="2"/>
        <a:buChar char=""/>
        <a:defRPr sz="1600" kern="1200">
          <a:solidFill>
            <a:schemeClr val="tx2"/>
          </a:solidFill>
          <a:latin typeface="+mn-lt"/>
          <a:ea typeface="+mn-ea"/>
          <a:cs typeface="华文楷体"/>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0.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png"/><Relationship Id="rId2" Type="http://schemas.openxmlformats.org/officeDocument/2006/relationships/slideLayout" Target="../slideLayouts/slideLayout25.xml"/><Relationship Id="rId1" Type="http://schemas.openxmlformats.org/officeDocument/2006/relationships/vmlDrawing" Target="../drawings/vmlDrawing2.vml"/><Relationship Id="rId6" Type="http://schemas.openxmlformats.org/officeDocument/2006/relationships/image" Target="../media/image7.png"/><Relationship Id="rId5" Type="http://schemas.openxmlformats.org/officeDocument/2006/relationships/image" Target="../media/image6.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25.xml"/><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6.wmf"/><Relationship Id="rId2" Type="http://schemas.openxmlformats.org/officeDocument/2006/relationships/slideLayout" Target="../slideLayouts/slideLayout25.xml"/><Relationship Id="rId1" Type="http://schemas.openxmlformats.org/officeDocument/2006/relationships/vmlDrawing" Target="../drawings/vmlDrawing3.vml"/><Relationship Id="rId6" Type="http://schemas.openxmlformats.org/officeDocument/2006/relationships/image" Target="../media/image13.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15.wmf"/><Relationship Id="rId4" Type="http://schemas.openxmlformats.org/officeDocument/2006/relationships/image" Target="../media/image12.png"/><Relationship Id="rId9"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20.wmf"/><Relationship Id="rId2" Type="http://schemas.openxmlformats.org/officeDocument/2006/relationships/slideLayout" Target="../slideLayouts/slideLayout25.xml"/><Relationship Id="rId1" Type="http://schemas.openxmlformats.org/officeDocument/2006/relationships/vmlDrawing" Target="../drawings/vmlDrawing4.vml"/><Relationship Id="rId6" Type="http://schemas.openxmlformats.org/officeDocument/2006/relationships/image" Target="../media/image17.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9.wmf"/><Relationship Id="rId4" Type="http://schemas.openxmlformats.org/officeDocument/2006/relationships/image" Target="../media/image12.png"/><Relationship Id="rId9"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0.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28.wmf"/><Relationship Id="rId3" Type="http://schemas.openxmlformats.org/officeDocument/2006/relationships/image" Target="../media/image29.png"/><Relationship Id="rId7" Type="http://schemas.openxmlformats.org/officeDocument/2006/relationships/image" Target="../media/image26.wmf"/><Relationship Id="rId12" Type="http://schemas.openxmlformats.org/officeDocument/2006/relationships/oleObject" Target="../embeddings/oleObject16.bin"/><Relationship Id="rId2" Type="http://schemas.openxmlformats.org/officeDocument/2006/relationships/slideLayout" Target="../slideLayouts/slideLayout25.xml"/><Relationship Id="rId1" Type="http://schemas.openxmlformats.org/officeDocument/2006/relationships/vmlDrawing" Target="../drawings/vmlDrawing5.vml"/><Relationship Id="rId6" Type="http://schemas.openxmlformats.org/officeDocument/2006/relationships/oleObject" Target="../embeddings/oleObject14.bin"/><Relationship Id="rId11" Type="http://schemas.openxmlformats.org/officeDocument/2006/relationships/image" Target="../media/image31.png"/><Relationship Id="rId5" Type="http://schemas.openxmlformats.org/officeDocument/2006/relationships/image" Target="../media/image25.wmf"/><Relationship Id="rId10" Type="http://schemas.openxmlformats.org/officeDocument/2006/relationships/image" Target="../media/image27.wmf"/><Relationship Id="rId4" Type="http://schemas.openxmlformats.org/officeDocument/2006/relationships/oleObject" Target="../embeddings/oleObject13.bin"/><Relationship Id="rId9" Type="http://schemas.openxmlformats.org/officeDocument/2006/relationships/oleObject" Target="../embeddings/oleObject15.bin"/></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slideLayout" Target="../slideLayouts/slideLayout25.xml"/><Relationship Id="rId1" Type="http://schemas.openxmlformats.org/officeDocument/2006/relationships/vmlDrawing" Target="../drawings/vmlDrawing6.vml"/><Relationship Id="rId6" Type="http://schemas.openxmlformats.org/officeDocument/2006/relationships/image" Target="../media/image34.png"/><Relationship Id="rId5" Type="http://schemas.openxmlformats.org/officeDocument/2006/relationships/image" Target="../media/image32.wmf"/><Relationship Id="rId4" Type="http://schemas.openxmlformats.org/officeDocument/2006/relationships/oleObject" Target="../embeddings/oleObject17.bin"/></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0.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9.png"/><Relationship Id="rId1" Type="http://schemas.openxmlformats.org/officeDocument/2006/relationships/slideLayout" Target="../slideLayouts/slideLayout30.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5.xml"/><Relationship Id="rId4" Type="http://schemas.openxmlformats.org/officeDocument/2006/relationships/comments" Target="../comments/comment1.xml"/></Relationships>
</file>

<file path=ppt/slides/_rels/slide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27088" y="1844675"/>
            <a:ext cx="7772400" cy="1470025"/>
          </a:xfrm>
        </p:spPr>
        <p:txBody>
          <a:bodyPr rtlCol="0"/>
          <a:lstStyle/>
          <a:p>
            <a:pPr eaLnBrk="1" fontAlgn="auto" hangingPunct="1">
              <a:spcAft>
                <a:spcPts val="0"/>
              </a:spcAft>
              <a:defRPr/>
            </a:pPr>
            <a:r>
              <a:rPr lang="en-US" altLang="zh-CN" b="1" dirty="0" err="1">
                <a:latin typeface="+mj-ea"/>
                <a:cs typeface="+mj-cs"/>
              </a:rPr>
              <a:t>Multisim</a:t>
            </a:r>
            <a:r>
              <a:rPr lang="zh-CN" altLang="en-US" b="1" dirty="0">
                <a:latin typeface="+mj-ea"/>
                <a:cs typeface="+mj-cs"/>
              </a:rPr>
              <a:t>与电路仿真设计</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1857364"/>
            <a:ext cx="7929618" cy="4083069"/>
          </a:xfrm>
        </p:spPr>
        <p:txBody>
          <a:bodyPr rtlCol="0">
            <a:normAutofit fontScale="92500"/>
          </a:bodyPr>
          <a:lstStyle/>
          <a:p>
            <a:pPr marL="0" indent="0" eaLnBrk="1" fontAlgn="auto" hangingPunct="1">
              <a:spcAft>
                <a:spcPts val="0"/>
              </a:spcAft>
              <a:buFont typeface="Symbol" pitchFamily="18" charset="2"/>
              <a:buNone/>
              <a:defRPr/>
            </a:pPr>
            <a:r>
              <a:rPr lang="zh-CN" altLang="en-US" dirty="0">
                <a:latin typeface="+mn-ea"/>
                <a:cs typeface="+mn-cs"/>
              </a:rPr>
              <a:t>一</a:t>
            </a:r>
            <a:r>
              <a:rPr lang="zh-CN" altLang="zh-CN" dirty="0">
                <a:latin typeface="+mn-ea"/>
                <a:cs typeface="+mn-cs"/>
              </a:rPr>
              <a:t>、实验目的与任务</a:t>
            </a:r>
          </a:p>
          <a:p>
            <a:pPr marL="0" indent="0" eaLnBrk="1" fontAlgn="auto" hangingPunct="1">
              <a:spcAft>
                <a:spcPts val="0"/>
              </a:spcAft>
              <a:buNone/>
              <a:defRPr/>
            </a:pPr>
            <a:r>
              <a:rPr lang="en-US" altLang="zh-CN" sz="2400" dirty="0"/>
              <a:t>        </a:t>
            </a:r>
            <a:r>
              <a:rPr lang="zh-CN" altLang="zh-CN" sz="2400" dirty="0"/>
              <a:t>理解</a:t>
            </a:r>
            <a:r>
              <a:rPr lang="zh-CN" altLang="en-US" sz="2400" dirty="0"/>
              <a:t>动态元件和</a:t>
            </a:r>
            <a:r>
              <a:rPr lang="zh-CN" altLang="zh-CN" sz="2400" dirty="0">
                <a:cs typeface="+mn-cs"/>
              </a:rPr>
              <a:t>一阶、二阶</a:t>
            </a:r>
            <a:r>
              <a:rPr lang="zh-CN" altLang="en-US" sz="2400" dirty="0"/>
              <a:t>动态电路特性，</a:t>
            </a:r>
            <a:r>
              <a:rPr lang="zh-CN" altLang="zh-CN" sz="2400" dirty="0"/>
              <a:t>理解</a:t>
            </a:r>
            <a:r>
              <a:rPr lang="zh-CN" altLang="en-US" sz="2400" dirty="0"/>
              <a:t>正弦稳态</a:t>
            </a:r>
            <a:r>
              <a:rPr lang="zh-CN" altLang="zh-CN" sz="2400" dirty="0"/>
              <a:t>阻抗匹配概念</a:t>
            </a:r>
            <a:r>
              <a:rPr lang="zh-CN" altLang="en-US" sz="2400" dirty="0"/>
              <a:t>。</a:t>
            </a:r>
            <a:r>
              <a:rPr lang="zh-CN" altLang="zh-CN" sz="2400" dirty="0">
                <a:cs typeface="+mn-cs"/>
              </a:rPr>
              <a:t>分析动态元件的电压和电流关系，分析动态电路时域波形，</a:t>
            </a:r>
            <a:r>
              <a:rPr lang="zh-CN" altLang="zh-CN" sz="2400" dirty="0"/>
              <a:t>掌握熟悉交流仿真分析方法和阻抗</a:t>
            </a:r>
            <a:r>
              <a:rPr lang="zh-CN" altLang="en-US" sz="2400" dirty="0"/>
              <a:t>测试方法</a:t>
            </a:r>
            <a:r>
              <a:rPr lang="zh-CN" altLang="zh-CN" sz="2400" dirty="0"/>
              <a:t>。</a:t>
            </a:r>
            <a:endParaRPr lang="en-US" altLang="zh-CN" sz="2400" dirty="0">
              <a:latin typeface="+mn-ea"/>
              <a:cs typeface="+mn-cs"/>
            </a:endParaRPr>
          </a:p>
          <a:p>
            <a:pPr marL="0" indent="0" eaLnBrk="1" fontAlgn="auto" hangingPunct="1">
              <a:spcAft>
                <a:spcPts val="0"/>
              </a:spcAft>
              <a:buFont typeface="Symbol" pitchFamily="18" charset="2"/>
              <a:buNone/>
              <a:defRPr/>
            </a:pPr>
            <a:endParaRPr lang="zh-CN" altLang="zh-CN" dirty="0">
              <a:latin typeface="+mn-ea"/>
              <a:cs typeface="+mn-cs"/>
            </a:endParaRPr>
          </a:p>
          <a:p>
            <a:pPr marL="0" indent="0" eaLnBrk="1" fontAlgn="auto" hangingPunct="1">
              <a:spcAft>
                <a:spcPts val="0"/>
              </a:spcAft>
              <a:buFont typeface="Symbol" pitchFamily="18" charset="2"/>
              <a:buNone/>
              <a:defRPr/>
            </a:pPr>
            <a:r>
              <a:rPr lang="zh-CN" altLang="en-US" dirty="0">
                <a:latin typeface="+mn-ea"/>
                <a:cs typeface="+mn-cs"/>
              </a:rPr>
              <a:t>二、</a:t>
            </a:r>
            <a:r>
              <a:rPr lang="zh-CN" altLang="zh-CN" dirty="0">
                <a:latin typeface="+mn-ea"/>
                <a:cs typeface="+mn-cs"/>
              </a:rPr>
              <a:t>实验</a:t>
            </a:r>
            <a:r>
              <a:rPr lang="zh-CN" altLang="en-US" dirty="0">
                <a:latin typeface="+mn-ea"/>
                <a:cs typeface="+mn-cs"/>
              </a:rPr>
              <a:t>原理</a:t>
            </a:r>
            <a:endParaRPr lang="en-US" altLang="zh-CN" dirty="0">
              <a:latin typeface="+mn-ea"/>
              <a:cs typeface="+mn-cs"/>
            </a:endParaRPr>
          </a:p>
          <a:p>
            <a:pPr marL="0" indent="0" eaLnBrk="1" fontAlgn="auto" hangingPunct="1">
              <a:spcAft>
                <a:spcPts val="0"/>
              </a:spcAft>
              <a:buFont typeface="Symbol" pitchFamily="18" charset="2"/>
              <a:buNone/>
              <a:defRPr/>
            </a:pPr>
            <a:r>
              <a:rPr lang="zh-CN" altLang="en-US" sz="2400" dirty="0">
                <a:latin typeface="+mn-ea"/>
                <a:cs typeface="+mn-cs"/>
              </a:rPr>
              <a:t>      一阶电路三要素法，时间常数概念，时间常数对输出电压的影响；</a:t>
            </a:r>
            <a:endParaRPr lang="en-US" altLang="zh-CN" sz="2400" dirty="0">
              <a:latin typeface="+mn-ea"/>
              <a:cs typeface="+mn-cs"/>
            </a:endParaRPr>
          </a:p>
          <a:p>
            <a:pPr marL="0" indent="0" eaLnBrk="1" fontAlgn="auto" hangingPunct="1">
              <a:spcAft>
                <a:spcPts val="0"/>
              </a:spcAft>
              <a:buFont typeface="Symbol" pitchFamily="18" charset="2"/>
              <a:buNone/>
              <a:defRPr/>
            </a:pPr>
            <a:r>
              <a:rPr lang="en-US" altLang="zh-CN" sz="2400" dirty="0">
                <a:latin typeface="+mn-ea"/>
                <a:cs typeface="+mn-cs"/>
              </a:rPr>
              <a:t>      </a:t>
            </a:r>
            <a:r>
              <a:rPr lang="zh-CN" altLang="en-US" sz="2400" dirty="0">
                <a:latin typeface="+mn-ea"/>
                <a:cs typeface="+mn-cs"/>
              </a:rPr>
              <a:t>二阶电路时域特性；</a:t>
            </a:r>
            <a:endParaRPr lang="en-US" altLang="zh-CN" sz="2400" dirty="0">
              <a:latin typeface="+mn-ea"/>
              <a:cs typeface="+mn-cs"/>
            </a:endParaRPr>
          </a:p>
          <a:p>
            <a:pPr marL="0" indent="0" eaLnBrk="1" fontAlgn="auto" hangingPunct="1">
              <a:spcAft>
                <a:spcPts val="0"/>
              </a:spcAft>
              <a:buFont typeface="Symbol" pitchFamily="18" charset="2"/>
              <a:buNone/>
              <a:defRPr/>
            </a:pPr>
            <a:r>
              <a:rPr lang="en-US" altLang="zh-CN" sz="2400" dirty="0">
                <a:latin typeface="+mn-ea"/>
                <a:cs typeface="+mn-cs"/>
              </a:rPr>
              <a:t>      </a:t>
            </a:r>
            <a:r>
              <a:rPr lang="zh-CN" altLang="en-US" sz="2400" dirty="0">
                <a:latin typeface="+mn-ea"/>
                <a:cs typeface="+mn-cs"/>
              </a:rPr>
              <a:t>正弦稳态，功率，共轭匹配概念及实现。</a:t>
            </a:r>
            <a:endParaRPr lang="en-US" altLang="zh-CN" sz="2400" dirty="0">
              <a:latin typeface="+mn-ea"/>
              <a:cs typeface="+mn-cs"/>
            </a:endParaRPr>
          </a:p>
          <a:p>
            <a:pPr marL="0" indent="0" eaLnBrk="1" fontAlgn="auto" hangingPunct="1">
              <a:spcAft>
                <a:spcPts val="0"/>
              </a:spcAft>
              <a:buFont typeface="Symbol" pitchFamily="18" charset="2"/>
              <a:buNone/>
              <a:defRPr/>
            </a:pPr>
            <a:endParaRPr lang="en-US" altLang="zh-CN" sz="2400" dirty="0">
              <a:latin typeface="+mn-ea"/>
              <a:cs typeface="+mn-cs"/>
            </a:endParaRPr>
          </a:p>
          <a:p>
            <a:pPr marL="0" indent="0" eaLnBrk="1" fontAlgn="auto" hangingPunct="1">
              <a:spcAft>
                <a:spcPts val="0"/>
              </a:spcAft>
              <a:buFont typeface="Symbol" pitchFamily="18" charset="2"/>
              <a:buNone/>
              <a:defRPr/>
            </a:pPr>
            <a:endParaRPr lang="zh-CN" altLang="en-US" sz="2400" dirty="0">
              <a:latin typeface="+mn-ea"/>
              <a:cs typeface="+mn-cs"/>
            </a:endParaRPr>
          </a:p>
        </p:txBody>
      </p:sp>
      <p:sp>
        <p:nvSpPr>
          <p:cNvPr id="2" name="标题 1"/>
          <p:cNvSpPr>
            <a:spLocks noGrp="1"/>
          </p:cNvSpPr>
          <p:nvPr>
            <p:ph type="title"/>
          </p:nvPr>
        </p:nvSpPr>
        <p:spPr>
          <a:xfrm>
            <a:off x="457200" y="274638"/>
            <a:ext cx="8147050" cy="1209675"/>
          </a:xfrm>
        </p:spPr>
        <p:txBody>
          <a:bodyPr>
            <a:noAutofit/>
          </a:bodyPr>
          <a:lstStyle/>
          <a:p>
            <a:pPr eaLnBrk="1" hangingPunct="1"/>
            <a:r>
              <a:rPr lang="zh-CN" altLang="zh-CN" b="1" dirty="0">
                <a:latin typeface="华文新魏"/>
              </a:rPr>
              <a:t>实验</a:t>
            </a:r>
            <a:r>
              <a:rPr lang="zh-CN" altLang="en-US" b="1" dirty="0">
                <a:latin typeface="华文新魏"/>
              </a:rPr>
              <a:t>五</a:t>
            </a:r>
            <a:br>
              <a:rPr lang="en-US" altLang="zh-CN" b="1" dirty="0">
                <a:latin typeface="华文新魏"/>
              </a:rPr>
            </a:br>
            <a:r>
              <a:rPr lang="zh-CN" altLang="en-US" b="1" dirty="0">
                <a:latin typeface="华文新魏"/>
              </a:rPr>
              <a:t>动态</a:t>
            </a:r>
            <a:r>
              <a:rPr lang="zh-CN" altLang="zh-CN" b="1" dirty="0">
                <a:latin typeface="华文新魏"/>
              </a:rPr>
              <a:t>电路分析</a:t>
            </a:r>
            <a:r>
              <a:rPr lang="zh-CN" altLang="en-US" b="1" dirty="0">
                <a:latin typeface="华文新魏"/>
              </a:rPr>
              <a:t>与设计</a:t>
            </a:r>
            <a:endParaRPr lang="zh-CN" altLang="en-US" dirty="0">
              <a:latin typeface="华文新魏"/>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1"/>
          <p:cNvSpPr txBox="1">
            <a:spLocks noChangeArrowheads="1"/>
          </p:cNvSpPr>
          <p:nvPr/>
        </p:nvSpPr>
        <p:spPr bwMode="auto">
          <a:xfrm>
            <a:off x="611188" y="692150"/>
            <a:ext cx="6913562" cy="638175"/>
          </a:xfrm>
          <a:prstGeom prst="rect">
            <a:avLst/>
          </a:prstGeom>
          <a:noFill/>
          <a:ln w="9525">
            <a:noFill/>
            <a:miter lim="800000"/>
            <a:headEnd/>
            <a:tailEnd/>
          </a:ln>
        </p:spPr>
        <p:txBody>
          <a:bodyPr>
            <a:spAutoFit/>
          </a:bodyPr>
          <a:lstStyle/>
          <a:p>
            <a:pPr>
              <a:lnSpc>
                <a:spcPct val="150000"/>
              </a:lnSpc>
              <a:spcBef>
                <a:spcPct val="50000"/>
              </a:spcBef>
            </a:pPr>
            <a:r>
              <a:rPr lang="en-US" altLang="zh-CN" sz="2800" b="1" dirty="0">
                <a:latin typeface="楷体_GB2312" pitchFamily="49" charset="-122"/>
                <a:ea typeface="楷体_GB2312" pitchFamily="49" charset="-122"/>
              </a:rPr>
              <a:t>1 </a:t>
            </a:r>
            <a:r>
              <a:rPr lang="zh-CN" altLang="en-US" sz="2800" b="1" dirty="0">
                <a:latin typeface="楷体_GB2312" pitchFamily="49" charset="-122"/>
                <a:ea typeface="楷体_GB2312" pitchFamily="49" charset="-122"/>
              </a:rPr>
              <a:t>一阶</a:t>
            </a:r>
            <a:r>
              <a:rPr lang="en-US" altLang="zh-CN" sz="2800" b="1" dirty="0">
                <a:latin typeface="楷体_GB2312" pitchFamily="49" charset="-122"/>
                <a:ea typeface="楷体_GB2312" pitchFamily="49" charset="-122"/>
              </a:rPr>
              <a:t>RC</a:t>
            </a:r>
            <a:r>
              <a:rPr lang="zh-CN" altLang="en-US" sz="2800" b="1" dirty="0">
                <a:latin typeface="楷体_GB2312" pitchFamily="49" charset="-122"/>
                <a:ea typeface="楷体_GB2312" pitchFamily="49" charset="-122"/>
              </a:rPr>
              <a:t>电路特性</a:t>
            </a:r>
            <a:r>
              <a:rPr lang="zh-CN" altLang="en-US" sz="2800" b="1" dirty="0">
                <a:latin typeface="隶书"/>
                <a:ea typeface="隶书"/>
                <a:cs typeface="隶书"/>
              </a:rPr>
              <a:t> </a:t>
            </a:r>
          </a:p>
        </p:txBody>
      </p:sp>
      <p:graphicFrame>
        <p:nvGraphicFramePr>
          <p:cNvPr id="5" name="Object 13"/>
          <p:cNvGraphicFramePr>
            <a:graphicFrameLocks noChangeAspect="1"/>
          </p:cNvGraphicFramePr>
          <p:nvPr>
            <p:extLst>
              <p:ext uri="{D42A27DB-BD31-4B8C-83A1-F6EECF244321}">
                <p14:modId xmlns:p14="http://schemas.microsoft.com/office/powerpoint/2010/main" val="4107533884"/>
              </p:ext>
            </p:extLst>
          </p:nvPr>
        </p:nvGraphicFramePr>
        <p:xfrm>
          <a:off x="1619671" y="1500189"/>
          <a:ext cx="6208291" cy="816524"/>
        </p:xfrm>
        <a:graphic>
          <a:graphicData uri="http://schemas.openxmlformats.org/presentationml/2006/ole">
            <mc:AlternateContent xmlns:mc="http://schemas.openxmlformats.org/markup-compatibility/2006">
              <mc:Choice xmlns:v="urn:schemas-microsoft-com:vml" Requires="v">
                <p:oleObj spid="_x0000_s95251" name="Equation" r:id="rId3" imgW="2754704" imgH="342751" progId="Equation.DSMT4">
                  <p:embed/>
                </p:oleObj>
              </mc:Choice>
              <mc:Fallback>
                <p:oleObj name="Equation" r:id="rId3" imgW="2754704" imgH="342751" progId="Equation.DSMT4">
                  <p:embed/>
                  <p:pic>
                    <p:nvPicPr>
                      <p:cNvPr id="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1" y="1500189"/>
                        <a:ext cx="6208291" cy="816524"/>
                      </a:xfrm>
                      <a:prstGeom prst="rect">
                        <a:avLst/>
                      </a:prstGeom>
                      <a:noFill/>
                    </p:spPr>
                  </p:pic>
                </p:oleObj>
              </mc:Fallback>
            </mc:AlternateContent>
          </a:graphicData>
        </a:graphic>
      </p:graphicFrame>
      <p:sp>
        <p:nvSpPr>
          <p:cNvPr id="2" name="矩形 1"/>
          <p:cNvSpPr/>
          <p:nvPr/>
        </p:nvSpPr>
        <p:spPr>
          <a:xfrm>
            <a:off x="1331640" y="2428362"/>
            <a:ext cx="7174557" cy="1107996"/>
          </a:xfrm>
          <a:prstGeom prst="rect">
            <a:avLst/>
          </a:prstGeom>
        </p:spPr>
        <p:txBody>
          <a:bodyPr wrap="square">
            <a:spAutoFit/>
          </a:bodyPr>
          <a:lstStyle/>
          <a:p>
            <a:pPr>
              <a:lnSpc>
                <a:spcPct val="150000"/>
              </a:lnSpc>
              <a:spcBef>
                <a:spcPct val="50000"/>
              </a:spcBef>
            </a:pPr>
            <a:r>
              <a:rPr lang="zh-CN" altLang="en-US" sz="2200" b="1" dirty="0">
                <a:latin typeface="楷体_GB2312" pitchFamily="49" charset="-122"/>
                <a:ea typeface="楷体_GB2312" pitchFamily="49" charset="-122"/>
              </a:rPr>
              <a:t>直流激励时的全响应。无论是零状态还是零输入响应，都是全响应的特例。    </a:t>
            </a:r>
            <a:endParaRPr lang="en-US" altLang="zh-CN" sz="2200" b="1" dirty="0">
              <a:latin typeface="楷体_GB2312" pitchFamily="49" charset="-122"/>
              <a:ea typeface="楷体_GB2312" pitchFamily="49" charset="-122"/>
            </a:endParaRPr>
          </a:p>
        </p:txBody>
      </p:sp>
      <p:pic>
        <p:nvPicPr>
          <p:cNvPr id="6" name="图片 5"/>
          <p:cNvPicPr>
            <a:picLocks noChangeAspect="1"/>
          </p:cNvPicPr>
          <p:nvPr/>
        </p:nvPicPr>
        <p:blipFill>
          <a:blip r:embed="rId5"/>
          <a:stretch>
            <a:fillRect/>
          </a:stretch>
        </p:blipFill>
        <p:spPr>
          <a:xfrm>
            <a:off x="1403648" y="4077072"/>
            <a:ext cx="3632470" cy="1581193"/>
          </a:xfrm>
          <a:prstGeom prst="rect">
            <a:avLst/>
          </a:prstGeom>
        </p:spPr>
      </p:pic>
      <p:pic>
        <p:nvPicPr>
          <p:cNvPr id="7" name="图片 6"/>
          <p:cNvPicPr>
            <a:picLocks noChangeAspect="1"/>
          </p:cNvPicPr>
          <p:nvPr/>
        </p:nvPicPr>
        <p:blipFill>
          <a:blip r:embed="rId6"/>
          <a:stretch>
            <a:fillRect/>
          </a:stretch>
        </p:blipFill>
        <p:spPr>
          <a:xfrm>
            <a:off x="5729637" y="3133700"/>
            <a:ext cx="2038350" cy="350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827584" y="1523935"/>
            <a:ext cx="4454230" cy="2462213"/>
          </a:xfrm>
          <a:prstGeom prst="rect">
            <a:avLst/>
          </a:prstGeom>
          <a:noFill/>
          <a:ln w="9525">
            <a:noFill/>
            <a:miter lim="800000"/>
            <a:headEnd/>
            <a:tailEnd/>
          </a:ln>
        </p:spPr>
        <p:txBody>
          <a:bodyPr wrap="square">
            <a:spAutoFit/>
          </a:bodyPr>
          <a:lstStyle/>
          <a:p>
            <a:pPr>
              <a:lnSpc>
                <a:spcPct val="150000"/>
              </a:lnSpc>
              <a:spcBef>
                <a:spcPct val="50000"/>
              </a:spcBef>
            </a:pPr>
            <a:r>
              <a:rPr lang="zh-CN" altLang="en-US" sz="2200" b="1" dirty="0">
                <a:latin typeface="楷体_GB2312" pitchFamily="49" charset="-122"/>
                <a:ea typeface="楷体_GB2312" pitchFamily="49" charset="-122"/>
              </a:rPr>
              <a:t>时间常数</a:t>
            </a:r>
            <a:r>
              <a:rPr lang="zh-CN" altLang="en-US" sz="2200" b="1" i="1" dirty="0">
                <a:latin typeface="Times New Roman" pitchFamily="18" charset="0"/>
                <a:ea typeface="楷体_GB2312" pitchFamily="49" charset="-122"/>
                <a:sym typeface="Symbol" pitchFamily="18" charset="2"/>
              </a:rPr>
              <a:t></a:t>
            </a:r>
            <a:r>
              <a:rPr lang="zh-CN" altLang="en-US" sz="2200" b="1" i="1" dirty="0">
                <a:latin typeface="楷体_GB2312" pitchFamily="49" charset="-122"/>
                <a:ea typeface="楷体_GB2312" pitchFamily="49" charset="-122"/>
              </a:rPr>
              <a:t> </a:t>
            </a:r>
            <a:r>
              <a:rPr lang="zh-CN" altLang="en-US" sz="2200" b="1" dirty="0">
                <a:latin typeface="楷体_GB2312" pitchFamily="49" charset="-122"/>
                <a:ea typeface="楷体_GB2312" pitchFamily="49" charset="-122"/>
              </a:rPr>
              <a:t>的计算：</a:t>
            </a:r>
            <a:endParaRPr lang="en-US" altLang="zh-CN" sz="2200" b="1" dirty="0">
              <a:latin typeface="楷体_GB2312" pitchFamily="49" charset="-122"/>
              <a:ea typeface="楷体_GB2312" pitchFamily="49" charset="-122"/>
            </a:endParaRPr>
          </a:p>
          <a:p>
            <a:pPr>
              <a:lnSpc>
                <a:spcPct val="150000"/>
              </a:lnSpc>
              <a:spcBef>
                <a:spcPct val="50000"/>
              </a:spcBef>
            </a:pPr>
            <a:r>
              <a:rPr lang="zh-CN" altLang="en-US" sz="2200" b="1" dirty="0">
                <a:latin typeface="楷体_GB2312" pitchFamily="49" charset="-122"/>
                <a:ea typeface="楷体_GB2312" pitchFamily="49" charset="-122"/>
              </a:rPr>
              <a:t>计算与电容或电感连接的线性电阻单口网络的输出电阻</a:t>
            </a:r>
            <a:r>
              <a:rPr lang="en-US" altLang="zh-CN" sz="2200" b="1" i="1" dirty="0">
                <a:latin typeface="Times New Roman" pitchFamily="18" charset="0"/>
                <a:ea typeface="楷体_GB2312" pitchFamily="49" charset="-122"/>
              </a:rPr>
              <a:t>R</a:t>
            </a:r>
            <a:r>
              <a:rPr lang="en-US" altLang="zh-CN" sz="2200" b="1" baseline="-30000" dirty="0">
                <a:latin typeface="Times New Roman" pitchFamily="18" charset="0"/>
                <a:ea typeface="楷体_GB2312" pitchFamily="49" charset="-122"/>
              </a:rPr>
              <a:t>o</a:t>
            </a:r>
            <a:r>
              <a:rPr lang="zh-CN" altLang="en-US" sz="2200" b="1" dirty="0">
                <a:latin typeface="楷体_GB2312" pitchFamily="49" charset="-122"/>
                <a:ea typeface="楷体_GB2312" pitchFamily="49" charset="-122"/>
              </a:rPr>
              <a:t>，</a:t>
            </a:r>
            <a:r>
              <a:rPr lang="zh-CN" altLang="en-US" sz="2200" b="1" i="1" dirty="0">
                <a:latin typeface="Times New Roman" pitchFamily="18" charset="0"/>
                <a:ea typeface="楷体_GB2312" pitchFamily="49" charset="-122"/>
                <a:sym typeface="Symbol" pitchFamily="18" charset="2"/>
              </a:rPr>
              <a:t>              </a:t>
            </a:r>
            <a:endParaRPr lang="en-US" altLang="zh-CN" sz="2200" b="1" i="1" dirty="0">
              <a:latin typeface="Times New Roman" pitchFamily="18" charset="0"/>
              <a:ea typeface="楷体_GB2312" pitchFamily="49" charset="-122"/>
              <a:sym typeface="Symbol" pitchFamily="18" charset="2"/>
            </a:endParaRPr>
          </a:p>
          <a:p>
            <a:pPr>
              <a:lnSpc>
                <a:spcPct val="150000"/>
              </a:lnSpc>
              <a:spcBef>
                <a:spcPct val="50000"/>
              </a:spcBef>
            </a:pPr>
            <a:r>
              <a:rPr lang="en-US" altLang="zh-CN" sz="2200" b="1" i="1" dirty="0">
                <a:latin typeface="Times New Roman" pitchFamily="18" charset="0"/>
                <a:ea typeface="楷体_GB2312" pitchFamily="49" charset="-122"/>
                <a:sym typeface="Symbol" pitchFamily="18" charset="2"/>
              </a:rPr>
              <a:t>              </a:t>
            </a:r>
            <a:r>
              <a:rPr lang="zh-CN" altLang="en-US" sz="2200" b="1" i="1" dirty="0">
                <a:latin typeface="Times New Roman" pitchFamily="18" charset="0"/>
                <a:ea typeface="楷体_GB2312" pitchFamily="49" charset="-122"/>
                <a:sym typeface="Symbol" pitchFamily="18" charset="2"/>
              </a:rPr>
              <a:t></a:t>
            </a:r>
            <a:r>
              <a:rPr lang="zh-CN" altLang="en-US" sz="2200" b="1" i="1" dirty="0">
                <a:latin typeface="Times New Roman" pitchFamily="18" charset="0"/>
                <a:ea typeface="楷体_GB2312" pitchFamily="49" charset="-122"/>
              </a:rPr>
              <a:t> </a:t>
            </a:r>
            <a:r>
              <a:rPr lang="en-US" altLang="zh-CN" sz="2200" b="1" dirty="0">
                <a:latin typeface="Times New Roman" pitchFamily="18" charset="0"/>
                <a:ea typeface="楷体_GB2312" pitchFamily="49" charset="-122"/>
              </a:rPr>
              <a:t>=</a:t>
            </a:r>
            <a:r>
              <a:rPr lang="en-US" altLang="zh-CN" sz="2200" b="1" i="1" dirty="0" err="1">
                <a:latin typeface="Times New Roman" pitchFamily="18" charset="0"/>
                <a:ea typeface="楷体_GB2312" pitchFamily="49" charset="-122"/>
              </a:rPr>
              <a:t>R</a:t>
            </a:r>
            <a:r>
              <a:rPr lang="en-US" altLang="zh-CN" sz="2200" b="1" baseline="-30000" dirty="0" err="1">
                <a:latin typeface="Times New Roman" pitchFamily="18" charset="0"/>
                <a:ea typeface="楷体_GB2312" pitchFamily="49" charset="-122"/>
              </a:rPr>
              <a:t>o</a:t>
            </a:r>
            <a:r>
              <a:rPr lang="en-US" altLang="zh-CN" sz="2200" b="1" i="1" dirty="0" err="1">
                <a:latin typeface="Times New Roman" pitchFamily="18" charset="0"/>
                <a:ea typeface="楷体_GB2312" pitchFamily="49" charset="-122"/>
              </a:rPr>
              <a:t>C</a:t>
            </a:r>
            <a:r>
              <a:rPr lang="en-US" altLang="zh-CN" sz="2200" b="1" i="1" dirty="0">
                <a:latin typeface="Times New Roman" pitchFamily="18" charset="0"/>
                <a:ea typeface="楷体_GB2312" pitchFamily="49" charset="-122"/>
              </a:rPr>
              <a:t>   </a:t>
            </a:r>
            <a:r>
              <a:rPr lang="zh-CN" altLang="en-US" sz="2200" b="1" dirty="0">
                <a:latin typeface="Times New Roman" pitchFamily="18" charset="0"/>
                <a:ea typeface="楷体_GB2312" pitchFamily="49" charset="-122"/>
              </a:rPr>
              <a:t>或</a:t>
            </a:r>
            <a:r>
              <a:rPr lang="en-US" altLang="zh-CN" sz="2200" b="1" dirty="0">
                <a:latin typeface="Times New Roman" pitchFamily="18" charset="0"/>
                <a:ea typeface="楷体_GB2312" pitchFamily="49" charset="-122"/>
              </a:rPr>
              <a:t> </a:t>
            </a:r>
            <a:r>
              <a:rPr lang="en-US" altLang="zh-CN" sz="2200" b="1" i="1" dirty="0">
                <a:latin typeface="Times New Roman" pitchFamily="18" charset="0"/>
                <a:ea typeface="楷体_GB2312" pitchFamily="49" charset="-122"/>
              </a:rPr>
              <a:t>  </a:t>
            </a:r>
            <a:r>
              <a:rPr lang="zh-CN" altLang="en-US" sz="2200" b="1" i="1" dirty="0">
                <a:latin typeface="Times New Roman" pitchFamily="18" charset="0"/>
                <a:ea typeface="楷体_GB2312" pitchFamily="49" charset="-122"/>
                <a:sym typeface="Symbol" pitchFamily="18" charset="2"/>
              </a:rPr>
              <a:t></a:t>
            </a:r>
            <a:r>
              <a:rPr lang="zh-CN" altLang="en-US" sz="2200" b="1" i="1" dirty="0">
                <a:latin typeface="Times New Roman" pitchFamily="18" charset="0"/>
                <a:ea typeface="楷体_GB2312" pitchFamily="49" charset="-122"/>
              </a:rPr>
              <a:t> </a:t>
            </a:r>
            <a:r>
              <a:rPr lang="en-US" altLang="zh-CN" sz="2200" b="1" dirty="0">
                <a:latin typeface="Times New Roman" pitchFamily="18" charset="0"/>
                <a:ea typeface="楷体_GB2312" pitchFamily="49" charset="-122"/>
              </a:rPr>
              <a:t>=</a:t>
            </a:r>
            <a:r>
              <a:rPr lang="en-US" altLang="zh-CN" sz="2200" b="1" i="1" dirty="0">
                <a:latin typeface="Times New Roman" pitchFamily="18" charset="0"/>
                <a:ea typeface="楷体_GB2312" pitchFamily="49" charset="-122"/>
              </a:rPr>
              <a:t>L</a:t>
            </a:r>
            <a:r>
              <a:rPr lang="en-US" altLang="zh-CN" sz="2200" b="1" dirty="0">
                <a:latin typeface="Times New Roman" pitchFamily="18" charset="0"/>
                <a:ea typeface="楷体_GB2312" pitchFamily="49" charset="-122"/>
              </a:rPr>
              <a:t>/</a:t>
            </a:r>
            <a:r>
              <a:rPr lang="en-US" altLang="zh-CN" sz="2200" b="1" i="1" dirty="0">
                <a:latin typeface="Times New Roman" pitchFamily="18" charset="0"/>
                <a:ea typeface="楷体_GB2312" pitchFamily="49" charset="-122"/>
              </a:rPr>
              <a:t>R</a:t>
            </a:r>
            <a:r>
              <a:rPr lang="en-US" altLang="zh-CN" sz="2200" b="1" baseline="-30000" dirty="0">
                <a:latin typeface="Times New Roman" pitchFamily="18" charset="0"/>
                <a:ea typeface="楷体_GB2312" pitchFamily="49" charset="-122"/>
              </a:rPr>
              <a:t>o</a:t>
            </a:r>
            <a:endParaRPr lang="zh-CN" altLang="en-US" sz="2200" b="1" dirty="0">
              <a:solidFill>
                <a:schemeClr val="bg1"/>
              </a:solidFill>
              <a:latin typeface="隶书"/>
              <a:ea typeface="隶书"/>
              <a:cs typeface="隶书"/>
            </a:endParaRPr>
          </a:p>
        </p:txBody>
      </p:sp>
      <p:graphicFrame>
        <p:nvGraphicFramePr>
          <p:cNvPr id="7" name="Group 2"/>
          <p:cNvGraphicFramePr>
            <a:graphicFrameLocks/>
          </p:cNvGraphicFramePr>
          <p:nvPr>
            <p:extLst>
              <p:ext uri="{D42A27DB-BD31-4B8C-83A1-F6EECF244321}">
                <p14:modId xmlns:p14="http://schemas.microsoft.com/office/powerpoint/2010/main" val="3157161029"/>
              </p:ext>
            </p:extLst>
          </p:nvPr>
        </p:nvGraphicFramePr>
        <p:xfrm>
          <a:off x="179512" y="4077072"/>
          <a:ext cx="4929198" cy="1230313"/>
        </p:xfrm>
        <a:graphic>
          <a:graphicData uri="http://schemas.openxmlformats.org/drawingml/2006/table">
            <a:tbl>
              <a:tblPr/>
              <a:tblGrid>
                <a:gridCol w="1296144">
                  <a:extLst>
                    <a:ext uri="{9D8B030D-6E8A-4147-A177-3AD203B41FA5}">
                      <a16:colId xmlns:a16="http://schemas.microsoft.com/office/drawing/2014/main" val="20000"/>
                    </a:ext>
                  </a:extLst>
                </a:gridCol>
                <a:gridCol w="1132724">
                  <a:extLst>
                    <a:ext uri="{9D8B030D-6E8A-4147-A177-3AD203B41FA5}">
                      <a16:colId xmlns:a16="http://schemas.microsoft.com/office/drawing/2014/main" val="20001"/>
                    </a:ext>
                  </a:extLst>
                </a:gridCol>
                <a:gridCol w="1243540">
                  <a:extLst>
                    <a:ext uri="{9D8B030D-6E8A-4147-A177-3AD203B41FA5}">
                      <a16:colId xmlns:a16="http://schemas.microsoft.com/office/drawing/2014/main" val="20002"/>
                    </a:ext>
                  </a:extLst>
                </a:gridCol>
                <a:gridCol w="1256790">
                  <a:extLst>
                    <a:ext uri="{9D8B030D-6E8A-4147-A177-3AD203B41FA5}">
                      <a16:colId xmlns:a16="http://schemas.microsoft.com/office/drawing/2014/main" val="20003"/>
                    </a:ext>
                  </a:extLst>
                </a:gridCol>
              </a:tblGrid>
              <a:tr h="58443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充电时间</a:t>
                      </a:r>
                      <a:r>
                        <a:rPr kumimoji="0" lang="en-US" altLang="zh-CN" sz="2400" b="1" i="1" u="none" strike="noStrike" cap="none" normalizeH="0" baseline="0" dirty="0">
                          <a:ln>
                            <a:noFill/>
                          </a:ln>
                          <a:solidFill>
                            <a:schemeClr val="tx1"/>
                          </a:solidFill>
                          <a:effectLst/>
                          <a:latin typeface="Times New Roman" pitchFamily="18" charset="0"/>
                          <a:ea typeface="宋体" pitchFamily="2" charset="-122"/>
                        </a:rPr>
                        <a:t>t</a:t>
                      </a:r>
                    </a:p>
                  </a:txBody>
                  <a:tcPr marL="54000" marR="54000" marT="17994" marB="1799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5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0.7</a:t>
                      </a:r>
                      <a:r>
                        <a:rPr kumimoji="0" lang="en-US" altLang="zh-CN" sz="2400" b="1" i="1"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endParaRPr kumimoji="0" lang="el-GR"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54000" marR="54000" marT="17994" marB="1799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1"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54000" marR="54000" marT="17994" marB="1799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400" b="1" i="0" u="none" strike="noStrike" cap="none" normalizeH="0" baseline="0" dirty="0">
                        <a:ln>
                          <a:noFill/>
                        </a:ln>
                        <a:solidFill>
                          <a:schemeClr val="tx1"/>
                        </a:solidFill>
                        <a:effectLst/>
                        <a:latin typeface="Times New Roman" pitchFamily="18" charset="0"/>
                        <a:ea typeface="宋体" pitchFamily="2" charset="-122"/>
                        <a:sym typeface="Symbol" pitchFamily="18" charset="2"/>
                      </a:endParaRPr>
                    </a:p>
                  </a:txBody>
                  <a:tcPr marL="54000" marR="54000" marT="17994" marB="1799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5882">
                <a:tc>
                  <a:txBody>
                    <a:bodyPr/>
                    <a:lstStyle/>
                    <a:p>
                      <a:pPr marL="0" marR="0" lvl="0" indent="0" algn="ctr" defTabSz="914400" rtl="0" eaLnBrk="1" fontAlgn="base" latinLnBrk="0" hangingPunct="1">
                        <a:lnSpc>
                          <a:spcPct val="150000"/>
                        </a:lnSpc>
                        <a:spcBef>
                          <a:spcPct val="50000"/>
                        </a:spcBef>
                        <a:spcAft>
                          <a:spcPct val="0"/>
                        </a:spcAft>
                        <a:buClrTx/>
                        <a:buSzTx/>
                        <a:buFontTx/>
                        <a:buNone/>
                        <a:tabLst/>
                      </a:pPr>
                      <a:r>
                        <a:rPr kumimoji="0" lang="en-US" altLang="zh-CN" sz="2400" b="1" i="1" u="none" strike="noStrike" cap="none" normalizeH="0" baseline="0" dirty="0" err="1">
                          <a:ln>
                            <a:noFill/>
                          </a:ln>
                          <a:solidFill>
                            <a:schemeClr val="tx1"/>
                          </a:solidFill>
                          <a:effectLst/>
                          <a:latin typeface="Times New Roman" pitchFamily="18" charset="0"/>
                          <a:ea typeface="宋体" pitchFamily="2" charset="-122"/>
                        </a:rPr>
                        <a:t>u</a:t>
                      </a:r>
                      <a:r>
                        <a:rPr kumimoji="0" lang="en-US" altLang="zh-CN" sz="2400" b="1" i="0" u="none" strike="noStrike" cap="none" normalizeH="0" baseline="-25000" dirty="0" err="1">
                          <a:ln>
                            <a:noFill/>
                          </a:ln>
                          <a:solidFill>
                            <a:schemeClr val="tx1"/>
                          </a:solidFill>
                          <a:effectLst/>
                          <a:latin typeface="Times New Roman" pitchFamily="18" charset="0"/>
                          <a:ea typeface="宋体" pitchFamily="2" charset="-122"/>
                        </a:rPr>
                        <a:t>c</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2400" b="1" i="1" u="none" strike="noStrike" cap="none" normalizeH="0" baseline="0" dirty="0">
                          <a:ln>
                            <a:noFill/>
                          </a:ln>
                          <a:solidFill>
                            <a:schemeClr val="tx1"/>
                          </a:solidFill>
                          <a:effectLst/>
                          <a:latin typeface="Times New Roman" pitchFamily="18" charset="0"/>
                          <a:ea typeface="宋体" pitchFamily="2" charset="-122"/>
                        </a:rPr>
                        <a:t>t</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54000" marR="54000" marT="17994" marB="1799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5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0.5</a:t>
                      </a:r>
                      <a:r>
                        <a:rPr kumimoji="0" lang="en-US" altLang="zh-CN" sz="2400" b="1" i="1" u="none" strike="noStrike" cap="none" normalizeH="0" baseline="0" dirty="0">
                          <a:ln>
                            <a:noFill/>
                          </a:ln>
                          <a:solidFill>
                            <a:schemeClr val="tx1"/>
                          </a:solidFill>
                          <a:effectLst/>
                          <a:latin typeface="Times New Roman" pitchFamily="18" charset="0"/>
                          <a:ea typeface="宋体" pitchFamily="2" charset="-122"/>
                        </a:rPr>
                        <a:t>V</a:t>
                      </a:r>
                      <a:r>
                        <a:rPr kumimoji="0" lang="en-US" altLang="zh-CN" sz="2400" b="1" i="0" u="none" strike="noStrike" cap="none" normalizeH="0" baseline="-25000" dirty="0">
                          <a:ln>
                            <a:noFill/>
                          </a:ln>
                          <a:solidFill>
                            <a:schemeClr val="tx1"/>
                          </a:solidFill>
                          <a:effectLst/>
                          <a:latin typeface="Times New Roman" pitchFamily="18" charset="0"/>
                          <a:ea typeface="宋体" pitchFamily="2" charset="-122"/>
                        </a:rPr>
                        <a:t>o</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54000" marR="54000" marT="17994" marB="1799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5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0.632</a:t>
                      </a:r>
                      <a:r>
                        <a:rPr kumimoji="0" lang="en-US" altLang="zh-CN" sz="2400" b="1" i="1" u="none" strike="noStrike" cap="none" normalizeH="0" baseline="0" dirty="0">
                          <a:ln>
                            <a:noFill/>
                          </a:ln>
                          <a:solidFill>
                            <a:schemeClr val="tx1"/>
                          </a:solidFill>
                          <a:effectLst/>
                          <a:latin typeface="Times New Roman" pitchFamily="18" charset="0"/>
                          <a:ea typeface="宋体" pitchFamily="2" charset="-122"/>
                        </a:rPr>
                        <a:t>V</a:t>
                      </a:r>
                      <a:r>
                        <a:rPr kumimoji="0" lang="en-US" altLang="zh-CN" sz="2400" b="1" i="0" u="none" strike="noStrike" cap="none" normalizeH="0" baseline="-25000" dirty="0">
                          <a:ln>
                            <a:noFill/>
                          </a:ln>
                          <a:solidFill>
                            <a:schemeClr val="tx1"/>
                          </a:solidFill>
                          <a:effectLst/>
                          <a:latin typeface="Times New Roman" pitchFamily="18" charset="0"/>
                          <a:ea typeface="宋体" pitchFamily="2" charset="-122"/>
                        </a:rPr>
                        <a:t>o</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54000" marR="54000" marT="17994" marB="1799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1" u="none" strike="noStrike" cap="none" normalizeH="0" baseline="0" dirty="0">
                          <a:ln>
                            <a:noFill/>
                          </a:ln>
                          <a:solidFill>
                            <a:schemeClr val="tx1"/>
                          </a:solidFill>
                          <a:effectLst/>
                          <a:latin typeface="Times New Roman" pitchFamily="18" charset="0"/>
                          <a:ea typeface="宋体" pitchFamily="2" charset="-122"/>
                        </a:rPr>
                        <a:t>V</a:t>
                      </a:r>
                      <a:r>
                        <a:rPr kumimoji="0" lang="en-US" altLang="zh-CN" sz="2400" b="1" i="0" u="none" strike="noStrike" cap="none" normalizeH="0" baseline="-25000" dirty="0">
                          <a:ln>
                            <a:noFill/>
                          </a:ln>
                          <a:solidFill>
                            <a:schemeClr val="tx1"/>
                          </a:solidFill>
                          <a:effectLst/>
                          <a:latin typeface="Times New Roman" pitchFamily="18" charset="0"/>
                          <a:ea typeface="宋体" pitchFamily="2" charset="-122"/>
                        </a:rPr>
                        <a:t>o</a:t>
                      </a:r>
                    </a:p>
                  </a:txBody>
                  <a:tcPr marL="54000" marR="54000" marT="17994" marB="1799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038" name="Object 14"/>
          <p:cNvGraphicFramePr>
            <a:graphicFrameLocks noChangeAspect="1"/>
          </p:cNvGraphicFramePr>
          <p:nvPr>
            <p:extLst>
              <p:ext uri="{D42A27DB-BD31-4B8C-83A1-F6EECF244321}">
                <p14:modId xmlns:p14="http://schemas.microsoft.com/office/powerpoint/2010/main" val="1002660141"/>
              </p:ext>
            </p:extLst>
          </p:nvPr>
        </p:nvGraphicFramePr>
        <p:xfrm>
          <a:off x="3908257" y="4179758"/>
          <a:ext cx="1111258" cy="285752"/>
        </p:xfrm>
        <a:graphic>
          <a:graphicData uri="http://schemas.openxmlformats.org/presentationml/2006/ole">
            <mc:AlternateContent xmlns:mc="http://schemas.openxmlformats.org/markup-compatibility/2006">
              <mc:Choice xmlns:v="urn:schemas-microsoft-com:vml" Requires="v">
                <p:oleObj spid="_x0000_s96275" name="Equation" r:id="rId4" imgW="888840" imgH="228600" progId="Equation.DSMT4">
                  <p:embed/>
                </p:oleObj>
              </mc:Choice>
              <mc:Fallback>
                <p:oleObj name="Equation" r:id="rId4" imgW="888840" imgH="228600" progId="Equation.DSMT4">
                  <p:embed/>
                  <p:pic>
                    <p:nvPicPr>
                      <p:cNvPr id="1038"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8257" y="4179758"/>
                        <a:ext cx="1111258" cy="285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1"/>
          <p:cNvSpPr txBox="1">
            <a:spLocks noChangeArrowheads="1"/>
          </p:cNvSpPr>
          <p:nvPr/>
        </p:nvSpPr>
        <p:spPr bwMode="auto">
          <a:xfrm>
            <a:off x="611188" y="692150"/>
            <a:ext cx="6913562" cy="638175"/>
          </a:xfrm>
          <a:prstGeom prst="rect">
            <a:avLst/>
          </a:prstGeom>
          <a:noFill/>
          <a:ln w="9525">
            <a:noFill/>
            <a:miter lim="800000"/>
            <a:headEnd/>
            <a:tailEnd/>
          </a:ln>
        </p:spPr>
        <p:txBody>
          <a:bodyPr>
            <a:spAutoFit/>
          </a:bodyPr>
          <a:lstStyle/>
          <a:p>
            <a:pPr>
              <a:lnSpc>
                <a:spcPct val="150000"/>
              </a:lnSpc>
              <a:spcBef>
                <a:spcPct val="50000"/>
              </a:spcBef>
            </a:pPr>
            <a:r>
              <a:rPr lang="en-US" altLang="zh-CN" sz="2800" b="1" dirty="0">
                <a:latin typeface="楷体_GB2312" pitchFamily="49" charset="-122"/>
                <a:ea typeface="楷体_GB2312" pitchFamily="49" charset="-122"/>
              </a:rPr>
              <a:t>1 </a:t>
            </a:r>
            <a:r>
              <a:rPr lang="zh-CN" altLang="en-US" sz="2800" b="1" dirty="0">
                <a:latin typeface="楷体_GB2312" pitchFamily="49" charset="-122"/>
                <a:ea typeface="楷体_GB2312" pitchFamily="49" charset="-122"/>
              </a:rPr>
              <a:t>一阶</a:t>
            </a:r>
            <a:r>
              <a:rPr lang="en-US" altLang="zh-CN" sz="2800" b="1" dirty="0">
                <a:latin typeface="楷体_GB2312" pitchFamily="49" charset="-122"/>
                <a:ea typeface="楷体_GB2312" pitchFamily="49" charset="-122"/>
              </a:rPr>
              <a:t>RC</a:t>
            </a:r>
            <a:r>
              <a:rPr lang="zh-CN" altLang="en-US" sz="2800" b="1" dirty="0">
                <a:latin typeface="楷体_GB2312" pitchFamily="49" charset="-122"/>
                <a:ea typeface="楷体_GB2312" pitchFamily="49" charset="-122"/>
              </a:rPr>
              <a:t>电路特性</a:t>
            </a:r>
            <a:r>
              <a:rPr lang="zh-CN" altLang="en-US" sz="2800" b="1" dirty="0">
                <a:latin typeface="隶书"/>
                <a:ea typeface="隶书"/>
                <a:cs typeface="隶书"/>
              </a:rPr>
              <a:t> </a:t>
            </a:r>
          </a:p>
        </p:txBody>
      </p:sp>
      <p:pic>
        <p:nvPicPr>
          <p:cNvPr id="2" name="图片 1"/>
          <p:cNvPicPr>
            <a:picLocks noChangeAspect="1"/>
          </p:cNvPicPr>
          <p:nvPr/>
        </p:nvPicPr>
        <p:blipFill>
          <a:blip r:embed="rId6"/>
          <a:stretch>
            <a:fillRect/>
          </a:stretch>
        </p:blipFill>
        <p:spPr>
          <a:xfrm>
            <a:off x="5268816" y="660524"/>
            <a:ext cx="5040560" cy="5874609"/>
          </a:xfrm>
          <a:prstGeom prst="rect">
            <a:avLst/>
          </a:prstGeom>
        </p:spPr>
      </p:pic>
      <p:pic>
        <p:nvPicPr>
          <p:cNvPr id="3" name="图片 2"/>
          <p:cNvPicPr>
            <a:picLocks noChangeAspect="1"/>
          </p:cNvPicPr>
          <p:nvPr/>
        </p:nvPicPr>
        <p:blipFill>
          <a:blip r:embed="rId7"/>
          <a:stretch>
            <a:fillRect/>
          </a:stretch>
        </p:blipFill>
        <p:spPr>
          <a:xfrm>
            <a:off x="971600" y="5464507"/>
            <a:ext cx="3492286" cy="1363355"/>
          </a:xfrm>
          <a:prstGeom prst="rect">
            <a:avLst/>
          </a:prstGeom>
        </p:spPr>
      </p:pic>
    </p:spTree>
    <p:extLst>
      <p:ext uri="{BB962C8B-B14F-4D97-AF65-F5344CB8AC3E}">
        <p14:creationId xmlns:p14="http://schemas.microsoft.com/office/powerpoint/2010/main" val="305954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dissolve">
                                      <p:cBhvr>
                                        <p:cTn id="10" dur="500"/>
                                        <p:tgtEl>
                                          <p:spTgt spid="6">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dissolve">
                                      <p:cBhvr>
                                        <p:cTn id="13" dur="500"/>
                                        <p:tgtEl>
                                          <p:spTgt spid="6">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Effect transition="in" filter="dissolve">
                                      <p:cBhvr>
                                        <p:cTn id="16"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8"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11"/>
          <p:cNvSpPr txBox="1">
            <a:spLocks noChangeArrowheads="1"/>
          </p:cNvSpPr>
          <p:nvPr/>
        </p:nvSpPr>
        <p:spPr bwMode="auto">
          <a:xfrm>
            <a:off x="611188" y="692150"/>
            <a:ext cx="6913562" cy="638175"/>
          </a:xfrm>
          <a:prstGeom prst="rect">
            <a:avLst/>
          </a:prstGeom>
          <a:noFill/>
          <a:ln w="9525">
            <a:noFill/>
            <a:miter lim="800000"/>
            <a:headEnd/>
            <a:tailEnd/>
          </a:ln>
        </p:spPr>
        <p:txBody>
          <a:bodyPr>
            <a:spAutoFit/>
          </a:bodyPr>
          <a:lstStyle/>
          <a:p>
            <a:pPr>
              <a:lnSpc>
                <a:spcPct val="150000"/>
              </a:lnSpc>
              <a:spcBef>
                <a:spcPct val="50000"/>
              </a:spcBef>
            </a:pPr>
            <a:r>
              <a:rPr lang="en-US" altLang="zh-CN" sz="2800" b="1" dirty="0">
                <a:latin typeface="楷体_GB2312" pitchFamily="49" charset="-122"/>
                <a:ea typeface="楷体_GB2312" pitchFamily="49" charset="-122"/>
              </a:rPr>
              <a:t>1 </a:t>
            </a:r>
            <a:r>
              <a:rPr lang="zh-CN" altLang="en-US" sz="2800" b="1" dirty="0">
                <a:latin typeface="楷体_GB2312" pitchFamily="49" charset="-122"/>
                <a:ea typeface="楷体_GB2312" pitchFamily="49" charset="-122"/>
              </a:rPr>
              <a:t>一阶</a:t>
            </a:r>
            <a:r>
              <a:rPr lang="en-US" altLang="zh-CN" sz="2800" b="1" dirty="0">
                <a:latin typeface="楷体_GB2312" pitchFamily="49" charset="-122"/>
                <a:ea typeface="楷体_GB2312" pitchFamily="49" charset="-122"/>
              </a:rPr>
              <a:t>RC</a:t>
            </a:r>
            <a:r>
              <a:rPr lang="zh-CN" altLang="en-US" sz="2800" b="1" dirty="0">
                <a:latin typeface="楷体_GB2312" pitchFamily="49" charset="-122"/>
                <a:ea typeface="楷体_GB2312" pitchFamily="49" charset="-122"/>
              </a:rPr>
              <a:t>电路特性</a:t>
            </a:r>
            <a:r>
              <a:rPr lang="zh-CN" altLang="en-US" sz="2800" b="1" dirty="0">
                <a:latin typeface="隶书"/>
                <a:ea typeface="隶书"/>
                <a:cs typeface="隶书"/>
              </a:rPr>
              <a:t> </a:t>
            </a:r>
          </a:p>
        </p:txBody>
      </p:sp>
      <p:pic>
        <p:nvPicPr>
          <p:cNvPr id="9" name="图片 8"/>
          <p:cNvPicPr>
            <a:picLocks noChangeAspect="1"/>
          </p:cNvPicPr>
          <p:nvPr/>
        </p:nvPicPr>
        <p:blipFill>
          <a:blip r:embed="rId2"/>
          <a:stretch>
            <a:fillRect/>
          </a:stretch>
        </p:blipFill>
        <p:spPr>
          <a:xfrm>
            <a:off x="971600" y="1762349"/>
            <a:ext cx="2899149" cy="1544412"/>
          </a:xfrm>
          <a:prstGeom prst="rect">
            <a:avLst/>
          </a:prstGeom>
        </p:spPr>
      </p:pic>
      <p:pic>
        <p:nvPicPr>
          <p:cNvPr id="10" name="Picture 2"/>
          <p:cNvPicPr>
            <a:picLocks noChangeAspect="1" noChangeArrowheads="1"/>
          </p:cNvPicPr>
          <p:nvPr/>
        </p:nvPicPr>
        <p:blipFill>
          <a:blip r:embed="rId3"/>
          <a:srcRect/>
          <a:stretch>
            <a:fillRect/>
          </a:stretch>
        </p:blipFill>
        <p:spPr bwMode="auto">
          <a:xfrm>
            <a:off x="4572000" y="1952744"/>
            <a:ext cx="3855842" cy="1213876"/>
          </a:xfrm>
          <a:prstGeom prst="rect">
            <a:avLst/>
          </a:prstGeom>
          <a:noFill/>
          <a:ln w="9525">
            <a:noFill/>
            <a:miter lim="800000"/>
            <a:headEnd/>
            <a:tailEnd/>
          </a:ln>
          <a:effectLst/>
        </p:spPr>
      </p:pic>
      <p:sp>
        <p:nvSpPr>
          <p:cNvPr id="11" name="文本框 10"/>
          <p:cNvSpPr txBox="1"/>
          <p:nvPr/>
        </p:nvSpPr>
        <p:spPr>
          <a:xfrm>
            <a:off x="1027313" y="3608193"/>
            <a:ext cx="5472608" cy="400110"/>
          </a:xfrm>
          <a:prstGeom prst="rect">
            <a:avLst/>
          </a:prstGeom>
          <a:noFill/>
        </p:spPr>
        <p:txBody>
          <a:bodyPr wrap="square" rtlCol="0">
            <a:spAutoFit/>
          </a:bodyPr>
          <a:lstStyle/>
          <a:p>
            <a:r>
              <a:rPr lang="zh-CN" altLang="en-US" sz="2000" b="1" dirty="0"/>
              <a:t>方波脉宽与时间常数对输出电压波形有何影响</a:t>
            </a:r>
          </a:p>
        </p:txBody>
      </p:sp>
      <p:pic>
        <p:nvPicPr>
          <p:cNvPr id="12" name="图片 11"/>
          <p:cNvPicPr>
            <a:picLocks noChangeAspect="1"/>
          </p:cNvPicPr>
          <p:nvPr/>
        </p:nvPicPr>
        <p:blipFill>
          <a:blip r:embed="rId4"/>
          <a:stretch>
            <a:fillRect/>
          </a:stretch>
        </p:blipFill>
        <p:spPr>
          <a:xfrm>
            <a:off x="827584" y="4148444"/>
            <a:ext cx="3811181" cy="1357322"/>
          </a:xfrm>
          <a:prstGeom prst="rect">
            <a:avLst/>
          </a:prstGeom>
        </p:spPr>
      </p:pic>
      <p:sp>
        <p:nvSpPr>
          <p:cNvPr id="13" name="文本框 12"/>
          <p:cNvSpPr txBox="1"/>
          <p:nvPr/>
        </p:nvSpPr>
        <p:spPr>
          <a:xfrm>
            <a:off x="4759070" y="4272254"/>
            <a:ext cx="3672408" cy="1015663"/>
          </a:xfrm>
          <a:prstGeom prst="rect">
            <a:avLst/>
          </a:prstGeom>
          <a:noFill/>
        </p:spPr>
        <p:txBody>
          <a:bodyPr wrap="square" rtlCol="0">
            <a:spAutoFit/>
          </a:bodyPr>
          <a:lstStyle/>
          <a:p>
            <a:r>
              <a:rPr lang="en-US" altLang="zh-CN" sz="2000" b="1" dirty="0"/>
              <a:t>b</a:t>
            </a:r>
            <a:r>
              <a:rPr lang="zh-CN" altLang="en-US" sz="2000" b="1" dirty="0"/>
              <a:t>、</a:t>
            </a:r>
            <a:r>
              <a:rPr lang="en-US" altLang="zh-CN" sz="2000" b="1" dirty="0"/>
              <a:t>c</a:t>
            </a:r>
            <a:r>
              <a:rPr lang="zh-CN" altLang="en-US" sz="2000" b="1" dirty="0"/>
              <a:t>、</a:t>
            </a:r>
            <a:r>
              <a:rPr lang="en-US" altLang="zh-CN" sz="2000" b="1" dirty="0"/>
              <a:t>d</a:t>
            </a:r>
            <a:r>
              <a:rPr lang="zh-CN" altLang="en-US" sz="2000" b="1" dirty="0"/>
              <a:t>波形分别对应</a:t>
            </a:r>
            <a:r>
              <a:rPr lang="en-US" altLang="zh-CN" sz="2000" b="1" dirty="0"/>
              <a:t>RC</a:t>
            </a:r>
            <a:r>
              <a:rPr lang="zh-CN" altLang="en-US" sz="2000" b="1" dirty="0"/>
              <a:t>逐渐增大的情况，当</a:t>
            </a:r>
            <a:r>
              <a:rPr lang="en-US" altLang="zh-CN" sz="2000" b="1" dirty="0"/>
              <a:t>RC</a:t>
            </a:r>
            <a:r>
              <a:rPr lang="zh-CN" altLang="en-US" sz="2000" b="1" dirty="0"/>
              <a:t>足够大时，电容电压为输入电压的积分。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ssolv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1"/>
          <p:cNvSpPr txBox="1">
            <a:spLocks noChangeArrowheads="1"/>
          </p:cNvSpPr>
          <p:nvPr/>
        </p:nvSpPr>
        <p:spPr bwMode="auto">
          <a:xfrm>
            <a:off x="611188" y="692150"/>
            <a:ext cx="6913562" cy="657225"/>
          </a:xfrm>
          <a:prstGeom prst="rect">
            <a:avLst/>
          </a:prstGeom>
          <a:noFill/>
          <a:ln w="9525">
            <a:noFill/>
            <a:miter lim="800000"/>
            <a:headEnd/>
            <a:tailEnd/>
          </a:ln>
        </p:spPr>
        <p:txBody>
          <a:bodyPr>
            <a:spAutoFit/>
          </a:bodyPr>
          <a:lstStyle/>
          <a:p>
            <a:pPr>
              <a:lnSpc>
                <a:spcPct val="150000"/>
              </a:lnSpc>
              <a:spcBef>
                <a:spcPct val="50000"/>
              </a:spcBef>
            </a:pPr>
            <a:r>
              <a:rPr lang="en-US" altLang="zh-CN" sz="2800" b="1" dirty="0">
                <a:solidFill>
                  <a:schemeClr val="bg1"/>
                </a:solidFill>
                <a:latin typeface="楷体_GB2312" pitchFamily="49" charset="-122"/>
                <a:ea typeface="楷体_GB2312" pitchFamily="49" charset="-122"/>
              </a:rPr>
              <a:t>  2 </a:t>
            </a:r>
            <a:r>
              <a:rPr kumimoji="1" lang="en-US" altLang="zh-CN" sz="2800" b="1" i="1" dirty="0">
                <a:solidFill>
                  <a:schemeClr val="bg1"/>
                </a:solidFill>
                <a:latin typeface="Times New Roman" pitchFamily="18" charset="0"/>
                <a:ea typeface="楷体_GB2312" pitchFamily="49" charset="-122"/>
              </a:rPr>
              <a:t>RLC</a:t>
            </a:r>
            <a:r>
              <a:rPr kumimoji="1" lang="zh-CN" altLang="en-US" sz="2800" b="1" dirty="0">
                <a:solidFill>
                  <a:schemeClr val="bg1"/>
                </a:solidFill>
                <a:latin typeface="Times New Roman" pitchFamily="18" charset="0"/>
                <a:ea typeface="楷体_GB2312" pitchFamily="49" charset="-122"/>
              </a:rPr>
              <a:t>二阶动态</a:t>
            </a:r>
            <a:r>
              <a:rPr kumimoji="1" lang="zh-CN" altLang="en-US" sz="2800" b="1" dirty="0">
                <a:solidFill>
                  <a:schemeClr val="bg1"/>
                </a:solidFill>
                <a:latin typeface="楷体_GB2312" pitchFamily="49" charset="-122"/>
                <a:ea typeface="楷体_GB2312" pitchFamily="49" charset="-122"/>
              </a:rPr>
              <a:t>电路</a:t>
            </a:r>
            <a:endParaRPr lang="zh-CN" altLang="en-US" sz="2800" b="1" dirty="0">
              <a:solidFill>
                <a:schemeClr val="bg1"/>
              </a:solidFill>
              <a:latin typeface="隶书"/>
              <a:ea typeface="隶书"/>
              <a:cs typeface="隶书"/>
            </a:endParaRPr>
          </a:p>
        </p:txBody>
      </p:sp>
      <p:sp>
        <p:nvSpPr>
          <p:cNvPr id="12" name="矩形 11"/>
          <p:cNvSpPr/>
          <p:nvPr/>
        </p:nvSpPr>
        <p:spPr>
          <a:xfrm>
            <a:off x="857250" y="4652963"/>
            <a:ext cx="576263" cy="1871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aphicFrame>
        <p:nvGraphicFramePr>
          <p:cNvPr id="319495" name="Object 7"/>
          <p:cNvGraphicFramePr>
            <a:graphicFrameLocks noChangeAspect="1"/>
          </p:cNvGraphicFramePr>
          <p:nvPr/>
        </p:nvGraphicFramePr>
        <p:xfrm>
          <a:off x="4714875" y="1571625"/>
          <a:ext cx="4013200" cy="1784350"/>
        </p:xfrm>
        <a:graphic>
          <a:graphicData uri="http://schemas.openxmlformats.org/presentationml/2006/ole">
            <mc:AlternateContent xmlns:mc="http://schemas.openxmlformats.org/markup-compatibility/2006">
              <mc:Choice xmlns:v="urn:schemas-microsoft-com:vml" Requires="v">
                <p:oleObj spid="_x0000_s2214" name="Image" r:id="rId3" imgW="7319449" imgH="3253089" progId="">
                  <p:embed/>
                </p:oleObj>
              </mc:Choice>
              <mc:Fallback>
                <p:oleObj name="Image" r:id="rId3" imgW="7319449" imgH="3253089" progId="">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75" y="1571625"/>
                        <a:ext cx="4013200" cy="178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13"/>
          <p:cNvSpPr txBox="1">
            <a:spLocks noChangeArrowheads="1"/>
          </p:cNvSpPr>
          <p:nvPr/>
        </p:nvSpPr>
        <p:spPr bwMode="auto">
          <a:xfrm>
            <a:off x="714375" y="1857375"/>
            <a:ext cx="3643313" cy="523875"/>
          </a:xfrm>
          <a:prstGeom prst="rect">
            <a:avLst/>
          </a:prstGeom>
          <a:noFill/>
          <a:ln w="9525">
            <a:noFill/>
            <a:miter lim="800000"/>
            <a:headEnd/>
            <a:tailEnd/>
          </a:ln>
        </p:spPr>
        <p:txBody>
          <a:bodyPr>
            <a:spAutoFit/>
          </a:bodyPr>
          <a:lstStyle/>
          <a:p>
            <a:pPr>
              <a:spcBef>
                <a:spcPct val="50000"/>
              </a:spcBef>
            </a:pPr>
            <a:r>
              <a:rPr kumimoji="1" lang="zh-CN" altLang="en-US" sz="2800" b="1">
                <a:solidFill>
                  <a:srgbClr val="FF0000"/>
                </a:solidFill>
                <a:latin typeface="楷体_GB2312" pitchFamily="49" charset="-122"/>
                <a:ea typeface="楷体_GB2312" pitchFamily="49" charset="-122"/>
              </a:rPr>
              <a:t>固有频率</a:t>
            </a:r>
            <a:r>
              <a:rPr kumimoji="1" lang="zh-CN" altLang="en-US" sz="2800" b="1">
                <a:solidFill>
                  <a:srgbClr val="3333FF"/>
                </a:solidFill>
                <a:latin typeface="隶书"/>
                <a:ea typeface="隶书"/>
                <a:cs typeface="隶书"/>
              </a:rPr>
              <a:t> </a:t>
            </a:r>
          </a:p>
        </p:txBody>
      </p:sp>
      <p:graphicFrame>
        <p:nvGraphicFramePr>
          <p:cNvPr id="320524" name="Object 12"/>
          <p:cNvGraphicFramePr>
            <a:graphicFrameLocks noChangeAspect="1"/>
          </p:cNvGraphicFramePr>
          <p:nvPr/>
        </p:nvGraphicFramePr>
        <p:xfrm>
          <a:off x="1000125" y="2500313"/>
          <a:ext cx="3286125" cy="969962"/>
        </p:xfrm>
        <a:graphic>
          <a:graphicData uri="http://schemas.openxmlformats.org/presentationml/2006/ole">
            <mc:AlternateContent xmlns:mc="http://schemas.openxmlformats.org/markup-compatibility/2006">
              <mc:Choice xmlns:v="urn:schemas-microsoft-com:vml" Requires="v">
                <p:oleObj spid="_x0000_s2215" name="Equation" r:id="rId5" imgW="1765300" imgH="520700" progId="Equation.DSMT4">
                  <p:embed/>
                </p:oleObj>
              </mc:Choice>
              <mc:Fallback>
                <p:oleObj name="Equation" r:id="rId5" imgW="1765300" imgH="5207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125" y="2500313"/>
                        <a:ext cx="3286125" cy="969962"/>
                      </a:xfrm>
                      <a:prstGeom prst="rect">
                        <a:avLst/>
                      </a:prstGeom>
                      <a:noFill/>
                      <a:extLst>
                        <a:ext uri="{909E8E84-426E-40DD-AFC4-6F175D3DCCD1}">
                          <a14:hiddenFill xmlns:a14="http://schemas.microsoft.com/office/drawing/2010/main">
                            <a:solidFill>
                              <a:srgbClr val="00FFCC"/>
                            </a:solidFill>
                          </a14:hiddenFill>
                        </a:ext>
                      </a:extLst>
                    </p:spPr>
                  </p:pic>
                </p:oleObj>
              </mc:Fallback>
            </mc:AlternateContent>
          </a:graphicData>
        </a:graphic>
      </p:graphicFrame>
      <p:graphicFrame>
        <p:nvGraphicFramePr>
          <p:cNvPr id="14" name="Object 73"/>
          <p:cNvGraphicFramePr>
            <a:graphicFrameLocks noChangeAspect="1"/>
          </p:cNvGraphicFramePr>
          <p:nvPr/>
        </p:nvGraphicFramePr>
        <p:xfrm>
          <a:off x="4786313" y="3714750"/>
          <a:ext cx="1127125" cy="873125"/>
        </p:xfrm>
        <a:graphic>
          <a:graphicData uri="http://schemas.openxmlformats.org/presentationml/2006/ole">
            <mc:AlternateContent xmlns:mc="http://schemas.openxmlformats.org/markup-compatibility/2006">
              <mc:Choice xmlns:v="urn:schemas-microsoft-com:vml" Requires="v">
                <p:oleObj spid="_x0000_s2216" name="Equation" r:id="rId7" imgW="647419" imgH="444307" progId="Equation.DSMT4">
                  <p:embed/>
                </p:oleObj>
              </mc:Choice>
              <mc:Fallback>
                <p:oleObj name="Equation" r:id="rId7" imgW="647419" imgH="444307" progId="Equation.DSMT4">
                  <p:embed/>
                  <p:pic>
                    <p:nvPicPr>
                      <p:cNvPr id="0" name="Picture 7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6313" y="3714750"/>
                        <a:ext cx="1127125" cy="873125"/>
                      </a:xfrm>
                      <a:prstGeom prst="rect">
                        <a:avLst/>
                      </a:prstGeom>
                      <a:noFill/>
                      <a:extLst>
                        <a:ext uri="{909E8E84-426E-40DD-AFC4-6F175D3DCCD1}">
                          <a14:hiddenFill xmlns:a14="http://schemas.microsoft.com/office/drawing/2010/main">
                            <a:solidFill>
                              <a:srgbClr val="00FFCC"/>
                            </a:solidFill>
                          </a14:hiddenFill>
                        </a:ext>
                      </a:extLst>
                    </p:spPr>
                  </p:pic>
                </p:oleObj>
              </mc:Fallback>
            </mc:AlternateContent>
          </a:graphicData>
        </a:graphic>
      </p:graphicFrame>
      <p:sp>
        <p:nvSpPr>
          <p:cNvPr id="15" name="Text Box 9"/>
          <p:cNvSpPr txBox="1">
            <a:spLocks noChangeArrowheads="1"/>
          </p:cNvSpPr>
          <p:nvPr/>
        </p:nvSpPr>
        <p:spPr bwMode="auto">
          <a:xfrm>
            <a:off x="1143000" y="3786188"/>
            <a:ext cx="3048000" cy="733425"/>
          </a:xfrm>
          <a:prstGeom prst="rect">
            <a:avLst/>
          </a:prstGeom>
          <a:noFill/>
          <a:ln w="9525">
            <a:noFill/>
            <a:miter lim="800000"/>
            <a:headEnd/>
            <a:tailEnd/>
          </a:ln>
        </p:spPr>
        <p:txBody>
          <a:bodyPr>
            <a:spAutoFit/>
          </a:bodyPr>
          <a:lstStyle/>
          <a:p>
            <a:pPr>
              <a:lnSpc>
                <a:spcPct val="150000"/>
              </a:lnSpc>
              <a:spcBef>
                <a:spcPct val="50000"/>
              </a:spcBef>
            </a:pPr>
            <a:r>
              <a:rPr kumimoji="1" lang="zh-CN" altLang="en-US" sz="2800" b="1">
                <a:latin typeface="楷体_GB2312" pitchFamily="49" charset="-122"/>
                <a:ea typeface="楷体_GB2312" pitchFamily="49" charset="-122"/>
              </a:rPr>
              <a:t>（</a:t>
            </a:r>
            <a:r>
              <a:rPr kumimoji="1" lang="en-US" altLang="zh-CN" sz="2800" b="1">
                <a:latin typeface="楷体_GB2312" pitchFamily="49" charset="-122"/>
                <a:ea typeface="楷体_GB2312" pitchFamily="49" charset="-122"/>
              </a:rPr>
              <a:t>1</a:t>
            </a:r>
            <a:r>
              <a:rPr kumimoji="1" lang="zh-CN" altLang="en-US" sz="2800" b="1">
                <a:latin typeface="楷体_GB2312" pitchFamily="49" charset="-122"/>
                <a:ea typeface="楷体_GB2312" pitchFamily="49" charset="-122"/>
              </a:rPr>
              <a:t>）过阻尼情况</a:t>
            </a:r>
          </a:p>
        </p:txBody>
      </p:sp>
      <p:sp>
        <p:nvSpPr>
          <p:cNvPr id="16" name="Text Box 11"/>
          <p:cNvSpPr txBox="1">
            <a:spLocks noChangeArrowheads="1"/>
          </p:cNvSpPr>
          <p:nvPr/>
        </p:nvSpPr>
        <p:spPr bwMode="auto">
          <a:xfrm>
            <a:off x="1071563" y="5429250"/>
            <a:ext cx="3276600" cy="733425"/>
          </a:xfrm>
          <a:prstGeom prst="rect">
            <a:avLst/>
          </a:prstGeom>
          <a:noFill/>
          <a:ln w="9525">
            <a:noFill/>
            <a:miter lim="800000"/>
            <a:headEnd/>
            <a:tailEnd/>
          </a:ln>
        </p:spPr>
        <p:txBody>
          <a:bodyPr>
            <a:spAutoFit/>
          </a:bodyPr>
          <a:lstStyle/>
          <a:p>
            <a:pPr>
              <a:lnSpc>
                <a:spcPct val="150000"/>
              </a:lnSpc>
              <a:spcBef>
                <a:spcPct val="50000"/>
              </a:spcBef>
            </a:pPr>
            <a:r>
              <a:rPr kumimoji="1" lang="zh-CN" altLang="en-US" sz="2800" b="1">
                <a:latin typeface="楷体_GB2312" pitchFamily="49" charset="-122"/>
                <a:ea typeface="楷体_GB2312" pitchFamily="49" charset="-122"/>
              </a:rPr>
              <a:t>（</a:t>
            </a:r>
            <a:r>
              <a:rPr kumimoji="1" lang="en-US" altLang="zh-CN" sz="2800" b="1">
                <a:latin typeface="楷体_GB2312" pitchFamily="49" charset="-122"/>
                <a:ea typeface="楷体_GB2312" pitchFamily="49" charset="-122"/>
              </a:rPr>
              <a:t>3</a:t>
            </a:r>
            <a:r>
              <a:rPr kumimoji="1" lang="zh-CN" altLang="en-US" sz="2800" b="1">
                <a:latin typeface="楷体_GB2312" pitchFamily="49" charset="-122"/>
                <a:ea typeface="楷体_GB2312" pitchFamily="49" charset="-122"/>
              </a:rPr>
              <a:t>）欠阻尼情况</a:t>
            </a:r>
          </a:p>
        </p:txBody>
      </p:sp>
      <p:graphicFrame>
        <p:nvGraphicFramePr>
          <p:cNvPr id="17" name="Object 74"/>
          <p:cNvGraphicFramePr>
            <a:graphicFrameLocks noChangeAspect="1"/>
          </p:cNvGraphicFramePr>
          <p:nvPr/>
        </p:nvGraphicFramePr>
        <p:xfrm>
          <a:off x="4786313" y="5357813"/>
          <a:ext cx="1265237" cy="871537"/>
        </p:xfrm>
        <a:graphic>
          <a:graphicData uri="http://schemas.openxmlformats.org/presentationml/2006/ole">
            <mc:AlternateContent xmlns:mc="http://schemas.openxmlformats.org/markup-compatibility/2006">
              <mc:Choice xmlns:v="urn:schemas-microsoft-com:vml" Requires="v">
                <p:oleObj spid="_x0000_s2217" name="Equation" r:id="rId9" imgW="647419" imgH="444307" progId="Equation.DSMT4">
                  <p:embed/>
                </p:oleObj>
              </mc:Choice>
              <mc:Fallback>
                <p:oleObj name="Equation" r:id="rId9" imgW="647419" imgH="444307" progId="Equation.DSMT4">
                  <p:embed/>
                  <p:pic>
                    <p:nvPicPr>
                      <p:cNvPr id="0" name="Picture 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6313" y="5357813"/>
                        <a:ext cx="1265237" cy="871537"/>
                      </a:xfrm>
                      <a:prstGeom prst="rect">
                        <a:avLst/>
                      </a:prstGeom>
                      <a:noFill/>
                      <a:extLst>
                        <a:ext uri="{909E8E84-426E-40DD-AFC4-6F175D3DCCD1}">
                          <a14:hiddenFill xmlns:a14="http://schemas.microsoft.com/office/drawing/2010/main">
                            <a:solidFill>
                              <a:srgbClr val="00FFCC"/>
                            </a:solidFill>
                          </a14:hiddenFill>
                        </a:ext>
                      </a:extLst>
                    </p:spPr>
                  </p:pic>
                </p:oleObj>
              </mc:Fallback>
            </mc:AlternateContent>
          </a:graphicData>
        </a:graphic>
      </p:graphicFrame>
      <p:sp>
        <p:nvSpPr>
          <p:cNvPr id="18" name="Text Box 15"/>
          <p:cNvSpPr txBox="1">
            <a:spLocks noChangeArrowheads="1"/>
          </p:cNvSpPr>
          <p:nvPr/>
        </p:nvSpPr>
        <p:spPr bwMode="auto">
          <a:xfrm>
            <a:off x="1143000" y="4643438"/>
            <a:ext cx="3429000" cy="733425"/>
          </a:xfrm>
          <a:prstGeom prst="rect">
            <a:avLst/>
          </a:prstGeom>
          <a:noFill/>
          <a:ln w="9525">
            <a:noFill/>
            <a:miter lim="800000"/>
            <a:headEnd/>
            <a:tailEnd/>
          </a:ln>
        </p:spPr>
        <p:txBody>
          <a:bodyPr>
            <a:spAutoFit/>
          </a:bodyPr>
          <a:lstStyle/>
          <a:p>
            <a:pPr>
              <a:lnSpc>
                <a:spcPct val="150000"/>
              </a:lnSpc>
              <a:spcBef>
                <a:spcPct val="50000"/>
              </a:spcBef>
            </a:pPr>
            <a:r>
              <a:rPr kumimoji="1" lang="zh-CN" altLang="en-US" sz="2800" b="1">
                <a:latin typeface="楷体_GB2312" pitchFamily="49" charset="-122"/>
                <a:ea typeface="楷体_GB2312" pitchFamily="49" charset="-122"/>
              </a:rPr>
              <a:t>（</a:t>
            </a:r>
            <a:r>
              <a:rPr kumimoji="1" lang="en-US" altLang="zh-CN" sz="2800" b="1">
                <a:latin typeface="楷体_GB2312" pitchFamily="49" charset="-122"/>
                <a:ea typeface="楷体_GB2312" pitchFamily="49" charset="-122"/>
              </a:rPr>
              <a:t>2</a:t>
            </a:r>
            <a:r>
              <a:rPr kumimoji="1" lang="zh-CN" altLang="en-US" sz="2800" b="1">
                <a:latin typeface="楷体_GB2312" pitchFamily="49" charset="-122"/>
                <a:ea typeface="楷体_GB2312" pitchFamily="49" charset="-122"/>
              </a:rPr>
              <a:t>）临界阻尼情况</a:t>
            </a:r>
          </a:p>
        </p:txBody>
      </p:sp>
      <p:graphicFrame>
        <p:nvGraphicFramePr>
          <p:cNvPr id="19" name="Object 17"/>
          <p:cNvGraphicFramePr>
            <a:graphicFrameLocks noChangeAspect="1"/>
          </p:cNvGraphicFramePr>
          <p:nvPr/>
        </p:nvGraphicFramePr>
        <p:xfrm>
          <a:off x="4714875" y="4500563"/>
          <a:ext cx="1285875" cy="857250"/>
        </p:xfrm>
        <a:graphic>
          <a:graphicData uri="http://schemas.openxmlformats.org/presentationml/2006/ole">
            <mc:AlternateContent xmlns:mc="http://schemas.openxmlformats.org/markup-compatibility/2006">
              <mc:Choice xmlns:v="urn:schemas-microsoft-com:vml" Requires="v">
                <p:oleObj spid="_x0000_s2218" name="Equation" r:id="rId11" imgW="685502" imgH="444307" progId="Equation.DSMT4">
                  <p:embed/>
                </p:oleObj>
              </mc:Choice>
              <mc:Fallback>
                <p:oleObj name="Equation" r:id="rId11" imgW="685502" imgH="444307" progId="Equation.DSMT4">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14875" y="4500563"/>
                        <a:ext cx="1285875" cy="857250"/>
                      </a:xfrm>
                      <a:prstGeom prst="rect">
                        <a:avLst/>
                      </a:prstGeom>
                      <a:noFill/>
                      <a:extLst>
                        <a:ext uri="{909E8E84-426E-40DD-AFC4-6F175D3DCCD1}">
                          <a14:hiddenFill xmlns:a14="http://schemas.microsoft.com/office/drawing/2010/main">
                            <a:solidFill>
                              <a:srgbClr val="00FFCC"/>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500" fill="hold"/>
                                        <p:tgtEl>
                                          <p:spTgt spid="12"/>
                                        </p:tgtEl>
                                        <p:attrNameLst>
                                          <p:attrName>ppt_x</p:attrName>
                                        </p:attrNameLst>
                                      </p:cBhvr>
                                      <p:tavLst>
                                        <p:tav tm="0">
                                          <p:val>
                                            <p:strVal val="#ppt_x"/>
                                          </p:val>
                                        </p:tav>
                                        <p:tav tm="100000">
                                          <p:val>
                                            <p:strVal val="#ppt_x"/>
                                          </p:val>
                                        </p:tav>
                                      </p:tavLst>
                                    </p:anim>
                                    <p:anim calcmode="lin" valueType="num">
                                      <p:cBhvr additive="base">
                                        <p:cTn id="11" dur="500" fill="hold"/>
                                        <p:tgtEl>
                                          <p:spTgt spid="12"/>
                                        </p:tgtEl>
                                        <p:attrNameLst>
                                          <p:attrName>ppt_y</p:attrName>
                                        </p:attrNameLst>
                                      </p:cBhvr>
                                      <p:tavLst>
                                        <p:tav tm="0">
                                          <p:val>
                                            <p:strVal val="1+#ppt_h/2"/>
                                          </p:val>
                                        </p:tav>
                                        <p:tav tm="100000">
                                          <p:val>
                                            <p:strVal val="#ppt_y"/>
                                          </p:val>
                                        </p:tav>
                                      </p:tavLst>
                                    </p:anim>
                                  </p:childTnLst>
                                </p:cTn>
                              </p:par>
                              <p:par>
                                <p:cTn id="12" presetID="9" presetClass="entr" presetSubtype="0" fill="hold" nodeType="withEffect">
                                  <p:stCondLst>
                                    <p:cond delay="0"/>
                                  </p:stCondLst>
                                  <p:childTnLst>
                                    <p:set>
                                      <p:cBhvr>
                                        <p:cTn id="13" dur="1" fill="hold">
                                          <p:stCondLst>
                                            <p:cond delay="0"/>
                                          </p:stCondLst>
                                        </p:cTn>
                                        <p:tgtEl>
                                          <p:spTgt spid="319495"/>
                                        </p:tgtEl>
                                        <p:attrNameLst>
                                          <p:attrName>style.visibility</p:attrName>
                                        </p:attrNameLst>
                                      </p:cBhvr>
                                      <p:to>
                                        <p:strVal val="visible"/>
                                      </p:to>
                                    </p:set>
                                    <p:animEffect transition="in" filter="dissolve">
                                      <p:cBhvr>
                                        <p:cTn id="14" dur="500"/>
                                        <p:tgtEl>
                                          <p:spTgt spid="319495"/>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dissolve">
                                      <p:cBhvr>
                                        <p:cTn id="17" dur="500"/>
                                        <p:tgtEl>
                                          <p:spTgt spid="13">
                                            <p:txEl>
                                              <p:pRg st="0" end="0"/>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320524"/>
                                        </p:tgtEl>
                                        <p:attrNameLst>
                                          <p:attrName>style.visibility</p:attrName>
                                        </p:attrNameLst>
                                      </p:cBhvr>
                                      <p:to>
                                        <p:strVal val="visible"/>
                                      </p:to>
                                    </p:set>
                                    <p:animEffect transition="in" filter="dissolve">
                                      <p:cBhvr>
                                        <p:cTn id="20" dur="500"/>
                                        <p:tgtEl>
                                          <p:spTgt spid="320524"/>
                                        </p:tgtEl>
                                      </p:cBhvr>
                                    </p:animEffect>
                                  </p:childTnLst>
                                </p:cTn>
                              </p:par>
                              <p:par>
                                <p:cTn id="21" presetID="9"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dissolve">
                                      <p:cBhvr>
                                        <p:cTn id="23" dur="500"/>
                                        <p:tgtEl>
                                          <p:spTgt spid="1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dissolve">
                                      <p:cBhvr>
                                        <p:cTn id="26" dur="500"/>
                                        <p:tgtEl>
                                          <p:spTgt spid="15"/>
                                        </p:tgtEl>
                                      </p:cBhvr>
                                    </p:animEffect>
                                  </p:childTnLst>
                                </p:cTn>
                              </p:par>
                              <p:par>
                                <p:cTn id="27" presetID="9"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dissolve">
                                      <p:cBhvr>
                                        <p:cTn id="29" dur="500"/>
                                        <p:tgtEl>
                                          <p:spTgt spid="19"/>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dissolve">
                                      <p:cBhvr>
                                        <p:cTn id="32" dur="500"/>
                                        <p:tgtEl>
                                          <p:spTgt spid="18"/>
                                        </p:tgtEl>
                                      </p:cBhvr>
                                    </p:animEffect>
                                  </p:childTnLst>
                                </p:cTn>
                              </p:par>
                              <p:par>
                                <p:cTn id="33" presetID="2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down)">
                                      <p:cBhvr>
                                        <p:cTn id="35" dur="500"/>
                                        <p:tgtEl>
                                          <p:spTgt spid="17"/>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dissolv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12" grpId="0" animBg="1"/>
      <p:bldP spid="13" grpId="0" build="p" autoUpdateAnimBg="0"/>
      <p:bldP spid="15" grpId="0"/>
      <p:bldP spid="16"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1"/>
          <p:cNvSpPr txBox="1">
            <a:spLocks noChangeArrowheads="1"/>
          </p:cNvSpPr>
          <p:nvPr/>
        </p:nvSpPr>
        <p:spPr bwMode="auto">
          <a:xfrm>
            <a:off x="611188" y="692150"/>
            <a:ext cx="6913562" cy="657225"/>
          </a:xfrm>
          <a:prstGeom prst="rect">
            <a:avLst/>
          </a:prstGeom>
          <a:noFill/>
          <a:ln w="9525">
            <a:noFill/>
            <a:miter lim="800000"/>
            <a:headEnd/>
            <a:tailEnd/>
          </a:ln>
        </p:spPr>
        <p:txBody>
          <a:bodyPr>
            <a:spAutoFit/>
          </a:bodyPr>
          <a:lstStyle/>
          <a:p>
            <a:pPr>
              <a:lnSpc>
                <a:spcPct val="150000"/>
              </a:lnSpc>
              <a:spcBef>
                <a:spcPct val="50000"/>
              </a:spcBef>
            </a:pPr>
            <a:r>
              <a:rPr lang="en-US" altLang="zh-CN" sz="2800" b="1" dirty="0">
                <a:solidFill>
                  <a:schemeClr val="bg1"/>
                </a:solidFill>
                <a:latin typeface="楷体_GB2312" pitchFamily="49" charset="-122"/>
                <a:ea typeface="楷体_GB2312" pitchFamily="49" charset="-122"/>
              </a:rPr>
              <a:t>  2 </a:t>
            </a:r>
            <a:r>
              <a:rPr kumimoji="1" lang="en-US" altLang="zh-CN" sz="2800" b="1" i="1" dirty="0">
                <a:solidFill>
                  <a:schemeClr val="bg1"/>
                </a:solidFill>
                <a:latin typeface="Times New Roman" pitchFamily="18" charset="0"/>
                <a:ea typeface="楷体_GB2312" pitchFamily="49" charset="-122"/>
              </a:rPr>
              <a:t>RLC</a:t>
            </a:r>
            <a:r>
              <a:rPr kumimoji="1" lang="zh-CN" altLang="en-US" sz="2800" b="1" dirty="0">
                <a:solidFill>
                  <a:schemeClr val="bg1"/>
                </a:solidFill>
                <a:latin typeface="Times New Roman" pitchFamily="18" charset="0"/>
                <a:ea typeface="楷体_GB2312" pitchFamily="49" charset="-122"/>
              </a:rPr>
              <a:t>二阶动态</a:t>
            </a:r>
            <a:r>
              <a:rPr kumimoji="1" lang="zh-CN" altLang="en-US" sz="2800" b="1" dirty="0">
                <a:solidFill>
                  <a:schemeClr val="bg1"/>
                </a:solidFill>
                <a:latin typeface="楷体_GB2312" pitchFamily="49" charset="-122"/>
                <a:ea typeface="楷体_GB2312" pitchFamily="49" charset="-122"/>
              </a:rPr>
              <a:t>电路</a:t>
            </a:r>
            <a:endParaRPr lang="zh-CN" altLang="en-US" sz="2800" b="1" dirty="0">
              <a:solidFill>
                <a:schemeClr val="bg1"/>
              </a:solidFill>
              <a:latin typeface="隶书"/>
              <a:ea typeface="隶书"/>
              <a:cs typeface="隶书"/>
            </a:endParaRPr>
          </a:p>
        </p:txBody>
      </p:sp>
      <p:graphicFrame>
        <p:nvGraphicFramePr>
          <p:cNvPr id="319495" name="Object 7"/>
          <p:cNvGraphicFramePr>
            <a:graphicFrameLocks noChangeAspect="1"/>
          </p:cNvGraphicFramePr>
          <p:nvPr/>
        </p:nvGraphicFramePr>
        <p:xfrm>
          <a:off x="4714875" y="1143000"/>
          <a:ext cx="4013200" cy="1784350"/>
        </p:xfrm>
        <a:graphic>
          <a:graphicData uri="http://schemas.openxmlformats.org/presentationml/2006/ole">
            <mc:AlternateContent xmlns:mc="http://schemas.openxmlformats.org/markup-compatibility/2006">
              <mc:Choice xmlns:v="urn:schemas-microsoft-com:vml" Requires="v">
                <p:oleObj spid="_x0000_s49249" name="Image" r:id="rId3" imgW="7319449" imgH="3253089" progId="">
                  <p:embed/>
                </p:oleObj>
              </mc:Choice>
              <mc:Fallback>
                <p:oleObj name="Image" r:id="rId3" imgW="7319449" imgH="3253089" progId="">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75" y="1143000"/>
                        <a:ext cx="4013200" cy="178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9"/>
          <p:cNvGraphicFramePr>
            <a:graphicFrameLocks noChangeAspect="1"/>
          </p:cNvGraphicFramePr>
          <p:nvPr/>
        </p:nvGraphicFramePr>
        <p:xfrm>
          <a:off x="785813" y="2928938"/>
          <a:ext cx="6705600" cy="1049337"/>
        </p:xfrm>
        <a:graphic>
          <a:graphicData uri="http://schemas.openxmlformats.org/presentationml/2006/ole">
            <mc:AlternateContent xmlns:mc="http://schemas.openxmlformats.org/markup-compatibility/2006">
              <mc:Choice xmlns:v="urn:schemas-microsoft-com:vml" Requires="v">
                <p:oleObj spid="_x0000_s49250" name="Equation" r:id="rId5" imgW="3619500" imgH="520700" progId="Equation.DSMT4">
                  <p:embed/>
                </p:oleObj>
              </mc:Choice>
              <mc:Fallback>
                <p:oleObj name="Equation" r:id="rId5" imgW="3619500" imgH="5207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813" y="2928938"/>
                        <a:ext cx="6705600" cy="1049337"/>
                      </a:xfrm>
                      <a:prstGeom prst="rect">
                        <a:avLst/>
                      </a:prstGeom>
                      <a:solidFill>
                        <a:srgbClr val="00FFCC"/>
                      </a:solidFill>
                    </p:spPr>
                  </p:pic>
                </p:oleObj>
              </mc:Fallback>
            </mc:AlternateContent>
          </a:graphicData>
        </a:graphic>
      </p:graphicFrame>
      <p:graphicFrame>
        <p:nvGraphicFramePr>
          <p:cNvPr id="26" name="Object 14"/>
          <p:cNvGraphicFramePr>
            <a:graphicFrameLocks noGrp="1" noChangeAspect="1"/>
          </p:cNvGraphicFramePr>
          <p:nvPr>
            <p:ph sz="half" idx="1"/>
          </p:nvPr>
        </p:nvGraphicFramePr>
        <p:xfrm>
          <a:off x="1619250" y="4148138"/>
          <a:ext cx="1270000" cy="1014412"/>
        </p:xfrm>
        <a:graphic>
          <a:graphicData uri="http://schemas.openxmlformats.org/presentationml/2006/ole">
            <mc:AlternateContent xmlns:mc="http://schemas.openxmlformats.org/markup-compatibility/2006">
              <mc:Choice xmlns:v="urn:schemas-microsoft-com:vml" Requires="v">
                <p:oleObj spid="_x0000_s49251" name="Equation" r:id="rId7" imgW="507780" imgH="406224" progId="Equation.DSMT4">
                  <p:embed/>
                </p:oleObj>
              </mc:Choice>
              <mc:Fallback>
                <p:oleObj name="Equation" r:id="rId7" imgW="507780" imgH="406224"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4148138"/>
                        <a:ext cx="1270000" cy="1014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16"/>
          <p:cNvGraphicFramePr>
            <a:graphicFrameLocks noChangeAspect="1"/>
          </p:cNvGraphicFramePr>
          <p:nvPr/>
        </p:nvGraphicFramePr>
        <p:xfrm>
          <a:off x="1357313" y="5072063"/>
          <a:ext cx="1808162" cy="1079500"/>
        </p:xfrm>
        <a:graphic>
          <a:graphicData uri="http://schemas.openxmlformats.org/presentationml/2006/ole">
            <mc:AlternateContent xmlns:mc="http://schemas.openxmlformats.org/markup-compatibility/2006">
              <mc:Choice xmlns:v="urn:schemas-microsoft-com:vml" Requires="v">
                <p:oleObj spid="_x0000_s49252" name="Equation" r:id="rId9" imgW="723586" imgH="431613" progId="Equation.DSMT4">
                  <p:embed/>
                </p:oleObj>
              </mc:Choice>
              <mc:Fallback>
                <p:oleObj name="Equation" r:id="rId9" imgW="723586" imgH="431613" progId="Equation.DSMT4">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7313" y="5072063"/>
                        <a:ext cx="1808162"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19"/>
          <p:cNvGraphicFramePr>
            <a:graphicFrameLocks noChangeAspect="1"/>
          </p:cNvGraphicFramePr>
          <p:nvPr/>
        </p:nvGraphicFramePr>
        <p:xfrm>
          <a:off x="1214438" y="6127750"/>
          <a:ext cx="2411412" cy="730250"/>
        </p:xfrm>
        <a:graphic>
          <a:graphicData uri="http://schemas.openxmlformats.org/presentationml/2006/ole">
            <mc:AlternateContent xmlns:mc="http://schemas.openxmlformats.org/markup-compatibility/2006">
              <mc:Choice xmlns:v="urn:schemas-microsoft-com:vml" Requires="v">
                <p:oleObj spid="_x0000_s49253" name="Equation" r:id="rId11" imgW="965200" imgH="292100" progId="Equation.DSMT4">
                  <p:embed/>
                </p:oleObj>
              </mc:Choice>
              <mc:Fallback>
                <p:oleObj name="Equation" r:id="rId11" imgW="965200" imgH="292100" progId="Equation.DSMT4">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4438" y="6127750"/>
                        <a:ext cx="2411412"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Line 23"/>
          <p:cNvSpPr>
            <a:spLocks noChangeShapeType="1"/>
          </p:cNvSpPr>
          <p:nvPr/>
        </p:nvSpPr>
        <p:spPr bwMode="auto">
          <a:xfrm>
            <a:off x="3219450" y="4681538"/>
            <a:ext cx="1676400" cy="0"/>
          </a:xfrm>
          <a:prstGeom prst="line">
            <a:avLst/>
          </a:prstGeom>
          <a:noFill/>
          <a:ln w="31750">
            <a:solidFill>
              <a:srgbClr val="000000"/>
            </a:solidFill>
            <a:round/>
            <a:headEnd/>
            <a:tailEnd type="none" w="lg" len="lg"/>
          </a:ln>
        </p:spPr>
        <p:txBody>
          <a:bodyPr wrap="none" anchor="ctr"/>
          <a:lstStyle/>
          <a:p>
            <a:endParaRPr lang="zh-CN" altLang="en-US"/>
          </a:p>
        </p:txBody>
      </p:sp>
      <p:sp>
        <p:nvSpPr>
          <p:cNvPr id="30" name="Line 24"/>
          <p:cNvSpPr>
            <a:spLocks noChangeShapeType="1"/>
          </p:cNvSpPr>
          <p:nvPr/>
        </p:nvSpPr>
        <p:spPr bwMode="auto">
          <a:xfrm>
            <a:off x="3524250" y="5748338"/>
            <a:ext cx="1600200" cy="0"/>
          </a:xfrm>
          <a:prstGeom prst="line">
            <a:avLst/>
          </a:prstGeom>
          <a:noFill/>
          <a:ln w="31750">
            <a:solidFill>
              <a:srgbClr val="000000"/>
            </a:solidFill>
            <a:round/>
            <a:headEnd/>
            <a:tailEnd type="none" w="lg" len="lg"/>
          </a:ln>
        </p:spPr>
        <p:txBody>
          <a:bodyPr wrap="none" anchor="ctr"/>
          <a:lstStyle/>
          <a:p>
            <a:endParaRPr lang="zh-CN" altLang="en-US"/>
          </a:p>
        </p:txBody>
      </p:sp>
      <p:sp>
        <p:nvSpPr>
          <p:cNvPr id="31" name="Line 25"/>
          <p:cNvSpPr>
            <a:spLocks noChangeShapeType="1"/>
          </p:cNvSpPr>
          <p:nvPr/>
        </p:nvSpPr>
        <p:spPr bwMode="auto">
          <a:xfrm>
            <a:off x="3786188" y="6500813"/>
            <a:ext cx="1524000" cy="0"/>
          </a:xfrm>
          <a:prstGeom prst="line">
            <a:avLst/>
          </a:prstGeom>
          <a:noFill/>
          <a:ln w="31750">
            <a:solidFill>
              <a:srgbClr val="000000"/>
            </a:solidFill>
            <a:round/>
            <a:headEnd/>
            <a:tailEnd type="none" w="lg" len="lg"/>
          </a:ln>
        </p:spPr>
        <p:txBody>
          <a:bodyPr wrap="none" anchor="ctr"/>
          <a:lstStyle/>
          <a:p>
            <a:endParaRPr lang="zh-CN" altLang="en-US"/>
          </a:p>
        </p:txBody>
      </p:sp>
      <p:sp>
        <p:nvSpPr>
          <p:cNvPr id="32" name="Text Box 26"/>
          <p:cNvSpPr txBox="1">
            <a:spLocks noChangeArrowheads="1"/>
          </p:cNvSpPr>
          <p:nvPr/>
        </p:nvSpPr>
        <p:spPr bwMode="auto">
          <a:xfrm>
            <a:off x="5124450" y="4376738"/>
            <a:ext cx="1828800" cy="461665"/>
          </a:xfrm>
          <a:prstGeom prst="rect">
            <a:avLst/>
          </a:prstGeom>
          <a:noFill/>
          <a:ln w="9525">
            <a:noFill/>
            <a:miter lim="800000"/>
            <a:headEnd/>
            <a:tailEnd/>
          </a:ln>
        </p:spPr>
        <p:txBody>
          <a:bodyPr>
            <a:spAutoFit/>
          </a:bodyPr>
          <a:lstStyle/>
          <a:p>
            <a:pPr>
              <a:spcBef>
                <a:spcPct val="50000"/>
              </a:spcBef>
            </a:pPr>
            <a:r>
              <a:rPr kumimoji="1" lang="zh-CN" altLang="en-US" sz="2400" b="1" dirty="0">
                <a:solidFill>
                  <a:srgbClr val="3333FF"/>
                </a:solidFill>
                <a:latin typeface="楷体_GB2312" pitchFamily="49" charset="-122"/>
                <a:ea typeface="楷体_GB2312" pitchFamily="49" charset="-122"/>
              </a:rPr>
              <a:t>衰减因子</a:t>
            </a:r>
          </a:p>
        </p:txBody>
      </p:sp>
      <p:sp>
        <p:nvSpPr>
          <p:cNvPr id="33" name="Text Box 27"/>
          <p:cNvSpPr txBox="1">
            <a:spLocks noChangeArrowheads="1"/>
          </p:cNvSpPr>
          <p:nvPr/>
        </p:nvSpPr>
        <p:spPr bwMode="auto">
          <a:xfrm>
            <a:off x="5200650" y="5457825"/>
            <a:ext cx="3229002" cy="461665"/>
          </a:xfrm>
          <a:prstGeom prst="rect">
            <a:avLst/>
          </a:prstGeom>
          <a:noFill/>
          <a:ln w="9525">
            <a:noFill/>
            <a:miter lim="800000"/>
            <a:headEnd/>
            <a:tailEnd/>
          </a:ln>
        </p:spPr>
        <p:txBody>
          <a:bodyPr wrap="square">
            <a:spAutoFit/>
          </a:bodyPr>
          <a:lstStyle/>
          <a:p>
            <a:pPr>
              <a:spcBef>
                <a:spcPct val="50000"/>
              </a:spcBef>
            </a:pPr>
            <a:r>
              <a:rPr kumimoji="1" lang="zh-CN" altLang="en-US" sz="2400" b="1" dirty="0">
                <a:solidFill>
                  <a:srgbClr val="3333FF"/>
                </a:solidFill>
                <a:latin typeface="楷体_GB2312" pitchFamily="49" charset="-122"/>
                <a:ea typeface="楷体_GB2312" pitchFamily="49" charset="-122"/>
              </a:rPr>
              <a:t>无阻尼谐振角频率</a:t>
            </a:r>
          </a:p>
        </p:txBody>
      </p:sp>
      <p:sp>
        <p:nvSpPr>
          <p:cNvPr id="34" name="Text Box 28"/>
          <p:cNvSpPr txBox="1">
            <a:spLocks noChangeArrowheads="1"/>
          </p:cNvSpPr>
          <p:nvPr/>
        </p:nvSpPr>
        <p:spPr bwMode="auto">
          <a:xfrm>
            <a:off x="5214938" y="6143625"/>
            <a:ext cx="2819400" cy="461665"/>
          </a:xfrm>
          <a:prstGeom prst="rect">
            <a:avLst/>
          </a:prstGeom>
          <a:noFill/>
          <a:ln w="9525">
            <a:noFill/>
            <a:miter lim="800000"/>
            <a:headEnd/>
            <a:tailEnd/>
          </a:ln>
        </p:spPr>
        <p:txBody>
          <a:bodyPr>
            <a:spAutoFit/>
          </a:bodyPr>
          <a:lstStyle/>
          <a:p>
            <a:pPr>
              <a:spcBef>
                <a:spcPct val="50000"/>
              </a:spcBef>
            </a:pPr>
            <a:r>
              <a:rPr kumimoji="1" lang="zh-CN" altLang="en-US" sz="2400" b="1" dirty="0">
                <a:solidFill>
                  <a:srgbClr val="3333FF"/>
                </a:solidFill>
                <a:latin typeface="楷体_GB2312" pitchFamily="49" charset="-122"/>
                <a:ea typeface="楷体_GB2312" pitchFamily="49" charset="-122"/>
              </a:rPr>
              <a:t>有阻尼谐振角频率</a:t>
            </a:r>
          </a:p>
        </p:txBody>
      </p:sp>
      <p:sp>
        <p:nvSpPr>
          <p:cNvPr id="49171" name="Text Box 5"/>
          <p:cNvSpPr txBox="1">
            <a:spLocks noChangeArrowheads="1"/>
          </p:cNvSpPr>
          <p:nvPr/>
        </p:nvSpPr>
        <p:spPr bwMode="auto">
          <a:xfrm>
            <a:off x="928688" y="1785938"/>
            <a:ext cx="3048000" cy="519112"/>
          </a:xfrm>
          <a:prstGeom prst="rect">
            <a:avLst/>
          </a:prstGeom>
          <a:noFill/>
          <a:ln w="9525">
            <a:noFill/>
            <a:miter lim="800000"/>
            <a:headEnd/>
            <a:tailEnd/>
          </a:ln>
        </p:spPr>
        <p:txBody>
          <a:bodyPr>
            <a:spAutoFit/>
          </a:bodyPr>
          <a:lstStyle/>
          <a:p>
            <a:pPr>
              <a:spcBef>
                <a:spcPct val="50000"/>
              </a:spcBef>
            </a:pPr>
            <a:r>
              <a:rPr kumimoji="1" lang="zh-CN" altLang="en-US" sz="2800" b="1">
                <a:solidFill>
                  <a:srgbClr val="3333FF"/>
                </a:solidFill>
                <a:latin typeface="楷体_GB2312" pitchFamily="49" charset="-122"/>
                <a:ea typeface="楷体_GB2312" pitchFamily="49" charset="-122"/>
              </a:rPr>
              <a:t>欠阻尼情况</a:t>
            </a:r>
            <a:r>
              <a:rPr kumimoji="1" lang="zh-CN" altLang="en-US" sz="2800">
                <a:latin typeface="隶书"/>
                <a:ea typeface="隶书"/>
                <a:cs typeface="隶书"/>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19495"/>
                                        </p:tgtEl>
                                        <p:attrNameLst>
                                          <p:attrName>style.visibility</p:attrName>
                                        </p:attrNameLst>
                                      </p:cBhvr>
                                      <p:to>
                                        <p:strVal val="visible"/>
                                      </p:to>
                                    </p:set>
                                    <p:animEffect transition="in" filter="dissolve">
                                      <p:cBhvr>
                                        <p:cTn id="10" dur="500"/>
                                        <p:tgtEl>
                                          <p:spTgt spid="319495"/>
                                        </p:tgtEl>
                                      </p:cBhvr>
                                    </p:animEffect>
                                  </p:childTnLst>
                                </p:cTn>
                              </p:par>
                              <p:par>
                                <p:cTn id="11" presetID="9"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dissolve">
                                      <p:cBhvr>
                                        <p:cTn id="13" dur="500"/>
                                        <p:tgtEl>
                                          <p:spTgt spid="23"/>
                                        </p:tgtEl>
                                      </p:cBhvr>
                                    </p:animEffect>
                                  </p:childTnLst>
                                </p:cTn>
                              </p:par>
                              <p:par>
                                <p:cTn id="14" presetID="9" presetClass="entr" presetSubtype="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dissolve">
                                      <p:cBhvr>
                                        <p:cTn id="16" dur="500"/>
                                        <p:tgtEl>
                                          <p:spTgt spid="2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ipe(left)">
                                      <p:cBhvr>
                                        <p:cTn id="19" dur="500"/>
                                        <p:tgtEl>
                                          <p:spTgt spid="2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2">
                                            <p:txEl>
                                              <p:pRg st="0" end="0"/>
                                            </p:txEl>
                                          </p:spTgt>
                                        </p:tgtEl>
                                        <p:attrNameLst>
                                          <p:attrName>style.visibility</p:attrName>
                                        </p:attrNameLst>
                                      </p:cBhvr>
                                      <p:to>
                                        <p:strVal val="visible"/>
                                      </p:to>
                                    </p:set>
                                    <p:animEffect transition="in" filter="dissolve">
                                      <p:cBhvr>
                                        <p:cTn id="22" dur="500"/>
                                        <p:tgtEl>
                                          <p:spTgt spid="32">
                                            <p:txEl>
                                              <p:pRg st="0" end="0"/>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wipe(left)">
                                      <p:cBhvr>
                                        <p:cTn id="25" dur="500"/>
                                        <p:tgtEl>
                                          <p:spTgt spid="2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left)">
                                      <p:cBhvr>
                                        <p:cTn id="28" dur="500"/>
                                        <p:tgtEl>
                                          <p:spTgt spid="3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animEffect transition="in" filter="dissolve">
                                      <p:cBhvr>
                                        <p:cTn id="31" dur="500"/>
                                        <p:tgtEl>
                                          <p:spTgt spid="33">
                                            <p:txEl>
                                              <p:pRg st="0" end="0"/>
                                            </p:txEl>
                                          </p:spTgt>
                                        </p:tgtEl>
                                      </p:cBhvr>
                                    </p:animEffect>
                                  </p:childTnLst>
                                </p:cTn>
                              </p:par>
                              <p:par>
                                <p:cTn id="32" presetID="9"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dissolve">
                                      <p:cBhvr>
                                        <p:cTn id="34" dur="500"/>
                                        <p:tgtEl>
                                          <p:spTgt spid="28"/>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34">
                                            <p:txEl>
                                              <p:pRg st="0" end="0"/>
                                            </p:txEl>
                                          </p:spTgt>
                                        </p:tgtEl>
                                        <p:attrNameLst>
                                          <p:attrName>style.visibility</p:attrName>
                                        </p:attrNameLst>
                                      </p:cBhvr>
                                      <p:to>
                                        <p:strVal val="visible"/>
                                      </p:to>
                                    </p:set>
                                    <p:animEffect transition="in" filter="dissolve">
                                      <p:cBhvr>
                                        <p:cTn id="41"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29" grpId="0" animBg="1"/>
      <p:bldP spid="30" grpId="0" animBg="1"/>
      <p:bldP spid="31" grpId="0" animBg="1"/>
      <p:bldP spid="32" grpId="0" build="p" autoUpdateAnimBg="0" advAuto="0"/>
      <p:bldP spid="33" grpId="0" build="p" autoUpdateAnimBg="0" advAuto="0"/>
      <p:bldP spid="34" grpId="0" build="p" autoUpdateAnimBg="0"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9"/>
          <p:cNvPicPr>
            <a:picLocks noChangeAspect="1" noChangeArrowheads="1"/>
          </p:cNvPicPr>
          <p:nvPr/>
        </p:nvPicPr>
        <p:blipFill>
          <a:blip r:embed="rId2"/>
          <a:srcRect/>
          <a:stretch>
            <a:fillRect/>
          </a:stretch>
        </p:blipFill>
        <p:spPr bwMode="auto">
          <a:xfrm>
            <a:off x="428625" y="857250"/>
            <a:ext cx="4124325" cy="2514600"/>
          </a:xfrm>
          <a:prstGeom prst="rect">
            <a:avLst/>
          </a:prstGeom>
          <a:noFill/>
          <a:ln w="9525">
            <a:noFill/>
            <a:miter lim="800000"/>
            <a:headEnd/>
            <a:tailEnd/>
          </a:ln>
        </p:spPr>
      </p:pic>
      <p:pic>
        <p:nvPicPr>
          <p:cNvPr id="56322" name="Picture 10"/>
          <p:cNvPicPr>
            <a:picLocks noChangeAspect="1" noChangeArrowheads="1"/>
          </p:cNvPicPr>
          <p:nvPr/>
        </p:nvPicPr>
        <p:blipFill>
          <a:blip r:embed="rId3"/>
          <a:srcRect/>
          <a:stretch>
            <a:fillRect/>
          </a:stretch>
        </p:blipFill>
        <p:spPr bwMode="auto">
          <a:xfrm>
            <a:off x="4467225" y="885825"/>
            <a:ext cx="4210050" cy="2714625"/>
          </a:xfrm>
          <a:prstGeom prst="rect">
            <a:avLst/>
          </a:prstGeom>
          <a:noFill/>
          <a:ln w="9525">
            <a:noFill/>
            <a:miter lim="800000"/>
            <a:headEnd/>
            <a:tailEnd/>
          </a:ln>
        </p:spPr>
      </p:pic>
      <p:grpSp>
        <p:nvGrpSpPr>
          <p:cNvPr id="4" name="Group 13"/>
          <p:cNvGrpSpPr>
            <a:grpSpLocks/>
          </p:cNvGrpSpPr>
          <p:nvPr/>
        </p:nvGrpSpPr>
        <p:grpSpPr bwMode="auto">
          <a:xfrm>
            <a:off x="428625" y="3676650"/>
            <a:ext cx="8267700" cy="2667000"/>
            <a:chOff x="288" y="2160"/>
            <a:chExt cx="5208" cy="1680"/>
          </a:xfrm>
        </p:grpSpPr>
        <p:pic>
          <p:nvPicPr>
            <p:cNvPr id="56324" name="Picture 11"/>
            <p:cNvPicPr>
              <a:picLocks noChangeAspect="1" noChangeArrowheads="1"/>
            </p:cNvPicPr>
            <p:nvPr/>
          </p:nvPicPr>
          <p:blipFill>
            <a:blip r:embed="rId4"/>
            <a:srcRect/>
            <a:stretch>
              <a:fillRect/>
            </a:stretch>
          </p:blipFill>
          <p:spPr bwMode="auto">
            <a:xfrm>
              <a:off x="288" y="2160"/>
              <a:ext cx="2544" cy="1656"/>
            </a:xfrm>
            <a:prstGeom prst="rect">
              <a:avLst/>
            </a:prstGeom>
            <a:noFill/>
            <a:ln w="9525">
              <a:noFill/>
              <a:miter lim="800000"/>
              <a:headEnd/>
              <a:tailEnd/>
            </a:ln>
          </p:spPr>
        </p:pic>
        <p:pic>
          <p:nvPicPr>
            <p:cNvPr id="56325" name="Picture 12"/>
            <p:cNvPicPr>
              <a:picLocks noChangeAspect="1" noChangeArrowheads="1"/>
            </p:cNvPicPr>
            <p:nvPr/>
          </p:nvPicPr>
          <p:blipFill>
            <a:blip r:embed="rId5"/>
            <a:srcRect/>
            <a:stretch>
              <a:fillRect/>
            </a:stretch>
          </p:blipFill>
          <p:spPr bwMode="auto">
            <a:xfrm>
              <a:off x="2832" y="2184"/>
              <a:ext cx="2664" cy="1656"/>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 name="Text Box 11"/>
          <p:cNvSpPr txBox="1">
            <a:spLocks noChangeArrowheads="1"/>
          </p:cNvSpPr>
          <p:nvPr/>
        </p:nvSpPr>
        <p:spPr bwMode="auto">
          <a:xfrm>
            <a:off x="642938" y="571500"/>
            <a:ext cx="6911975" cy="637675"/>
          </a:xfrm>
          <a:prstGeom prst="rect">
            <a:avLst/>
          </a:prstGeom>
          <a:noFill/>
          <a:ln w="9525">
            <a:noFill/>
            <a:miter lim="800000"/>
            <a:headEnd/>
            <a:tailEnd/>
          </a:ln>
        </p:spPr>
        <p:txBody>
          <a:bodyPr>
            <a:spAutoFit/>
          </a:bodyPr>
          <a:lstStyle/>
          <a:p>
            <a:pPr>
              <a:lnSpc>
                <a:spcPct val="150000"/>
              </a:lnSpc>
              <a:spcBef>
                <a:spcPct val="50000"/>
              </a:spcBef>
            </a:pPr>
            <a:r>
              <a:rPr lang="en-US" altLang="zh-CN" sz="2800" b="1" dirty="0">
                <a:solidFill>
                  <a:schemeClr val="bg1"/>
                </a:solidFill>
                <a:latin typeface="楷体_GB2312" pitchFamily="49" charset="-122"/>
                <a:ea typeface="楷体_GB2312" pitchFamily="49" charset="-122"/>
              </a:rPr>
              <a:t>3 </a:t>
            </a:r>
            <a:r>
              <a:rPr lang="zh-CN" altLang="en-US" sz="2800" b="1" dirty="0">
                <a:solidFill>
                  <a:schemeClr val="bg1"/>
                </a:solidFill>
                <a:latin typeface="楷体_GB2312" pitchFamily="49" charset="-122"/>
                <a:ea typeface="楷体_GB2312" pitchFamily="49" charset="-122"/>
              </a:rPr>
              <a:t>正弦稳态电路的平均功率</a:t>
            </a:r>
            <a:endParaRPr lang="zh-CN" altLang="en-US" sz="2800" b="1" dirty="0">
              <a:solidFill>
                <a:schemeClr val="bg1"/>
              </a:solidFill>
              <a:latin typeface="隶书"/>
              <a:ea typeface="隶书"/>
              <a:cs typeface="隶书"/>
            </a:endParaRPr>
          </a:p>
        </p:txBody>
      </p:sp>
      <p:pic>
        <p:nvPicPr>
          <p:cNvPr id="1042" name="Picture 13"/>
          <p:cNvPicPr>
            <a:picLocks noChangeAspect="1" noChangeArrowheads="1"/>
          </p:cNvPicPr>
          <p:nvPr/>
        </p:nvPicPr>
        <p:blipFill>
          <a:blip r:embed="rId3"/>
          <a:srcRect/>
          <a:stretch>
            <a:fillRect/>
          </a:stretch>
        </p:blipFill>
        <p:spPr bwMode="auto">
          <a:xfrm>
            <a:off x="4842315" y="3490387"/>
            <a:ext cx="4086225" cy="1643063"/>
          </a:xfrm>
          <a:prstGeom prst="rect">
            <a:avLst/>
          </a:prstGeom>
          <a:noFill/>
          <a:ln w="9525">
            <a:noFill/>
            <a:miter lim="800000"/>
            <a:headEnd/>
            <a:tailEnd/>
          </a:ln>
        </p:spPr>
      </p:pic>
      <p:sp>
        <p:nvSpPr>
          <p:cNvPr id="1043" name="Text Box 5"/>
          <p:cNvSpPr txBox="1">
            <a:spLocks noChangeArrowheads="1"/>
          </p:cNvSpPr>
          <p:nvPr/>
        </p:nvSpPr>
        <p:spPr bwMode="auto">
          <a:xfrm>
            <a:off x="818318" y="3868765"/>
            <a:ext cx="4000500" cy="1114425"/>
          </a:xfrm>
          <a:prstGeom prst="rect">
            <a:avLst/>
          </a:prstGeom>
          <a:noFill/>
          <a:ln w="9525">
            <a:noFill/>
            <a:miter lim="800000"/>
            <a:headEnd/>
            <a:tailEnd/>
          </a:ln>
        </p:spPr>
        <p:txBody>
          <a:bodyPr>
            <a:spAutoFit/>
          </a:bodyPr>
          <a:lstStyle/>
          <a:p>
            <a:pPr>
              <a:lnSpc>
                <a:spcPct val="150000"/>
              </a:lnSpc>
              <a:spcBef>
                <a:spcPct val="50000"/>
              </a:spcBef>
            </a:pPr>
            <a:r>
              <a:rPr kumimoji="1" lang="zh-CN" altLang="en-US" sz="2400" b="1" dirty="0">
                <a:latin typeface="楷体_GB2312" pitchFamily="49" charset="-122"/>
                <a:ea typeface="楷体_GB2312" pitchFamily="49" charset="-122"/>
              </a:rPr>
              <a:t>在</a:t>
            </a:r>
            <a:r>
              <a:rPr kumimoji="1" lang="en-US" altLang="zh-CN" sz="2400" b="1" i="1" dirty="0">
                <a:latin typeface="Times New Roman" pitchFamily="18" charset="0"/>
                <a:ea typeface="楷体_GB2312" pitchFamily="49" charset="-122"/>
              </a:rPr>
              <a:t>R</a:t>
            </a:r>
            <a:r>
              <a:rPr kumimoji="1" lang="en-US" altLang="zh-CN" sz="2400" b="1" baseline="-30000" dirty="0">
                <a:latin typeface="Times New Roman" pitchFamily="18" charset="0"/>
                <a:ea typeface="楷体_GB2312" pitchFamily="49" charset="-122"/>
              </a:rPr>
              <a:t>o</a:t>
            </a:r>
            <a:r>
              <a:rPr kumimoji="1" lang="en-US" altLang="zh-CN" sz="2400" b="1" dirty="0">
                <a:latin typeface="Times New Roman" pitchFamily="18" charset="0"/>
                <a:ea typeface="楷体_GB2312" pitchFamily="49" charset="-122"/>
              </a:rPr>
              <a:t>&gt;0</a:t>
            </a:r>
            <a:r>
              <a:rPr kumimoji="1" lang="zh-CN" altLang="en-US" sz="2400" b="1" dirty="0">
                <a:latin typeface="楷体_GB2312" pitchFamily="49" charset="-122"/>
                <a:ea typeface="楷体_GB2312" pitchFamily="49" charset="-122"/>
              </a:rPr>
              <a:t>的前提下，负载获得最大功率的条件是：</a:t>
            </a:r>
            <a:r>
              <a:rPr kumimoji="1" lang="zh-CN" altLang="en-US" sz="2400" b="1" dirty="0">
                <a:latin typeface="隶书"/>
                <a:ea typeface="隶书"/>
                <a:cs typeface="隶书"/>
              </a:rPr>
              <a:t> </a:t>
            </a:r>
          </a:p>
        </p:txBody>
      </p:sp>
      <p:graphicFrame>
        <p:nvGraphicFramePr>
          <p:cNvPr id="622598" name="Object 6"/>
          <p:cNvGraphicFramePr>
            <a:graphicFrameLocks noChangeAspect="1"/>
          </p:cNvGraphicFramePr>
          <p:nvPr>
            <p:extLst>
              <p:ext uri="{D42A27DB-BD31-4B8C-83A1-F6EECF244321}">
                <p14:modId xmlns:p14="http://schemas.microsoft.com/office/powerpoint/2010/main" val="1892736933"/>
              </p:ext>
            </p:extLst>
          </p:nvPr>
        </p:nvGraphicFramePr>
        <p:xfrm>
          <a:off x="1027032" y="5074398"/>
          <a:ext cx="4000500" cy="644525"/>
        </p:xfrm>
        <a:graphic>
          <a:graphicData uri="http://schemas.openxmlformats.org/presentationml/2006/ole">
            <mc:AlternateContent xmlns:mc="http://schemas.openxmlformats.org/markup-compatibility/2006">
              <mc:Choice xmlns:v="urn:schemas-microsoft-com:vml" Requires="v">
                <p:oleObj spid="_x0000_s97319" name="Equation" r:id="rId4" imgW="1968500" imgH="317500" progId="">
                  <p:embed/>
                </p:oleObj>
              </mc:Choice>
              <mc:Fallback>
                <p:oleObj name="Equation" r:id="rId4" imgW="1968500" imgH="317500" progId="">
                  <p:embed/>
                  <p:pic>
                    <p:nvPicPr>
                      <p:cNvPr id="62259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032" y="5074398"/>
                        <a:ext cx="4000500" cy="64452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1044" name="Text Box 7"/>
          <p:cNvSpPr txBox="1">
            <a:spLocks noChangeArrowheads="1"/>
          </p:cNvSpPr>
          <p:nvPr/>
        </p:nvSpPr>
        <p:spPr bwMode="auto">
          <a:xfrm>
            <a:off x="698940" y="6073329"/>
            <a:ext cx="3929063" cy="534987"/>
          </a:xfrm>
          <a:prstGeom prst="rect">
            <a:avLst/>
          </a:prstGeom>
          <a:noFill/>
          <a:ln w="9525">
            <a:noFill/>
            <a:miter lim="800000"/>
            <a:headEnd/>
            <a:tailEnd/>
          </a:ln>
        </p:spPr>
        <p:txBody>
          <a:bodyPr>
            <a:spAutoFit/>
          </a:bodyPr>
          <a:lstStyle/>
          <a:p>
            <a:pPr>
              <a:lnSpc>
                <a:spcPct val="120000"/>
              </a:lnSpc>
              <a:spcBef>
                <a:spcPct val="50000"/>
              </a:spcBef>
            </a:pPr>
            <a:r>
              <a:rPr kumimoji="1" lang="zh-CN" altLang="en-US" sz="2400" b="1" dirty="0">
                <a:latin typeface="楷体_GB2312" pitchFamily="49" charset="-122"/>
                <a:ea typeface="楷体_GB2312" pitchFamily="49" charset="-122"/>
              </a:rPr>
              <a:t>负载获得的</a:t>
            </a:r>
            <a:r>
              <a:rPr kumimoji="1" lang="zh-CN" altLang="en-US" sz="2400" b="1" dirty="0">
                <a:solidFill>
                  <a:srgbClr val="0070C0"/>
                </a:solidFill>
                <a:latin typeface="楷体_GB2312" pitchFamily="49" charset="-122"/>
                <a:ea typeface="楷体_GB2312" pitchFamily="49" charset="-122"/>
              </a:rPr>
              <a:t>最大平均功率</a:t>
            </a:r>
            <a:r>
              <a:rPr kumimoji="1" lang="zh-CN" altLang="en-US" sz="2400" b="1" dirty="0">
                <a:latin typeface="楷体_GB2312" pitchFamily="49" charset="-122"/>
                <a:ea typeface="楷体_GB2312" pitchFamily="49" charset="-122"/>
              </a:rPr>
              <a:t>为</a:t>
            </a:r>
            <a:r>
              <a:rPr kumimoji="1" lang="zh-CN" altLang="en-US" sz="2400" b="1" dirty="0">
                <a:latin typeface="隶书"/>
                <a:ea typeface="隶书"/>
                <a:cs typeface="隶书"/>
              </a:rPr>
              <a:t> </a:t>
            </a:r>
          </a:p>
        </p:txBody>
      </p:sp>
      <p:graphicFrame>
        <p:nvGraphicFramePr>
          <p:cNvPr id="622600" name="Object 8"/>
          <p:cNvGraphicFramePr>
            <a:graphicFrameLocks noChangeAspect="1"/>
          </p:cNvGraphicFramePr>
          <p:nvPr>
            <p:extLst>
              <p:ext uri="{D42A27DB-BD31-4B8C-83A1-F6EECF244321}">
                <p14:modId xmlns:p14="http://schemas.microsoft.com/office/powerpoint/2010/main" val="1353268641"/>
              </p:ext>
            </p:extLst>
          </p:nvPr>
        </p:nvGraphicFramePr>
        <p:xfrm>
          <a:off x="4842315" y="5787579"/>
          <a:ext cx="1500188" cy="931862"/>
        </p:xfrm>
        <a:graphic>
          <a:graphicData uri="http://schemas.openxmlformats.org/presentationml/2006/ole">
            <mc:AlternateContent xmlns:mc="http://schemas.openxmlformats.org/markup-compatibility/2006">
              <mc:Choice xmlns:v="urn:schemas-microsoft-com:vml" Requires="v">
                <p:oleObj spid="_x0000_s97320" name="Equation" r:id="rId6" imgW="736600" imgH="457200" progId="Equation.DSMT4">
                  <p:embed/>
                </p:oleObj>
              </mc:Choice>
              <mc:Fallback>
                <p:oleObj name="Equation" r:id="rId6" imgW="736600" imgH="457200" progId="Equation.DSMT4">
                  <p:embed/>
                  <p:pic>
                    <p:nvPicPr>
                      <p:cNvPr id="62260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2315" y="5787579"/>
                        <a:ext cx="1500188" cy="931862"/>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1045" name="矩形 12"/>
          <p:cNvSpPr>
            <a:spLocks noChangeArrowheads="1"/>
          </p:cNvSpPr>
          <p:nvPr/>
        </p:nvSpPr>
        <p:spPr bwMode="auto">
          <a:xfrm>
            <a:off x="5413815" y="5287516"/>
            <a:ext cx="2041525" cy="461963"/>
          </a:xfrm>
          <a:prstGeom prst="rect">
            <a:avLst/>
          </a:prstGeom>
          <a:noFill/>
          <a:ln w="9525">
            <a:noFill/>
            <a:miter lim="800000"/>
            <a:headEnd/>
            <a:tailEnd/>
          </a:ln>
        </p:spPr>
        <p:txBody>
          <a:bodyPr wrap="none">
            <a:spAutoFit/>
          </a:bodyPr>
          <a:lstStyle/>
          <a:p>
            <a:r>
              <a:rPr kumimoji="1" lang="zh-CN" altLang="en-US" sz="2400" b="1" dirty="0">
                <a:solidFill>
                  <a:srgbClr val="FF0000"/>
                </a:solidFill>
                <a:latin typeface="楷体_GB2312" pitchFamily="49" charset="-122"/>
                <a:ea typeface="楷体_GB2312" pitchFamily="49" charset="-122"/>
              </a:rPr>
              <a:t>称为共轭匹配</a:t>
            </a:r>
            <a:endParaRPr lang="zh-CN" altLang="en-US" sz="2400" dirty="0">
              <a:latin typeface="Candara" pitchFamily="34" charset="0"/>
              <a:ea typeface="华文楷体"/>
              <a:cs typeface="华文楷体"/>
            </a:endParaRPr>
          </a:p>
        </p:txBody>
      </p:sp>
      <p:pic>
        <p:nvPicPr>
          <p:cNvPr id="18" name="图片 17"/>
          <p:cNvPicPr>
            <a:picLocks noChangeAspect="1"/>
          </p:cNvPicPr>
          <p:nvPr/>
        </p:nvPicPr>
        <p:blipFill>
          <a:blip r:embed="rId8" cstate="print"/>
          <a:stretch>
            <a:fillRect/>
          </a:stretch>
        </p:blipFill>
        <p:spPr>
          <a:xfrm>
            <a:off x="6588224" y="1178868"/>
            <a:ext cx="2340316" cy="2134368"/>
          </a:xfrm>
          <a:prstGeom prst="rect">
            <a:avLst/>
          </a:prstGeom>
        </p:spPr>
      </p:pic>
      <p:sp>
        <p:nvSpPr>
          <p:cNvPr id="19" name="文本框 5"/>
          <p:cNvSpPr txBox="1"/>
          <p:nvPr/>
        </p:nvSpPr>
        <p:spPr>
          <a:xfrm>
            <a:off x="1332685" y="2444955"/>
            <a:ext cx="2040943" cy="461665"/>
          </a:xfrm>
          <a:prstGeom prst="rect">
            <a:avLst/>
          </a:prstGeom>
          <a:noFill/>
        </p:spPr>
        <p:txBody>
          <a:bodyPr wrap="none" rtlCol="0">
            <a:spAutoFit/>
          </a:bodyPr>
          <a:lstStyle/>
          <a:p>
            <a:r>
              <a:rPr lang="zh-CN" altLang="en-US" sz="2400" b="1" dirty="0"/>
              <a:t>称为功率因素</a:t>
            </a:r>
            <a:endParaRPr lang="zh-CN" altLang="en-US" sz="2000" b="1" dirty="0"/>
          </a:p>
        </p:txBody>
      </p:sp>
      <p:graphicFrame>
        <p:nvGraphicFramePr>
          <p:cNvPr id="20" name="Object 5"/>
          <p:cNvGraphicFramePr>
            <a:graphicFrameLocks noChangeAspect="1"/>
          </p:cNvGraphicFramePr>
          <p:nvPr>
            <p:extLst>
              <p:ext uri="{D42A27DB-BD31-4B8C-83A1-F6EECF244321}">
                <p14:modId xmlns:p14="http://schemas.microsoft.com/office/powerpoint/2010/main" val="1698929452"/>
              </p:ext>
            </p:extLst>
          </p:nvPr>
        </p:nvGraphicFramePr>
        <p:xfrm>
          <a:off x="834931" y="2906620"/>
          <a:ext cx="3175212" cy="714678"/>
        </p:xfrm>
        <a:graphic>
          <a:graphicData uri="http://schemas.openxmlformats.org/presentationml/2006/ole">
            <mc:AlternateContent xmlns:mc="http://schemas.openxmlformats.org/markup-compatibility/2006">
              <mc:Choice xmlns:v="urn:schemas-microsoft-com:vml" Requires="v">
                <p:oleObj spid="_x0000_s97321" name="Equation" r:id="rId9" imgW="1752480" imgH="393480" progId="Equation.DSMT4">
                  <p:embed/>
                </p:oleObj>
              </mc:Choice>
              <mc:Fallback>
                <p:oleObj name="Equation" r:id="rId9" imgW="1752480" imgH="393480" progId="Equation.DSMT4">
                  <p:embed/>
                  <p:pic>
                    <p:nvPicPr>
                      <p:cNvPr id="13" name="Object 5"/>
                      <p:cNvPicPr>
                        <a:picLocks noChangeAspect="1" noChangeArrowheads="1"/>
                      </p:cNvPicPr>
                      <p:nvPr/>
                    </p:nvPicPr>
                    <p:blipFill>
                      <a:blip r:embed="rId10"/>
                      <a:srcRect/>
                      <a:stretch>
                        <a:fillRect/>
                      </a:stretch>
                    </p:blipFill>
                    <p:spPr bwMode="auto">
                      <a:xfrm>
                        <a:off x="834931" y="2906620"/>
                        <a:ext cx="3175212" cy="714678"/>
                      </a:xfrm>
                      <a:prstGeom prst="rect">
                        <a:avLst/>
                      </a:prstGeom>
                      <a:noFill/>
                    </p:spPr>
                  </p:pic>
                </p:oleObj>
              </mc:Fallback>
            </mc:AlternateContent>
          </a:graphicData>
        </a:graphic>
      </p:graphicFrame>
      <p:pic>
        <p:nvPicPr>
          <p:cNvPr id="21" name="Picture 3"/>
          <p:cNvPicPr>
            <a:picLocks noChangeAspect="1" noChangeArrowheads="1"/>
          </p:cNvPicPr>
          <p:nvPr/>
        </p:nvPicPr>
        <p:blipFill>
          <a:blip r:embed="rId11" cstate="print"/>
          <a:srcRect/>
          <a:stretch>
            <a:fillRect/>
          </a:stretch>
        </p:blipFill>
        <p:spPr bwMode="auto">
          <a:xfrm>
            <a:off x="818318" y="2525025"/>
            <a:ext cx="573405" cy="320040"/>
          </a:xfrm>
          <a:prstGeom prst="rect">
            <a:avLst/>
          </a:prstGeom>
          <a:noFill/>
          <a:ln w="9525">
            <a:noFill/>
            <a:miter lim="800000"/>
            <a:headEnd/>
            <a:tailEnd/>
          </a:ln>
        </p:spPr>
      </p:pic>
      <p:sp>
        <p:nvSpPr>
          <p:cNvPr id="22" name="文本框 21"/>
          <p:cNvSpPr txBox="1"/>
          <p:nvPr/>
        </p:nvSpPr>
        <p:spPr>
          <a:xfrm>
            <a:off x="612608" y="1575622"/>
            <a:ext cx="3587842" cy="461665"/>
          </a:xfrm>
          <a:prstGeom prst="rect">
            <a:avLst/>
          </a:prstGeom>
          <a:noFill/>
        </p:spPr>
        <p:txBody>
          <a:bodyPr wrap="none" rtlCol="0">
            <a:spAutoFit/>
          </a:bodyPr>
          <a:lstStyle/>
          <a:p>
            <a:r>
              <a:rPr lang="zh-CN" altLang="en-US" sz="2400" b="1" dirty="0"/>
              <a:t>负载网络获得的平均功率</a:t>
            </a:r>
          </a:p>
        </p:txBody>
      </p:sp>
      <p:graphicFrame>
        <p:nvGraphicFramePr>
          <p:cNvPr id="23" name="Object 4"/>
          <p:cNvGraphicFramePr>
            <a:graphicFrameLocks noChangeAspect="1"/>
          </p:cNvGraphicFramePr>
          <p:nvPr>
            <p:extLst>
              <p:ext uri="{D42A27DB-BD31-4B8C-83A1-F6EECF244321}">
                <p14:modId xmlns:p14="http://schemas.microsoft.com/office/powerpoint/2010/main" val="1504055845"/>
              </p:ext>
            </p:extLst>
          </p:nvPr>
        </p:nvGraphicFramePr>
        <p:xfrm>
          <a:off x="4200450" y="1434924"/>
          <a:ext cx="2243758" cy="1412236"/>
        </p:xfrm>
        <a:graphic>
          <a:graphicData uri="http://schemas.openxmlformats.org/presentationml/2006/ole">
            <mc:AlternateContent xmlns:mc="http://schemas.openxmlformats.org/markup-compatibility/2006">
              <mc:Choice xmlns:v="urn:schemas-microsoft-com:vml" Requires="v">
                <p:oleObj spid="_x0000_s97322" name="Equation" r:id="rId12" imgW="1091880" imgH="685800" progId="Equation.DSMT4">
                  <p:embed/>
                </p:oleObj>
              </mc:Choice>
              <mc:Fallback>
                <p:oleObj name="Equation" r:id="rId12" imgW="1091880" imgH="685800" progId="Equation.DSMT4">
                  <p:embed/>
                  <p:pic>
                    <p:nvPicPr>
                      <p:cNvPr id="17" name="Object 4"/>
                      <p:cNvPicPr>
                        <a:picLocks noChangeAspect="1" noChangeArrowheads="1"/>
                      </p:cNvPicPr>
                      <p:nvPr/>
                    </p:nvPicPr>
                    <p:blipFill>
                      <a:blip r:embed="rId13"/>
                      <a:srcRect/>
                      <a:stretch>
                        <a:fillRect/>
                      </a:stretch>
                    </p:blipFill>
                    <p:spPr bwMode="auto">
                      <a:xfrm>
                        <a:off x="4200450" y="1434924"/>
                        <a:ext cx="2243758" cy="1412236"/>
                      </a:xfrm>
                      <a:prstGeom prst="rect">
                        <a:avLst/>
                      </a:prstGeom>
                      <a:noFill/>
                    </p:spPr>
                  </p:pic>
                </p:oleObj>
              </mc:Fallback>
            </mc:AlternateContent>
          </a:graphicData>
        </a:graphic>
      </p:graphicFrame>
    </p:spTree>
    <p:extLst>
      <p:ext uri="{BB962C8B-B14F-4D97-AF65-F5344CB8AC3E}">
        <p14:creationId xmlns:p14="http://schemas.microsoft.com/office/powerpoint/2010/main" val="104927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par>
                                <p:cTn id="8" presetID="3" presetClass="entr" presetSubtype="1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par>
                                <p:cTn id="11" presetID="3" presetClass="entr" presetSubtype="1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blinds(horizontal)">
                                      <p:cBhvr>
                                        <p:cTn id="13" dur="500"/>
                                        <p:tgtEl>
                                          <p:spTgt spid="21"/>
                                        </p:tgtEl>
                                      </p:cBhvr>
                                    </p:animEffect>
                                  </p:childTnLst>
                                </p:cTn>
                              </p:par>
                              <p:par>
                                <p:cTn id="14" presetID="3" presetClass="entr" presetSubtype="1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blinds(horizontal)">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42"/>
                                        </p:tgtEl>
                                        <p:attrNameLst>
                                          <p:attrName>style.visibility</p:attrName>
                                        </p:attrNameLst>
                                      </p:cBhvr>
                                      <p:to>
                                        <p:strVal val="visible"/>
                                      </p:to>
                                    </p:set>
                                    <p:animEffect transition="in" filter="fade">
                                      <p:cBhvr>
                                        <p:cTn id="21" dur="1000"/>
                                        <p:tgtEl>
                                          <p:spTgt spid="1042"/>
                                        </p:tgtEl>
                                      </p:cBhvr>
                                    </p:animEffect>
                                    <p:anim calcmode="lin" valueType="num">
                                      <p:cBhvr>
                                        <p:cTn id="22" dur="1000" fill="hold"/>
                                        <p:tgtEl>
                                          <p:spTgt spid="1042"/>
                                        </p:tgtEl>
                                        <p:attrNameLst>
                                          <p:attrName>ppt_x</p:attrName>
                                        </p:attrNameLst>
                                      </p:cBhvr>
                                      <p:tavLst>
                                        <p:tav tm="0">
                                          <p:val>
                                            <p:strVal val="#ppt_x"/>
                                          </p:val>
                                        </p:tav>
                                        <p:tav tm="100000">
                                          <p:val>
                                            <p:strVal val="#ppt_x"/>
                                          </p:val>
                                        </p:tav>
                                      </p:tavLst>
                                    </p:anim>
                                    <p:anim calcmode="lin" valueType="num">
                                      <p:cBhvr>
                                        <p:cTn id="23" dur="1000" fill="hold"/>
                                        <p:tgtEl>
                                          <p:spTgt spid="1042"/>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043"/>
                                        </p:tgtEl>
                                        <p:attrNameLst>
                                          <p:attrName>style.visibility</p:attrName>
                                        </p:attrNameLst>
                                      </p:cBhvr>
                                      <p:to>
                                        <p:strVal val="visible"/>
                                      </p:to>
                                    </p:set>
                                    <p:animEffect transition="in" filter="fade">
                                      <p:cBhvr>
                                        <p:cTn id="26" dur="1000"/>
                                        <p:tgtEl>
                                          <p:spTgt spid="1043"/>
                                        </p:tgtEl>
                                      </p:cBhvr>
                                    </p:animEffect>
                                    <p:anim calcmode="lin" valueType="num">
                                      <p:cBhvr>
                                        <p:cTn id="27" dur="1000" fill="hold"/>
                                        <p:tgtEl>
                                          <p:spTgt spid="1043"/>
                                        </p:tgtEl>
                                        <p:attrNameLst>
                                          <p:attrName>ppt_x</p:attrName>
                                        </p:attrNameLst>
                                      </p:cBhvr>
                                      <p:tavLst>
                                        <p:tav tm="0">
                                          <p:val>
                                            <p:strVal val="#ppt_x"/>
                                          </p:val>
                                        </p:tav>
                                        <p:tav tm="100000">
                                          <p:val>
                                            <p:strVal val="#ppt_x"/>
                                          </p:val>
                                        </p:tav>
                                      </p:tavLst>
                                    </p:anim>
                                    <p:anim calcmode="lin" valueType="num">
                                      <p:cBhvr>
                                        <p:cTn id="28" dur="1000" fill="hold"/>
                                        <p:tgtEl>
                                          <p:spTgt spid="1043"/>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622598"/>
                                        </p:tgtEl>
                                        <p:attrNameLst>
                                          <p:attrName>style.visibility</p:attrName>
                                        </p:attrNameLst>
                                      </p:cBhvr>
                                      <p:to>
                                        <p:strVal val="visible"/>
                                      </p:to>
                                    </p:set>
                                    <p:animEffect transition="in" filter="fade">
                                      <p:cBhvr>
                                        <p:cTn id="31" dur="1000"/>
                                        <p:tgtEl>
                                          <p:spTgt spid="622598"/>
                                        </p:tgtEl>
                                      </p:cBhvr>
                                    </p:animEffect>
                                    <p:anim calcmode="lin" valueType="num">
                                      <p:cBhvr>
                                        <p:cTn id="32" dur="1000" fill="hold"/>
                                        <p:tgtEl>
                                          <p:spTgt spid="622598"/>
                                        </p:tgtEl>
                                        <p:attrNameLst>
                                          <p:attrName>ppt_x</p:attrName>
                                        </p:attrNameLst>
                                      </p:cBhvr>
                                      <p:tavLst>
                                        <p:tav tm="0">
                                          <p:val>
                                            <p:strVal val="#ppt_x"/>
                                          </p:val>
                                        </p:tav>
                                        <p:tav tm="100000">
                                          <p:val>
                                            <p:strVal val="#ppt_x"/>
                                          </p:val>
                                        </p:tav>
                                      </p:tavLst>
                                    </p:anim>
                                    <p:anim calcmode="lin" valueType="num">
                                      <p:cBhvr>
                                        <p:cTn id="33" dur="1000" fill="hold"/>
                                        <p:tgtEl>
                                          <p:spTgt spid="62259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44"/>
                                        </p:tgtEl>
                                        <p:attrNameLst>
                                          <p:attrName>style.visibility</p:attrName>
                                        </p:attrNameLst>
                                      </p:cBhvr>
                                      <p:to>
                                        <p:strVal val="visible"/>
                                      </p:to>
                                    </p:set>
                                    <p:animEffect transition="in" filter="fade">
                                      <p:cBhvr>
                                        <p:cTn id="36" dur="1000"/>
                                        <p:tgtEl>
                                          <p:spTgt spid="1044"/>
                                        </p:tgtEl>
                                      </p:cBhvr>
                                    </p:animEffect>
                                    <p:anim calcmode="lin" valueType="num">
                                      <p:cBhvr>
                                        <p:cTn id="37" dur="1000" fill="hold"/>
                                        <p:tgtEl>
                                          <p:spTgt spid="1044"/>
                                        </p:tgtEl>
                                        <p:attrNameLst>
                                          <p:attrName>ppt_x</p:attrName>
                                        </p:attrNameLst>
                                      </p:cBhvr>
                                      <p:tavLst>
                                        <p:tav tm="0">
                                          <p:val>
                                            <p:strVal val="#ppt_x"/>
                                          </p:val>
                                        </p:tav>
                                        <p:tav tm="100000">
                                          <p:val>
                                            <p:strVal val="#ppt_x"/>
                                          </p:val>
                                        </p:tav>
                                      </p:tavLst>
                                    </p:anim>
                                    <p:anim calcmode="lin" valueType="num">
                                      <p:cBhvr>
                                        <p:cTn id="38" dur="1000" fill="hold"/>
                                        <p:tgtEl>
                                          <p:spTgt spid="1044"/>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622600"/>
                                        </p:tgtEl>
                                        <p:attrNameLst>
                                          <p:attrName>style.visibility</p:attrName>
                                        </p:attrNameLst>
                                      </p:cBhvr>
                                      <p:to>
                                        <p:strVal val="visible"/>
                                      </p:to>
                                    </p:set>
                                    <p:animEffect transition="in" filter="fade">
                                      <p:cBhvr>
                                        <p:cTn id="41" dur="1000"/>
                                        <p:tgtEl>
                                          <p:spTgt spid="622600"/>
                                        </p:tgtEl>
                                      </p:cBhvr>
                                    </p:animEffect>
                                    <p:anim calcmode="lin" valueType="num">
                                      <p:cBhvr>
                                        <p:cTn id="42" dur="1000" fill="hold"/>
                                        <p:tgtEl>
                                          <p:spTgt spid="622600"/>
                                        </p:tgtEl>
                                        <p:attrNameLst>
                                          <p:attrName>ppt_x</p:attrName>
                                        </p:attrNameLst>
                                      </p:cBhvr>
                                      <p:tavLst>
                                        <p:tav tm="0">
                                          <p:val>
                                            <p:strVal val="#ppt_x"/>
                                          </p:val>
                                        </p:tav>
                                        <p:tav tm="100000">
                                          <p:val>
                                            <p:strVal val="#ppt_x"/>
                                          </p:val>
                                        </p:tav>
                                      </p:tavLst>
                                    </p:anim>
                                    <p:anim calcmode="lin" valueType="num">
                                      <p:cBhvr>
                                        <p:cTn id="43" dur="1000" fill="hold"/>
                                        <p:tgtEl>
                                          <p:spTgt spid="62260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45"/>
                                        </p:tgtEl>
                                        <p:attrNameLst>
                                          <p:attrName>style.visibility</p:attrName>
                                        </p:attrNameLst>
                                      </p:cBhvr>
                                      <p:to>
                                        <p:strVal val="visible"/>
                                      </p:to>
                                    </p:set>
                                    <p:animEffect transition="in" filter="fade">
                                      <p:cBhvr>
                                        <p:cTn id="46" dur="1000"/>
                                        <p:tgtEl>
                                          <p:spTgt spid="1045"/>
                                        </p:tgtEl>
                                      </p:cBhvr>
                                    </p:animEffect>
                                    <p:anim calcmode="lin" valueType="num">
                                      <p:cBhvr>
                                        <p:cTn id="47" dur="1000" fill="hold"/>
                                        <p:tgtEl>
                                          <p:spTgt spid="1045"/>
                                        </p:tgtEl>
                                        <p:attrNameLst>
                                          <p:attrName>ppt_x</p:attrName>
                                        </p:attrNameLst>
                                      </p:cBhvr>
                                      <p:tavLst>
                                        <p:tav tm="0">
                                          <p:val>
                                            <p:strVal val="#ppt_x"/>
                                          </p:val>
                                        </p:tav>
                                        <p:tav tm="100000">
                                          <p:val>
                                            <p:strVal val="#ppt_x"/>
                                          </p:val>
                                        </p:tav>
                                      </p:tavLst>
                                    </p:anim>
                                    <p:anim calcmode="lin" valueType="num">
                                      <p:cBhvr>
                                        <p:cTn id="48" dur="1000" fill="hold"/>
                                        <p:tgtEl>
                                          <p:spTgt spid="10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3" grpId="0"/>
      <p:bldP spid="1044" grpId="0"/>
      <p:bldP spid="1045"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3" name="Text Box 11"/>
          <p:cNvSpPr txBox="1">
            <a:spLocks noChangeArrowheads="1"/>
          </p:cNvSpPr>
          <p:nvPr/>
        </p:nvSpPr>
        <p:spPr bwMode="auto">
          <a:xfrm>
            <a:off x="642938" y="571500"/>
            <a:ext cx="6911975" cy="738664"/>
          </a:xfrm>
          <a:prstGeom prst="rect">
            <a:avLst/>
          </a:prstGeom>
          <a:noFill/>
          <a:ln w="9525">
            <a:noFill/>
            <a:miter lim="800000"/>
            <a:headEnd/>
            <a:tailEnd/>
          </a:ln>
        </p:spPr>
        <p:txBody>
          <a:bodyPr>
            <a:spAutoFit/>
          </a:bodyPr>
          <a:lstStyle/>
          <a:p>
            <a:pPr>
              <a:lnSpc>
                <a:spcPct val="150000"/>
              </a:lnSpc>
              <a:spcBef>
                <a:spcPct val="50000"/>
              </a:spcBef>
            </a:pPr>
            <a:r>
              <a:rPr lang="en-US" altLang="zh-CN" sz="2800" b="1" dirty="0">
                <a:solidFill>
                  <a:schemeClr val="bg1"/>
                </a:solidFill>
                <a:latin typeface="楷体_GB2312" pitchFamily="49" charset="-122"/>
                <a:ea typeface="楷体_GB2312" pitchFamily="49" charset="-122"/>
              </a:rPr>
              <a:t> </a:t>
            </a:r>
            <a:r>
              <a:rPr lang="zh-CN" altLang="en-US" sz="2800" b="1" dirty="0">
                <a:solidFill>
                  <a:schemeClr val="bg1"/>
                </a:solidFill>
                <a:latin typeface="楷体_GB2312" pitchFamily="49" charset="-122"/>
                <a:ea typeface="楷体_GB2312" pitchFamily="49" charset="-122"/>
              </a:rPr>
              <a:t>阻抗的共轭匹配</a:t>
            </a:r>
            <a:endParaRPr lang="zh-CN" altLang="en-US" sz="2800" b="1" dirty="0">
              <a:solidFill>
                <a:schemeClr val="bg1"/>
              </a:solidFill>
              <a:latin typeface="隶书"/>
              <a:ea typeface="隶书"/>
              <a:cs typeface="隶书"/>
            </a:endParaRPr>
          </a:p>
        </p:txBody>
      </p:sp>
      <p:pic>
        <p:nvPicPr>
          <p:cNvPr id="50184" name="Picture 16"/>
          <p:cNvPicPr>
            <a:picLocks noChangeAspect="1" noChangeArrowheads="1"/>
          </p:cNvPicPr>
          <p:nvPr/>
        </p:nvPicPr>
        <p:blipFill>
          <a:blip r:embed="rId3"/>
          <a:srcRect/>
          <a:stretch>
            <a:fillRect/>
          </a:stretch>
        </p:blipFill>
        <p:spPr bwMode="auto">
          <a:xfrm>
            <a:off x="4071938" y="1435313"/>
            <a:ext cx="4927351" cy="1960344"/>
          </a:xfrm>
          <a:prstGeom prst="rect">
            <a:avLst/>
          </a:prstGeom>
          <a:noFill/>
          <a:ln w="9525">
            <a:noFill/>
            <a:miter lim="800000"/>
            <a:headEnd/>
            <a:tailEnd/>
          </a:ln>
        </p:spPr>
      </p:pic>
      <p:graphicFrame>
        <p:nvGraphicFramePr>
          <p:cNvPr id="54280" name="Object 8"/>
          <p:cNvGraphicFramePr>
            <a:graphicFrameLocks noChangeAspect="1"/>
          </p:cNvGraphicFramePr>
          <p:nvPr>
            <p:extLst>
              <p:ext uri="{D42A27DB-BD31-4B8C-83A1-F6EECF244321}">
                <p14:modId xmlns:p14="http://schemas.microsoft.com/office/powerpoint/2010/main" val="4160252405"/>
              </p:ext>
            </p:extLst>
          </p:nvPr>
        </p:nvGraphicFramePr>
        <p:xfrm>
          <a:off x="2397125" y="2932113"/>
          <a:ext cx="3935413" cy="2225675"/>
        </p:xfrm>
        <a:graphic>
          <a:graphicData uri="http://schemas.openxmlformats.org/presentationml/2006/ole">
            <mc:AlternateContent xmlns:mc="http://schemas.openxmlformats.org/markup-compatibility/2006">
              <mc:Choice xmlns:v="urn:schemas-microsoft-com:vml" Requires="v">
                <p:oleObj spid="_x0000_s94232" name="Equation" r:id="rId4" imgW="2311200" imgH="1269720" progId="Equation.DSMT4">
                  <p:embed/>
                </p:oleObj>
              </mc:Choice>
              <mc:Fallback>
                <p:oleObj name="Equation" r:id="rId4" imgW="2311200" imgH="1269720" progId="Equation.DSMT4">
                  <p:embed/>
                  <p:pic>
                    <p:nvPicPr>
                      <p:cNvPr id="0" name="Object 8"/>
                      <p:cNvPicPr>
                        <a:picLocks noChangeAspect="1" noChangeArrowheads="1"/>
                      </p:cNvPicPr>
                      <p:nvPr/>
                    </p:nvPicPr>
                    <p:blipFill>
                      <a:blip r:embed="rId5"/>
                      <a:srcRect/>
                      <a:stretch>
                        <a:fillRect/>
                      </a:stretch>
                    </p:blipFill>
                    <p:spPr bwMode="auto">
                      <a:xfrm>
                        <a:off x="2397125" y="2932113"/>
                        <a:ext cx="3935413" cy="222567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pic>
        <p:nvPicPr>
          <p:cNvPr id="50185" name="Picture 10"/>
          <p:cNvPicPr>
            <a:picLocks noChangeAspect="1" noChangeArrowheads="1"/>
          </p:cNvPicPr>
          <p:nvPr/>
        </p:nvPicPr>
        <p:blipFill>
          <a:blip r:embed="rId6"/>
          <a:srcRect/>
          <a:stretch>
            <a:fillRect/>
          </a:stretch>
        </p:blipFill>
        <p:spPr bwMode="auto">
          <a:xfrm>
            <a:off x="642939" y="5184687"/>
            <a:ext cx="2560910" cy="1092288"/>
          </a:xfrm>
          <a:prstGeom prst="rect">
            <a:avLst/>
          </a:prstGeom>
          <a:noFill/>
          <a:ln w="9525">
            <a:noFill/>
            <a:miter lim="800000"/>
            <a:headEnd/>
            <a:tailEnd/>
          </a:ln>
        </p:spPr>
      </p:pic>
      <p:pic>
        <p:nvPicPr>
          <p:cNvPr id="50186" name="Picture 11"/>
          <p:cNvPicPr>
            <a:picLocks noChangeAspect="1" noChangeArrowheads="1"/>
          </p:cNvPicPr>
          <p:nvPr/>
        </p:nvPicPr>
        <p:blipFill>
          <a:blip r:embed="rId7"/>
          <a:srcRect/>
          <a:stretch>
            <a:fillRect/>
          </a:stretch>
        </p:blipFill>
        <p:spPr bwMode="auto">
          <a:xfrm>
            <a:off x="4071938" y="4916193"/>
            <a:ext cx="4244478" cy="1589382"/>
          </a:xfrm>
          <a:prstGeom prst="rect">
            <a:avLst/>
          </a:prstGeom>
          <a:noFill/>
          <a:ln w="9525">
            <a:noFill/>
            <a:miter lim="800000"/>
            <a:headEnd/>
            <a:tailEnd/>
          </a:ln>
        </p:spPr>
      </p:pic>
      <p:sp>
        <p:nvSpPr>
          <p:cNvPr id="8" name="Text Box 5"/>
          <p:cNvSpPr txBox="1">
            <a:spLocks noChangeArrowheads="1"/>
          </p:cNvSpPr>
          <p:nvPr/>
        </p:nvSpPr>
        <p:spPr bwMode="auto">
          <a:xfrm>
            <a:off x="570533" y="1500412"/>
            <a:ext cx="3528392" cy="1938992"/>
          </a:xfrm>
          <a:prstGeom prst="rect">
            <a:avLst/>
          </a:prstGeom>
          <a:noFill/>
          <a:ln w="9525">
            <a:noFill/>
            <a:miter lim="800000"/>
            <a:headEnd/>
            <a:tailEnd/>
          </a:ln>
        </p:spPr>
        <p:txBody>
          <a:bodyPr wrap="square">
            <a:spAutoFit/>
          </a:bodyPr>
          <a:lstStyle/>
          <a:p>
            <a:pPr>
              <a:spcBef>
                <a:spcPct val="50000"/>
              </a:spcBef>
            </a:pPr>
            <a:r>
              <a:rPr kumimoji="1" lang="zh-CN" altLang="en-US" sz="2400" b="1" dirty="0">
                <a:solidFill>
                  <a:srgbClr val="FF0000"/>
                </a:solidFill>
                <a:latin typeface="楷体_GB2312" pitchFamily="49" charset="-122"/>
                <a:ea typeface="楷体_GB2312" pitchFamily="49" charset="-122"/>
              </a:rPr>
              <a:t>为使负载电阻从含源单口网络中获得最大功率，需要设计一个由电抗元件组成的网络来满足共轭匹配条件。</a:t>
            </a:r>
            <a:r>
              <a:rPr kumimoji="1" lang="zh-CN" altLang="en-US" sz="2400" b="1" dirty="0">
                <a:solidFill>
                  <a:srgbClr val="FF0000"/>
                </a:solidFill>
                <a:latin typeface="隶书"/>
                <a:ea typeface="隶书"/>
                <a:cs typeface="隶书"/>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3"/>
          <p:cNvPicPr>
            <a:picLocks noChangeAspect="1" noChangeArrowheads="1"/>
          </p:cNvPicPr>
          <p:nvPr/>
        </p:nvPicPr>
        <p:blipFill>
          <a:blip r:embed="rId2"/>
          <a:srcRect/>
          <a:stretch>
            <a:fillRect/>
          </a:stretch>
        </p:blipFill>
        <p:spPr bwMode="auto">
          <a:xfrm>
            <a:off x="4143375" y="1643063"/>
            <a:ext cx="4581525" cy="1685925"/>
          </a:xfrm>
          <a:prstGeom prst="rect">
            <a:avLst/>
          </a:prstGeom>
          <a:noFill/>
          <a:ln w="9525">
            <a:noFill/>
            <a:miter lim="800000"/>
            <a:headEnd/>
            <a:tailEnd/>
          </a:ln>
        </p:spPr>
      </p:pic>
      <p:sp>
        <p:nvSpPr>
          <p:cNvPr id="51202" name="矩形 1"/>
          <p:cNvSpPr>
            <a:spLocks noChangeArrowheads="1"/>
          </p:cNvSpPr>
          <p:nvPr/>
        </p:nvSpPr>
        <p:spPr bwMode="auto">
          <a:xfrm>
            <a:off x="857250" y="857250"/>
            <a:ext cx="7200900" cy="523875"/>
          </a:xfrm>
          <a:prstGeom prst="rect">
            <a:avLst/>
          </a:prstGeom>
          <a:noFill/>
          <a:ln w="9525">
            <a:noFill/>
            <a:miter lim="800000"/>
            <a:headEnd/>
            <a:tailEnd/>
          </a:ln>
        </p:spPr>
        <p:txBody>
          <a:bodyPr wrap="none">
            <a:spAutoFit/>
          </a:bodyPr>
          <a:lstStyle/>
          <a:p>
            <a:pPr marL="514350" indent="-514350">
              <a:buFont typeface="Wingdings" pitchFamily="2" charset="2"/>
              <a:buChar char="p"/>
            </a:pPr>
            <a:r>
              <a:rPr lang="zh-CN" altLang="en-US" sz="2800" b="1">
                <a:latin typeface="楷体"/>
                <a:ea typeface="楷体_GB2312" pitchFamily="49" charset="-122"/>
              </a:rPr>
              <a:t>图示</a:t>
            </a:r>
            <a:r>
              <a:rPr lang="en-US" altLang="zh-CN" sz="2800" b="1">
                <a:latin typeface="楷体"/>
                <a:ea typeface="楷体_GB2312" pitchFamily="49" charset="-122"/>
              </a:rPr>
              <a:t>ab</a:t>
            </a:r>
            <a:r>
              <a:rPr lang="zh-CN" altLang="en-US" sz="2800" b="1">
                <a:latin typeface="楷体"/>
                <a:ea typeface="楷体_GB2312" pitchFamily="49" charset="-122"/>
              </a:rPr>
              <a:t>端口单口网络</a:t>
            </a:r>
            <a:r>
              <a:rPr lang="en-US" altLang="zh-CN" sz="2800" b="1">
                <a:latin typeface="楷体"/>
                <a:ea typeface="楷体_GB2312" pitchFamily="49" charset="-122"/>
              </a:rPr>
              <a:t>1kHz</a:t>
            </a:r>
            <a:r>
              <a:rPr lang="zh-CN" altLang="en-US" sz="2800" b="1">
                <a:latin typeface="楷体"/>
                <a:ea typeface="楷体_GB2312" pitchFamily="49" charset="-122"/>
              </a:rPr>
              <a:t>的阻抗仿真测试</a:t>
            </a:r>
          </a:p>
        </p:txBody>
      </p:sp>
      <p:sp>
        <p:nvSpPr>
          <p:cNvPr id="51203" name="矩形 4"/>
          <p:cNvSpPr>
            <a:spLocks noChangeArrowheads="1"/>
          </p:cNvSpPr>
          <p:nvPr/>
        </p:nvSpPr>
        <p:spPr bwMode="auto">
          <a:xfrm>
            <a:off x="642938" y="1571625"/>
            <a:ext cx="3429000" cy="2062163"/>
          </a:xfrm>
          <a:prstGeom prst="rect">
            <a:avLst/>
          </a:prstGeom>
          <a:noFill/>
          <a:ln w="9525">
            <a:noFill/>
            <a:miter lim="800000"/>
            <a:headEnd/>
            <a:tailEnd/>
          </a:ln>
        </p:spPr>
        <p:txBody>
          <a:bodyPr>
            <a:spAutoFit/>
          </a:bodyPr>
          <a:lstStyle/>
          <a:p>
            <a:r>
              <a:rPr kumimoji="1" lang="zh-CN" altLang="en-US" sz="2400" b="1">
                <a:latin typeface="楷体_GB2312" pitchFamily="49" charset="-122"/>
                <a:ea typeface="楷体_GB2312" pitchFamily="49" charset="-122"/>
              </a:rPr>
              <a:t>（</a:t>
            </a:r>
            <a:r>
              <a:rPr kumimoji="1" lang="en-US" altLang="zh-CN" sz="2400" b="1">
                <a:latin typeface="楷体_GB2312" pitchFamily="49" charset="-122"/>
                <a:ea typeface="楷体_GB2312" pitchFamily="49" charset="-122"/>
              </a:rPr>
              <a:t>1</a:t>
            </a:r>
            <a:r>
              <a:rPr kumimoji="1" lang="zh-CN" altLang="en-US" sz="2400" b="1">
                <a:latin typeface="楷体_GB2312" pitchFamily="49" charset="-122"/>
                <a:ea typeface="楷体_GB2312" pitchFamily="49" charset="-122"/>
              </a:rPr>
              <a:t>）添加探针</a:t>
            </a:r>
            <a:endParaRPr kumimoji="1" lang="en-US" altLang="zh-CN" sz="2400" b="1">
              <a:latin typeface="楷体_GB2312" pitchFamily="49" charset="-122"/>
              <a:ea typeface="楷体_GB2312" pitchFamily="49" charset="-122"/>
            </a:endParaRPr>
          </a:p>
          <a:p>
            <a:r>
              <a:rPr kumimoji="1" lang="zh-CN" altLang="en-US" sz="2400" b="1">
                <a:latin typeface="Times New Roman" pitchFamily="18" charset="0"/>
                <a:ea typeface="楷体_GB2312" pitchFamily="49" charset="-122"/>
                <a:cs typeface="Times New Roman" pitchFamily="18" charset="0"/>
              </a:rPr>
              <a:t>（</a:t>
            </a:r>
            <a:r>
              <a:rPr kumimoji="1" lang="en-US" altLang="zh-CN" sz="2400" b="1">
                <a:latin typeface="Times New Roman" pitchFamily="18" charset="0"/>
                <a:ea typeface="楷体_GB2312" pitchFamily="49" charset="-122"/>
                <a:cs typeface="Times New Roman" pitchFamily="18" charset="0"/>
              </a:rPr>
              <a:t>2</a:t>
            </a:r>
            <a:r>
              <a:rPr kumimoji="1" lang="zh-CN" altLang="en-US" sz="2400" b="1">
                <a:latin typeface="Times New Roman" pitchFamily="18" charset="0"/>
                <a:ea typeface="楷体_GB2312" pitchFamily="49" charset="-122"/>
                <a:cs typeface="Times New Roman" pitchFamily="18" charset="0"/>
              </a:rPr>
              <a:t>）</a:t>
            </a:r>
            <a:r>
              <a:rPr kumimoji="1" lang="zh-CN" altLang="en-US" sz="2400" b="1">
                <a:latin typeface="Candara" pitchFamily="34" charset="0"/>
                <a:ea typeface="楷体_GB2312" pitchFamily="49" charset="-122"/>
              </a:rPr>
              <a:t>单频交流分析</a:t>
            </a:r>
            <a:endParaRPr kumimoji="1" lang="en-US" altLang="zh-CN" sz="2400" b="1">
              <a:latin typeface="Candara" pitchFamily="34" charset="0"/>
              <a:ea typeface="楷体_GB2312" pitchFamily="49" charset="-122"/>
            </a:endParaRPr>
          </a:p>
          <a:p>
            <a:pPr>
              <a:buFont typeface="Arial" charset="0"/>
              <a:buChar char="•"/>
            </a:pPr>
            <a:r>
              <a:rPr kumimoji="1" lang="zh-CN" altLang="en-US" sz="2000" b="1">
                <a:latin typeface="Candara" pitchFamily="34" charset="0"/>
                <a:ea typeface="楷体_GB2312" pitchFamily="49" charset="-122"/>
              </a:rPr>
              <a:t>     频率参数：</a:t>
            </a:r>
            <a:r>
              <a:rPr kumimoji="1" lang="en-US" altLang="zh-CN" sz="2000" b="1">
                <a:latin typeface="Times New Roman" pitchFamily="18" charset="0"/>
                <a:ea typeface="楷体_GB2312" pitchFamily="49" charset="-122"/>
              </a:rPr>
              <a:t>1kHz</a:t>
            </a:r>
          </a:p>
          <a:p>
            <a:pPr>
              <a:buFont typeface="Arial" charset="0"/>
              <a:buChar char="•"/>
            </a:pPr>
            <a:r>
              <a:rPr kumimoji="1" lang="zh-CN" altLang="en-US" sz="2000" b="1">
                <a:latin typeface="Times New Roman" pitchFamily="18" charset="0"/>
                <a:ea typeface="楷体_GB2312" pitchFamily="49" charset="-122"/>
              </a:rPr>
              <a:t>    输出：添加</a:t>
            </a:r>
            <a:r>
              <a:rPr kumimoji="1" lang="en-US" altLang="zh-CN" sz="2000" b="1">
                <a:latin typeface="Times New Roman" pitchFamily="18" charset="0"/>
                <a:ea typeface="楷体_GB2312" pitchFamily="49" charset="-122"/>
              </a:rPr>
              <a:t>Z</a:t>
            </a:r>
            <a:r>
              <a:rPr kumimoji="1" lang="zh-CN" altLang="en-US" sz="2000" b="1">
                <a:latin typeface="Times New Roman" pitchFamily="18" charset="0"/>
                <a:ea typeface="楷体_GB2312" pitchFamily="49" charset="-122"/>
              </a:rPr>
              <a:t>表达式</a:t>
            </a:r>
            <a:endParaRPr kumimoji="1" lang="en-US" altLang="zh-CN" sz="2000" b="1">
              <a:latin typeface="Times New Roman" pitchFamily="18" charset="0"/>
              <a:ea typeface="楷体_GB2312" pitchFamily="49" charset="-122"/>
            </a:endParaRPr>
          </a:p>
          <a:p>
            <a:pPr>
              <a:buFont typeface="Arial" charset="0"/>
              <a:buChar char="•"/>
            </a:pPr>
            <a:r>
              <a:rPr kumimoji="1" lang="en-US" altLang="zh-CN" sz="2000" b="1">
                <a:latin typeface="Times New Roman" pitchFamily="18" charset="0"/>
                <a:ea typeface="楷体_GB2312" pitchFamily="49" charset="-122"/>
              </a:rPr>
              <a:t>     V</a:t>
            </a:r>
            <a:r>
              <a:rPr kumimoji="1" lang="zh-CN" altLang="en-US" sz="2000" b="1">
                <a:latin typeface="Times New Roman" pitchFamily="18" charset="0"/>
                <a:ea typeface="楷体_GB2312" pitchFamily="49" charset="-122"/>
              </a:rPr>
              <a:t>（探针</a:t>
            </a:r>
            <a:r>
              <a:rPr kumimoji="1" lang="en-US" altLang="zh-CN" sz="2000" b="1">
                <a:latin typeface="Times New Roman" pitchFamily="18" charset="0"/>
                <a:ea typeface="楷体_GB2312" pitchFamily="49" charset="-122"/>
              </a:rPr>
              <a:t>1</a:t>
            </a:r>
            <a:r>
              <a:rPr kumimoji="1" lang="zh-CN" altLang="en-US" sz="2000" b="1">
                <a:latin typeface="Times New Roman" pitchFamily="18" charset="0"/>
                <a:ea typeface="楷体_GB2312" pitchFamily="49" charset="-122"/>
              </a:rPr>
              <a:t>）</a:t>
            </a:r>
            <a:r>
              <a:rPr kumimoji="1" lang="en-US" altLang="zh-CN" sz="2000" b="1">
                <a:latin typeface="Times New Roman" pitchFamily="18" charset="0"/>
                <a:ea typeface="楷体_GB2312" pitchFamily="49" charset="-122"/>
              </a:rPr>
              <a:t>/I(</a:t>
            </a:r>
            <a:r>
              <a:rPr kumimoji="1" lang="zh-CN" altLang="en-US" sz="2000" b="1">
                <a:latin typeface="Times New Roman" pitchFamily="18" charset="0"/>
                <a:ea typeface="楷体_GB2312" pitchFamily="49" charset="-122"/>
              </a:rPr>
              <a:t>探针</a:t>
            </a:r>
            <a:r>
              <a:rPr kumimoji="1" lang="en-US" altLang="zh-CN" sz="2000" b="1">
                <a:latin typeface="Times New Roman" pitchFamily="18" charset="0"/>
                <a:ea typeface="楷体_GB2312" pitchFamily="49" charset="-122"/>
              </a:rPr>
              <a:t>1)</a:t>
            </a:r>
          </a:p>
          <a:p>
            <a:pPr>
              <a:buFont typeface="Arial" charset="0"/>
              <a:buChar char="•"/>
            </a:pPr>
            <a:r>
              <a:rPr kumimoji="1" lang="en-US" altLang="zh-CN" sz="2000" b="1">
                <a:latin typeface="Times New Roman" pitchFamily="18" charset="0"/>
                <a:ea typeface="楷体_GB2312" pitchFamily="49" charset="-122"/>
              </a:rPr>
              <a:t>     </a:t>
            </a:r>
            <a:r>
              <a:rPr kumimoji="1" lang="zh-CN" altLang="en-US" sz="2000" b="1">
                <a:latin typeface="Times New Roman" pitchFamily="18" charset="0"/>
                <a:ea typeface="楷体_GB2312" pitchFamily="49" charset="-122"/>
              </a:rPr>
              <a:t>仿真</a:t>
            </a:r>
            <a:endParaRPr lang="zh-CN" altLang="en-US" sz="2400">
              <a:latin typeface="Times New Roman" pitchFamily="18" charset="0"/>
              <a:ea typeface="楷体_GB2312" pitchFamily="49" charset="-122"/>
            </a:endParaRPr>
          </a:p>
        </p:txBody>
      </p:sp>
      <p:pic>
        <p:nvPicPr>
          <p:cNvPr id="51204" name="Picture 4"/>
          <p:cNvPicPr>
            <a:picLocks noChangeAspect="1" noChangeArrowheads="1"/>
          </p:cNvPicPr>
          <p:nvPr/>
        </p:nvPicPr>
        <p:blipFill>
          <a:blip r:embed="rId3"/>
          <a:srcRect/>
          <a:stretch>
            <a:fillRect/>
          </a:stretch>
        </p:blipFill>
        <p:spPr bwMode="auto">
          <a:xfrm>
            <a:off x="714375" y="4000500"/>
            <a:ext cx="3200400" cy="2857500"/>
          </a:xfrm>
          <a:prstGeom prst="rect">
            <a:avLst/>
          </a:prstGeom>
          <a:noFill/>
          <a:ln w="9525">
            <a:noFill/>
            <a:miter lim="800000"/>
            <a:headEnd/>
            <a:tailEnd/>
          </a:ln>
        </p:spPr>
      </p:pic>
      <p:pic>
        <p:nvPicPr>
          <p:cNvPr id="51205" name="Picture 5"/>
          <p:cNvPicPr>
            <a:picLocks noChangeAspect="1" noChangeArrowheads="1"/>
          </p:cNvPicPr>
          <p:nvPr/>
        </p:nvPicPr>
        <p:blipFill>
          <a:blip r:embed="rId4"/>
          <a:srcRect/>
          <a:stretch>
            <a:fillRect/>
          </a:stretch>
        </p:blipFill>
        <p:spPr bwMode="auto">
          <a:xfrm>
            <a:off x="4214813" y="4071938"/>
            <a:ext cx="4379912" cy="17145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blinds(horizontal)">
                                      <p:cBhvr>
                                        <p:cTn id="7" dur="500"/>
                                        <p:tgtEl>
                                          <p:spTgt spid="512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05"/>
                                        </p:tgtEl>
                                        <p:attrNameLst>
                                          <p:attrName>style.visibility</p:attrName>
                                        </p:attrNameLst>
                                      </p:cBhvr>
                                      <p:to>
                                        <p:strVal val="visible"/>
                                      </p:to>
                                    </p:set>
                                    <p:animEffect transition="in" filter="blinds(horizontal)">
                                      <p:cBhvr>
                                        <p:cTn id="12" dur="500"/>
                                        <p:tgtEl>
                                          <p:spTgt spid="51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2"/>
          <p:cNvPicPr>
            <a:picLocks noChangeAspect="1" noChangeArrowheads="1"/>
          </p:cNvPicPr>
          <p:nvPr/>
        </p:nvPicPr>
        <p:blipFill>
          <a:blip r:embed="rId2"/>
          <a:srcRect/>
          <a:stretch>
            <a:fillRect/>
          </a:stretch>
        </p:blipFill>
        <p:spPr bwMode="auto">
          <a:xfrm>
            <a:off x="4071938" y="4071938"/>
            <a:ext cx="5324475" cy="2314575"/>
          </a:xfrm>
          <a:prstGeom prst="rect">
            <a:avLst/>
          </a:prstGeom>
          <a:noFill/>
          <a:ln w="9525">
            <a:noFill/>
            <a:miter lim="800000"/>
            <a:headEnd/>
            <a:tailEnd/>
          </a:ln>
        </p:spPr>
      </p:pic>
      <p:pic>
        <p:nvPicPr>
          <p:cNvPr id="52226" name="Picture 3"/>
          <p:cNvPicPr>
            <a:picLocks noChangeAspect="1" noChangeArrowheads="1"/>
          </p:cNvPicPr>
          <p:nvPr/>
        </p:nvPicPr>
        <p:blipFill>
          <a:blip r:embed="rId3"/>
          <a:srcRect/>
          <a:stretch>
            <a:fillRect/>
          </a:stretch>
        </p:blipFill>
        <p:spPr bwMode="auto">
          <a:xfrm>
            <a:off x="4357688" y="1357313"/>
            <a:ext cx="4581525" cy="1685925"/>
          </a:xfrm>
          <a:prstGeom prst="rect">
            <a:avLst/>
          </a:prstGeom>
          <a:noFill/>
          <a:ln w="9525">
            <a:noFill/>
            <a:miter lim="800000"/>
            <a:headEnd/>
            <a:tailEnd/>
          </a:ln>
        </p:spPr>
      </p:pic>
      <p:pic>
        <p:nvPicPr>
          <p:cNvPr id="52227" name="Picture 7"/>
          <p:cNvPicPr>
            <a:picLocks noChangeAspect="1" noChangeArrowheads="1"/>
          </p:cNvPicPr>
          <p:nvPr/>
        </p:nvPicPr>
        <p:blipFill>
          <a:blip r:embed="rId4"/>
          <a:srcRect/>
          <a:stretch>
            <a:fillRect/>
          </a:stretch>
        </p:blipFill>
        <p:spPr bwMode="auto">
          <a:xfrm>
            <a:off x="0" y="1143000"/>
            <a:ext cx="4286250" cy="5305425"/>
          </a:xfrm>
          <a:prstGeom prst="rect">
            <a:avLst/>
          </a:prstGeom>
          <a:noFill/>
          <a:ln w="9525">
            <a:noFill/>
            <a:miter lim="800000"/>
            <a:headEnd/>
            <a:tailEnd/>
          </a:ln>
        </p:spPr>
      </p:pic>
      <p:sp>
        <p:nvSpPr>
          <p:cNvPr id="9" name="椭圆 8"/>
          <p:cNvSpPr/>
          <p:nvPr/>
        </p:nvSpPr>
        <p:spPr>
          <a:xfrm>
            <a:off x="1643063" y="3286125"/>
            <a:ext cx="1071562" cy="28575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椭圆 9"/>
          <p:cNvSpPr/>
          <p:nvPr/>
        </p:nvSpPr>
        <p:spPr>
          <a:xfrm>
            <a:off x="285750" y="5929313"/>
            <a:ext cx="1000125" cy="357187"/>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230" name="矩形 10"/>
          <p:cNvSpPr>
            <a:spLocks noChangeArrowheads="1"/>
          </p:cNvSpPr>
          <p:nvPr/>
        </p:nvSpPr>
        <p:spPr bwMode="auto">
          <a:xfrm>
            <a:off x="4929188" y="3357563"/>
            <a:ext cx="3357562" cy="523875"/>
          </a:xfrm>
          <a:prstGeom prst="rect">
            <a:avLst/>
          </a:prstGeom>
          <a:noFill/>
          <a:ln w="9525">
            <a:noFill/>
            <a:miter lim="800000"/>
            <a:headEnd/>
            <a:tailEnd/>
          </a:ln>
        </p:spPr>
        <p:txBody>
          <a:bodyPr>
            <a:spAutoFit/>
          </a:bodyPr>
          <a:lstStyle/>
          <a:p>
            <a:r>
              <a:rPr kumimoji="1" lang="en-US" altLang="zh-CN" sz="2800" b="1" i="1">
                <a:solidFill>
                  <a:srgbClr val="FF0000"/>
                </a:solidFill>
                <a:latin typeface="Times New Roman" pitchFamily="18" charset="0"/>
                <a:ea typeface="楷体_GB2312" pitchFamily="49" charset="-122"/>
                <a:cs typeface="Times New Roman" pitchFamily="18" charset="0"/>
              </a:rPr>
              <a:t>Z</a:t>
            </a:r>
            <a:r>
              <a:rPr kumimoji="1" lang="en-US" altLang="zh-CN" sz="2800" b="1">
                <a:solidFill>
                  <a:srgbClr val="FF0000"/>
                </a:solidFill>
                <a:latin typeface="Times New Roman" pitchFamily="18" charset="0"/>
                <a:ea typeface="楷体_GB2312" pitchFamily="49" charset="-122"/>
                <a:cs typeface="Times New Roman" pitchFamily="18" charset="0"/>
              </a:rPr>
              <a:t>=150.39+</a:t>
            </a:r>
            <a:r>
              <a:rPr kumimoji="1" lang="en-US" altLang="zh-CN" sz="2800" b="1" i="1">
                <a:solidFill>
                  <a:srgbClr val="FF0000"/>
                </a:solidFill>
                <a:latin typeface="Times New Roman" pitchFamily="18" charset="0"/>
                <a:ea typeface="楷体_GB2312" pitchFamily="49" charset="-122"/>
                <a:cs typeface="Times New Roman" pitchFamily="18" charset="0"/>
              </a:rPr>
              <a:t>j</a:t>
            </a:r>
            <a:r>
              <a:rPr kumimoji="1" lang="en-US" altLang="zh-CN" sz="2800" b="1">
                <a:solidFill>
                  <a:srgbClr val="FF0000"/>
                </a:solidFill>
                <a:latin typeface="Times New Roman" pitchFamily="18" charset="0"/>
                <a:ea typeface="楷体_GB2312" pitchFamily="49" charset="-122"/>
                <a:cs typeface="Times New Roman" pitchFamily="18" charset="0"/>
              </a:rPr>
              <a:t>25.10</a:t>
            </a:r>
            <a:endParaRPr lang="zh-CN" altLang="en-US" sz="3200">
              <a:solidFill>
                <a:srgbClr val="FF0000"/>
              </a:solidFill>
              <a:latin typeface="Times New Roman" pitchFamily="18" charset="0"/>
              <a:ea typeface="楷体_GB2312" pitchFamily="49" charset="-122"/>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内容占位符 1"/>
          <p:cNvSpPr>
            <a:spLocks noGrp="1"/>
          </p:cNvSpPr>
          <p:nvPr>
            <p:ph idx="1"/>
          </p:nvPr>
        </p:nvSpPr>
        <p:spPr>
          <a:xfrm>
            <a:off x="500063" y="571500"/>
            <a:ext cx="3643312" cy="571500"/>
          </a:xfrm>
        </p:spPr>
        <p:txBody>
          <a:bodyPr/>
          <a:lstStyle/>
          <a:p>
            <a:pPr eaLnBrk="1" hangingPunct="1"/>
            <a:r>
              <a:rPr lang="zh-CN" altLang="en-US" dirty="0"/>
              <a:t>三、实验内容</a:t>
            </a:r>
            <a:endParaRPr lang="zh-CN" altLang="en-US" sz="3100" dirty="0"/>
          </a:p>
        </p:txBody>
      </p:sp>
      <p:sp>
        <p:nvSpPr>
          <p:cNvPr id="57346" name="矩形 3"/>
          <p:cNvSpPr>
            <a:spLocks noChangeArrowheads="1"/>
          </p:cNvSpPr>
          <p:nvPr/>
        </p:nvSpPr>
        <p:spPr bwMode="auto">
          <a:xfrm>
            <a:off x="1245567" y="5396264"/>
            <a:ext cx="647700" cy="338554"/>
          </a:xfrm>
          <a:prstGeom prst="rect">
            <a:avLst/>
          </a:prstGeom>
          <a:noFill/>
          <a:ln w="9525">
            <a:noFill/>
            <a:miter lim="800000"/>
            <a:headEnd/>
            <a:tailEnd/>
          </a:ln>
        </p:spPr>
        <p:txBody>
          <a:bodyPr>
            <a:spAutoFit/>
          </a:bodyPr>
          <a:lstStyle/>
          <a:p>
            <a:r>
              <a:rPr lang="zh-CN" altLang="en-US" sz="1600" b="1" dirty="0">
                <a:latin typeface="Candara" pitchFamily="34" charset="0"/>
                <a:ea typeface="华文楷体"/>
                <a:cs typeface="华文楷体"/>
              </a:rPr>
              <a:t>图</a:t>
            </a:r>
            <a:r>
              <a:rPr lang="en-US" altLang="zh-CN" sz="1600" b="1" dirty="0">
                <a:latin typeface="Candara" pitchFamily="34" charset="0"/>
                <a:ea typeface="华文楷体"/>
                <a:cs typeface="华文楷体"/>
              </a:rPr>
              <a:t>1</a:t>
            </a:r>
            <a:endParaRPr lang="zh-CN" altLang="en-US" sz="1600" b="1" dirty="0">
              <a:latin typeface="Candara" pitchFamily="34" charset="0"/>
              <a:ea typeface="华文楷体"/>
              <a:cs typeface="华文楷体"/>
            </a:endParaRPr>
          </a:p>
        </p:txBody>
      </p:sp>
      <p:sp>
        <p:nvSpPr>
          <p:cNvPr id="57347" name="内容占位符 1"/>
          <p:cNvSpPr txBox="1">
            <a:spLocks/>
          </p:cNvSpPr>
          <p:nvPr/>
        </p:nvSpPr>
        <p:spPr bwMode="auto">
          <a:xfrm>
            <a:off x="571472" y="1214438"/>
            <a:ext cx="8286778" cy="2790626"/>
          </a:xfrm>
          <a:prstGeom prst="rect">
            <a:avLst/>
          </a:prstGeom>
          <a:noFill/>
          <a:ln w="9525">
            <a:noFill/>
            <a:miter lim="800000"/>
            <a:headEnd/>
            <a:tailEnd/>
          </a:ln>
        </p:spPr>
        <p:txBody>
          <a:bodyPr/>
          <a:lstStyle/>
          <a:p>
            <a:pPr marL="273050" indent="-273050">
              <a:lnSpc>
                <a:spcPct val="80000"/>
              </a:lnSpc>
              <a:spcBef>
                <a:spcPct val="20000"/>
              </a:spcBef>
              <a:buClr>
                <a:schemeClr val="accent1"/>
              </a:buClr>
              <a:buSzPct val="100000"/>
              <a:buFont typeface="Symbol" pitchFamily="18" charset="2"/>
              <a:buChar char=""/>
            </a:pPr>
            <a:r>
              <a:rPr lang="en-US" altLang="zh-CN" sz="2200" b="1" dirty="0">
                <a:latin typeface="Times New Roman" pitchFamily="18" charset="0"/>
                <a:ea typeface="华文楷体"/>
                <a:cs typeface="Times New Roman" pitchFamily="18" charset="0"/>
              </a:rPr>
              <a:t>1</a:t>
            </a:r>
            <a:r>
              <a:rPr lang="zh-CN" altLang="en-US" sz="2200" b="1" dirty="0">
                <a:latin typeface="Times New Roman" pitchFamily="18" charset="0"/>
                <a:ea typeface="华文楷体"/>
                <a:cs typeface="Times New Roman" pitchFamily="18" charset="0"/>
              </a:rPr>
              <a:t>、一阶</a:t>
            </a:r>
            <a:r>
              <a:rPr lang="en-US" altLang="zh-CN" sz="2200" b="1" dirty="0">
                <a:latin typeface="Times New Roman" pitchFamily="18" charset="0"/>
                <a:ea typeface="华文楷体"/>
                <a:cs typeface="Times New Roman" pitchFamily="18" charset="0"/>
              </a:rPr>
              <a:t>RC</a:t>
            </a:r>
            <a:r>
              <a:rPr lang="zh-CN" altLang="en-US" sz="2200" b="1" dirty="0">
                <a:latin typeface="Times New Roman" pitchFamily="18" charset="0"/>
                <a:ea typeface="华文楷体"/>
                <a:cs typeface="Times New Roman" pitchFamily="18" charset="0"/>
              </a:rPr>
              <a:t>电路分析</a:t>
            </a:r>
            <a:endParaRPr lang="en-US" altLang="zh-CN" sz="2200" b="1" dirty="0">
              <a:latin typeface="Times New Roman" pitchFamily="18" charset="0"/>
              <a:ea typeface="华文楷体"/>
              <a:cs typeface="Times New Roman" pitchFamily="18" charset="0"/>
            </a:endParaRPr>
          </a:p>
          <a:p>
            <a:pPr marL="273050" indent="-273050">
              <a:lnSpc>
                <a:spcPct val="80000"/>
              </a:lnSpc>
              <a:spcBef>
                <a:spcPct val="20000"/>
              </a:spcBef>
              <a:buClr>
                <a:schemeClr val="accent1"/>
              </a:buClr>
              <a:buSzPct val="100000"/>
            </a:pPr>
            <a:r>
              <a:rPr lang="zh-CN" altLang="en-US" sz="2200" b="1" dirty="0">
                <a:ea typeface="华文楷体"/>
                <a:cs typeface="Times New Roman" pitchFamily="18" charset="0"/>
              </a:rPr>
              <a:t>           如图</a:t>
            </a:r>
            <a:r>
              <a:rPr lang="en-US" altLang="zh-CN" sz="2200" b="1" dirty="0">
                <a:ea typeface="华文楷体"/>
                <a:cs typeface="Times New Roman" pitchFamily="18" charset="0"/>
              </a:rPr>
              <a:t>1</a:t>
            </a:r>
            <a:r>
              <a:rPr lang="zh-CN" altLang="en-US" sz="2200" b="1" dirty="0">
                <a:ea typeface="华文楷体"/>
                <a:cs typeface="Times New Roman" pitchFamily="18" charset="0"/>
              </a:rPr>
              <a:t>所示，用时钟电压源产生周期为</a:t>
            </a:r>
            <a:r>
              <a:rPr lang="en-US" altLang="zh-CN" sz="2200" b="1" dirty="0">
                <a:ea typeface="华文楷体"/>
                <a:cs typeface="Times New Roman" pitchFamily="18" charset="0"/>
              </a:rPr>
              <a:t>20mS</a:t>
            </a:r>
            <a:r>
              <a:rPr lang="zh-CN" altLang="en-US" sz="2200" b="1" dirty="0">
                <a:ea typeface="华文楷体"/>
                <a:cs typeface="Times New Roman" pitchFamily="18" charset="0"/>
              </a:rPr>
              <a:t>、占空比</a:t>
            </a:r>
            <a:r>
              <a:rPr lang="en-US" altLang="zh-CN" sz="2200" b="1" dirty="0">
                <a:ea typeface="华文楷体"/>
                <a:cs typeface="Times New Roman" pitchFamily="18" charset="0"/>
              </a:rPr>
              <a:t>50%</a:t>
            </a:r>
            <a:r>
              <a:rPr lang="zh-CN" altLang="en-US" sz="2200" b="1" dirty="0">
                <a:ea typeface="华文楷体"/>
                <a:cs typeface="Times New Roman" pitchFamily="18" charset="0"/>
              </a:rPr>
              <a:t>、幅度为</a:t>
            </a:r>
            <a:r>
              <a:rPr lang="en-US" altLang="zh-CN" sz="2200" b="1" dirty="0">
                <a:ea typeface="华文楷体"/>
                <a:cs typeface="Times New Roman" pitchFamily="18" charset="0"/>
              </a:rPr>
              <a:t>1V</a:t>
            </a:r>
            <a:r>
              <a:rPr lang="zh-CN" altLang="en-US" sz="2200" b="1" dirty="0">
                <a:ea typeface="华文楷体"/>
                <a:cs typeface="Times New Roman" pitchFamily="18" charset="0"/>
              </a:rPr>
              <a:t>的矩形波。</a:t>
            </a:r>
            <a:endParaRPr lang="en-US" altLang="zh-CN" sz="2200" b="1" dirty="0">
              <a:ea typeface="华文楷体"/>
              <a:cs typeface="Times New Roman" pitchFamily="18" charset="0"/>
            </a:endParaRPr>
          </a:p>
          <a:p>
            <a:pPr marL="273050" indent="-273050">
              <a:spcBef>
                <a:spcPct val="20000"/>
              </a:spcBef>
              <a:buClr>
                <a:schemeClr val="accent1"/>
              </a:buClr>
              <a:buSzPct val="100000"/>
            </a:pPr>
            <a:r>
              <a:rPr lang="en-US" altLang="zh-CN" sz="2200" b="1" dirty="0">
                <a:ea typeface="华文楷体"/>
                <a:cs typeface="Times New Roman" pitchFamily="18" charset="0"/>
              </a:rPr>
              <a:t>   </a:t>
            </a:r>
            <a:r>
              <a:rPr lang="zh-CN" altLang="en-US" sz="2200" b="1" dirty="0">
                <a:ea typeface="华文楷体"/>
                <a:cs typeface="Times New Roman" pitchFamily="18" charset="0"/>
              </a:rPr>
              <a:t>（</a:t>
            </a:r>
            <a:r>
              <a:rPr lang="en-US" altLang="zh-CN" sz="2200" b="1" dirty="0">
                <a:ea typeface="华文楷体"/>
                <a:cs typeface="Times New Roman" pitchFamily="18" charset="0"/>
              </a:rPr>
              <a:t>1</a:t>
            </a:r>
            <a:r>
              <a:rPr lang="zh-CN" altLang="en-US" sz="2200" b="1" dirty="0">
                <a:ea typeface="华文楷体"/>
                <a:cs typeface="Times New Roman" pitchFamily="18" charset="0"/>
              </a:rPr>
              <a:t>）</a:t>
            </a:r>
            <a:r>
              <a:rPr lang="en-US" altLang="zh-CN" sz="2200" b="1" dirty="0">
                <a:ea typeface="华文楷体"/>
                <a:cs typeface="Times New Roman" pitchFamily="18" charset="0"/>
              </a:rPr>
              <a:t>C1=1uF</a:t>
            </a:r>
            <a:r>
              <a:rPr lang="zh-CN" altLang="en-US" sz="2200" b="1" dirty="0">
                <a:ea typeface="华文楷体"/>
                <a:cs typeface="Times New Roman" pitchFamily="18" charset="0"/>
              </a:rPr>
              <a:t>时，瞬态分析测试电压源波形和电容电压波形，由充电曲线得到时间常数，完成表</a:t>
            </a:r>
            <a:r>
              <a:rPr lang="en-US" altLang="zh-CN" sz="2200" b="1" dirty="0">
                <a:ea typeface="华文楷体"/>
                <a:cs typeface="Times New Roman" pitchFamily="18" charset="0"/>
              </a:rPr>
              <a:t>1</a:t>
            </a:r>
            <a:r>
              <a:rPr lang="zh-CN" altLang="en-US" sz="2200" b="1" dirty="0">
                <a:ea typeface="华文楷体"/>
                <a:cs typeface="Times New Roman" pitchFamily="18" charset="0"/>
              </a:rPr>
              <a:t>，与理论值对比。</a:t>
            </a:r>
            <a:r>
              <a:rPr lang="zh-CN" altLang="en-US" sz="2200" dirty="0">
                <a:ea typeface="华文楷体"/>
                <a:cs typeface="Times New Roman" pitchFamily="18" charset="0"/>
              </a:rPr>
              <a:t> </a:t>
            </a:r>
          </a:p>
          <a:p>
            <a:pPr marL="273050" indent="-273050">
              <a:spcBef>
                <a:spcPct val="20000"/>
              </a:spcBef>
              <a:buClr>
                <a:schemeClr val="accent1"/>
              </a:buClr>
              <a:buSzPct val="100000"/>
            </a:pPr>
            <a:r>
              <a:rPr lang="zh-CN" altLang="en-US" sz="2200" dirty="0">
                <a:ea typeface="华文楷体"/>
                <a:cs typeface="Times New Roman" pitchFamily="18" charset="0"/>
              </a:rPr>
              <a:t>    </a:t>
            </a:r>
            <a:r>
              <a:rPr lang="zh-CN" altLang="en-US" sz="2200" b="1" dirty="0">
                <a:ea typeface="华文楷体"/>
                <a:cs typeface="Times New Roman" pitchFamily="18" charset="0"/>
              </a:rPr>
              <a:t>（</a:t>
            </a:r>
            <a:r>
              <a:rPr lang="en-US" altLang="zh-CN" sz="2200" b="1" dirty="0">
                <a:ea typeface="华文楷体"/>
                <a:cs typeface="Times New Roman" pitchFamily="18" charset="0"/>
              </a:rPr>
              <a:t>2</a:t>
            </a:r>
            <a:r>
              <a:rPr lang="zh-CN" altLang="en-US" sz="2200" b="1" dirty="0">
                <a:ea typeface="华文楷体"/>
                <a:cs typeface="Times New Roman" pitchFamily="18" charset="0"/>
              </a:rPr>
              <a:t>）改变元件参数</a:t>
            </a:r>
            <a:r>
              <a:rPr lang="en-US" altLang="zh-CN" sz="2200" b="1" dirty="0">
                <a:solidFill>
                  <a:schemeClr val="bg2">
                    <a:lumMod val="50000"/>
                  </a:schemeClr>
                </a:solidFill>
                <a:ea typeface="华文楷体"/>
                <a:cs typeface="Times New Roman" pitchFamily="18" charset="0"/>
              </a:rPr>
              <a:t>4kΩ</a:t>
            </a:r>
            <a:r>
              <a:rPr lang="zh-CN" altLang="en-US" sz="2200" b="1" dirty="0">
                <a:ea typeface="华文楷体"/>
                <a:cs typeface="Times New Roman" pitchFamily="18" charset="0"/>
              </a:rPr>
              <a:t>，使电容电压近似为三角波，并测试电压源波形和电容电压波形，分析</a:t>
            </a:r>
            <a:r>
              <a:rPr lang="zh-CN" altLang="en-US" sz="2200" b="1" dirty="0">
                <a:latin typeface="Times New Roman" pitchFamily="18" charset="0"/>
                <a:ea typeface="华文楷体"/>
                <a:cs typeface="Times New Roman" pitchFamily="18" charset="0"/>
              </a:rPr>
              <a:t>产生三角波的原因。</a:t>
            </a:r>
          </a:p>
          <a:p>
            <a:pPr marL="273050" indent="-273050">
              <a:lnSpc>
                <a:spcPct val="80000"/>
              </a:lnSpc>
              <a:spcBef>
                <a:spcPct val="20000"/>
              </a:spcBef>
              <a:buClr>
                <a:schemeClr val="accent1"/>
              </a:buClr>
              <a:buSzPct val="100000"/>
              <a:buFont typeface="Symbol" pitchFamily="18" charset="2"/>
              <a:buChar char=""/>
            </a:pPr>
            <a:endParaRPr lang="zh-CN" altLang="en-US" sz="2200" b="1" dirty="0">
              <a:latin typeface="Candara" pitchFamily="34" charset="0"/>
              <a:ea typeface="华文楷体"/>
              <a:cs typeface="Times New Roman" pitchFamily="18" charset="0"/>
            </a:endParaRPr>
          </a:p>
        </p:txBody>
      </p:sp>
      <p:pic>
        <p:nvPicPr>
          <p:cNvPr id="3" name="图片 2"/>
          <p:cNvPicPr>
            <a:picLocks noChangeAspect="1"/>
          </p:cNvPicPr>
          <p:nvPr/>
        </p:nvPicPr>
        <p:blipFill>
          <a:blip r:embed="rId2"/>
          <a:stretch>
            <a:fillRect/>
          </a:stretch>
        </p:blipFill>
        <p:spPr>
          <a:xfrm>
            <a:off x="534117" y="3877141"/>
            <a:ext cx="2070600" cy="1688400"/>
          </a:xfrm>
          <a:prstGeom prst="rect">
            <a:avLst/>
          </a:prstGeom>
        </p:spPr>
      </p:pic>
      <p:graphicFrame>
        <p:nvGraphicFramePr>
          <p:cNvPr id="8" name="表格 7"/>
          <p:cNvGraphicFramePr>
            <a:graphicFrameLocks noGrp="1"/>
          </p:cNvGraphicFramePr>
          <p:nvPr>
            <p:extLst>
              <p:ext uri="{D42A27DB-BD31-4B8C-83A1-F6EECF244321}">
                <p14:modId xmlns:p14="http://schemas.microsoft.com/office/powerpoint/2010/main" val="605337027"/>
              </p:ext>
            </p:extLst>
          </p:nvPr>
        </p:nvGraphicFramePr>
        <p:xfrm>
          <a:off x="2855707" y="4076502"/>
          <a:ext cx="5832647" cy="108012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20000"/>
                    </a:ext>
                  </a:extLst>
                </a:gridCol>
                <a:gridCol w="920608">
                  <a:extLst>
                    <a:ext uri="{9D8B030D-6E8A-4147-A177-3AD203B41FA5}">
                      <a16:colId xmlns:a16="http://schemas.microsoft.com/office/drawing/2014/main" val="20001"/>
                    </a:ext>
                  </a:extLst>
                </a:gridCol>
                <a:gridCol w="1033634">
                  <a:extLst>
                    <a:ext uri="{9D8B030D-6E8A-4147-A177-3AD203B41FA5}">
                      <a16:colId xmlns:a16="http://schemas.microsoft.com/office/drawing/2014/main" val="20002"/>
                    </a:ext>
                  </a:extLst>
                </a:gridCol>
                <a:gridCol w="1181296">
                  <a:extLst>
                    <a:ext uri="{9D8B030D-6E8A-4147-A177-3AD203B41FA5}">
                      <a16:colId xmlns:a16="http://schemas.microsoft.com/office/drawing/2014/main" val="20003"/>
                    </a:ext>
                  </a:extLst>
                </a:gridCol>
                <a:gridCol w="1328957">
                  <a:extLst>
                    <a:ext uri="{9D8B030D-6E8A-4147-A177-3AD203B41FA5}">
                      <a16:colId xmlns:a16="http://schemas.microsoft.com/office/drawing/2014/main" val="20004"/>
                    </a:ext>
                  </a:extLst>
                </a:gridCol>
              </a:tblGrid>
              <a:tr h="687349">
                <a:tc>
                  <a:txBody>
                    <a:bodyPr/>
                    <a:lstStyle/>
                    <a:p>
                      <a:r>
                        <a:rPr lang="zh-CN" altLang="en-US" dirty="0">
                          <a:solidFill>
                            <a:schemeClr val="tx1"/>
                          </a:solidFill>
                        </a:rPr>
                        <a:t>零状态响应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a:solidFill>
                            <a:schemeClr val="tx1"/>
                          </a:solidFill>
                        </a:rPr>
                        <a:t>0.5V0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a:solidFill>
                            <a:schemeClr val="tx1"/>
                          </a:solidFill>
                        </a:rPr>
                        <a:t>0.632V0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a:solidFill>
                            <a:schemeClr val="tx1"/>
                          </a:solidFill>
                          <a:latin typeface="Times New Roman" pitchFamily="18" charset="0"/>
                          <a:cs typeface="Times New Roman" pitchFamily="18" charset="0"/>
                        </a:rPr>
                        <a:t>τ</a:t>
                      </a:r>
                      <a:r>
                        <a:rPr lang="zh-CN" altLang="en-US" sz="1400" baseline="0" dirty="0">
                          <a:solidFill>
                            <a:schemeClr val="tx1"/>
                          </a:solidFill>
                        </a:rPr>
                        <a:t>（实验值）</a:t>
                      </a:r>
                      <a:endParaRPr lang="zh-CN" altLang="en-US"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Times New Roman" pitchFamily="18" charset="0"/>
                          <a:cs typeface="Times New Roman" pitchFamily="18" charset="0"/>
                        </a:rPr>
                        <a:t>τ</a:t>
                      </a:r>
                      <a:r>
                        <a:rPr lang="zh-CN" altLang="en-US" sz="1400" baseline="0" dirty="0">
                          <a:solidFill>
                            <a:schemeClr val="tx1"/>
                          </a:solidFill>
                        </a:rPr>
                        <a:t>（理论值）</a:t>
                      </a:r>
                      <a:endParaRPr lang="zh-CN" altLang="en-US" baseline="-25000" dirty="0">
                        <a:solidFill>
                          <a:schemeClr val="tx1"/>
                        </a:solidFill>
                      </a:endParaRPr>
                    </a:p>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92771">
                <a:tc>
                  <a:txBody>
                    <a:bodyPr/>
                    <a:lstStyle/>
                    <a:p>
                      <a:r>
                        <a:rPr lang="zh-CN" altLang="en-US" dirty="0">
                          <a:solidFill>
                            <a:schemeClr val="tx1"/>
                          </a:solidFill>
                        </a:rPr>
                        <a:t>时间（</a:t>
                      </a:r>
                      <a:r>
                        <a:rPr lang="en-US" altLang="zh-CN" dirty="0">
                          <a:solidFill>
                            <a:schemeClr val="tx1"/>
                          </a:solidFill>
                        </a:rPr>
                        <a:t>ms</a:t>
                      </a:r>
                      <a:r>
                        <a:rPr lang="zh-CN" alt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a:solidFill>
                            <a:schemeClr val="tx1"/>
                          </a:solidFill>
                        </a:rPr>
                        <a:t>0.718</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9" name="矩形 6"/>
          <p:cNvSpPr>
            <a:spLocks noChangeArrowheads="1"/>
          </p:cNvSpPr>
          <p:nvPr/>
        </p:nvSpPr>
        <p:spPr bwMode="auto">
          <a:xfrm>
            <a:off x="4367875" y="5365973"/>
            <a:ext cx="2520950" cy="366713"/>
          </a:xfrm>
          <a:prstGeom prst="rect">
            <a:avLst/>
          </a:prstGeom>
          <a:noFill/>
          <a:ln w="9525">
            <a:noFill/>
            <a:miter lim="800000"/>
            <a:headEnd/>
            <a:tailEnd/>
          </a:ln>
        </p:spPr>
        <p:txBody>
          <a:bodyPr>
            <a:spAutoFit/>
          </a:bodyPr>
          <a:lstStyle/>
          <a:p>
            <a:r>
              <a:rPr lang="zh-CN" altLang="en-US" b="1" dirty="0">
                <a:latin typeface="Candara" pitchFamily="34" charset="0"/>
                <a:ea typeface="华文楷体"/>
                <a:cs typeface="华文楷体"/>
              </a:rPr>
              <a:t>表</a:t>
            </a:r>
            <a:r>
              <a:rPr lang="en-US" altLang="zh-CN" b="1" dirty="0">
                <a:latin typeface="Candara" pitchFamily="34" charset="0"/>
                <a:ea typeface="华文楷体"/>
                <a:cs typeface="华文楷体"/>
              </a:rPr>
              <a:t>1  RC</a:t>
            </a:r>
            <a:r>
              <a:rPr lang="zh-CN" altLang="en-US" b="1" dirty="0">
                <a:latin typeface="Candara" pitchFamily="34" charset="0"/>
                <a:ea typeface="华文楷体"/>
                <a:cs typeface="华文楷体"/>
              </a:rPr>
              <a:t>电路实验数据</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288" y="549274"/>
            <a:ext cx="8462962" cy="2736850"/>
          </a:xfrm>
        </p:spPr>
        <p:txBody>
          <a:bodyPr>
            <a:normAutofit/>
          </a:bodyPr>
          <a:lstStyle/>
          <a:p>
            <a:pPr eaLnBrk="1" hangingPunct="1">
              <a:lnSpc>
                <a:spcPct val="80000"/>
              </a:lnSpc>
              <a:buFont typeface="Symbol" pitchFamily="18" charset="2"/>
              <a:buNone/>
            </a:pPr>
            <a:r>
              <a:rPr lang="en-US" altLang="zh-CN" sz="2400" dirty="0"/>
              <a:t>2</a:t>
            </a:r>
            <a:r>
              <a:rPr lang="zh-CN" altLang="en-US" sz="2400" dirty="0"/>
              <a:t>、二阶电路分析</a:t>
            </a:r>
            <a:endParaRPr lang="en-US" altLang="zh-CN" sz="2400" dirty="0"/>
          </a:p>
          <a:p>
            <a:pPr eaLnBrk="1" hangingPunct="1">
              <a:lnSpc>
                <a:spcPct val="80000"/>
              </a:lnSpc>
              <a:buNone/>
            </a:pPr>
            <a:r>
              <a:rPr lang="zh-CN" altLang="en-US" sz="2200" dirty="0"/>
              <a:t>     电路如图</a:t>
            </a:r>
            <a:r>
              <a:rPr lang="en-US" altLang="zh-CN" sz="2200" dirty="0"/>
              <a:t>2</a:t>
            </a:r>
            <a:r>
              <a:rPr lang="zh-CN" altLang="en-US" sz="2200" dirty="0"/>
              <a:t>，可以模拟一阶</a:t>
            </a:r>
            <a:r>
              <a:rPr lang="en-US" altLang="zh-CN" sz="2200" dirty="0"/>
              <a:t>RC</a:t>
            </a:r>
            <a:r>
              <a:rPr lang="zh-CN" altLang="en-US" sz="2200" dirty="0"/>
              <a:t>电路的零状态响应和</a:t>
            </a:r>
            <a:r>
              <a:rPr lang="en-US" altLang="zh-CN" sz="2200" dirty="0"/>
              <a:t>RLC</a:t>
            </a:r>
            <a:r>
              <a:rPr lang="zh-CN" altLang="en-US" sz="2200" dirty="0"/>
              <a:t>串联电路的零输入响应。</a:t>
            </a:r>
            <a:endParaRPr lang="en-US" altLang="zh-CN" sz="2200" dirty="0"/>
          </a:p>
          <a:p>
            <a:pPr eaLnBrk="1" hangingPunct="1">
              <a:lnSpc>
                <a:spcPts val="2400"/>
              </a:lnSpc>
              <a:buFont typeface="Symbol" pitchFamily="18" charset="2"/>
              <a:buNone/>
            </a:pPr>
            <a:r>
              <a:rPr lang="en-US" altLang="zh-CN" sz="2200" dirty="0"/>
              <a:t>    </a:t>
            </a:r>
            <a:r>
              <a:rPr lang="zh-CN" altLang="en-US" sz="2200" dirty="0"/>
              <a:t>（</a:t>
            </a:r>
            <a:r>
              <a:rPr lang="en-US" altLang="zh-CN" sz="2200" dirty="0"/>
              <a:t>1</a:t>
            </a:r>
            <a:r>
              <a:rPr lang="zh-CN" altLang="en-US" sz="2200" dirty="0"/>
              <a:t>）当开关由</a:t>
            </a:r>
            <a:r>
              <a:rPr lang="en-US" altLang="zh-CN" sz="2200" dirty="0"/>
              <a:t>8</a:t>
            </a:r>
            <a:r>
              <a:rPr lang="zh-CN" altLang="en-US" sz="2200" dirty="0"/>
              <a:t>转到</a:t>
            </a:r>
            <a:r>
              <a:rPr lang="en-US" altLang="zh-CN" sz="2200" dirty="0"/>
              <a:t>9</a:t>
            </a:r>
            <a:r>
              <a:rPr lang="zh-CN" altLang="en-US" sz="2200" dirty="0"/>
              <a:t>时，用示波器测试一阶</a:t>
            </a:r>
            <a:r>
              <a:rPr lang="en-US" altLang="zh-CN" sz="2200" dirty="0"/>
              <a:t>RC</a:t>
            </a:r>
            <a:r>
              <a:rPr lang="zh-CN" altLang="en-US" sz="2200" dirty="0"/>
              <a:t>电路的电容电压和电容电流波形，并解释波形。</a:t>
            </a:r>
            <a:r>
              <a:rPr lang="en-US" altLang="zh-CN" sz="2200" dirty="0"/>
              <a:t>        </a:t>
            </a:r>
          </a:p>
          <a:p>
            <a:pPr eaLnBrk="1" hangingPunct="1">
              <a:lnSpc>
                <a:spcPts val="2400"/>
              </a:lnSpc>
              <a:buNone/>
            </a:pPr>
            <a:r>
              <a:rPr lang="zh-CN" altLang="en-US" sz="2200" dirty="0"/>
              <a:t>    （</a:t>
            </a:r>
            <a:r>
              <a:rPr lang="en-US" altLang="zh-CN" sz="2200" dirty="0"/>
              <a:t>2</a:t>
            </a:r>
            <a:r>
              <a:rPr lang="zh-CN" altLang="en-US" sz="2200" dirty="0"/>
              <a:t>）当开关由</a:t>
            </a:r>
            <a:r>
              <a:rPr lang="en-US" altLang="zh-CN" sz="2200" dirty="0"/>
              <a:t>9</a:t>
            </a:r>
            <a:r>
              <a:rPr lang="zh-CN" altLang="en-US" sz="2200" dirty="0"/>
              <a:t>转到</a:t>
            </a:r>
            <a:r>
              <a:rPr lang="en-US" altLang="zh-CN" sz="2200" dirty="0"/>
              <a:t>8</a:t>
            </a:r>
            <a:r>
              <a:rPr lang="zh-CN" altLang="en-US" sz="2200" dirty="0"/>
              <a:t>时，计算</a:t>
            </a:r>
            <a:r>
              <a:rPr lang="en-US" altLang="zh-CN" sz="2200" dirty="0"/>
              <a:t>R5</a:t>
            </a:r>
            <a:r>
              <a:rPr lang="zh-CN" altLang="en-US" sz="2200" dirty="0"/>
              <a:t>不同时的阻尼状态，完成表</a:t>
            </a:r>
            <a:r>
              <a:rPr lang="en-US" altLang="zh-CN" sz="2200" dirty="0"/>
              <a:t>2</a:t>
            </a:r>
            <a:r>
              <a:rPr lang="zh-CN" altLang="en-US" sz="2200" dirty="0"/>
              <a:t>；</a:t>
            </a:r>
            <a:endParaRPr lang="en-US" altLang="zh-CN" sz="2200" dirty="0"/>
          </a:p>
          <a:p>
            <a:pPr eaLnBrk="1" hangingPunct="1">
              <a:lnSpc>
                <a:spcPts val="2400"/>
              </a:lnSpc>
              <a:buFont typeface="Symbol" pitchFamily="18" charset="2"/>
              <a:buNone/>
            </a:pPr>
            <a:r>
              <a:rPr lang="en-US" altLang="zh-CN" sz="2200" dirty="0"/>
              <a:t>      </a:t>
            </a:r>
            <a:r>
              <a:rPr lang="zh-CN" altLang="en-US" sz="2200" dirty="0"/>
              <a:t>用示波器观测</a:t>
            </a:r>
            <a:r>
              <a:rPr lang="en-US" altLang="zh-CN" sz="2200" dirty="0"/>
              <a:t>R5</a:t>
            </a:r>
            <a:r>
              <a:rPr lang="zh-CN" altLang="en-US" sz="2200" dirty="0"/>
              <a:t>不同时电容电压和电感电流波形（</a:t>
            </a:r>
            <a:r>
              <a:rPr lang="en-US" altLang="zh-CN" sz="2200" dirty="0"/>
              <a:t>R5</a:t>
            </a:r>
            <a:r>
              <a:rPr lang="zh-CN" altLang="en-US" sz="2200" dirty="0"/>
              <a:t>的电压波形与电感电流波形形状相同），分析</a:t>
            </a:r>
            <a:r>
              <a:rPr lang="en-US" altLang="zh-CN" sz="2200" dirty="0"/>
              <a:t>R5</a:t>
            </a:r>
            <a:r>
              <a:rPr lang="zh-CN" altLang="en-US" sz="2200" dirty="0"/>
              <a:t>不同时波形变化的原因。</a:t>
            </a:r>
            <a:endParaRPr lang="zh-CN" altLang="en-US" sz="2200" dirty="0">
              <a:latin typeface="Times New Roman" pitchFamily="18" charset="0"/>
              <a:cs typeface="Times New Roman" pitchFamily="18" charset="0"/>
            </a:endParaRPr>
          </a:p>
        </p:txBody>
      </p:sp>
      <p:sp>
        <p:nvSpPr>
          <p:cNvPr id="60439" name="矩形 5"/>
          <p:cNvSpPr>
            <a:spLocks noChangeArrowheads="1"/>
          </p:cNvSpPr>
          <p:nvPr/>
        </p:nvSpPr>
        <p:spPr bwMode="auto">
          <a:xfrm>
            <a:off x="2483768" y="5330491"/>
            <a:ext cx="2571768" cy="369887"/>
          </a:xfrm>
          <a:prstGeom prst="rect">
            <a:avLst/>
          </a:prstGeom>
          <a:noFill/>
          <a:ln w="9525">
            <a:noFill/>
            <a:miter lim="800000"/>
            <a:headEnd/>
            <a:tailEnd/>
          </a:ln>
        </p:spPr>
        <p:txBody>
          <a:bodyPr wrap="square">
            <a:spAutoFit/>
          </a:bodyPr>
          <a:lstStyle/>
          <a:p>
            <a:r>
              <a:rPr lang="zh-CN" altLang="en-US" b="1" dirty="0">
                <a:latin typeface="Candara" pitchFamily="34" charset="0"/>
                <a:ea typeface="华文楷体"/>
                <a:cs typeface="华文楷体"/>
              </a:rPr>
              <a:t>表</a:t>
            </a:r>
            <a:r>
              <a:rPr lang="en-US" altLang="zh-CN" b="1" dirty="0">
                <a:latin typeface="Candara" pitchFamily="34" charset="0"/>
                <a:ea typeface="华文楷体"/>
                <a:cs typeface="华文楷体"/>
              </a:rPr>
              <a:t>2  RLC</a:t>
            </a:r>
            <a:r>
              <a:rPr lang="zh-CN" altLang="en-US" b="1" dirty="0">
                <a:latin typeface="Candara" pitchFamily="34" charset="0"/>
                <a:ea typeface="华文楷体"/>
                <a:cs typeface="华文楷体"/>
              </a:rPr>
              <a:t>电路计算数据</a:t>
            </a:r>
          </a:p>
        </p:txBody>
      </p:sp>
      <p:pic>
        <p:nvPicPr>
          <p:cNvPr id="94210" name="Picture 2"/>
          <p:cNvPicPr>
            <a:picLocks noChangeAspect="1" noChangeArrowheads="1"/>
          </p:cNvPicPr>
          <p:nvPr/>
        </p:nvPicPr>
        <p:blipFill>
          <a:blip r:embed="rId2"/>
          <a:srcRect/>
          <a:stretch>
            <a:fillRect/>
          </a:stretch>
        </p:blipFill>
        <p:spPr bwMode="auto">
          <a:xfrm>
            <a:off x="2051720" y="3347408"/>
            <a:ext cx="4291804" cy="2038351"/>
          </a:xfrm>
          <a:prstGeom prst="rect">
            <a:avLst/>
          </a:prstGeom>
          <a:noFill/>
          <a:ln w="9525">
            <a:noFill/>
            <a:miter lim="800000"/>
            <a:headEnd/>
            <a:tailEnd/>
          </a:ln>
          <a:effectLst/>
        </p:spPr>
      </p:pic>
      <p:sp>
        <p:nvSpPr>
          <p:cNvPr id="60441" name="矩形 8"/>
          <p:cNvSpPr>
            <a:spLocks noChangeArrowheads="1"/>
          </p:cNvSpPr>
          <p:nvPr/>
        </p:nvSpPr>
        <p:spPr bwMode="auto">
          <a:xfrm>
            <a:off x="1588992" y="5816937"/>
            <a:ext cx="647700" cy="369332"/>
          </a:xfrm>
          <a:prstGeom prst="rect">
            <a:avLst/>
          </a:prstGeom>
          <a:noFill/>
          <a:ln w="9525">
            <a:noFill/>
            <a:miter lim="800000"/>
            <a:headEnd/>
            <a:tailEnd/>
          </a:ln>
        </p:spPr>
        <p:txBody>
          <a:bodyPr>
            <a:spAutoFit/>
          </a:bodyPr>
          <a:lstStyle/>
          <a:p>
            <a:r>
              <a:rPr lang="zh-CN" altLang="en-US" b="1" dirty="0">
                <a:latin typeface="Candara" pitchFamily="34" charset="0"/>
                <a:ea typeface="华文楷体"/>
                <a:cs typeface="华文楷体"/>
              </a:rPr>
              <a:t>图</a:t>
            </a:r>
            <a:r>
              <a:rPr lang="en-US" altLang="zh-CN" b="1" dirty="0">
                <a:latin typeface="Candara" pitchFamily="34" charset="0"/>
                <a:ea typeface="华文楷体"/>
                <a:cs typeface="华文楷体"/>
              </a:rPr>
              <a:t>2</a:t>
            </a:r>
            <a:endParaRPr lang="zh-CN" altLang="en-US" b="1" dirty="0">
              <a:latin typeface="Candara" pitchFamily="34" charset="0"/>
              <a:ea typeface="华文楷体"/>
              <a:cs typeface="华文楷体"/>
            </a:endParaRPr>
          </a:p>
        </p:txBody>
      </p:sp>
      <mc:AlternateContent xmlns:mc="http://schemas.openxmlformats.org/markup-compatibility/2006">
        <mc:Choice xmlns:a14="http://schemas.microsoft.com/office/drawing/2010/main" Requires="a14">
          <p:graphicFrame>
            <p:nvGraphicFramePr>
              <p:cNvPr id="5" name="表格 4"/>
              <p:cNvGraphicFramePr>
                <a:graphicFrameLocks noGrp="1"/>
              </p:cNvGraphicFramePr>
              <p:nvPr>
                <p:extLst>
                  <p:ext uri="{D42A27DB-BD31-4B8C-83A1-F6EECF244321}">
                    <p14:modId xmlns:p14="http://schemas.microsoft.com/office/powerpoint/2010/main" val="1751879671"/>
                  </p:ext>
                </p:extLst>
              </p:nvPr>
            </p:nvGraphicFramePr>
            <p:xfrm>
              <a:off x="1043608" y="5385759"/>
              <a:ext cx="6453099" cy="1943980"/>
            </p:xfrm>
            <a:graphic>
              <a:graphicData uri="http://schemas.openxmlformats.org/drawingml/2006/table">
                <a:tbl>
                  <a:tblPr firstRow="1" bandRow="1">
                    <a:tableStyleId>{5C22544A-7EE6-4342-B048-85BDC9FD1C3A}</a:tableStyleId>
                  </a:tblPr>
                  <a:tblGrid>
                    <a:gridCol w="1627421">
                      <a:extLst>
                        <a:ext uri="{9D8B030D-6E8A-4147-A177-3AD203B41FA5}">
                          <a16:colId xmlns:a16="http://schemas.microsoft.com/office/drawing/2014/main" val="20000"/>
                        </a:ext>
                      </a:extLst>
                    </a:gridCol>
                    <a:gridCol w="1599111">
                      <a:extLst>
                        <a:ext uri="{9D8B030D-6E8A-4147-A177-3AD203B41FA5}">
                          <a16:colId xmlns:a16="http://schemas.microsoft.com/office/drawing/2014/main" val="20001"/>
                        </a:ext>
                      </a:extLst>
                    </a:gridCol>
                    <a:gridCol w="1457159">
                      <a:extLst>
                        <a:ext uri="{9D8B030D-6E8A-4147-A177-3AD203B41FA5}">
                          <a16:colId xmlns:a16="http://schemas.microsoft.com/office/drawing/2014/main" val="20002"/>
                        </a:ext>
                      </a:extLst>
                    </a:gridCol>
                    <a:gridCol w="1769408">
                      <a:extLst>
                        <a:ext uri="{9D8B030D-6E8A-4147-A177-3AD203B41FA5}">
                          <a16:colId xmlns:a16="http://schemas.microsoft.com/office/drawing/2014/main" val="20003"/>
                        </a:ext>
                      </a:extLst>
                    </a:gridCol>
                  </a:tblGrid>
                  <a:tr h="67632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i="0" dirty="0">
                              <a:solidFill>
                                <a:schemeClr val="tx1"/>
                              </a:solidFill>
                              <a:latin typeface="Times New Roman" pitchFamily="18" charset="0"/>
                              <a:cs typeface="Times New Roman" pitchFamily="18" charset="0"/>
                            </a:rPr>
                            <a:t>R5</a:t>
                          </a:r>
                          <a:r>
                            <a:rPr lang="zh-CN" altLang="en-US" i="0" dirty="0">
                              <a:solidFill>
                                <a:schemeClr val="tx1"/>
                              </a:solidFill>
                              <a:latin typeface="Times New Roman" pitchFamily="18" charset="0"/>
                              <a:cs typeface="Times New Roman" pitchFamily="18" charset="0"/>
                            </a:rPr>
                            <a:t>（</a:t>
                          </a:r>
                          <a:r>
                            <a:rPr lang="el-GR" altLang="zh-CN" sz="1800" b="1" i="0" kern="1200" noProof="0" dirty="0">
                              <a:solidFill>
                                <a:schemeClr val="tx1"/>
                              </a:solidFill>
                              <a:latin typeface="Times New Roman" pitchFamily="18" charset="0"/>
                              <a:ea typeface="+mn-ea"/>
                              <a:cs typeface="Times New Roman" pitchFamily="18" charset="0"/>
                            </a:rPr>
                            <a:t>Ω</a:t>
                          </a:r>
                          <a:r>
                            <a:rPr lang="zh-CN" altLang="en-US" i="0" dirty="0">
                              <a:solidFill>
                                <a:schemeClr val="tx1"/>
                              </a:solidFill>
                              <a:latin typeface="Times New Roman" pitchFamily="18" charset="0"/>
                              <a:cs typeface="Times New Roman"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Times New Roman" pitchFamily="18" charset="0"/>
                              <a:cs typeface="Times New Roman" pitchFamily="18" charset="0"/>
                            </a:rPr>
                            <a:t>12</a:t>
                          </a:r>
                          <a:endParaRPr lang="zh-CN" alt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i="0" dirty="0">
                              <a:solidFill>
                                <a:schemeClr val="tx1"/>
                              </a:solidFill>
                              <a:latin typeface="Times New Roman" pitchFamily="18" charset="0"/>
                              <a:cs typeface="Times New Roman" pitchFamily="18" charset="0"/>
                            </a:rPr>
                            <a:t>6</a:t>
                          </a:r>
                          <a:endParaRPr lang="zh-CN" altLang="en-US" sz="2000" i="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i="0" dirty="0">
                              <a:solidFill>
                                <a:schemeClr val="tx1"/>
                              </a:solidFill>
                              <a:latin typeface="Times New Roman" pitchFamily="18" charset="0"/>
                              <a:cs typeface="Times New Roman" pitchFamily="18" charset="0"/>
                            </a:rPr>
                            <a:t>1</a:t>
                          </a:r>
                          <a:endParaRPr lang="zh-CN" altLang="en-US" i="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0">
                    <a:tc>
                      <a:txBody>
                        <a:bodyPr/>
                        <a:lstStyle/>
                        <a:p>
                          <a:r>
                            <a:rPr lang="en-US" altLang="zh-CN" dirty="0">
                              <a:solidFill>
                                <a:schemeClr val="tx1"/>
                              </a:solidFill>
                            </a:rPr>
                            <a:t>S1</a:t>
                          </a:r>
                          <a:r>
                            <a:rPr lang="zh-CN" altLang="en-US" dirty="0">
                              <a:solidFill>
                                <a:schemeClr val="tx1"/>
                              </a:solidFill>
                            </a:rPr>
                            <a:t>、</a:t>
                          </a:r>
                          <a:r>
                            <a:rPr lang="en-US" altLang="zh-CN" dirty="0">
                              <a:solidFill>
                                <a:schemeClr val="tx1"/>
                              </a:solidFill>
                            </a:rPr>
                            <a:t>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zh-CN" altLang="en-US" sz="1800" kern="1200" smtClean="0">
                                    <a:solidFill>
                                      <a:schemeClr val="tx1"/>
                                    </a:solidFill>
                                    <a:latin typeface="Cambria Math" panose="02040503050406030204" pitchFamily="18" charset="0"/>
                                    <a:ea typeface="+mn-ea"/>
                                    <a:cs typeface="+mn-cs"/>
                                  </a:rPr>
                                  <m:t>−</m:t>
                                </m:r>
                                <m:r>
                                  <a:rPr lang="zh-CN" altLang="en-US" sz="1800" i="0" kern="1200" smtClean="0">
                                    <a:solidFill>
                                      <a:schemeClr val="tx1"/>
                                    </a:solidFill>
                                    <a:latin typeface="Cambria Math" panose="02040503050406030204" pitchFamily="18" charset="0"/>
                                    <a:ea typeface="+mn-ea"/>
                                    <a:cs typeface="+mn-cs"/>
                                  </a:rPr>
                                  <m:t>6</m:t>
                                </m:r>
                                <m:r>
                                  <a:rPr lang="zh-CN" altLang="en-US" sz="1800" i="0" kern="1200">
                                    <a:solidFill>
                                      <a:schemeClr val="tx1"/>
                                    </a:solidFill>
                                    <a:latin typeface="Cambria Math" panose="02040503050406030204" pitchFamily="18" charset="0"/>
                                    <a:ea typeface="+mn-ea"/>
                                    <a:cs typeface="+mn-cs"/>
                                  </a:rPr>
                                  <m:t>±</m:t>
                                </m:r>
                                <m:rad>
                                  <m:radPr>
                                    <m:degHide m:val="on"/>
                                    <m:ctrlPr>
                                      <a:rPr lang="zh-CN" altLang="en-US" sz="1800" i="1" kern="1200">
                                        <a:solidFill>
                                          <a:schemeClr val="tx1"/>
                                        </a:solidFill>
                                        <a:latin typeface="Cambria Math" panose="02040503050406030204" pitchFamily="18" charset="0"/>
                                        <a:ea typeface="+mn-ea"/>
                                        <a:cs typeface="+mn-cs"/>
                                      </a:rPr>
                                    </m:ctrlPr>
                                  </m:radPr>
                                  <m:deg/>
                                  <m:e>
                                    <m:r>
                                      <a:rPr lang="zh-CN" altLang="en-US" sz="1800" i="0" kern="1200">
                                        <a:solidFill>
                                          <a:schemeClr val="tx1"/>
                                        </a:solidFill>
                                        <a:latin typeface="Cambria Math" panose="02040503050406030204" pitchFamily="18" charset="0"/>
                                        <a:ea typeface="+mn-ea"/>
                                        <a:cs typeface="+mn-cs"/>
                                      </a:rPr>
                                      <m:t>11</m:t>
                                    </m:r>
                                  </m:e>
                                </m:rad>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zh-CN" altLang="en-US" sz="1800" kern="1200" smtClean="0">
                                    <a:solidFill>
                                      <a:schemeClr val="tx1"/>
                                    </a:solidFill>
                                    <a:latin typeface="Cambria Math" panose="02040503050406030204" pitchFamily="18" charset="0"/>
                                    <a:ea typeface="+mn-ea"/>
                                    <a:cs typeface="+mn-cs"/>
                                  </a:rPr>
                                  <m:t>−</m:t>
                                </m:r>
                                <m:r>
                                  <a:rPr lang="zh-CN" altLang="en-US" sz="1800" i="0" kern="1200">
                                    <a:solidFill>
                                      <a:schemeClr val="tx1"/>
                                    </a:solidFill>
                                    <a:latin typeface="Cambria Math" panose="02040503050406030204" pitchFamily="18" charset="0"/>
                                    <a:ea typeface="+mn-ea"/>
                                    <a:cs typeface="+mn-cs"/>
                                  </a:rPr>
                                  <m:t>3±</m:t>
                                </m:r>
                                <m:rad>
                                  <m:radPr>
                                    <m:degHide m:val="on"/>
                                    <m:ctrlPr>
                                      <a:rPr lang="zh-CN" altLang="en-US" sz="1800" i="1" kern="1200">
                                        <a:solidFill>
                                          <a:schemeClr val="tx1"/>
                                        </a:solidFill>
                                        <a:latin typeface="Cambria Math" panose="02040503050406030204" pitchFamily="18" charset="0"/>
                                        <a:ea typeface="+mn-ea"/>
                                        <a:cs typeface="+mn-cs"/>
                                      </a:rPr>
                                    </m:ctrlPr>
                                  </m:radPr>
                                  <m:deg/>
                                  <m:e>
                                    <m:r>
                                      <a:rPr lang="zh-CN" altLang="en-US" sz="1800" i="0" kern="1200">
                                        <a:solidFill>
                                          <a:schemeClr val="tx1"/>
                                        </a:solidFill>
                                        <a:latin typeface="Cambria Math" panose="02040503050406030204" pitchFamily="18" charset="0"/>
                                        <a:ea typeface="+mn-ea"/>
                                        <a:cs typeface="+mn-cs"/>
                                      </a:rPr>
                                      <m:t>14</m:t>
                                    </m:r>
                                  </m:e>
                                </m:rad>
                                <m:r>
                                  <a:rPr lang="zh-CN" altLang="en-US" sz="1800" i="1" kern="1200">
                                    <a:solidFill>
                                      <a:schemeClr val="tx1"/>
                                    </a:solidFill>
                                    <a:latin typeface="Cambria Math" panose="02040503050406030204" pitchFamily="18" charset="0"/>
                                    <a:ea typeface="+mn-ea"/>
                                    <a:cs typeface="+mn-cs"/>
                                  </a:rPr>
                                  <m:t>𝑗</m:t>
                                </m:r>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zh-CN" altLang="en-US" sz="1800" kern="1200" smtClean="0">
                                    <a:solidFill>
                                      <a:schemeClr val="tx1"/>
                                    </a:solidFill>
                                    <a:latin typeface="Cambria Math" panose="02040503050406030204" pitchFamily="18" charset="0"/>
                                    <a:ea typeface="+mn-ea"/>
                                    <a:cs typeface="+mn-cs"/>
                                  </a:rPr>
                                  <m:t>−</m:t>
                                </m:r>
                                <m:f>
                                  <m:fPr>
                                    <m:ctrlPr>
                                      <a:rPr lang="zh-CN" altLang="en-US" sz="1800" i="1" kern="1200">
                                        <a:solidFill>
                                          <a:schemeClr val="tx1"/>
                                        </a:solidFill>
                                        <a:latin typeface="Cambria Math" panose="02040503050406030204" pitchFamily="18" charset="0"/>
                                        <a:ea typeface="+mn-ea"/>
                                        <a:cs typeface="+mn-cs"/>
                                      </a:rPr>
                                    </m:ctrlPr>
                                  </m:fPr>
                                  <m:num>
                                    <m:r>
                                      <a:rPr lang="zh-CN" altLang="en-US" sz="1800" i="0" kern="1200">
                                        <a:solidFill>
                                          <a:schemeClr val="tx1"/>
                                        </a:solidFill>
                                        <a:latin typeface="Cambria Math" panose="02040503050406030204" pitchFamily="18" charset="0"/>
                                        <a:ea typeface="+mn-ea"/>
                                        <a:cs typeface="+mn-cs"/>
                                      </a:rPr>
                                      <m:t>1</m:t>
                                    </m:r>
                                  </m:num>
                                  <m:den>
                                    <m:r>
                                      <a:rPr lang="zh-CN" altLang="en-US" sz="1800" i="0" kern="1200">
                                        <a:solidFill>
                                          <a:schemeClr val="tx1"/>
                                        </a:solidFill>
                                        <a:latin typeface="Cambria Math" panose="02040503050406030204" pitchFamily="18" charset="0"/>
                                        <a:ea typeface="+mn-ea"/>
                                        <a:cs typeface="+mn-cs"/>
                                      </a:rPr>
                                      <m:t>2</m:t>
                                    </m:r>
                                  </m:den>
                                </m:f>
                                <m:r>
                                  <a:rPr lang="zh-CN" altLang="en-US" sz="1800" i="0" kern="1200">
                                    <a:solidFill>
                                      <a:schemeClr val="tx1"/>
                                    </a:solidFill>
                                    <a:latin typeface="Cambria Math" panose="02040503050406030204" pitchFamily="18" charset="0"/>
                                    <a:ea typeface="+mn-ea"/>
                                    <a:cs typeface="+mn-cs"/>
                                  </a:rPr>
                                  <m:t>±</m:t>
                                </m:r>
                                <m:rad>
                                  <m:radPr>
                                    <m:degHide m:val="on"/>
                                    <m:ctrlPr>
                                      <a:rPr lang="zh-CN" altLang="en-US" sz="1800" i="1" kern="1200">
                                        <a:solidFill>
                                          <a:schemeClr val="tx1"/>
                                        </a:solidFill>
                                        <a:latin typeface="Cambria Math" panose="02040503050406030204" pitchFamily="18" charset="0"/>
                                        <a:ea typeface="+mn-ea"/>
                                        <a:cs typeface="+mn-cs"/>
                                      </a:rPr>
                                    </m:ctrlPr>
                                  </m:radPr>
                                  <m:deg/>
                                  <m:e>
                                    <m:f>
                                      <m:fPr>
                                        <m:ctrlPr>
                                          <a:rPr lang="zh-CN" altLang="en-US" sz="1800" i="1" kern="1200">
                                            <a:solidFill>
                                              <a:schemeClr val="tx1"/>
                                            </a:solidFill>
                                            <a:latin typeface="Cambria Math" panose="02040503050406030204" pitchFamily="18" charset="0"/>
                                            <a:ea typeface="+mn-ea"/>
                                            <a:cs typeface="+mn-cs"/>
                                          </a:rPr>
                                        </m:ctrlPr>
                                      </m:fPr>
                                      <m:num>
                                        <m:r>
                                          <a:rPr lang="zh-CN" altLang="en-US" sz="1800" i="0" kern="1200">
                                            <a:solidFill>
                                              <a:schemeClr val="tx1"/>
                                            </a:solidFill>
                                            <a:latin typeface="Cambria Math" panose="02040503050406030204" pitchFamily="18" charset="0"/>
                                            <a:ea typeface="+mn-ea"/>
                                            <a:cs typeface="+mn-cs"/>
                                          </a:rPr>
                                          <m:t>99</m:t>
                                        </m:r>
                                      </m:num>
                                      <m:den>
                                        <m:r>
                                          <a:rPr lang="zh-CN" altLang="en-US" sz="1800" i="0" kern="1200">
                                            <a:solidFill>
                                              <a:schemeClr val="tx1"/>
                                            </a:solidFill>
                                            <a:latin typeface="Cambria Math" panose="02040503050406030204" pitchFamily="18" charset="0"/>
                                            <a:ea typeface="+mn-ea"/>
                                            <a:cs typeface="+mn-cs"/>
                                          </a:rPr>
                                          <m:t>4</m:t>
                                        </m:r>
                                      </m:den>
                                    </m:f>
                                  </m:e>
                                </m:rad>
                                <m:r>
                                  <a:rPr lang="zh-CN" altLang="en-US" sz="1800" i="1" kern="1200">
                                    <a:solidFill>
                                      <a:schemeClr val="tx1"/>
                                    </a:solidFill>
                                    <a:latin typeface="Cambria Math" panose="02040503050406030204" pitchFamily="18" charset="0"/>
                                    <a:ea typeface="+mn-ea"/>
                                    <a:cs typeface="+mn-cs"/>
                                  </a:rPr>
                                  <m:t>𝑗</m:t>
                                </m:r>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r>
                            <a:rPr lang="zh-CN" altLang="en-US" dirty="0">
                              <a:solidFill>
                                <a:schemeClr val="tx1"/>
                              </a:solidFill>
                            </a:rPr>
                            <a:t>阻尼状态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a:solidFill>
                                <a:schemeClr val="tx1"/>
                              </a:solidFill>
                            </a:rPr>
                            <a:t>过阻尼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a:solidFill>
                                <a:schemeClr val="tx1"/>
                              </a:solidFill>
                            </a:rPr>
                            <a:t>欠阻尼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a:solidFill>
                                <a:schemeClr val="tx1"/>
                              </a:solidFill>
                            </a:rPr>
                            <a:t>欠阻尼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Choice>
        <mc:Fallback>
          <p:graphicFrame>
            <p:nvGraphicFramePr>
              <p:cNvPr id="5" name="表格 4"/>
              <p:cNvGraphicFramePr>
                <a:graphicFrameLocks noGrp="1"/>
              </p:cNvGraphicFramePr>
              <p:nvPr>
                <p:extLst>
                  <p:ext uri="{D42A27DB-BD31-4B8C-83A1-F6EECF244321}">
                    <p14:modId xmlns:p14="http://schemas.microsoft.com/office/powerpoint/2010/main" val="1751879671"/>
                  </p:ext>
                </p:extLst>
              </p:nvPr>
            </p:nvGraphicFramePr>
            <p:xfrm>
              <a:off x="1043608" y="5385759"/>
              <a:ext cx="6453099" cy="1943980"/>
            </p:xfrm>
            <a:graphic>
              <a:graphicData uri="http://schemas.openxmlformats.org/drawingml/2006/table">
                <a:tbl>
                  <a:tblPr firstRow="1" bandRow="1">
                    <a:tableStyleId>{5C22544A-7EE6-4342-B048-85BDC9FD1C3A}</a:tableStyleId>
                  </a:tblPr>
                  <a:tblGrid>
                    <a:gridCol w="1627421">
                      <a:extLst>
                        <a:ext uri="{9D8B030D-6E8A-4147-A177-3AD203B41FA5}">
                          <a16:colId xmlns:a16="http://schemas.microsoft.com/office/drawing/2014/main" val="20000"/>
                        </a:ext>
                      </a:extLst>
                    </a:gridCol>
                    <a:gridCol w="1599111">
                      <a:extLst>
                        <a:ext uri="{9D8B030D-6E8A-4147-A177-3AD203B41FA5}">
                          <a16:colId xmlns:a16="http://schemas.microsoft.com/office/drawing/2014/main" val="20001"/>
                        </a:ext>
                      </a:extLst>
                    </a:gridCol>
                    <a:gridCol w="1457159">
                      <a:extLst>
                        <a:ext uri="{9D8B030D-6E8A-4147-A177-3AD203B41FA5}">
                          <a16:colId xmlns:a16="http://schemas.microsoft.com/office/drawing/2014/main" val="20002"/>
                        </a:ext>
                      </a:extLst>
                    </a:gridCol>
                    <a:gridCol w="1769408">
                      <a:extLst>
                        <a:ext uri="{9D8B030D-6E8A-4147-A177-3AD203B41FA5}">
                          <a16:colId xmlns:a16="http://schemas.microsoft.com/office/drawing/2014/main" val="20003"/>
                        </a:ext>
                      </a:extLst>
                    </a:gridCol>
                  </a:tblGrid>
                  <a:tr h="67632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i="0" dirty="0">
                              <a:solidFill>
                                <a:schemeClr val="tx1"/>
                              </a:solidFill>
                              <a:latin typeface="Times New Roman" pitchFamily="18" charset="0"/>
                              <a:cs typeface="Times New Roman" pitchFamily="18" charset="0"/>
                            </a:rPr>
                            <a:t>R5</a:t>
                          </a:r>
                          <a:r>
                            <a:rPr lang="zh-CN" altLang="en-US" i="0" dirty="0">
                              <a:solidFill>
                                <a:schemeClr val="tx1"/>
                              </a:solidFill>
                              <a:latin typeface="Times New Roman" pitchFamily="18" charset="0"/>
                              <a:cs typeface="Times New Roman" pitchFamily="18" charset="0"/>
                            </a:rPr>
                            <a:t>（</a:t>
                          </a:r>
                          <a:r>
                            <a:rPr lang="el-GR" altLang="zh-CN" sz="1800" b="1" i="0" kern="1200" noProof="0" dirty="0">
                              <a:solidFill>
                                <a:schemeClr val="tx1"/>
                              </a:solidFill>
                              <a:latin typeface="Times New Roman" pitchFamily="18" charset="0"/>
                              <a:ea typeface="+mn-ea"/>
                              <a:cs typeface="Times New Roman" pitchFamily="18" charset="0"/>
                            </a:rPr>
                            <a:t>Ω</a:t>
                          </a:r>
                          <a:r>
                            <a:rPr lang="zh-CN" altLang="en-US" i="0" dirty="0">
                              <a:solidFill>
                                <a:schemeClr val="tx1"/>
                              </a:solidFill>
                              <a:latin typeface="Times New Roman" pitchFamily="18" charset="0"/>
                              <a:cs typeface="Times New Roman"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Times New Roman" pitchFamily="18" charset="0"/>
                              <a:cs typeface="Times New Roman" pitchFamily="18" charset="0"/>
                            </a:rPr>
                            <a:t>12</a:t>
                          </a:r>
                          <a:endParaRPr lang="zh-CN" alt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i="0" dirty="0">
                              <a:solidFill>
                                <a:schemeClr val="tx1"/>
                              </a:solidFill>
                              <a:latin typeface="Times New Roman" pitchFamily="18" charset="0"/>
                              <a:cs typeface="Times New Roman" pitchFamily="18" charset="0"/>
                            </a:rPr>
                            <a:t>6</a:t>
                          </a:r>
                          <a:endParaRPr lang="zh-CN" altLang="en-US" sz="2000" i="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i="0" dirty="0">
                              <a:solidFill>
                                <a:schemeClr val="tx1"/>
                              </a:solidFill>
                              <a:latin typeface="Times New Roman" pitchFamily="18" charset="0"/>
                              <a:cs typeface="Times New Roman" pitchFamily="18" charset="0"/>
                            </a:rPr>
                            <a:t>1</a:t>
                          </a:r>
                          <a:endParaRPr lang="zh-CN" altLang="en-US" i="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901891">
                    <a:tc>
                      <a:txBody>
                        <a:bodyPr/>
                        <a:lstStyle/>
                        <a:p>
                          <a:r>
                            <a:rPr lang="en-US" altLang="zh-CN" dirty="0">
                              <a:solidFill>
                                <a:schemeClr val="tx1"/>
                              </a:solidFill>
                            </a:rPr>
                            <a:t>S1</a:t>
                          </a:r>
                          <a:r>
                            <a:rPr lang="zh-CN" altLang="en-US" dirty="0">
                              <a:solidFill>
                                <a:schemeClr val="tx1"/>
                              </a:solidFill>
                            </a:rPr>
                            <a:t>、</a:t>
                          </a:r>
                          <a:r>
                            <a:rPr lang="en-US" altLang="zh-CN" dirty="0">
                              <a:solidFill>
                                <a:schemeClr val="tx1"/>
                              </a:solidFill>
                            </a:rPr>
                            <a:t>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290" t="-78523" r="-203053" b="-51007"/>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0833" t="-78523" r="-121667" b="-51007"/>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5517" t="-78523" r="-690" b="-51007"/>
                          </a:stretch>
                        </a:blipFill>
                      </a:tcPr>
                    </a:tc>
                    <a:extLst>
                      <a:ext uri="{0D108BD9-81ED-4DB2-BD59-A6C34878D82A}">
                        <a16:rowId xmlns:a16="http://schemas.microsoft.com/office/drawing/2014/main" val="10001"/>
                      </a:ext>
                    </a:extLst>
                  </a:tr>
                  <a:tr h="365760">
                    <a:tc>
                      <a:txBody>
                        <a:bodyPr/>
                        <a:lstStyle/>
                        <a:p>
                          <a:r>
                            <a:rPr lang="zh-CN" altLang="en-US" dirty="0">
                              <a:solidFill>
                                <a:schemeClr val="tx1"/>
                              </a:solidFill>
                            </a:rPr>
                            <a:t>阻尼状态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a:solidFill>
                                <a:schemeClr val="tx1"/>
                              </a:solidFill>
                            </a:rPr>
                            <a:t>过阻尼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a:solidFill>
                                <a:schemeClr val="tx1"/>
                              </a:solidFill>
                            </a:rPr>
                            <a:t>欠阻尼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a:solidFill>
                                <a:schemeClr val="tx1"/>
                              </a:solidFill>
                            </a:rPr>
                            <a:t>欠阻尼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3"/>
          <p:cNvSpPr>
            <a:spLocks noChangeArrowheads="1"/>
          </p:cNvSpPr>
          <p:nvPr/>
        </p:nvSpPr>
        <p:spPr bwMode="auto">
          <a:xfrm>
            <a:off x="4357686" y="6072206"/>
            <a:ext cx="647700" cy="396875"/>
          </a:xfrm>
          <a:prstGeom prst="rect">
            <a:avLst/>
          </a:prstGeom>
          <a:noFill/>
          <a:ln w="9525">
            <a:noFill/>
            <a:miter lim="800000"/>
            <a:headEnd/>
            <a:tailEnd/>
          </a:ln>
        </p:spPr>
        <p:txBody>
          <a:bodyPr>
            <a:spAutoFit/>
          </a:bodyPr>
          <a:lstStyle/>
          <a:p>
            <a:r>
              <a:rPr lang="zh-CN" altLang="en-US" sz="2000" b="1" dirty="0">
                <a:latin typeface="Candara" pitchFamily="34" charset="0"/>
                <a:ea typeface="华文楷体"/>
                <a:cs typeface="华文楷体"/>
              </a:rPr>
              <a:t>图</a:t>
            </a:r>
            <a:r>
              <a:rPr lang="en-US" altLang="zh-CN" sz="2000" b="1" dirty="0">
                <a:latin typeface="Candara" pitchFamily="34" charset="0"/>
                <a:ea typeface="华文楷体"/>
                <a:cs typeface="华文楷体"/>
              </a:rPr>
              <a:t>3</a:t>
            </a:r>
            <a:endParaRPr lang="zh-CN" altLang="en-US" sz="2000" b="1" dirty="0">
              <a:latin typeface="Candara" pitchFamily="34" charset="0"/>
              <a:ea typeface="华文楷体"/>
              <a:cs typeface="华文楷体"/>
            </a:endParaRPr>
          </a:p>
        </p:txBody>
      </p:sp>
      <p:sp>
        <p:nvSpPr>
          <p:cNvPr id="8" name="内容占位符 1"/>
          <p:cNvSpPr txBox="1">
            <a:spLocks/>
          </p:cNvSpPr>
          <p:nvPr/>
        </p:nvSpPr>
        <p:spPr>
          <a:xfrm>
            <a:off x="500034" y="642918"/>
            <a:ext cx="8032750" cy="3727450"/>
          </a:xfrm>
          <a:prstGeom prst="rect">
            <a:avLst/>
          </a:prstGeom>
        </p:spPr>
        <p:txBody>
          <a:bodyPr>
            <a:normAutofit/>
          </a:bodyPr>
          <a:lstStyle/>
          <a:p>
            <a:pPr marL="273050" indent="-273050">
              <a:lnSpc>
                <a:spcPct val="90000"/>
              </a:lnSpc>
              <a:spcBef>
                <a:spcPct val="20000"/>
              </a:spcBef>
              <a:buClr>
                <a:schemeClr val="accent1"/>
              </a:buClr>
              <a:buSzPct val="100000"/>
            </a:pPr>
            <a:r>
              <a:rPr lang="en-US" altLang="zh-CN" sz="2400" b="1" dirty="0">
                <a:latin typeface="华文楷体"/>
                <a:ea typeface="华文楷体"/>
                <a:cs typeface="Times New Roman" pitchFamily="18" charset="0"/>
              </a:rPr>
              <a:t>3</a:t>
            </a:r>
            <a:r>
              <a:rPr lang="zh-CN" altLang="en-US" sz="2400" b="1" dirty="0">
                <a:latin typeface="华文楷体"/>
                <a:ea typeface="华文楷体"/>
                <a:cs typeface="Times New Roman" pitchFamily="18" charset="0"/>
              </a:rPr>
              <a:t>、阻抗匹配设计与分析</a:t>
            </a:r>
            <a:endParaRPr lang="en-US" altLang="zh-CN" sz="2400" b="1" dirty="0">
              <a:latin typeface="华文楷体"/>
              <a:ea typeface="华文楷体"/>
              <a:cs typeface="Times New Roman" pitchFamily="18" charset="0"/>
            </a:endParaRPr>
          </a:p>
          <a:p>
            <a:pPr marL="273050" indent="-273050">
              <a:lnSpc>
                <a:spcPct val="90000"/>
              </a:lnSpc>
              <a:spcBef>
                <a:spcPct val="20000"/>
              </a:spcBef>
              <a:buClr>
                <a:schemeClr val="accent1"/>
              </a:buClr>
              <a:buSzPct val="100000"/>
            </a:pPr>
            <a:r>
              <a:rPr kumimoji="1" lang="zh-CN" altLang="en-US" sz="2400" b="1" dirty="0">
                <a:latin typeface="华文楷体"/>
                <a:ea typeface="华文楷体"/>
                <a:cs typeface="Times New Roman" pitchFamily="18" charset="0"/>
              </a:rPr>
              <a:t>    </a:t>
            </a:r>
            <a:r>
              <a:rPr kumimoji="1" lang="zh-CN" altLang="en-US" sz="2200" b="1" dirty="0">
                <a:latin typeface="华文楷体"/>
                <a:ea typeface="华文楷体"/>
                <a:cs typeface="Times New Roman" pitchFamily="18" charset="0"/>
              </a:rPr>
              <a:t>图</a:t>
            </a:r>
            <a:r>
              <a:rPr kumimoji="1" lang="en-US" altLang="zh-CN" sz="2200" b="1" dirty="0">
                <a:latin typeface="华文楷体"/>
                <a:ea typeface="华文楷体"/>
                <a:cs typeface="Times New Roman" pitchFamily="18" charset="0"/>
              </a:rPr>
              <a:t>3</a:t>
            </a:r>
            <a:r>
              <a:rPr kumimoji="1" lang="zh-CN" altLang="en-US" sz="2200" b="1" dirty="0">
                <a:latin typeface="华文楷体"/>
                <a:ea typeface="华文楷体"/>
                <a:cs typeface="Times New Roman" pitchFamily="18" charset="0"/>
              </a:rPr>
              <a:t>所示电路中</a:t>
            </a:r>
            <a:r>
              <a:rPr kumimoji="1" lang="zh-CN" altLang="en-US" sz="2200" b="1" dirty="0">
                <a:latin typeface="Times New Roman" pitchFamily="18" charset="0"/>
                <a:ea typeface="华文楷体"/>
                <a:cs typeface="Times New Roman" pitchFamily="18" charset="0"/>
              </a:rPr>
              <a:t>，单口网络中电压源峰值为</a:t>
            </a:r>
            <a:r>
              <a:rPr kumimoji="1" lang="en-US" altLang="zh-CN" sz="2200" b="1" dirty="0">
                <a:latin typeface="Times New Roman" pitchFamily="18" charset="0"/>
                <a:ea typeface="华文楷体"/>
                <a:cs typeface="Times New Roman" pitchFamily="18" charset="0"/>
              </a:rPr>
              <a:t>10V</a:t>
            </a:r>
            <a:r>
              <a:rPr kumimoji="1" lang="zh-CN" altLang="en-US" sz="2200" b="1" dirty="0">
                <a:latin typeface="Times New Roman" pitchFamily="18" charset="0"/>
                <a:ea typeface="华文楷体"/>
                <a:cs typeface="Times New Roman" pitchFamily="18" charset="0"/>
              </a:rPr>
              <a:t>，源内阻</a:t>
            </a:r>
            <a:r>
              <a:rPr kumimoji="1" lang="en-US" altLang="zh-CN" sz="2200" b="1" dirty="0">
                <a:latin typeface="Times New Roman" pitchFamily="18" charset="0"/>
                <a:ea typeface="华文楷体"/>
                <a:cs typeface="Times New Roman" pitchFamily="18" charset="0"/>
              </a:rPr>
              <a:t>R0=20Ω</a:t>
            </a:r>
            <a:r>
              <a:rPr kumimoji="1" lang="zh-CN" altLang="en-US" sz="2200" b="1" dirty="0">
                <a:latin typeface="Times New Roman" pitchFamily="18" charset="0"/>
                <a:ea typeface="华文楷体"/>
                <a:cs typeface="Times New Roman" pitchFamily="18" charset="0"/>
              </a:rPr>
              <a:t>，</a:t>
            </a:r>
            <a:r>
              <a:rPr kumimoji="1" lang="en-US" altLang="zh-CN" sz="2200" b="1" i="1" dirty="0">
                <a:latin typeface="Times New Roman" pitchFamily="18" charset="0"/>
                <a:ea typeface="华文楷体"/>
                <a:cs typeface="Times New Roman" pitchFamily="18" charset="0"/>
              </a:rPr>
              <a:t>f</a:t>
            </a:r>
            <a:r>
              <a:rPr kumimoji="1" lang="en-US" altLang="zh-CN" sz="2200" b="1" dirty="0">
                <a:latin typeface="Times New Roman" pitchFamily="18" charset="0"/>
                <a:ea typeface="华文楷体"/>
                <a:cs typeface="Times New Roman" pitchFamily="18" charset="0"/>
              </a:rPr>
              <a:t>=1kHz</a:t>
            </a:r>
            <a:r>
              <a:rPr kumimoji="1" lang="zh-CN" altLang="en-US" sz="2200" b="1" dirty="0">
                <a:latin typeface="Times New Roman" pitchFamily="18" charset="0"/>
                <a:ea typeface="华文楷体"/>
                <a:cs typeface="Times New Roman" pitchFamily="18" charset="0"/>
              </a:rPr>
              <a:t>。为使</a:t>
            </a:r>
            <a:r>
              <a:rPr kumimoji="1" lang="en-US" altLang="zh-CN" sz="2200" b="1" dirty="0">
                <a:latin typeface="Times New Roman" pitchFamily="18" charset="0"/>
                <a:ea typeface="华文楷体"/>
                <a:cs typeface="Times New Roman" pitchFamily="18" charset="0"/>
              </a:rPr>
              <a:t>10Ω</a:t>
            </a:r>
            <a:r>
              <a:rPr kumimoji="1" lang="zh-CN" altLang="en-US" sz="2200" b="1" dirty="0">
                <a:latin typeface="Times New Roman" pitchFamily="18" charset="0"/>
                <a:ea typeface="华文楷体"/>
                <a:cs typeface="Times New Roman" pitchFamily="18" charset="0"/>
              </a:rPr>
              <a:t>负载电阻</a:t>
            </a:r>
            <a:r>
              <a:rPr kumimoji="1" lang="en-US" altLang="zh-CN" sz="2200" b="1" dirty="0">
                <a:latin typeface="Times New Roman" pitchFamily="18" charset="0"/>
                <a:ea typeface="华文楷体"/>
                <a:cs typeface="Times New Roman" pitchFamily="18" charset="0"/>
              </a:rPr>
              <a:t>R</a:t>
            </a:r>
            <a:r>
              <a:rPr kumimoji="1" lang="en-US" altLang="zh-CN" sz="2200" b="1" baseline="-25000" dirty="0">
                <a:latin typeface="Times New Roman" pitchFamily="18" charset="0"/>
                <a:ea typeface="华文楷体"/>
                <a:cs typeface="Times New Roman" pitchFamily="18" charset="0"/>
              </a:rPr>
              <a:t>L</a:t>
            </a:r>
            <a:r>
              <a:rPr kumimoji="1" lang="zh-CN" altLang="en-US" sz="2200" b="1" dirty="0">
                <a:latin typeface="Times New Roman" pitchFamily="18" charset="0"/>
                <a:ea typeface="华文楷体"/>
                <a:cs typeface="Times New Roman" pitchFamily="18" charset="0"/>
              </a:rPr>
              <a:t>从单口网络中获得最大功率，设计一个由一个电容和一个电感元件组成的网络来满足共轭匹配条件。</a:t>
            </a:r>
            <a:endParaRPr kumimoji="1" lang="en-US" altLang="zh-CN" sz="2200" b="1" dirty="0">
              <a:latin typeface="Times New Roman" pitchFamily="18" charset="0"/>
              <a:ea typeface="华文楷体"/>
              <a:cs typeface="Times New Roman" pitchFamily="18" charset="0"/>
            </a:endParaRPr>
          </a:p>
          <a:p>
            <a:pPr marL="273050" indent="-273050">
              <a:lnSpc>
                <a:spcPct val="90000"/>
              </a:lnSpc>
              <a:spcBef>
                <a:spcPct val="20000"/>
              </a:spcBef>
              <a:buClr>
                <a:schemeClr val="accent1"/>
              </a:buClr>
              <a:buSzPct val="100000"/>
              <a:buFont typeface="Symbol" pitchFamily="18" charset="2"/>
              <a:buNone/>
            </a:pPr>
            <a:r>
              <a:rPr kumimoji="1" lang="zh-CN" altLang="en-US" sz="2200" b="1" dirty="0">
                <a:latin typeface="Times New Roman" pitchFamily="18" charset="0"/>
                <a:ea typeface="华文楷体"/>
                <a:cs typeface="Times New Roman" pitchFamily="18" charset="0"/>
              </a:rPr>
              <a:t>  （</a:t>
            </a:r>
            <a:r>
              <a:rPr kumimoji="1" lang="en-US" altLang="zh-CN" sz="2200" b="1" dirty="0">
                <a:latin typeface="Times New Roman" pitchFamily="18" charset="0"/>
                <a:ea typeface="华文楷体"/>
                <a:cs typeface="Times New Roman" pitchFamily="18" charset="0"/>
              </a:rPr>
              <a:t>1</a:t>
            </a:r>
            <a:r>
              <a:rPr kumimoji="1" lang="zh-CN" altLang="en-US" sz="2200" b="1" dirty="0">
                <a:latin typeface="Times New Roman" pitchFamily="18" charset="0"/>
                <a:ea typeface="华文楷体"/>
                <a:cs typeface="Times New Roman" pitchFamily="18" charset="0"/>
              </a:rPr>
              <a:t>）计算</a:t>
            </a:r>
            <a:r>
              <a:rPr kumimoji="1" lang="en-US" altLang="zh-CN" sz="2200" b="1" dirty="0">
                <a:latin typeface="Times New Roman" pitchFamily="18" charset="0"/>
                <a:ea typeface="华文楷体"/>
                <a:cs typeface="Times New Roman" pitchFamily="18" charset="0"/>
              </a:rPr>
              <a:t>C</a:t>
            </a:r>
            <a:r>
              <a:rPr kumimoji="1" lang="zh-CN" altLang="en-US" sz="2200" b="1" dirty="0">
                <a:latin typeface="Times New Roman" pitchFamily="18" charset="0"/>
                <a:ea typeface="华文楷体"/>
                <a:cs typeface="Times New Roman" pitchFamily="18" charset="0"/>
              </a:rPr>
              <a:t>和</a:t>
            </a:r>
            <a:r>
              <a:rPr kumimoji="1" lang="en-US" altLang="zh-CN" sz="2200" b="1" dirty="0">
                <a:latin typeface="Times New Roman" pitchFamily="18" charset="0"/>
                <a:ea typeface="华文楷体"/>
                <a:cs typeface="Times New Roman" pitchFamily="18" charset="0"/>
              </a:rPr>
              <a:t>L</a:t>
            </a:r>
            <a:r>
              <a:rPr kumimoji="1" lang="zh-CN" altLang="en-US" sz="2200" b="1" dirty="0">
                <a:latin typeface="Times New Roman" pitchFamily="18" charset="0"/>
                <a:ea typeface="华文楷体"/>
                <a:cs typeface="Times New Roman" pitchFamily="18" charset="0"/>
              </a:rPr>
              <a:t>的大小；</a:t>
            </a:r>
            <a:endParaRPr kumimoji="1" lang="en-US" altLang="zh-CN" sz="2200" b="1" dirty="0">
              <a:latin typeface="Times New Roman" pitchFamily="18" charset="0"/>
              <a:ea typeface="华文楷体"/>
              <a:cs typeface="Times New Roman" pitchFamily="18" charset="0"/>
            </a:endParaRPr>
          </a:p>
          <a:p>
            <a:pPr marL="273050" indent="-273050">
              <a:lnSpc>
                <a:spcPct val="90000"/>
              </a:lnSpc>
              <a:spcBef>
                <a:spcPct val="20000"/>
              </a:spcBef>
              <a:buClr>
                <a:schemeClr val="accent1"/>
              </a:buClr>
              <a:buSzPct val="100000"/>
              <a:buFont typeface="Symbol" pitchFamily="18" charset="2"/>
              <a:buNone/>
            </a:pPr>
            <a:r>
              <a:rPr kumimoji="1" lang="zh-CN" altLang="en-US" sz="2200" b="1" dirty="0">
                <a:latin typeface="Times New Roman" pitchFamily="18" charset="0"/>
                <a:ea typeface="华文楷体"/>
                <a:cs typeface="Times New Roman" pitchFamily="18" charset="0"/>
              </a:rPr>
              <a:t>  （</a:t>
            </a:r>
            <a:r>
              <a:rPr kumimoji="1" lang="en-US" altLang="zh-CN" sz="2200" b="1" dirty="0">
                <a:latin typeface="Times New Roman" pitchFamily="18" charset="0"/>
                <a:ea typeface="华文楷体"/>
                <a:cs typeface="Times New Roman" pitchFamily="18" charset="0"/>
              </a:rPr>
              <a:t>2</a:t>
            </a:r>
            <a:r>
              <a:rPr kumimoji="1" lang="zh-CN" altLang="en-US" sz="2200" b="1" dirty="0">
                <a:latin typeface="Times New Roman" pitchFamily="18" charset="0"/>
                <a:ea typeface="华文楷体"/>
                <a:cs typeface="Times New Roman" pitchFamily="18" charset="0"/>
              </a:rPr>
              <a:t>）用单频交流分析测试</a:t>
            </a:r>
            <a:r>
              <a:rPr kumimoji="1" lang="en-US" altLang="zh-CN" sz="2200" b="1" dirty="0" err="1">
                <a:latin typeface="Times New Roman" pitchFamily="18" charset="0"/>
                <a:ea typeface="华文楷体"/>
                <a:cs typeface="Times New Roman" pitchFamily="18" charset="0"/>
              </a:rPr>
              <a:t>ab</a:t>
            </a:r>
            <a:r>
              <a:rPr kumimoji="1" lang="zh-CN" altLang="en-US" sz="2200" b="1" dirty="0">
                <a:latin typeface="Times New Roman" pitchFamily="18" charset="0"/>
                <a:ea typeface="华文楷体"/>
                <a:cs typeface="Times New Roman" pitchFamily="18" charset="0"/>
              </a:rPr>
              <a:t>端的输入阻抗，判断是否满足共轭匹配；</a:t>
            </a:r>
            <a:endParaRPr kumimoji="1" lang="en-US" altLang="zh-CN" sz="2200" b="1" dirty="0">
              <a:latin typeface="Times New Roman" pitchFamily="18" charset="0"/>
              <a:ea typeface="华文楷体"/>
              <a:cs typeface="Times New Roman" pitchFamily="18" charset="0"/>
            </a:endParaRPr>
          </a:p>
          <a:p>
            <a:pPr marL="273050" indent="-273050">
              <a:lnSpc>
                <a:spcPct val="90000"/>
              </a:lnSpc>
              <a:spcBef>
                <a:spcPct val="20000"/>
              </a:spcBef>
              <a:buClr>
                <a:schemeClr val="accent1"/>
              </a:buClr>
              <a:buSzPct val="100000"/>
              <a:buFont typeface="Symbol" pitchFamily="18" charset="2"/>
              <a:buNone/>
            </a:pPr>
            <a:r>
              <a:rPr kumimoji="1" lang="zh-CN" altLang="en-US" sz="2200" b="1" dirty="0">
                <a:latin typeface="Times New Roman" pitchFamily="18" charset="0"/>
                <a:ea typeface="华文楷体"/>
                <a:cs typeface="Times New Roman" pitchFamily="18" charset="0"/>
              </a:rPr>
              <a:t>  （</a:t>
            </a:r>
            <a:r>
              <a:rPr kumimoji="1" lang="en-US" altLang="zh-CN" sz="2200" b="1" dirty="0">
                <a:latin typeface="Times New Roman" pitchFamily="18" charset="0"/>
                <a:ea typeface="华文楷体"/>
                <a:cs typeface="Times New Roman" pitchFamily="18" charset="0"/>
              </a:rPr>
              <a:t>3</a:t>
            </a:r>
            <a:r>
              <a:rPr kumimoji="1" lang="zh-CN" altLang="en-US" sz="2200" b="1" dirty="0">
                <a:latin typeface="Times New Roman" pitchFamily="18" charset="0"/>
                <a:ea typeface="华文楷体"/>
                <a:cs typeface="Times New Roman" pitchFamily="18" charset="0"/>
              </a:rPr>
              <a:t>）用瓦特计仿真测试</a:t>
            </a:r>
            <a:r>
              <a:rPr kumimoji="1" lang="en-US" altLang="zh-CN" sz="2200" b="1" dirty="0" err="1">
                <a:latin typeface="Times New Roman" pitchFamily="18" charset="0"/>
                <a:ea typeface="华文楷体"/>
                <a:cs typeface="Times New Roman" pitchFamily="18" charset="0"/>
              </a:rPr>
              <a:t>ab</a:t>
            </a:r>
            <a:r>
              <a:rPr kumimoji="1" lang="zh-CN" altLang="en-US" sz="2200" b="1" dirty="0">
                <a:latin typeface="Times New Roman" pitchFamily="18" charset="0"/>
                <a:ea typeface="华文楷体"/>
                <a:cs typeface="Times New Roman" pitchFamily="18" charset="0"/>
              </a:rPr>
              <a:t>端负载网络吸收的功率及网络的功率因数，并与理论值比较。</a:t>
            </a:r>
          </a:p>
        </p:txBody>
      </p:sp>
      <p:pic>
        <p:nvPicPr>
          <p:cNvPr id="93186" name="Picture 2"/>
          <p:cNvPicPr>
            <a:picLocks noChangeAspect="1" noChangeArrowheads="1"/>
          </p:cNvPicPr>
          <p:nvPr/>
        </p:nvPicPr>
        <p:blipFill>
          <a:blip r:embed="rId2"/>
          <a:srcRect/>
          <a:stretch>
            <a:fillRect/>
          </a:stretch>
        </p:blipFill>
        <p:spPr bwMode="auto">
          <a:xfrm>
            <a:off x="2285984" y="4143380"/>
            <a:ext cx="4838690" cy="1836831"/>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内容占位符 1"/>
          <p:cNvSpPr>
            <a:spLocks noGrp="1"/>
          </p:cNvSpPr>
          <p:nvPr>
            <p:ph idx="1"/>
          </p:nvPr>
        </p:nvSpPr>
        <p:spPr>
          <a:xfrm>
            <a:off x="611188" y="1557338"/>
            <a:ext cx="7848600" cy="1008062"/>
          </a:xfrm>
        </p:spPr>
        <p:txBody>
          <a:bodyPr/>
          <a:lstStyle/>
          <a:p>
            <a:pPr marL="0" indent="0" eaLnBrk="1" hangingPunct="1">
              <a:buFont typeface="Symbol" pitchFamily="18" charset="2"/>
              <a:buNone/>
            </a:pPr>
            <a:r>
              <a:rPr lang="zh-CN" altLang="en-US"/>
              <a:t>例</a:t>
            </a:r>
            <a:r>
              <a:rPr lang="en-US" altLang="zh-CN"/>
              <a:t>.</a:t>
            </a:r>
            <a:r>
              <a:rPr lang="zh-CN" altLang="en-US" sz="2400"/>
              <a:t>电路如图所示，开关闭合，用</a:t>
            </a:r>
            <a:r>
              <a:rPr lang="zh-CN" altLang="en-US" sz="2400">
                <a:solidFill>
                  <a:srgbClr val="FF0000"/>
                </a:solidFill>
              </a:rPr>
              <a:t>示波器</a:t>
            </a:r>
            <a:r>
              <a:rPr lang="zh-CN" altLang="en-US" sz="2400"/>
              <a:t>观察电容充电波形，开关断开，观察电容放电波形，并求充放电时间常数。</a:t>
            </a:r>
            <a:r>
              <a:rPr lang="en-US" altLang="zh-CN" sz="2400"/>
              <a:t>       </a:t>
            </a:r>
            <a:endParaRPr lang="zh-CN" altLang="en-US"/>
          </a:p>
        </p:txBody>
      </p:sp>
      <p:sp>
        <p:nvSpPr>
          <p:cNvPr id="61442" name="标题 2"/>
          <p:cNvSpPr>
            <a:spLocks noGrp="1"/>
          </p:cNvSpPr>
          <p:nvPr>
            <p:ph type="title"/>
          </p:nvPr>
        </p:nvSpPr>
        <p:spPr/>
        <p:txBody>
          <a:bodyPr/>
          <a:lstStyle/>
          <a:p>
            <a:pPr eaLnBrk="1" hangingPunct="1"/>
            <a:r>
              <a:rPr lang="zh-CN" altLang="en-US"/>
              <a:t>二、仿真实例</a:t>
            </a:r>
          </a:p>
        </p:txBody>
      </p:sp>
      <p:pic>
        <p:nvPicPr>
          <p:cNvPr id="61443" name="Picture 2"/>
          <p:cNvPicPr>
            <a:picLocks noChangeAspect="1" noChangeArrowheads="1"/>
          </p:cNvPicPr>
          <p:nvPr/>
        </p:nvPicPr>
        <p:blipFill>
          <a:blip r:embed="rId2"/>
          <a:srcRect/>
          <a:stretch>
            <a:fillRect/>
          </a:stretch>
        </p:blipFill>
        <p:spPr bwMode="auto">
          <a:xfrm>
            <a:off x="468313" y="2997200"/>
            <a:ext cx="4048125" cy="1905000"/>
          </a:xfrm>
          <a:prstGeom prst="rect">
            <a:avLst/>
          </a:prstGeom>
          <a:noFill/>
          <a:ln w="9525">
            <a:noFill/>
            <a:miter lim="800000"/>
            <a:headEnd/>
            <a:tailEnd/>
          </a:ln>
        </p:spPr>
      </p:pic>
      <p:pic>
        <p:nvPicPr>
          <p:cNvPr id="61444" name="Picture 4"/>
          <p:cNvPicPr>
            <a:picLocks noChangeAspect="1" noChangeArrowheads="1"/>
          </p:cNvPicPr>
          <p:nvPr/>
        </p:nvPicPr>
        <p:blipFill>
          <a:blip r:embed="rId3"/>
          <a:srcRect/>
          <a:stretch>
            <a:fillRect/>
          </a:stretch>
        </p:blipFill>
        <p:spPr bwMode="auto">
          <a:xfrm>
            <a:off x="4806950" y="2565400"/>
            <a:ext cx="3744913" cy="2643188"/>
          </a:xfrm>
          <a:prstGeom prst="rect">
            <a:avLst/>
          </a:prstGeom>
          <a:noFill/>
          <a:ln w="9525">
            <a:noFill/>
            <a:miter lim="800000"/>
            <a:headEnd/>
            <a:tailEnd/>
          </a:ln>
        </p:spPr>
      </p:pic>
      <p:graphicFrame>
        <p:nvGraphicFramePr>
          <p:cNvPr id="6" name="表格 5"/>
          <p:cNvGraphicFramePr>
            <a:graphicFrameLocks noGrp="1"/>
          </p:cNvGraphicFramePr>
          <p:nvPr/>
        </p:nvGraphicFramePr>
        <p:xfrm>
          <a:off x="461963" y="5229225"/>
          <a:ext cx="7272808" cy="14833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2396008">
                  <a:extLst>
                    <a:ext uri="{9D8B030D-6E8A-4147-A177-3AD203B41FA5}">
                      <a16:colId xmlns:a16="http://schemas.microsoft.com/office/drawing/2014/main" val="20004"/>
                    </a:ext>
                  </a:extLst>
                </a:gridCol>
              </a:tblGrid>
              <a:tr h="370840">
                <a:tc>
                  <a:txBody>
                    <a:bodyPr/>
                    <a:lstStyle/>
                    <a:p>
                      <a:r>
                        <a:rPr lang="zh-CN" altLang="en-US" dirty="0"/>
                        <a:t>充电</a:t>
                      </a:r>
                    </a:p>
                  </a:txBody>
                  <a:tcPr>
                    <a:solidFill>
                      <a:schemeClr val="accent1"/>
                    </a:solidFill>
                  </a:tcPr>
                </a:tc>
                <a:tc>
                  <a:txBody>
                    <a:bodyPr/>
                    <a:lstStyle/>
                    <a:p>
                      <a:pPr algn="ctr"/>
                      <a:r>
                        <a:rPr lang="en-US" altLang="zh-CN" dirty="0"/>
                        <a:t>0.632Uo</a:t>
                      </a:r>
                      <a:endParaRPr lang="zh-CN" altLang="en-US" dirty="0"/>
                    </a:p>
                  </a:txBody>
                  <a:tcPr>
                    <a:solidFill>
                      <a:schemeClr val="accent1"/>
                    </a:solidFill>
                  </a:tcPr>
                </a:tc>
                <a:tc>
                  <a:txBody>
                    <a:bodyPr/>
                    <a:lstStyle/>
                    <a:p>
                      <a:pPr algn="ctr"/>
                      <a:r>
                        <a:rPr lang="en-US" altLang="zh-CN" dirty="0"/>
                        <a:t>0.95Uo</a:t>
                      </a:r>
                      <a:endParaRPr lang="zh-CN" altLang="en-US" dirty="0"/>
                    </a:p>
                  </a:txBody>
                  <a:tcPr>
                    <a:solidFill>
                      <a:schemeClr val="accent1"/>
                    </a:solidFill>
                  </a:tcPr>
                </a:tc>
                <a:tc>
                  <a:txBody>
                    <a:bodyPr/>
                    <a:lstStyle/>
                    <a:p>
                      <a:pPr algn="ctr"/>
                      <a:r>
                        <a:rPr lang="en-US" altLang="zh-CN" dirty="0"/>
                        <a:t>0.993Uo</a:t>
                      </a:r>
                      <a:endParaRPr lang="zh-CN" altLang="en-US" dirty="0"/>
                    </a:p>
                  </a:txBody>
                  <a:tcPr>
                    <a:solidFill>
                      <a:schemeClr val="accent1"/>
                    </a:solidFill>
                  </a:tcPr>
                </a:tc>
                <a:tc>
                  <a:txBody>
                    <a:bodyPr/>
                    <a:lstStyle/>
                    <a:p>
                      <a:pPr algn="ctr"/>
                      <a:r>
                        <a:rPr lang="zh-CN" altLang="en-US" dirty="0"/>
                        <a:t>充电时间常数（</a:t>
                      </a:r>
                      <a:r>
                        <a:rPr lang="en-US" altLang="zh-CN" dirty="0" err="1"/>
                        <a:t>ms</a:t>
                      </a:r>
                      <a:r>
                        <a:rPr lang="zh-CN" altLang="en-US" dirty="0"/>
                        <a:t>）</a:t>
                      </a:r>
                    </a:p>
                  </a:txBody>
                  <a:tcPr>
                    <a:solidFill>
                      <a:schemeClr val="accent1"/>
                    </a:solidFill>
                  </a:tcPr>
                </a:tc>
                <a:extLst>
                  <a:ext uri="{0D108BD9-81ED-4DB2-BD59-A6C34878D82A}">
                    <a16:rowId xmlns:a16="http://schemas.microsoft.com/office/drawing/2014/main" val="10000"/>
                  </a:ext>
                </a:extLst>
              </a:tr>
              <a:tr h="370840">
                <a:tc>
                  <a:txBody>
                    <a:bodyPr/>
                    <a:lstStyle/>
                    <a:p>
                      <a:r>
                        <a:rPr lang="zh-CN" altLang="en-US" dirty="0"/>
                        <a:t>时间（</a:t>
                      </a:r>
                      <a:r>
                        <a:rPr lang="en-US" altLang="zh-CN" dirty="0" err="1"/>
                        <a:t>ms</a:t>
                      </a:r>
                      <a:r>
                        <a:rPr lang="zh-CN" altLang="en-US" dirty="0"/>
                        <a:t>）</a:t>
                      </a:r>
                    </a:p>
                  </a:txBody>
                  <a:tcPr>
                    <a:solidFill>
                      <a:schemeClr val="accent1"/>
                    </a:solidFill>
                  </a:tcPr>
                </a:tc>
                <a:tc>
                  <a:txBody>
                    <a:bodyPr/>
                    <a:lstStyle/>
                    <a:p>
                      <a:pPr algn="ctr"/>
                      <a:r>
                        <a:rPr lang="en-US" altLang="zh-CN" i="1" dirty="0">
                          <a:latin typeface="Trebuchet MS" panose="020B0603020202020204" pitchFamily="34" charset="0"/>
                        </a:rPr>
                        <a:t>τ</a:t>
                      </a:r>
                      <a:endParaRPr lang="zh-CN" altLang="en-US" i="1" dirty="0">
                        <a:latin typeface="Trebuchet MS" panose="020B0603020202020204" pitchFamily="34" charset="0"/>
                      </a:endParaRPr>
                    </a:p>
                  </a:txBody>
                  <a:tcP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3</a:t>
                      </a:r>
                      <a:r>
                        <a:rPr lang="en-US" altLang="zh-CN" i="1" dirty="0">
                          <a:latin typeface="Trebuchet MS" panose="020B0603020202020204" pitchFamily="34" charset="0"/>
                        </a:rPr>
                        <a:t>τ</a:t>
                      </a:r>
                      <a:endParaRPr lang="zh-CN" altLang="en-US" i="1" dirty="0">
                        <a:latin typeface="Trebuchet MS" panose="020B0603020202020204" pitchFamily="34" charset="0"/>
                      </a:endParaRPr>
                    </a:p>
                  </a:txBody>
                  <a:tcP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5</a:t>
                      </a:r>
                      <a:r>
                        <a:rPr lang="en-US" altLang="zh-CN" i="1" dirty="0">
                          <a:latin typeface="Trebuchet MS" panose="020B0603020202020204" pitchFamily="34" charset="0"/>
                        </a:rPr>
                        <a:t>τ</a:t>
                      </a:r>
                      <a:endParaRPr lang="zh-CN" altLang="en-US" dirty="0"/>
                    </a:p>
                  </a:txBody>
                  <a:tcPr>
                    <a:solidFill>
                      <a:schemeClr val="accent1"/>
                    </a:solidFill>
                  </a:tcPr>
                </a:tc>
                <a:tc>
                  <a:txBody>
                    <a:bodyPr/>
                    <a:lstStyle/>
                    <a:p>
                      <a:pPr algn="ctr"/>
                      <a:endParaRPr lang="zh-CN" altLang="en-US" dirty="0"/>
                    </a:p>
                  </a:txBody>
                  <a:tcPr>
                    <a:solidFill>
                      <a:schemeClr val="accent1"/>
                    </a:solidFill>
                  </a:tcPr>
                </a:tc>
                <a:extLst>
                  <a:ext uri="{0D108BD9-81ED-4DB2-BD59-A6C34878D82A}">
                    <a16:rowId xmlns:a16="http://schemas.microsoft.com/office/drawing/2014/main" val="10001"/>
                  </a:ext>
                </a:extLst>
              </a:tr>
              <a:tr h="370840">
                <a:tc>
                  <a:txBody>
                    <a:bodyPr/>
                    <a:lstStyle/>
                    <a:p>
                      <a:r>
                        <a:rPr lang="zh-CN" altLang="en-US" dirty="0"/>
                        <a:t>放电</a:t>
                      </a:r>
                    </a:p>
                  </a:txBody>
                  <a:tcPr>
                    <a:solidFill>
                      <a:schemeClr val="accent1"/>
                    </a:solidFill>
                  </a:tcPr>
                </a:tc>
                <a:tc>
                  <a:txBody>
                    <a:bodyPr/>
                    <a:lstStyle/>
                    <a:p>
                      <a:pPr algn="ctr"/>
                      <a:r>
                        <a:rPr lang="en-US" altLang="zh-CN" dirty="0"/>
                        <a:t>0.368Uo</a:t>
                      </a:r>
                      <a:endParaRPr lang="zh-CN" altLang="en-US" dirty="0"/>
                    </a:p>
                  </a:txBody>
                  <a:tcPr>
                    <a:solidFill>
                      <a:schemeClr val="accent1"/>
                    </a:solidFill>
                  </a:tcPr>
                </a:tc>
                <a:tc>
                  <a:txBody>
                    <a:bodyPr/>
                    <a:lstStyle/>
                    <a:p>
                      <a:pPr algn="ctr"/>
                      <a:r>
                        <a:rPr lang="en-US" altLang="zh-CN" dirty="0"/>
                        <a:t>0.05Uo</a:t>
                      </a:r>
                      <a:endParaRPr lang="zh-CN" altLang="en-US" dirty="0"/>
                    </a:p>
                  </a:txBody>
                  <a:tcPr>
                    <a:solidFill>
                      <a:schemeClr val="accent1"/>
                    </a:solidFill>
                  </a:tcPr>
                </a:tc>
                <a:tc>
                  <a:txBody>
                    <a:bodyPr/>
                    <a:lstStyle/>
                    <a:p>
                      <a:pPr algn="ctr"/>
                      <a:r>
                        <a:rPr lang="en-US" altLang="zh-CN" dirty="0"/>
                        <a:t>0.007Uo</a:t>
                      </a:r>
                      <a:endParaRPr lang="zh-CN" altLang="en-US" dirty="0"/>
                    </a:p>
                  </a:txBody>
                  <a:tcP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a:t>放电时间常数（</a:t>
                      </a:r>
                      <a:r>
                        <a:rPr lang="en-US" altLang="zh-CN" dirty="0" err="1"/>
                        <a:t>ms</a:t>
                      </a:r>
                      <a:r>
                        <a:rPr lang="zh-CN" altLang="en-US" dirty="0"/>
                        <a:t>）</a:t>
                      </a:r>
                    </a:p>
                  </a:txBody>
                  <a:tcPr>
                    <a:solidFill>
                      <a:schemeClr val="accent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时间（</a:t>
                      </a:r>
                      <a:r>
                        <a:rPr lang="en-US" altLang="zh-CN" dirty="0" err="1"/>
                        <a:t>ms</a:t>
                      </a:r>
                      <a:r>
                        <a:rPr lang="zh-CN" altLang="en-US" dirty="0"/>
                        <a:t>）</a:t>
                      </a:r>
                    </a:p>
                  </a:txBody>
                  <a:tcP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i="1" dirty="0">
                          <a:latin typeface="Trebuchet MS" panose="020B0603020202020204" pitchFamily="34" charset="0"/>
                        </a:rPr>
                        <a:t>τ</a:t>
                      </a:r>
                      <a:endParaRPr lang="zh-CN" altLang="en-US" dirty="0"/>
                    </a:p>
                  </a:txBody>
                  <a:tcP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3</a:t>
                      </a:r>
                      <a:r>
                        <a:rPr lang="en-US" altLang="zh-CN" i="1" dirty="0">
                          <a:latin typeface="Trebuchet MS" panose="020B0603020202020204" pitchFamily="34" charset="0"/>
                        </a:rPr>
                        <a:t>τ</a:t>
                      </a:r>
                      <a:endParaRPr lang="zh-CN" altLang="en-US" i="1" dirty="0">
                        <a:latin typeface="Trebuchet MS" panose="020B0603020202020204" pitchFamily="34" charset="0"/>
                      </a:endParaRPr>
                    </a:p>
                  </a:txBody>
                  <a:tcP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i="1" dirty="0">
                          <a:latin typeface="Trebuchet MS" panose="020B0603020202020204" pitchFamily="34" charset="0"/>
                        </a:rPr>
                        <a:t>5τ</a:t>
                      </a:r>
                      <a:endParaRPr lang="zh-CN" altLang="en-US" dirty="0"/>
                    </a:p>
                  </a:txBody>
                  <a:tcPr>
                    <a:solidFill>
                      <a:schemeClr val="accent1"/>
                    </a:solidFill>
                  </a:tcPr>
                </a:tc>
                <a:tc>
                  <a:txBody>
                    <a:bodyPr/>
                    <a:lstStyle/>
                    <a:p>
                      <a:pPr algn="ctr"/>
                      <a:endParaRPr lang="en-US" altLang="zh-CN" dirty="0"/>
                    </a:p>
                  </a:txBody>
                  <a:tcPr>
                    <a:solidFill>
                      <a:schemeClr val="accent1"/>
                    </a:solidFill>
                  </a:tcPr>
                </a:tc>
                <a:extLst>
                  <a:ext uri="{0D108BD9-81ED-4DB2-BD59-A6C34878D82A}">
                    <a16:rowId xmlns:a16="http://schemas.microsoft.com/office/drawing/2014/main" val="10003"/>
                  </a:ext>
                </a:extLst>
              </a:tr>
            </a:tbl>
          </a:graphicData>
        </a:graphic>
      </p:graphicFrame>
    </p:spTree>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奥斯汀">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3151</TotalTime>
  <Words>876</Words>
  <Application>Microsoft Office PowerPoint</Application>
  <PresentationFormat>全屏显示(4:3)</PresentationFormat>
  <Paragraphs>114</Paragraphs>
  <Slides>16</Slides>
  <Notes>1</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3</vt:i4>
      </vt:variant>
      <vt:variant>
        <vt:lpstr>幻灯片标题</vt:lpstr>
      </vt:variant>
      <vt:variant>
        <vt:i4>16</vt:i4>
      </vt:variant>
    </vt:vector>
  </HeadingPairs>
  <TitlesOfParts>
    <vt:vector size="35" baseType="lpstr">
      <vt:lpstr>华文楷体</vt:lpstr>
      <vt:lpstr>华文新魏</vt:lpstr>
      <vt:lpstr>楷体</vt:lpstr>
      <vt:lpstr>楷体_GB2312</vt:lpstr>
      <vt:lpstr>隶书</vt:lpstr>
      <vt:lpstr>Arial</vt:lpstr>
      <vt:lpstr>Calibri</vt:lpstr>
      <vt:lpstr>Cambria Math</vt:lpstr>
      <vt:lpstr>Candara</vt:lpstr>
      <vt:lpstr>Symbol</vt:lpstr>
      <vt:lpstr>Times New Roman</vt:lpstr>
      <vt:lpstr>Trebuchet MS</vt:lpstr>
      <vt:lpstr>Wingdings</vt:lpstr>
      <vt:lpstr>自定义设计方案</vt:lpstr>
      <vt:lpstr>1_自定义设计方案</vt:lpstr>
      <vt:lpstr>波形</vt:lpstr>
      <vt:lpstr>Equation</vt:lpstr>
      <vt:lpstr>Image</vt:lpstr>
      <vt:lpstr>MathType 7.0 Equation</vt:lpstr>
      <vt:lpstr>Multisim与电路仿真设计</vt:lpstr>
      <vt:lpstr>实验五 动态电路分析与设计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二、仿真实例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Multisim与电路仿真设计</dc:title>
  <dc:creator>user</dc:creator>
  <cp:lastModifiedBy>re ol</cp:lastModifiedBy>
  <cp:revision>173</cp:revision>
  <dcterms:created xsi:type="dcterms:W3CDTF">2016-07-18T07:58:34Z</dcterms:created>
  <dcterms:modified xsi:type="dcterms:W3CDTF">2020-06-04T10:49:03Z</dcterms:modified>
</cp:coreProperties>
</file>