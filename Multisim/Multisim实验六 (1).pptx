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3" r:id="rId2"/>
    <p:sldMasterId id="2147484010" r:id="rId3"/>
  </p:sldMasterIdLst>
  <p:handoutMasterIdLst>
    <p:handoutMasterId r:id="rId17"/>
  </p:handoutMasterIdLst>
  <p:sldIdLst>
    <p:sldId id="256" r:id="rId4"/>
    <p:sldId id="257" r:id="rId5"/>
    <p:sldId id="305" r:id="rId6"/>
    <p:sldId id="306" r:id="rId7"/>
    <p:sldId id="300" r:id="rId8"/>
    <p:sldId id="302" r:id="rId9"/>
    <p:sldId id="301" r:id="rId10"/>
    <p:sldId id="268" r:id="rId11"/>
    <p:sldId id="281" r:id="rId12"/>
    <p:sldId id="304" r:id="rId13"/>
    <p:sldId id="294" r:id="rId14"/>
    <p:sldId id="298" r:id="rId15"/>
    <p:sldId id="299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20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png"/><Relationship Id="rId7" Type="http://schemas.openxmlformats.org/officeDocument/2006/relationships/image" Target="../media/image27.wmf"/><Relationship Id="rId2" Type="http://schemas.openxmlformats.org/officeDocument/2006/relationships/image" Target="../media/image22.png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DA5E8-D1EA-4FCC-BFEB-3BD458FC368B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41440-A063-486D-9BC9-AA7963B4CA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42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04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04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35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12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2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15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31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645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305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378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8908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0966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0693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14961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085148"/>
      </p:ext>
    </p:extLst>
  </p:cSld>
  <p:clrMapOvr>
    <a:masterClrMapping/>
  </p:clrMapOvr>
  <p:transition spd="slow"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18617"/>
      </p:ext>
    </p:extLst>
  </p:cSld>
  <p:clrMapOvr>
    <a:masterClrMapping/>
  </p:clrMapOvr>
  <p:transition spd="slow"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84348"/>
      </p:ext>
    </p:extLst>
  </p:cSld>
  <p:clrMapOvr>
    <a:masterClrMapping/>
  </p:clrMapOvr>
  <p:transition spd="slow">
    <p:randomBar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7650"/>
      </p:ext>
    </p:extLst>
  </p:cSld>
  <p:clrMapOvr>
    <a:masterClrMapping/>
  </p:clrMapOvr>
  <p:transition spd="slow">
    <p:randomBar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403684"/>
      </p:ext>
    </p:extLst>
  </p:cSld>
  <p:clrMapOvr>
    <a:masterClrMapping/>
  </p:clrMapOvr>
  <p:transition spd="slow">
    <p:randomBar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295938"/>
      </p:ext>
    </p:extLst>
  </p:cSld>
  <p:clrMapOvr>
    <a:masterClrMapping/>
  </p:clrMapOvr>
  <p:transition spd="slow">
    <p:randomBar dir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37278"/>
      </p:ext>
    </p:extLst>
  </p:cSld>
  <p:clrMapOvr>
    <a:masterClrMapping/>
  </p:clrMapOvr>
  <p:transition spd="slow">
    <p:randomBar dir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988840"/>
            <a:ext cx="8424935" cy="3744417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</a:defRPr>
            </a:lvl1pPr>
            <a:lvl2pPr>
              <a:defRPr sz="2400" b="1">
                <a:solidFill>
                  <a:schemeClr val="tx1"/>
                </a:solidFill>
              </a:defRPr>
            </a:lvl2pPr>
            <a:lvl3pPr>
              <a:defRPr sz="2400" b="1">
                <a:solidFill>
                  <a:schemeClr val="tx1"/>
                </a:solidFill>
              </a:defRPr>
            </a:lvl3pPr>
            <a:lvl4pPr>
              <a:defRPr sz="2000" b="1">
                <a:solidFill>
                  <a:schemeClr val="tx1"/>
                </a:solidFill>
              </a:defRPr>
            </a:lvl4pPr>
            <a:lvl5pPr>
              <a:defRPr sz="20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309320"/>
            <a:ext cx="1858082" cy="365125"/>
          </a:xfrm>
        </p:spPr>
        <p:txBody>
          <a:bodyPr/>
          <a:lstStyle>
            <a:lvl1pPr>
              <a:defRPr sz="18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 smtClean="0"/>
              <a:t>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714093"/>
            <a:ext cx="1996083" cy="112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478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008755"/>
            <a:ext cx="2310801" cy="1300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6347048" cy="398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D5121-4F22-4D7A-91F9-C1D9F627C227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7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19D7B91-66C6-43D6-91EE-5A0E8E61168F}" type="datetimeFigureOut">
              <a:rPr lang="zh-CN" altLang="en-US" smtClean="0"/>
              <a:pPr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374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8.png"/><Relationship Id="rId15" Type="http://schemas.openxmlformats.org/officeDocument/2006/relationships/oleObject" Target="../embeddings/oleObject5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wmf"/><Relationship Id="rId9" Type="http://schemas.openxmlformats.org/officeDocument/2006/relationships/image" Target="../media/image5.wmf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4.emf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emf"/><Relationship Id="rId5" Type="http://schemas.openxmlformats.org/officeDocument/2006/relationships/image" Target="../media/image12.wmf"/><Relationship Id="rId10" Type="http://schemas.openxmlformats.org/officeDocument/2006/relationships/image" Target="../media/image17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27.wmf"/><Relationship Id="rId20" Type="http://schemas.openxmlformats.org/officeDocument/2006/relationships/oleObject" Target="../embeddings/oleObject1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png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7584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 err="1" smtClean="0">
                <a:latin typeface="+mj-ea"/>
              </a:rPr>
              <a:t>Multisim</a:t>
            </a:r>
            <a:r>
              <a:rPr lang="zh-CN" altLang="en-US" b="1" dirty="0" smtClean="0">
                <a:latin typeface="+mj-ea"/>
              </a:rPr>
              <a:t>与电路仿真设计</a:t>
            </a:r>
            <a:endParaRPr lang="zh-CN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944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564904"/>
            <a:ext cx="8147248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一</a:t>
            </a:r>
            <a:r>
              <a:rPr lang="zh-CN" altLang="zh-CN" sz="2800" b="1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zh-CN" altLang="zh-CN" sz="2800" b="1" dirty="0">
                <a:solidFill>
                  <a:schemeClr val="tx1"/>
                </a:solidFill>
                <a:latin typeface="+mn-ea"/>
              </a:rPr>
              <a:t>实验目的与任务</a:t>
            </a:r>
          </a:p>
          <a:p>
            <a:pPr marL="0" indent="0">
              <a:buNone/>
            </a:pPr>
            <a:r>
              <a:rPr lang="zh-CN" altLang="en-US" sz="2400" dirty="0" smtClean="0"/>
              <a:t>仿真分析动态</a:t>
            </a:r>
            <a:r>
              <a:rPr lang="zh-CN" altLang="zh-CN" sz="2400" dirty="0" smtClean="0"/>
              <a:t>电路的</a:t>
            </a:r>
            <a:r>
              <a:rPr lang="zh-CN" altLang="en-US" sz="2400" dirty="0" smtClean="0"/>
              <a:t>频率特性</a:t>
            </a:r>
            <a:r>
              <a:rPr lang="zh-CN" altLang="zh-CN" sz="2400" dirty="0" smtClean="0"/>
              <a:t>，</a:t>
            </a:r>
            <a:r>
              <a:rPr lang="zh-CN" altLang="en-US" sz="2400" dirty="0" smtClean="0"/>
              <a:t>理解电路参数对放大电路频率特性的影响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0" indent="0">
              <a:buNone/>
            </a:pPr>
            <a:endParaRPr lang="zh-CN" altLang="zh-CN" sz="2800" b="1" dirty="0">
              <a:solidFill>
                <a:schemeClr val="tx1"/>
              </a:solidFill>
              <a:latin typeface="+mn-ea"/>
            </a:endParaRPr>
          </a:p>
          <a:p>
            <a:pPr marL="0" lvl="0" indent="0"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二、</a:t>
            </a:r>
            <a:r>
              <a:rPr lang="zh-CN" altLang="zh-CN" sz="2800" b="1" dirty="0" smtClean="0">
                <a:solidFill>
                  <a:schemeClr val="tx1"/>
                </a:solidFill>
                <a:latin typeface="+mn-ea"/>
              </a:rPr>
              <a:t>实验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原理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 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147248" cy="1210146"/>
          </a:xfrm>
        </p:spPr>
        <p:txBody>
          <a:bodyPr>
            <a:noAutofit/>
          </a:bodyPr>
          <a:lstStyle/>
          <a:p>
            <a:r>
              <a:rPr lang="zh-CN" altLang="zh-CN" sz="4000" b="1" dirty="0" smtClean="0">
                <a:latin typeface="+mj-ea"/>
              </a:rPr>
              <a:t>实验</a:t>
            </a:r>
            <a:r>
              <a:rPr lang="zh-CN" altLang="en-US" sz="4000" b="1" dirty="0" smtClean="0">
                <a:latin typeface="+mj-ea"/>
              </a:rPr>
              <a:t>六</a:t>
            </a:r>
            <a:r>
              <a:rPr lang="en-US" altLang="zh-CN" sz="4000" b="1" dirty="0" smtClean="0">
                <a:latin typeface="+mj-ea"/>
              </a:rPr>
              <a:t/>
            </a:r>
            <a:br>
              <a:rPr lang="en-US" altLang="zh-CN" sz="4000" b="1" dirty="0" smtClean="0">
                <a:latin typeface="+mj-ea"/>
              </a:rPr>
            </a:br>
            <a:r>
              <a:rPr lang="zh-CN" altLang="en-US" sz="4000" b="1" dirty="0" smtClean="0">
                <a:latin typeface="+mj-ea"/>
              </a:rPr>
              <a:t>电路频率特性分析</a:t>
            </a:r>
            <a:endParaRPr lang="zh-CN" altLang="en-US" sz="4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022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43108" y="714356"/>
            <a:ext cx="5643602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、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行楷" pitchFamily="2" charset="-122"/>
                <a:cs typeface="Times New Roman" pitchFamily="18" charset="0"/>
              </a:rPr>
              <a:t>RLC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电路的频率特性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171282"/>
              </p:ext>
            </p:extLst>
          </p:nvPr>
        </p:nvGraphicFramePr>
        <p:xfrm>
          <a:off x="1065188" y="5772963"/>
          <a:ext cx="26193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9" name="Equation" r:id="rId3" imgW="1523880" imgH="431640" progId="Equation.DSMT4">
                  <p:embed/>
                </p:oleObj>
              </mc:Choice>
              <mc:Fallback>
                <p:oleObj name="Equation" r:id="rId3" imgW="1523880" imgH="4316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188" y="5772963"/>
                        <a:ext cx="2619375" cy="74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8832" y="4423465"/>
            <a:ext cx="1193054" cy="668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1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634951"/>
              </p:ext>
            </p:extLst>
          </p:nvPr>
        </p:nvGraphicFramePr>
        <p:xfrm>
          <a:off x="1023896" y="5093279"/>
          <a:ext cx="26844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0" name="Equation" r:id="rId6" imgW="1562040" imgH="393480" progId="Equation.DSMT4">
                  <p:embed/>
                </p:oleObj>
              </mc:Choice>
              <mc:Fallback>
                <p:oleObj name="Equation" r:id="rId6" imgW="156204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896" y="5093279"/>
                        <a:ext cx="2684463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673100"/>
              </p:ext>
            </p:extLst>
          </p:nvPr>
        </p:nvGraphicFramePr>
        <p:xfrm>
          <a:off x="2556942" y="4652974"/>
          <a:ext cx="10033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1" name="Equation" r:id="rId8" imgW="583920" imgH="203040" progId="Equation.DSMT4">
                  <p:embed/>
                </p:oleObj>
              </mc:Choice>
              <mc:Fallback>
                <p:oleObj name="Equation" r:id="rId8" imgW="58392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942" y="4652974"/>
                        <a:ext cx="1003300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4"/>
          <p:cNvSpPr txBox="1"/>
          <p:nvPr/>
        </p:nvSpPr>
        <p:spPr>
          <a:xfrm>
            <a:off x="4572000" y="2928934"/>
            <a:ext cx="35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驱动频率等于谐振频率时</a:t>
            </a:r>
            <a:endParaRPr lang="zh-CN" altLang="en-US" sz="2000" b="1" dirty="0"/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4714876" y="3500438"/>
          <a:ext cx="264001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2" name="Equation" r:id="rId10" imgW="1536480" imgH="253800" progId="Equation.DSMT4">
                  <p:embed/>
                </p:oleObj>
              </mc:Choice>
              <mc:Fallback>
                <p:oleObj name="Equation" r:id="rId10" imgW="1536480" imgH="2538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3500438"/>
                        <a:ext cx="2640012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285852" y="1357298"/>
            <a:ext cx="6129338" cy="134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8" descr="Dz02010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43438" y="4143380"/>
            <a:ext cx="4016073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AutoShape 9"/>
          <p:cNvSpPr>
            <a:spLocks/>
          </p:cNvSpPr>
          <p:nvPr/>
        </p:nvSpPr>
        <p:spPr bwMode="auto">
          <a:xfrm>
            <a:off x="4500594" y="6143644"/>
            <a:ext cx="1162051" cy="409594"/>
          </a:xfrm>
          <a:prstGeom prst="borderCallout1">
            <a:avLst>
              <a:gd name="adj1" fmla="val 24079"/>
              <a:gd name="adj2" fmla="val 104764"/>
              <a:gd name="adj3" fmla="val -182502"/>
              <a:gd name="adj4" fmla="val 108916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下限频率</a:t>
            </a:r>
          </a:p>
        </p:txBody>
      </p:sp>
      <p:sp>
        <p:nvSpPr>
          <p:cNvPr id="25" name="AutoShape 10"/>
          <p:cNvSpPr>
            <a:spLocks/>
          </p:cNvSpPr>
          <p:nvPr/>
        </p:nvSpPr>
        <p:spPr bwMode="auto">
          <a:xfrm>
            <a:off x="6500826" y="6215082"/>
            <a:ext cx="1204896" cy="409594"/>
          </a:xfrm>
          <a:prstGeom prst="borderCallout1">
            <a:avLst>
              <a:gd name="adj1" fmla="val 25000"/>
              <a:gd name="adj2" fmla="val 104917"/>
              <a:gd name="adj3" fmla="val -194908"/>
              <a:gd name="adj4" fmla="val 12283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 dirty="0"/>
              <a:t>上限频率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301" y="3500438"/>
            <a:ext cx="3314700" cy="790575"/>
          </a:xfrm>
          <a:prstGeom prst="rect">
            <a:avLst/>
          </a:prstGeom>
        </p:spPr>
      </p:pic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7065"/>
              </p:ext>
            </p:extLst>
          </p:nvPr>
        </p:nvGraphicFramePr>
        <p:xfrm>
          <a:off x="1050163" y="2830870"/>
          <a:ext cx="27876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3" name="Equation" r:id="rId15" imgW="1688760" imgH="431640" progId="Equation.DSMT4">
                  <p:embed/>
                </p:oleObj>
              </mc:Choice>
              <mc:Fallback>
                <p:oleObj name="Equation" r:id="rId15" imgW="1688760" imgH="431640" progId="Equation.DSMT4">
                  <p:embed/>
                  <p:pic>
                    <p:nvPicPr>
                      <p:cNvPr id="1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163" y="2830870"/>
                        <a:ext cx="2787650" cy="71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86380" y="1571612"/>
            <a:ext cx="2575800" cy="1375733"/>
          </a:xfrm>
          <a:prstGeom prst="rect">
            <a:avLst/>
          </a:prstGeom>
        </p:spPr>
      </p:pic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4429124" y="3071810"/>
          <a:ext cx="39925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8" name="Equation" r:id="rId4" imgW="2679480" imgH="583920" progId="Equation.DSMT4">
                  <p:embed/>
                </p:oleObj>
              </mc:Choice>
              <mc:Fallback>
                <p:oleObj name="Equation" r:id="rId4" imgW="2679480" imgH="5839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4" y="3071810"/>
                        <a:ext cx="3992562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143108" y="714356"/>
            <a:ext cx="5643602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、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行楷" pitchFamily="2" charset="-122"/>
                <a:cs typeface="Times New Roman" pitchFamily="18" charset="0"/>
              </a:rPr>
              <a:t>RLC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电路的频率特性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429124" y="4429132"/>
            <a:ext cx="4511796" cy="2079481"/>
          </a:xfrm>
          <a:prstGeom prst="rect">
            <a:avLst/>
          </a:prstGeom>
        </p:spPr>
      </p:pic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1142976" y="2928934"/>
          <a:ext cx="2629590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9" name="Equation" r:id="rId7" imgW="1765080" imgH="431640" progId="Equation.DSMT4">
                  <p:embed/>
                </p:oleObj>
              </mc:Choice>
              <mc:Fallback>
                <p:oleObj name="Equation" r:id="rId7" imgW="176508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2928934"/>
                        <a:ext cx="2629590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42976" y="1428736"/>
            <a:ext cx="2575800" cy="1545467"/>
          </a:xfrm>
          <a:prstGeom prst="rect">
            <a:avLst/>
          </a:prstGeom>
        </p:spPr>
      </p:pic>
      <p:sp>
        <p:nvSpPr>
          <p:cNvPr id="20" name="文本框 4"/>
          <p:cNvSpPr txBox="1"/>
          <p:nvPr/>
        </p:nvSpPr>
        <p:spPr>
          <a:xfrm>
            <a:off x="1142976" y="3643314"/>
            <a:ext cx="2643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电阻输出，带通滤波</a:t>
            </a:r>
            <a:endParaRPr lang="zh-CN" altLang="en-US" sz="2000" b="1" dirty="0"/>
          </a:p>
        </p:txBody>
      </p:sp>
      <p:sp>
        <p:nvSpPr>
          <p:cNvPr id="21" name="文本框 4"/>
          <p:cNvSpPr txBox="1"/>
          <p:nvPr/>
        </p:nvSpPr>
        <p:spPr>
          <a:xfrm>
            <a:off x="4857752" y="3929066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电容电感输出，带阻滤波</a:t>
            </a:r>
            <a:endParaRPr lang="zh-CN" altLang="en-US" sz="2000" b="1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42844" y="4357694"/>
            <a:ext cx="4383930" cy="2071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08" y="714356"/>
            <a:ext cx="5643602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sz="3200" b="1" dirty="0" smtClean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</a:t>
            </a:r>
            <a:r>
              <a:rPr lang="zh-CN" altLang="en-US" sz="3200" b="1" dirty="0" smtClean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、放大电路的频率特性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57158" y="4500570"/>
            <a:ext cx="8497887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在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低频段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，随着信号频率逐渐降低，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耦合电容、旁路电容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等的容抗</a:t>
            </a:r>
            <a:r>
              <a:rPr kumimoji="1" lang="zh-CN" altLang="en-US" sz="2000" b="1" dirty="0">
                <a:latin typeface="Times New Roman" pitchFamily="18" charset="0"/>
                <a:ea typeface="楷体_GB2312" pitchFamily="49" charset="-122"/>
              </a:rPr>
              <a:t>由很小逐渐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增大</a:t>
            </a:r>
            <a:r>
              <a:rPr kumimoji="1" lang="zh-CN" altLang="en-US" sz="2000" b="1" dirty="0">
                <a:latin typeface="Times New Roman" pitchFamily="18" charset="0"/>
                <a:ea typeface="楷体_GB2312" pitchFamily="49" charset="-122"/>
              </a:rPr>
              <a:t>到不可忽略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，使动态信号损失，放大能力下降。</a:t>
            </a:r>
            <a:endParaRPr lang="zh-CN" altLang="en-US" sz="2000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3556" name="Picture 4" descr="Dz05040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2135" b="8925"/>
          <a:stretch>
            <a:fillRect/>
          </a:stretch>
        </p:blipFill>
        <p:spPr bwMode="auto">
          <a:xfrm>
            <a:off x="328610" y="1804974"/>
            <a:ext cx="2819400" cy="2286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23557" name="AutoShape 5"/>
          <p:cNvSpPr>
            <a:spLocks/>
          </p:cNvSpPr>
          <p:nvPr/>
        </p:nvSpPr>
        <p:spPr bwMode="auto">
          <a:xfrm>
            <a:off x="3224210" y="1652575"/>
            <a:ext cx="847724" cy="633418"/>
          </a:xfrm>
          <a:prstGeom prst="borderCallout1">
            <a:avLst>
              <a:gd name="adj1" fmla="val 12042"/>
              <a:gd name="adj2" fmla="val -8106"/>
              <a:gd name="adj3" fmla="val 108136"/>
              <a:gd name="adj4" fmla="val -83943"/>
            </a:avLst>
          </a:prstGeom>
          <a:solidFill>
            <a:srgbClr val="FFFFCC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kumimoji="1" lang="zh-CN" altLang="en-US" b="1" dirty="0">
                <a:latin typeface="Times New Roman" pitchFamily="18" charset="0"/>
              </a:rPr>
              <a:t>高通电路</a:t>
            </a:r>
          </a:p>
        </p:txBody>
      </p:sp>
      <p:sp>
        <p:nvSpPr>
          <p:cNvPr id="23558" name="AutoShape 6"/>
          <p:cNvSpPr>
            <a:spLocks/>
          </p:cNvSpPr>
          <p:nvPr/>
        </p:nvSpPr>
        <p:spPr bwMode="auto">
          <a:xfrm>
            <a:off x="3206747" y="2725725"/>
            <a:ext cx="793749" cy="703276"/>
          </a:xfrm>
          <a:prstGeom prst="borderCallout1">
            <a:avLst>
              <a:gd name="adj1" fmla="val 12833"/>
              <a:gd name="adj2" fmla="val -9093"/>
              <a:gd name="adj3" fmla="val 85752"/>
              <a:gd name="adj4" fmla="val -220117"/>
            </a:avLst>
          </a:prstGeom>
          <a:solidFill>
            <a:srgbClr val="FFFFCC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kumimoji="1" lang="zh-CN" altLang="en-US" b="1" dirty="0">
                <a:latin typeface="Times New Roman" pitchFamily="18" charset="0"/>
              </a:rPr>
              <a:t>低通电路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428596" y="5500702"/>
            <a:ext cx="671517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kumimoji="1" lang="en-US" altLang="zh-CN" sz="2000" b="1" dirty="0">
                <a:latin typeface="Times New Roman" pitchFamily="18" charset="0"/>
              </a:rPr>
              <a:t>  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在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高频段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，随着信号频率逐渐升高，晶体管</a:t>
            </a:r>
            <a:r>
              <a:rPr kumimoji="1" lang="zh-CN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极间电容和分布电容、寄生电容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等杂散电容的容抗</a:t>
            </a:r>
            <a:r>
              <a:rPr kumimoji="1" lang="zh-CN" altLang="en-US" sz="2000" b="1" dirty="0">
                <a:latin typeface="Times New Roman" pitchFamily="18" charset="0"/>
                <a:ea typeface="楷体_GB2312" pitchFamily="49" charset="-122"/>
              </a:rPr>
              <a:t>由很大逐渐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减小</a:t>
            </a:r>
            <a:r>
              <a:rPr kumimoji="1" lang="zh-CN" altLang="en-US" sz="2000" b="1" dirty="0">
                <a:latin typeface="Times New Roman" pitchFamily="18" charset="0"/>
                <a:ea typeface="楷体_GB2312" pitchFamily="49" charset="-122"/>
              </a:rPr>
              <a:t>到不可忽略</a:t>
            </a:r>
            <a:r>
              <a:rPr kumimoji="1" lang="zh-CN" altLang="zh-CN" sz="2000" b="1" dirty="0">
                <a:latin typeface="Times New Roman" pitchFamily="18" charset="0"/>
                <a:ea typeface="楷体_GB2312" pitchFamily="49" charset="-122"/>
              </a:rPr>
              <a:t>，使动态信号损失，放大能力下降。</a:t>
            </a:r>
            <a:endParaRPr kumimoji="1" lang="zh-CN" altLang="en-US" sz="2000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3560" name="Picture 8" descr="Dz02010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4810" y="1500174"/>
            <a:ext cx="4648200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1" name="AutoShape 9"/>
          <p:cNvSpPr>
            <a:spLocks/>
          </p:cNvSpPr>
          <p:nvPr/>
        </p:nvSpPr>
        <p:spPr bwMode="auto">
          <a:xfrm>
            <a:off x="3638547" y="3733786"/>
            <a:ext cx="1600200" cy="474663"/>
          </a:xfrm>
          <a:prstGeom prst="borderCallout1">
            <a:avLst>
              <a:gd name="adj1" fmla="val 24079"/>
              <a:gd name="adj2" fmla="val 104764"/>
              <a:gd name="adj3" fmla="val -166556"/>
              <a:gd name="adj4" fmla="val 118551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下限频率</a:t>
            </a:r>
          </a:p>
        </p:txBody>
      </p:sp>
      <p:sp>
        <p:nvSpPr>
          <p:cNvPr id="23562" name="AutoShape 10"/>
          <p:cNvSpPr>
            <a:spLocks/>
          </p:cNvSpPr>
          <p:nvPr/>
        </p:nvSpPr>
        <p:spPr bwMode="auto">
          <a:xfrm>
            <a:off x="6303960" y="3733786"/>
            <a:ext cx="1549400" cy="457200"/>
          </a:xfrm>
          <a:prstGeom prst="borderCallout1">
            <a:avLst>
              <a:gd name="adj1" fmla="val 25000"/>
              <a:gd name="adj2" fmla="val 104917"/>
              <a:gd name="adj3" fmla="val -144792"/>
              <a:gd name="adj4" fmla="val 117417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上限频率</a:t>
            </a:r>
          </a:p>
        </p:txBody>
      </p:sp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6043610" y="2414574"/>
          <a:ext cx="16764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5" name="公式" r:id="rId5" imgW="850900" imgH="228600" progId="">
                  <p:embed/>
                </p:oleObj>
              </mc:Choice>
              <mc:Fallback>
                <p:oleObj name="公式" r:id="rId5" imgW="850900" imgH="2286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0" y="2414574"/>
                        <a:ext cx="1676400" cy="4508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166810" y="2947974"/>
            <a:ext cx="249237" cy="906462"/>
            <a:chOff x="768" y="1680"/>
            <a:chExt cx="157" cy="571"/>
          </a:xfrm>
        </p:grpSpPr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768" y="1680"/>
              <a:ext cx="157" cy="522"/>
              <a:chOff x="3360" y="1248"/>
              <a:chExt cx="157" cy="522"/>
            </a:xfrm>
          </p:grpSpPr>
          <p:sp>
            <p:nvSpPr>
              <p:cNvPr id="3088" name="Line 14"/>
              <p:cNvSpPr>
                <a:spLocks noChangeShapeType="1"/>
              </p:cNvSpPr>
              <p:nvPr/>
            </p:nvSpPr>
            <p:spPr bwMode="auto">
              <a:xfrm>
                <a:off x="3360" y="1488"/>
                <a:ext cx="15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89" name="Line 15"/>
              <p:cNvSpPr>
                <a:spLocks noChangeShapeType="1"/>
              </p:cNvSpPr>
              <p:nvPr/>
            </p:nvSpPr>
            <p:spPr bwMode="auto">
              <a:xfrm>
                <a:off x="3361" y="1560"/>
                <a:ext cx="1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90" name="Line 16"/>
              <p:cNvSpPr>
                <a:spLocks noChangeShapeType="1"/>
              </p:cNvSpPr>
              <p:nvPr/>
            </p:nvSpPr>
            <p:spPr bwMode="auto">
              <a:xfrm>
                <a:off x="3432" y="124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91" name="Line 17"/>
              <p:cNvSpPr>
                <a:spLocks noChangeShapeType="1"/>
              </p:cNvSpPr>
              <p:nvPr/>
            </p:nvSpPr>
            <p:spPr bwMode="auto">
              <a:xfrm>
                <a:off x="3432" y="1559"/>
                <a:ext cx="0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7" name="Oval 18"/>
            <p:cNvSpPr>
              <a:spLocks noChangeArrowheads="1"/>
            </p:cNvSpPr>
            <p:nvPr/>
          </p:nvSpPr>
          <p:spPr bwMode="auto">
            <a:xfrm>
              <a:off x="816" y="2205"/>
              <a:ext cx="46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1206497" y="3422636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结电容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52" y="571480"/>
            <a:ext cx="6389704" cy="936625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200" b="1" dirty="0" smtClean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</a:t>
            </a:r>
            <a:r>
              <a:rPr lang="zh-CN" altLang="en-US" sz="3200" b="1" dirty="0" smtClean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、单管共射放大电路的频率响应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5857884" y="5929330"/>
          <a:ext cx="171608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6" name="Equation" r:id="rId3" imgW="863225" imgH="393529" progId="Equation.DSMT4">
                  <p:embed/>
                </p:oleObj>
              </mc:Choice>
              <mc:Fallback>
                <p:oleObj name="Equation" r:id="rId3" imgW="863225" imgH="393529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4" y="5929330"/>
                        <a:ext cx="1716088" cy="78263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285720" y="1643050"/>
          <a:ext cx="2643206" cy="2319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7" name="Photo Editor 照片" r:id="rId5" imgW="27971429" imgH="11247619" progId="">
                  <p:embed/>
                </p:oleObj>
              </mc:Choice>
              <mc:Fallback>
                <p:oleObj name="Photo Editor 照片" r:id="rId5" imgW="27971429" imgH="11247619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250" r="28751" b="12694"/>
                      <a:stretch>
                        <a:fillRect/>
                      </a:stretch>
                    </p:blipFill>
                    <p:spPr bwMode="auto">
                      <a:xfrm>
                        <a:off x="285720" y="1643050"/>
                        <a:ext cx="2643206" cy="2319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2"/>
          <p:cNvGraphicFramePr>
            <a:graphicFrameLocks noChangeAspect="1"/>
          </p:cNvGraphicFramePr>
          <p:nvPr/>
        </p:nvGraphicFramePr>
        <p:xfrm>
          <a:off x="3048000" y="1714488"/>
          <a:ext cx="609600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8" name="Photo Editor 照片" r:id="rId7" imgW="17438095" imgH="5858693" progId="">
                  <p:embed/>
                </p:oleObj>
              </mc:Choice>
              <mc:Fallback>
                <p:oleObj name="Photo Editor 照片" r:id="rId7" imgW="17438095" imgH="5858693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14488"/>
                        <a:ext cx="6096000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3929058" y="4000504"/>
          <a:ext cx="35052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9" name="Equation" r:id="rId9" imgW="1739900" imgH="228600" progId="">
                  <p:embed/>
                </p:oleObj>
              </mc:Choice>
              <mc:Fallback>
                <p:oleObj name="Equation" r:id="rId9" imgW="1739900" imgH="2286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4000504"/>
                        <a:ext cx="3505200" cy="4603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3929058" y="4572008"/>
          <a:ext cx="21336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0" name="Equation" r:id="rId11" imgW="1040948" imgH="228501" progId="">
                  <p:embed/>
                </p:oleObj>
              </mc:Choice>
              <mc:Fallback>
                <p:oleObj name="Equation" r:id="rId11" imgW="1040948" imgH="228501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4572008"/>
                        <a:ext cx="2133600" cy="46831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/>
          <p:cNvGraphicFramePr>
            <a:graphicFrameLocks noChangeAspect="1"/>
          </p:cNvGraphicFramePr>
          <p:nvPr/>
        </p:nvGraphicFramePr>
        <p:xfrm>
          <a:off x="3929058" y="5072074"/>
          <a:ext cx="41148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1" name="Equation" r:id="rId13" imgW="2108200" imgH="419100" progId="">
                  <p:embed/>
                </p:oleObj>
              </mc:Choice>
              <mc:Fallback>
                <p:oleObj name="Equation" r:id="rId13" imgW="2108200" imgH="4191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5072074"/>
                        <a:ext cx="4114800" cy="8159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500034" y="6072206"/>
          <a:ext cx="50133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2" name="公式" r:id="rId15" imgW="2273300" imgH="279400" progId="">
                  <p:embed/>
                </p:oleObj>
              </mc:Choice>
              <mc:Fallback>
                <p:oleObj name="公式" r:id="rId15" imgW="2273300" imgH="2794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6072206"/>
                        <a:ext cx="5013325" cy="6143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9"/>
          <p:cNvGrpSpPr>
            <a:grpSpLocks/>
          </p:cNvGrpSpPr>
          <p:nvPr/>
        </p:nvGrpSpPr>
        <p:grpSpPr bwMode="auto">
          <a:xfrm>
            <a:off x="500034" y="4000500"/>
            <a:ext cx="4267200" cy="533400"/>
            <a:chOff x="336" y="2235"/>
            <a:chExt cx="2688" cy="336"/>
          </a:xfrm>
        </p:grpSpPr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336" y="2256"/>
              <a:ext cx="26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>
                  <a:latin typeface="Times New Roman" pitchFamily="18" charset="0"/>
                </a:rPr>
                <a:t>C</a:t>
              </a:r>
              <a:r>
                <a:rPr kumimoji="1" lang="en-US" altLang="zh-CN" b="1" baseline="-25000" dirty="0">
                  <a:latin typeface="Times New Roman" pitchFamily="18" charset="0"/>
                </a:rPr>
                <a:t>2</a:t>
              </a:r>
              <a:r>
                <a:rPr kumimoji="1" lang="zh-CN" altLang="en-US" b="1" dirty="0">
                  <a:latin typeface="Times New Roman" pitchFamily="18" charset="0"/>
                </a:rPr>
                <a:t>、</a:t>
              </a:r>
              <a:r>
                <a:rPr kumimoji="1" lang="en-US" altLang="zh-CN" b="1" i="1" dirty="0" err="1" smtClean="0">
                  <a:latin typeface="Times New Roman" pitchFamily="18" charset="0"/>
                </a:rPr>
                <a:t>C</a:t>
              </a:r>
              <a:r>
                <a:rPr kumimoji="1" lang="en-US" altLang="zh-CN" b="1" baseline="-25000" dirty="0" err="1" smtClean="0">
                  <a:latin typeface="Times New Roman" pitchFamily="18" charset="0"/>
                </a:rPr>
                <a:t>e</a:t>
              </a:r>
              <a:r>
                <a:rPr kumimoji="1" lang="zh-CN" altLang="en-US" b="1" dirty="0" smtClean="0">
                  <a:latin typeface="Times New Roman" pitchFamily="18" charset="0"/>
                </a:rPr>
                <a:t>很大，      </a:t>
              </a:r>
              <a:r>
                <a:rPr kumimoji="1" lang="zh-CN" altLang="en-US" b="1" dirty="0">
                  <a:latin typeface="Times New Roman" pitchFamily="18" charset="0"/>
                </a:rPr>
                <a:t>开路，求出</a:t>
              </a:r>
            </a:p>
          </p:txBody>
        </p:sp>
        <p:graphicFrame>
          <p:nvGraphicFramePr>
            <p:cNvPr id="29" name="Object 11"/>
            <p:cNvGraphicFramePr>
              <a:graphicFrameLocks noChangeAspect="1"/>
            </p:cNvGraphicFramePr>
            <p:nvPr/>
          </p:nvGraphicFramePr>
          <p:xfrm>
            <a:off x="1191" y="2235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3" name="Equation" r:id="rId17" imgW="203112" imgH="241195" progId="">
                    <p:embed/>
                  </p:oleObj>
                </mc:Choice>
                <mc:Fallback>
                  <p:oleObj name="Equation" r:id="rId17" imgW="203112" imgH="241195" progId="">
                    <p:embed/>
                    <p:pic>
                      <p:nvPicPr>
                        <p:cNvPr id="0" name="Picture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2235"/>
                          <a:ext cx="28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12"/>
          <p:cNvGrpSpPr>
            <a:grpSpLocks/>
          </p:cNvGrpSpPr>
          <p:nvPr/>
        </p:nvGrpSpPr>
        <p:grpSpPr bwMode="auto">
          <a:xfrm>
            <a:off x="500034" y="4429125"/>
            <a:ext cx="4267200" cy="533400"/>
            <a:chOff x="336" y="2505"/>
            <a:chExt cx="2688" cy="336"/>
          </a:xfrm>
        </p:grpSpPr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336" y="2592"/>
              <a:ext cx="26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>
                  <a:latin typeface="Times New Roman" pitchFamily="18" charset="0"/>
                </a:rPr>
                <a:t>C</a:t>
              </a:r>
              <a:r>
                <a:rPr kumimoji="1" lang="en-US" altLang="zh-CN" b="1" baseline="-25000" dirty="0">
                  <a:latin typeface="Times New Roman" pitchFamily="18" charset="0"/>
                </a:rPr>
                <a:t>1</a:t>
              </a:r>
              <a:r>
                <a:rPr kumimoji="1" lang="zh-CN" altLang="en-US" b="1" dirty="0">
                  <a:latin typeface="Times New Roman" pitchFamily="18" charset="0"/>
                </a:rPr>
                <a:t>、</a:t>
              </a:r>
              <a:r>
                <a:rPr kumimoji="1" lang="en-US" altLang="zh-CN" b="1" i="1" dirty="0" err="1" smtClean="0">
                  <a:latin typeface="Times New Roman" pitchFamily="18" charset="0"/>
                </a:rPr>
                <a:t>C</a:t>
              </a:r>
              <a:r>
                <a:rPr kumimoji="1" lang="en-US" altLang="zh-CN" b="1" baseline="-25000" dirty="0" err="1" smtClean="0">
                  <a:latin typeface="Times New Roman" pitchFamily="18" charset="0"/>
                </a:rPr>
                <a:t>e</a:t>
              </a:r>
              <a:r>
                <a:rPr kumimoji="1" lang="zh-CN" altLang="en-US" b="1" dirty="0" smtClean="0">
                  <a:latin typeface="Times New Roman" pitchFamily="18" charset="0"/>
                </a:rPr>
                <a:t>很大，     </a:t>
              </a:r>
              <a:r>
                <a:rPr kumimoji="1" lang="zh-CN" altLang="en-US" b="1" dirty="0">
                  <a:latin typeface="Times New Roman" pitchFamily="18" charset="0"/>
                </a:rPr>
                <a:t>开路，求出</a:t>
              </a:r>
            </a:p>
          </p:txBody>
        </p:sp>
        <p:graphicFrame>
          <p:nvGraphicFramePr>
            <p:cNvPr id="32" name="Object 14"/>
            <p:cNvGraphicFramePr>
              <a:graphicFrameLocks noChangeAspect="1"/>
            </p:cNvGraphicFramePr>
            <p:nvPr/>
          </p:nvGraphicFramePr>
          <p:xfrm>
            <a:off x="1191" y="2505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4" name="Equation" r:id="rId19" imgW="203112" imgH="241195" progId="">
                    <p:embed/>
                  </p:oleObj>
                </mc:Choice>
                <mc:Fallback>
                  <p:oleObj name="Equation" r:id="rId19" imgW="203112" imgH="241195" progId="">
                    <p:embed/>
                    <p:pic>
                      <p:nvPicPr>
                        <p:cNvPr id="0" name="Picture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2505"/>
                          <a:ext cx="28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15"/>
          <p:cNvGrpSpPr>
            <a:grpSpLocks/>
          </p:cNvGrpSpPr>
          <p:nvPr/>
        </p:nvGrpSpPr>
        <p:grpSpPr bwMode="auto">
          <a:xfrm>
            <a:off x="500034" y="5143513"/>
            <a:ext cx="4572000" cy="533400"/>
            <a:chOff x="336" y="2979"/>
            <a:chExt cx="2880" cy="336"/>
          </a:xfrm>
        </p:grpSpPr>
        <p:sp>
          <p:nvSpPr>
            <p:cNvPr id="34" name="Text Box 16"/>
            <p:cNvSpPr txBox="1">
              <a:spLocks noChangeArrowheads="1"/>
            </p:cNvSpPr>
            <p:nvPr/>
          </p:nvSpPr>
          <p:spPr bwMode="auto">
            <a:xfrm>
              <a:off x="336" y="3024"/>
              <a:ext cx="288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>
                  <a:latin typeface="Times New Roman" pitchFamily="18" charset="0"/>
                </a:rPr>
                <a:t>C</a:t>
              </a:r>
              <a:r>
                <a:rPr kumimoji="1" lang="en-US" altLang="zh-CN" b="1" baseline="-25000" dirty="0">
                  <a:latin typeface="Times New Roman" pitchFamily="18" charset="0"/>
                </a:rPr>
                <a:t>1</a:t>
              </a:r>
              <a:r>
                <a:rPr kumimoji="1" lang="zh-CN" altLang="en-US" b="1" dirty="0">
                  <a:latin typeface="Times New Roman" pitchFamily="18" charset="0"/>
                </a:rPr>
                <a:t>、</a:t>
              </a:r>
              <a:r>
                <a:rPr kumimoji="1" lang="en-US" altLang="zh-CN" b="1" i="1" dirty="0" smtClean="0">
                  <a:latin typeface="Times New Roman" pitchFamily="18" charset="0"/>
                </a:rPr>
                <a:t>C</a:t>
              </a:r>
              <a:r>
                <a:rPr kumimoji="1" lang="en-US" altLang="zh-CN" b="1" baseline="-25000" dirty="0" smtClean="0">
                  <a:latin typeface="Times New Roman" pitchFamily="18" charset="0"/>
                </a:rPr>
                <a:t>2</a:t>
              </a:r>
              <a:r>
                <a:rPr kumimoji="1" lang="zh-CN" altLang="en-US" b="1" dirty="0" smtClean="0">
                  <a:latin typeface="Times New Roman" pitchFamily="18" charset="0"/>
                </a:rPr>
                <a:t>很大，     </a:t>
              </a:r>
              <a:r>
                <a:rPr kumimoji="1" lang="zh-CN" altLang="en-US" b="1" dirty="0">
                  <a:latin typeface="Times New Roman" pitchFamily="18" charset="0"/>
                </a:rPr>
                <a:t>开路，求出</a:t>
              </a:r>
            </a:p>
          </p:txBody>
        </p:sp>
        <p:graphicFrame>
          <p:nvGraphicFramePr>
            <p:cNvPr id="35" name="Object 17"/>
            <p:cNvGraphicFramePr>
              <a:graphicFrameLocks noChangeAspect="1"/>
            </p:cNvGraphicFramePr>
            <p:nvPr/>
          </p:nvGraphicFramePr>
          <p:xfrm>
            <a:off x="1191" y="2979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5" name="Equation" r:id="rId20" imgW="203112" imgH="241195" progId="">
                    <p:embed/>
                  </p:oleObj>
                </mc:Choice>
                <mc:Fallback>
                  <p:oleObj name="Equation" r:id="rId20" imgW="203112" imgH="241195" progId="">
                    <p:embed/>
                    <p:pic>
                      <p:nvPicPr>
                        <p:cNvPr id="0" name="Picture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2979"/>
                          <a:ext cx="28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500034" y="5715016"/>
            <a:ext cx="28575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i="1" dirty="0">
                <a:latin typeface="Times New Roman" pitchFamily="18" charset="0"/>
              </a:rPr>
              <a:t>C</a:t>
            </a:r>
            <a:r>
              <a:rPr kumimoji="1" lang="en-US" altLang="zh-CN" b="1" baseline="-25000" dirty="0">
                <a:latin typeface="Times New Roman" pitchFamily="18" charset="0"/>
              </a:rPr>
              <a:t>1</a:t>
            </a:r>
            <a:r>
              <a:rPr kumimoji="1" lang="zh-CN" altLang="en-US" b="1" dirty="0">
                <a:latin typeface="Times New Roman" pitchFamily="18" charset="0"/>
              </a:rPr>
              <a:t>、 </a:t>
            </a:r>
            <a:r>
              <a:rPr kumimoji="1" lang="en-US" altLang="zh-CN" b="1" i="1" dirty="0">
                <a:latin typeface="Times New Roman" pitchFamily="18" charset="0"/>
              </a:rPr>
              <a:t>C</a:t>
            </a:r>
            <a:r>
              <a:rPr kumimoji="1" lang="en-US" altLang="zh-CN" b="1" baseline="-25000" dirty="0">
                <a:latin typeface="Times New Roman" pitchFamily="18" charset="0"/>
              </a:rPr>
              <a:t>2</a:t>
            </a:r>
            <a:r>
              <a:rPr kumimoji="1" lang="zh-CN" altLang="en-US" b="1" dirty="0">
                <a:latin typeface="Times New Roman" pitchFamily="18" charset="0"/>
              </a:rPr>
              <a:t>、 </a:t>
            </a:r>
            <a:r>
              <a:rPr kumimoji="1" lang="en-US" altLang="zh-CN" b="1" i="1" dirty="0" err="1" smtClean="0">
                <a:latin typeface="Times New Roman" pitchFamily="18" charset="0"/>
              </a:rPr>
              <a:t>C</a:t>
            </a:r>
            <a:r>
              <a:rPr kumimoji="1" lang="en-US" altLang="zh-CN" b="1" baseline="-25000" dirty="0" err="1" smtClean="0">
                <a:latin typeface="Times New Roman" pitchFamily="18" charset="0"/>
              </a:rPr>
              <a:t>e</a:t>
            </a:r>
            <a:r>
              <a:rPr kumimoji="1" lang="en-US" altLang="zh-CN" b="1" baseline="-25000" dirty="0" smtClean="0">
                <a:latin typeface="Times New Roman" pitchFamily="18" charset="0"/>
              </a:rPr>
              <a:t> </a:t>
            </a:r>
            <a:r>
              <a:rPr kumimoji="1" lang="zh-CN" altLang="en-US" b="1" dirty="0" smtClean="0">
                <a:latin typeface="Times New Roman" pitchFamily="18" charset="0"/>
              </a:rPr>
              <a:t>很大，</a:t>
            </a:r>
            <a:r>
              <a:rPr kumimoji="1" lang="zh-CN" altLang="en-US" b="1" dirty="0">
                <a:latin typeface="Times New Roman" pitchFamily="18" charset="0"/>
              </a:rPr>
              <a:t>求出</a:t>
            </a:r>
            <a:endParaRPr kumimoji="1" lang="zh-CN" altLang="en-US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2428860" y="642918"/>
            <a:ext cx="4929222" cy="68580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sz="3200" b="1" dirty="0" smtClean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4</a:t>
            </a:r>
            <a:r>
              <a:rPr lang="zh-CN" altLang="en-US" sz="3200" b="1" dirty="0" smtClean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、截止频率的估算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827088" y="2636838"/>
          <a:ext cx="2659062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公式" r:id="rId3" imgW="1104900" imgH="965200" progId="">
                  <p:embed/>
                </p:oleObj>
              </mc:Choice>
              <mc:Fallback>
                <p:oleObj name="公式" r:id="rId3" imgW="1104900" imgH="965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36838"/>
                        <a:ext cx="2659062" cy="216058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71472" y="1571612"/>
            <a:ext cx="83582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itchFamily="18" charset="0"/>
              </a:rPr>
              <a:t>对</a:t>
            </a:r>
            <a:r>
              <a:rPr kumimoji="1" lang="zh-CN" altLang="en-US" sz="2400" b="1" dirty="0">
                <a:latin typeface="Times New Roman" pitchFamily="18" charset="0"/>
              </a:rPr>
              <a:t>于</a:t>
            </a:r>
            <a:r>
              <a:rPr kumimoji="1" lang="en-US" altLang="zh-CN" sz="2400" b="1" i="1" dirty="0"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latin typeface="Times New Roman" pitchFamily="18" charset="0"/>
              </a:rPr>
              <a:t>级放大电路，若各级的下、上限频率分别为</a:t>
            </a:r>
            <a:r>
              <a:rPr kumimoji="1" lang="en-US" altLang="zh-CN" sz="2400" b="1" i="1" dirty="0">
                <a:latin typeface="Times New Roman" pitchFamily="18" charset="0"/>
              </a:rPr>
              <a:t>f</a:t>
            </a:r>
            <a:r>
              <a:rPr kumimoji="1" lang="en-US" altLang="zh-CN" sz="2400" b="1" baseline="-25000" dirty="0">
                <a:latin typeface="Times New Roman" pitchFamily="18" charset="0"/>
              </a:rPr>
              <a:t>L1</a:t>
            </a:r>
            <a:r>
              <a:rPr kumimoji="1" lang="zh-CN" altLang="en-US" sz="2400" b="1" dirty="0">
                <a:latin typeface="Times New Roman" pitchFamily="18" charset="0"/>
              </a:rPr>
              <a:t>～ </a:t>
            </a:r>
            <a:r>
              <a:rPr kumimoji="1" lang="en-US" altLang="zh-CN" sz="2400" b="1" i="1" dirty="0" err="1">
                <a:latin typeface="Times New Roman" pitchFamily="18" charset="0"/>
              </a:rPr>
              <a:t>f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L</a:t>
            </a:r>
            <a:r>
              <a:rPr kumimoji="1" lang="en-US" altLang="zh-CN" sz="2400" b="1" i="1" baseline="-25000" dirty="0" err="1">
                <a:latin typeface="Times New Roman" pitchFamily="18" charset="0"/>
              </a:rPr>
              <a:t>n</a:t>
            </a:r>
            <a:r>
              <a:rPr kumimoji="1" lang="zh-CN" altLang="en-US" sz="2400" b="1" i="1" dirty="0">
                <a:latin typeface="Times New Roman" pitchFamily="18" charset="0"/>
              </a:rPr>
              <a:t>、 </a:t>
            </a:r>
            <a:r>
              <a:rPr kumimoji="1" lang="en-US" altLang="zh-CN" sz="2400" b="1" i="1" dirty="0">
                <a:latin typeface="Times New Roman" pitchFamily="18" charset="0"/>
              </a:rPr>
              <a:t>f</a:t>
            </a:r>
            <a:r>
              <a:rPr kumimoji="1" lang="en-US" altLang="zh-CN" sz="2400" b="1" baseline="-25000" dirty="0">
                <a:latin typeface="Times New Roman" pitchFamily="18" charset="0"/>
              </a:rPr>
              <a:t>H1</a:t>
            </a:r>
            <a:r>
              <a:rPr kumimoji="1" lang="zh-CN" altLang="en-US" sz="2400" b="1" dirty="0">
                <a:latin typeface="Times New Roman" pitchFamily="18" charset="0"/>
              </a:rPr>
              <a:t>～ </a:t>
            </a:r>
            <a:r>
              <a:rPr kumimoji="1" lang="en-US" altLang="zh-CN" sz="2400" b="1" i="1" dirty="0" err="1">
                <a:latin typeface="Times New Roman" pitchFamily="18" charset="0"/>
              </a:rPr>
              <a:t>f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H</a:t>
            </a:r>
            <a:r>
              <a:rPr kumimoji="1" lang="en-US" altLang="zh-CN" sz="2400" b="1" i="1" baseline="-25000" dirty="0" err="1"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latin typeface="Times New Roman" pitchFamily="18" charset="0"/>
              </a:rPr>
              <a:t>，整个电路的下、上限频率分别为</a:t>
            </a:r>
            <a:r>
              <a:rPr kumimoji="1" lang="en-US" altLang="zh-CN" sz="2400" b="1" i="1" dirty="0" err="1">
                <a:latin typeface="Times New Roman" pitchFamily="18" charset="0"/>
              </a:rPr>
              <a:t>f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L</a:t>
            </a:r>
            <a:r>
              <a:rPr kumimoji="1" lang="zh-CN" altLang="en-US" sz="2400" b="1" dirty="0">
                <a:latin typeface="Times New Roman" pitchFamily="18" charset="0"/>
              </a:rPr>
              <a:t>、</a:t>
            </a:r>
            <a:r>
              <a:rPr kumimoji="1" lang="zh-CN" altLang="en-US" sz="2400" b="1" i="1" dirty="0">
                <a:latin typeface="Times New Roman" pitchFamily="18" charset="0"/>
              </a:rPr>
              <a:t> </a:t>
            </a:r>
            <a:r>
              <a:rPr kumimoji="1" lang="en-US" altLang="zh-CN" sz="2400" b="1" i="1" dirty="0" err="1">
                <a:latin typeface="Times New Roman" pitchFamily="18" charset="0"/>
              </a:rPr>
              <a:t>f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H</a:t>
            </a:r>
            <a:r>
              <a:rPr kumimoji="1" lang="zh-CN" altLang="en-US" sz="2400" b="1" dirty="0">
                <a:latin typeface="Times New Roman" pitchFamily="18" charset="0"/>
              </a:rPr>
              <a:t>，则</a:t>
            </a:r>
            <a:endParaRPr kumimoji="1" lang="zh-CN" altLang="en-US" sz="2400" b="1" baseline="-25000" dirty="0">
              <a:latin typeface="Times New Roman" pitchFamily="18" charset="0"/>
            </a:endParaRPr>
          </a:p>
        </p:txBody>
      </p:sp>
      <p:sp>
        <p:nvSpPr>
          <p:cNvPr id="15366" name="Text Box 10"/>
          <p:cNvSpPr txBox="1">
            <a:spLocks noChangeArrowheads="1"/>
          </p:cNvSpPr>
          <p:nvPr/>
        </p:nvSpPr>
        <p:spPr bwMode="auto">
          <a:xfrm>
            <a:off x="6781800" y="3357563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1.1</a:t>
            </a:r>
            <a:r>
              <a:rPr kumimoji="1" lang="zh-CN" altLang="en-US" b="1">
                <a:latin typeface="Times New Roman" pitchFamily="18" charset="0"/>
              </a:rPr>
              <a:t>为修正系数</a:t>
            </a:r>
          </a:p>
        </p:txBody>
      </p: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3779838" y="2636838"/>
          <a:ext cx="2447925" cy="218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公式" r:id="rId5" imgW="1028700" imgH="990600" progId="">
                  <p:embed/>
                </p:oleObj>
              </mc:Choice>
              <mc:Fallback>
                <p:oleObj name="公式" r:id="rId5" imgW="1028700" imgH="9906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636838"/>
                        <a:ext cx="2447925" cy="218916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85720" y="4929198"/>
            <a:ext cx="8393140" cy="1273195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000" b="1" kern="0" dirty="0" smtClean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   若</a:t>
            </a:r>
            <a:r>
              <a:rPr lang="zh-CN" altLang="en-US" sz="2000" b="1" kern="0" dirty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某级下限频率远远大于其它各级的下限频率，则可认为该电路的下限频率就是该级的下限频</a:t>
            </a:r>
            <a:r>
              <a:rPr lang="zh-CN" altLang="en-US" sz="2000" b="1" kern="0" dirty="0" smtClean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率。</a:t>
            </a:r>
            <a:endParaRPr lang="en-US" altLang="zh-CN" sz="3200" b="1" kern="0" dirty="0">
              <a:latin typeface="宋体" pitchFamily="2" charset="-122"/>
              <a:ea typeface="宋体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000" b="1" kern="0" dirty="0" smtClean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   某</a:t>
            </a:r>
            <a:r>
              <a:rPr lang="zh-CN" altLang="en-US" sz="2000" b="1" kern="0" dirty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级上限频率远远小于其它各级的上限频率，则可认为该电路的上限频率就是该级的上限频</a:t>
            </a:r>
            <a:r>
              <a:rPr lang="zh-CN" altLang="en-US" sz="2000" b="1" kern="0" dirty="0" smtClean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率。</a:t>
            </a:r>
            <a:endParaRPr lang="zh-CN" altLang="en-US" sz="2000" b="1" kern="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642918"/>
            <a:ext cx="8215370" cy="3143272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3000" dirty="0"/>
              <a:t>三</a:t>
            </a:r>
            <a:r>
              <a:rPr lang="zh-CN" altLang="en-US" sz="3000" dirty="0" smtClean="0"/>
              <a:t>、实验内容：</a:t>
            </a:r>
            <a:endParaRPr lang="en-US" altLang="zh-CN" sz="3000" dirty="0" smtClean="0"/>
          </a:p>
          <a:p>
            <a:r>
              <a:rPr lang="en-US" altLang="zh-CN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zh-CN" alt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RLC</a:t>
            </a:r>
            <a:r>
              <a:rPr lang="zh-CN" alt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电路频率特性测量</a:t>
            </a:r>
            <a:endParaRPr lang="en-US" altLang="zh-CN" sz="3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RLC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串联电路如图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，用波特图测试仪或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AC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分析方法测试电阻输出（节点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之间）时的幅频特性和相频特性曲线。根据幅频特性曲线，求出中心频率</a:t>
            </a:r>
            <a:r>
              <a:rPr lang="en-US" altLang="zh-CN" sz="26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lang="en-US" altLang="zh-CN" sz="2600" baseline="-250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3dB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带宽△</a:t>
            </a:r>
            <a:r>
              <a:rPr lang="en-US" altLang="zh-CN" sz="26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 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en-US" altLang="zh-CN" sz="26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Q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值，完成表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。与理论值比较。</a:t>
            </a:r>
            <a:endParaRPr lang="en-US" altLang="zh-CN" sz="26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设置信号频率为中心频率</a:t>
            </a:r>
            <a:r>
              <a:rPr lang="en-US" altLang="zh-CN" sz="26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lang="en-US" altLang="zh-CN" sz="2600" baseline="-250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，电压有效值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1mV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。分别测试电容、电感和电阻上的电压有效值，完成表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。与理论值比较。</a:t>
            </a:r>
            <a:endParaRPr lang="en-US" altLang="zh-CN" sz="26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测试电容和电感两端输出电压（节点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之间）时的幅频特性和相频特性，得到陷波频率。</a:t>
            </a:r>
            <a:endParaRPr lang="en-US" altLang="zh-CN" sz="26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3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15206" y="5357826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403895"/>
              </p:ext>
            </p:extLst>
          </p:nvPr>
        </p:nvGraphicFramePr>
        <p:xfrm>
          <a:off x="357158" y="4000504"/>
          <a:ext cx="5000627" cy="77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6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sz="2000" i="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-3dB</a:t>
                      </a:r>
                      <a:r>
                        <a:rPr lang="zh-CN" altLang="en-US" sz="2000" i="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下</a:t>
                      </a:r>
                      <a:endParaRPr lang="zh-CN" altLang="en-US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1" kern="1200" dirty="0" smtClean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sz="1800" i="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-3dB</a:t>
                      </a:r>
                      <a:r>
                        <a:rPr lang="zh-CN" altLang="en-US" sz="1800" i="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上</a:t>
                      </a:r>
                      <a:endParaRPr lang="zh-CN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altLang="en-US" sz="2000" baseline="-25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altLang="zh-CN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zh-CN" altLang="en-US" sz="20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dirty="0" smtClean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lang="zh-CN" alt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020807"/>
              </p:ext>
            </p:extLst>
          </p:nvPr>
        </p:nvGraphicFramePr>
        <p:xfrm>
          <a:off x="857224" y="5429264"/>
          <a:ext cx="4071836" cy="77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6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800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800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1800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000" i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2000" i="1" dirty="0" smtClean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855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3571876"/>
            <a:ext cx="3353893" cy="17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矩形 16"/>
          <p:cNvSpPr/>
          <p:nvPr/>
        </p:nvSpPr>
        <p:spPr>
          <a:xfrm>
            <a:off x="1142976" y="4857760"/>
            <a:ext cx="3619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表</a:t>
            </a:r>
            <a:r>
              <a:rPr lang="en-US" altLang="zh-CN" b="1" dirty="0" smtClean="0"/>
              <a:t>1  RLC</a:t>
            </a:r>
            <a:r>
              <a:rPr lang="zh-CN" altLang="en-US" b="1" dirty="0" smtClean="0"/>
              <a:t>电路频率特性实验数据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1071538" y="6286520"/>
            <a:ext cx="3619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表</a:t>
            </a:r>
            <a:r>
              <a:rPr lang="en-US" altLang="zh-CN" b="1" dirty="0" smtClean="0"/>
              <a:t>2  RLC</a:t>
            </a:r>
            <a:r>
              <a:rPr lang="zh-CN" altLang="en-US" b="1" dirty="0" smtClean="0"/>
              <a:t>电路谐振特性实验数据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1060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764704"/>
            <a:ext cx="8247860" cy="1735602"/>
          </a:xfrm>
        </p:spPr>
        <p:txBody>
          <a:bodyPr>
            <a:no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、耦合电容对放大电路频率特性的影响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电路如图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所示，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根据表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电容的不同参数，分别测试电路的幅频特性，得到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C1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C2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和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lang="en-US" altLang="zh-CN" sz="2000" baseline="-25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各自</a:t>
            </a:r>
            <a:r>
              <a:rPr lang="zh-CN" altLang="en-US" sz="200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确定的转折频率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，完成表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。结合实验数据，分析耦合电容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C1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C2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和旁路电容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C</a:t>
            </a:r>
            <a:r>
              <a:rPr lang="en-US" altLang="zh-CN" sz="2000" baseline="-25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itchFamily="18" charset="0"/>
              </a:rPr>
              <a:t>对频率特性的影响哪个更大，为什么？</a:t>
            </a:r>
            <a:endParaRPr lang="zh-CN" altLang="en-US" sz="2000" dirty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61286"/>
              </p:ext>
            </p:extLst>
          </p:nvPr>
        </p:nvGraphicFramePr>
        <p:xfrm>
          <a:off x="3719177" y="3143248"/>
          <a:ext cx="5424855" cy="2244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9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8642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altLang="zh-CN" sz="120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l-GR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altLang="zh-CN" sz="18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CN" sz="18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18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zh-CN" sz="18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sz="18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中频放大倍数</a:t>
                      </a:r>
                      <a:r>
                        <a:rPr lang="en-US" altLang="zh-C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600" i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zh-CN" altLang="en-US" sz="160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60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</a:t>
                      </a:r>
                      <a:r>
                        <a:rPr lang="zh-CN" altLang="en-US" sz="160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100" i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9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9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786314" y="5429264"/>
            <a:ext cx="41633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表</a:t>
            </a:r>
            <a:r>
              <a:rPr lang="en-US" altLang="zh-CN" dirty="0" smtClean="0">
                <a:latin typeface="+mn-ea"/>
                <a:cs typeface="Times New Roman" panose="02020603050405020304" pitchFamily="18" charset="0"/>
              </a:rPr>
              <a:t>3  </a:t>
            </a:r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耦合电容影响频率特性实验数据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28794" y="6000768"/>
            <a:ext cx="522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714620"/>
            <a:ext cx="3344402" cy="3357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1060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57158" y="642918"/>
            <a:ext cx="8001056" cy="2016224"/>
          </a:xfrm>
        </p:spPr>
        <p:txBody>
          <a:bodyPr>
            <a:noAutofit/>
          </a:bodyPr>
          <a:lstStyle/>
          <a:p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、极间电容对频率特性的影响</a:t>
            </a:r>
            <a:endParaRPr lang="en-US" altLang="zh-CN" sz="2400" dirty="0" smtClean="0">
              <a:latin typeface="+mn-ea"/>
            </a:endParaRPr>
          </a:p>
          <a:p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电路如图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，耦合电容和旁路电容都是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10uF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，负载电阻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RL=5.1k</a:t>
            </a:r>
            <a:r>
              <a:rPr lang="el-GR" altLang="zh-CN" sz="2000" dirty="0" smtClean="0">
                <a:latin typeface="+mn-ea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BJT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间接电容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C3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，用来模拟极间电容。改变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C3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的参数，测试电路的幅频特性曲线，完成表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。根据表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的实验数据，分析极间电容对频率特性的影响。</a:t>
            </a:r>
            <a:endParaRPr lang="zh-CN" altLang="en-US" sz="1200" dirty="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08861"/>
              </p:ext>
            </p:extLst>
          </p:nvPr>
        </p:nvGraphicFramePr>
        <p:xfrm>
          <a:off x="928662" y="3143248"/>
          <a:ext cx="3500463" cy="181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642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CN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(pF)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US" altLang="zh-CN" sz="18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CN" sz="18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18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altLang="zh-CN" sz="18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sz="18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altLang="zh-CN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9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000100" y="5072074"/>
            <a:ext cx="3967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表</a:t>
            </a:r>
            <a:r>
              <a:rPr lang="en-US" altLang="zh-CN" dirty="0" smtClean="0">
                <a:latin typeface="+mn-ea"/>
                <a:cs typeface="Times New Roman" panose="02020603050405020304" pitchFamily="18" charset="0"/>
              </a:rPr>
              <a:t>4  </a:t>
            </a:r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极间电容影响频率特性实验数据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143636" y="5643578"/>
            <a:ext cx="527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2357430"/>
            <a:ext cx="3184077" cy="321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9001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399998" y="216150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四、仿真实例</a:t>
            </a:r>
            <a:endParaRPr lang="zh-CN" altLang="en-US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96" y="2071678"/>
            <a:ext cx="2398428" cy="2367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0" y="1643050"/>
            <a:ext cx="4921831" cy="264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椭圆形标注 11"/>
          <p:cNvSpPr/>
          <p:nvPr/>
        </p:nvSpPr>
        <p:spPr>
          <a:xfrm>
            <a:off x="357158" y="3571876"/>
            <a:ext cx="721790" cy="714380"/>
          </a:xfrm>
          <a:prstGeom prst="wedgeEllipseCallout">
            <a:avLst>
              <a:gd name="adj1" fmla="val 111934"/>
              <a:gd name="adj2" fmla="val 6265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1604" y="4357694"/>
            <a:ext cx="180998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必须要有信号源，参数可任意。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19" y="4214818"/>
            <a:ext cx="4955967" cy="264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内容占位符 3"/>
          <p:cNvSpPr>
            <a:spLocks noGrp="1"/>
          </p:cNvSpPr>
          <p:nvPr>
            <p:ph idx="1"/>
          </p:nvPr>
        </p:nvSpPr>
        <p:spPr>
          <a:xfrm>
            <a:off x="214282" y="1142984"/>
            <a:ext cx="8424935" cy="1296144"/>
          </a:xfrm>
        </p:spPr>
        <p:txBody>
          <a:bodyPr/>
          <a:lstStyle/>
          <a:p>
            <a:r>
              <a:rPr lang="zh-CN" altLang="en-US" dirty="0" smtClean="0"/>
              <a:t>用</a:t>
            </a:r>
            <a:r>
              <a:rPr lang="zh-CN" altLang="en-US" dirty="0" smtClean="0">
                <a:solidFill>
                  <a:srgbClr val="FF0000"/>
                </a:solidFill>
              </a:rPr>
              <a:t>波特图测试仪</a:t>
            </a:r>
            <a:r>
              <a:rPr lang="zh-CN" altLang="en-US" dirty="0" smtClean="0"/>
              <a:t>测量电路幅频特性和相频特性，并求转折频率及相移。</a:t>
            </a:r>
            <a:endParaRPr lang="zh-CN" altLang="en-US" dirty="0"/>
          </a:p>
        </p:txBody>
      </p:sp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596" y="5000636"/>
            <a:ext cx="3150750" cy="185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220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14282" y="642918"/>
            <a:ext cx="8381655" cy="664602"/>
          </a:xfrm>
        </p:spPr>
        <p:txBody>
          <a:bodyPr/>
          <a:lstStyle/>
          <a:p>
            <a:r>
              <a:rPr lang="zh-CN" altLang="en-US" dirty="0" smtClean="0"/>
              <a:t>用</a:t>
            </a:r>
            <a:r>
              <a:rPr lang="zh-CN" altLang="en-US" dirty="0" smtClean="0">
                <a:solidFill>
                  <a:srgbClr val="FF0000"/>
                </a:solidFill>
              </a:rPr>
              <a:t>“交流分析“</a:t>
            </a:r>
            <a:r>
              <a:rPr lang="zh-CN" altLang="en-US" dirty="0" smtClean="0"/>
              <a:t>测量电路幅频特性和相频特性</a:t>
            </a:r>
            <a:endParaRPr lang="zh-CN" alt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285860"/>
            <a:ext cx="39243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3306" y="1285860"/>
            <a:ext cx="50387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44" y="2643182"/>
            <a:ext cx="517353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539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85860"/>
            <a:ext cx="7629525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内容占位符 3"/>
          <p:cNvSpPr txBox="1">
            <a:spLocks/>
          </p:cNvSpPr>
          <p:nvPr/>
        </p:nvSpPr>
        <p:spPr>
          <a:xfrm>
            <a:off x="357158" y="571480"/>
            <a:ext cx="8381655" cy="664602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“交流分析“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测量电路幅频特性和相频特性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1690</TotalTime>
  <Words>746</Words>
  <Application>Microsoft Office PowerPoint</Application>
  <PresentationFormat>全屏显示(4:3)</PresentationFormat>
  <Paragraphs>97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Monotype Sorts</vt:lpstr>
      <vt:lpstr>华文行楷</vt:lpstr>
      <vt:lpstr>华文楷体</vt:lpstr>
      <vt:lpstr>华文新魏</vt:lpstr>
      <vt:lpstr>楷体_GB2312</vt:lpstr>
      <vt:lpstr>隶书</vt:lpstr>
      <vt:lpstr>宋体</vt:lpstr>
      <vt:lpstr>Arial</vt:lpstr>
      <vt:lpstr>Calibri</vt:lpstr>
      <vt:lpstr>Candara</vt:lpstr>
      <vt:lpstr>Symbol</vt:lpstr>
      <vt:lpstr>Times New Roman</vt:lpstr>
      <vt:lpstr>自定义设计方案</vt:lpstr>
      <vt:lpstr>1_自定义设计方案</vt:lpstr>
      <vt:lpstr>波形</vt:lpstr>
      <vt:lpstr>Equation</vt:lpstr>
      <vt:lpstr>公式</vt:lpstr>
      <vt:lpstr>Photo Editor 照片</vt:lpstr>
      <vt:lpstr>MathType 6.0 Equation</vt:lpstr>
      <vt:lpstr>Multisim与电路仿真设计</vt:lpstr>
      <vt:lpstr>实验六 电路频率特性分析</vt:lpstr>
      <vt:lpstr>PowerPoint 演示文稿</vt:lpstr>
      <vt:lpstr>PowerPoint 演示文稿</vt:lpstr>
      <vt:lpstr>2、放大电路的频率特性</vt:lpstr>
      <vt:lpstr>3、单管共射放大电路的频率响应</vt:lpstr>
      <vt:lpstr>4、截止频率的估算</vt:lpstr>
      <vt:lpstr>PowerPoint 演示文稿</vt:lpstr>
      <vt:lpstr>PowerPoint 演示文稿</vt:lpstr>
      <vt:lpstr>PowerPoint 演示文稿</vt:lpstr>
      <vt:lpstr>四、仿真实例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Multisim与电路仿真设计</dc:title>
  <dc:creator>user</dc:creator>
  <cp:lastModifiedBy>张 彪</cp:lastModifiedBy>
  <cp:revision>160</cp:revision>
  <dcterms:created xsi:type="dcterms:W3CDTF">2016-07-18T07:58:34Z</dcterms:created>
  <dcterms:modified xsi:type="dcterms:W3CDTF">2020-03-31T11:22:39Z</dcterms:modified>
</cp:coreProperties>
</file>