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33" r:id="rId2"/>
    <p:sldMasterId id="2147484010" r:id="rId3"/>
  </p:sldMasterIdLst>
  <p:handoutMasterIdLst>
    <p:handoutMasterId r:id="rId21"/>
  </p:handoutMasterIdLst>
  <p:sldIdLst>
    <p:sldId id="256" r:id="rId4"/>
    <p:sldId id="257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62" r:id="rId16"/>
    <p:sldId id="261" r:id="rId17"/>
    <p:sldId id="263" r:id="rId18"/>
    <p:sldId id="264" r:id="rId19"/>
    <p:sldId id="266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80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1" d="100"/>
          <a:sy n="81" d="100"/>
        </p:scale>
        <p:origin x="-208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6" Type="http://schemas.openxmlformats.org/officeDocument/2006/relationships/image" Target="../media/image8.e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DA5E8-D1EA-4FCC-BFEB-3BD458FC368B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241440-A063-486D-9BC9-AA7963B4CA5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9429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04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046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350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12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229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86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150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68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319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6452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3050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D7B91-66C6-43D6-91EE-5A0E8E61168F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3788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89085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109666"/>
      </p:ext>
    </p:extLst>
  </p:cSld>
  <p:clrMapOvr>
    <a:masterClrMapping/>
  </p:clrMapOvr>
  <p:transition spd="slow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0693"/>
      </p:ext>
    </p:extLst>
  </p:cSld>
  <p:clrMapOvr>
    <a:masterClrMapping/>
  </p:clrMapOvr>
  <p:transition spd="slow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514961"/>
      </p:ext>
    </p:extLst>
  </p:cSld>
  <p:clrMapOvr>
    <a:masterClrMapping/>
  </p:clrMapOvr>
  <p:transition spd="slow">
    <p:randomBar dir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085148"/>
      </p:ext>
    </p:extLst>
  </p:cSld>
  <p:clrMapOvr>
    <a:masterClrMapping/>
  </p:clrMapOvr>
  <p:transition spd="slow">
    <p:randomBar dir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718617"/>
      </p:ext>
    </p:extLst>
  </p:cSld>
  <p:clrMapOvr>
    <a:masterClrMapping/>
  </p:clrMapOvr>
  <p:transition spd="slow">
    <p:randomBar dir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784348"/>
      </p:ext>
    </p:extLst>
  </p:cSld>
  <p:clrMapOvr>
    <a:masterClrMapping/>
  </p:clrMapOvr>
  <p:transition spd="slow">
    <p:randomBar dir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37650"/>
      </p:ext>
    </p:extLst>
  </p:cSld>
  <p:clrMapOvr>
    <a:masterClrMapping/>
  </p:clrMapOvr>
  <p:transition spd="slow">
    <p:randomBar dir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403684"/>
      </p:ext>
    </p:extLst>
  </p:cSld>
  <p:clrMapOvr>
    <a:masterClrMapping/>
  </p:clrMapOvr>
  <p:transition spd="slow">
    <p:randomBar dir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295938"/>
      </p:ext>
    </p:extLst>
  </p:cSld>
  <p:clrMapOvr>
    <a:masterClrMapping/>
  </p:clrMapOvr>
  <p:transition spd="slow">
    <p:randomBar dir="vert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D5121-4F22-4D7A-91F9-C1D9F627C227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337278"/>
      </p:ext>
    </p:extLst>
  </p:cSld>
  <p:clrMapOvr>
    <a:masterClrMapping/>
  </p:clrMapOvr>
  <p:transition spd="slow">
    <p:randomBar dir="vert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988840"/>
            <a:ext cx="8424935" cy="3744417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</a:defRPr>
            </a:lvl1pPr>
            <a:lvl2pPr>
              <a:defRPr sz="2400" b="1">
                <a:solidFill>
                  <a:schemeClr val="tx1"/>
                </a:solidFill>
              </a:defRPr>
            </a:lvl2pPr>
            <a:lvl3pPr>
              <a:defRPr sz="2400" b="1">
                <a:solidFill>
                  <a:schemeClr val="tx1"/>
                </a:solidFill>
              </a:defRPr>
            </a:lvl3pPr>
            <a:lvl4pPr>
              <a:defRPr sz="2000" b="1">
                <a:solidFill>
                  <a:schemeClr val="tx1"/>
                </a:solidFill>
              </a:defRPr>
            </a:lvl4pPr>
            <a:lvl5pPr>
              <a:defRPr sz="20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7544" y="6309320"/>
            <a:ext cx="1858082" cy="365125"/>
          </a:xfrm>
        </p:spPr>
        <p:txBody>
          <a:bodyPr/>
          <a:lstStyle>
            <a:lvl1pPr>
              <a:defRPr sz="18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 dirty="0" smtClean="0"/>
              <a:t>电子科技大学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5714093"/>
            <a:ext cx="1996083" cy="1123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84E5E-C7CB-4500-92C4-84F33D48D559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B3E9-2C7D-4BA9-B98C-BD752D7E50E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4785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D7B91-66C6-43D6-91EE-5A0E8E61168F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34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5008755"/>
            <a:ext cx="2310801" cy="1300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6347048" cy="3989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D5121-4F22-4D7A-91F9-C1D9F627C227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D3EE5-1764-45DE-A06A-0ECE58629B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67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ransition spd="slow">
    <p:randomBar dir="vert"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719D7B91-66C6-43D6-91EE-5A0E8E61168F}" type="datetimeFigureOut">
              <a:rPr lang="zh-CN" altLang="en-US" smtClean="0"/>
              <a:pPr/>
              <a:t>2020/2/17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369000F4-5069-4246-87D3-AB2FD963C23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14" r:id="rId4"/>
    <p:sldLayoutId id="2147484015" r:id="rId5"/>
    <p:sldLayoutId id="2147484016" r:id="rId6"/>
    <p:sldLayoutId id="2147484017" r:id="rId7"/>
    <p:sldLayoutId id="2147484018" r:id="rId8"/>
    <p:sldLayoutId id="2147484019" r:id="rId9"/>
    <p:sldLayoutId id="2147484020" r:id="rId10"/>
    <p:sldLayoutId id="2147484021" r:id="rId11"/>
    <p:sldLayoutId id="2147483745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png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20.png"/><Relationship Id="rId7" Type="http://schemas.openxmlformats.org/officeDocument/2006/relationships/image" Target="../media/image18.emf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7.png"/><Relationship Id="rId4" Type="http://schemas.openxmlformats.org/officeDocument/2006/relationships/oleObject" Target="../embeddings/oleObject8.bin"/><Relationship Id="rId9" Type="http://schemas.openxmlformats.org/officeDocument/2006/relationships/image" Target="../media/image1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7584" y="1844824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CN" b="1" dirty="0" err="1" smtClean="0">
                <a:latin typeface="+mj-ea"/>
              </a:rPr>
              <a:t>Multisim</a:t>
            </a:r>
            <a:r>
              <a:rPr lang="zh-CN" altLang="en-US" b="1" dirty="0" smtClean="0">
                <a:latin typeface="+mj-ea"/>
              </a:rPr>
              <a:t>与电路仿真设计</a:t>
            </a:r>
            <a:endParaRPr lang="zh-CN" altLang="en-US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2944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60848"/>
            <a:ext cx="8147248" cy="4176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一</a:t>
            </a:r>
            <a:r>
              <a:rPr lang="zh-CN" altLang="zh-CN" sz="2800" b="1" dirty="0" smtClean="0">
                <a:solidFill>
                  <a:schemeClr val="tx1"/>
                </a:solidFill>
                <a:latin typeface="+mn-ea"/>
              </a:rPr>
              <a:t>、</a:t>
            </a:r>
            <a:r>
              <a:rPr lang="zh-CN" altLang="zh-CN" sz="2800" b="1" dirty="0">
                <a:solidFill>
                  <a:schemeClr val="tx1"/>
                </a:solidFill>
                <a:latin typeface="+mn-ea"/>
              </a:rPr>
              <a:t>实验目的与任务</a:t>
            </a: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    </a:t>
            </a:r>
            <a:r>
              <a:rPr lang="zh-CN" altLang="zh-CN" sz="2400" b="1" dirty="0" smtClean="0">
                <a:solidFill>
                  <a:schemeClr val="tx1"/>
                </a:solidFill>
                <a:latin typeface="+mn-ea"/>
              </a:rPr>
              <a:t>通过电阻电路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</a:rPr>
              <a:t>网络定理</a:t>
            </a:r>
            <a:r>
              <a:rPr lang="zh-CN" altLang="zh-CN" sz="2400" b="1" dirty="0" smtClean="0">
                <a:solidFill>
                  <a:schemeClr val="tx1"/>
                </a:solidFill>
                <a:latin typeface="+mn-ea"/>
              </a:rPr>
              <a:t>仿真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</a:rPr>
              <a:t>，熟悉</a:t>
            </a:r>
            <a:r>
              <a:rPr lang="en-US" altLang="zh-CN" sz="2400" b="1" dirty="0" err="1">
                <a:solidFill>
                  <a:schemeClr val="tx1"/>
                </a:solidFill>
                <a:latin typeface="+mn-ea"/>
              </a:rPr>
              <a:t>Multisim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</a:rPr>
              <a:t>基本操作，学习电路搭建</a:t>
            </a:r>
            <a:r>
              <a:rPr lang="zh-CN" altLang="zh-CN" sz="2400" b="1" dirty="0" smtClean="0">
                <a:solidFill>
                  <a:schemeClr val="tx1"/>
                </a:solidFill>
                <a:latin typeface="+mn-ea"/>
              </a:rPr>
              <a:t>以及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</a:rPr>
              <a:t>信号源、</a:t>
            </a:r>
            <a:r>
              <a:rPr lang="zh-CN" altLang="zh-CN" sz="2400" b="1" dirty="0" smtClean="0">
                <a:solidFill>
                  <a:schemeClr val="tx1"/>
                </a:solidFill>
                <a:latin typeface="+mn-ea"/>
              </a:rPr>
              <a:t>万用表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</a:rPr>
              <a:t>、探</a:t>
            </a:r>
            <a:r>
              <a:rPr lang="zh-CN" altLang="zh-CN" sz="2400" b="1" dirty="0" smtClean="0">
                <a:solidFill>
                  <a:schemeClr val="tx1"/>
                </a:solidFill>
                <a:latin typeface="+mn-ea"/>
              </a:rPr>
              <a:t>针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</a:rPr>
              <a:t>、示波器</a:t>
            </a:r>
            <a:r>
              <a:rPr lang="zh-CN" altLang="zh-CN" sz="2400" b="1" dirty="0" smtClean="0">
                <a:solidFill>
                  <a:schemeClr val="tx1"/>
                </a:solidFill>
                <a:latin typeface="+mn-ea"/>
              </a:rPr>
              <a:t>等仪器的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</a:rPr>
              <a:t>操作和</a:t>
            </a:r>
            <a:r>
              <a:rPr lang="zh-CN" altLang="zh-CN" sz="2400" b="1" dirty="0" smtClean="0">
                <a:solidFill>
                  <a:schemeClr val="tx1"/>
                </a:solidFill>
                <a:latin typeface="+mn-ea"/>
              </a:rPr>
              <a:t>使用。</a:t>
            </a:r>
            <a:endParaRPr lang="en-US" altLang="zh-CN" sz="2400" b="1" dirty="0" smtClean="0">
              <a:solidFill>
                <a:schemeClr val="tx1"/>
              </a:solidFill>
              <a:latin typeface="+mn-ea"/>
            </a:endParaRPr>
          </a:p>
          <a:p>
            <a:pPr marL="0" indent="0">
              <a:buNone/>
            </a:pPr>
            <a:endParaRPr lang="zh-CN" altLang="zh-CN" sz="2800" b="1" dirty="0">
              <a:solidFill>
                <a:schemeClr val="tx1"/>
              </a:solidFill>
              <a:latin typeface="+mn-ea"/>
            </a:endParaRPr>
          </a:p>
          <a:p>
            <a:pPr marL="0" lvl="0" indent="0">
              <a:buNone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二、</a:t>
            </a:r>
            <a:r>
              <a:rPr lang="zh-CN" altLang="zh-CN" sz="2800" b="1" dirty="0" smtClean="0">
                <a:solidFill>
                  <a:schemeClr val="tx1"/>
                </a:solidFill>
                <a:latin typeface="+mn-ea"/>
              </a:rPr>
              <a:t>实验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原理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0" lvl="0" indent="0">
              <a:buNone/>
            </a:pP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     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</a:rPr>
              <a:t>网络定理</a:t>
            </a:r>
            <a:r>
              <a:rPr lang="zh-CN" altLang="zh-CN" sz="2400" b="1" dirty="0" smtClean="0">
                <a:solidFill>
                  <a:schemeClr val="tx1"/>
                </a:solidFill>
                <a:latin typeface="+mn-ea"/>
              </a:rPr>
              <a:t>；</a:t>
            </a:r>
            <a:endParaRPr lang="en-US" altLang="zh-CN" sz="2400" b="1" dirty="0" smtClean="0">
              <a:solidFill>
                <a:schemeClr val="tx1"/>
              </a:solidFill>
              <a:latin typeface="+mn-ea"/>
            </a:endParaRPr>
          </a:p>
          <a:p>
            <a:pPr marL="0" lvl="0" indent="0">
              <a:buNone/>
            </a:pP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     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</a:rPr>
              <a:t>信号类型及信号测量</a:t>
            </a:r>
            <a:r>
              <a:rPr lang="zh-CN" altLang="zh-CN" sz="2400" b="1" dirty="0" smtClean="0">
                <a:solidFill>
                  <a:schemeClr val="tx1"/>
                </a:solidFill>
                <a:latin typeface="+mn-ea"/>
              </a:rPr>
              <a:t>。</a:t>
            </a:r>
            <a:endParaRPr lang="zh-CN" altLang="en-US" sz="2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47248" cy="1210146"/>
          </a:xfrm>
        </p:spPr>
        <p:txBody>
          <a:bodyPr>
            <a:noAutofit/>
          </a:bodyPr>
          <a:lstStyle/>
          <a:p>
            <a:r>
              <a:rPr lang="zh-CN" altLang="zh-CN" sz="4000" b="1" dirty="0">
                <a:latin typeface="+mj-ea"/>
              </a:rPr>
              <a:t>实验</a:t>
            </a:r>
            <a:r>
              <a:rPr lang="zh-CN" altLang="zh-CN" sz="4000" b="1" dirty="0" smtClean="0">
                <a:latin typeface="+mj-ea"/>
              </a:rPr>
              <a:t>一</a:t>
            </a:r>
            <a:r>
              <a:rPr lang="en-US" altLang="zh-CN" sz="4000" b="1" dirty="0" smtClean="0">
                <a:latin typeface="+mj-ea"/>
              </a:rPr>
              <a:t/>
            </a:r>
            <a:br>
              <a:rPr lang="en-US" altLang="zh-CN" sz="4000" b="1" dirty="0" smtClean="0">
                <a:latin typeface="+mj-ea"/>
              </a:rPr>
            </a:br>
            <a:r>
              <a:rPr lang="en-US" altLang="zh-CN" sz="4000" b="1" dirty="0" err="1" smtClean="0">
                <a:latin typeface="+mj-ea"/>
              </a:rPr>
              <a:t>Multisim</a:t>
            </a:r>
            <a:r>
              <a:rPr lang="zh-CN" altLang="zh-CN" sz="4000" b="1" dirty="0">
                <a:latin typeface="+mj-ea"/>
              </a:rPr>
              <a:t>使用基础</a:t>
            </a:r>
            <a:r>
              <a:rPr lang="zh-CN" altLang="zh-CN" sz="4000" b="1" dirty="0" smtClean="0">
                <a:latin typeface="+mj-ea"/>
              </a:rPr>
              <a:t>与</a:t>
            </a:r>
            <a:r>
              <a:rPr lang="zh-CN" altLang="en-US" sz="4000" b="1" dirty="0" smtClean="0">
                <a:latin typeface="+mj-ea"/>
              </a:rPr>
              <a:t>网络定理仿真</a:t>
            </a:r>
            <a:endParaRPr lang="zh-CN" altLang="en-US" sz="40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5022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Grp="1" noChangeArrowheads="1"/>
          </p:cNvSpPr>
          <p:nvPr>
            <p:ph idx="1"/>
          </p:nvPr>
        </p:nvSpPr>
        <p:spPr bwMode="auto">
          <a:xfrm>
            <a:off x="395536" y="548680"/>
            <a:ext cx="8424935" cy="2419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0" hangingPunct="0">
              <a:lnSpc>
                <a:spcPct val="110000"/>
              </a:lnSpc>
              <a:defRPr/>
            </a:pP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</a:t>
            </a:r>
            <a:r>
              <a:rPr lang="en-US" altLang="zh-CN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1.</a:t>
            </a:r>
            <a:r>
              <a:rPr lang="zh-CN" alt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叠加定理</a:t>
            </a:r>
            <a:endParaRPr lang="en-US" altLang="zh-CN" sz="28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 pitchFamily="49" charset="-122"/>
            </a:endParaRPr>
          </a:p>
          <a:p>
            <a:pPr algn="l" eaLnBrk="0" hangingPunct="0">
              <a:lnSpc>
                <a:spcPct val="110000"/>
              </a:lnSpc>
              <a:defRPr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      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对于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线性电路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，任何一条支路的电压和电流，都可以看成是由电路中各个独立电源（电压源或电流源）单独作用时，在此支路中所产生的电压和电流的代数和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。</a:t>
            </a:r>
            <a:endParaRPr lang="en-US" altLang="zh-CN" sz="24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 pitchFamily="49" charset="-122"/>
            </a:endParaRPr>
          </a:p>
          <a:p>
            <a:pPr algn="l" eaLnBrk="0" hangingPunct="0">
              <a:lnSpc>
                <a:spcPct val="110000"/>
              </a:lnSpc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   </a:t>
            </a:r>
            <a:endParaRPr lang="zh-CN" altLang="en-US" sz="24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899592" y="2544390"/>
            <a:ext cx="33123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（</a:t>
            </a: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）电流源</a:t>
            </a:r>
            <a:r>
              <a:rPr kumimoji="1" lang="zh-CN" altLang="en-US" sz="2400" b="1" dirty="0" smtClean="0">
                <a:latin typeface="Times New Roman" pitchFamily="18" charset="0"/>
                <a:ea typeface="楷体_GB2312" pitchFamily="49" charset="-122"/>
              </a:rPr>
              <a:t>开路得到</a:t>
            </a:r>
            <a:endParaRPr kumimoji="1" lang="zh-CN" altLang="en-US" sz="2400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926975" y="3164997"/>
            <a:ext cx="3284985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（</a:t>
            </a: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）电压源</a:t>
            </a:r>
            <a:r>
              <a:rPr kumimoji="1" lang="zh-CN" altLang="en-US" sz="2400" b="1" dirty="0" smtClean="0">
                <a:latin typeface="Times New Roman" pitchFamily="18" charset="0"/>
                <a:ea typeface="楷体_GB2312" pitchFamily="49" charset="-122"/>
              </a:rPr>
              <a:t>短路得到</a:t>
            </a:r>
            <a:endParaRPr kumimoji="1" lang="zh-CN" altLang="en-US" sz="2400" b="1" dirty="0"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5245739"/>
              </p:ext>
            </p:extLst>
          </p:nvPr>
        </p:nvGraphicFramePr>
        <p:xfrm>
          <a:off x="250651" y="4580558"/>
          <a:ext cx="3025775" cy="213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8" name="Image" r:id="rId3" imgW="7421108" imgH="5222732" progId="">
                  <p:embed/>
                </p:oleObj>
              </mc:Choice>
              <mc:Fallback>
                <p:oleObj name="Image" r:id="rId3" imgW="7421108" imgH="5222732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51" y="4580558"/>
                        <a:ext cx="3025775" cy="213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666687"/>
              </p:ext>
            </p:extLst>
          </p:nvPr>
        </p:nvGraphicFramePr>
        <p:xfrm>
          <a:off x="3347864" y="4509120"/>
          <a:ext cx="2881312" cy="219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9" name="Image" r:id="rId5" imgW="6912813" imgH="5273562" progId="">
                  <p:embed/>
                </p:oleObj>
              </mc:Choice>
              <mc:Fallback>
                <p:oleObj name="Image" r:id="rId5" imgW="6912813" imgH="5273562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4509120"/>
                        <a:ext cx="2881312" cy="219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06226"/>
              </p:ext>
            </p:extLst>
          </p:nvPr>
        </p:nvGraphicFramePr>
        <p:xfrm>
          <a:off x="6156151" y="4480545"/>
          <a:ext cx="2808288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0" name="Image" r:id="rId7" imgW="6557007" imgH="5248147" progId="">
                  <p:embed/>
                </p:oleObj>
              </mc:Choice>
              <mc:Fallback>
                <p:oleObj name="Image" r:id="rId7" imgW="6557007" imgH="5248147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151" y="4480545"/>
                        <a:ext cx="2808288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6336276"/>
              </p:ext>
            </p:extLst>
          </p:nvPr>
        </p:nvGraphicFramePr>
        <p:xfrm>
          <a:off x="4211960" y="3132340"/>
          <a:ext cx="46672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1" name="公式" r:id="rId9" imgW="203040" imgH="228600" progId="">
                  <p:embed/>
                </p:oleObj>
              </mc:Choice>
              <mc:Fallback>
                <p:oleObj name="公式" r:id="rId9" imgW="203040" imgH="22860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3132340"/>
                        <a:ext cx="466725" cy="52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0848709"/>
              </p:ext>
            </p:extLst>
          </p:nvPr>
        </p:nvGraphicFramePr>
        <p:xfrm>
          <a:off x="4211960" y="2488889"/>
          <a:ext cx="290512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2" name="公式" r:id="rId11" imgW="126720" imgH="228600" progId="">
                  <p:embed/>
                </p:oleObj>
              </mc:Choice>
              <mc:Fallback>
                <p:oleObj name="公式" r:id="rId11" imgW="126720" imgH="22860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2488889"/>
                        <a:ext cx="290512" cy="52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5795060"/>
              </p:ext>
            </p:extLst>
          </p:nvPr>
        </p:nvGraphicFramePr>
        <p:xfrm>
          <a:off x="3059832" y="3717032"/>
          <a:ext cx="1989520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3" name="公式" r:id="rId13" imgW="648000" imgH="207000" progId="">
                  <p:embed/>
                </p:oleObj>
              </mc:Choice>
              <mc:Fallback>
                <p:oleObj name="公式" r:id="rId13" imgW="648000" imgH="20700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3717032"/>
                        <a:ext cx="1989520" cy="6480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4586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428596" y="642918"/>
            <a:ext cx="8424935" cy="290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rtlCol="0">
            <a:sp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lnSpc>
                <a:spcPct val="110000"/>
              </a:lnSpc>
              <a:defRPr/>
            </a:pP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2.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戴维宁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/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诺顿定理</a:t>
            </a:r>
            <a:endParaRPr lang="en-US" altLang="zh-CN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 pitchFamily="49" charset="-122"/>
            </a:endParaRPr>
          </a:p>
          <a:p>
            <a:pPr eaLnBrk="0" hangingPunct="0">
              <a:lnSpc>
                <a:spcPct val="110000"/>
              </a:lnSpc>
              <a:spcBef>
                <a:spcPts val="1800"/>
              </a:spcBef>
              <a:defRPr/>
            </a:pPr>
            <a:r>
              <a:rPr kumimoji="1" lang="zh-CN" altLang="en-US" sz="2400" dirty="0" smtClean="0">
                <a:latin typeface="楷体_GB2312" pitchFamily="49" charset="-122"/>
                <a:ea typeface="楷体_GB2312" pitchFamily="49" charset="-122"/>
              </a:rPr>
              <a:t>    含源线性电阻单口网络可以等效为戴维宁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或</a:t>
            </a:r>
            <a:r>
              <a:rPr kumimoji="1" lang="zh-CN" altLang="en-US" sz="2400" dirty="0" smtClean="0">
                <a:latin typeface="楷体_GB2312" pitchFamily="49" charset="-122"/>
                <a:ea typeface="楷体_GB2312" pitchFamily="49" charset="-122"/>
              </a:rPr>
              <a:t>诺顿等效电路。求出开路电压</a:t>
            </a:r>
            <a:r>
              <a:rPr kumimoji="1" lang="en-US" altLang="zh-CN" sz="2400" i="1" dirty="0" err="1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u</a:t>
            </a:r>
            <a:r>
              <a:rPr kumimoji="1" lang="en-US" altLang="zh-CN" sz="2400" baseline="-25000" dirty="0" err="1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oc</a:t>
            </a:r>
            <a:r>
              <a:rPr kumimoji="1" lang="zh-CN" altLang="en-US" sz="2400" dirty="0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和等效电阻</a:t>
            </a:r>
            <a:r>
              <a:rPr kumimoji="1" lang="en-US" altLang="zh-CN" sz="2400" i="1" dirty="0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aseline="-25000" dirty="0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o</a:t>
            </a:r>
            <a:r>
              <a:rPr kumimoji="1" lang="zh-CN" altLang="en-US" sz="2400" dirty="0" smtClean="0">
                <a:latin typeface="楷体_GB2312" pitchFamily="49" charset="-122"/>
                <a:ea typeface="楷体_GB2312" pitchFamily="49" charset="-122"/>
              </a:rPr>
              <a:t>就可以得到单口网络的戴维宁等效电路。求出</a:t>
            </a:r>
            <a:r>
              <a:rPr kumimoji="1" lang="zh-CN" altLang="en-US" sz="2400" dirty="0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短路电流</a:t>
            </a:r>
            <a:r>
              <a:rPr kumimoji="1" lang="en-US" altLang="zh-CN" sz="2400" dirty="0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i="1" dirty="0" err="1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i</a:t>
            </a:r>
            <a:r>
              <a:rPr kumimoji="1" lang="en-US" altLang="zh-CN" sz="2400" baseline="-25000" dirty="0" err="1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sc</a:t>
            </a:r>
            <a:r>
              <a:rPr kumimoji="1" lang="zh-CN" altLang="en-US" sz="2400" dirty="0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和等效电阻</a:t>
            </a:r>
            <a:r>
              <a:rPr kumimoji="1" lang="en-US" altLang="zh-CN" sz="2400" i="1" dirty="0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aseline="-25000" dirty="0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o</a:t>
            </a:r>
            <a:r>
              <a:rPr kumimoji="1" lang="zh-CN" altLang="en-US" sz="2400" dirty="0" smtClean="0">
                <a:latin typeface="楷体_GB2312" pitchFamily="49" charset="-122"/>
                <a:ea typeface="楷体_GB2312" pitchFamily="49" charset="-122"/>
              </a:rPr>
              <a:t>就可以得到单口网络的诺顿等效电路。</a:t>
            </a:r>
            <a:endParaRPr lang="en-US" altLang="zh-CN" sz="2400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 pitchFamily="49" charset="-122"/>
            </a:endParaRPr>
          </a:p>
          <a:p>
            <a:pPr eaLnBrk="0" hangingPunct="0">
              <a:lnSpc>
                <a:spcPct val="110000"/>
              </a:lnSpc>
              <a:defRPr/>
            </a:pPr>
            <a:r>
              <a:rPr lang="en-US" altLang="zh-CN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    </a:t>
            </a:r>
            <a:endParaRPr lang="zh-CN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16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3929066"/>
            <a:ext cx="2232025" cy="147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0430" y="3857628"/>
            <a:ext cx="2089150" cy="147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00760" y="3929066"/>
            <a:ext cx="2089150" cy="130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00123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500034" y="1214422"/>
            <a:ext cx="8424935" cy="871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rtlCol="0">
            <a:sp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lnSpc>
                <a:spcPct val="110000"/>
              </a:lnSpc>
              <a:defRPr/>
            </a:pPr>
            <a:r>
              <a:rPr kumimoji="1" lang="zh-CN" altLang="en-US" sz="2400" dirty="0" smtClean="0">
                <a:latin typeface="楷体_GB2312" pitchFamily="49" charset="-122"/>
                <a:ea typeface="楷体_GB2312" pitchFamily="49" charset="-122"/>
              </a:rPr>
              <a:t>只要求出开路电压</a:t>
            </a:r>
            <a:r>
              <a:rPr kumimoji="1" lang="en-US" altLang="zh-CN" sz="2400" i="1" dirty="0" err="1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u</a:t>
            </a:r>
            <a:r>
              <a:rPr kumimoji="1" lang="en-US" altLang="zh-CN" sz="2400" baseline="-25000" dirty="0" err="1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oc</a:t>
            </a:r>
            <a:r>
              <a:rPr kumimoji="1" lang="zh-CN" altLang="en-US" sz="2400" dirty="0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，短路电流</a:t>
            </a:r>
            <a:r>
              <a:rPr kumimoji="1" lang="en-US" altLang="zh-CN" sz="2400" dirty="0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i="1" dirty="0" err="1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i</a:t>
            </a:r>
            <a:r>
              <a:rPr kumimoji="1" lang="en-US" altLang="zh-CN" sz="2400" baseline="-25000" dirty="0" err="1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sc</a:t>
            </a:r>
            <a:r>
              <a:rPr kumimoji="1" lang="zh-CN" altLang="en-US" sz="2400" dirty="0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和等效电阻</a:t>
            </a:r>
            <a:r>
              <a:rPr kumimoji="1" lang="en-US" altLang="zh-CN" sz="2400" i="1" dirty="0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aseline="-25000" dirty="0" smtClean="0">
                <a:solidFill>
                  <a:srgbClr val="0000CC"/>
                </a:solidFill>
                <a:latin typeface="Times New Roman" pitchFamily="18" charset="0"/>
                <a:ea typeface="楷体_GB2312" pitchFamily="49" charset="-122"/>
              </a:rPr>
              <a:t>o</a:t>
            </a:r>
            <a:r>
              <a:rPr kumimoji="1" lang="zh-CN" altLang="en-US" sz="2400" dirty="0" smtClean="0">
                <a:latin typeface="Times New Roman" pitchFamily="18" charset="0"/>
                <a:ea typeface="楷体_GB2312" pitchFamily="49" charset="-122"/>
              </a:rPr>
              <a:t>中</a:t>
            </a:r>
            <a:r>
              <a:rPr kumimoji="1" lang="zh-CN" altLang="en-US" sz="2400" dirty="0" smtClean="0">
                <a:latin typeface="楷体_GB2312" pitchFamily="49" charset="-122"/>
                <a:ea typeface="楷体_GB2312" pitchFamily="49" charset="-122"/>
              </a:rPr>
              <a:t>任两个量，就可以得到单口网络的等效电路。</a:t>
            </a:r>
            <a:r>
              <a:rPr lang="en-US" altLang="zh-CN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    </a:t>
            </a:r>
            <a:endParaRPr lang="zh-CN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103427" name="Object 3"/>
          <p:cNvGraphicFramePr>
            <a:graphicFrameLocks noChangeAspect="1"/>
          </p:cNvGraphicFramePr>
          <p:nvPr/>
        </p:nvGraphicFramePr>
        <p:xfrm>
          <a:off x="1571604" y="4643446"/>
          <a:ext cx="5243512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7" name="公式" r:id="rId3" imgW="2070100" imgH="444500" progId="">
                  <p:embed/>
                </p:oleObj>
              </mc:Choice>
              <mc:Fallback>
                <p:oleObj name="公式" r:id="rId3" imgW="2070100" imgH="4445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04" y="4643446"/>
                        <a:ext cx="5243512" cy="1122363"/>
                      </a:xfrm>
                      <a:prstGeom prst="rect">
                        <a:avLst/>
                      </a:prstGeom>
                      <a:solidFill>
                        <a:srgbClr val="00FFCC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57686" y="2428868"/>
            <a:ext cx="430847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2285992"/>
            <a:ext cx="4032250" cy="2081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00123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24" y="1714488"/>
            <a:ext cx="4375871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611560" y="692696"/>
            <a:ext cx="82467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latin typeface="+mn-ea"/>
              </a:rPr>
              <a:t>求电路等效电阻的方法</a:t>
            </a:r>
            <a:r>
              <a:rPr lang="zh-CN" altLang="en-US" sz="2800" b="1" dirty="0" smtClean="0">
                <a:solidFill>
                  <a:schemeClr val="bg1"/>
                </a:solidFill>
                <a:latin typeface="+mn-ea"/>
              </a:rPr>
              <a:t>：</a:t>
            </a:r>
            <a:endParaRPr lang="en-US" altLang="zh-CN" sz="2800" b="1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zh-CN" sz="2800" b="1" dirty="0" smtClean="0">
                <a:solidFill>
                  <a:schemeClr val="bg1"/>
                </a:solidFill>
                <a:latin typeface="+mn-ea"/>
              </a:rPr>
              <a:t>      </a:t>
            </a:r>
            <a:r>
              <a:rPr lang="zh-CN" altLang="en-US" sz="2800" b="1" dirty="0" smtClean="0">
                <a:solidFill>
                  <a:schemeClr val="bg1"/>
                </a:solidFill>
                <a:latin typeface="+mn-ea"/>
              </a:rPr>
              <a:t>内部独立源置零，外加电源求端口电压电流比值。</a:t>
            </a:r>
            <a:r>
              <a:rPr lang="en-US" altLang="zh-CN" sz="2800" b="1" dirty="0" smtClean="0">
                <a:solidFill>
                  <a:schemeClr val="bg1"/>
                </a:solidFill>
                <a:latin typeface="+mn-ea"/>
              </a:rPr>
              <a:t>        </a:t>
            </a:r>
            <a:endParaRPr lang="zh-CN" altLang="en-US" sz="28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48" y="3643314"/>
            <a:ext cx="4641108" cy="284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5429256" y="3643314"/>
            <a:ext cx="294739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在外加的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1A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电流源作用下，端口电压为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3kV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，所以输入电阻为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3kΩ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13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428596" y="642918"/>
            <a:ext cx="8424935" cy="1046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rtlCol="0">
            <a:sp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lnSpc>
                <a:spcPct val="110000"/>
              </a:lnSpc>
              <a:defRPr/>
            </a:pP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3.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最大功率传输定理</a:t>
            </a:r>
            <a:endParaRPr lang="en-US" altLang="zh-CN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 pitchFamily="49" charset="-122"/>
            </a:endParaRPr>
          </a:p>
          <a:p>
            <a:pPr eaLnBrk="0" hangingPunct="0">
              <a:lnSpc>
                <a:spcPct val="110000"/>
              </a:lnSpc>
              <a:defRPr/>
            </a:pPr>
            <a:r>
              <a:rPr lang="en-US" altLang="zh-CN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   </a:t>
            </a:r>
            <a:endParaRPr lang="zh-CN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5" name="Picture 7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611188" y="4062446"/>
            <a:ext cx="3143889" cy="1974817"/>
          </a:xfrm>
        </p:spPr>
      </p:pic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4357686" y="3878786"/>
          <a:ext cx="3256628" cy="2201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3" name="Image" r:id="rId4" imgW="6391811" imgH="4320508" progId="">
                  <p:embed/>
                </p:oleObj>
              </mc:Choice>
              <mc:Fallback>
                <p:oleObj name="Image" r:id="rId4" imgW="6391811" imgH="4320508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6" y="3878786"/>
                        <a:ext cx="3256628" cy="2201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000100" y="1928802"/>
            <a:ext cx="6460657" cy="571500"/>
            <a:chOff x="720" y="3375"/>
            <a:chExt cx="3667" cy="360"/>
          </a:xfrm>
        </p:grpSpPr>
        <p:graphicFrame>
          <p:nvGraphicFramePr>
            <p:cNvPr id="8" name="Object 9"/>
            <p:cNvGraphicFramePr>
              <a:graphicFrameLocks noChangeAspect="1"/>
            </p:cNvGraphicFramePr>
            <p:nvPr/>
          </p:nvGraphicFramePr>
          <p:xfrm>
            <a:off x="3137" y="3375"/>
            <a:ext cx="1250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34" name="公式" r:id="rId6" imgW="1054080" imgH="228600" progId="">
                    <p:embed/>
                  </p:oleObj>
                </mc:Choice>
                <mc:Fallback>
                  <p:oleObj name="公式" r:id="rId6" imgW="1054080" imgH="228600" progId="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7" y="3375"/>
                          <a:ext cx="1250" cy="3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10"/>
            <p:cNvSpPr txBox="1">
              <a:spLocks noChangeArrowheads="1"/>
            </p:cNvSpPr>
            <p:nvPr/>
          </p:nvSpPr>
          <p:spPr bwMode="auto">
            <a:xfrm>
              <a:off x="720" y="3408"/>
              <a:ext cx="235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itchFamily="18" charset="0"/>
                  <a:ea typeface="楷体_GB2312" pitchFamily="49" charset="-122"/>
                </a:rPr>
                <a:t>负载获得最大功率的条件：</a:t>
              </a:r>
            </a:p>
          </p:txBody>
        </p:sp>
      </p:grp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1000100" y="2825740"/>
            <a:ext cx="38893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800" b="1" dirty="0">
                <a:latin typeface="Times New Roman" pitchFamily="18" charset="0"/>
                <a:ea typeface="楷体_GB2312" pitchFamily="49" charset="-122"/>
              </a:rPr>
              <a:t>负载获得的最大功率为：</a:t>
            </a:r>
          </a:p>
        </p:txBody>
      </p:sp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5316538" y="2640013"/>
          <a:ext cx="1911350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5" name="公式" r:id="rId8" imgW="850680" imgH="457200" progId="">
                  <p:embed/>
                </p:oleObj>
              </mc:Choice>
              <mc:Fallback>
                <p:oleObj name="公式" r:id="rId8" imgW="850680" imgH="45720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6538" y="2640013"/>
                        <a:ext cx="1911350" cy="1023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0123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857224" y="857232"/>
            <a:ext cx="764386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itchFamily="18" charset="0"/>
                <a:ea typeface="楷体_GB2312" pitchFamily="49" charset="-122"/>
              </a:rPr>
              <a:t>可以用“参数扫描”结合“直流工作点”，仿真分析负载电阻</a:t>
            </a:r>
            <a:r>
              <a:rPr kumimoji="1" lang="en-US" altLang="zh-CN" sz="2800" b="1" dirty="0" smtClean="0">
                <a:latin typeface="Times New Roman" pitchFamily="18" charset="0"/>
                <a:ea typeface="楷体_GB2312" pitchFamily="49" charset="-122"/>
              </a:rPr>
              <a:t>R2</a:t>
            </a:r>
            <a:r>
              <a:rPr kumimoji="1" lang="zh-CN" altLang="en-US" sz="2800" b="1" dirty="0" smtClean="0">
                <a:latin typeface="Times New Roman" pitchFamily="18" charset="0"/>
                <a:ea typeface="楷体_GB2312" pitchFamily="49" charset="-122"/>
              </a:rPr>
              <a:t>在不同阻值的输出功率，从而找到最大功率及对应的负载电阻值，如下图。</a:t>
            </a:r>
            <a:endParaRPr kumimoji="1" lang="zh-CN" altLang="en-US" sz="2800" b="1" dirty="0"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9216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320" y="2786058"/>
            <a:ext cx="8835743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6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96031" y="2857496"/>
            <a:ext cx="3082556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椭圆 1"/>
          <p:cNvSpPr/>
          <p:nvPr/>
        </p:nvSpPr>
        <p:spPr>
          <a:xfrm>
            <a:off x="4211960" y="3284984"/>
            <a:ext cx="1296144" cy="50405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4283968" y="4080843"/>
            <a:ext cx="1296144" cy="50405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3563888" y="4725144"/>
            <a:ext cx="1080120" cy="39795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7020272" y="3531378"/>
            <a:ext cx="288032" cy="25766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7502267" y="3531378"/>
            <a:ext cx="193964" cy="24866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6732239" y="5459940"/>
            <a:ext cx="705069" cy="39795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642918"/>
            <a:ext cx="7819232" cy="3143272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三、实验内容</a:t>
            </a:r>
            <a:endParaRPr lang="en-US" altLang="zh-CN" sz="24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实验中需使用到探针、万用表、功率计和示波器。</a:t>
            </a:r>
            <a:endParaRPr lang="en-US" altLang="zh-CN" sz="24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lnSpc>
                <a:spcPts val="3400"/>
              </a:lnSpc>
              <a:spcBef>
                <a:spcPts val="0"/>
              </a:spcBef>
            </a:pP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、叠加定理验证分析</a:t>
            </a:r>
            <a:endParaRPr lang="en-US" altLang="zh-CN" sz="24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lnSpc>
                <a:spcPts val="34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电路如图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，计算</a:t>
            </a:r>
            <a:r>
              <a:rPr lang="en-US" altLang="zh-CN" sz="2400" i="1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和</a:t>
            </a:r>
            <a:r>
              <a:rPr lang="en-US" altLang="zh-CN" sz="2400" i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的理论值。</a:t>
            </a:r>
            <a:endParaRPr lang="en-US" altLang="zh-CN" sz="24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lnSpc>
                <a:spcPts val="34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在</a:t>
            </a:r>
            <a:r>
              <a:rPr lang="en-US" altLang="zh-CN" sz="2400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Multisim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中按叠加定理的计算过程分别测试</a:t>
            </a:r>
            <a:r>
              <a:rPr lang="en-US" altLang="zh-CN" sz="2400" i="1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lang="en-US" altLang="zh-CN" sz="2400" i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’ </a:t>
            </a:r>
            <a:r>
              <a:rPr lang="zh-CN" altLang="en-US" sz="2400" i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2400" i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u’</a:t>
            </a:r>
            <a:r>
              <a:rPr lang="zh-CN" altLang="en-US" sz="2400" i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400" i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2400" i="1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lang="en-US" altLang="zh-CN" sz="2400" i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”</a:t>
            </a:r>
            <a:r>
              <a:rPr lang="zh-CN" altLang="en-US" sz="2400" i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2400" i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u” 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和</a:t>
            </a:r>
            <a:r>
              <a:rPr lang="en-US" altLang="zh-CN" sz="2400" i="1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lang="zh-CN" altLang="en-US" sz="2400" i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2400" i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u 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，验证叠加定理。     </a:t>
            </a:r>
            <a:endParaRPr lang="en-US" altLang="zh-CN" sz="24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14810" y="6286520"/>
            <a:ext cx="6429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latin typeface="宋体" pitchFamily="2" charset="-122"/>
                <a:ea typeface="宋体" pitchFamily="2" charset="-122"/>
              </a:rPr>
              <a:t>图</a:t>
            </a:r>
            <a:r>
              <a:rPr lang="en-US" altLang="zh-CN" sz="2000" b="1" dirty="0" smtClean="0">
                <a:latin typeface="宋体" pitchFamily="2" charset="-122"/>
                <a:ea typeface="宋体" pitchFamily="2" charset="-122"/>
              </a:rPr>
              <a:t>1</a:t>
            </a:r>
            <a:endParaRPr lang="zh-CN" altLang="en-US" sz="20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1736" y="3643314"/>
            <a:ext cx="3789073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0757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571480"/>
            <a:ext cx="8390736" cy="273573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dirty="0">
                <a:latin typeface="宋体" pitchFamily="2" charset="-122"/>
                <a:ea typeface="宋体" pitchFamily="2" charset="-122"/>
              </a:rPr>
              <a:t>三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、实验内容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pPr>
              <a:lnSpc>
                <a:spcPts val="3400"/>
              </a:lnSpc>
              <a:spcBef>
                <a:spcPts val="0"/>
              </a:spcBef>
            </a:pPr>
            <a:r>
              <a:rPr lang="en-US" altLang="zh-CN" sz="2400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、戴维宁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/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诺顿等效电路仿真测试</a:t>
            </a:r>
            <a:endParaRPr lang="en-US" altLang="zh-CN" sz="24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lnSpc>
                <a:spcPts val="34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电路如图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，计算单口网络的戴维宁等效电路。</a:t>
            </a:r>
            <a:endParaRPr lang="en-US" altLang="zh-CN" sz="24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lnSpc>
                <a:spcPts val="3400"/>
              </a:lnSpc>
              <a:spcBef>
                <a:spcPts val="0"/>
              </a:spcBef>
              <a:buFont typeface="Symbol" pitchFamily="18" charset="2"/>
              <a:buNone/>
            </a:pP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在</a:t>
            </a:r>
            <a:r>
              <a:rPr lang="en-US" altLang="zh-CN" sz="2400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Multisim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中分别仿真测试单口网络的开路电压、短路电流和等效电阻，得到网络的等效电路，并与理论分析结果比较。</a:t>
            </a:r>
            <a:endParaRPr lang="zh-CN" altLang="en-US" sz="24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71934" y="5786454"/>
            <a:ext cx="6480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/>
              <a:t>图</a:t>
            </a:r>
            <a:r>
              <a:rPr lang="en-US" altLang="zh-CN" sz="2000" b="1" dirty="0" smtClean="0"/>
              <a:t>2</a:t>
            </a:r>
            <a:endParaRPr lang="zh-CN" altLang="en-US" sz="2000" b="1" dirty="0"/>
          </a:p>
        </p:txBody>
      </p: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1857356" y="3143248"/>
            <a:ext cx="4824412" cy="2449512"/>
            <a:chOff x="1552" y="1192"/>
            <a:chExt cx="2738" cy="1281"/>
          </a:xfrm>
        </p:grpSpPr>
        <p:sp>
          <p:nvSpPr>
            <p:cNvPr id="9" name="Text Box 46"/>
            <p:cNvSpPr txBox="1">
              <a:spLocks noChangeAspect="1" noChangeArrowheads="1"/>
            </p:cNvSpPr>
            <p:nvPr/>
          </p:nvSpPr>
          <p:spPr bwMode="auto">
            <a:xfrm>
              <a:off x="1843" y="1617"/>
              <a:ext cx="204" cy="1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2400" b="1">
                  <a:latin typeface="宋体" pitchFamily="2" charset="-122"/>
                </a:rPr>
                <a:t>+</a:t>
              </a:r>
              <a:endParaRPr lang="en-US" altLang="zh-CN" sz="2400" b="1"/>
            </a:p>
          </p:txBody>
        </p:sp>
        <p:sp>
          <p:nvSpPr>
            <p:cNvPr id="10" name="Text Box 47"/>
            <p:cNvSpPr txBox="1">
              <a:spLocks noChangeAspect="1" noChangeArrowheads="1"/>
            </p:cNvSpPr>
            <p:nvPr/>
          </p:nvSpPr>
          <p:spPr bwMode="auto">
            <a:xfrm>
              <a:off x="1843" y="2068"/>
              <a:ext cx="204" cy="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2400" b="1">
                  <a:latin typeface="宋体" pitchFamily="2" charset="-122"/>
                </a:rPr>
                <a:t>-</a:t>
              </a:r>
              <a:endParaRPr lang="en-US" altLang="zh-CN" sz="2400" b="1"/>
            </a:p>
          </p:txBody>
        </p:sp>
        <p:sp>
          <p:nvSpPr>
            <p:cNvPr id="11" name="Line 48"/>
            <p:cNvSpPr>
              <a:spLocks noChangeAspect="1" noChangeShapeType="1"/>
            </p:cNvSpPr>
            <p:nvPr/>
          </p:nvSpPr>
          <p:spPr bwMode="auto">
            <a:xfrm>
              <a:off x="2041" y="1577"/>
              <a:ext cx="44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49"/>
            <p:cNvSpPr>
              <a:spLocks noChangeAspect="1" noChangeShapeType="1"/>
            </p:cNvSpPr>
            <p:nvPr/>
          </p:nvSpPr>
          <p:spPr bwMode="auto">
            <a:xfrm>
              <a:off x="2739" y="1577"/>
              <a:ext cx="119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50"/>
            <p:cNvSpPr>
              <a:spLocks noChangeAspect="1" noChangeShapeType="1"/>
            </p:cNvSpPr>
            <p:nvPr/>
          </p:nvSpPr>
          <p:spPr bwMode="auto">
            <a:xfrm>
              <a:off x="2042" y="2380"/>
              <a:ext cx="189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51"/>
            <p:cNvSpPr>
              <a:spLocks noChangeAspect="1" noChangeShapeType="1"/>
            </p:cNvSpPr>
            <p:nvPr/>
          </p:nvSpPr>
          <p:spPr bwMode="auto">
            <a:xfrm rot="5400000">
              <a:off x="1655" y="1976"/>
              <a:ext cx="79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52"/>
            <p:cNvSpPr>
              <a:spLocks noChangeAspect="1" noChangeShapeType="1"/>
            </p:cNvSpPr>
            <p:nvPr/>
          </p:nvSpPr>
          <p:spPr bwMode="auto">
            <a:xfrm rot="5400000">
              <a:off x="2951" y="2240"/>
              <a:ext cx="27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Oval 53"/>
            <p:cNvSpPr>
              <a:spLocks noChangeAspect="1" noChangeArrowheads="1"/>
            </p:cNvSpPr>
            <p:nvPr/>
          </p:nvSpPr>
          <p:spPr bwMode="auto">
            <a:xfrm>
              <a:off x="3062" y="1561"/>
              <a:ext cx="40" cy="4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Box 54"/>
            <p:cNvSpPr txBox="1">
              <a:spLocks noChangeAspect="1" noChangeArrowheads="1"/>
            </p:cNvSpPr>
            <p:nvPr/>
          </p:nvSpPr>
          <p:spPr bwMode="auto">
            <a:xfrm>
              <a:off x="2400" y="1282"/>
              <a:ext cx="305" cy="22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2400" b="1">
                  <a:latin typeface="Times New Roman" pitchFamily="18" charset="0"/>
                  <a:ea typeface="楷体_GB2312" pitchFamily="49" charset="-122"/>
                </a:rPr>
                <a:t>4Ω</a:t>
              </a:r>
              <a:endParaRPr lang="en-US" altLang="zh-CN" sz="2400" b="1"/>
            </a:p>
          </p:txBody>
        </p:sp>
        <p:sp>
          <p:nvSpPr>
            <p:cNvPr id="18" name="Oval 55"/>
            <p:cNvSpPr>
              <a:spLocks noChangeAspect="1" noChangeArrowheads="1"/>
            </p:cNvSpPr>
            <p:nvPr/>
          </p:nvSpPr>
          <p:spPr bwMode="auto">
            <a:xfrm flipH="1">
              <a:off x="1905" y="1826"/>
              <a:ext cx="295" cy="29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9" name="Text Box 56"/>
            <p:cNvSpPr txBox="1">
              <a:spLocks noChangeAspect="1" noChangeArrowheads="1"/>
            </p:cNvSpPr>
            <p:nvPr/>
          </p:nvSpPr>
          <p:spPr bwMode="auto">
            <a:xfrm>
              <a:off x="1552" y="1846"/>
              <a:ext cx="355" cy="24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2400" b="1">
                  <a:latin typeface="Times New Roman" pitchFamily="18" charset="0"/>
                </a:rPr>
                <a:t>10V</a:t>
              </a:r>
              <a:endParaRPr lang="en-US" altLang="zh-CN" sz="2400" b="1"/>
            </a:p>
          </p:txBody>
        </p:sp>
        <p:sp>
          <p:nvSpPr>
            <p:cNvPr id="20" name="Oval 57"/>
            <p:cNvSpPr>
              <a:spLocks noChangeAspect="1" noChangeArrowheads="1"/>
            </p:cNvSpPr>
            <p:nvPr/>
          </p:nvSpPr>
          <p:spPr bwMode="auto">
            <a:xfrm>
              <a:off x="3074" y="2361"/>
              <a:ext cx="39" cy="4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58"/>
            <p:cNvSpPr>
              <a:spLocks noChangeAspect="1" noChangeShapeType="1"/>
            </p:cNvSpPr>
            <p:nvPr/>
          </p:nvSpPr>
          <p:spPr bwMode="auto">
            <a:xfrm rot="5400000">
              <a:off x="2944" y="1704"/>
              <a:ext cx="27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59"/>
            <p:cNvSpPr txBox="1">
              <a:spLocks noChangeAspect="1" noChangeArrowheads="1"/>
            </p:cNvSpPr>
            <p:nvPr/>
          </p:nvSpPr>
          <p:spPr bwMode="auto">
            <a:xfrm>
              <a:off x="3535" y="1192"/>
              <a:ext cx="254" cy="24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2400" b="1">
                  <a:latin typeface="Times New Roman" pitchFamily="18" charset="0"/>
                  <a:ea typeface="楷体_GB2312" pitchFamily="49" charset="-122"/>
                </a:rPr>
                <a:t>2</a:t>
              </a:r>
              <a:r>
                <a:rPr lang="en-US" altLang="zh-CN" sz="2400" b="1" i="1">
                  <a:latin typeface="Times New Roman" pitchFamily="18" charset="0"/>
                  <a:ea typeface="楷体_GB2312" pitchFamily="49" charset="-122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楷体_GB2312" pitchFamily="49" charset="-122"/>
                </a:rPr>
                <a:t>1</a:t>
              </a:r>
              <a:endParaRPr lang="en-US" altLang="zh-CN" sz="2400" b="1"/>
            </a:p>
          </p:txBody>
        </p:sp>
        <p:sp>
          <p:nvSpPr>
            <p:cNvPr id="23" name="Text Box 60"/>
            <p:cNvSpPr txBox="1">
              <a:spLocks noChangeAspect="1" noChangeArrowheads="1"/>
            </p:cNvSpPr>
            <p:nvPr/>
          </p:nvSpPr>
          <p:spPr bwMode="auto">
            <a:xfrm>
              <a:off x="2719" y="1860"/>
              <a:ext cx="305" cy="24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2400" b="1" dirty="0">
                  <a:latin typeface="Times New Roman" pitchFamily="18" charset="0"/>
                  <a:ea typeface="楷体_GB2312" pitchFamily="49" charset="-122"/>
                </a:rPr>
                <a:t>6Ω</a:t>
              </a:r>
              <a:endParaRPr lang="en-US" altLang="zh-CN" sz="2400" b="1" dirty="0"/>
            </a:p>
          </p:txBody>
        </p:sp>
        <p:sp>
          <p:nvSpPr>
            <p:cNvPr id="24" name="Oval 61"/>
            <p:cNvSpPr>
              <a:spLocks noChangeAspect="1" noChangeArrowheads="1"/>
            </p:cNvSpPr>
            <p:nvPr/>
          </p:nvSpPr>
          <p:spPr bwMode="auto">
            <a:xfrm>
              <a:off x="3943" y="1546"/>
              <a:ext cx="50" cy="5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Oval 62"/>
            <p:cNvSpPr>
              <a:spLocks noChangeAspect="1" noChangeArrowheads="1"/>
            </p:cNvSpPr>
            <p:nvPr/>
          </p:nvSpPr>
          <p:spPr bwMode="auto">
            <a:xfrm>
              <a:off x="3943" y="2343"/>
              <a:ext cx="50" cy="51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Box 63"/>
            <p:cNvSpPr txBox="1">
              <a:spLocks noChangeAspect="1" noChangeArrowheads="1"/>
            </p:cNvSpPr>
            <p:nvPr/>
          </p:nvSpPr>
          <p:spPr bwMode="auto">
            <a:xfrm>
              <a:off x="4080" y="1427"/>
              <a:ext cx="204" cy="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2400" b="1">
                  <a:latin typeface="宋体" pitchFamily="2" charset="-122"/>
                </a:rPr>
                <a:t>a</a:t>
              </a:r>
              <a:endParaRPr lang="en-US" altLang="zh-CN" sz="2400" b="1"/>
            </a:p>
          </p:txBody>
        </p:sp>
        <p:sp>
          <p:nvSpPr>
            <p:cNvPr id="27" name="Text Box 64"/>
            <p:cNvSpPr txBox="1">
              <a:spLocks noChangeAspect="1" noChangeArrowheads="1"/>
            </p:cNvSpPr>
            <p:nvPr/>
          </p:nvSpPr>
          <p:spPr bwMode="auto">
            <a:xfrm>
              <a:off x="4086" y="2273"/>
              <a:ext cx="204" cy="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2400" b="1">
                  <a:latin typeface="宋体" pitchFamily="2" charset="-122"/>
                </a:rPr>
                <a:t>b</a:t>
              </a:r>
              <a:endParaRPr lang="en-US" altLang="zh-CN" sz="2400" b="1"/>
            </a:p>
          </p:txBody>
        </p:sp>
        <p:sp>
          <p:nvSpPr>
            <p:cNvPr id="28" name="Text Box 65"/>
            <p:cNvSpPr txBox="1">
              <a:spLocks noChangeAspect="1" noChangeArrowheads="1"/>
            </p:cNvSpPr>
            <p:nvPr/>
          </p:nvSpPr>
          <p:spPr bwMode="auto">
            <a:xfrm>
              <a:off x="2849" y="1590"/>
              <a:ext cx="175" cy="24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2400" b="1" i="1" dirty="0">
                  <a:latin typeface="Times New Roman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itchFamily="18" charset="0"/>
                </a:rPr>
                <a:t>1</a:t>
              </a:r>
              <a:endParaRPr lang="en-US" altLang="zh-CN" sz="2400" b="1" dirty="0"/>
            </a:p>
          </p:txBody>
        </p:sp>
        <p:sp>
          <p:nvSpPr>
            <p:cNvPr id="29" name="AutoShape 66"/>
            <p:cNvSpPr>
              <a:spLocks noChangeAspect="1" noChangeArrowheads="1"/>
            </p:cNvSpPr>
            <p:nvPr/>
          </p:nvSpPr>
          <p:spPr bwMode="auto">
            <a:xfrm>
              <a:off x="3456" y="1432"/>
              <a:ext cx="295" cy="295"/>
            </a:xfrm>
            <a:prstGeom prst="diamond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0" name="Text Box 67"/>
            <p:cNvSpPr txBox="1">
              <a:spLocks noChangeAspect="1" noChangeArrowheads="1"/>
            </p:cNvSpPr>
            <p:nvPr/>
          </p:nvSpPr>
          <p:spPr bwMode="auto">
            <a:xfrm>
              <a:off x="3359" y="1253"/>
              <a:ext cx="204" cy="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2400" b="1">
                  <a:latin typeface="宋体" pitchFamily="2" charset="-122"/>
                </a:rPr>
                <a:t>+</a:t>
              </a:r>
              <a:endParaRPr lang="en-US" altLang="zh-CN" sz="2400" b="1"/>
            </a:p>
          </p:txBody>
        </p:sp>
        <p:sp>
          <p:nvSpPr>
            <p:cNvPr id="31" name="Text Box 68"/>
            <p:cNvSpPr txBox="1">
              <a:spLocks noChangeAspect="1" noChangeArrowheads="1"/>
            </p:cNvSpPr>
            <p:nvPr/>
          </p:nvSpPr>
          <p:spPr bwMode="auto">
            <a:xfrm>
              <a:off x="3868" y="1250"/>
              <a:ext cx="204" cy="19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2400" b="1">
                  <a:latin typeface="宋体" pitchFamily="2" charset="-122"/>
                </a:rPr>
                <a:t>-</a:t>
              </a:r>
              <a:endParaRPr lang="en-US" altLang="zh-CN" sz="2400" b="1"/>
            </a:p>
          </p:txBody>
        </p:sp>
        <p:sp>
          <p:nvSpPr>
            <p:cNvPr id="32" name="Rectangle 69"/>
            <p:cNvSpPr>
              <a:spLocks noChangeAspect="1" noChangeArrowheads="1"/>
            </p:cNvSpPr>
            <p:nvPr/>
          </p:nvSpPr>
          <p:spPr bwMode="auto">
            <a:xfrm rot="5400000" flipH="1">
              <a:off x="2546" y="1426"/>
              <a:ext cx="88" cy="2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3" name="Rectangle 70"/>
            <p:cNvSpPr>
              <a:spLocks noChangeAspect="1" noChangeArrowheads="1"/>
            </p:cNvSpPr>
            <p:nvPr/>
          </p:nvSpPr>
          <p:spPr bwMode="auto">
            <a:xfrm flipH="1">
              <a:off x="3047" y="1833"/>
              <a:ext cx="88" cy="2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4" name="Line 71"/>
            <p:cNvSpPr>
              <a:spLocks noChangeAspect="1" noChangeShapeType="1"/>
            </p:cNvSpPr>
            <p:nvPr/>
          </p:nvSpPr>
          <p:spPr bwMode="auto">
            <a:xfrm rot="5400000">
              <a:off x="3023" y="1719"/>
              <a:ext cx="116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0609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00034" y="642918"/>
            <a:ext cx="8072494" cy="28575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三、实验内容</a:t>
            </a:r>
            <a:endParaRPr lang="en-US" altLang="zh-CN" dirty="0" smtClean="0">
              <a:latin typeface="宋体" pitchFamily="2" charset="-122"/>
              <a:ea typeface="宋体" pitchFamily="2" charset="-122"/>
            </a:endParaRPr>
          </a:p>
          <a:p>
            <a:pPr>
              <a:lnSpc>
                <a:spcPts val="3400"/>
              </a:lnSpc>
              <a:spcBef>
                <a:spcPts val="0"/>
              </a:spcBef>
            </a:pP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、最大功率传输定理验证分析</a:t>
            </a:r>
            <a:endParaRPr lang="en-US" altLang="zh-CN" sz="24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lnSpc>
                <a:spcPts val="3400"/>
              </a:lnSpc>
              <a:spcBef>
                <a:spcPts val="0"/>
              </a:spcBef>
            </a:pP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如图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，将图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所示电路端接负载，用参数扫描仿真分析负载电阻的最大输出功率及负载阻值，验证最大功率传输定理。</a:t>
            </a:r>
            <a:endParaRPr lang="zh-CN" altLang="en-US" sz="24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57620" y="6143644"/>
            <a:ext cx="5245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图</a:t>
            </a:r>
            <a:r>
              <a:rPr lang="en-US" altLang="zh-CN" b="1" dirty="0" smtClean="0"/>
              <a:t>3</a:t>
            </a:r>
            <a:endParaRPr lang="zh-CN" altLang="en-US" b="1" dirty="0"/>
          </a:p>
        </p:txBody>
      </p:sp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0166" y="3214686"/>
            <a:ext cx="5010150" cy="24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0757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571480"/>
            <a:ext cx="8104984" cy="250033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三、实验内容</a:t>
            </a:r>
            <a:endParaRPr lang="en-US" altLang="zh-CN" dirty="0" smtClean="0">
              <a:latin typeface="宋体" pitchFamily="2" charset="-122"/>
              <a:ea typeface="宋体" pitchFamily="2" charset="-122"/>
            </a:endParaRPr>
          </a:p>
          <a:p>
            <a:pPr>
              <a:lnSpc>
                <a:spcPts val="3400"/>
              </a:lnSpc>
              <a:spcBef>
                <a:spcPts val="0"/>
              </a:spcBef>
            </a:pP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、信号类型及测量</a:t>
            </a:r>
            <a:endParaRPr lang="en-US" altLang="zh-CN" sz="24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lnSpc>
                <a:spcPts val="3400"/>
              </a:lnSpc>
              <a:spcBef>
                <a:spcPts val="0"/>
              </a:spcBef>
            </a:pP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利用信号发生器产生</a:t>
            </a:r>
            <a:r>
              <a:rPr lang="en-US" altLang="zh-CN" sz="2400" i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=1kHz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sz="2400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Vpp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=2V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的正弦波、三角波和方波，用示波器观测这些信号参数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: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频率，幅度。</a:t>
            </a:r>
            <a:endParaRPr lang="en-US" altLang="zh-CN" sz="24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04" y="3000372"/>
            <a:ext cx="6257925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0757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475656" y="1772816"/>
            <a:ext cx="6912768" cy="15121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 smtClean="0"/>
              <a:t>例</a:t>
            </a:r>
            <a:r>
              <a:rPr lang="en-US" altLang="zh-CN" dirty="0" smtClean="0"/>
              <a:t>.</a:t>
            </a:r>
            <a:r>
              <a:rPr lang="zh-CN" altLang="en-US" dirty="0" smtClean="0"/>
              <a:t>电路如图所示，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1</a:t>
            </a:r>
            <a:r>
              <a:rPr lang="zh-CN" altLang="en-US" dirty="0" smtClean="0"/>
              <a:t>、求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和受控源吸收的功</a:t>
            </a:r>
            <a:r>
              <a:rPr lang="zh-CN" altLang="en-US" dirty="0" smtClean="0"/>
              <a:t>率；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2</a:t>
            </a:r>
            <a:r>
              <a:rPr lang="zh-CN" altLang="en-US" dirty="0" smtClean="0"/>
              <a:t>、求电路的输入电阻。</a:t>
            </a:r>
            <a:endParaRPr lang="zh-CN" altLang="en-US" dirty="0"/>
          </a:p>
        </p:txBody>
      </p:sp>
      <p:sp>
        <p:nvSpPr>
          <p:cNvPr id="4" name="标题 2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</p:spPr>
        <p:txBody>
          <a:bodyPr/>
          <a:lstStyle/>
          <a:p>
            <a:r>
              <a:rPr lang="zh-CN" altLang="en-US" dirty="0" smtClean="0"/>
              <a:t>二、仿真实例</a:t>
            </a:r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501008"/>
            <a:ext cx="5315734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014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35942" y="692696"/>
            <a:ext cx="8456537" cy="10081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、在</a:t>
            </a:r>
            <a:r>
              <a:rPr lang="en-US" altLang="zh-CN" dirty="0" err="1" smtClean="0">
                <a:solidFill>
                  <a:schemeClr val="tx1"/>
                </a:solidFill>
              </a:rPr>
              <a:t>Multisim</a:t>
            </a:r>
            <a:r>
              <a:rPr lang="zh-CN" altLang="en-US" dirty="0" smtClean="0">
                <a:solidFill>
                  <a:schemeClr val="tx1"/>
                </a:solidFill>
              </a:rPr>
              <a:t>中画出电路图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bg1"/>
                </a:solidFill>
              </a:rPr>
              <a:t>可以从菜单（绘制</a:t>
            </a:r>
            <a:r>
              <a:rPr lang="en-US" altLang="zh-CN" dirty="0" smtClean="0">
                <a:solidFill>
                  <a:schemeClr val="bg1"/>
                </a:solidFill>
              </a:rPr>
              <a:t>—</a:t>
            </a:r>
            <a:r>
              <a:rPr lang="zh-CN" altLang="en-US" dirty="0" smtClean="0">
                <a:solidFill>
                  <a:schemeClr val="bg1"/>
                </a:solidFill>
              </a:rPr>
              <a:t>元器件）或工具栏添加元器件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96" y="2091439"/>
            <a:ext cx="8069066" cy="4650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43" y="4077072"/>
            <a:ext cx="4100286" cy="2691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椭圆 9"/>
          <p:cNvSpPr/>
          <p:nvPr/>
        </p:nvSpPr>
        <p:spPr>
          <a:xfrm>
            <a:off x="527049" y="2492896"/>
            <a:ext cx="880025" cy="2880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818382" y="2492896"/>
            <a:ext cx="1335408" cy="0"/>
          </a:xfrm>
          <a:prstGeom prst="line">
            <a:avLst/>
          </a:prstGeom>
          <a:ln w="25400" cmpd="tri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18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91403" y="620688"/>
            <a:ext cx="8064896" cy="129614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、添加测试仪表（万用表和瓦特计）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chemeClr val="bg1"/>
                </a:solidFill>
              </a:rPr>
              <a:t>可以从菜单（仿真</a:t>
            </a:r>
            <a:r>
              <a:rPr lang="en-US" altLang="zh-CN" dirty="0" smtClean="0">
                <a:solidFill>
                  <a:schemeClr val="bg1"/>
                </a:solidFill>
              </a:rPr>
              <a:t>—</a:t>
            </a:r>
            <a:r>
              <a:rPr lang="zh-CN" altLang="en-US" dirty="0" smtClean="0">
                <a:solidFill>
                  <a:schemeClr val="bg1"/>
                </a:solidFill>
              </a:rPr>
              <a:t>仪器）或右侧边栏添加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806112"/>
            <a:ext cx="8473670" cy="463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椭圆 7"/>
          <p:cNvSpPr/>
          <p:nvPr/>
        </p:nvSpPr>
        <p:spPr>
          <a:xfrm>
            <a:off x="8581174" y="2466863"/>
            <a:ext cx="288032" cy="8897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275856" y="2708920"/>
            <a:ext cx="1080120" cy="0"/>
          </a:xfrm>
          <a:prstGeom prst="line">
            <a:avLst/>
          </a:prstGeom>
          <a:ln w="22225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275856" y="2996952"/>
            <a:ext cx="1080120" cy="0"/>
          </a:xfrm>
          <a:prstGeom prst="line">
            <a:avLst/>
          </a:prstGeom>
          <a:ln w="22225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688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39552" y="692696"/>
            <a:ext cx="7972964" cy="936104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、仿真：</a:t>
            </a:r>
            <a:r>
              <a:rPr lang="zh-CN" altLang="en-US" dirty="0" smtClean="0">
                <a:solidFill>
                  <a:schemeClr val="bg1"/>
                </a:solidFill>
              </a:rPr>
              <a:t>按</a:t>
            </a:r>
            <a:r>
              <a:rPr lang="en-US" altLang="zh-CN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F5</a:t>
            </a:r>
            <a:r>
              <a:rPr lang="zh-CN" altLang="en-US" dirty="0" smtClean="0">
                <a:solidFill>
                  <a:schemeClr val="bg1"/>
                </a:solidFill>
              </a:rPr>
              <a:t>或仿真开关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 smtClean="0"/>
              <a:t>       结果：</a:t>
            </a:r>
            <a:r>
              <a:rPr lang="zh-CN" altLang="en-US" dirty="0" smtClean="0">
                <a:solidFill>
                  <a:schemeClr val="bg1"/>
                </a:solidFill>
              </a:rPr>
              <a:t>双击万用表和瓦特计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72816"/>
            <a:ext cx="8265393" cy="4608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椭圆 3"/>
          <p:cNvSpPr/>
          <p:nvPr/>
        </p:nvSpPr>
        <p:spPr>
          <a:xfrm>
            <a:off x="8028384" y="2060848"/>
            <a:ext cx="848569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3419873" y="2204864"/>
            <a:ext cx="576064" cy="3394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051720" y="2204864"/>
            <a:ext cx="1080120" cy="0"/>
          </a:xfrm>
          <a:prstGeom prst="line">
            <a:avLst/>
          </a:prstGeom>
          <a:ln w="22225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13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23528" y="692696"/>
            <a:ext cx="8496944" cy="1080120"/>
          </a:xfrm>
        </p:spPr>
        <p:txBody>
          <a:bodyPr>
            <a:normAutofit fontScale="92500"/>
          </a:bodyPr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、也可以用探针作为测试仪表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</a:t>
            </a:r>
            <a:r>
              <a:rPr lang="zh-CN" altLang="en-US" dirty="0" smtClean="0">
                <a:solidFill>
                  <a:schemeClr val="bg1"/>
                </a:solidFill>
              </a:rPr>
              <a:t>探针方向就是电流参考方向，只能测试电压和电流。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58" y="1772816"/>
            <a:ext cx="8208912" cy="4963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椭圆 4"/>
          <p:cNvSpPr/>
          <p:nvPr/>
        </p:nvSpPr>
        <p:spPr>
          <a:xfrm>
            <a:off x="8388424" y="5085184"/>
            <a:ext cx="36004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58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574</TotalTime>
  <Words>633</Words>
  <Application>Microsoft Office PowerPoint</Application>
  <PresentationFormat>全屏显示(4:3)</PresentationFormat>
  <Paragraphs>66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华文楷体</vt:lpstr>
      <vt:lpstr>华文新魏</vt:lpstr>
      <vt:lpstr>楷体_GB2312</vt:lpstr>
      <vt:lpstr>隶书</vt:lpstr>
      <vt:lpstr>宋体</vt:lpstr>
      <vt:lpstr>Arial</vt:lpstr>
      <vt:lpstr>Calibri</vt:lpstr>
      <vt:lpstr>Candara</vt:lpstr>
      <vt:lpstr>Symbol</vt:lpstr>
      <vt:lpstr>Times New Roman</vt:lpstr>
      <vt:lpstr>自定义设计方案</vt:lpstr>
      <vt:lpstr>1_自定义设计方案</vt:lpstr>
      <vt:lpstr>波形</vt:lpstr>
      <vt:lpstr>Image</vt:lpstr>
      <vt:lpstr>公式</vt:lpstr>
      <vt:lpstr>Multisim与电路仿真设计</vt:lpstr>
      <vt:lpstr>实验一 Multisim使用基础与网络定理仿真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二、仿真实例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Multisim与电路仿真设计</dc:title>
  <dc:creator>user</dc:creator>
  <cp:lastModifiedBy>张 彪</cp:lastModifiedBy>
  <cp:revision>72</cp:revision>
  <dcterms:created xsi:type="dcterms:W3CDTF">2016-07-18T07:58:34Z</dcterms:created>
  <dcterms:modified xsi:type="dcterms:W3CDTF">2020-02-17T11:41:22Z</dcterms:modified>
</cp:coreProperties>
</file>