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60" r:id="rId2"/>
    <p:sldId id="324" r:id="rId3"/>
    <p:sldId id="327" r:id="rId4"/>
    <p:sldId id="366" r:id="rId5"/>
    <p:sldId id="372" r:id="rId6"/>
    <p:sldId id="325" r:id="rId7"/>
    <p:sldId id="368" r:id="rId8"/>
    <p:sldId id="373" r:id="rId9"/>
    <p:sldId id="328" r:id="rId10"/>
    <p:sldId id="374" r:id="rId11"/>
    <p:sldId id="371" r:id="rId12"/>
    <p:sldId id="363" r:id="rId13"/>
    <p:sldId id="330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gun Vagun" initials="V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8F9E"/>
    <a:srgbClr val="79A6A0"/>
    <a:srgbClr val="CBBAA8"/>
    <a:srgbClr val="D6C9BB"/>
    <a:srgbClr val="FFFFFF"/>
    <a:srgbClr val="618695"/>
    <a:srgbClr val="233F6A"/>
    <a:srgbClr val="5A6D7D"/>
    <a:srgbClr val="87888B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6318" autoAdjust="0"/>
  </p:normalViewPr>
  <p:slideViewPr>
    <p:cSldViewPr snapToGrid="0">
      <p:cViewPr varScale="1">
        <p:scale>
          <a:sx n="63" d="100"/>
          <a:sy n="63" d="100"/>
        </p:scale>
        <p:origin x="916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7C8D6-8378-491C-A88C-F5C0F1DDB3DF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81912-8CC0-4B9F-BE2A-5B54BD796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10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724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513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9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26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167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018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029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03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951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034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681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81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14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526706" y="364724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556E-D11A-48D7-81C0-B1B5323EC136}" type="datetimeFigureOut">
              <a:rPr lang="zh-CN" altLang="en-US" smtClean="0"/>
              <a:t>2020/11/6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5263E-7865-4889-9FDE-7A423744D6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8023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1277472"/>
            <a:ext cx="12192000" cy="2758980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B22330-B644-43BA-A1F1-97696CB9A5F8}"/>
              </a:ext>
            </a:extLst>
          </p:cNvPr>
          <p:cNvSpPr/>
          <p:nvPr/>
        </p:nvSpPr>
        <p:spPr>
          <a:xfrm>
            <a:off x="329415" y="1699007"/>
            <a:ext cx="11923611" cy="191590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6000" b="1" spc="225" dirty="0">
                <a:solidFill>
                  <a:schemeClr val="bg1"/>
                </a:solidFill>
                <a:cs typeface="+mn-ea"/>
                <a:sym typeface="+mn-lt"/>
              </a:rPr>
              <a:t>基于</a:t>
            </a:r>
            <a:r>
              <a:rPr lang="en-US" altLang="zh-CN" sz="6000" b="1" spc="225" dirty="0">
                <a:solidFill>
                  <a:schemeClr val="bg1"/>
                </a:solidFill>
                <a:cs typeface="+mn-ea"/>
                <a:sym typeface="+mn-lt"/>
              </a:rPr>
              <a:t>ADC</a:t>
            </a:r>
            <a:r>
              <a:rPr lang="zh-CN" altLang="en-US" sz="6000" b="1" spc="225" dirty="0">
                <a:solidFill>
                  <a:schemeClr val="bg1"/>
                </a:solidFill>
                <a:cs typeface="+mn-ea"/>
                <a:sym typeface="+mn-lt"/>
              </a:rPr>
              <a:t>和</a:t>
            </a:r>
            <a:r>
              <a:rPr lang="en-US" altLang="zh-CN" sz="6000" b="1" spc="225" dirty="0">
                <a:solidFill>
                  <a:schemeClr val="bg1"/>
                </a:solidFill>
                <a:cs typeface="+mn-ea"/>
                <a:sym typeface="+mn-lt"/>
              </a:rPr>
              <a:t>DAC</a:t>
            </a:r>
            <a:r>
              <a:rPr lang="zh-CN" altLang="en-US" sz="6000" b="1" spc="225" dirty="0">
                <a:solidFill>
                  <a:schemeClr val="bg1"/>
                </a:solidFill>
                <a:cs typeface="+mn-ea"/>
                <a:sym typeface="+mn-lt"/>
              </a:rPr>
              <a:t>的数字信号处理的基本概念及其应用</a:t>
            </a:r>
            <a:endParaRPr sz="6000" b="1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5D900F-D6FC-4C63-A5D8-CC12E68D07FE}"/>
              </a:ext>
            </a:extLst>
          </p:cNvPr>
          <p:cNvSpPr txBox="1"/>
          <p:nvPr/>
        </p:nvSpPr>
        <p:spPr>
          <a:xfrm>
            <a:off x="4135738" y="4373411"/>
            <a:ext cx="4310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张志豪、罗霄、郑一江</a:t>
            </a:r>
          </a:p>
        </p:txBody>
      </p:sp>
    </p:spTree>
    <p:extLst>
      <p:ext uri="{BB962C8B-B14F-4D97-AF65-F5344CB8AC3E}">
        <p14:creationId xmlns:p14="http://schemas.microsoft.com/office/powerpoint/2010/main" val="417145613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rot="16200000" flipH="1" flipV="1">
            <a:off x="-427990" y="1787525"/>
            <a:ext cx="6845300" cy="3270250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51160" y="2705123"/>
            <a:ext cx="1945945" cy="11772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3600" spc="225" dirty="0">
                <a:solidFill>
                  <a:schemeClr val="bg1"/>
                </a:solidFill>
                <a:cs typeface="+mn-ea"/>
                <a:sym typeface="+mn-lt"/>
              </a:rPr>
              <a:t>目录</a:t>
            </a:r>
            <a:endParaRPr lang="en-US" altLang="zh-CN" sz="3600" spc="225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CN" sz="3600" spc="225" dirty="0">
                <a:solidFill>
                  <a:schemeClr val="bg1"/>
                </a:solidFill>
                <a:cs typeface="+mn-ea"/>
                <a:sym typeface="+mn-lt"/>
              </a:rPr>
              <a:t>content</a:t>
            </a:r>
            <a:endParaRPr sz="36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5241" y="1895153"/>
            <a:ext cx="2061391" cy="183896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11500" spc="225" dirty="0">
                <a:solidFill>
                  <a:schemeClr val="bg1"/>
                </a:solidFill>
                <a:cs typeface="+mn-ea"/>
                <a:sym typeface="+mn-lt"/>
              </a:rPr>
              <a:t>“</a:t>
            </a:r>
          </a:p>
        </p:txBody>
      </p:sp>
      <p:sp>
        <p:nvSpPr>
          <p:cNvPr id="32" name="矩形 31"/>
          <p:cNvSpPr/>
          <p:nvPr/>
        </p:nvSpPr>
        <p:spPr>
          <a:xfrm>
            <a:off x="3632268" y="3790809"/>
            <a:ext cx="2061391" cy="183896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11500" spc="225" dirty="0">
                <a:solidFill>
                  <a:schemeClr val="bg1"/>
                </a:solidFill>
                <a:cs typeface="+mn-ea"/>
                <a:sym typeface="+mn-lt"/>
              </a:rPr>
              <a:t>”</a:t>
            </a:r>
          </a:p>
        </p:txBody>
      </p:sp>
      <p:sp>
        <p:nvSpPr>
          <p:cNvPr id="34" name="矩形 33"/>
          <p:cNvSpPr/>
          <p:nvPr/>
        </p:nvSpPr>
        <p:spPr>
          <a:xfrm>
            <a:off x="7428466" y="1554888"/>
            <a:ext cx="1713623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3200" spc="225" dirty="0">
                <a:gradFill>
                  <a:gsLst>
                    <a:gs pos="64000">
                      <a:srgbClr val="618695"/>
                    </a:gs>
                    <a:gs pos="0">
                      <a:schemeClr val="bg1">
                        <a:alpha val="38000"/>
                      </a:schemeClr>
                    </a:gs>
                  </a:gsLst>
                  <a:lin ang="5340000" scaled="0"/>
                </a:gradFill>
                <a:cs typeface="+mn-ea"/>
                <a:sym typeface="+mn-lt"/>
              </a:rPr>
              <a:t>Part 01</a:t>
            </a:r>
          </a:p>
        </p:txBody>
      </p:sp>
      <p:sp>
        <p:nvSpPr>
          <p:cNvPr id="35" name="矩形 34"/>
          <p:cNvSpPr/>
          <p:nvPr/>
        </p:nvSpPr>
        <p:spPr>
          <a:xfrm>
            <a:off x="7374767" y="2049256"/>
            <a:ext cx="4264783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3600" dirty="0">
                <a:sym typeface="+mn-lt"/>
              </a:rPr>
              <a:t>数字信号处理概念</a:t>
            </a:r>
            <a:endParaRPr lang="zh-CN" altLang="en-US" sz="3600" spc="225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435616" y="2886026"/>
            <a:ext cx="1713623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3200" spc="225" dirty="0">
                <a:gradFill>
                  <a:gsLst>
                    <a:gs pos="64000">
                      <a:srgbClr val="618695"/>
                    </a:gs>
                    <a:gs pos="0">
                      <a:schemeClr val="bg1">
                        <a:alpha val="38000"/>
                      </a:schemeClr>
                    </a:gs>
                  </a:gsLst>
                  <a:lin ang="5340000" scaled="0"/>
                </a:gradFill>
                <a:cs typeface="+mn-ea"/>
                <a:sym typeface="+mn-lt"/>
              </a:rPr>
              <a:t>Part 02</a:t>
            </a:r>
          </a:p>
        </p:txBody>
      </p:sp>
      <p:sp>
        <p:nvSpPr>
          <p:cNvPr id="41" name="矩形 40"/>
          <p:cNvSpPr/>
          <p:nvPr/>
        </p:nvSpPr>
        <p:spPr>
          <a:xfrm>
            <a:off x="7381917" y="3380394"/>
            <a:ext cx="4712317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3600" dirty="0"/>
              <a:t>数字信号处理应用</a:t>
            </a:r>
            <a:endParaRPr sz="3600" spc="225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482165" y="4306540"/>
            <a:ext cx="1713623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3200" spc="225" dirty="0">
                <a:gradFill>
                  <a:gsLst>
                    <a:gs pos="64000">
                      <a:srgbClr val="618695"/>
                    </a:gs>
                    <a:gs pos="0">
                      <a:schemeClr val="bg1">
                        <a:alpha val="38000"/>
                      </a:schemeClr>
                    </a:gs>
                  </a:gsLst>
                  <a:lin ang="5340000" scaled="0"/>
                </a:gradFill>
                <a:cs typeface="+mn-ea"/>
                <a:sym typeface="+mn-lt"/>
              </a:rPr>
              <a:t>Part 03</a:t>
            </a:r>
          </a:p>
        </p:txBody>
      </p:sp>
      <p:sp>
        <p:nvSpPr>
          <p:cNvPr id="43" name="矩形 42"/>
          <p:cNvSpPr/>
          <p:nvPr/>
        </p:nvSpPr>
        <p:spPr>
          <a:xfrm>
            <a:off x="7428466" y="4800908"/>
            <a:ext cx="3441057" cy="6232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3600" spc="225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总结</a:t>
            </a:r>
            <a:endParaRPr sz="3600" spc="225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32" grpId="0"/>
      <p:bldP spid="34" grpId="0"/>
      <p:bldP spid="35" grpId="0"/>
      <p:bldP spid="40" grpId="0"/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2049510"/>
            <a:ext cx="12192000" cy="2758980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平行四边形 1"/>
          <p:cNvSpPr/>
          <p:nvPr/>
        </p:nvSpPr>
        <p:spPr>
          <a:xfrm>
            <a:off x="1627773" y="1384300"/>
            <a:ext cx="3162300" cy="4089400"/>
          </a:xfrm>
          <a:prstGeom prst="parallelogram">
            <a:avLst/>
          </a:prstGeom>
          <a:solidFill>
            <a:srgbClr val="CBB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76695" y="2049510"/>
            <a:ext cx="2464455" cy="219290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13800" spc="225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sz="138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12339" y="2564838"/>
            <a:ext cx="5651888" cy="191590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6000" b="1" spc="225" dirty="0">
                <a:solidFill>
                  <a:schemeClr val="bg1"/>
                </a:solidFill>
                <a:cs typeface="+mn-ea"/>
                <a:sym typeface="+mn-lt"/>
              </a:rPr>
              <a:t>数字信号处理的基本概念</a:t>
            </a:r>
            <a:endParaRPr lang="zh-CN" altLang="en-US" sz="60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2004" y="1145596"/>
            <a:ext cx="4053913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19190" y="1179954"/>
            <a:ext cx="1282850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概念</a:t>
            </a:r>
            <a:endParaRPr lang="en-US" altLang="zh-CN" sz="4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EB2698-7E44-417C-A234-3073C249C524}"/>
              </a:ext>
            </a:extLst>
          </p:cNvPr>
          <p:cNvSpPr/>
          <p:nvPr/>
        </p:nvSpPr>
        <p:spPr>
          <a:xfrm>
            <a:off x="4482882" y="302062"/>
            <a:ext cx="3226234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2800" b="1" spc="225" dirty="0">
                <a:cs typeface="+mn-ea"/>
                <a:sym typeface="+mn-lt"/>
              </a:rPr>
              <a:t>数字信号处理概念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C7EB72-35F5-4EA1-8FD6-562BAC2D501A}"/>
              </a:ext>
            </a:extLst>
          </p:cNvPr>
          <p:cNvSpPr/>
          <p:nvPr/>
        </p:nvSpPr>
        <p:spPr>
          <a:xfrm>
            <a:off x="646445" y="2252266"/>
            <a:ext cx="937176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数字信号处理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(digital signal processing)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，是以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数字运算方法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实现信号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变换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滤波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检测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估值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调制解调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以及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快速算法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等处理的一门学科。</a:t>
            </a:r>
            <a:endParaRPr lang="en-US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endParaRPr lang="en-US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数字信号处理具有高精度、高可靠性、可程序控制、可时分复用、便于集成化等优点。其应用领域十分广泛。</a:t>
            </a:r>
            <a:endParaRPr lang="zh-CN" altLang="en-US" sz="2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2CBF99-C746-4BD4-8D8F-8E7AC508368B}"/>
              </a:ext>
            </a:extLst>
          </p:cNvPr>
          <p:cNvSpPr/>
          <p:nvPr/>
        </p:nvSpPr>
        <p:spPr>
          <a:xfrm>
            <a:off x="12004" y="4343112"/>
            <a:ext cx="4053913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CDDEA64-934C-4926-B8E6-E197E2E76ADF}"/>
              </a:ext>
            </a:extLst>
          </p:cNvPr>
          <p:cNvSpPr txBox="1"/>
          <p:nvPr/>
        </p:nvSpPr>
        <p:spPr>
          <a:xfrm>
            <a:off x="1219190" y="4377470"/>
            <a:ext cx="1282850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endParaRPr lang="en-US" altLang="zh-CN" sz="4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B26EC3-19FF-4B61-98D5-6F165DB82F81}"/>
              </a:ext>
            </a:extLst>
          </p:cNvPr>
          <p:cNvSpPr/>
          <p:nvPr/>
        </p:nvSpPr>
        <p:spPr>
          <a:xfrm>
            <a:off x="646445" y="5333549"/>
            <a:ext cx="93717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数字滤波器、傅里叶变换、谱分析、语音信号处理、图像信号处理</a:t>
            </a:r>
            <a:r>
              <a:rPr lang="en-US" altLang="zh-CN" sz="2000" b="1" dirty="0"/>
              <a:t>……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4705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3" grpId="0" bldLvl="0"/>
      <p:bldP spid="28" grpId="0"/>
      <p:bldP spid="29" grpId="0" bldLvl="0" animBg="1"/>
      <p:bldP spid="30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2004" y="1145596"/>
            <a:ext cx="4053913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2597" y="1105400"/>
            <a:ext cx="3710886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ADC</a:t>
            </a:r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DAC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1373A6-DBCD-492A-8406-8D7289213CE7}"/>
              </a:ext>
            </a:extLst>
          </p:cNvPr>
          <p:cNvSpPr txBox="1"/>
          <p:nvPr/>
        </p:nvSpPr>
        <p:spPr>
          <a:xfrm>
            <a:off x="553903" y="2273723"/>
            <a:ext cx="3647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nalog-to-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igital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onverter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A0171B-F200-412D-B286-AA858E2C0D27}"/>
              </a:ext>
            </a:extLst>
          </p:cNvPr>
          <p:cNvSpPr txBox="1"/>
          <p:nvPr/>
        </p:nvSpPr>
        <p:spPr>
          <a:xfrm>
            <a:off x="553903" y="2956935"/>
            <a:ext cx="3647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igital-to-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nalog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onverter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625568-7F7A-4BAE-845A-7B765BE40ABD}"/>
              </a:ext>
            </a:extLst>
          </p:cNvPr>
          <p:cNvSpPr txBox="1"/>
          <p:nvPr/>
        </p:nvSpPr>
        <p:spPr>
          <a:xfrm>
            <a:off x="5212653" y="2312251"/>
            <a:ext cx="178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模</a:t>
            </a:r>
            <a:r>
              <a:rPr lang="zh-CN" altLang="en-US" dirty="0"/>
              <a:t>拟</a:t>
            </a:r>
            <a:r>
              <a:rPr lang="zh-CN" altLang="en-US" dirty="0">
                <a:solidFill>
                  <a:srgbClr val="FF0000"/>
                </a:solidFill>
              </a:rPr>
              <a:t>数</a:t>
            </a:r>
            <a:r>
              <a:rPr lang="zh-CN" altLang="en-US" dirty="0"/>
              <a:t>字转换器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88A8F3-2740-4A13-ABA5-C8BAA84F93D7}"/>
              </a:ext>
            </a:extLst>
          </p:cNvPr>
          <p:cNvSpPr txBox="1"/>
          <p:nvPr/>
        </p:nvSpPr>
        <p:spPr>
          <a:xfrm>
            <a:off x="5202812" y="3025357"/>
            <a:ext cx="178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</a:t>
            </a:r>
            <a:r>
              <a:rPr lang="zh-CN" altLang="en-US" dirty="0"/>
              <a:t>字</a:t>
            </a:r>
            <a:r>
              <a:rPr lang="zh-CN" altLang="en-US" dirty="0">
                <a:solidFill>
                  <a:srgbClr val="FF0000"/>
                </a:solidFill>
              </a:rPr>
              <a:t>模</a:t>
            </a:r>
            <a:r>
              <a:rPr lang="zh-CN" altLang="en-US" dirty="0"/>
              <a:t>拟转换器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710B1-8C7A-4D19-BF70-B65C97A4FC24}"/>
              </a:ext>
            </a:extLst>
          </p:cNvPr>
          <p:cNvSpPr txBox="1"/>
          <p:nvPr/>
        </p:nvSpPr>
        <p:spPr>
          <a:xfrm>
            <a:off x="7990941" y="2263061"/>
            <a:ext cx="468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iscrete-to-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ontinuous time convert  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A4AABE7-1B48-4DFE-90DD-CEF27090DAC0}"/>
              </a:ext>
            </a:extLst>
          </p:cNvPr>
          <p:cNvSpPr txBox="1"/>
          <p:nvPr/>
        </p:nvSpPr>
        <p:spPr>
          <a:xfrm>
            <a:off x="7990941" y="3000413"/>
            <a:ext cx="468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ontinuous-to-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iscrete time convert  </a:t>
            </a:r>
            <a:endParaRPr lang="zh-CN" altLang="en-US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E6502BB-25E7-4090-80B5-2AA851BD6A7B}"/>
              </a:ext>
            </a:extLst>
          </p:cNvPr>
          <p:cNvCxnSpPr>
            <a:cxnSpLocks/>
          </p:cNvCxnSpPr>
          <p:nvPr/>
        </p:nvCxnSpPr>
        <p:spPr>
          <a:xfrm>
            <a:off x="4448664" y="2533923"/>
            <a:ext cx="431485" cy="0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56DADFA-3B6C-45BB-9D6B-6D158FC5058A}"/>
              </a:ext>
            </a:extLst>
          </p:cNvPr>
          <p:cNvCxnSpPr>
            <a:cxnSpLocks/>
          </p:cNvCxnSpPr>
          <p:nvPr/>
        </p:nvCxnSpPr>
        <p:spPr>
          <a:xfrm>
            <a:off x="4476532" y="3240801"/>
            <a:ext cx="431485" cy="0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9F4A2C6-1DA9-4619-911F-61656E3955E6}"/>
              </a:ext>
            </a:extLst>
          </p:cNvPr>
          <p:cNvCxnSpPr>
            <a:cxnSpLocks/>
          </p:cNvCxnSpPr>
          <p:nvPr/>
        </p:nvCxnSpPr>
        <p:spPr>
          <a:xfrm>
            <a:off x="7283981" y="2518549"/>
            <a:ext cx="431485" cy="0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687BC63-74B2-46D0-9C43-257E12940CFE}"/>
              </a:ext>
            </a:extLst>
          </p:cNvPr>
          <p:cNvCxnSpPr>
            <a:cxnSpLocks/>
          </p:cNvCxnSpPr>
          <p:nvPr/>
        </p:nvCxnSpPr>
        <p:spPr>
          <a:xfrm>
            <a:off x="7283981" y="3185079"/>
            <a:ext cx="431485" cy="0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69EB2698-7E44-417C-A234-3073C249C524}"/>
              </a:ext>
            </a:extLst>
          </p:cNvPr>
          <p:cNvSpPr/>
          <p:nvPr/>
        </p:nvSpPr>
        <p:spPr>
          <a:xfrm>
            <a:off x="4476532" y="306695"/>
            <a:ext cx="3238934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2800" b="1" spc="225" dirty="0">
                <a:cs typeface="+mn-ea"/>
                <a:sym typeface="+mn-lt"/>
              </a:rPr>
              <a:t>数字信号处理概念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813515-6CC7-4F25-B130-8A5C05815CEC}"/>
              </a:ext>
            </a:extLst>
          </p:cNvPr>
          <p:cNvSpPr txBox="1"/>
          <p:nvPr/>
        </p:nvSpPr>
        <p:spPr>
          <a:xfrm>
            <a:off x="4476531" y="4097647"/>
            <a:ext cx="1400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模拟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16D05E7-5A07-40D3-B008-373EA8A9E0EE}"/>
              </a:ext>
            </a:extLst>
          </p:cNvPr>
          <p:cNvSpPr txBox="1"/>
          <p:nvPr/>
        </p:nvSpPr>
        <p:spPr>
          <a:xfrm>
            <a:off x="4476531" y="5521614"/>
            <a:ext cx="1286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连续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BB4F16-C0EE-4832-9750-60310642D5FD}"/>
              </a:ext>
            </a:extLst>
          </p:cNvPr>
          <p:cNvSpPr txBox="1"/>
          <p:nvPr/>
        </p:nvSpPr>
        <p:spPr>
          <a:xfrm>
            <a:off x="7232866" y="5463259"/>
            <a:ext cx="1411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离散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5EBA54-EAC7-40A7-B793-544529D5B292}"/>
              </a:ext>
            </a:extLst>
          </p:cNvPr>
          <p:cNvSpPr txBox="1"/>
          <p:nvPr/>
        </p:nvSpPr>
        <p:spPr>
          <a:xfrm>
            <a:off x="7232865" y="4147198"/>
            <a:ext cx="1249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数字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7AD7418-E2C8-4406-87C5-73E11831E035}"/>
              </a:ext>
            </a:extLst>
          </p:cNvPr>
          <p:cNvCxnSpPr>
            <a:cxnSpLocks/>
          </p:cNvCxnSpPr>
          <p:nvPr/>
        </p:nvCxnSpPr>
        <p:spPr>
          <a:xfrm>
            <a:off x="5874542" y="4469526"/>
            <a:ext cx="1114642" cy="0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52B1E8C-8823-48E0-B271-C14D0F916658}"/>
              </a:ext>
            </a:extLst>
          </p:cNvPr>
          <p:cNvCxnSpPr>
            <a:cxnSpLocks/>
          </p:cNvCxnSpPr>
          <p:nvPr/>
        </p:nvCxnSpPr>
        <p:spPr>
          <a:xfrm>
            <a:off x="5933279" y="5869701"/>
            <a:ext cx="1114642" cy="0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C6A5BE6-0B6E-45D0-8E04-BC1450D4E2D8}"/>
              </a:ext>
            </a:extLst>
          </p:cNvPr>
          <p:cNvCxnSpPr>
            <a:cxnSpLocks/>
          </p:cNvCxnSpPr>
          <p:nvPr/>
        </p:nvCxnSpPr>
        <p:spPr>
          <a:xfrm>
            <a:off x="5052315" y="5012451"/>
            <a:ext cx="0" cy="312024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9E05F35-6190-41C2-9B78-715E5CF9EE50}"/>
              </a:ext>
            </a:extLst>
          </p:cNvPr>
          <p:cNvCxnSpPr>
            <a:cxnSpLocks/>
          </p:cNvCxnSpPr>
          <p:nvPr/>
        </p:nvCxnSpPr>
        <p:spPr>
          <a:xfrm>
            <a:off x="7956906" y="4955301"/>
            <a:ext cx="0" cy="312024"/>
          </a:xfrm>
          <a:prstGeom prst="line">
            <a:avLst/>
          </a:prstGeom>
          <a:ln w="28575">
            <a:solidFill>
              <a:srgbClr val="BCA8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87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3" grpId="0" bldLvl="0"/>
      <p:bldP spid="14" grpId="0"/>
      <p:bldP spid="1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2049510"/>
            <a:ext cx="12192000" cy="2758980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平行四边形 1"/>
          <p:cNvSpPr/>
          <p:nvPr/>
        </p:nvSpPr>
        <p:spPr>
          <a:xfrm>
            <a:off x="1627773" y="1384935"/>
            <a:ext cx="3162300" cy="4089400"/>
          </a:xfrm>
          <a:prstGeom prst="parallelogram">
            <a:avLst/>
          </a:prstGeom>
          <a:solidFill>
            <a:srgbClr val="CBB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76695" y="2049510"/>
            <a:ext cx="2464455" cy="219290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13800" spc="225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sz="138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01119" y="2742007"/>
            <a:ext cx="6582174" cy="80791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4800" b="1" spc="225" dirty="0">
                <a:solidFill>
                  <a:schemeClr val="bg1"/>
                </a:solidFill>
                <a:cs typeface="+mn-ea"/>
                <a:sym typeface="+mn-lt"/>
              </a:rPr>
              <a:t>数字信号处理的应用</a:t>
            </a:r>
            <a:endParaRPr lang="zh-CN" altLang="en-US" sz="48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74717" y="333762"/>
            <a:ext cx="3242563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2800" b="1" spc="225" dirty="0">
                <a:cs typeface="+mn-ea"/>
                <a:sym typeface="+mn-lt"/>
              </a:rPr>
              <a:t>数字信号处理应用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F89167E-CFC2-4FED-AC69-C0CF5DDEF17E}"/>
              </a:ext>
            </a:extLst>
          </p:cNvPr>
          <p:cNvSpPr/>
          <p:nvPr/>
        </p:nvSpPr>
        <p:spPr>
          <a:xfrm>
            <a:off x="12004" y="1145596"/>
            <a:ext cx="4296335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E4C084-6174-44D8-AD9C-C72B2AAA7158}"/>
              </a:ext>
            </a:extLst>
          </p:cNvPr>
          <p:cNvSpPr txBox="1"/>
          <p:nvPr/>
        </p:nvSpPr>
        <p:spPr>
          <a:xfrm>
            <a:off x="771888" y="1145596"/>
            <a:ext cx="2776566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数字微分器</a:t>
            </a:r>
            <a:endParaRPr lang="en-US" altLang="zh-CN" sz="4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357583-74F0-4FB0-BD3B-CF3AA719D8E4}"/>
              </a:ext>
            </a:extLst>
          </p:cNvPr>
          <p:cNvSpPr txBox="1"/>
          <p:nvPr/>
        </p:nvSpPr>
        <p:spPr>
          <a:xfrm>
            <a:off x="568960" y="2244065"/>
            <a:ext cx="525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数字微分器，是指执行微分运算的数字方式。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F53F87-31DA-4449-8CC4-6146B71DBCFC}"/>
              </a:ext>
            </a:extLst>
          </p:cNvPr>
          <p:cNvSpPr txBox="1"/>
          <p:nvPr/>
        </p:nvSpPr>
        <p:spPr>
          <a:xfrm>
            <a:off x="421640" y="2726698"/>
            <a:ext cx="10637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考虑一个连续时间带限微分器的离散时间实现：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连续时间微分滤波器的频率响应是：</a:t>
            </a:r>
            <a:r>
              <a:rPr lang="en-US" altLang="zh-CN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H</a:t>
            </a:r>
            <a:r>
              <a:rPr lang="en-US" altLang="zh-CN" sz="1400" dirty="0">
                <a:solidFill>
                  <a:srgbClr val="4D4D4D"/>
                </a:solidFill>
                <a:latin typeface="-apple-system"/>
              </a:rPr>
              <a:t>C</a:t>
            </a:r>
            <a:r>
              <a:rPr lang="en-US" altLang="zh-CN" sz="1600" dirty="0">
                <a:solidFill>
                  <a:srgbClr val="4D4D4D"/>
                </a:solidFill>
                <a:latin typeface="-apple-system"/>
              </a:rPr>
              <a:t>(j</a:t>
            </a:r>
            <a:r>
              <a:rPr lang="el-GR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ω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altLang="zh-CN" sz="1800" dirty="0">
                <a:solidFill>
                  <a:srgbClr val="4D4D4D"/>
                </a:solidFill>
                <a:latin typeface="-apple-system"/>
              </a:rPr>
              <a:t> j</a:t>
            </a:r>
            <a:r>
              <a:rPr lang="el-GR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ω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截止频率为</a:t>
            </a:r>
            <a:r>
              <a:rPr lang="el-GR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ω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zh-CN" altLang="en-US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的带限微分器的频率响应就是                                                               如下图所示：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B7D7B4-7B17-4CDC-91A0-B8E730028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515" y="3213089"/>
            <a:ext cx="1358970" cy="4318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B343C5E-D1A8-4C66-926A-07412E252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000" y="3688086"/>
            <a:ext cx="2629035" cy="7048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9AA5FC9-0B80-47BF-A900-C8074A238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43" y="4698889"/>
            <a:ext cx="3968954" cy="215911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4FCF6DC-E721-4D5D-9BE0-FE800E41DF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092" y="4797761"/>
            <a:ext cx="3613336" cy="177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bldLvl="0" animBg="1"/>
      <p:bldP spid="19" grpId="0" bldLvl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74717" y="333762"/>
            <a:ext cx="3242563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2800" b="1" spc="225" dirty="0">
                <a:cs typeface="+mn-ea"/>
                <a:sym typeface="+mn-lt"/>
              </a:rPr>
              <a:t>数字信号处理应用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F89167E-CFC2-4FED-AC69-C0CF5DDEF17E}"/>
              </a:ext>
            </a:extLst>
          </p:cNvPr>
          <p:cNvSpPr/>
          <p:nvPr/>
        </p:nvSpPr>
        <p:spPr>
          <a:xfrm>
            <a:off x="12004" y="1145596"/>
            <a:ext cx="4296335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E4C084-6174-44D8-AD9C-C72B2AAA7158}"/>
              </a:ext>
            </a:extLst>
          </p:cNvPr>
          <p:cNvSpPr txBox="1"/>
          <p:nvPr/>
        </p:nvSpPr>
        <p:spPr>
          <a:xfrm>
            <a:off x="423834" y="1114329"/>
            <a:ext cx="3795863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数字微分器</a:t>
            </a:r>
            <a:endParaRPr lang="en-US" altLang="zh-CN" sz="4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3F2B82-5176-4124-8FFD-B21E12FF7726}"/>
              </a:ext>
            </a:extLst>
          </p:cNvPr>
          <p:cNvSpPr txBox="1"/>
          <p:nvPr/>
        </p:nvSpPr>
        <p:spPr>
          <a:xfrm>
            <a:off x="548640" y="2203480"/>
            <a:ext cx="11450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  <a:r>
              <a:rPr lang="el-GR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ω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=2</a:t>
            </a:r>
            <a:r>
              <a:rPr lang="el-GR" altLang="zh-CN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ω</a:t>
            </a: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c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，则相应的离散时间频率响应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H</a:t>
            </a:r>
            <a:r>
              <a:rPr lang="en-US" altLang="zh-CN" sz="1800" kern="100" baseline="-25000" dirty="0" err="1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e</a:t>
            </a:r>
            <a:r>
              <a:rPr lang="en-US" altLang="zh-CN" sz="1800" kern="100" baseline="30000" dirty="0" err="1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j</a:t>
            </a:r>
            <a:r>
              <a:rPr lang="zh-CN" altLang="zh-CN" sz="1800" kern="100" baseline="3000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Ω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是：</a:t>
            </a:r>
            <a:endParaRPr lang="en-US" altLang="zh-CN" sz="1800" kern="100" dirty="0">
              <a:solidFill>
                <a:srgbClr val="00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kern="1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sz="1800" kern="100" dirty="0">
              <a:solidFill>
                <a:srgbClr val="00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kern="1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sz="1800" kern="100" dirty="0">
              <a:solidFill>
                <a:srgbClr val="00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kern="1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en-US" sz="18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如下图所示：</a:t>
            </a:r>
            <a:endParaRPr lang="en-US" altLang="zh-CN" sz="1800" kern="100" dirty="0">
              <a:solidFill>
                <a:srgbClr val="00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sz="1800" kern="100" dirty="0">
              <a:solidFill>
                <a:srgbClr val="000000"/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kern="1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	       </a:t>
            </a:r>
            <a:endParaRPr lang="zh-CN" altLang="zh-CN" sz="1800" kern="100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endParaRPr lang="en-US" altLang="zh-CN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CB631E7-D611-4E05-995E-262B5BDD7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788" y="-130175"/>
            <a:ext cx="71437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F8F42E-F48C-44A1-9B78-A0B0E211C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163" y="2727102"/>
            <a:ext cx="3194214" cy="6413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837B680-4826-4CF4-9D22-B903E7032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34" y="4611473"/>
            <a:ext cx="4927853" cy="19559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030D49D-05F4-4682-9989-B7F65F30D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315" y="4549287"/>
            <a:ext cx="4616687" cy="19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5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bldLvl="0" animBg="1"/>
      <p:bldP spid="19" grpId="0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2049510"/>
            <a:ext cx="12192000" cy="2758980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平行四边形 1"/>
          <p:cNvSpPr/>
          <p:nvPr/>
        </p:nvSpPr>
        <p:spPr>
          <a:xfrm>
            <a:off x="1627773" y="1384300"/>
            <a:ext cx="3162300" cy="4089400"/>
          </a:xfrm>
          <a:prstGeom prst="parallelogram">
            <a:avLst/>
          </a:prstGeom>
          <a:solidFill>
            <a:srgbClr val="CBB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76695" y="2049510"/>
            <a:ext cx="2464455" cy="219290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13800" spc="225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sz="138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62601" y="2755572"/>
            <a:ext cx="5651888" cy="99257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6000" spc="225" dirty="0">
                <a:solidFill>
                  <a:schemeClr val="bg1"/>
                </a:solidFill>
                <a:cs typeface="+mn-ea"/>
                <a:sym typeface="+mn-lt"/>
              </a:rPr>
              <a:t>AD</a:t>
            </a:r>
            <a:r>
              <a:rPr lang="zh-CN" altLang="en-US" sz="6000" spc="225" dirty="0">
                <a:solidFill>
                  <a:schemeClr val="bg1"/>
                </a:solidFill>
                <a:cs typeface="+mn-ea"/>
                <a:sym typeface="+mn-lt"/>
              </a:rPr>
              <a:t>转换</a:t>
            </a:r>
            <a:endParaRPr sz="60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350672" y="275705"/>
            <a:ext cx="1490654" cy="50013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2800" b="1" spc="225" dirty="0">
                <a:cs typeface="+mn-ea"/>
                <a:sym typeface="+mn-lt"/>
              </a:rPr>
              <a:t>AD</a:t>
            </a:r>
            <a:r>
              <a:rPr lang="zh-CN" altLang="en-US" sz="2800" b="1" spc="225" dirty="0">
                <a:cs typeface="+mn-ea"/>
                <a:sym typeface="+mn-lt"/>
              </a:rPr>
              <a:t>转换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F89167E-CFC2-4FED-AC69-C0CF5DDEF17E}"/>
              </a:ext>
            </a:extLst>
          </p:cNvPr>
          <p:cNvSpPr/>
          <p:nvPr/>
        </p:nvSpPr>
        <p:spPr>
          <a:xfrm>
            <a:off x="12004" y="1145596"/>
            <a:ext cx="4296335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E4C084-6174-44D8-AD9C-C72B2AAA7158}"/>
              </a:ext>
            </a:extLst>
          </p:cNvPr>
          <p:cNvSpPr txBox="1"/>
          <p:nvPr/>
        </p:nvSpPr>
        <p:spPr>
          <a:xfrm>
            <a:off x="423834" y="1114329"/>
            <a:ext cx="3795863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半采样间隔延时</a:t>
            </a:r>
            <a:endParaRPr lang="en-US" altLang="zh-CN" sz="4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1B87CA-B3F4-457F-9CB7-1C02C74C6D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08" r="2396" b="44127"/>
          <a:stretch/>
        </p:blipFill>
        <p:spPr>
          <a:xfrm>
            <a:off x="423834" y="5199065"/>
            <a:ext cx="6119931" cy="1526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A2D471E-A99A-469A-8D28-0AC5016295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23" t="4443" r="203" b="77038"/>
          <a:stretch/>
        </p:blipFill>
        <p:spPr>
          <a:xfrm>
            <a:off x="4402927" y="2847435"/>
            <a:ext cx="2694559" cy="12699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18FBDF3-86EB-4ACB-8DC3-308B887C4E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33" b="66138"/>
          <a:stretch/>
        </p:blipFill>
        <p:spPr>
          <a:xfrm>
            <a:off x="342254" y="2512176"/>
            <a:ext cx="3038941" cy="23222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69E619F-E585-4A16-9C27-CD6735FA2547}"/>
              </a:ext>
            </a:extLst>
          </p:cNvPr>
          <p:cNvSpPr txBox="1"/>
          <p:nvPr/>
        </p:nvSpPr>
        <p:spPr>
          <a:xfrm>
            <a:off x="8282805" y="1922199"/>
            <a:ext cx="3091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一个完整的</a:t>
            </a:r>
            <a:r>
              <a:rPr lang="en-US" altLang="zh-CN" dirty="0"/>
              <a:t>A/D</a:t>
            </a:r>
            <a:r>
              <a:rPr lang="zh-CN" altLang="en-US" dirty="0"/>
              <a:t>转换过程、通常经过采样、量化、编码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F0E8F3-31D5-479C-BCCA-71DB39B4B804}"/>
              </a:ext>
            </a:extLst>
          </p:cNvPr>
          <p:cNvSpPr txBox="1"/>
          <p:nvPr/>
        </p:nvSpPr>
        <p:spPr>
          <a:xfrm>
            <a:off x="7853314" y="2751853"/>
            <a:ext cx="37498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采样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将时间上连续变化模拟量转换成时间上离散的模拟量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6E13E2-9DE1-47BE-8490-0AD47C5A50B0}"/>
              </a:ext>
            </a:extLst>
          </p:cNvPr>
          <p:cNvSpPr txBox="1"/>
          <p:nvPr/>
        </p:nvSpPr>
        <p:spPr>
          <a:xfrm>
            <a:off x="7853313" y="3788229"/>
            <a:ext cx="3639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保持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保持取样信号，使其有充分时间转换为模拟量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4FD069-9261-4AD4-ACA5-6CEF60C243BD}"/>
              </a:ext>
            </a:extLst>
          </p:cNvPr>
          <p:cNvSpPr txBox="1"/>
          <p:nvPr/>
        </p:nvSpPr>
        <p:spPr>
          <a:xfrm>
            <a:off x="7853314" y="4920996"/>
            <a:ext cx="3749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量化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把取样保持的电路输出信号用范围量化电压的整数倍表示，一般有两种方法：只舍不入、只入不舍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0DD074B-803A-4D38-AEF5-37C40DA60CBC}"/>
              </a:ext>
            </a:extLst>
          </p:cNvPr>
          <p:cNvSpPr/>
          <p:nvPr/>
        </p:nvSpPr>
        <p:spPr>
          <a:xfrm>
            <a:off x="3570514" y="3429000"/>
            <a:ext cx="737825" cy="359229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F7D393A9-12BC-4D73-B793-1848E98F4712}"/>
              </a:ext>
            </a:extLst>
          </p:cNvPr>
          <p:cNvSpPr/>
          <p:nvPr/>
        </p:nvSpPr>
        <p:spPr>
          <a:xfrm rot="5400000">
            <a:off x="5295285" y="4545705"/>
            <a:ext cx="880816" cy="42590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1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bldLvl="0" animBg="1"/>
      <p:bldP spid="19" grpId="0" bldLvl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47831" y="282891"/>
            <a:ext cx="4296335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3200" b="1" dirty="0">
                <a:sym typeface="+mn-lt"/>
              </a:rPr>
              <a:t>数据信号处理</a:t>
            </a:r>
            <a:endParaRPr lang="zh-CN" altLang="en-US" sz="3200" spc="225" dirty="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65784" y="870414"/>
            <a:ext cx="4795804" cy="90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初始化函数</a:t>
            </a:r>
            <a:endParaRPr lang="en-US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89167E-CFC2-4FED-AC69-C0CF5DDEF17E}"/>
              </a:ext>
            </a:extLst>
          </p:cNvPr>
          <p:cNvSpPr/>
          <p:nvPr/>
        </p:nvSpPr>
        <p:spPr>
          <a:xfrm>
            <a:off x="45663" y="1148554"/>
            <a:ext cx="4296335" cy="776603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E4C084-6174-44D8-AD9C-C72B2AAA7158}"/>
              </a:ext>
            </a:extLst>
          </p:cNvPr>
          <p:cNvSpPr txBox="1"/>
          <p:nvPr/>
        </p:nvSpPr>
        <p:spPr>
          <a:xfrm>
            <a:off x="1523094" y="1125469"/>
            <a:ext cx="1341471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en-US" altLang="zh-CN" sz="4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30F3A7-A602-48D8-B60F-7E48FE23567A}"/>
              </a:ext>
            </a:extLst>
          </p:cNvPr>
          <p:cNvSpPr/>
          <p:nvPr/>
        </p:nvSpPr>
        <p:spPr>
          <a:xfrm>
            <a:off x="952500" y="2088410"/>
            <a:ext cx="10287000" cy="4385318"/>
          </a:xfrm>
          <a:prstGeom prst="rect">
            <a:avLst/>
          </a:prstGeom>
          <a:solidFill>
            <a:srgbClr val="CBB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2DA47A-9B52-4626-BF1E-83E76510B0E1}"/>
              </a:ext>
            </a:extLst>
          </p:cNvPr>
          <p:cNvSpPr/>
          <p:nvPr/>
        </p:nvSpPr>
        <p:spPr>
          <a:xfrm>
            <a:off x="803174" y="2193937"/>
            <a:ext cx="2061391" cy="183896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11500" spc="225" dirty="0">
                <a:solidFill>
                  <a:schemeClr val="bg1"/>
                </a:solidFill>
                <a:cs typeface="+mn-ea"/>
                <a:sym typeface="+mn-lt"/>
              </a:rPr>
              <a:t>“</a:t>
            </a:r>
            <a:endParaRPr sz="115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3DFDAE-5CB3-4D4E-B3BB-1B858F4E1568}"/>
              </a:ext>
            </a:extLst>
          </p:cNvPr>
          <p:cNvSpPr txBox="1"/>
          <p:nvPr/>
        </p:nvSpPr>
        <p:spPr>
          <a:xfrm>
            <a:off x="2732497" y="2701544"/>
            <a:ext cx="689210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小结</a:t>
            </a:r>
            <a:endParaRPr lang="zh-CN" altLang="zh-CN" dirty="0">
              <a:solidFill>
                <a:schemeClr val="bg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E7E525-6BE3-4A3F-BF09-9ED56C4FC6A1}"/>
              </a:ext>
            </a:extLst>
          </p:cNvPr>
          <p:cNvSpPr/>
          <p:nvPr/>
        </p:nvSpPr>
        <p:spPr>
          <a:xfrm>
            <a:off x="9624605" y="5019035"/>
            <a:ext cx="2061391" cy="183896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en-US" sz="11500" spc="225" dirty="0">
                <a:solidFill>
                  <a:schemeClr val="bg1"/>
                </a:solidFill>
                <a:cs typeface="+mn-ea"/>
                <a:sym typeface="+mn-lt"/>
              </a:rPr>
              <a:t>”</a:t>
            </a:r>
            <a:endParaRPr sz="11500" spc="225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737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bldLvl="0"/>
      <p:bldP spid="17" grpId="0" bldLvl="0" animBg="1"/>
      <p:bldP spid="19" grpId="0" bldLvl="0"/>
      <p:bldP spid="21" grpId="0" bldLvl="0" animBg="1"/>
      <p:bldP spid="22" grpId="0"/>
      <p:bldP spid="23" grpId="0" bldLvl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B4617D3-F938-4675-8259-D9A64EE1FFEA}"/>
              </a:ext>
            </a:extLst>
          </p:cNvPr>
          <p:cNvSpPr/>
          <p:nvPr/>
        </p:nvSpPr>
        <p:spPr>
          <a:xfrm>
            <a:off x="0" y="1757665"/>
            <a:ext cx="12192000" cy="4122435"/>
          </a:xfrm>
          <a:prstGeom prst="rect">
            <a:avLst/>
          </a:prstGeom>
          <a:solidFill>
            <a:srgbClr val="6E8F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75471" y="271735"/>
            <a:ext cx="3441057" cy="56169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3200" spc="225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总结</a:t>
            </a:r>
            <a:endParaRPr sz="3200" spc="225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70548" y="977900"/>
            <a:ext cx="85090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92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843212" y="2209413"/>
            <a:ext cx="6506508" cy="108491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6600" spc="225" dirty="0">
                <a:solidFill>
                  <a:srgbClr val="6E8F9E"/>
                </a:solidFill>
                <a:latin typeface="方正粗谭黑简体" panose="02000000000000000000" pitchFamily="2" charset="-122"/>
                <a:ea typeface="方正粗谭黑简体" panose="02000000000000000000" pitchFamily="2" charset="-122"/>
                <a:cs typeface="+mn-ea"/>
                <a:sym typeface="+mn-lt"/>
              </a:rPr>
              <a:t>感谢聆听</a:t>
            </a:r>
          </a:p>
        </p:txBody>
      </p:sp>
      <p:sp>
        <p:nvSpPr>
          <p:cNvPr id="2" name="矩形 1"/>
          <p:cNvSpPr/>
          <p:nvPr/>
        </p:nvSpPr>
        <p:spPr>
          <a:xfrm>
            <a:off x="4966335" y="3505835"/>
            <a:ext cx="2259330" cy="6223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en-US" altLang="zh-CN" sz="3600" spc="225" dirty="0">
                <a:solidFill>
                  <a:srgbClr val="6E8F9E"/>
                </a:solidFill>
                <a:cs typeface="+mn-ea"/>
                <a:sym typeface="+mn-lt"/>
              </a:rPr>
              <a:t>THANKS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563620" y="3816985"/>
            <a:ext cx="1133475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499350" y="3816985"/>
            <a:ext cx="1133475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年终工作总结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xw2pnx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Words>349</Words>
  <Application>Microsoft Office PowerPoint</Application>
  <PresentationFormat>宽屏</PresentationFormat>
  <Paragraphs>87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-apple-system</vt:lpstr>
      <vt:lpstr>等线</vt:lpstr>
      <vt:lpstr>方正粗谭黑简体</vt:lpstr>
      <vt:lpstr>宋体</vt:lpstr>
      <vt:lpstr>微软雅黑</vt:lpstr>
      <vt:lpstr>Arial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工作总结汇报</dc:title>
  <dc:creator>第一PPT</dc:creator>
  <cp:keywords>www.1ppt.com</cp:keywords>
  <dc:description>www.1ppt.com</dc:description>
  <cp:lastModifiedBy>郑 一江</cp:lastModifiedBy>
  <cp:revision>195</cp:revision>
  <dcterms:created xsi:type="dcterms:W3CDTF">2019-07-04T08:14:00Z</dcterms:created>
  <dcterms:modified xsi:type="dcterms:W3CDTF">2020-11-06T01:41:41Z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